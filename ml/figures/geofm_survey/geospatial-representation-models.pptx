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Chris asked to see first: two stencils that together implement the whole dependency cone. It is also the first slide in the deck about something that has been built rather than proposed.
The picture on the left is the dependency space for a family-B channel — currents or sea level — with lag along the bottom on a logarithmic scale from one pentad, that is five days, to 144 pentads, two years, and distance from the anchor up the side, from one cell to 4,444 kilometres. The purple region is the codec's inner cone: raw channel values at lags one to six, within a reach that grows from 130 to 907 kilometres, sampled as sunflower dots. The orange region is stage 2's outer cone: embeddings at lags seven to 143, from 111 kilometres out to a reach that grows with lag until it hits the 4,444-kilometre cap. The yellow bar along the bottom is the anchor's own column, which both stages see, and it is the only place they overlap. One consequence is worth saying out loud: the outer stencil is empty for the first six lags, by construction, because the codec has already read that entire disc. Stage 2 keeps only the anchor's own embedding there.
The right-hand box lists what exists. Data: the pentad tensor gets the east and north components of the surface current — the same GLORYS numbers the speed channel is the hypotenuse of, so nothing new is downloaded; direction is what the cone needs and what the first hypothesis supervises. Cone: a small module holds the three channel families, the reach per lag, the dot budget — 748 tokens per anchor, 42 patches and 706 dots — and the stage-2 spiral, 3,432 cells over 144 lags against 20,880 for the old cylinder. Codec: a seven-million-parameter Perceiver whose decoder can be asked for any channel at any offset and lag and answers with a mean and an uncertainty; one fix from the implementation is that the headline loss reads the bottleneck vector alone, because a decoder that could also read the latents would let the bottleneck carry nothing while every curve looked healthy. Trainer: the held-out years are held out the strict way — every dot and every future target of a training anchor must lie in training bins, checked by brute force before training — and a velocity probe reads the current from the frozen embedding with the current channels hidden. On a synthetic flow whose velocity cannot be read from a single frame, the cone codec's probe finds it and the snapshot codec's does not: a check that the pipeline works, not an ocean result.
The paragraph at the bottom answers "how much velocity should go into the embedding" with a resolvability rule: a displacement can be read once it exceeds one grid cell, six centimetres per second per five-day lag. Eddies clear that at the first lag, the slow Rossby drift within six, the atmosphere forgets within one or two, and sea-surface temperature's months of memory are deliberately left to stage 2 — so thirty days at 0.3 metres per second is the shortest inner window in which every fast process has moved by a cell and the slow ones by three.
Three hypotheses are registered with their falsifiers before anything runs, and the order is deliberate: the velocity probe first, because it is cheap and decides whether the expensive five-seed stage-2 comparison is worth buying.
Sources for this slide:
• E-069 plan — two stencils, one cone — https://blauewelt.github.io/earth/docs.html?f=ml/plans/E069_cone_codec.md
• E-069 in the experiment log — https://blauewelt.github.io/earth/docs.html?f=ml/EXPERIMENTS.md#e-069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the E-069 design, built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the inner cone of raw channels; stage 2 reads the outer cone of embeddings. Union = the dependency space; overlap = the anchor column.</a:t>
            </a:r>
            <a:endParaRPr lang="en-US" sz="1250" dirty="0"/>
          </a:p>
        </p:txBody>
      </p:sp>
      <p:sp>
        <p:nvSpPr>
          <p:cNvPr id="4" name="Shape 2"/>
          <p:cNvSpPr/>
          <p:nvPr/>
        </p:nvSpPr>
        <p:spPr>
          <a:xfrm>
            <a:off x="548640" y="1463040"/>
            <a:ext cx="5120640" cy="3566160"/>
          </a:xfrm>
          <a:prstGeom prst="rect">
            <a:avLst/>
          </a:prstGeom>
          <a:solidFill>
            <a:srgbClr val="FBFCFD"/>
          </a:solidFill>
          <a:ln w="6350">
            <a:solidFill>
              <a:srgbClr val="B8C4D3"/>
            </a:solidFill>
            <a:prstDash val="solid"/>
          </a:ln>
        </p:spPr>
      </p:sp>
      <p:sp>
        <p:nvSpPr>
          <p:cNvPr id="5" name="Shape 3"/>
          <p:cNvSpPr/>
          <p:nvPr/>
        </p:nvSpPr>
        <p:spPr>
          <a:xfrm>
            <a:off x="1188720" y="2240280"/>
            <a:ext cx="4251960" cy="2286000"/>
          </a:xfrm>
          <a:custGeom>
            <a:avLst/>
            <a:gdLst/>
            <a:ahLst/>
            <a:cxnLst/>
            <a:rect l="l" t="t" r="r" b="b"/>
            <a:pathLst>
              <a:path w="4251960" h="2286000">
                <a:moveTo>
                  <a:pt x="0" y="2286000"/>
                </a:moveTo>
                <a:lnTo>
                  <a:pt x="0" y="1282024"/>
                </a:lnTo>
                <a:lnTo>
                  <a:pt x="584523" y="1282024"/>
                </a:lnTo>
                <a:lnTo>
                  <a:pt x="593027" y="1099100"/>
                </a:lnTo>
                <a:lnTo>
                  <a:pt x="931422" y="1099100"/>
                </a:lnTo>
                <a:lnTo>
                  <a:pt x="939926" y="969314"/>
                </a:lnTo>
                <a:lnTo>
                  <a:pt x="1177550" y="969314"/>
                </a:lnTo>
                <a:lnTo>
                  <a:pt x="1186054" y="868644"/>
                </a:lnTo>
                <a:lnTo>
                  <a:pt x="1368462" y="868644"/>
                </a:lnTo>
                <a:lnTo>
                  <a:pt x="1376966" y="786390"/>
                </a:lnTo>
                <a:lnTo>
                  <a:pt x="1524449" y="786390"/>
                </a:lnTo>
                <a:lnTo>
                  <a:pt x="1532953" y="716846"/>
                </a:lnTo>
                <a:lnTo>
                  <a:pt x="1656334" y="716846"/>
                </a:lnTo>
                <a:lnTo>
                  <a:pt x="1656334" y="2286000"/>
                </a:lnTo>
                <a:close/>
              </a:path>
            </a:pathLst>
          </a:custGeom>
          <a:solidFill>
            <a:srgbClr val="6A4C93">
              <a:alpha val="45000"/>
            </a:srgbClr>
          </a:solidFill>
          <a:ln w="9525">
            <a:solidFill>
              <a:srgbClr val="6A4C93"/>
            </a:solidFill>
            <a:prstDash val="solid"/>
          </a:ln>
        </p:spPr>
      </p:sp>
      <p:sp>
        <p:nvSpPr>
          <p:cNvPr id="6" name="Shape 4"/>
          <p:cNvSpPr/>
          <p:nvPr/>
        </p:nvSpPr>
        <p:spPr>
          <a:xfrm>
            <a:off x="1188720" y="2240280"/>
            <a:ext cx="4251960" cy="2286000"/>
          </a:xfrm>
          <a:custGeom>
            <a:avLst/>
            <a:gdLst/>
            <a:ahLst/>
            <a:cxnLst/>
            <a:rect l="l" t="t" r="r" b="b"/>
            <a:pathLst>
              <a:path w="4251960" h="2286000">
                <a:moveTo>
                  <a:pt x="1664838" y="656604"/>
                </a:moveTo>
                <a:lnTo>
                  <a:pt x="2051537" y="473680"/>
                </a:lnTo>
                <a:lnTo>
                  <a:pt x="2316892" y="343894"/>
                </a:lnTo>
                <a:lnTo>
                  <a:pt x="2519136" y="243224"/>
                </a:lnTo>
                <a:lnTo>
                  <a:pt x="2682595" y="160970"/>
                </a:lnTo>
                <a:lnTo>
                  <a:pt x="2819777" y="91426"/>
                </a:lnTo>
                <a:lnTo>
                  <a:pt x="2937973" y="31184"/>
                </a:lnTo>
                <a:lnTo>
                  <a:pt x="3041804" y="0"/>
                </a:lnTo>
                <a:lnTo>
                  <a:pt x="3134387" y="0"/>
                </a:lnTo>
                <a:lnTo>
                  <a:pt x="3217922" y="0"/>
                </a:lnTo>
                <a:lnTo>
                  <a:pt x="3294022" y="0"/>
                </a:lnTo>
                <a:lnTo>
                  <a:pt x="3363902" y="0"/>
                </a:lnTo>
                <a:lnTo>
                  <a:pt x="3428503" y="0"/>
                </a:lnTo>
                <a:lnTo>
                  <a:pt x="3488567" y="0"/>
                </a:lnTo>
                <a:lnTo>
                  <a:pt x="3544689" y="0"/>
                </a:lnTo>
                <a:lnTo>
                  <a:pt x="3597355" y="0"/>
                </a:lnTo>
                <a:lnTo>
                  <a:pt x="3646967" y="0"/>
                </a:lnTo>
                <a:lnTo>
                  <a:pt x="3693858" y="0"/>
                </a:lnTo>
                <a:lnTo>
                  <a:pt x="3738313" y="0"/>
                </a:lnTo>
                <a:lnTo>
                  <a:pt x="3780571" y="0"/>
                </a:lnTo>
                <a:lnTo>
                  <a:pt x="3820840" y="0"/>
                </a:lnTo>
                <a:lnTo>
                  <a:pt x="3859299" y="0"/>
                </a:lnTo>
                <a:lnTo>
                  <a:pt x="3896103" y="0"/>
                </a:lnTo>
                <a:lnTo>
                  <a:pt x="3931388" y="0"/>
                </a:lnTo>
                <a:lnTo>
                  <a:pt x="3965276" y="0"/>
                </a:lnTo>
                <a:lnTo>
                  <a:pt x="3997873" y="0"/>
                </a:lnTo>
                <a:lnTo>
                  <a:pt x="4029273" y="0"/>
                </a:lnTo>
                <a:lnTo>
                  <a:pt x="4059561" y="0"/>
                </a:lnTo>
                <a:lnTo>
                  <a:pt x="4088814" y="0"/>
                </a:lnTo>
                <a:lnTo>
                  <a:pt x="4117099" y="0"/>
                </a:lnTo>
                <a:lnTo>
                  <a:pt x="4144480" y="0"/>
                </a:lnTo>
                <a:lnTo>
                  <a:pt x="4171011" y="0"/>
                </a:lnTo>
                <a:lnTo>
                  <a:pt x="4196744" y="0"/>
                </a:lnTo>
                <a:lnTo>
                  <a:pt x="4221725" y="0"/>
                </a:lnTo>
                <a:lnTo>
                  <a:pt x="4245998" y="0"/>
                </a:lnTo>
                <a:lnTo>
                  <a:pt x="4245998" y="0"/>
                </a:lnTo>
                <a:lnTo>
                  <a:pt x="4245998" y="1664626"/>
                </a:lnTo>
                <a:lnTo>
                  <a:pt x="1664838" y="1664626"/>
                </a:lnTo>
                <a:close/>
              </a:path>
            </a:pathLst>
          </a:custGeom>
          <a:solidFill>
            <a:srgbClr val="E07A2F">
              <a:alpha val="45000"/>
            </a:srgbClr>
          </a:solidFill>
          <a:ln w="9525">
            <a:solidFill>
              <a:srgbClr val="E07A2F"/>
            </a:solidFill>
            <a:prstDash val="solid"/>
          </a:ln>
        </p:spPr>
      </p:sp>
      <p:sp>
        <p:nvSpPr>
          <p:cNvPr id="7" name="Shape 5"/>
          <p:cNvSpPr/>
          <p:nvPr/>
        </p:nvSpPr>
        <p:spPr>
          <a:xfrm>
            <a:off x="1188720" y="4480560"/>
            <a:ext cx="4251960" cy="45720"/>
          </a:xfrm>
          <a:prstGeom prst="rect">
            <a:avLst/>
          </a:prstGeom>
          <a:solidFill>
            <a:srgbClr val="F2C14E"/>
          </a:solidFill>
          <a:ln w="12700">
            <a:solidFill>
              <a:srgbClr val="333333"/>
            </a:solidFill>
            <a:prstDash val="solid"/>
          </a:ln>
        </p:spPr>
      </p:sp>
      <p:sp>
        <p:nvSpPr>
          <p:cNvPr id="8" name="Shape 6"/>
          <p:cNvSpPr/>
          <p:nvPr/>
        </p:nvSpPr>
        <p:spPr>
          <a:xfrm>
            <a:off x="1188720" y="4526280"/>
            <a:ext cx="4251960" cy="0"/>
          </a:xfrm>
          <a:prstGeom prst="line">
            <a:avLst/>
          </a:prstGeom>
          <a:noFill/>
          <a:ln w="12700">
            <a:solidFill>
              <a:srgbClr val="1B2430"/>
            </a:solidFill>
            <a:prstDash val="solid"/>
            <a:tailEnd type="triangle"/>
          </a:ln>
        </p:spPr>
      </p:sp>
      <p:sp>
        <p:nvSpPr>
          <p:cNvPr id="9" name="Shape 7"/>
          <p:cNvSpPr/>
          <p:nvPr/>
        </p:nvSpPr>
        <p:spPr>
          <a:xfrm flipV="1">
            <a:off x="1188720" y="2240280"/>
            <a:ext cx="0" cy="2286000"/>
          </a:xfrm>
          <a:prstGeom prst="line">
            <a:avLst/>
          </a:prstGeom>
          <a:noFill/>
          <a:ln w="12700">
            <a:solidFill>
              <a:srgbClr val="1B2430"/>
            </a:solidFill>
            <a:prstDash val="solid"/>
            <a:tailEnd type="triangle"/>
          </a:ln>
        </p:spPr>
      </p:sp>
      <p:sp>
        <p:nvSpPr>
          <p:cNvPr id="10" name="Text 8"/>
          <p:cNvSpPr txBox="1"/>
          <p:nvPr/>
        </p:nvSpPr>
        <p:spPr>
          <a:xfrm>
            <a:off x="100584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2538793"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6</a:t>
            </a:r>
            <a:endParaRPr lang="en-US" sz="750" dirty="0"/>
          </a:p>
        </p:txBody>
      </p:sp>
      <p:sp>
        <p:nvSpPr>
          <p:cNvPr id="12" name="Text 10"/>
          <p:cNvSpPr txBox="1"/>
          <p:nvPr/>
        </p:nvSpPr>
        <p:spPr>
          <a:xfrm>
            <a:off x="2670678"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7</a:t>
            </a:r>
            <a:endParaRPr lang="en-US" sz="750" dirty="0"/>
          </a:p>
        </p:txBody>
      </p:sp>
      <p:sp>
        <p:nvSpPr>
          <p:cNvPr id="13" name="Text 11"/>
          <p:cNvSpPr txBox="1"/>
          <p:nvPr/>
        </p:nvSpPr>
        <p:spPr>
          <a:xfrm>
            <a:off x="4071746"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36</a:t>
            </a:r>
            <a:endParaRPr lang="en-US" sz="750" dirty="0"/>
          </a:p>
        </p:txBody>
      </p:sp>
      <p:sp>
        <p:nvSpPr>
          <p:cNvPr id="14" name="Text 12"/>
          <p:cNvSpPr txBox="1"/>
          <p:nvPr/>
        </p:nvSpPr>
        <p:spPr>
          <a:xfrm>
            <a:off x="525780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144</a:t>
            </a:r>
            <a:endParaRPr lang="en-US" sz="750" dirty="0"/>
          </a:p>
        </p:txBody>
      </p:sp>
      <p:sp>
        <p:nvSpPr>
          <p:cNvPr id="15" name="Text 13"/>
          <p:cNvSpPr txBox="1"/>
          <p:nvPr/>
        </p:nvSpPr>
        <p:spPr>
          <a:xfrm>
            <a:off x="1188720" y="4745736"/>
            <a:ext cx="4251960" cy="201168"/>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k (pentads, log) — 1 pentad = 5 days; 144 = 2 years</a:t>
            </a:r>
            <a:endParaRPr lang="en-US" sz="750" dirty="0"/>
          </a:p>
        </p:txBody>
      </p:sp>
      <p:sp>
        <p:nvSpPr>
          <p:cNvPr id="16" name="Text 14"/>
          <p:cNvSpPr txBox="1"/>
          <p:nvPr/>
        </p:nvSpPr>
        <p:spPr>
          <a:xfrm>
            <a:off x="566928" y="3860548"/>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100 km</a:t>
            </a:r>
            <a:endParaRPr lang="en-US" sz="750" dirty="0"/>
          </a:p>
        </p:txBody>
      </p:sp>
      <p:sp>
        <p:nvSpPr>
          <p:cNvPr id="17" name="Text 15"/>
          <p:cNvSpPr txBox="1"/>
          <p:nvPr/>
        </p:nvSpPr>
        <p:spPr>
          <a:xfrm>
            <a:off x="566928" y="2865785"/>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907 km</a:t>
            </a:r>
            <a:endParaRPr lang="en-US" sz="750" dirty="0"/>
          </a:p>
        </p:txBody>
      </p:sp>
      <p:sp>
        <p:nvSpPr>
          <p:cNvPr id="18" name="Text 16"/>
          <p:cNvSpPr txBox="1"/>
          <p:nvPr/>
        </p:nvSpPr>
        <p:spPr>
          <a:xfrm>
            <a:off x="566928" y="2148840"/>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4444 km</a:t>
            </a:r>
            <a:endParaRPr lang="en-US" sz="750" dirty="0"/>
          </a:p>
        </p:txBody>
      </p:sp>
      <p:sp>
        <p:nvSpPr>
          <p:cNvPr id="19" name="Text 17"/>
          <p:cNvSpPr txBox="1"/>
          <p:nvPr/>
        </p:nvSpPr>
        <p:spPr>
          <a:xfrm>
            <a:off x="640080" y="1508760"/>
            <a:ext cx="4937760" cy="640080"/>
          </a:xfrm>
          <a:prstGeom prst="rect">
            <a:avLst/>
          </a:prstGeom>
          <a:noFill/>
          <a:ln/>
        </p:spPr>
        <p:txBody>
          <a:bodyPr wrap="square" lIns="0" tIns="0" rIns="0" bIns="0" rtlCol="0" anchor="ctr"/>
          <a:lstStyle/>
          <a:p>
            <a:pPr indent="0" marL="0">
              <a:buNone/>
            </a:pPr>
            <a:r>
              <a:rPr lang="en-US" sz="750" b="1" dirty="0">
                <a:solidFill>
                  <a:srgbClr val="6A4C93"/>
                </a:solidFill>
                <a:latin typeface="Calibri" pitchFamily="34" charset="0"/>
                <a:ea typeface="Calibri" pitchFamily="34" charset="-122"/>
                <a:cs typeface="Calibri" pitchFamily="34" charset="-120"/>
              </a:rPr>
              <a:t>codec — inner cone: raw channels, lags 1–6, reach 130 → 907 km</a:t>
            </a:r>
            <a:endParaRPr lang="en-US" sz="750" dirty="0"/>
          </a:p>
          <a:p>
            <a:pPr indent="0" marL="0">
              <a:buNone/>
            </a:pPr>
            <a:r>
              <a:rPr lang="en-US" sz="750" b="1" dirty="0">
                <a:solidFill>
                  <a:srgbClr val="E07A2F"/>
                </a:solidFill>
                <a:latin typeface="Calibri" pitchFamily="34" charset="0"/>
                <a:ea typeface="Calibri" pitchFamily="34" charset="-122"/>
                <a:cs typeface="Calibri" pitchFamily="34" charset="-120"/>
              </a:rPr>
              <a:t>stage 2 — outer cone: embeddings, lags 7–143, 111 km → 4,444 km (empty for k ≤ 6 by construction)</a:t>
            </a:r>
            <a:endParaRPr lang="en-US" sz="750" dirty="0"/>
          </a:p>
          <a:p>
            <a:pPr indent="0" marL="0">
              <a:buNone/>
            </a:pPr>
            <a:r>
              <a:rPr lang="en-US" sz="750" b="1" dirty="0">
                <a:solidFill>
                  <a:srgbClr val="9A7B1E"/>
                </a:solidFill>
                <a:latin typeface="Calibri" pitchFamily="34" charset="0"/>
                <a:ea typeface="Calibri" pitchFamily="34" charset="-122"/>
                <a:cs typeface="Calibri" pitchFamily="34" charset="-120"/>
              </a:rPr>
              <a:t>anchor column: the only overlap — lag 0 is the codec's 3 × 3 patch</a:t>
            </a:r>
            <a:endParaRPr lang="en-US" sz="750" dirty="0"/>
          </a:p>
        </p:txBody>
      </p:sp>
      <p:sp>
        <p:nvSpPr>
          <p:cNvPr id="20" name="Shape 18"/>
          <p:cNvSpPr/>
          <p:nvPr/>
        </p:nvSpPr>
        <p:spPr>
          <a:xfrm>
            <a:off x="5897880" y="1463040"/>
            <a:ext cx="5715000" cy="3566160"/>
          </a:xfrm>
          <a:prstGeom prst="roundRect">
            <a:avLst>
              <a:gd name="adj" fmla="val 2051"/>
            </a:avLst>
          </a:prstGeom>
          <a:solidFill>
            <a:srgbClr val="F4F6F9"/>
          </a:solidFill>
          <a:ln w="15875">
            <a:solidFill>
              <a:srgbClr val="0B1F3A"/>
            </a:solidFill>
            <a:prstDash val="solid"/>
          </a:ln>
        </p:spPr>
      </p:sp>
      <p:sp>
        <p:nvSpPr>
          <p:cNvPr id="21" name="Text 19"/>
          <p:cNvSpPr txBox="1"/>
          <p:nvPr/>
        </p:nvSpPr>
        <p:spPr>
          <a:xfrm>
            <a:off x="6035040" y="1536192"/>
            <a:ext cx="5440680" cy="342900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What exists (2 Sep, 42 tests green, nothing archived touched)</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Data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family4 r3 = r2 + cur_u, cur_v (the GLORYS components cur_speed is the hypotenuse of; no new download). Direction is what the cone needs and what H1 supervises.</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Cone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ml/cone.py — families A (τ ≈ 10 d: wind stress, lags 0–1, 500 km), B (0.3 m/s: currents, SSH, Argo depth column), C (SST, MLD: the L-shape); sunflower dots per lag; slots(r) = clamp(24·(r/900 km)², 6, 24). Budget per anchor: 42 patch + 706 dot tokens = 748. Outer spiral: 3,432 cells over 144 lags vs 20,880 for the cylinder.</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Codec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ConeMAE, 7.05M params: Perceiver (64 latents × 256 × 6 blocks) over patch + dot tokens with Fourier coordinates and mask / miss tokens; queryable Gaussian decoder that reads z alone (a [z + latents] memory would let the bottleneck carry nothing — closed, not ranked improbable); masks: channel drop (cur_* at 50 %), lag-band drop, sector drop, future queries, anchor reconstruction.</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Trainer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window-scope pool with the E-059 self-certificate (0 violations in 4,096 anchors), train.py's metrics family (status page unchanged), a velocity probe with cur_* dropped at encode. CPU smoke on a planted shear flow unreadable from one frame: cur_u R² +0.073 (cone) vs −0.015 (snapshot) — a pipeline check, not a result.</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Not dispatched. Next: workflow wiring for r3 and the cone flags → codec run + H1 (cheap) → five-seed stage-2 arms for H2/H3 under the #516 battery with the LIM null in both embedding spaces.</a:t>
            </a:r>
            <a:endParaRPr lang="en-US" sz="950" dirty="0"/>
          </a:p>
        </p:txBody>
      </p:sp>
      <p:sp>
        <p:nvSpPr>
          <p:cNvPr id="22" name="Text 20"/>
          <p:cNvSpPr txBox="1"/>
          <p:nvPr/>
        </p:nvSpPr>
        <p:spPr>
          <a:xfrm>
            <a:off x="548640" y="51663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How much velocity goes into the embedding — the choice, and why. A displacement is resolvable once it exceeds one cell (28 km; 21 km zonally at 40° N): at pentad cadence that is 0.06 m/s per lag, so eddy advection (0.1–0.3 m/s) is resolved at lag 1 and Rossby propagation (0.03 m/s) within 6 lags; the atmosphere decorrelates in 1–2 pentads; SST memory (3–6 months) is longer than the window and is deliberately left to stage 2. Thirty days at 0.3 m/s is the shortest inner window in which every fast process has moved by a cell and the slow ones by three, without paying for a 4,000 km inner reach. The hypotheses (E-069): H1 a ridge from frozen cone-z to cur_u, cur_v with the current channels hidden beats the snapshot codec; H2 the head over cone-z beats the E-064b control at 5–30 d by more than the five-seed interval and ties at ≥ 90 d; H3 the annulus stencil matches the full cylinder. Falsifiers and predictions are written in the plan before anything runs.</a:t>
            </a:r>
            <a:endParaRPr lang="en-US" sz="8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 a different sea-temperature reconstruction (ERSSTv5), a different averaging and possibly the relative index CPC now favours; the 0.7 °C gap is unexplained here, and is itself the reason to carry the official index beside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2026-09-03T18:17:46Z</dcterms:created>
  <dcterms:modified xsi:type="dcterms:W3CDTF">2026-09-03T18:17:46Z</dcterms:modified>
</cp:coreProperties>
</file>