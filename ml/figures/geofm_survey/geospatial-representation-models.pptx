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compares six "representation models" for Earth observation, and then uses them to sharpen the design of our own model for the ocean.
A representation model (also called an embedding model or foundation model) is a neural network that is trained on huge amounts of raw data without labels, and whose job is to turn each place on Earth into a short list of numbers — a vector — that summarises what is going on there. That vector is called an embedding. Once you have good embeddings, many downstream tasks (mapping crops, detecting floods, estimating an ocean current) become much easier because a small model can be trained on top of the embeddings with very few labels.
The word "stencil" runs through the whole deck. It is our term for the piece of the world that feeds one embedding: how large an area around a pixel the model looks at, and how long a stretch of time it summarises. The little drawing on the right shows the idea — a grid of pixels with one output pixel (yellow) and its spatial context (blue), and a timeline with the observations that go into it (orange).
The six models are: AlphaEarth (Google DeepMind), TESSERA (University of Cambridge), OlmoEarth (Allen Institute for AI), TerraMind (IBM and ESA), Prithvi-EO 2.0 (IBM and NASA), and IBM's ocean model, Granite-Geospatial-Ocean. The last third of the deck applies what we learn from them to "Earth 2", our own ocean project.
Sources for this slide:
• Survey notes — https://blauewelt.github.io/earth/docs.html?f=ml/figures/geofm_survey/SURVEY_NOTES.md
• Earth 2 paper (v8, PDF) — https://github.com/blauewelt/earth/blob/main/ml/paper/paper.pdf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slide uses the same three-panel picture, so this slide is the legend.
SPACE panel (left). The grid is the tile — the square block of pixels the model processes at once. The blue outline marks the tile edge. The small blue square is one "token": a token is the unit the neural network actually reasons about, usually a small patch of pixels (for example 16 by 16) squashed into one vector. The yellow square is the single output pixel we are asking about. The stacked sheets behind the grid stand for the different data sources — for example optical imagery, radar and elevation — that are laid on top of each other ("co-registered") so that every pixel has a value from each source.
TIME panel (middle). The horizontal axis is time. The shaded band is the "temporal window": the span of time that one embedding summarises. The dots are the individual satellite observations inside that window. If instead there is a single tall bar, the model looks at one moment only — a snapshot.
OUTPUT panel (right). The purple stack represents the embedding vector. "D" is its dimension, the number of entries in the vector — 64, 128, 768 and so on. The caption says whether you get one vector per pixel, per token, or per whole tile.
The four questions on the right are the ones we ask of every model. "Per-pixel or patch" asks whether the model uses neighbouring pixels at all. "Snapshot or period summary" asks whether time is folded into the vector. "Product or model" asks whether the makers hand you pre-computed embeddings, the trained network ("weights"), or both. And "does it touch the ocean" is our own concern: almost all of these models deliberately throw away sea pixels.
Sources for this slide:
• AlphaEarth Foundations paper — https://arxiv.org/abs/2507.22291
• TESSERA paper — https://arxiv.org/abs/2506.20380
• OlmoEarth paper — https://arxiv.org/abs/2511.13655
• TerraMind paper — https://arxiv.org/abs/2504.11171
• Prithvi-EO 2.0 paper — https://arxiv.org/abs/2412.02732
• Granite-Geospatial-Ocean paper — https://arxiv.org/abs/2509.21273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AlphaEarth Foundations is Google DeepMind's model, published in July 2025. Its central idea is the "embedding field": every 10-metre pixel of land on Earth gets a 64-number vector for every year from 2017 to 2024, and Google publishes those vectors as a dataset inside Google Earth Engine.
Inputs: a very wide mix — optical imagery (Sentinel-2, Landsat), radar (Sentinel-1, PALSAR-2), laser altimetry (GEDI), climate reanalysis (ERA5-Land), gravity (GRACE), elevation, land cover and even text descriptions. Over three billion individual observations went in.
Architecture: the encoder is called Space-Time-Precision, STP, and has 15 blocks. The next four slides walk through it. The training uses several losses at once: reconstructing masked-out inputs, keeping the embeddings spread evenly over a sphere ("batch uniformity"), consistency between a teacher and a student network, and matching to text. The deployed network has about 480 million parameters.
The stencil is the key point for us. Output pixel: 10 m. Spatial context: the model uses attention over the whole input frame at coarse resolution, so a pixel's embedding is influenced by everything in its frame — and the supplement tells us how large the frame is: 1.28 km by 1.28 km, 128 pixels a side, for both training and the global inference run (which tiles the world in 960-m squares padded by 160 m on each side). So an AlphaEarth pixel never sees further than about 640 m in any direction. Time: the model takes a "valid period" — a start and end date — and produces a summary of everything observed in it. In principle any window; in practice the published product uses calendar years.
Output: 64 dimensions, normalised to length one (a "unit vector"), stored as 64 bytes. Coverage is land plus coastal and inland water; no open ocean.
Availability is the big caveat: only the dataset is released. The trained network is not, so nobody can run it on new data, new time windows, or the ocean.
"Error reduction ~23.9 %" means: across their 15 evaluation tasks, using AlphaEarth embeddings instead of the next-best method cut the error by about a quarter on average (about 10 % when only ten labels per class are available, about 4 % with one). The per-task numbers are published only as charts, so we do not quote them.
Sources for this slide:
• AlphaEarth Foundations paper — https://arxiv.org/abs/2507.22291
• DeepMind blog — https://deepmind.google/blog/alphaearth-foundations-helps-map-our-planet-in-unprecedented-detail/
• Satellite Embedding dataset (Earth Engine) — https://developers.google.com/earth-engine/datasets/catalog/GOOGLE_SATELLITE_EMBEDDING_V1_ANNUAL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up the encoder. First the symbol: L is the side length of the square input frame, measured in pixels. The main text keeps it symbolic — "given a square input of L pixels a side" — but the supplement fixes it: frames are 128 by 128 pixels, 1.28 km at 10 m, so the three grids below are 8 by 8, 16 by 16 and 64 by 64 cells.
There are three "operators" — three different kinds of neural-network layer — that run in parallel inside every block:
The SPACE operator works on a coarse grid of L/16 by L/16 cells and uses self-attention, the mechanism from transformers in which every cell can look at every other cell. This gives global context across the frame at low resolution.
The TIME operator works on an L/8 grid and uses "time-axial" attention: each location looks only at its own history across all the dated frames. Every frame carries a sinusoidal "timecode" (a numeric encoding of its date), which is how the model knows when things happened.
The PRECISION operator works on the finest grid, L/2, with ordinary 3-by-3 convolutions to keep sharp spatial detail.
A "block" is one round of all three operators. After each block, a learned "Laplacian pyramid" rescaling step lets every operator hand its result to every operator of the next block: coarse results are up-sampled, fine results are down-sampled, so that information flows between scales. Repeat for 15 blocks (supplement S2.4, which also gives the widths: 1024 numbers per cell on the space path, 512 on the time path, 128 on the precision path).
Input projectors bring each source's frames down to the L/2 grid first. The output head resamples back up to the precision resolution, then to 10 m, and produces the 64-number vector per pixel.
"Teacher/student" refers to the training recipe: one network (teacher) produces targets that a second, identical network (student) learns to match; a third model aligns embeddings with text descriptions in the style of CLIP.
Bottom line: because the space operator uses attention over the whole frame, the effective receptive field is the frame — 1.28 km, so at most about 640 m from the pixel in any direction. What the paper still does not spell out is the exact form of the pyramid resampling and how the three states are merged.
Sources for this slide:
• AlphaEarth Foundations paper — https://arxiv.org/abs/2507.22291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animate the previous slide with the paper's own frame: L = 128 pixels at 10 m, so the frame is 1.28 km across (supplement S2.1 and S8.2). Two things in these slides are simplified and the footers say so: we draw 4 blocks where the real network has 15, and the per-year frame counts are typical values rather than the paper's.
Step 1 is about the input projectors. Each data source arrives at its own native resolution over the same 1.28-km footprint: Sentinel-2 at 10 m gives a 128 by 128 grid (drawn coarser here); Landsat at 30 m gives about 43 by 43; ERA5-Land, a weather reanalysis at 9 km, gives just one value for the whole frame. Each source also arrives many times a year — Sentinel-2 roughly every five days, Landsat every 16.
A learned projector per source converts each frame into a "feature map" — a grid of learned numbers rather than raw pixel values — at half the input resolution: 64 by 64 cells of 20 m. This is the only place where resolution is permanently reduced before the output head restores it.
The important detail is that each frame keeps its timestamp: it is carried along as a sinusoidal timecode so the time operator later knows when each observation was made. "Σ Nᵢ frames in, Σ Nᵢ maps out" simply means: however many frames come in from all sources combined, that many feature maps come out — nothing is merged yet.
The yellow pixel is our 10-m output pixel; after this step it lives inside a 20-m feature cell.
Sources for this slide:
• AlphaEarth Foundations paper — https://arxiv.org/abs/2507.22291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shows what one cell can "see" inside each of the three operators, on the same 1.28-km footprint.
SPACE (left): the grid has 8 by 8 cells of 160 m (that is L/16 with L = 128). The highlighted cell attends to every other cell — the dashed lines. So the space operator gives every cell a view of the whole frame, but only at coarse grain.
TIME (middle): 16 by 16 cells of 80 m. The stacked sheets are the dated frames. The highlighted cell attends only to itself across all the sheets — this is "time-axial" attention. It knows the whole history of one spot, but nothing about the neighbours.
PRECISION (right): 64 by 64 cells of 20 m. The operator is a 3-by-3 convolution, so a cell sees only its eight immediate neighbours — 60 m across — but at the finest grain the block carries. The magnifier shows that 3-by-3 neighbourhood.
The point of running three views at once: none alone is the stencil. Space knows the whole frame coarsely, time knows the whole year at one spot, precision knows the fine local texture. Step 3 is where they are combined.
Sources for this slide:
• AlphaEarth Foundations paper — https://arxiv.org/abs/2507.22291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walk-through was built to explain: "after each block, learned Laplacian-pyramid rescaling lets every operator feed every operator of the next block".
On the left are the three outputs of block k — the coarse space map, the medium time map, the fine precision map — each with one feature highlighted. In the middle is the rescaling stage. A Laplacian pyramid is a classic image-processing idea: an image is represented at several resolutions at once, and there are learned operations to move information up (coarse to fine, up-sampling) and down (fine to coarse, down-sampling). Here it is used to translate every map to every resolution.
On the right are the three inputs of block k+1. Each now contains all three colours: the blue space feature arrived in the fine map as an 8-by-8 block of 20-m cells, the green precision patch arrived in the coarse map as a fraction of one 160-m cell, the orange time cell landed as 2-by-2 or 4-by-4 blocks. Nine paths in total (three sources times three destinations), then a sum per level — the sum is our reading; the paper says "pass its state to each of the operators" without spelling out the merge.
Repeat 15 times (we draw 4). The consequence for our stencil question: after a few blocks, even the fine 20-m path has a receptive field that spans the whole frame, because it has received the space operator's global view several times — while keeping its own fine grain.
Sources for this slide:
• AlphaEarth Foundations paper — https://arxiv.org/abs/2507.22291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closes the loop. After the last block, the three maps are merged and a final learned spatial resampling takes the result from the L/2 grid (64 by 64 at 20 m) back to L (128 by 128 at 10 m).
The output frame in the middle shows, for one yellow 10-m pixel, what it has inherited: the tinted background stands for the whole frame reaching it through the space path; the dashed squares are the coarse cells it inherited from the space and time operators; the green patch is the fine local texture from the precision path.
Each output pixel becomes a 64-number vector. "Unit vector on S⁶³" is the mathematical way of saying the 64 numbers are scaled so their total length is exactly one — they sit on the surface of a 64-dimensional sphere. The batch-uniformity loss during training spreads the embeddings evenly over that sphere. In the released dataset each vector is stored as 64 bytes (one "int8", a whole number between −128 and 127, per dimension).
"Per valid period": the pair of dates (t_s, t_e) — start and end of the window — was fed into the time operators in every block as timecodes, so the whole frame of vectors is a summary of that window. In the public product the window is one calendar year.
So what is AlphaEarth's stencil? Spatially, the whole 1.28-km frame coarsely (8 by 8 cells of 160 m through the space path) plus a fine local neighbourhood (20-m cells through the precision path); temporally, every dated observation in the window. The number to remember: an AlphaEarth pixel never sees further than about 640 m.
Sources for this slide:
• AlphaEarth Foundations paper — https://arxiv.org/abs/2507.22291
• Satellite Embedding dataset (Earth Engine) — https://developers.google.com/earth-engine/datasets/catalog/GOOGLE_SATELLITE_EMBEDDING_V1_ANNUAL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TESSERA comes from the University of Cambridge (published June 2025, accepted at CVPR 2026) and is the most radical design in the deck: it uses no spatial context at all.
Inputs: Sentinel-2 optical (10 bands) and Sentinel-1 radar (2 polarisations, VV and VH). Sentinel-1 is radar, so it sees through clouds; Sentinel-2 is optical.
Architecture: for each 10-m pixel separately, a small transformer reads the pixel's own time series — 40 dates sampled from one calendar year for each sensor — and a GRU (a type of recurrent network) pools them into one vector. The two sensors have their own branches which are fused at the end. The encoder is only about 46 million parameters; a much larger "projector" is used only during training and then discarded. Training uses Barlow Twins, a self-supervised objective that asks two differently-sampled views of the same pixel-year to produce the same embedding while keeping the embedding's dimensions non-redundant — no reconstruction of inputs is involved.
Stencil: strictly one 10-m pixel; neighbours never enter. One calendar year; dates are irregular, and the model is told the day of year of each observation. If a pixel has fewer than 40 clear observations, dates are sampled with replacement to fill the 40 slots.
Output: 128 numbers per pixel per year, stored as int8. Years 2017–2025, land only (water masked). Everything is released: weights (CC0, the most permissive licence), code (MIT), and precomputed embeddings through the GeoTessera service.
Results quoted are with the embeddings frozen and only a small head trained on top: PASTIS-R crop segmentation mIoU 50.7, TreeSatAI tree-species F1 78.0, canopy height error 12.2 m. mIoU is "mean intersection over union", the standard segmentation score (100 = perfect overlap). F1 is the balanced average of precision and recall for classification.
Why it matters for us: TESSERA proves that a per-pixel temporal encoder with zero spatial context is competitive on land. That is the opposite extreme from our 3-by-3 patch, and a useful reference point.
Sources for this slide:
• TESSERA paper — https://arxiv.org/abs/2506.20380
• TESSERA code — https://github.com/ucam-eo/tessera
• GeoTessera embeddings — https://github.com/ucam-eo/geotessera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OlmoEarth is the Allen Institute for AI's family of open models, first released November 2025; version 1.1 (May 2026) merged Sentinel-2's band groups into a single token to cut compute, and version 1.2 added rotary position encodings. It is a "space-time ViT": a Vision Transformer that tokenises not just space but also time and sensor band groups.
Inputs: Sentinel-1, Sentinel-2 and Landsat-8 monthly time series, all resampled to 10 m, plus static map layers (OpenStreetMap, land cover, crop data, elevation, canopy height) used as extra inputs and as prediction targets.
Architecture: the tile is 2.56 km square (256 by 256 pixels at 10 m). Tokens are flexible patches of 1 to 8 pixels — so 10 to 80 m — and up to 12 monthly steps are tokenised separately. Attention runs across space, time and modality together. The training objective, "Latent MIM Lite", is masked modelling: hide some tokens, predict them in the embedding space rather than as pixels, plus contrastive terms. Four sizes: Nano (1.4 M parameters), Tiny (6 M), Base (89 M), Large (308 M).
Output: one vector per patch per month (768 dimensions for Base, 1024 for Large) plus a pooled vector for the tile. There is no global precomputed product; instead the "OlmoEarth Studio" computes embeddings on demand for any region you draw.
Results: in the authors' own benchmark the model is best on 15 of 24 tasks with frozen embeddings and 19 of 29 when fine-tuned; on five tasks a fine-tuned OlmoEarth matches or beats AlphaEarth.
Licence: open weights, but under a custom licence that forbids some uses (military, extractive industries).
For us: OlmoEarth is the closest analogue to a general space-time transformer we could actually retrain — open weights, monthly tokens, a masked latent objective — but its pretraining sample is land-biased.
Sources for this slide:
• OlmoEarth paper — https://arxiv.org/abs/2511.13655
• Ai2 OlmoEarth blog — https://allenai.org/blog/olmoearth-models
• OlmoEarth pretraining code — https://github.com/allenai/olmoearth_pretrain
• OlmoEarth v1.1 — https://huggingface.co/blog/allenai/olmoearth-v1-1
• OlmoEarth v1.2 — https://allenai.org/papers/olmoearth-v1-2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TerraMind is a joint IBM Research and ESA Φ-lab model (April 2025, ICCV 2025). Its distinguishing feature is that it is generative and "any-to-any": given some modalities it can produce the missing ones.
Inputs come in two kinds. Pixel-level: Sentinel-2 optical, Sentinel-1 radar, elevation, RGB, vegetation index (NDVI). Token-level: land-use class maps, text captions, geographic coordinates. All are aligned on 10-m, 224-pixel tiles.
Architecture: each modality has its own "tokenizer" — a small network that turns its raster into discrete codes from a 16,000-entry codebook (an FSQ-VAE, a kind of quantising autoencoder). The main encoder–decoder then learns to predict masked codes of one modality from the others. "Thinking in Modalities" (TiM) is the trick of generating a missing modality — say land cover from optical — and feeding it back in as extra input. Trained on 500 billion tokens from about 9 million TerraMesh samples.
Stencil: tile 2.24 km (224 pixels at 10 m); token 16 pixels = 160 m, so 14 by 14 tokens per modality. One co-registered timestamp per sample — every modality comes from the same date and place; there is no multi-temporal fusion in pretraining.
Output: 196 tokens per modality, 768 dimensions for the Base model and 1024 for Large, or one merged vector per tile, plus generated rasters. No precomputed embedding archive; weights are Apache 2.0 (fully open) on Hugging Face.
Results: on the PANGAEA benchmark (a standard suite of segmentation tasks) TerraMind Large scores 59.6 mean IoU, the only foundation model to beat U-Nets trained from scratch on that suite.
Ocean: the training data is stratified by land ecoregion; there are no marine modalities and open-ocean behaviour is untested.
Sources for this slide:
• TerraMind paper — https://arxiv.org/abs/2504.11171
• TerraMesh dataset paper — https://arxiv.org/abs/2504.11172
• TerraMind code — https://github.com/IBM/terramind
• TerraMind weights (Hugging Face) — https://huggingface.co/ibm-esa-geospatial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Prithvi-EO 2.0 is IBM and NASA's second-generation Earth observation model (December 2024). It matters here for two reasons: it is a widely used open baseline, and IBM's ocean model on the next slide reuses its recipe.
Inputs: HLS, the Harmonized Landsat–Sentinel-2 product, at 30 m with six spectral bands (blue, green, red, near-infrared, and two shortwave-infrared bands). 4.2 million training samples from 2014–2023. Importantly for us, sea-only tiles were explicitly removed using a cloud/water mask, and Greenland was excluded.
Architecture: a masked autoencoder (MAE) — the network sees a tile with 75 % of its patches hidden and learns to reconstruct them. Two sizes: 300 million parameters (a "ViT-Large", 1024-dimensional embeddings, 24 layers) and 600 million (ViT-Huge, 1280 dimensions, 32 layers). The "TL" variants additionally receive the acquisition date and latitude/longitude as extra encodings.
Stencil: tile 224 pixels at 30 m = 6.72 km. Token 16 pixels = 480 m for the 300 M model, 14 pixels = 420 m for the 600 M model (we checked the published configuration files). Time: four frames, each 1–6 months apart to capture seasons; the "tubelet depth" is 1, meaning each frame gets its own grid of tokens rather than frames being merged into one token — time is fused only inside attention. Single-frame use is also supported.
Output: one vector per token per frame; no precomputed product. The typical way to use it is full fine-tuning — retraining the encoder together with a small decoder for your task — through IBM's TerraTorch toolkit.
Results: on GEO-Bench (a 12-task standard benchmark) the 600 M-TL model is the best on average, about 8 % above version 1.0 and ahead of six other foundation models; the per-dataset scores are published as charts, so we quote no single number. In May 2026 the model was deployed on a satellite for onboard flood and cloud detection.
Sources for this slide:
• Prithvi-EO 2.0 paper — https://arxiv.org/abs/2412.02732
• Prithvi-EO 2.0 code — https://github.com/NASA-IMPACT/Prithvi-EO-2.0
• Prithvi weights and configs (Hugging Face) — https://huggingface.co/ibm-nasa-geospatial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IBM's Prithvi-based ocean model, developed with the UK's STFC Hartree Centre, Plymouth Marine Laboratory and the University of Exeter, released October 2025. The code lives in the ibm-granite GitHub organisation; we read its configuration files directly to get the numbers below.
Inputs: Sentinel-3 OLCI, the ocean-colour instrument, 16 spectral bands at 300 m, plus sea-surface temperature from the SLSTR instrument — 17 channels in total. About 512,000 tiles from 2017–2021 (the paper also quotes 470,000 for training plus 50,000 for validation), sampled evenly across 83 "Longhurst provinces" (a standard division of the ocean into biogeochemical regions) and across months.
Architecture: the Prithvi masked-autoencoder recipe with the network shrunk to fit the coarser sensor: embedding size 512, 12 layers, about 50 million parameters, trained to reconstruct masked patches under a root-mean-square-error loss. The authors report that larger networks gave no gain.
Stencil: tile 42 by 42 pixels at 300 m = 12.6 km square. Token 2 by 2 pixels = 600 m, so 21 by 21 = 441 tokens. num_frames = 1: a single acquisition, no temporal stacking — the four-frame option of Prithvi is switched off. For fine-tuning, each ship measurement is paired with cloud-free imagery from a six-day window centred on it.
Output: 441 vectors of 512 dimensions per tile. Downstream, a small regression head is trained to predict chlorophyll-a (a proxy for phytoplankton) and primary production (how much carbon the phytoplankton fix).
Results: the numbers are RMSE — root-mean-square error — in log10 units, because these quantities vary over orders of magnitude. With the foundation model: 0.14 for chlorophyll, versus 0.16 training the same network from scratch; 0.39 versus 0.42 for primary production. The gains are small and within the fold-to-fold spread; the authors' stronger claim is that the advantage grows when labels are scarce.
Caveats: surface-only, optical (so cloud-limited), one snapshot in time. It is a model of ocean colour — biology at the surface — not of the ocean's physical state.
Sources for this slide:
• Granite-Geospatial-Ocean paper — https://arxiv.org/abs/2509.21273
• ibm-granite/geospatial (code + config) — https://github.com/ibm-granite/geospatial
• Granite-Geospatial-Ocean weights — https://huggingface.co/ibm-granite/granite-geospatial-ocean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puts all six models — and our own — on two axes that summarise the whole deck.
Horizontal axis (logarithmic): the spatial extent of the input that shapes one embedding, from 10 m to 1000 km. Vertical axis (categorical): how much time one embedding summarises, from a single snapshot at the bottom to a full year of all sources at the top.
Reading the points: TESSERA sits at 10 m on the far left — a per-pixel output with no spatial context at all — and AlphaEarth at 1.28 km, the frame each of its 10-m pixels is computed from; both sit at the top because both fold a whole year into one vector. TerraMind and Granite are single snapshots at 2–13 km tile scale. Prithvi stacks four dates; OlmoEarth stacks twelve monthly steps.
Earth 2, our codec, is the purple dot at about 84 km: each channel token sees a 3-by-3 neighbourhood of quarter-degree cells (a quarter degree is about 28 km) at one monthly or five-day mean. It is a snapshot stencil roughly seven times wider than the widest Earth-observation tile here (Granite, 12.6 km). The hollow dot is the proposed "pixel-year" experiment from a later slide, which would move us up to the "one year folded" row.
Two design axes separate all these models: per-pixel versus patch, and snapshot versus period summary. Every later recommendation in the deck comes back to these two axes.
Sources for this slide:
• AlphaEarth Foundations paper — https://arxiv.org/abs/2507.22291
• TESSERA paper — https://arxiv.org/abs/2506.20380
• OlmoEarth paper — https://arxiv.org/abs/2511.13655
• TerraMind paper — https://arxiv.org/abs/2504.11171
• Prithvi-EO 2.0 paper — https://arxiv.org/abs/2412.02732
• Granite-Geospatial-Ocean paper — https://arxiv.org/abs/2509.21273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table of what goes into each embedding, condensing the model slides. Column by column:
Inputs: the sensors and data sources. S-1 and S-2 are Sentinel-1 (radar) and Sentinel-2 (optical); HLS is the harmonised Landsat–Sentinel product; OLCI and SLSTR are the Sentinel-3 ocean-colour and temperature instruments.
Spatial stencil: what area feeds one embedding — the output pixel size, the token size (the patch the network reasons about) and the tile size (the block it processes at once).
Temporal stencil: whether the model summarises a period (AlphaEarth, TESSERA), stacks dated frames (OlmoEarth, Prithvi), or takes a single snapshot (TerraMind, Granite).
Output: the vector dimension and what one vector describes — a pixel-year, a token, a tile.
The table is designed to be read across a row to reconstruct a model's stencil, or down a column to compare one design choice.
Sources for this slide:
• AlphaEarth Foundations paper — https://arxiv.org/abs/2507.22291
• TESSERA paper — https://arxiv.org/abs/2506.20380
• OlmoEarth paper — https://arxiv.org/abs/2511.13655
• TerraMind paper — https://arxiv.org/abs/2504.11171
• Prithvi-EO 2.0 paper — https://arxiv.org/abs/2412.02732
• Granite-Geospatial-Ocean paper — https://arxiv.org/abs/2509.21273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companion table: what each project actually hands you, which is often as important as the architecture.
Open weights: whether the trained network is downloadable, so you can run it on your own data or fine-tune it. AlphaEarth is the exception — no weights, no code.
Precomputed embeddings: whether a ready-made global product exists. AlphaEarth and TESSERA yes; OlmoEarth on demand through its Studio; the others no.
Licence: CC-BY and CC0 are Creative Commons licences (attribution required, or no restrictions); Apache 2.0 and MIT are permissive software licences; OlmoEarth's custom licence has use restrictions. Prithvi's licence is stated differently on Hugging Face and GitHub, hence "verify".
Ocean: green means open ocean is in the training data, red means it is masked out or not targeted. Only Granite is green among the six.
Intended use: "frozen embeddings" means you keep the network fixed and train only a small head on top; "fine-tuning" means you retrain the network for your task; kNN is k-nearest-neighbours, the simplest possible classifier, used to test how good raw embeddings are.
Sources for this slide:
• Satellite Embedding dataset (Earth Engine) — https://developers.google.com/earth-engine/datasets/catalog/GOOGLE_SATELLITE_EMBEDDING_V1_ANNUAL
• GeoTessera embeddings — https://github.com/ucam-eo/geotessera
• OlmoEarth pretraining code — https://github.com/allenai/olmoearth_pretrain
• TerraMind weights (Hugging Face) — https://huggingface.co/ibm-esa-geospatial
• Prithvi weights and configs (Hugging Face) — https://huggingface.co/ibm-nasa-geospatial
• Granite-Geospatial-Ocean weights — https://huggingface.co/ibm-granite/granite-geospatial-ocean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question we kept returning to: which representation models have ever seen the sea in their training data, and how deep do they go?
Earth 2 (ours) is in the first row because it is the only entry whose inputs include the ocean interior — temperature and salinity at depth from Argo floats (the global fleet of autonomous profiling instruments), plus sea-surface height, currents and wind at the surface. Our stencil is a 3-by-3 patch of quarter-degree cells, one monthly or five-day snapshot, with 24 months of history in the second-stage forecasting model. Output: 64 numbers per pixel-month.
Granite-Geospatial-Ocean (previous slide) and OceanSAR are the two published encoders trained deliberately on sea pixels — but both are surface-only. Granite sees ocean colour and temperature; OceanSAR (from the company Galeio) sees Sentinel-1 radar "wave mode" images of the sea surface, about 12 million of them, and predicts sea state, wave height and wind speed.
Copernicus-FM (TU Munich) covers "the whole land surface and near-land ocean" on a quarter-degree grid — coastal seas are incidental. Weather and climate models (Prithvi WxC, Aurora, ClimaX) contain ocean grid cells only because reanalysis fields are global; the sea is background, not the learning target. Location encoders such as SatCLIP work on coordinates, not ocean state.
Verdict: nothing else embeds the ocean interior through time. Forecast systems such as GLONET or Samudra learn ocean dynamics but publish forecasts, not reusable embeddings.
Sources for this slide:
• Granite-Geospatial-Ocean paper — https://arxiv.org/abs/2509.21273
• OceanSAR-1 paper — https://arxiv.org/abs/2504.06962
• OceanSAR-2 paper — https://arxiv.org/abs/2601.07392
• Copernicus-FM paper — https://arxiv.org/abs/2503.11849
• Aurora (Nature 2025) — https://doi.org/10.1038/s41586-025-09005-y
• AIFS surface ocean (ECMWF 2026) — https://arxiv.org/abs/2604.25559
• Earth 2 paper (v8, PDF) — https://github.com/blauewelt/earth/blob/main/ml/paper/paper.pdf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Chris's framing of the long-term goal: the Earth system has four interacting "spheres", and eventually we want one representation that spans them all. This slide maps who covers which today and proposes an order for joining them.
a) Atmospheric weather: covered by forecast models (Prithvi WxC, Aurora, GraphCast and others) that produce states, not reusable embeddings. Native timescale hours to days; the atmosphere is predictable for about ten days.
b) Ocean weather: the surface is covered by OceanSAR, Granite and ECMWF's 2026 AIFS ocean extension; the interior only by Earth 2. Timescales run from days at the surface to decades in the deep. A physical fact drives everything: the top two and a half metres of ocean hold as much heat as the entire atmosphere above it, so the ocean is the slow, remembering partner.
c) Ocean biosphere: phytoplankton, ocean colour, carbon uptake. Granite plus task-specific carbon-flux models (SOM-FFN, CSIR-ML6, CANYON-B). Timescales: blooms in weeks, seasons, decadal trends.
d) Land biosphere: the entire mainstream of Earth observation models, all of which fold a year and none of which touch the sea.
Nobody represents two spheres jointly. The proposed sequence: start from the ocean interior (longest memory, least covered by anyone else — what we already have), add ocean colour (same grid, Granite's recipe exists, and it closes the physics-to-biology loop through mixed-layer depth, light and temperature), then treat the atmosphere as a forcing (already in our channels as wind and fluxes), and add land last.
Three design consequences follow: each sphere needs its own speed-and-memory "cone" (introduced on slide 26); biospheres run on the calendar so they want year-summary tokens while physics wants dated snapshots; and the observing systems differ in shape (grids, sparse profiles, cloud-gapped swaths, 10-m tiles), which our distinction between "hidden from the model" and "never measured" tokens is built to handle.
Sources for this slide:
• AIFS surface ocean (ECMWF 2026) — https://arxiv.org/abs/2604.25559
• Samudra — https://arxiv.org/abs/2412.03795
• SamudrACE — https://doi.org/10.1029/2025GL119340
• Granite-Geospatial-Ocean paper — https://arxiv.org/abs/2509.21273
• ESFM — https://arxiv.org/abs/2605.00850
• Earth 2 paper (v8, PDF) — https://github.com/blauewelt/earth/blob/main/ml/paper/paper.pdf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of four slides with actual benchmark numbers, transcribed from the papers. This one uses the widest comparison available: Table 2 of the OlmoEarth paper, which evaluates many models with a single frozen-embedding protocol.
"Frozen" means the encoder is not retrained; only a trivial classifier sits on top. kNN (k-nearest neighbours) assigns a test image the majority label of its 20 nearest training embeddings — the purest test of embedding quality. "Linear probe" fits a single linear layer, used for segmentation and multi-temporal tasks.
Columns are benchmark datasets: BigEarthNet and So2Sat (land-cover classification), EuroSAT (scene classification), CropHarvest-Togo (crop vs non-crop), m-cashew and SA-crop (crop segmentation), PASTIS (crop parcels through time), MADOS (marine debris and oil), Sen1Floods11 (flood mapping from radar). Scores are accuracy or micro-F1 for classification and mIoU for segmentation — all 0 to 100, higher is better.
Shaded rows are the models in this deck; grey rows are other models for context. Green is the best in each column across all rows.
What it says: on frozen features OlmoEarth leads the classification columns by large margins (So2Sat 68 vs 47 for TerraMind vs 35 for Prithvi), TerraMind leads BigEarthNet and the cashew and SA-crop segmentation, and Prithvi trails on every classification column. TESSERA appears once, on CropHarvest-Togo, within one point of OlmoEarth. AlphaEarth is absent from this table because its embeddings are annual and could not be run under this protocol.
Caveat, which applies to every table in this section: it was authored by one of the contestants.
Sources for this slide:
• OlmoEarth paper — https://arxiv.org/abs/2511.13655
• TESSERA paper — https://arxiv.org/abs/2506.20380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tables. The top one is OlmoEarth's Table 3: the same models, now fully fine-tuned — the whole network is retrained for each task (the encoder is unfrozen after the first 20 % of training). The bottom one is TerraMind's Table 6 on the PANGAEA benchmark, a community suite of about eleven segmentation, change-detection and regression tasks, evaluated with a frozen encoder plus a standard segmentation decoder (UPerNet).
Top table: once fine-tuned, the gap between models closes. TerraMind Large and OlmoEarth Large split the columns roughly evenly, and Prithvi-EO 2.0 (600 M) sits one to three points behind on the classification columns but eight to thirteen points behind on the PASTIS and MADOS segmentation columns. The last row is the same OlmoEarth architecture trained from random initialisation — no pretraining at all. The distance between that row and the others (10 to 37 points) is the value of pretraining itself.
Bottom table: mIoU per dataset plus an average and an average rank. TerraMind Large is the only foundation model whose average (59.6) beats a U-Net trained from scratch (57.6). Prithvi appears only as version 1.0 and comes last. HLS Burn Scars, FiveBillionPixels, DynamicEarthNet, SpaceNet 7 and AI4SmallFarms are the other PANGAEA datasets.
Not shown: Prithvi-EO 2.0's own GEO-Bench table, because none of the other models in this deck appear in it.
Sources for this slide:
• OlmoEarth paper — https://arxiv.org/abs/2511.13655
• TerraMind paper — https://arxiv.org/abs/2504.11171
• PANGAEA benchmark — https://arxiv.org/abs/2412.04204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two "products" — the models whose main deliverable is a precomputed global embedding layer: AlphaEarth and TESSERA.
Left table, from the TESSERA paper: frozen embeddings plus a light head, on six tasks. F1 and mIoU are higher-is-better (arrows up); RMSE — root-mean-square error, in tonnes per hectare for biomass and metres for canopy height — is lower-is-better (arrows down). TESSERA beats AlphaEarth on five of six, with the largest margins on pixel-wise crop tasks where a per-pixel time series matters most (Austrian crop F1 82 vs 56). AlphaEarth edges PASTIS-R by 0.4 points. Both products beat every frozen ViT-style model by wide margins.
Top-right table, from the OlmoEarth paper: AlphaEarth versus OlmoEarth under three protocols. With both frozen, results are mixed. Fine-tuned OlmoEarth wins all five tasks — and the "n/a" row is the point: AlphaEarth cannot be fine-tuned, because only the embeddings, not the network, are released. LFMC is live fuel moisture content, an L1 (absolute) error, lower is better.
Bottom-right, an independent study: mapping Local Climate Zones in Bern with an Attention U-Net fed either raw Sentinel composites, AlphaEarth, or TESSERA. The two products are within one point of each other and two to five points above raw imagery.
AlphaEarth's own paper reports a 23.9 % average error reduction versus the next-best method across 15 evaluations, losing only on land-use change; its per-task values are published as charts without numbers, which is why they are not tabulated here.
Sources for this slide:
• TESSERA paper — https://arxiv.org/abs/2506.20380
• AlphaEarth vs TESSERA for Local Climate Zones — https://arxiv.org/abs/2606.20034
• OlmoEarth paper — https://arxiv.org/abs/2511.13655
• AlphaEarth Foundations paper — https://arxiv.org/abs/2507.22291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ocean encoders cannot be compared with the land models — no shared benchmark exists — so this slide shows each against its own baselines.
Left: Granite-Geospatial-Ocean, Table 1. Five-fold cross-validated RMSE in log10 units for chlorophyll-a and primary production, comparing the fine-tuned foundation model with the same network trained from scratch and with a random forest on raw pixel values. The foundation model is best in both columns, but the margins (0.02 and 0.03) are smaller than the spread between folds. The authors' stronger claims are label efficiency (the advantage grows as training labels shrink) and better spatial pattern (SSIM — structural similarity — of 0.88 versus 0.82 against the operational product).
Right: OceanSAR-1, kNN on frozen features against other SAR foundation models. TenGeoP is a ten-class geophysical-phenomena dataset (accuracy, higher is better); wave height and wind speed are RMSE in metres and metres per second (lower is better). Ocean-only pretraining beats land-trained SAR models by 9 to 23 points on classification and cuts wind-speed error by 30 to 45 %.
Bottom box: the only thing the ocean and land models share is the protocol — frozen features plus a small head, and "foundation model versus same network from scratch" as the control for the value of pretraining. That is also exactly what our attribution matrix does: our pixel and patch codecs versus raw data at matched receptive field. Our pretraining margin (0.617 vs 0.613 correlation for a single pixel; 0.672 vs 0.659 for the 3-by-3 patch) is the same kind of statement as Granite's 0.14 versus 0.16 — a small one.
Sources for this slide:
• Granite-Geospatial-Ocean paper — https://arxiv.org/abs/2509.21273
• OceanSAR-1 paper — https://arxiv.org/abs/2504.06962
• OceanSAR-2 paper — https://arxiv.org/abs/2601.07392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digest of the four head-to-head slides: for each evaluation protocol and metric family, how the models in this deck rank, with the margin and the source.
Reading down: with frozen features OlmoEarth leads classification and shares segmentation with TerraMind; fine-tuned, TerraMind Large and OlmoEarth Large tie with Prithvi behind; on PANGAEA TerraMind is the only model above a from-scratch U-Net; GEO-Bench-2 (an independent 2025 benchmark that publishes ranks, not scores) places Prithvi 600M-TL fifth and TerraMind Large sixth of fourteen; among the two products TESSERA beats AlphaEarth on five of six tasks in TESSERA's own table but they tie in an independent study; a fine-tuned OlmoEarth beats AlphaEarth everywhere because AlphaEarth cannot be fine-tuned; and the ocean models are measured only against themselves.
The two structural caveats at the bottom are the honest summary. First, no benchmark contains all six models — the widest single table has five and omits AlphaEarth, and the only independent multi-model source has two. Second, no public benchmark has an ocean-state, transport or interior task, so none of these rankings transfer to our problem. What transfers is the protocol: frozen probe versus fine-tune, and a from-scratch control at matched receptive field, which our attribution matrix already implements.
Sources for this slide:
• OlmoEarth paper — https://arxiv.org/abs/2511.13655
• TerraMind paper — https://arxiv.org/abs/2504.11171
• Prithvi-EO 2.0 paper — https://arxiv.org/abs/2412.02732
• TESSERA paper — https://arxiv.org/abs/2506.20380
• GEO-Bench — https://arxiv.org/abs/2306.03831
• GEO-Bench-2 — https://arxiv.org/abs/2511.15658
• AlphaEarth vs TESSERA for Local Climate Zones — https://arxiv.org/abs/2606.20034
• Granite-Geospatial-Ocean paper — https://arxiv.org/abs/2509.21273
• OceanSAR-1 paper — https://arxiv.org/abs/2504.06962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for Earth 2, each tied to something measured.
Axis 1, pixel versus patch. TESSERA shows a per-pixel encoder with no spatial context is competitive on land; every other model buys context with a patch grid. We have already priced this axis in our attribution matrix: reading the RAPID transport with a single-pixel codec gives a correlation of 0.617 (raw data 0.613); with the 3-by-3 patch, 0.672 averaged over two seeds (raw 0.659). Taken at face value that would make the neighbourhood worth about +0.05 and pretraining about +0.01. (RAPID is the mooring array at 26.5°N that measures the Atlantic overturning circulation; "correlation" is how well our read-out tracks it.) Two cautions. These are probe numbers, whose seed-to-seed spread in our own record runs from 0.04 to 0.25, so the +0.05 sits at the edge of the noise band and the +0.01 inside it — the honest reading is "the neighbourhood probably matters; pretraining is unresolved". And on 2 September the paper was reset, because its rolled forecast numbers came from second-stage heads that had seen the held-out years; these probe numbers are unaffected by that (the reset paper keeps them in its appendix), but no forecast number from before 2 September may be quoted anywhere.
Axis 2, snapshot versus period. TerraMind and Granite are snapshots; Prithvi and OlmoEarth stack dated frames; AlphaEarth and TESSERA fold a full year into one vector. Our first-stage codec is a snapshot of a monthly (or five-day) mean, and the month-block codec folds only about six five-day bins. The year-folded design is the axis we have not tested — hence the proposed experiment on the next slide.
Product versus model. AlphaEarth is a dataset you cannot re-run; TESSERA and OlmoEarth ship both. For the ocean nothing precomputed exists at all.
The gap. Only two published encoders are trained on sea pixels — Granite and OceanSAR — and both are surface, single-instant models. To our knowledge no published model embeds the gridded ocean state through time. That is the territory our codec occupies.
Sources for this slide:
• Earth 2 paper (v8, PDF) — https://github.com/blauewelt/earth/blob/main/ml/paper/paper.pdf
• ml/CLAUDE.md (replication rules, §3b) — https://blauewelt.github.io/earth/docs.html?f=ml/CLAUDE.md
• TESSERA paper — https://arxiv.org/abs/2506.20380
• AlphaEarth Foundations paper — https://arxiv.org/abs/2507.22291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experiment proposal, framed honestly. An earlier draft of this deck suggested a "1-by-1 pixel-only control"; it turned out our paper already contains it (the attribution matrix has both single-pixel and 3-by-3 versions of raw and codec inputs). So the spatial question has been measured, at the resolution probe numbers allow; what TESSERA adds that we have not tried is the temporal fold.
What TESSERA does that we don't: it produces one embedding per pixel-YEAR from about 40 dated observations of one pixel, using a temporal transformer and day-of-year encodings, trained with Barlow Twins (no reconstruction) and quantised to int8 during training. Our first-stage vector z describes one pixel-MONTH; a second-stage model then runs over the sequence of monthly vectors.
Arm A — the pixel-year codec: an encoder that reads the 12 (or 24) pixel-months of one quarter-degree cell at once, with month-of-year tokens, and emits one 64-number vector per pixel-year. We keep the patch size at 1 so that only the time axis changes. Token count about 12 times (channels + 2), roughly 310 at 24 channels — the same order as our existing 282-token month-block codec, so it fits the current training recipe.
Arm B — swap the training objective: same encoder, but Barlow Twins on two random subsets of dates from the same pixel-year, instead of masked reconstruction.
Controls: the average of the 12 monthly vectors (does folding beat pooling?), the current stage-2 pathway, and the raw 12-month stack fed to the same attention head (the end-to-end control from the attribution matrix). At least two codec seeds, because head numbers from one seed have proven noisy.
Read-outs: our probe ladder to the RAPID transport (correlation and RMSE in Sverdrups), the fraction of variance lost on the round trip, and rolled skill under the corrected protocol — the mean skill against climatology and against damped persistence at each lead, with trained and held-out longitudes reported separately; the old "corridor AUC" name was retired on 2 September 2026 when the paper was reset. Success means the folded vector beats the control beyond block-bootstrap intervals, with at least three seeds.
Sources for this slide:
• TESSERA paper — https://arxiv.org/abs/2506.20380
• Earth 2 paper (v8, PDF) — https://github.com/blauewelt/earth/blob/main/ml/paper/paper.pdf
• ml/CLAUDE.md (replication rules, §3b) — https://blauewelt.github.io/earth/docs.html?f=ml/CLAUDE.md
• E-069 plan — two stencils, one cone — https://blauewelt.github.io/earth/docs.html?f=ml/plans/E069_cone_codec.md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physical idea Chris proposed: what can influence a pixel Δt ahead is bounded by how fast each process propagates and how long it remembers.
Notation first. t is "now", the last observed step. Δt is the forecast step — we predict the target at t+Δt. ℓ (a script L) is the lag of an input: it was observed at t−ℓ, so it sits Δt+ℓ before the target; ℓ = 0 is the newest input. v is a process's signal speed; τ (tau) is its memory — how long it stays predictable.
The model: for a process p, an input at lag ℓ can matter only if it is close enough to have travelled to the target in time, |Δx| ≤ v·(Δt+ℓ), and only if the process still remembers, Δt+ℓ ≤ τ. The first condition is the domain-of-dependence or "light-cone" argument from numerical physics (the CFL condition); the second says that beyond a process's predictability its history is noise.
The chart is log-log: time separation on the horizontal axis (1 day to 10 years), distance on the vertical (10 km to 20,000 km), so a constant speed is a straight diagonal. Each process is a region: the atmosphere (amber) is wide but shallow — 10 m/s but only 10 days of memory; the surface ocean (blue) is narrow but months deep — 0.1 m/s, 8 months; the interior (teal) is narrower still but years deep — 0.03 m/s. The dashed line is the Kelvin-wave speed along coasts and the equator, an exception that is fast but anisotropic.
The union rule: a channel forced by several processes has the union of their cones. Sea-surface temperature is forced by the atmosphere (heat flux) and by currents (advection), so its region is wide-and-shallow plus narrow-and-deep — an L-shape, not a cone.
Where our stencils sit: a fixed stencil is a cylinder — same reach at every lag. Our ring-8 at 222 km per month is an ocean-advection speed (0.085 m/s); our sunflower-89 at 4444 km is 1.7 m/s, inside the atmosphere's cone at a one-month step. The dashed vertical line marks the 24 months of history our second-stage model sees.
Sources for this slide:
• Dependency-Cone Explorer — https://blauewelt.github.io/earth/ml/figures/dependency_cone_explorer.html
• Chelton et al. 2011, global eddies — https://doi.org/10.1016/j.pocean.2011.01.002
• Courant, Friedrichs &amp; Lewy 1928 — https://doi.org/10.1007/BF01448839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cone model applied channel group by channel group, with the useful reach per monthly step, the useful history, and a design consequence for each.
Wind, pressure and fluxes: the atmosphere moves at 10 m/s and forgets in 5–10 days. Its causal reach in one month is the whole globe, but because its memory is shorter than our step, monthly wind is not predictable from its own history — only through slow ocean modes that force it. So treat it as a wide, shallow forcing: large stencil, no depth. At the five-day step the memory and the step are similar, so wind becomes partly self-predictable — a gain only a pentad model could show, and one that has not been shown: the earlier pentad rolls were withdrawn with the paper reset.
Sea-surface and mixed-layer temperature: advected at 0.1–0.3 m/s (260–800 km per month), forced by the atmosphere, remembered for 3–12 months (including "re-emergence" — anomalies that sink in autumn and reappear next spring). It needs both the wide wind stencil and months of history: the one group that justifies the full cylinder.
Interior temperature and salinity: 0.02–0.1 m/s, memory of years to decades. Per monthly step the useful reach is 50–300 km, which a 3-by-3 patch at quarter degree already covers; our 4444-km stencil is 15–90 times too wide for one step. Small reach, long history — the concrete answer to the open question "can reach come down?" from the project's dependency-cone note.
Sea-surface height: slow Rossby waves in the interior (0.03 m/s at mid-latitudes), fast Kelvin and coastal waves along boundaries (1–3 m/s). An anisotropic stencil — an arm along coasts, narrow elsewhere.
The transport target (RAPID): the overturning transport is set by the east-west density difference across the basin ("thermal wind"), which means its cone is the whole section — and why a read-out must see the whole section rather than a spatial mean, which would average away exactly that east–west contrast (an argument from the mechanism; the measured pooled-versus-unpooled gap is a two-interval comparison our own rules do not allow as evidence).
Bottom left: four falsifiable predictions, each an ablation to run under the corrected roll protocol of the reset paper (none has been run; the earlier rolled numbers were withdrawn). Bottom right: where the simple picture needs care — v is the fastest signal speed, not the mean flow; τ is predictability, not causality; cones are tilted, not symmetric; monthly averaging turns anything faster than the step into forcing.
Sources for this slide:
• Dependency-Cone Explorer — https://blauewelt.github.io/earth/ml/figures/dependency_cone_explorer.html
• Chelton et al. 2011, global eddies — https://doi.org/10.1016/j.pocean.2011.01.002
• Earth 2 paper (v8, PDF) — https://github.com/blauewelt/earth/blob/main/ml/paper/paper.pdf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walk-through of the cone idea for one target: the surface current (u, v) at a quarter-degree pixel, one month ahead. Each row is a driver — something that pushes the current around — with its mechanism and its two numbers, speed and memory, plus a correlation length.
Wind stress acts through Ekman transport (the wind drags the surface layer, which turns at right angles because of Earth's rotation), within about a day. Because its 10-day memory is shorter than the monthly step, only the newest input (lag 0) is useful, and only as forcing that is not itself predictable.
Air temperature acts through heat flux, which changes mixed-layer temperature, which changes density gradients, which drive geostrophic currents. This is the subtle row: the atmosphere forgets in 10 days, but the mixed layer remembers the heat it received for months and carries it along at ocean speed — so the channel inherits the ocean's memory (6 months) and speed (0.15 m/s). Its reach is the 1,500-km atmospheric correlation length plus what the ocean advects.
Ocean surface temperature drives currents through horizontal density gradients ("thermal wind") — which is why neighbours are mandatory: a gradient does not exist inside one pixel.
Interior temperature and salinity: same mechanism, integrated from depth; at 0.03 m/s (78 km per month) the 3-by-3 patch already covers lag 0.
Sea-surface height sets the pressure gradient; slow Rossby waves in the interior plus a fast Kelvin arm along coasts.
Own history: momentum persistence and eddies. Individual eddies live four months and longer and drift westward at a few centimetres per second, but at a fixed pixel the current decorrelates in weeks to a few months because they pass through — that decorrelation time, about three months, is the memory that matters here.
The "two rules" box states the arithmetic used throughout: reach at lag ℓ is the larger of v·(Δt+ℓ) and the correlation length, capped at 10,000 km; a lag is useful if Δt+ℓ ≤ τ. There is one deliberate exception, stated in the box: for a fast driver acting through a slow medium (air temperature → heat flux → mixed layer) the two lengths add rather than compete — the flux pattern is laid down over the atmospheric correlation length and then carried away by the ocean — which is why the air-temperature row reads 1,889 to 3,833 km. The notation panel defines ℓ with a timeline. All parameter values are order-of-magnitude illustrations and can be changed live in the Dependency-Cone Explorer page.
Sources for this slide:
• Dependency-Cone Explorer — https://blauewelt.github.io/earth/ml/figures/dependency_cone_explorer.html
• Chelton et al. 2011, global eddies — https://doi.org/10.1016/j.pocean.2011.01.002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driver from the previous slide becomes a wedge on this chart. Horizontal axis: lag ℓ, how many months before now the input was observed (0 to 24). Vertical axis (logarithmic): how far from the pixel the input may sit and still matter, 10 km to 10,000 km.
A wedge rises to the right because older inputs have had more time to travel — reach grows as v·(Δt+ℓ) — and stops abruptly where the driver's memory τ runs out. Wind is a tall spike at lag 0 only. Air temperature is a wide band for six lags. Surface temperature is a true wedge for eight lags. Interior temperature and salinity and sea-surface height are low and long. Own history is short.
The bold black line is the union of all wedges: the region a stencil for this target should follow. Its shape is an L: a spike at lag 0 (the atmosphere, wide but instant), a shoulder out to 6–8 months (mixed-layer temperature and integrated heat flux, 2,000–4,000 km), then a long low tail to 24 months (the interior, under 1,900 km).
Two reference lines: the dashed rectangle is our current "cylinder" — 89 stencil slots reaching 4,444 km at every one of 24 lags; the dotted line at 84 km is the 3-by-3 patch. The cylinder over-covers the tail by a factor of 2 to 50 and cannot cover the lag-0 spike at all.
Sources for this slide:
• Dependency-Cone Explorer — https://blauewelt.github.io/earth/ml/figures/dependency_cone_explorer.html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wedges into a stencil budget. Our production stencil, the "sunflower-89", spreads 89 slots over a disc of radius 4,444 km and is applied at all 24 lags: 89 × 24 = 2,136 "slot-lags" per channel — the cylinder.
The rule: slots needed for a given reach r scale with area, 89·(r/4,444 km)², floored at 9 (the 3-by-3 patch) and capped at 89. Each row is a driver; each bar is a lag; bar height is the slots needed at that lag; grey stubs are lags outside the driver's memory, which are dropped.
Wind: one full-width sheet at lag 0, nothing else — 89 slot-lags. Air temperature: a wide sheet for six lags, 232. Surface temperature: a true cone from 9 to 44 slots over eight lags, 157. Interior temperature and salinity: a thin 24-lag column at the 9-slot floor for a year and a half before it widens, 238. Sea-surface height: a thin 12-lag column, 108 (its coastal arm is not counted by this isotropic formula). Own history: three short lags, 27.
Total: 851 cone-shaped slot-lags for the six channels against 12,816 for the cylinder — 93 % fewer. Equivalently, the saving could buy 48 months of history for the interior channels at no extra cost. These numbers follow directly from the illustrative speeds and memories; the Explorer page recomputes them if you change any parameter.
Sources for this slide:
• Dependency-Cone Explorer — https://blauewelt.github.io/earth/ml/figures/dependency_cone_explorer.html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physics behind each wedge, in four cards, and then what is fixed versus what is learned.
Ekman: wind stress τ drives a surface transport of about τ/(ρ f) at right angles to the wind — ρ is water density, f the Coriolis parameter set by latitude — within about one inertial period, roughly a day at 30°. Local, fast, shallow. At monthly cadence this is same-step forcing.
Thermal wind: the vertical shear of the geostrophic current is proportional to the horizontal density gradient, ∂u/∂z = (g/(f ρ₀)) ∂ρ/∂y. A gradient does not exist inside one pixel, which is why the 3-by-3 patch is the floor for temperature and salinity channels, and why heat flux matters through its spatial pattern rather than its local value.
Pressure gradient: the surface geostrophic current is u = −(g/f) ∂η/∂y, where η is sea-surface height. SSH anomalies arrive slowly as westward Rossby waves in the interior and fast as Kelvin or coastal waves along boundaries.
Advection and eddies: momentum persists and mesoscale eddies drift westward at a few centimetres per second. The eddies themselves live four months and more, but at a fixed pixel the current decorrelates in weeks to a few months as they pass through — that is the memory used for "own history". Upstream cells carry what will arrive.
What the stencil fixes versus what attention learns: the cone is the support — which (cell, lag, channel) tokens may enter at all. It encodes only speed and memory per driver. Everything else — which upstream cell matters this month, how strongly an SSH gradient projects onto the current — is learned by the attention weights inside the support. A support too small cannot be learned around; one too large costs slots and admits noise.
Right box: the four ablations specialised to this target, with the predicted outcomes. They are hypotheses; nothing here has been run. The Dependency-Cone Explorer page uses the same formulas with editable parameters.
Sources for this slide:
• Dependency-Cone Explorer — https://blauewelt.github.io/earth/ml/figures/dependency_cone_explorer.html
• Chelton et al. 2011, global eddies — https://doi.org/10.1016/j.pocean.2011.01.002
• Earth 2 paper (v8, PDF) — https://github.com/blauewelt/earth/blob/main/ml/paper/paper.pdf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dependency-cone idea stand against the literature? Row by row.
The origin is the Courant–Friedrichs–Lewy condition from 1928: a numerical scheme's stencil must contain the physical domain of dependence, |Δx| ≤ v·Δt. Our first rule is exactly this; the CFL condition has no notion of memory.
OceanNet (2024), a regional neural forecaster for the Gulf Stream, uses precisely a wave-speed-times-time argument to justify dropping lateral boundary conditions: Rossby waves at 40°N move about 1 cm/s, so eddies travel only 30–120 km from the open boundary over the forecast horizon. Same arithmetic, used to shrink a boundary rather than to shape a per-channel stencil.
PARADIS (2026) is the architectural version: a "neural semi-Lagrangian" layer gathers features at the departure point x − Δt·u — where the flow came from — turning the CFL limit into a smoothness condition on the velocity. A 20-parameter layer moves a tracer that a U-Net's fixed receptive field cannot. That is the tilted, anisotropic cone made operational, though with one transport field for all variables and no memory truncation.
ClimODE uses advection as an inductive bias but with fixed local and global branches. Limited-area weather models use fixed boundary halos, not sized by wind speed times lead time. Global models such as GraphCast, Pangu and FuXi set reach per step by hop count or window size and grow it with lead time by changing the step — the same reach for every channel. Per-variable tokenisation (ClimaX, Aurora, Prithvi WxC) gives each variable its own embedding, not its own spatial or temporal extent. Ocean emulators such as Samudra prescribe the atmosphere as forcing — our monthly-step inversion in practice.
What we did not find is the combination: truncating each process's cone by its own memory, taking the union per channel, and letting that dictate a channel-specific stencil. A one-day search is not a literature review; treat it as "not yet found", and cite OceanNet and PARADIS as the nearest neighbours.
Sources for this slide:
• Courant, Friedrichs &amp; Lewy 1928 — https://doi.org/10.1007/BF01448839
• OceanNet — https://arxiv.org/abs/2310.00813
• PARADIS — Learning to Advect — https://arxiv.org/abs/2601.21151
• ClimODE — https://arxiv.org/abs/2404.10024
• Neural-LAM — https://arxiv.org/abs/2309.17370
• Stretched-grid ML weather — https://arxiv.org/abs/2409.02891
• Keisler 2022 — https://arxiv.org/abs/2202.07575
• GraphCast — https://arxiv.org/abs/2212.12794
• Pangu-Weather — https://arxiv.org/abs/2211.02556
• FuXi — https://arxiv.org/abs/2306.12873
• ClimaX — https://arxiv.org/abs/2301.10343
• Aurora (Nature 2025) — https://doi.org/10.1038/s41586-025-09005-y
• Prithvi WxC — https://arxiv.org/abs/2409.13598
• Samudra — https://arxiv.org/abs/2412.03795
• ACE2-SOM — https://arxiv.org/abs/2412.04418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four-sphere ambition against the literature, by family.
Coupled emulators: Samudra is a 3-D global ocean emulator (temperature, salinity, currents at depth) trained on reanalysis; SamudrACE (2026) couples it to Ai2's machine-learned atmosphere ACE2. This is the closest structural analogue to our order — ocean interior first, atmosphere joined later — but it emulates a simulator rather than embedding observations, and has no biosphere. ACE2-SOM and ACE2-NEMO couple an ML atmosphere to a slab or dynamical ocean.
ECMWF's 2026 AIFS surface-ocean paper forecasts atmosphere plus sea-surface temperature, salinity, height, currents, waves and sea ice in one "component-agnostic" model, and explicitly gives the slowly evolving ocean and ice fields larger loss weights — the first ML system we found that names and handles the cross-sphere timescale mismatch. Surface only, and a forecast model rather than a reusable embedding.
Aurora (Nature 2025, titled "A foundation model for the Earth system") is one pretrained backbone with sphere-specific fine-tunes; atmosphere-centric, no interior ocean.
Observation-native learning: Aardvark Weather and GraphDOP learn directly from raw observations, skipping reanalysis; 4DVarNet learns to fuse sparse altimetry and temperature into gap-free surface fields. This is the recipe for taking Argo profiles, swaths and ship tracks natively — what "combine all relevant data" needs — but none of them has an Argo-depth encoder.
"Earth-system" foundation models: ESFM (2026) and Copernicus-FM unify heterogeneous sources with missingness tokens — the same primitive as our "masked" versus "never measured" tokens — but neither touches the ocean. The Prithvi family is a set of separate sphere-specific models; AlphaEarth uses ERA5-Land only as an input.
Ocean-biosphere and carbon ML (SOM-FFN, CSIR-ML6, CANYON-B, Granite) are task models with hand-chosen predictors. Coupled data assimilation (Penny &amp; Hamill 2017) is where the timescale problem was first named. Platforms and twins (NVIDIA Earth-2, Destination Earth, EDITO) share the goal but are not learned embeddings — and NVIDIA's "Earth-2" is a name collision we must disambiguate, as is Aurora's title.
Sources for this slide:
• Samudra — https://arxiv.org/abs/2412.03795
• SamudrACE — https://doi.org/10.1029/2025GL119340
• ACE2-SOM — https://arxiv.org/abs/2412.04418
• ACE2-NEMO — https://arxiv.org/abs/2603.28704
• AIFS surface ocean (ECMWF 2026) — https://arxiv.org/abs/2604.25559
• Aurora (Nature 2025) — https://doi.org/10.1038/s41586-025-09005-y
• Aardvark Weather (Nature 2025) — https://doi.org/10.1038/s41586-025-08897-0
• GraphDOP — https://arxiv.org/abs/2412.15687
• 4DVarNet — https://doi.org/10.1029/2023MS003609
• ESFM — https://arxiv.org/abs/2605.00850
• Copernicus-FM paper — https://arxiv.org/abs/2503.11849
• Prithvi WxC — https://arxiv.org/abs/2409.13598
• AlphaEarth Foundations paper — https://arxiv.org/abs/2507.22291
• CSIR-ML6 (Gregor et al. 2019) — https://doi.org/10.5194/gmd-12-5113-2019
• CANYON-B (Sauzède et al. 2017) — https://doi.org/10.3389/fmars.2017.00128
• Granite-Geospatial-Ocean paper — https://arxiv.org/abs/2509.21273
• Penny &amp; Hamill 2017, coupled DA (BAMS) — https://doi.org/10.1175/BAMS-D-17-0036.1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the last part of the deck: if we want one embedding that is generic — usable for the ocean, the atmosphere, the land and both biospheres — what should it be allowed to see?
The rule at the top is the whole answer in one sentence: every signal that is relevant to the state of the four spheres at a point, and that cannot be derived from the other inputs. "Cannot be derived" is the important half. A vegetation index is a formula applied to two satellite bands; if the bands are in, the index adds nothing. Sunlight angle follows from position and time. The slope of a hill follows from the elevation map. None of those belong in the input — they are fine as things to predict, which costs nothing and gives the model free supervision.
The ladder on the left lists thirteen rungs, finest at the bottom. The bar is the native pixel size on a logarithmic scale, so 10-metre Sentinel imagery is a short bar and the 31-kilometre reanalysis is a long one. Colours are the sphere the rung mostly serves. Two rungs deserve a mention: rung 3, the 300-metre-to-1-kilometre daily radiometers, is the first rung that covers the ocean — the fine imagery of rungs 1 and 2 only sees land and coast. And rung 8 is the first rung that looks below the sea surface.
The box on the right is about derived products — a "reanalysis" is a weather or ocean model that is continuously nudged towards observations, and a "gap-filled map" is an observation product with the clouds interpolated away. They are admitted on three conditions: they must carry information we do not otherwise ingest (ERA5 has weather balloons and aircraft inside it), they are flagged so the model knows they are second-hand and are hidden from the input more often, and their time stamp is shifted by the window of observations they were built from, so they cannot smuggle in the future. That last point gets its own slide.
Sources for this slide:
• Generic-embedding input proposal (full note) — https://blauewelt.github.io/earth/docs.html?f=ml/figures/geofm_survey/GENERIC_EMBEDDING_INPUTS.md
• ERA5 documentation (SST/sea ice prescribed; 12 h 4D-Var) — https://confluence.ecmwf.int/display/CKB/ERA5%3A+data+documentation
• DUACS system description (windows) — https://duacs.cls.fr/duacs-system-description/merged-gridded-l4-products-generation/
• Lellouche et al. 2021, GLORYS12 — https://doi.org/10.3389/feart.2021.698876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table walks up the fine end of the ladder.
Rung 0 is not data at all but the frame: where and when we are looking, and how deep. The model needs it because the same temperature means different things in January at sixty degrees north and in July at the equator.
Rung 1 is the 10-metre imagery: Sentinel-2, which is a colour-plus-infrared photograph of the sunlit surface with the atmosphere corrected out, and Sentinel-1, a radar that works day and night and through cloud, and that measures how rough and how wet a surface is. Between them they give field-scale texture — crops, forests, floods, sea-ice edges, ships. The constellation facts are current as of this week: Sentinel-2 has three satellites in orbit until the end of 2026, and Sentinel-1 is now the C and D satellites, since 1A was switched off at the end of June.
Rung 2 is Landsat, at 30 metres: the same kind of photograph plus a thermal image — how warm the ground is — and a forty-year archive.
Rung 3 is where the ocean appears. Sentinel-3 and VIIRS take a daily picture of the whole planet at 300 metres to a kilometre. Over the ocean the colour of the water tells you how much phytoplankton is in it — that is the ocean biosphere — and the thermal channels give the skin temperature of sea and land. MODIS, the older sensor everyone has used since 2000, is being retired at the end of this year, which is why VIIRS is named here.
Rung 4 is the geostationary satellites — the ones parked over one spot, like GOES over the Americas or Meteosat over Europe and Africa. They take a picture every ten minutes, so they are the only place where you can actually watch the atmosphere move. That is the fast end of the dependency cone.
The "O / D" column says whether each rung is observed or derived; the whole of this first table is observed.
Sources for this slide:
• Generic-embedding input proposal (full note) — https://blauewelt.github.io/earth/docs.html?f=ml/figures/geofm_survey/GENERIC_EMBEDDING_INPUTS.md
• Sentinel-2 — https://sentinels.copernicus.eu/copernicus/sentinel-2
• Sentinel-2A extension to end-2026 — https://sentinels.copernicus.eu/-/sentinel-2a-extension-campaign-prolonged-until-the-end-of-2026
• Sentinel-1 — https://sentinels.copernicus.eu/copernicus/sentinel-1
• Sentinel-1 orbital reconfiguration (S1A end) — https://sentinels.copernicus.eu/-/sentinel-1-orbital-reconfiguration-dates
• Sentinel-1D data opening — https://sentinels.copernicus.eu/-/sentinel-1d-user-data-opening-and-future-plans
• Landsat Collection 2 Level-2 — https://www.usgs.gov/landsat-missions/landsat-collection-2-level-2-science-products
• Sentinel-3 — https://sentinels.copernicus.eu/copernicus/sentinel-3
• VIIRS — https://ladsweb.modaps.eosdis.nasa.gov/missions-and-measurements/viirs/
• NASA MODIS → VIIRS transition — https://www.earthdata.nasa.gov/data/alerts-outages/transition-from-modis-viirs
• GOES ABI — https://www.goes-r.gov/spacesegment/abi.html
• GOES-19 operational — https://www.nesdis.noaa.gov/news/noaas-goes-19-now-operational-goes-east-providing-critical-new-data-forecasters
• MTG FCI (WMO OSCAR) — https://space.oscar.wmo.int/instruments/view/fci
• Himawari AHI — https://www.data.jma.go.jp/mscweb/en/himawari89/space_segment/spsg_ahi.html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table covers the physical fields and the ocean's memory.
Rung 5 is a collection of kilometre-scale sensors that are sparse — they see along a line or a narrow strip rather than everywhere. The important one for the ocean is altimetry: a radar that measures the height of the sea surface to a few centimetres along the satellite's track. Sea-surface height is the ocean's pressure map; its slopes drive the currents. SWOT is the new altimeter that sees a 2-kilometre-resolution strip instead of a line. The same rung holds ground weather radar, lightning, the laser altimeters that measure tree height and sea-ice thickness, and the satellites that measure greenhouse gases in the air column. Everything here is sparse in space or time, which is exactly the case where a set of points beats a grid — a theme that returns in the proposal.
Rung 6 is the cleaned-up daily maps: sea temperature with the clouds filled in, sea level everywhere and not only under the track, rain everywhere, wind over the whole ocean, sea-ice cover and drift, and the wetness of the top centimetres of soil. Most of these are derived — they merge several sensors and interpolate the gaps — so they are flagged, masked more heavily, and time-shifted. A few in this rung are genuine observations put on a grid, like the ASCAT scatterometer winds.
Rung 7 is the reanalysis atmosphere, ERA5: the best physically consistent estimate of the whole atmosphere at every hour since 1940, made by running a weather model and nudging it towards millions of observations. It is what forces everything else — heat and momentum into the ocean and land. One warning that surprised us in verification: ERA5's sea-surface temperature and sea ice are inputs to ERA5, taken from other products, not things ERA5 estimates, so they must never be treated as ocean observations. For real time, where ERA5 lags five days, the free ECMWF or GFS analyses at a quarter degree fill in.
Rung 8 is the first look below the surface: Argo floats, which drift at depth and surface every ten days to report temperature and salinity down to 2,000 metres — there are about 4,400 of them right now; deep floats to 6,000 metres; biogeochemical floats that add oxygen, nitrate, acidity and chlorophyll; moorings; surface drifters, which give currents directly; and GLORYS, the ocean reanalysis, a model's gridded best guess around all of these. This rung holds the heat capacity, the density gradients and the AMOC — the slow memory of the whole system. The note in the last column matters for the proposal: only points do this justice; gridding Argo throws away its depth resolution.
Sources for this slide:
• Generic-embedding input proposal (full note) — https://blauewelt.github.io/earth/docs.html?f=ml/figures/geofm_survey/GENERIC_EMBEDDING_INPUTS.md
• SWOT (PO.DAAC) — https://podaac.jpl.nasa.gov/SWOT
• Sentinel-6 — https://documentation.dataspace.copernicus.eu/Data/SentinelMissions/Sentinel6.html
• Jason-3 (AVISO) — https://www.aviso.altimetry.fr/en/missions/current-missions/jason-3.html
• MRMS — https://www.nssl.noaa.gov/projects/mrms/
• EUMETNET OPERA — https://www.eumetnet.eu/activities/observations-programme/current-activities/opera/
• GOES GLM — https://www.goes-r.gov/spacesegment/glm.html
• GEDI — https://gedi.umd.edu/
• ICESat-2 — https://icesat-2.gsfc.nasa.gov/science/specs
• Sentinel-5P TROPOMI — https://sentinel.esa.int/web/sentinel/missions/sentinel-5p
• OCO-2 — https://ocov2.jpl.nasa.gov/
• OSTIA SST (Copernicus Marine) — https://data.marine.copernicus.eu/product/SST_GLO_SST_L4_NRT_OBSERVATIONS_010_001
• MUR SST (PO.DAAC) — https://podaac.jpl.nasa.gov/dataset/MUR-JPL-L4-GLOB-v4.1
• DUACS sea level L4 (Copernicus Marine) — https://data.marine.copernicus.eu/product/SEALEVEL_GLO_PHY_L4_NRT_008_046
• GPM IMERG — https://gpm.nasa.gov/data/imerg
• ASCAT winds (OSI SAF) — https://osi-saf.eumetsat.int/products/osi-104-b
• AMSR2 sea ice (NSIDC) — https://nsidc.org/data/au_si12/versions/1
• OSI SAF sea-ice products — https://osi-saf.eumetsat.int/products/sea-ice-products
• SMAP (NSIDC) — https://nsidc.org/data/smap/data
• ERA5 (CDS) — https://cds.climate.copernicus.eu/datasets/reanalysis-era5-single-levels
• ERA5 documentation (SST/sea ice prescribed; 12 h 4D-Var) — https://confluence.ecmwf.int/display/CKB/ERA5%3A+data+documentation
• ECMWF open data — https://www.ecmwf.int/en/forecasts/datasets/open-data
• GFS (NCEI) — https://www.ncei.noaa.gov/products/weather-climate-models/global-forecast
• Argo — https://argo.ucsd.edu/
• BGC-Argo — https://biogeochemical-argo.org/
• OceanOPS (live platform counts) — https://www.ocean-ops.org/
• Global Drifter Program — https://www.aoml.noaa.gov/phod/gdp/
• GTMBA / TAO moorings — https://www.pmel.noaa.gov/gtmba/
• OceanSITES — http://www.oceansites.org/
• GLORYS12 (Copernicus Marine) — https://data.marine.copernicus.eu/product/GLOBAL_MULTIYEAR_PHY_001_030
• Copernicus global analysis/forecast — https://data.marine.copernicus.eu/product/GLOBAL_ANALYSISFORECAST_PHY_001_024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table completes the ladder with the two biospheres, the ground truth, and the stage.
Rung 9 is the ocean biosphere and carbon: ocean colour as observed, with the cloud gaps left as gaps; PACE, the new hyperspectral colour sensor launched in 2024; and the carbon measurements — SOCAT, which is forty-four million ship measurements of the CO2 content of surface water, telling you whether the ocean is absorbing or releasing carbon at that spot; plus the machine-learned monthly carbon maps built on top of it, which are derived and flagged as such.
Rung 10 is the land biosphere and land water: leaf area, fluorescence — plants give off a faint glow when they photosynthesise, and a satellite can measure it — surface temperature, evaporation, soil moisture, snow, fire, the total water stored underground as measured by the GRACE gravity satellites, rivers, and the flux towers that measure carbon and water exchange every half hour at a few hundred sites. Almost everything here stays where it is: soil, plants and snow do not move sideways. That is the column-only cone family on slide 39.
Rung 11 is the ground truth: weather stations, balloons, aircraft, ships, buoys, tide gauges. These are the measurements the reanalysis of rung 7 is fitted to, so they are redundant while the reanalysis is present — and essential when it is masked out, because the model must then be able to rebuild the atmosphere from points.
Rung 12 is the static context: elevation, sea-floor depth, land cover, soil, tree height, glaciers, people. Depth sets what currents can do; terrain sets rain and rivers; soil sets what water does. Each is a single dot with zero speed and infinite memory.
Rung 13 is optional in the first phase: aerosols and greenhouse-gas columns, which matter for radiative forcing and close the carbon loop between land, ocean and air.
If one had to start with one rung per sphere, it would be rung 7 for the atmosphere, rungs 6 and 8 for ocean physics, rung 9 for the ocean biosphere, and rungs 1 and 10 for land — which is the sequencing agreed earlier: ocean interior first, then ocean colour, then the atmosphere as forcing, then land.
Sources for this slide:
• Generic-embedding input proposal (full note) — https://blauewelt.github.io/earth/docs.html?f=ml/figures/geofm_survey/GENERIC_EMBEDDING_INPUTS.md
• ESA OC-CCI — https://climate.esa.int/en/projects/ocean-colour/
• GlobColour L3 (Copernicus Marine) — https://data.marine.copernicus.eu/product/OCEANCOLOUR_GLO_BGC_L3_MY_009_107
• PACE — https://pace.oceansciences.org/
• SOCAT — https://socat.info/
• Copernicus surface carbon — https://data.marine.copernicus.eu/product/MULTIOBS_GLO_BGC_CARBON_SURFACE_MYNRT_015_008
• Copernicus Global Land LAI 300 m — https://land.copernicus.eu/en/products/vegetation/leaf-area-index-v2-0-300m
• TROPOSIF — https://s5p-troposif.noveltis.fr/
• MODIS LST (MOD11A1) — https://lpdaac.usgs.gov/products/mod11a1v061/
• MODIS ET (MOD16A2GF) — https://www.earthdata.nasa.gov/data/catalog/lpcloud-mod16a2gf-061
• GLEAM — https://www.gleam.eu/
• H SAF (ASCAT soil moisture) — https://hsaf.meteoam.it/
• MODIS snow (MOD10A1) — https://nsidc.org/data/mod10a1/versions/61
• IMS snow/ice — https://nsidc.org/data/g02156
• FIRMS active fire — https://firms.modaps.eosdis.nasa.gov/
• GRACE/GRACE-FO JPL mascons — https://grace.jpl.nasa.gov/data/get-data/jpl_global_mascons/
• GRDC river discharge — https://grdc.bafg.de/
• GloFAS — https://ewds.climate.copernicus.eu/datasets/cems-glofas-historical
• Hydroweb.next — https://hydroweb.next.theia-land.fr/
• FLUXNET — https://fluxnet.org/
• ICOS — https://www.icos-cp.eu/
• AmeriFlux — https://ameriflux.lbl.gov/
• ISD stations — https://www.ncei.noaa.gov/products/land-based-station/integrated-surface-database
• GHCN-Daily — https://www.ncei.noaa.gov/products/land-based-station/global-historical-climatology-network-daily
• IGRA radiosondes — https://www.ncei.noaa.gov/products/weather-balloon/integrated-global-radiosonde-archive
• ICOADS — https://icoads.noaa.gov/
• NDBC buoys — https://www.ndbc.noaa.gov/
• GLOSS tide gauges — https://gloss-sealevel.org/
• Copernicus DEM — https://dataspace.copernicus.eu/explore-data/data-collections/copernicus-contributing-missions/collections-description/COP-DEM
• GEBCO — https://www.gebco.net/
• ESA WorldCover — https://esa-worldcover.org/
• ESA CCI land cover — https://climate.esa.int/en/projects/land-cover/
• SoilGrids — https://www.isric.org/explore/soilgrids
• ETH global canopy height — https://langnico.github.io/globalcanopyheight/
• Meta/WRI 1 m canopy height — https://registry.opendata.aws/dataforgood-fb-forests/
• RGI glacier inventory — https://www.glims.org/rgi_user_guide/welcome.html
• WorldPop — https://www.worldpop.org/
• GHSL — https://human-settlement.emergency.copernicus.eu/
• VIIRS Black Marble — https://www.earthdata.nasa.gov/data/projects/black-marble
• MAIAC AOD (MCD19A2) — https://lpdaac.usgs.gov/products/mcd19a2v061/
• MERRA-2 — https://gmao.gsfc.nasa.gov/reanalysis/MERRA-2/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sorts every input into three bins and then explains a trap that is easy to fall into.
Left, always in: observations — a number a sensor produced. A reflectance, a radar echo, a float's thermometer reading. Nothing else contains them, so they are irreducible.
Middle, admitted but flagged: derived products — a number a program produced from observations plus a model or a statistical assumption. Reanalyses, gap-filled maps, machine-learned reconstructions. They come in because they carry information we do not ingest raw, but every dot carries a "source token" saying what kind of thing it is, and derived sources are removed from the input at least half the time. That way the model cannot get lazy and simply copy the reanalysis; it must also be able to work from observations alone.
Right, dropped: things that are pure functions of inputs already present — vegetation indices, sun angle, slope, the currents you can compute from the sea-level slope. They are not inputs. They are optional prediction targets.
The orange band is the trap. A gap-filled map or a reanalysis for a given day is built from observations on both sides of that day. The delayed-time sea-level maps, for example, use satellite tracks from up to six weeks before and after the day in question — only the near-real-time stream is built from the past alone; the ocean reanalysis works in seven-day chunks; ERA5 in twelve-hour chunks. If we train the codec to predict the present or the future from the past, then a derived dot labelled "ten days ago" secretly contains information from a few days ago — or even from after the anchor time. The model would learn to peek. The rule is simple: shift each derived source's effective time by its window, never use a delayed-time product at lag zero, and train the forecasting part of the objective on the near-real-time streams, which by construction only saw the past. This gives two embeddings per anchor — a near-real-time one and a final one — exactly the way ECMWF publishes ERA5T first and ERA5 later.
Sources for this slide:
• Generic-embedding input proposal (full note) — https://blauewelt.github.io/earth/docs.html?f=ml/figures/geofm_survey/GENERIC_EMBEDDING_INPUTS.md
• DUACS system description (windows) — https://duacs.cls.fr/duacs-system-description/merged-gridded-l4-products-generation/
• Pujol et al. 2016, DUACS DT2014 — https://doi.org/10.5194/os-12-1067-2016
• Lellouche et al. 2021, GLORYS12 — https://doi.org/10.3389/feart.2021.698876
• ERA5 documentation (SST/sea ice prescribed; 12 h 4D-Var) — https://confluence.ecmwf.int/display/CKB/ERA5%3A+data+documentation
• OSTIA SST (Copernicus Marine) — https://data.marine.copernicus.eu/product/SST_GLO_SST_L4_NRT_OBSERVATIONS_010_001
• GlobColour L3 (Copernicus Marine) — https://data.marine.copernicus.eu/product/OCEANCOLOUR_GLO_BGC_L3_MY_009_107
• Dynamic World — https://dynamicworld.app/
• MODIS NDVI/EVI (MOD13Q1) — https://lpdaac.usgs.gov/products/mod13q1v061/
• OSCAR currents — https://podaac.jpl.nasa.gov/dataset/OSCAR_L4_OC_NRT_V2.0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apply the dependency cone from the earlier slides to every rung of the ladder. The recap: a process that travels at speed v can only influence a point from within a distance v times the time elapsed, and only lags shorter than the process's memory tau are worth reading. When we do that for all thirteen rungs, five shapes come out.
Family A, fast, wide and short, is the atmosphere: wind carries information at about ten metres per second, which is 860 kilometres a day, but the atmosphere forgets in three to ten days. So the support is a wide flat disc — you need dots from far away but only from the last few days.
Family B, slow, narrow and long, is the ocean interior and sea level: currents move at a tenth of a metre per second, 13 kilometres a day; sea-level anomalies drift westward as Rossby waves at 3 kilometres a day. But the memory is months for eddies and years to decades for the interior. The support is a thin tall column, tilted upstream.
Family C is the L-shaped union we met before: sea-surface temperature and salinity, sea ice, surface chlorophyll. They are pushed around by the fast atmosphere and remembered by the slow ocean, so the support is wide at short lags and narrow at long lags.
Family D is land. Soil, plants and snow do not move sideways at all; they are forced from above by the atmosphere and remember locally for weeks to seasons. The support is a narrow column with a wide flat hat on top — the atmosphere disc at the shortest lags. Rivers and sea ice are the exceptions that move along a path.
Family E is static: one dot, zero speed, infinite memory.
The paragraph at the bottom adds depth as a sixth axis. The top ten to a hundred metres of the ocean, the mixed layer, are stirred within hours and belong to the surface cone; below it memory grows with depth — months at a few hundred metres, decades below two thousand. So depth dots are spaced logarithmically, dense near the surface, each depth band with its own memory. The consequence for sampling is the point of the slide: fine rungs want a small dense patch and a long local history; coarse physical rungs want a large sparse far field and a short history; the interior wants depth and years. No single grid and window serves all three. A per-channel dot sampler does.
Sources for this slide:
• Generic-embedding input proposal (full note) — https://blauewelt.github.io/earth/docs.html?f=ml/figures/geofm_survey/GENERIC_EMBEDDING_INPUTS.md
• Dependency-Cone Explorer — https://blauewelt.github.io/earth/ml/figures/dependency_cone_explorer.html
• Chelton et al. 2011, global eddies — https://doi.org/10.1016/j.pocean.2011.01.002
• Deser, Alexander &amp; Timlin 2003 (SST persistence) — https://doi.org/10.1175/1520-0442(2003)016&lt;0057:UTPOSS&gt;2.0.CO;2
• Zhang et al. 2019, predictability limit — https://doi.org/10.1175/JAS-D-18-0269.1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proposal itself: a cone-native codec — dots in, embedding out.
Until now the codec embedded one pixel-month, and a second stage assembled a stencil of those embeddings across space and time. Here the codec itself reads a set of dots — each dot is a sample of one channel at some offset in space, some depth, and some lag into the past — drawn from that channel's cone around an anchor point. The picture on the left shows it: the anchor is the yellow dot at the origin; the orange wind dots spread wide but stay near the present; the blue current and sea-level dots stay close in space but reach far back in time; the teal temperature dots fill the L. Depth dots are the small stack at the anchor — a float profile enters as it is, not regridded.
Step 1, the sampler, is fixed by physics. For gridded channels we draw dots in log-polar space and log lag, denser near the anchor and near the present, with the slot budget from the family. For point, profile and track channels — Argo, drifters, stations, altimeter tracks — the dots are the actual observations that fall inside the cone. Nothing is interpolated or invented. Fine imagery arrives as tokens from a small local codec, which the hybrid slide explains. Missing dots are simply absent: a set has no holes to fill.
Step 2 turns each dot into a token: the value, the coordinates as Fourier features on a log scale so that ten metres and ten thousand kilometres fit in the same code, a channel embedding, and the source flag from the previous slide.
Step 3 is the encoder, Perceiver-style: a couple of hundred learned latent vectors cross-attend to the two to four thousand dots, then a few self-attention blocks over the latents. The cost grows linearly with the number of dots, and per anchor it is a few billion operations — less than running a standard vision transformer on one image.
Step 4 pools the latents into the dynamic embedding, 256 numbers stored as 8-bit integers.
Step 5 is the objective. A held-out dot becomes a query — coordinates and channel without the value — and a light decoder predicts its value as a distribution. We mix several ways of hiding dots: whole channels, as before; the recent past, so that the model must forecast from the older past; dots from the future, so that the embedding learns tendency; an upstream sector; a depth band; and always the anchor's own channels, so the embedding still means "the state at this point". The distinction between "never measured" and "hidden" survives on the target side: there is no loss where nothing was ever observed.
Sources for this slide:
• Generic-embedding input proposal (full note) — https://blauewelt.github.io/earth/docs.html?f=ml/figures/geofm_survey/GENERIC_EMBEDDING_INPUTS.md
• Perceiver IO — https://arxiv.org/abs/2107.14795
• AIFS surface ocean (ECMWF 2026) — https://arxiv.org/abs/2604.25559
• Earth 2 paper (v8, PDF) — https://github.com/blauewelt/earth/blob/main/ml/paper/paper.pdf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in the request directly: can an embedding capture momentum features — velocity, water flow — if it sees several points in space and time? Yes, and here is why.
A single photograph does not show speed. Two photographs a known time apart do: whatever moved, moved by speed times time. In the diagram, position runs left to right and lag runs upward, the present at the bottom. A feature carried along by the flow — a warm patch, an eddy, a cloud — traces a tilted band. The yellow dot is the anchor now; the blue dot is the same water some time ago, upstream by exactly speed times lag. The grey dots are candidates at the same lag that the model has to reject.
The argument in prose: if a field is carried along, its value here now is best predicted by its value upstream a while ago. The correlation between the anchor's neighbourhood now and the field some time ago peaks at a displacement equal to speed times lag. Oceanographers have used exactly this — the maximum cross-correlation method — since the 1980s to compute currents from pairs of satellite temperature images. Attention over dots that carry their relative position and lag can implement that search, and the winning ratio of displacement to lag is a velocity. The rate of change at one place comes from two lags at that place; convergence comes from dots around the anchor. A per-pixel snapshot codec has one lag and cannot do any of this.
Having the capacity is not the same as using it, so three measures make sure it is used. First, flow enters as maskable channels — drifter velocities, sea-ice drift, wind, river discharge, and the flagged reanalysis currents — so the masked objective directly asks the embedding to produce velocity whenever the velocity channel is hidden. Second, the slow families always contain several lags of the same field, by construction of the cone budgets. Third, optionally, a fraction of the dots can be drawn along the path a first-guess velocity would predict — the semi-Lagrangian idea from the PARADIS paper used as a sampler rather than as a layer.
The test is a velocity probe: a simple linear head from the frozen embedding to drifter velocity or reanalysis currents at the anchor, with the derived channels hidden at test time. The snapshot embedding should score near zero; the cone codec should not. It is the cheapest decisive experiment in the plan.
Sources for this slide:
• Generic-embedding input proposal (full note) — https://blauewelt.github.io/earth/docs.html?f=ml/figures/geofm_survey/GENERIC_EMBEDDING_INPUTS.md
• Emery et al. 1986, maximum cross-correlation (JGR) — https://doi.org/10.1029/JC091iC11p12865
• PARADIS — Learning to Advect — https://arxiv.org/abs/2601.21151
• Global Drifter Program — https://www.aoml.noaa.gov/phod/gdp/
• GLORYS12 (Copernicus Marine) — https://data.marine.copernicus.eu/product/GLOBAL_MULTIYEAR_PHY_001_030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request asked for explicitly: is the architecture zero-sum? Either we keep the embedding fine-grained and local and let stage 2 make the spatial and temporal connections, or we put that work into the embedding — and does one side's gain equal the other's loss?
Column A is the thin codec with a thick stage 2: embed one pixel-month, then a second-stage model assembles stencils of those embeddings. That is today's Earth 2, and it is what every model in the survey does — they embed images, and the user connects them. Column B is the cone codec from the previous slides with a thin stage 2.
Reading down the rows, green is an advantage and red a cost. A wins on cost per embedding, on caching — an embedding is this place at this time and never changes — on provenance, on simplicity, and on direct comparability with published models. B wins on everything that involves time: dynamics, which a snapshot cannot represent at all; the information bottleneck, because a per-pixel codec has to compress before it can know what the dynamics need, and whatever it throws away as noise — the tiny sub-pixel shifts and gradients that carry velocity — is gone for good; sparse observations, because a lone Argo profile with no context is nearly empty but a profile among its neighbours is not; the cone geometry, which A has to re-learn for every task from labels and B fixes once from physics; sample efficiency of the probes, which matters when the AMOC has only twenty years of monthly labels; and forecasting, which B gets for free inside pretraining.
Two rows are honest costs of B: it is a more complex training pipeline, and there is a real risk that the model copies the derived channels instead of learning — which is what the source flags and drop rates are for. And for purely static tasks like land cover, A's snapshot semantics are actually better.
So the table is not one-sided, but it is also not symmetric — which is the argument of the next slide.
Sources for this slide:
• Generic-embedding input proposal (full note) — https://blauewelt.github.io/earth/docs.html?f=ml/figures/geofm_survey/GENERIC_EMBEDDING_INPUTS.md
• Earth 2 paper (v8, PDF) — https://github.com/blauewelt/earth/blob/main/ml/paper/paper.pdf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"is it zero-sum" is no, and the reason is an asymmetry.
First: B contains A. A cone codec that ignores every dot except the anchor's own is a per-pixel codec. Whatever A can represent, B can. The reverse is false, because of the bottleneck: information that the per-pixel code discards before the dynamics are visible cannot be recovered by stage 2 — this is the data-processing inequality, the formal statement that you cannot get information back by processing. So in capability the trade is one-sided; what B pays is compute and a less tidy meaning of "the embedding of this place".
Second: the compute is paid in different places. A pays little per embedding but pays the context assembly again inside every stage-2 model, for every task. B pays once per anchor and amortises it across tasks — provided the cone is generic. And that is exactly what a physics-set support promises: the shape depends on the channel, not on the task.
That gives a principled split rather than a compromise. Into the embedding goes everything whose relevance is decided by physics — the cone, depth coupling, the local past — because that is identical for every task. Into stage 2 goes everything whose relevance is decided by the task: which section to integrate for the AMOC, which basin to sum for carbon, which teleconnection matters — El Niño's Pacific state is ten thousand kilometres and six months away, outside any single cone — and which label.
The right side shows the resulting hierarchy. Raw observations at the bottom. A local codec, per tile and date, cached, with snapshot semantics — the existing per-pixel codec generalised to a tile — producing a small local code that mapping tasks use directly. A cone codec per anchor, which reads local tokens plus coarse dots plus native point observations inside each channel's cone, and produces the dynamic code where the momentum features live. And a thin stage 2 for teleconnections, aggregation and task heads.
What does existing evidence say? Nothing decisive yet, and it is worth being precise about why. The attribution matrix's contrast between a 3-by-3 codec and the same 3-by-3 raw input — 0.672 against 0.659 — is a single-seed probe number, and our own record shows probe numbers moving by far more than that between seeds, so the honest reading is parity. And on 2 September the paper was reset: every rolled forecast number from before that date was withdrawn, because the second-stage heads had been trained under a pool that had seen the held-out years. The first clean measurement of the bottleneck question is the one the reset paper puts first on its list — a Linear Inverse Model fitted in pixel space against one fitted in the codec's embedding space. If the embedding-space model is worse, the codec has discarded predictable signal, which is exactly column A's weakness. Phase 0, next slide, is built to run after that measurement exists.
Sources for this slide:
• Generic-embedding input proposal (full note) — https://blauewelt.github.io/earth/docs.html?f=ml/figures/geofm_survey/GENERIC_EMBEDDING_INPUTS.md
• Earth 2 paper (v8, PDF) — https://github.com/blauewelt/earth/blob/main/ml/paper/paper.pdf
• ml/CLAUDE.md (replication rules, §3b) — https://blauewelt.github.io/earth/docs.html?f=ml/CLAUDE.md
• Prithvi-EO 2.0 paper — https://arxiv.org/abs/2412.02732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stencils, one cone" is the design that splits the DEPENDENCY CONE — everything in space and time that could have influenced one pixel — between the two models we train. The CODEC is the compressor: it reads raw channel values sampled as dots around one anchor pixel over the last six PENTADS (a pentad is a fixed five-day bin, so six of them is thirty days) and squeezes them into a 32-number embedding. STAGE 2 is the forecaster: it reads a cylinder of those embeddings reaching two years back. The picture on the left plots lag along the bottom and distance from the anchor up the side, both on logarithmic scales. Two identities are asserted on that grid and checked by a coverage test in the code: the two stencils together cover the whole cone, and they overlap in exactly one place — the anchor's own column, which is why the yellow bar along the bottom is drawn separately.
The darker shapes are the geometry as built, sized at 0.3 metres per second: the codec owns a disc growing to 907 kilometres over six lags, stage 2 owns everything beyond it out to a 4,444-kilometre cap. The lighter dashed shapes are cone v2, sized at 5.4 metres per second — the fastest measured surface current on Earth times a 1.5 safety factor. At that speed the codec's own thirty-day window already reaches 16,330 kilometres, most of the planet, and stage 2's stencil is a global band at every lag. So the division of labour stops being near field against far field and becomes recent against old: thirty days of raw channels against two years of embeddings, both of them global. Every v2 number on this slide is a DESIGN value. Nothing about v2 has been built, trained or measured.
The right-hand box is what HAS been measured. Three hypotheses were registered with their falsifiers before anything ran. H1: the cone codec's embedding carries the anchor's own water velocity better than a codec that sees only one snapshot. H2: a forecast head built on cone embeddings beats the control at five to thirty days. H3: the thin outer stencil does as well as the full cylinder it replaces. H1 is the one with an answer, and the answer is REFUTED — which here means the pre-registered failure branch actually happened, at five seeds that agree, not that the measurement was inconclusive. The read-out is a ridge regression from the frozen 32-number embedding to the current at the anchor, with the current channels hidden from the encoder so it cannot simply copy them. Its control is the RAW-PATCH BAR: the same ridge fitted directly to today's three-by-three patch of sea-surface height, with no codec involved at all — geostrophy read straight off the pixels. Thirty days of history landed at or below that bar at every seed. What the history did buy is persistence — a hidden sea-surface-height or temperature channel reconstructed far better than from today's patch alone — and a seven-to-eight-per-cent better forecast one and two pentads ahead. That, not velocity, is what cone v2's case now rests on.
Sources for this slide:
• E-069 plan — two stencils, one cone — https://blauewelt.github.io/earth/docs.html?f=ml/plans/E069_cone_codec.md
• E-069 in the experiment log — https://blauewelt.github.io/earth/docs.html?f=ml/EXPERIMENTS.md#e-069
• E-071 plan — cone v2: global, harmonic, Argo-aware, sized by the fastest thing in the ocean — https://blauewelt.github.io/earth/docs.html?f=ml/plans/E071_cone_v2.md
• Generic-embedding input proposal (full note) — https://blauewelt.github.io/earth/docs.html?f=ml/figures/geofm_survey/GENERIC_EMBEDDING_INPUTS.md
• Chelton et al. 2011, global eddies — https://doi.org/10.1016/j.pocean.2011.01.002
• Deser, Alexander &amp; Timlin 2003 (SST persistence) — https://doi.org/10.1175/1520-0442(2003)016&lt;0057:UTPOSS&gt;2.0.CO;2
• Emery et al. 1986, maximum cross-correlation (JGR) — https://doi.org/10.1029/JC091iC11p12865
• Perceiver IO — https://arxiv.org/abs/2107.14795
• GLORYS12 (Copernicus Marine) — https://data.marine.copernicus.eu/product/GLOBAL_MULTIYEAR_PHY_001_030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inventory: everything the codec being trained right now is actually allowed to see, and everything it is not.
Four columns of vocabulary first. A REANALYSIS is a computer model of the ocean or the atmosphere that is repeatedly nudged towards whatever measurements exist, so that it produces a complete, gap-free history — GLORYS12 for the ocean and NCEP Reanalysis 1 for the wind are both of that kind, which is why they are marked red for "derived": they contain a model's opinion as well as observations. NOAA's sea-surface-temperature analysis and the Roemmich–Gilson Argo product are marked green because they only interpolate measurements; no ocean model is involved. A PENTAD is a fixed five-day bin, which is the clock of this tensor: forty-three years of them, 1982 to 2024. And an ASSIMILATION WINDOW is the span of observations a reanalysis is allowed to look at around each day — GLORYS uses seven days, so a GLORYS value dated Monday already knows something about Thursday. Five of the forty-two channels have that problem and need their effective time shifted.
The graph reads top to bottom: instruments, then the four products we download, then the channels those products become, then what training computes for itself. Two things in the bottom row are worth stating carefully. An ANOMALY here means a channel with its own average for that calendar month subtracted, and the average is built from the TRAINING years only; a HOLDOUT year — 2009, 2017, 2023 — is a year deliberately withheld so that skill can be measured on data the model never saw. That is exactly why the app's published 1991–2020 normal must not be reused as the baseline: it averages over the held-out years, and using it would quietly leak the answer into the training set. And the RAPID and Florida Current transports are LABELS, not inputs: they sit in the same file, they are what the probes are scored against, and the encoder never reads them. An input is something the model sees; a label is something it is asked about.
The panel on the right is the honest list of what is missing, ranked. The ordering rule is information per byte and non-derivability: heat and freshwater forcing first because there is no forcing of that kind in the tensor at all, then depth, then the observed sea surface the reanalysis was fitted to. The biosphere is last as an input and first as a target — the data ladder rejected chlorophyll as an input for the overturning question because there is no mechanism at these timescales, which leaves it as the ideal held-out thing to predict.
Sources for this slide:
• GLORYS12V1 product page (Copernicus Marine) — https://data.marine.copernicus.eu/product/GLOBAL_MULTIYEAR_PHY_001_030/description
• NOAA OISST v2.1 (NOAA PSL) — https://psl.noaa.gov/data/gridded/data.noaa.oisst.v2.highres.html
• Roemmich–Gilson Argo climatology (Scripps) — https://sio-argo.ucsd.edu/RG_Climatology.html
• NCEP/NCAR Reanalysis 1 (NOAA PSL) — https://psl.noaa.gov/data/gridded/data.ncep.reanalysis.html
• RAPID-MOCHA-WBTS 26.5° N data — https://rapid.ac.uk/data/data-download
• Florida Current cable transport (NOAA AOML) — https://www.aoml.noaa.gov/phod/floridacurrent/
• ml/plans/DATA_LADDER.md (source) — https://github.com/blauewelt/earth/blob/main/ml/plans/DATA_LADDER.md
• ml/plans/E069_cone_codec.md (source) — https://github.com/blauewelt/earth/blob/main/ml/plans/E069_cone_codec.md
• E-069 plan — two stencils, one cone — https://blauewelt.github.io/earth/docs.html?f=ml/plans/E069_cone_codec.md
• CONE_DATA_AND_ENSO.md — the companion page — https://blauewelt.github.io/earth/docs.html?f=ml/figures/geofm_survey/CONE_DATA_AND_ENSO.md
• Generic-embedding input proposal (full note) — https://blauewelt.github.io/earth/docs.html?f=ml/figures/geofm_survey/GENERIC_EMBEDDING_INPUTS.md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has edges. This slide is about the four the cone codec actually meets, what it does at each, and the two that Chris decided on 4 September to remove altogether.
Some words first. A PENTAD is a five-day bin — the time step of the tensor, counted from the first of January 1982, so the whole archive is 3,142 of them. An ANOMALY is what is left of a measurement once the normal value for that time of year is subtracted; that normal is the CLIMATOLOGY, and ours is built from training years only so the test years cannot leak into it. The ATTENTION MASK is the list of tokens the transformer is allowed to look at at all. And the codec has two different ways of saying "no value here", which is what the whole left half of the slide turns on. An INVALID token is a position that does not exist — the dot fell outside our rectangle — and it is deleted from attention. A MISS token is a real position where the world simply was not observed, land under a sea-surface sensor for instance, and the model does learn from it, because "nobody measured this" is itself information.
Panel A is the geographic edge, and it is the first of the two that goes. The tensor is a North Atlantic window, so a dot falling off the eastern side is clipped and thrown away rather than wrapped round to Florida; twenty-two per cent of anchors lose at least one dot that way and 2.68 per cent of all dots are lost. The decision, in green, is that the dataset becomes GLOBAL: a 721-by-1,440 grid running from pole to pole, longitude wrapping arithmetically, and each dot computed as a DESTINATION POINT on the sphere — start where the anchor is, travel a given distance on a given bearing, and read off where you land — so a dot that would cross the pole simply comes out on the far side, with no special case. Those lost dots become real dots and the truncated cones become full ones.
Panel B is land: another eight per cent of dots, marked missing rather than invalid, and that rule was right and stays. Panel C is time — an anchor whose cone runs off either end of the archive is refused outright, and a held-out year blocks eight pentads of anchors around itself so no training anchor can peek into it, at a cost of about one per cent of the training bins. Both rules stay, and the grey tag on each panel says so.
Panel D is the edge we introduced ourselves, and it is the second one that goes. Chopping the year into twelve calendar boxes means 411 of 3,142 pentads straddle a boundary and 106 of them have just one of their five days inside the month whose average is subtracted — a sawtooth in the baseline at every month end. The decision is a DAY-OF-YEAR HARMONIC climatology: instead of twelve separate box averages, fit one smooth curve through the year made of a constant plus a few sine and cosine waves — one cycle per year, two, three — and evaluate it at each bin's middle day. Seven numbers replace twelve, the baseline is continuous across every month and every year end, and Argo's 252 live pentads across twenty-one years are fitted together instead of about twenty-one per box. Both decisions are specified in the E-071 plan and neither is implemented; nothing on this slide about them is measured.
Sources for this slide:
• ml/cone_sampler.py — the sampler, its off-grid rule and the holdout certificate (source) — https://github.com/blauewelt/earth/blob/main/ml/cone_sampler.py
• ml/train_cone.py — anchor drawing and --holdout-scope window (source) — https://github.com/blauewelt/earth/blob/main/ml/train_cone.py
• ml/trainprobe.py — the anomaly transform (source) — https://github.com/blauewelt/earth/blob/main/ml/trainprobe.py
• ml/build_family4.py — the pentad tensor builder (source) — https://github.com/blauewelt/earth/blob/main/ml/build_family4.py
• E-034 plan — the pentad tensor and the Argo missing-token decision — https://blauewelt.github.io/earth/docs.html?f=ml/plans/E034_pentad_tensor.md
• E-059 plan — --holdout-scope window, why the pool discipline exists — https://blauewelt.github.io/earth/docs.html?f=ml/plans/E059_holdout_window.md
• E-069 plan — two stencils, one cone — https://blauewelt.github.io/earth/docs.html?f=ml/plans/E069_cone_codec.md
• ml/plans/E069_cone_codec.md (source) — https://github.com/blauewelt/earth/blob/main/ml/plans/E069_cone_codec.md
• E-071 plan — cone v2: global, harmonic, Argo-aware, sized by the fastest thing in the ocean — https://blauewelt.github.io/earth/docs.html?f=ml/plans/E071_cone_v2.md
• Argo — https://argo.ucsd.edu/
• Roemmich–Gilson Argo climatology (Scripps) — https://sio-argo.ucsd.edu/RG_Climatology.html
• CONE_DATA_AND_ENSO.md — the companion page — https://blauewelt.github.io/earth/docs.html?f=ml/figures/geofm_survey/CONE_DATA_AND_ENSO.md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asked why the overturning circulation's own speed appears nowhere in the model, and then decided how to fix it: size every channel family from the MAXIMUM measured speed of the fastest mechanism that carries it, times 1.5.
Words first. ADVECTION is transport by the water itself moving — a warm parcel physically carried north. WAVE PROPAGATION is different: a disturbance travels through the water while the water largely stays put, so a signal crosses a basin far faster than any parcel. A KELVIN WAVE is the fast kind trapped against a coastline or the equator. BAROCLINIC means the motion is felt mainly in the density layering of the interior and travels at metres per second; BAROTROPIC means the whole water column moves together, which is far faster — about two hundred metres per second — because it is essentially a shallow-water gravity wave. The ANTIPODE is the point on the opposite side of the planet, 20,015 kilometres away by the shortest surface path, which is the farthest anything can be from an anchor and therefore the natural cap on any reach. An OCTAVE of distance is a doubling of it; LOG-RADIAL placement means putting the same number of dots in each doubling, so the near field stays as densely sampled when the cone gets eighteen times wider. A PERCEIVER is the encoder we use: a small fixed set of learned vectors reads over all the input tokens, so cost grows in a straight line with the number of tokens rather than with their square. A PROFILE TOKEN is one token carrying a whole vertical column — sixteen temperatures and sixteen salinities down the pressure ladder — instead of thirty-two separate tokens for the same water.
Every number on the ruler is a maximum, and each one is literature or our own data, named beside it. The Somali Current's seven knots, about 3.6 metres per second, and the Agulhas core's 2.45 come from Wikipedia's articles on those currents; the Gulf Stream's roughly 2.5 from NOAA's Ocean Service page; the first-baroclinic Kelvin wave's 2.8, and the barotropic 200, from Wikipedia's Kelvin wave article, with the phase-speed atlas of Chelton and colleagues from 1998 behind the baroclinic number; the long Rossby wave's 0.03 from Chelton and colleagues 2011, already cited in our own plan; the deep western boundary current's 0.02 to 0.1 is standard oceanography. Two numbers are ours: 1.62 metres per second for the Kuroshio off Taiwan and 2.79 for the Somali Current in July 2020, both computed from our own GLORYS bake in data/currents_y, which is a monthly one-degree average and therefore a lower bound on what the real ocean does.
The design speed is the largest of those, 3.6, times 1.5, giving 5.4 metres per second, or 2,333 kilometres per five-day bin. The buffer covers three things: the tensor is a five-day mean on a quarter-degree grid and under-reads peaks, the maxima are published values rather than true extremes, and a warming ocean may run faster. It is spent on the wide side deliberately — a cone that is too wide only costs tokens, while a cone that is too narrow silently asserts that a real cause cannot have arrived. Wind is beyond any cone at all: the jet stream crosses the planet inside one bin, so that family gets a ring of dots out to the antipode instead. Argo stops being a zero-reach vertical column and becomes twenty-six profile tokens at the two lags where the product is actually live. None of this is measured, and after E-069's velocity result the case for it is rolled forecast skill, not velocity.
Sources for this slide:
• ml/cone.py — the cone geometry and the channel families (source) — https://github.com/blauewelt/earth/blob/main/ml/cone.py
• ml/cone_sampler.py — the sampler, its off-grid rule and the holdout certificate (source) — https://github.com/blauewelt/earth/blob/main/ml/cone_sampler.py
• E-069 plan — two stencils, one cone — https://blauewelt.github.io/earth/docs.html?f=ml/plans/E069_cone_codec.md
• E-069 in the experiment log — https://blauewelt.github.io/earth/docs.html?f=ml/EXPERIMENTS.md#e-069
• ml/plans/E069_cone_codec.md (source) — https://github.com/blauewelt/earth/blob/main/ml/plans/E069_cone_codec.md
• E-071 plan — cone v2: global, harmonic, Argo-aware, sized by the fastest thing in the ocean — https://blauewelt.github.io/earth/docs.html?f=ml/plans/E071_cone_v2.md
• Somali Current (Wikipedia) — up to 7 knots ≈ 3.6 m/s — https://en.wikipedia.org/wiki/Somali_Current
• How fast is the Gulf Stream? (NOAA Ocean Service) — about 9 km/h ≈ 2.5 m/s — https://oceanservice.noaa.gov/facts/gulfstreamspeed.html
• Agulhas Current (Wikipedia) — core 2.45 m/s — https://en.wikipedia.org/wiki/Agulhas_Current
• Kelvin wave (Wikipedia) — first-baroclinic ≈ 2.8 m/s; barotropic ≈ 200 m/s — https://en.wikipedia.org/wiki/Kelvin_wave
• Chelton et al. 1998 — first-baroclinic Rossby radius and gravity-wave phase speed atlas (OSU) — https://ceoas.oregonstate.edu/rossby_radius
• our own GLORYS surface-current bake, monthly 1° (data/currents_y) — https://github.com/blauewelt/earth/tree/main/data/currents_y
• Generic-embedding input proposal (full note) — https://blauewelt.github.io/earth/docs.html?f=ml/figures/geofm_survey/GENERIC_EMBEDDING_INPUTS.md
• Chelton et al. 2011, global eddies — https://doi.org/10.1016/j.pocean.2011.01.002
• GLORYS12 (Copernicus Marine) — https://data.marine.copernicus.eu/product/GLOBAL_MULTIYEAR_PHY_001_030
• Argo — https://argo.ucsd.edu/
• Global Drifter Program — https://www.aoml.noaa.gov/phod/gdp/
• RAPID-MOCHA-WBTS 26.5° N data — https://rapid.ac.uk/data/data-download
• Florida Current cable transport (NOAA AOML) — https://www.aoml.noaa.gov/phod/floridacurrent/
• ml/plans/DATA_LADDER.md (source) — https://github.com/blauewelt/earth/blob/main/ml/plans/DATA_LADDER.md
• CONE_DATA_AND_ENSO.md — the companion page — https://blauewelt.github.io/earth/docs.html?f=ml/figures/geofm_survey/CONE_DATA_AND_ENSO.md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asked why there is no land data at all — "it can be sparse for now, but still better than absolute darkness" — and, separately, that some channels be available over both the ocean and the land. This slide is the answer, and it turns on one definition.
A SHARED CHANNEL is a channel defined by WHAT is measured and by WHICH INSTRUMENT, never by which sphere it sits over. Today all forty-two channels are ocean channels, so every land cell is told forty-two times per five-day bin that the world was not observed there — which is false; it was observed, by instruments we already list. The fix is a SPHERE CODE: a per-cell label saying ocean, land, ice sheet or inland water, read by the codec as a coordinate exactly the way depth already is. One temperature channel then means sea-surface temperature at one anchor and land-surface temperature at the next.
Vocabulary, first half. SKIN temperature is the surface itself as an infrared sensor sees it — the top fraction of a millimetre of water, or the ground and the leaves; 2 M temperature is the air two metres above it, what a thermometer in a weather screen reads. The two differ by several degrees on a sunny afternoon, which is why both are channels. SIGMA-NOUGHT is the radar cross-section, how much of a radar pulse the surface sends back: over water it rises with wind and waves, over land with soil moisture and vegetation — the same instrument, ASCAT, looking at both. ALBEDO is the fraction of sunlight reflected: near zero for open ocean, up to 0.8 for fresh snow.
Vocabulary, second half. BRIGHTNESS TEMPERATURE is the natural microwave glow of a surface, as a passive radiometer measures it, written as the temperature a perfect emitter would need to glow that brightly. SMAP's L-band version becomes sea-surface salinity over water and soil moisture over land — so the raw brightness temperature is the shared channel and the two products become things to predict. GRACE is a pair of satellites that weigh the water, ice and groundwater beneath them through tiny changes in gravity. ALTIMETRY is a radar measuring a surface's height from orbit: over an ice sheet, the same technique measures how fast the surface is dropping.
A PROFILE TOKEN carries a whole vertical column in one token instead of one per level, and the same type serves an Argo temperature-and-salinity profile, a stack of soil layers, and the firn — the compacted old snow on top of an ice sheet. Two design points go with it. LAND DOES NOT ADVECT: soil, snow and vegetation do not travel sideways, so their cone has speed zero and its reach is only the distance over which the field stays correlated, a few hundred kilometres. And ERA5-LAND is a higher-resolution land rerun of ERA5 with no data assimilation of its own; plain ERA5 is the assimilating one, which is why ERA5 is the source in the table.
"Sparse for now" is Phase L0: six gap-free channels from two sources, covering the whole 1982-onwards axis and the whole globe including Antarctica. Everything that only starts in 2000 waits for L1. Nothing on this slide is built or measured. The dataset specifications reused here — resolutions, cadences and record starts — come from the proposal's verification pass of 2 September; the ones added for this slide (MODIS albedo, ITS_LIVE, CryoSat-2, ESA CCI soil moisture, IGRA) have NOT been through it and must be verified before anything is fetched.
Sources for this slide:
• E-071 plan — cone v2: global, harmonic, Argo-aware, sized by the fastest thing in the ocean — https://blauewelt.github.io/earth/docs.html?f=ml/plans/E071_cone_v2.md
• Generic-embedding input proposal (full note) — https://blauewelt.github.io/earth/docs.html?f=ml/figures/geofm_survey/GENERIC_EMBEDDING_INPUTS.md
• ml/plans/DATA_LADDER.md (source) — https://github.com/blauewelt/earth/blob/main/ml/plans/DATA_LADDER.md
• ERA5 (CDS) — https://cds.climate.copernicus.eu/datasets/reanalysis-era5-single-levels
• ERA5 documentation (SST/sea ice prescribed; 12 h 4D-Var) — https://confluence.ecmwf.int/display/CKB/ERA5%3A+data+documentation
• MODIS LST (MOD11A1) — https://lpdaac.usgs.gov/products/mod11a1v061/
• MODIS snow (MOD10A1) — https://nsidc.org/data/mod10a1/versions/61
• MODIS BRDF/albedo (MCD43A3, 500 m daily) — https://lpdaac.usgs.gov/products/mcd43a3v061/
• ASCAT winds (OSI SAF) — https://osi-saf.eumetsat.int/products/osi-104-b
• SMAP (NSIDC) — https://nsidc.org/data/smap/data
• GRACE/GRACE-FO JPL mascons — https://grace.jpl.nasa.gov/data/get-data/jpl_global_mascons/
• ICESat-2 — https://icesat-2.gsfc.nasa.gov/science/specs
• CryoSat-2 (ESA) — ice-sheet elevation change — https://earth.esa.int/eogateway/missions/cryosat
• ITS_LIVE — glacier and ice-sheet surface velocity — https://its-live.jpl.nasa.gov/
• OSI SAF sea-ice products — https://osi-saf.eumetsat.int/products/sea-ice-products
• ESA CCI soil moisture — https://climate.esa.int/en/projects/soil-moisture/
• IGRA radiosondes — https://www.ncei.noaa.gov/products/weather-balloon/integrated-global-radiosonde-archive
• GPM IMERG — https://gpm.nasa.gov/data/imerg
• OSTIA SST (Copernicus Marine) — https://data.marine.copernicus.eu/product/SST_GLO_SST_L4_NRT_OBSERVATIONS_010_001
• DUACS sea level L4 (Copernicus Marine) — https://data.marine.copernicus.eu/product/SEALEVEL_GLO_PHY_L4_NRT_008_046
• Hydroweb.next — https://hydroweb.next.theia-land.fr/
• GLEAM — https://www.gleam.eu/
• GLORYS12 (Copernicus Marine) — https://data.marine.copernicus.eu/product/GLOBAL_MULTIYEAR_PHY_001_030
• Argo — https://argo.ucsd.edu/
• CONE_DATA_AND_ENSO.md — the companion page — https://blauewelt.github.io/earth/docs.html?f=ml/figures/geofm_survey/CONE_DATA_AND_ENSO.md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asked for an Earth foundation model of one to ten billion parameters, possibly a mixture of experts, with a Chinchilla scaling ladder and a comprehensive study of how to design the training data. This slide answers the last part, because it turns out to decide the first.
CHINCHILLA is the 2022 DeepMind scaling result: for a fixed compute budget a model is best trained at roughly twenty training tokens per parameter, and the models before it were far too big for the data they saw. Turned around, twenty times the parameter count is the amount of data a model of that size can be justified in having. Two words then need separating. A VALUE is one measured number — one channel, at one cell, in one five-day bin. A TOKEN in this design is one place at one time carrying the whole value vector of every channel there, so with sixty-five channels one token is about sixty-five values; that is why the token column is the value column divided by sixty-five. The CEILING column is values divided by twenty: the largest model the data could support if every value were independent.
That last clause is why the column says ceiling and not target, and the orange box is the correction. Neighbouring quarter-degree cells are not independent — they are correlated over roughly three hundred kilometres, and at the surface over two to six months. In the North Atlantic that is about a hundred and fifty cells and fifteen five-day bins per genuinely INDEPENDENT SAMPLE, so two and a half billion raw values are worth of order one to ten million independent ones. Which is exactly the regime in which our measured width ladder is flat: a 7.6-million-parameter head and a 206-million-parameter head roll the same.
Which numbers are MEASURED in this programme and which are the plan's stated ASSUMPTIONS? Measured: the flat width ladder (0.103 / 0.104 / 0.105), the LIM result — a linear inverse model is a plain linear forecast fitted to the same field, and ours beats every learned head from fifteen days out — the held-out minima inside two thousand steps, and Argo being eighty per cent of the bytes for about one per cent of the information. Assumed: every value count in the ladder, the sixty-five-channel token, the divide-by-twenty anchor, the correlation lengths and the ×1.5 discount on daily cadence. Nothing here is dispatched.
Sources for this slide:
• E-072 plan — the Earth foundation model: data design first, then the scaling ladder, then the recipe — https://blauewelt.github.io/earth/docs.html?f=ml/plans/E072_earth_foundation_model.md
• Handover, 4 Sep 2026 — cone v2, the four spheres, the Earth foundation model, and where to fork — https://blauewelt.github.io/earth/docs.html?f=ml/handoffs/HANDOVER_2026-09-04_cone_v2_efm.md
• ml/SCALING.md — how skill moves with model and data size (the programme's scaling audit) — https://blauewelt.github.io/earth/docs.html?f=ml/SCALING.md
• Hoffmann et al. 2022 — Chinchilla: training compute-optimal large language models (~20 tokens per parameter) — https://arxiv.org/abs/2203.15556
• Muennighoff et al. 2023 — scaling data-constrained language models (the ≤ 4-epoch limit) — https://arxiv.org/abs/2305.16264
• E-070 plan — the global tensor (family 7): the globe at 0.25° pentads, gates G1–G3, phases A–F — https://blauewelt.github.io/earth/docs.html?f=ml/plans/E070_global_tensor.md
• E-071 plan — cone v2: global, harmonic, Argo-aware, sized by the fastest thing in the ocean — https://blauewelt.github.io/earth/docs.html?f=ml/plans/E071_cone_v2.md
• ml/plans/DATA_LADDER.md (source) — https://github.com/blauewelt/earth/blob/main/ml/plans/DATA_LADDER.md
• E-062 in the experiment log — the flat width ladder and the Argo information finding — https://blauewelt.github.io/earth/docs.html?f=ml/EXPERIMENTS.md#e-062
• E-066 in the experiment log — the 200-mode linear inverse model as the reference forecast — https://blauewelt.github.io/earth/docs.html?f=ml/EXPERIMENTS.md#e-066
• E-069 plan — two stencils, one cone — https://blauewelt.github.io/earth/docs.html?f=ml/plans/E069_cone_codec.md
• Generic-embedding input proposal (full note) — https://blauewelt.github.io/earth/docs.html?f=ml/figures/geofm_survey/GENERIC_EMBEDDING_INPUTS.md
• Earth 2 paper (v8, PDF) — https://github.com/blauewelt/earth/blob/main/ml/paper/paper.pdf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half is the ladder of things to train, in order. The right half is how to train them. Six rungs, L0 to L5. L0 is done: the seven-million-parameter cone codec of E-069, which learned persistence from history and did not learn velocity.
Every rung after it is bought only on the previous rung's read-out, under the frozen protocol — train on data up to 2020, test on 2021 to 2024, with longitude holes — and with the NULL LADDER beside it. A null ladder is the set of deliberately dumb forecasts a real one has to beat.
Those are: climatology (the long-term average for this day of the year), persistence (tomorrow equals today), damped persistence (today's anomaly shrunk towards zero), the LIM (the plain linear forecast fitted to the same field, which today beats every learned head from fifteen days out), nearest-analogue retrieval, and the rung below.
Vocabulary for the recipe. PERCEIVER is an architecture that cross-attends a variable, unordered set of inputs into a small fixed set of latent vectors, so cost does not grow with the number of inputs — the right shape when the input is a bag of dots.
A MIXTURE OF EXPERTS replaces one feed-forward block with many and lets a router send each token to two of them, so the model can hold billions of parameters while paying only for the fraction that fires; here the router is told which sphere the token sits on, which makes the specialisation natural.
A GAUSSIAN NEGATIVE LOG-LIKELIHOOD asks the model for a mean AND a spread and scores both, so a confident wrong answer is punished harder than an honestly uncertain one. WARM-UP ramps the learning rate up from zero over the first two thousand steps so early gradients cannot wreck the weights; COSINE then eases it down to a tenth of the peak.
μP is a parametrisation that scales the per-layer learning rates with width, so the best rate found on a small model stays best on a large one — that is what makes a multi-billion run one shot instead of a search. Z-NOISE is deliberately adding noise to the embeddings the forecaster reads, which turns forecasting into denoising.
MEASURED in this programme: the +0.045 and +0.050 that z-noise buys, the 3e-4 and 4e-4 learning rates, the flat width ladder, and the failure of H1 — velocity from displacement — at five seeds. ASSUMED: every hour count and token count in the table, the rung sizes, the four-epoch limit, and the mixture-of-experts design itself. Nothing above L1 is dispatched.
Sources for this slide:
• E-072 plan — the Earth foundation model: data design first, then the scaling ladder, then the recipe — https://blauewelt.github.io/earth/docs.html?f=ml/plans/E072_earth_foundation_model.md
• Handover, 4 Sep 2026 — cone v2, the four spheres, the Earth foundation model, and where to fork — https://blauewelt.github.io/earth/docs.html?f=ml/handoffs/HANDOVER_2026-09-04_cone_v2_efm.md
• ml/SCALING.md — how skill moves with model and data size (the programme's scaling audit) — https://blauewelt.github.io/earth/docs.html?f=ml/SCALING.md
• Hoffmann et al. 2022 — Chinchilla: training compute-optimal large language models (~20 tokens per parameter) — https://arxiv.org/abs/2203.15556
• Muennighoff et al. 2023 — scaling data-constrained language models (the ≤ 4-epoch limit) — https://arxiv.org/abs/2305.16264
• Yang et al. 2022 — Tensor Programs V (μP/μTransfer: tuning the learning rate on a small model) — https://arxiv.org/abs/2203.03466
• Perceiver IO — https://arxiv.org/abs/2107.14795
• E-069 plan — two stencils, one cone — https://blauewelt.github.io/earth/docs.html?f=ml/plans/E069_cone_codec.md
• E-069 in the experiment log — https://blauewelt.github.io/earth/docs.html?f=ml/EXPERIMENTS.md#e-069
• E-070 plan — the global tensor (family 7): the globe at 0.25° pentads, gates G1–G3, phases A–F — https://blauewelt.github.io/earth/docs.html?f=ml/plans/E070_global_tensor.md
• E-071 plan — cone v2: global, harmonic, Argo-aware, sized by the fastest thing in the ocean — https://blauewelt.github.io/earth/docs.html?f=ml/plans/E071_cone_v2.md
• Earth 2 paper (v8, PDF) — https://github.com/blauewelt/earth/blob/main/ml/paper/paper.pdf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READ-OUT is something we want to know: the strength of the overturning, the state of El Niño, the colour of the sea. A HEAD is the small model that reads it out — a probe of a few hundred thousand parameters trained on top of a frozen embedding.
The band at the top of the slide is the point of the whole programme: because every read-out is a head on ONE representation plus the rolled forecast, adding a read-out costs a probe and not a training run. The read-outs are the cheap, replaceable end of the system; the forward model in embedding space is the programme.
Row by row. EL NIÑO is scored on Niño-3.4 — the sea-surface temperature anomaly averaged over a box in the central-eastern tropical Pacific — and on the ONI, its three-month running mean, the official index the US Climate Prediction Center publishes. Our own bake of the OISST record puts Niño-3.4 at −0.57 in January and +2.09 in July 2026, and that has to be reconciled with CPC's number before it can serve as a label.
Among its nulls is the SPRING BARRIER: forecasts made across the northern spring lose skill much faster than forecasts made at other times of year, because the coupled ocean–atmosphere signal in the tropical Pacific is weakest then. So an honest ENSO forecast is a skill curve by start month, not one number.
And without the subsurface — the warm-water volume, or the depth of the 20 °C isotherm — a head on surface temperature alone is a persistence forecast wearing a name. AMOC is scored against the RAPID array at 26.5° north, then MOVE, OSNAP, SAMBA and the Florida cable; those truth series are already in our tensor.
What AMOC needs is the buoyancy forcing — the heat and fresh water the atmosphere puts into the ocean — and the three-dimensional interior. SURFACE COLOUR needs the reflectance bands as inputs with chlorophyll as the target, never as an input: that is the observed-over-derived rule from earlier in this deck.
Sea ice, land water and the atmosphere are the cheap three: they need only Phase L0, six gap-free channels from two sources, about forty gigabytes — which is why they sit at the top of the to-do list on the right even though they are not the headline.
MEASURED here: the Niño-3.4 values from our own OISST bake, and the fact that the RAPID and Florida-cable series are already in the tensor. ASSUMED: every prerequisite ranking and every null. No head on this slide has been trained.
Sources for this slide:
• E-072 plan — the Earth foundation model: data design first, then the scaling ladder, then the recipe — https://blauewelt.github.io/earth/docs.html?f=ml/plans/E072_earth_foundation_model.md
• Handover, 4 Sep 2026 — cone v2, the four spheres, the Earth foundation model, and where to fork — https://blauewelt.github.io/earth/docs.html?f=ml/handoffs/HANDOVER_2026-09-04_cone_v2_efm.md
• E-071 plan — cone v2: global, harmonic, Argo-aware, sized by the fastest thing in the ocean — https://blauewelt.github.io/earth/docs.html?f=ml/plans/E071_cone_v2.md
• E-070 plan — the global tensor (family 7): the globe at 0.25° pentads, gates G1–G3, phases A–F — https://blauewelt.github.io/earth/docs.html?f=ml/plans/E070_global_tensor.md
• ml/plans/DATA_LADDER.md (source) — https://github.com/blauewelt/earth/blob/main/ml/plans/DATA_LADDER.md
• CONE_DATA_AND_ENSO.md — the companion page — https://blauewelt.github.io/earth/docs.html?f=ml/figures/geofm_survey/CONE_DATA_AND_ENSO.md
• IRI/CPC ENSO forecast plume — https://iri.columbia.edu/our-expertise/climate/forecasts/enso/current/
• Oceanic Niño Index (NOAA CPC) — https://origin.cpc.ncep.noaa.gov/products/analysis_monitoring/ensostuff/ONI_v5.php
• PMEL Warm Water Volume / 20 °C isotherm — https://www.pmel.noaa.gov/tao/wwv/data/
• GODAS ocean analysis (NOAA PSL) — https://psl.noaa.gov/data/gridded/data.godas.html
• RAPID-MOCHA-WBTS 26.5° N data — https://rapid.ac.uk/data/data-download
• Florida Current cable transport (NOAA AOML) — https://www.aoml.noaa.gov/phod/floridacurrent/
• ESA OC-CCI — https://climate.esa.int/en/projects/ocean-colour/
• PACE — https://pace.oceansciences.org/
• OSI SAF sea-ice products — https://osi-saf.eumetsat.int/products/sea-ice-products
• GRACE/GRACE-FO JPL mascons — https://grace.jpl.nasa.gov/data/get-data/jpl_global_mascons/
• ESA CCI soil moisture — https://climate.esa.int/en/projects/soil-moisture/
• ERA5 (CDS) — https://cds.climate.copernicus.eu/datasets/reanalysis-era5-single-levels
• GPM IMERG — https://gpm.nasa.gov/data/imerg
• ECMWF open data — https://www.ecmwf.int/en/forecasts/datasets/open-data
• E-062 in the experiment log — the flat width ladder and the Argo information finding — https://blauewelt.github.io/earth/docs.html?f=ml/EXPERIMENTS.md#e-062
• E-066 in the experiment log — the 200-mode linear inverse model as the reference forecast — https://blauewelt.github.io/earth/docs.html?f=ml/EXPERIMENTS.md#e-066
• ml/CLAUDE.md (replication rules, §3b) — https://blauewelt.github.io/earth/docs.html?f=ml/CLAUDE.md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starts with an experiment that needs no new data.
Phase 0 uses exactly the tokens the second stage already reads: ocean pixel-months, the 3-by-3 codec, and the sunflower stencil over 24 months. We train a cone codec over those same tokens with the masked-dot objective, and compare three things at equal total context: the current codec with its stage-2 attention head; the cone codec with a plain ridge regression on top; and the cone codec with an attention head. Three things about the protocol are non-negotiable after the 2 September paper reset. The verdict is rolled skill under the corrected window-scope pool — mean skill against climatology and against damped persistence at each lead, trained and held-out longitudes reported separately, with block-bootstrap intervals and the Linear-Inverse-Model null beside every number. Probes — the velocity probe and the RAPID transport probe — are diagnostics of what the embedding encodes, never verdicts. And at least three seeds per arm, because anything probe-scored is unreadable at one seed. The predictions are written down so they can be wrong: the cone codec should match or beat the current setup on rolled skill with only a linear head, and beat the embedding-space LIM where the current codec does not; it should win by a wide margin on the velocity probe; and it should tie on static probes. If the cone codec only matches when it also gets an attention head, then the "work in the embedding" argument loses on sample efficiency and the hybrid keeps a thick stage 2.
After that, one sphere per phase, in the order agreed earlier. Phase 1 adds the ocean surface and the atmosphere as forcing — the gap-filled surface maps and ERA5 — and is scored on forecasting sea temperature and sea level one to four weeks ahead against persistence and against the operational Copernicus forecast. Phase 2 adds the interior — Argo as native dots, GLORYS as a flagged, heavily masked prior — and is scored on the AMOC again, on mixed-layer depth, and on upper-ocean heat content. Phase 3 adds the ocean biosphere and is scored on reconstructing the carbon flux with the carbon maps held out. Phase 4 adds land, with the local codec on Sentinel and Landsat tiles, and is scored on vegetation and soil-moisture forecasts as well as the standard benchmarks for comparability. Phase 5 adds the fast atmosphere at ten-minute cadence through a second local codec.
Six ablations run in every phase; the first — cone inside versus cone on top at equal context — is the one that keeps answering the zero-sum question as the inputs grow. The engineering note at the bottom is a warning: the network is cheap, under an hour per year of ocean embeddings on a single modern accelerator; the sampler that finds which tiles, dates and profiles fall into which cones is the thing to build first.
Sources for this slide:
• Generic-embedding input proposal (full note) — https://blauewelt.github.io/earth/docs.html?f=ml/figures/geofm_survey/GENERIC_EMBEDDING_INPUTS.md
• Earth 2 paper (v8, PDF) — https://github.com/blauewelt/earth/blob/main/ml/paper/paper.pdf
• ml/CLAUDE.md (replication rules, §3b) — https://blauewelt.github.io/earth/docs.html?f=ml/CLAUDE.md
• Copernicus global analysis/forecast — https://data.marine.copernicus.eu/product/GLOBAL_ANALYSISFORECAST_PHY_001_024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pass this week turned up an unusual amount of change in the satellite fleet, and it affects which channels are safe to build on.
Sentinel-1 lost its A satellite at the end of June; the constellation is now C and D, and there is a two-year single-satellite gap in the radar record. Sentinel-2 has three satellites only until the end of this year. MODIS, the sensor behind most 500-metre products since the year 2000, is being switched off around the turn of the year, and Suomi-NPP, the first VIIRS satellite, stops delivering data on the first of November; the newer NOAA-20 and NOAA-21 continue. The passive-microwave sea-ice record is in the middle of a hand-over from the retiring military DMSP satellites to Japan's AMSR2 and, eventually, AMSR3 — which means that for a while near-real-time sea ice depends on a single satellite launched in 2012. Sea level is stable; Sentinel-6B is up but not yet the reference. Several climate-quality records have hard ends — the ocean-colour climate record at the end of 2024, the FLUXNET collection frozen in 2020 — and their near-real-time twins must be used for later years.
The architectural answer is the one the whole deck has been building towards: with channel-drop training, a sensor that disappears is a masked channel, not a failure. But the training archive has to be assembled sensor-agnostic, with the sensor identity in the source flag, so that the model learns "thermal radiometer at 1 km" rather than "MODIS".
The licence line matters for anything meant to be published: the EN4 ocean analysis is non-commercial, the river-gauge archive is research-only and cannot be redistributed, the European radar composite is for members, and ECMWF's native 9-kilometre analysis is licensed while the quarter-degree open data is free.
The paragraph at the bottom lists smaller corrections that came out of the same pass — worth knowing because they are commonly assumed the other way: ERA5's sea-surface temperature is an input, not a product; ERA5-Land has no data assimilation; the Copernicus wave model is MFWAM, not WAVEWATCH; and the European radar composite is now 1 kilometre every 5 minutes.
Sources for this slide:
• Generic-embedding input proposal (full note) — https://blauewelt.github.io/earth/docs.html?f=ml/figures/geofm_survey/GENERIC_EMBEDDING_INPUTS.md
• Sentinel-1 orbital reconfiguration (S1A end) — https://sentinels.copernicus.eu/-/sentinel-1-orbital-reconfiguration-dates
• Sentinel-1D data opening — https://sentinels.copernicus.eu/-/sentinel-1d-user-data-opening-and-future-plans
• Sentinel-2A extension to end-2026 — https://sentinels.copernicus.eu/-/sentinel-2a-extension-campaign-prolonged-until-the-end-of-2026
• NASA MODIS → VIIRS transition — https://www.earthdata.nasa.gov/data/alerts-outages/transition-from-modis-viirs
• NOAA: Suomi-NPP data end 1 Nov 2026 — https://www.nesdis.noaa.gov/news/cessation-of-suomi-national-polar-orbiting-partnership-s-npp-data-users-onafter-november-01-2026
• NSIDC: SSMIS sunsets, AMSR2 rises — https://nsidc.org/sea-ice-today/analyses/ssmis-sunsets-amsr2-rises
• NOAA: AMSR2 → AMSR3 — https://www.nesdis.noaa.gov/news/decommissioning-of-advanced-microwave-scanning-radiometer-amsr2-products-and-transition-amsr3-products
• Sentinel-6 — https://documentation.dataspace.copernicus.eu/Data/SentinelMissions/Sentinel6.html
• ESA OC-CCI — https://climate.esa.int/en/projects/ocean-colour/
• ESA CCI soil moisture — https://climate.esa.int/en/projects/soil-moisture/
• EN4 (Met Office) — https://www.metoffice.gov.uk/hadobs/en4/
• GRDC river discharge — https://grdc.bafg.de/
• EUMETNET OPERA — https://www.eumetnet.eu/activities/observations-programme/current-activities/opera/
• GLEAM — https://www.gleam.eu/
• ECMWF open data — https://www.ecmwf.int/en/forecasts/datasets/open-data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Niño is the warm phase of a see-saw in the tropical Pacific called the El Niño–Southern Oscillation. Normally the trade winds blow from east to west, piling warm water up near Indonesia and letting cold water rise off South America. When the trades weaken, that pile sloshes back east, the eastern Pacific warms, and the world's rainfall patterns move with it. NIÑO-3.4 is the agreed thermometer: the average sea-surface temperature anomaly in the box from 5° south to 5° north, 170° west to 120° west. The ONI, or Oceanic Niño Index, is the official version of that number — a three-month running mean computed on a different, coarser temperature reconstruction — and an event is declared when it stays above +0.5 °C for five overlapping seasons.
The chart on the left is computed here, from the repository's own baked temperature archive against its 1991–2020 normal, and it shows the fastest possible development: mildly cool in January, crossing zero in March, and +2.09 °C by July. The three dashed lines are the December peaks of the three biggest recent events from the same bake. Our number for July is 0.7 °C above the Climate Prediction Center's, entirely because of the different dataset and the running mean — which is the argument for carrying the official index alongside our own rather than instead of it.
Why sea-surface temperature alone forecasts poorly beyond about three months: the memory of this system is not at the surface, it is in the THERMOCLINE, the sharp boundary a hundred-odd metres down between warm surface water and the cold deep. WARM WATER VOLUME — how much water above 20 °C is stacked up across the equatorial Pacific — leads the surface signal by roughly six months, and it is the single most valuable series absent from our catalog. On top of that slow memory sit fast triggers: a WESTERLY WIND BURST, a one-to-two-week reversal of the trade winds usually set off by the Madden–Julian Oscillation, can launch an eastward wave that tips a primed ocean into an event. And there is the SPRING PREDICTABILITY BARRIER: forecasts made in boreal spring are markedly worse, because the signal is weakest and the noise strongest exactly then. That is the barrier any honest skill curve has to be plotted across, and the reason the ranked additions on the right put the subsurface first and the daily winds second.
Sources for this slide:
• CPC ENSO diagnostic discussion, 13 Aug 2026 — https://www.cpc.ncep.noaa.gov/products/analysis_monitoring/enso_disc_aug2026/ensodisc.shtml
• IRI/CPC ENSO forecast plume — https://iri.columbia.edu/our-expertise/climate/forecasts/enso/current/
• PMEL Warm Water Volume / 20 °C isotherm — https://www.pmel.noaa.gov/tao/wwv/data/
• GODAS ocean analysis (NOAA PSL) — https://psl.noaa.gov/data/gridded/data.godas.html
• NOAA interpolated outgoing longwave radiation — https://psl.noaa.gov/data/gridded/data.interp_OLR.html
• Oceanic Niño Index (NOAA CPC) — https://origin.cpc.ncep.noaa.gov/products/analysis_monitoring/ensostuff/ONI_v5.php
• NOAA PSL climate indices — https://psl.noaa.gov/data/climateindices/list/
• Multivariate ENSO Index v2 (NOAA PSL) — https://psl.noaa.gov/enso/mei/
• RMM Madden–Julian Oscillation index (BoM) — https://www.bom.gov.au/climate/mjo/
• CCMP ocean vector winds (REMSS) — https://www.remss.com/measurements/ccmp/
• OSCAR L4 final v2.0 (PO.DAAC) — https://podaac.jpl.nasa.gov/dataset/OSCAR_L4_OC_FINAL_V2.0
• data/catalog.json — the 274-record catalog (source) — https://github.com/blauewelt/earth/blob/main/data/catalog.json
• docs/CATALOG.md — the catalog in prose — https://blauewelt.github.io/earth/docs.html?f=docs/CATALOG.md
• CONE_DATA_AND_ENSO.md — the companion page — https://blauewelt.github.io/earth/docs.html?f=ml/figures/geofm_survey/CONE_DATA_AND_ENSO.md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vocabulary first. The CONE is the shape of everything the forecaster is allowed to read when it predicts one cell at one moment: nearby places at recent times, and places further away only at times further back, because a signal needs time to travel. The SUNFLOWER is how we place the sample points inside that cone — a spiral of dots around the anchor, dense near it and sparse far from it. A TOKEN is one item in the list the model reads; the anchor's whole input is a few hundred of them. A MISS TOKEN is what we hand the model when a channel has no value at the place and time it asked about: a marker that says "nothing here", carrying no number.
An ARGO FLOAT is a drifting robot that sinks to two kilometres, drifts for about ten days, then rises taking temperature and salinity all the way up and radios the profile home. There are roughly four thousand of them. They are the only routine measurement of the ocean's interior — and they are points, not a map. To fit them into a grid today we take somebody else's smoothed monthly one-degree reconstruction of those points, which means the model never sees a measurement, only a map of one, and at most bins the map is simply absent.
Family 8 proposes the opposite. Instead of asking "what is in this grid cell", ask "which are the k nearest actual observations, and how far away are they" — the K-NEAREST-NEIGHBOUR idea. Each token then carries the measured value plus its offset east, its offset north, how many days ago it was taken, and how crowded that neighbourhood was. Distance becomes information rather than an excuse: a reading eighty kilometres and three days away deserves more weight than one four hundred kilometres and three weeks away, and the model can learn that by itself.
Three guards keep it honest. ONE-SIDED IN TIME means the search only ever looks backwards from the anchor's own five-day bin, so a forecast can never quietly read its own future. BOUNDED means each channel declares a maximum radius and a maximum age, so the search cannot wander across an ocean to find something; only when that bounded search truly comes up empty does the old miss token appear, and then it is a measured fact. And k is set by a CORRELATION LENGTH — the distance over which a field stays recognisably similar to itself, about three hundred kilometres near the surface — rather than by taste. The Argo arithmetic in words: four thousand floats each surfacing every ten days is about two thousand profiles in any five-day window over the whole ocean; spread over three hundred and sixty million square kilometres that is one profile per hundred and eighty thousand square kilometres, so the nearest one is typically a couple of hundred kilometres away. Allow thirty days instead of five and you have six times as many, the nearest falls to about ninety kilometres, and the fifth nearest sits at about two hundred — one correlation length. Hence k = 5 within thirty days.
What it is NOT is a replacement for the cone. Dense channels — currents, sea-surface temperature, the reanalysis — are already complete maps, and the sunflower's whole point is that it samples them at several scales at once; five neighbours would collapse that to the three cells nearest the anchor. So family 8 is a HYBRID: an array for the dense groups, plus an OBSERVATION STORE — a plain list of (time, latitude, longitude, channel, value) rows — and a precomputed neighbour index beside it. That is also why it stops being a single tensor, and it is the door to feeding raw profiles, moorings and satellite tracks in without gridding them first.
Sources for this slide:
• E-071 plan — cone v2: global, harmonic, Argo-aware, sized by the fastest thing in the ocean — https://blauewelt.github.io/earth/docs.html?f=ml/plans/E071_cone_v2.md
• E-070 plan — the global tensor (family 7): the globe at 0.25° pentads, gates G1–G3, phases A–F — https://blauewelt.github.io/earth/docs.html?f=ml/plans/E070_global_tensor.md
• Argo — https://argo.ucsd.edu/
• Roemmich–Gilson Argo climatology (Scripps) — https://sio-argo.ucsd.edu/RG_Climatology.html
• Aardvark Weather (Nature 2025) — https://doi.org/10.1038/s41586-025-08897-0
• GraphDOP — https://arxiv.org/abs/2412.15687
• ESFM — https://arxiv.org/abs/2605.00850
• CONE_DATA_AND_ENSO.md — the companion page — https://blauewelt.github.io/earth/docs.html?f=ml/figures/geofm_survey/CONE_DATA_AND_ENSO.md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puts the two designs in one table so the difference is a row-by-row comparison rather than an argument.
Read the middle column as the world we have. A sparse channel arrives as somebody's gridded map; at an anchor we take the nearest one-degree cell; that cell holds a number in eight per cent of the five-day bins and nothing in the rest, so the model mostly reads a miss token. In the right-hand column the same channel always produces exactly k tokens, each one a real measurement with its distance and its age attached. Everything about the dense channels is identical in both columns — that is the point of calling family 8 a hybrid rather than a replacement.
Two rows deserve a gloss. A KD-TREE is a simple data structure that sorts points by position so that "which five are nearest to here" is answered in microseconds instead of by scanning every point; building one per five-day bin makes the whole neighbour lookup a one-off cost. And the ANOMALY row matters more than it looks: an anomaly is the departure from what is normal for that place at that time of year, and today we compute it at the grid cell, whereas family 8 would evaluate the same seasonal fit at the observation's own latitude, longitude and day — closer to the truth, and free.
The box at the bottom is the whole proposal reduced to one cheap test. A PREDICT-THE-MEAN BAR is the dumbest possible forecast: ignore the input and always answer with the long-run average. Any model has to beat it, and the reason we score per family of channels against that bar is that a headline loss can look fine while one group of channels is quietly contributing nothing — measured against the bar, a group that has learned something separates from a group that has not. The falsifier is stated in advance: if replacing the thirty-two gridded Argo channels with five profile tokens does not lower the loss on hidden interior channels compared with an otherwise identical run, then distance-as-a-feature bought nothing and family 8 does not get built. That costs about one seed, under two hours on a single consumer graphics card.
The last sentence is the one not to lose. An earlier experiment removed the Argo targets altogether — stopped asking the model to predict the ocean interior — and the forecast got WORSE, not better. A channel whose removal hurts is a channel carrying signal, which means the interior is worth representing properly; the question family 8 asks is only whether we are currently representing it in the stupidest available way.
Sources for this slide:
• E-070 plan — the global tensor (family 7): the globe at 0.25° pentads, gates G1–G3, phases A–F — https://blauewelt.github.io/earth/docs.html?f=ml/plans/E070_global_tensor.md
• E-071 plan — cone v2: global, harmonic, Argo-aware, sized by the fastest thing in the ocean — https://blauewelt.github.io/earth/docs.html?f=ml/plans/E071_cone_v2.md
• E-069 in the experiment log — https://blauewelt.github.io/earth/docs.html?f=ml/EXPERIMENTS.md#e-069
• ml/plans/DATA_LADDER.md (source) — https://github.com/blauewelt/earth/blob/main/ml/plans/DATA_LADDER.md
• Argo — https://argo.ucsd.edu/
• Roemmich–Gilson Argo climatology (Scripps) — https://sio-argo.ucsd.edu/RG_Climatology.html
• ml/CLAUDE.md (replication rules, §3b) — https://blauewelt.github.io/earth/docs.html?f=ml/CLAUDE.md
• Earth 2 paper (v8, PDF) — https://github.com/blauewelt/earth/blob/main/ml/paper/paper.pdf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paper, model card and repository the deck draws on, grouped by model and topic, as short URLs. A few notes on how they were used.
For the six model slides, numbers were taken from the papers and, where possible, verified against the published configuration files: Prithvi-EO 2.0's token sizes come from its Hugging Face config.json (16-pixel patches for the 300 M model, 14 for the 600 M), and Granite-Geospatial-Ocean's architecture from the config and model file in the ibm-granite GitHub repository (42-pixel tiles, 17 channels, embedding 512, 12 layers, patch size 2 by 2, one frame).
The head-to-head tables were transcribed from the papers' own tables: OlmoEarth Tables 2, 3 and 7; TerraMind Table 6; TESSERA Table 1; Granite Table 1; OceanSAR-1 Tables 1–3; GEO-Bench-2 for independent ranks; and an independent Local Climate Zone study for AlphaEarth versus TESSERA.
For the ocean-including models and related work, sources were checked in August 2026 and include several 2026 papers (AIFS surface ocean, ESFM, SamudrACE, PARADIS, ACE2-NEMO). Earth 2 numbers — the attribution matrix and probe ladder — are quoted from the project's own paper draft.
Items listed as "also checked" are things we looked at and excluded, with the reason, so that nobody re-chases them.
Sources for this slide:
• Survey notes — https://blauewelt.github.io/earth/docs.html?f=ml/figures/geofm_survey/SURVEY_NOTES.md
• Generic-embedding input proposal (full note) — https://blauewelt.github.io/earth/docs.html?f=ml/figures/geofm_survey/GENERIC_EMBEDDING_INPUTS.md
• Earth 2 paper (v8, PDF) — https://github.com/blauewelt/earth/blob/main/ml/paper/paper.pdf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arxiv.org/abs/2107.14795" TargetMode="External"/><Relationship Id="rId2" Type="http://schemas.openxmlformats.org/officeDocument/2006/relationships/hyperlink" Target="https://arxiv.org/abs/2601.21151" TargetMode="External"/><Relationship Id="rId3" Type="http://schemas.openxmlformats.org/officeDocument/2006/relationships/hyperlink" Target="https://arxiv.org/abs/2507.22291" TargetMode="External"/><Relationship Id="rId4" Type="http://schemas.openxmlformats.org/officeDocument/2006/relationships/hyperlink" Target="https://deepmind.google/blog/alphaearth-foundations-helps-map-our-planet-in-unprecedented-detail" TargetMode="External"/><Relationship Id="rId5" Type="http://schemas.openxmlformats.org/officeDocument/2006/relationships/hyperlink" Target="https://developers.google.com/earth-engine/datasets/catalog/GOOGLE_SATELLITE_EMBEDDING_V1_ANNUAL" TargetMode="External"/><Relationship Id="rId6" Type="http://schemas.openxmlformats.org/officeDocument/2006/relationships/hyperlink" Target="https://arxiv.org/abs/2506.20380" TargetMode="External"/><Relationship Id="rId7" Type="http://schemas.openxmlformats.org/officeDocument/2006/relationships/hyperlink" Target="https://github.com/ucam-eo/tessera" TargetMode="External"/><Relationship Id="rId8" Type="http://schemas.openxmlformats.org/officeDocument/2006/relationships/hyperlink" Target="https://github.com/ucam-eo/geotessera" TargetMode="External"/><Relationship Id="rId9" Type="http://schemas.openxmlformats.org/officeDocument/2006/relationships/hyperlink" Target="https://geotessera.org" TargetMode="External"/><Relationship Id="rId10" Type="http://schemas.openxmlformats.org/officeDocument/2006/relationships/hyperlink" Target="https://arxiv.org/abs/2511.13655" TargetMode="External"/><Relationship Id="rId11" Type="http://schemas.openxmlformats.org/officeDocument/2006/relationships/hyperlink" Target="https://allenai.org/blog/olmoearth-models" TargetMode="External"/><Relationship Id="rId12" Type="http://schemas.openxmlformats.org/officeDocument/2006/relationships/hyperlink" Target="https://github.com/allenai/olmoearth_pretrain" TargetMode="External"/><Relationship Id="rId13" Type="http://schemas.openxmlformats.org/officeDocument/2006/relationships/hyperlink" Target="https://huggingface.co/blog/allenai/olmoearth-v1-1" TargetMode="External"/><Relationship Id="rId14" Type="http://schemas.openxmlformats.org/officeDocument/2006/relationships/hyperlink" Target="https://allenai.org/papers/olmoearth-v1-2" TargetMode="External"/><Relationship Id="rId15" Type="http://schemas.openxmlformats.org/officeDocument/2006/relationships/hyperlink" Target="https://arxiv.org/abs/2504.11171" TargetMode="External"/><Relationship Id="rId16" Type="http://schemas.openxmlformats.org/officeDocument/2006/relationships/hyperlink" Target="https://arxiv.org/abs/2504.11172" TargetMode="External"/><Relationship Id="rId17" Type="http://schemas.openxmlformats.org/officeDocument/2006/relationships/hyperlink" Target="https://github.com/IBM/terramind" TargetMode="External"/><Relationship Id="rId18" Type="http://schemas.openxmlformats.org/officeDocument/2006/relationships/hyperlink" Target="https://huggingface.co/ibm-esa-geospatial" TargetMode="External"/><Relationship Id="rId19" Type="http://schemas.openxmlformats.org/officeDocument/2006/relationships/hyperlink" Target="https://philab.esa.int" TargetMode="External"/><Relationship Id="rId20" Type="http://schemas.openxmlformats.org/officeDocument/2006/relationships/hyperlink" Target="https://arxiv.org/abs/2412.02732" TargetMode="External"/><Relationship Id="rId21" Type="http://schemas.openxmlformats.org/officeDocument/2006/relationships/hyperlink" Target="https://github.com/NASA-IMPACT/Prithvi-EO-2.0" TargetMode="External"/><Relationship Id="rId22" Type="http://schemas.openxmlformats.org/officeDocument/2006/relationships/hyperlink" Target="https://huggingface.co/ibm-nasa-geospatial" TargetMode="External"/><Relationship Id="rId23" Type="http://schemas.openxmlformats.org/officeDocument/2006/relationships/hyperlink" Target="https://research.ibm.com/blog/prithvi2-geospatial" TargetMode="External"/><Relationship Id="rId24" Type="http://schemas.openxmlformats.org/officeDocument/2006/relationships/hyperlink" Target="https://science.nasa.gov" TargetMode="External"/><Relationship Id="rId25" Type="http://schemas.openxmlformats.org/officeDocument/2006/relationships/hyperlink" Target="https://arxiv.org/abs/2509.21273" TargetMode="External"/><Relationship Id="rId26" Type="http://schemas.openxmlformats.org/officeDocument/2006/relationships/hyperlink" Target="https://github.com/ibm-granite/geospatial" TargetMode="External"/><Relationship Id="rId27" Type="http://schemas.openxmlformats.org/officeDocument/2006/relationships/hyperlink" Target="https://huggingface.co/ibm-granite/granite-geospatial-ocean" TargetMode="External"/><Relationship Id="rId28" Type="http://schemas.openxmlformats.org/officeDocument/2006/relationships/hyperlink" Target="https://research.ibm.com/blog/oceans-AI-model" TargetMode="External"/><Relationship Id="rId29" Type="http://schemas.openxmlformats.org/officeDocument/2006/relationships/hyperlink" Target="https://hartree.stfc.ac.uk" TargetMode="External"/><Relationship Id="rId30" Type="http://schemas.openxmlformats.org/officeDocument/2006/relationships/hyperlink" Target="https://pml.ac.uk" TargetMode="External"/><Relationship Id="rId31" Type="http://schemas.openxmlformats.org/officeDocument/2006/relationships/hyperlink" Target="https://huggingface.co/galeio-research/OceanSAR-1" TargetMode="External"/><Relationship Id="rId32" Type="http://schemas.openxmlformats.org/officeDocument/2006/relationships/hyperlink" Target="https://arxiv.org/abs/2504.06962" TargetMode="External"/><Relationship Id="rId33" Type="http://schemas.openxmlformats.org/officeDocument/2006/relationships/hyperlink" Target="https://arxiv.org/abs/2601.07392" TargetMode="External"/><Relationship Id="rId34" Type="http://schemas.openxmlformats.org/officeDocument/2006/relationships/hyperlink" Target="https://arxiv.org/abs/2503.11849" TargetMode="External"/><Relationship Id="rId35" Type="http://schemas.openxmlformats.org/officeDocument/2006/relationships/hyperlink" Target="https://huggingface.co/datasets/wangyi111/Copernicus-Pretrain" TargetMode="External"/><Relationship Id="rId36" Type="http://schemas.openxmlformats.org/officeDocument/2006/relationships/hyperlink" Target="https://github.com/zhu-xlab/Copernicus-FM" TargetMode="External"/><Relationship Id="rId37" Type="http://schemas.openxmlformats.org/officeDocument/2006/relationships/hyperlink" Target="https://microsoft.github.io/aurora" TargetMode="External"/><Relationship Id="rId38" Type="http://schemas.openxmlformats.org/officeDocument/2006/relationships/hyperlink" Target="https://wekeo.copernicus.eu" TargetMode="External"/><Relationship Id="rId39" Type="http://schemas.openxmlformats.org/officeDocument/2006/relationships/hyperlink" Target="https://arxiv.org/abs/2511.13655" TargetMode="External"/><Relationship Id="rId40" Type="http://schemas.openxmlformats.org/officeDocument/2006/relationships/hyperlink" Target="https://arxiv.org/abs/2504.11171" TargetMode="External"/><Relationship Id="rId41" Type="http://schemas.openxmlformats.org/officeDocument/2006/relationships/hyperlink" Target="https://arxiv.org/abs/2412.04204" TargetMode="External"/><Relationship Id="rId42" Type="http://schemas.openxmlformats.org/officeDocument/2006/relationships/hyperlink" Target="https://arxiv.org/abs/2412.02732" TargetMode="External"/><Relationship Id="rId43" Type="http://schemas.openxmlformats.org/officeDocument/2006/relationships/hyperlink" Target="https://arxiv.org/abs/2306.03831" TargetMode="External"/><Relationship Id="rId44" Type="http://schemas.openxmlformats.org/officeDocument/2006/relationships/hyperlink" Target="https://arxiv.org/abs/2506.20380" TargetMode="External"/><Relationship Id="rId45" Type="http://schemas.openxmlformats.org/officeDocument/2006/relationships/hyperlink" Target="https://arxiv.org/abs/2511.15658" TargetMode="External"/><Relationship Id="rId46" Type="http://schemas.openxmlformats.org/officeDocument/2006/relationships/hyperlink" Target="https://arxiv.org/abs/2606.20034" TargetMode="External"/><Relationship Id="rId47" Type="http://schemas.openxmlformats.org/officeDocument/2006/relationships/hyperlink" Target="https://arxiv.org/abs/2509.21273" TargetMode="External"/><Relationship Id="rId48" Type="http://schemas.openxmlformats.org/officeDocument/2006/relationships/hyperlink" Target="https://arxiv.org/abs/2504.06962" TargetMode="External"/><Relationship Id="rId49" Type="http://schemas.openxmlformats.org/officeDocument/2006/relationships/hyperlink" Target="https://arxiv.org/abs/2310.00813" TargetMode="External"/><Relationship Id="rId50" Type="http://schemas.openxmlformats.org/officeDocument/2006/relationships/hyperlink" Target="https://arxiv.org/abs/2601.21151" TargetMode="External"/><Relationship Id="rId51" Type="http://schemas.openxmlformats.org/officeDocument/2006/relationships/hyperlink" Target="https://arxiv.org/abs/2404.10024" TargetMode="External"/><Relationship Id="rId52" Type="http://schemas.openxmlformats.org/officeDocument/2006/relationships/hyperlink" Target="https://arxiv.org/abs/2309.17370" TargetMode="External"/><Relationship Id="rId53" Type="http://schemas.openxmlformats.org/officeDocument/2006/relationships/hyperlink" Target="https://arxiv.org/abs/2409.02891" TargetMode="External"/><Relationship Id="rId54" Type="http://schemas.openxmlformats.org/officeDocument/2006/relationships/hyperlink" Target="https://arxiv.org/abs/2202.07575" TargetMode="External"/><Relationship Id="rId55" Type="http://schemas.openxmlformats.org/officeDocument/2006/relationships/hyperlink" Target="https://arxiv.org/abs/2212.12794" TargetMode="External"/><Relationship Id="rId56" Type="http://schemas.openxmlformats.org/officeDocument/2006/relationships/hyperlink" Target="https://arxiv.org/abs/2211.02556" TargetMode="External"/><Relationship Id="rId57" Type="http://schemas.openxmlformats.org/officeDocument/2006/relationships/hyperlink" Target="https://arxiv.org/abs/2306.12873" TargetMode="External"/><Relationship Id="rId58" Type="http://schemas.openxmlformats.org/officeDocument/2006/relationships/hyperlink" Target="https://arxiv.org/abs/2412.03795" TargetMode="External"/><Relationship Id="rId59" Type="http://schemas.openxmlformats.org/officeDocument/2006/relationships/hyperlink" Target="https://doi.org/10.1029/2025GL119340" TargetMode="External"/><Relationship Id="rId60" Type="http://schemas.openxmlformats.org/officeDocument/2006/relationships/hyperlink" Target="https://arxiv.org/abs/2412.04418" TargetMode="External"/><Relationship Id="rId61" Type="http://schemas.openxmlformats.org/officeDocument/2006/relationships/hyperlink" Target="https://arxiv.org/abs/2603.28704" TargetMode="External"/><Relationship Id="rId62" Type="http://schemas.openxmlformats.org/officeDocument/2006/relationships/hyperlink" Target="https://arxiv.org/abs/2604.25559" TargetMode="External"/><Relationship Id="rId63" Type="http://schemas.openxmlformats.org/officeDocument/2006/relationships/hyperlink" Target="https://doi.org/10.1038/s41586-025-09005-y" TargetMode="External"/><Relationship Id="rId64" Type="http://schemas.openxmlformats.org/officeDocument/2006/relationships/hyperlink" Target="https://doi.org/10.1038/s41586-025-08897-0" TargetMode="External"/><Relationship Id="rId65" Type="http://schemas.openxmlformats.org/officeDocument/2006/relationships/hyperlink" Target="https://arxiv.org/abs/2412.15687" TargetMode="External"/><Relationship Id="rId66" Type="http://schemas.openxmlformats.org/officeDocument/2006/relationships/hyperlink" Target="https://doi.org/10.1029/2023MS003609" TargetMode="External"/><Relationship Id="rId67" Type="http://schemas.openxmlformats.org/officeDocument/2006/relationships/hyperlink" Target="https://arxiv.org/abs/2605.00850" TargetMode="External"/><Relationship Id="rId68" Type="http://schemas.openxmlformats.org/officeDocument/2006/relationships/hyperlink" Target="https://doi.org/10.5194/gmd-12-5113-2019" TargetMode="External"/><Relationship Id="rId69" Type="http://schemas.openxmlformats.org/officeDocument/2006/relationships/hyperlink" Target="https://doi.org/10.3389/fmars.2017.00128" TargetMode="External"/><Relationship Id="rId70" Type="http://schemas.openxmlformats.org/officeDocument/2006/relationships/hyperlink" Target="https://arxiv.org/abs/2409.13598" TargetMode="External"/><Relationship Id="rId71" Type="http://schemas.openxmlformats.org/officeDocument/2006/relationships/slideLayout" Target="../slideLayouts/slideLayout1.xml"/><Relationship Id="rId7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731520" y="1965960"/>
            <a:ext cx="7772400" cy="73152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Geospatial representation models</a:t>
            </a:r>
            <a:endParaRPr lang="en-US" sz="3200" dirty="0"/>
          </a:p>
        </p:txBody>
      </p:sp>
      <p:sp>
        <p:nvSpPr>
          <p:cNvPr id="3" name="Text 1"/>
          <p:cNvSpPr txBox="1"/>
          <p:nvPr/>
        </p:nvSpPr>
        <p:spPr>
          <a:xfrm>
            <a:off x="731520" y="2834640"/>
            <a:ext cx="7772400" cy="86868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 stencil-level overview of AlphaEarth, TESSERA, OlmoEarth, TerraMind, Prithvi-EO 2.0 and IBM's Prithvi-based ocean model (Granite-Geospatial-Ocean)</a:t>
            </a:r>
            <a:endParaRPr lang="en-US" sz="1700" dirty="0"/>
          </a:p>
        </p:txBody>
      </p:sp>
      <p:sp>
        <p:nvSpPr>
          <p:cNvPr id="4" name="Text 2"/>
          <p:cNvSpPr txBox="1"/>
          <p:nvPr/>
        </p:nvSpPr>
        <p:spPr>
          <a:xfrm>
            <a:off x="731520" y="3977640"/>
            <a:ext cx="7772400" cy="640080"/>
          </a:xfrm>
          <a:prstGeom prst="rect">
            <a:avLst/>
          </a:prstGeom>
          <a:noFill/>
          <a:ln/>
        </p:spPr>
        <p:txBody>
          <a:bodyPr wrap="square" lIns="0" tIns="0" rIns="0" bIns="0" rtlCol="0" anchor="ctr"/>
          <a:lstStyle/>
          <a:p>
            <a:pPr indent="0" marL="0">
              <a:buNone/>
            </a:pPr>
            <a:r>
              <a:rPr lang="en-US" sz="1350" i="1" dirty="0">
                <a:solidFill>
                  <a:srgbClr val="9FB3C8"/>
                </a:solidFill>
                <a:latin typeface="Calibri" pitchFamily="34" charset="0"/>
                <a:ea typeface="Calibri" pitchFamily="34" charset="-122"/>
                <a:cs typeface="Calibri" pitchFamily="34" charset="-120"/>
              </a:rPr>
              <a:t>What area in space and what span of time goes into each embedding — and what each model actually hands you</a:t>
            </a:r>
            <a:endParaRPr lang="en-US" sz="1350" dirty="0"/>
          </a:p>
        </p:txBody>
      </p:sp>
      <p:sp>
        <p:nvSpPr>
          <p:cNvPr id="5" name="Text 3"/>
          <p:cNvSpPr txBox="1"/>
          <p:nvPr/>
        </p:nvSpPr>
        <p:spPr>
          <a:xfrm>
            <a:off x="731520" y="6035040"/>
            <a:ext cx="7315200" cy="36576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Earth 2 representation-model research · 31 Aug – 2 Sep 2026</a:t>
            </a:r>
            <a:endParaRPr lang="en-US" sz="1200" dirty="0"/>
          </a:p>
        </p:txBody>
      </p:sp>
      <p:sp>
        <p:nvSpPr>
          <p:cNvPr id="6" name="Shape 4"/>
          <p:cNvSpPr/>
          <p:nvPr/>
        </p:nvSpPr>
        <p:spPr>
          <a:xfrm>
            <a:off x="9025128" y="1673352"/>
            <a:ext cx="2377440" cy="2377440"/>
          </a:xfrm>
          <a:prstGeom prst="rect">
            <a:avLst/>
          </a:prstGeom>
          <a:solidFill>
            <a:srgbClr val="16305A"/>
          </a:solidFill>
          <a:ln w="9525">
            <a:solidFill>
              <a:srgbClr val="3A5A8C"/>
            </a:solidFill>
            <a:prstDash val="solid"/>
          </a:ln>
        </p:spPr>
      </p:sp>
      <p:sp>
        <p:nvSpPr>
          <p:cNvPr id="7" name="Shape 5"/>
          <p:cNvSpPr/>
          <p:nvPr/>
        </p:nvSpPr>
        <p:spPr>
          <a:xfrm>
            <a:off x="8915400" y="1783080"/>
            <a:ext cx="2377440" cy="2377440"/>
          </a:xfrm>
          <a:prstGeom prst="rect">
            <a:avLst/>
          </a:prstGeom>
          <a:solidFill>
            <a:srgbClr val="10284C"/>
          </a:solidFill>
          <a:ln w="9525">
            <a:solidFill>
              <a:srgbClr val="3A5A8C"/>
            </a:solidFill>
            <a:prstDash val="solid"/>
          </a:ln>
        </p:spPr>
      </p:sp>
      <p:sp>
        <p:nvSpPr>
          <p:cNvPr id="8" name="Shape 6"/>
          <p:cNvSpPr/>
          <p:nvPr/>
        </p:nvSpPr>
        <p:spPr>
          <a:xfrm>
            <a:off x="9212580" y="1783080"/>
            <a:ext cx="0" cy="2377440"/>
          </a:xfrm>
          <a:prstGeom prst="line">
            <a:avLst/>
          </a:prstGeom>
          <a:noFill/>
          <a:ln w="6350">
            <a:solidFill>
              <a:srgbClr val="3A5A8C"/>
            </a:solidFill>
            <a:prstDash val="solid"/>
          </a:ln>
        </p:spPr>
      </p:sp>
      <p:sp>
        <p:nvSpPr>
          <p:cNvPr id="9" name="Shape 7"/>
          <p:cNvSpPr/>
          <p:nvPr/>
        </p:nvSpPr>
        <p:spPr>
          <a:xfrm>
            <a:off x="8915400" y="2080260"/>
            <a:ext cx="2377440" cy="0"/>
          </a:xfrm>
          <a:prstGeom prst="line">
            <a:avLst/>
          </a:prstGeom>
          <a:noFill/>
          <a:ln w="6350">
            <a:solidFill>
              <a:srgbClr val="3A5A8C"/>
            </a:solidFill>
            <a:prstDash val="solid"/>
          </a:ln>
        </p:spPr>
      </p:sp>
      <p:sp>
        <p:nvSpPr>
          <p:cNvPr id="10" name="Shape 8"/>
          <p:cNvSpPr/>
          <p:nvPr/>
        </p:nvSpPr>
        <p:spPr>
          <a:xfrm>
            <a:off x="9509760" y="1783080"/>
            <a:ext cx="0" cy="2377440"/>
          </a:xfrm>
          <a:prstGeom prst="line">
            <a:avLst/>
          </a:prstGeom>
          <a:noFill/>
          <a:ln w="6350">
            <a:solidFill>
              <a:srgbClr val="3A5A8C"/>
            </a:solidFill>
            <a:prstDash val="solid"/>
          </a:ln>
        </p:spPr>
      </p:sp>
      <p:sp>
        <p:nvSpPr>
          <p:cNvPr id="11" name="Shape 9"/>
          <p:cNvSpPr/>
          <p:nvPr/>
        </p:nvSpPr>
        <p:spPr>
          <a:xfrm>
            <a:off x="8915400" y="2377440"/>
            <a:ext cx="2377440" cy="0"/>
          </a:xfrm>
          <a:prstGeom prst="line">
            <a:avLst/>
          </a:prstGeom>
          <a:noFill/>
          <a:ln w="6350">
            <a:solidFill>
              <a:srgbClr val="3A5A8C"/>
            </a:solidFill>
            <a:prstDash val="solid"/>
          </a:ln>
        </p:spPr>
      </p:sp>
      <p:sp>
        <p:nvSpPr>
          <p:cNvPr id="12" name="Shape 10"/>
          <p:cNvSpPr/>
          <p:nvPr/>
        </p:nvSpPr>
        <p:spPr>
          <a:xfrm>
            <a:off x="9806940" y="1783080"/>
            <a:ext cx="0" cy="2377440"/>
          </a:xfrm>
          <a:prstGeom prst="line">
            <a:avLst/>
          </a:prstGeom>
          <a:noFill/>
          <a:ln w="6350">
            <a:solidFill>
              <a:srgbClr val="3A5A8C"/>
            </a:solidFill>
            <a:prstDash val="solid"/>
          </a:ln>
        </p:spPr>
      </p:sp>
      <p:sp>
        <p:nvSpPr>
          <p:cNvPr id="13" name="Shape 11"/>
          <p:cNvSpPr/>
          <p:nvPr/>
        </p:nvSpPr>
        <p:spPr>
          <a:xfrm>
            <a:off x="8915400" y="2674620"/>
            <a:ext cx="2377440" cy="0"/>
          </a:xfrm>
          <a:prstGeom prst="line">
            <a:avLst/>
          </a:prstGeom>
          <a:noFill/>
          <a:ln w="6350">
            <a:solidFill>
              <a:srgbClr val="3A5A8C"/>
            </a:solidFill>
            <a:prstDash val="solid"/>
          </a:ln>
        </p:spPr>
      </p:sp>
      <p:sp>
        <p:nvSpPr>
          <p:cNvPr id="14" name="Shape 12"/>
          <p:cNvSpPr/>
          <p:nvPr/>
        </p:nvSpPr>
        <p:spPr>
          <a:xfrm>
            <a:off x="10104120" y="1783080"/>
            <a:ext cx="0" cy="2377440"/>
          </a:xfrm>
          <a:prstGeom prst="line">
            <a:avLst/>
          </a:prstGeom>
          <a:noFill/>
          <a:ln w="6350">
            <a:solidFill>
              <a:srgbClr val="3A5A8C"/>
            </a:solidFill>
            <a:prstDash val="solid"/>
          </a:ln>
        </p:spPr>
      </p:sp>
      <p:sp>
        <p:nvSpPr>
          <p:cNvPr id="15" name="Shape 13"/>
          <p:cNvSpPr/>
          <p:nvPr/>
        </p:nvSpPr>
        <p:spPr>
          <a:xfrm>
            <a:off x="8915400" y="2971800"/>
            <a:ext cx="2377440" cy="0"/>
          </a:xfrm>
          <a:prstGeom prst="line">
            <a:avLst/>
          </a:prstGeom>
          <a:noFill/>
          <a:ln w="6350">
            <a:solidFill>
              <a:srgbClr val="3A5A8C"/>
            </a:solidFill>
            <a:prstDash val="solid"/>
          </a:ln>
        </p:spPr>
      </p:sp>
      <p:sp>
        <p:nvSpPr>
          <p:cNvPr id="16" name="Shape 14"/>
          <p:cNvSpPr/>
          <p:nvPr/>
        </p:nvSpPr>
        <p:spPr>
          <a:xfrm>
            <a:off x="10401300" y="1783080"/>
            <a:ext cx="0" cy="2377440"/>
          </a:xfrm>
          <a:prstGeom prst="line">
            <a:avLst/>
          </a:prstGeom>
          <a:noFill/>
          <a:ln w="6350">
            <a:solidFill>
              <a:srgbClr val="3A5A8C"/>
            </a:solidFill>
            <a:prstDash val="solid"/>
          </a:ln>
        </p:spPr>
      </p:sp>
      <p:sp>
        <p:nvSpPr>
          <p:cNvPr id="17" name="Shape 15"/>
          <p:cNvSpPr/>
          <p:nvPr/>
        </p:nvSpPr>
        <p:spPr>
          <a:xfrm>
            <a:off x="8915400" y="3268980"/>
            <a:ext cx="2377440" cy="0"/>
          </a:xfrm>
          <a:prstGeom prst="line">
            <a:avLst/>
          </a:prstGeom>
          <a:noFill/>
          <a:ln w="6350">
            <a:solidFill>
              <a:srgbClr val="3A5A8C"/>
            </a:solidFill>
            <a:prstDash val="solid"/>
          </a:ln>
        </p:spPr>
      </p:sp>
      <p:sp>
        <p:nvSpPr>
          <p:cNvPr id="18" name="Shape 16"/>
          <p:cNvSpPr/>
          <p:nvPr/>
        </p:nvSpPr>
        <p:spPr>
          <a:xfrm>
            <a:off x="10698480" y="1783080"/>
            <a:ext cx="0" cy="2377440"/>
          </a:xfrm>
          <a:prstGeom prst="line">
            <a:avLst/>
          </a:prstGeom>
          <a:noFill/>
          <a:ln w="6350">
            <a:solidFill>
              <a:srgbClr val="3A5A8C"/>
            </a:solidFill>
            <a:prstDash val="solid"/>
          </a:ln>
        </p:spPr>
      </p:sp>
      <p:sp>
        <p:nvSpPr>
          <p:cNvPr id="19" name="Shape 17"/>
          <p:cNvSpPr/>
          <p:nvPr/>
        </p:nvSpPr>
        <p:spPr>
          <a:xfrm>
            <a:off x="8915400" y="3566160"/>
            <a:ext cx="2377440" cy="0"/>
          </a:xfrm>
          <a:prstGeom prst="line">
            <a:avLst/>
          </a:prstGeom>
          <a:noFill/>
          <a:ln w="6350">
            <a:solidFill>
              <a:srgbClr val="3A5A8C"/>
            </a:solidFill>
            <a:prstDash val="solid"/>
          </a:ln>
        </p:spPr>
      </p:sp>
      <p:sp>
        <p:nvSpPr>
          <p:cNvPr id="20" name="Shape 18"/>
          <p:cNvSpPr/>
          <p:nvPr/>
        </p:nvSpPr>
        <p:spPr>
          <a:xfrm>
            <a:off x="10995660" y="1783080"/>
            <a:ext cx="0" cy="2377440"/>
          </a:xfrm>
          <a:prstGeom prst="line">
            <a:avLst/>
          </a:prstGeom>
          <a:noFill/>
          <a:ln w="6350">
            <a:solidFill>
              <a:srgbClr val="3A5A8C"/>
            </a:solidFill>
            <a:prstDash val="solid"/>
          </a:ln>
        </p:spPr>
      </p:sp>
      <p:sp>
        <p:nvSpPr>
          <p:cNvPr id="21" name="Shape 19"/>
          <p:cNvSpPr/>
          <p:nvPr/>
        </p:nvSpPr>
        <p:spPr>
          <a:xfrm>
            <a:off x="8915400" y="3863340"/>
            <a:ext cx="2377440" cy="0"/>
          </a:xfrm>
          <a:prstGeom prst="line">
            <a:avLst/>
          </a:prstGeom>
          <a:noFill/>
          <a:ln w="6350">
            <a:solidFill>
              <a:srgbClr val="3A5A8C"/>
            </a:solidFill>
            <a:prstDash val="solid"/>
          </a:ln>
        </p:spPr>
      </p:sp>
      <p:sp>
        <p:nvSpPr>
          <p:cNvPr id="22" name="Shape 20"/>
          <p:cNvSpPr/>
          <p:nvPr/>
        </p:nvSpPr>
        <p:spPr>
          <a:xfrm>
            <a:off x="9509760" y="2377440"/>
            <a:ext cx="1188720" cy="1188720"/>
          </a:xfrm>
          <a:prstGeom prst="rect">
            <a:avLst/>
          </a:prstGeom>
          <a:solidFill>
            <a:srgbClr val="2E86AB">
              <a:alpha val="60000"/>
            </a:srgbClr>
          </a:solidFill>
          <a:ln w="19050">
            <a:solidFill>
              <a:srgbClr val="2E86AB"/>
            </a:solidFill>
            <a:prstDash val="solid"/>
          </a:ln>
        </p:spPr>
      </p:sp>
      <p:sp>
        <p:nvSpPr>
          <p:cNvPr id="23" name="Shape 21"/>
          <p:cNvSpPr/>
          <p:nvPr/>
        </p:nvSpPr>
        <p:spPr>
          <a:xfrm>
            <a:off x="9806940" y="2674620"/>
            <a:ext cx="297180" cy="297180"/>
          </a:xfrm>
          <a:prstGeom prst="rect">
            <a:avLst/>
          </a:prstGeom>
          <a:solidFill>
            <a:srgbClr val="F2C14E"/>
          </a:solidFill>
          <a:ln w="12700">
            <a:solidFill>
              <a:srgbClr val="333333"/>
            </a:solidFill>
            <a:prstDash val="solid"/>
          </a:ln>
        </p:spPr>
      </p:sp>
      <p:sp>
        <p:nvSpPr>
          <p:cNvPr id="24" name="Shape 22"/>
          <p:cNvSpPr/>
          <p:nvPr/>
        </p:nvSpPr>
        <p:spPr>
          <a:xfrm>
            <a:off x="8915400" y="4709160"/>
            <a:ext cx="2377440" cy="0"/>
          </a:xfrm>
          <a:prstGeom prst="line">
            <a:avLst/>
          </a:prstGeom>
          <a:noFill/>
          <a:ln w="12700">
            <a:solidFill>
              <a:srgbClr val="9FB3C8"/>
            </a:solidFill>
            <a:prstDash val="solid"/>
            <a:tailEnd type="triangle"/>
          </a:ln>
        </p:spPr>
      </p:sp>
      <p:sp>
        <p:nvSpPr>
          <p:cNvPr id="25" name="Shape 23"/>
          <p:cNvSpPr/>
          <p:nvPr/>
        </p:nvSpPr>
        <p:spPr>
          <a:xfrm>
            <a:off x="9372600" y="4480560"/>
            <a:ext cx="1371600" cy="457200"/>
          </a:xfrm>
          <a:prstGeom prst="rect">
            <a:avLst/>
          </a:prstGeom>
          <a:solidFill>
            <a:srgbClr val="E07A2F">
              <a:alpha val="30000"/>
            </a:srgbClr>
          </a:solidFill>
          <a:ln w="12700">
            <a:solidFill>
              <a:srgbClr val="E07A2F"/>
            </a:solidFill>
            <a:prstDash val="solid"/>
          </a:ln>
        </p:spPr>
      </p:sp>
      <p:sp>
        <p:nvSpPr>
          <p:cNvPr id="26" name="Shape 24"/>
          <p:cNvSpPr/>
          <p:nvPr/>
        </p:nvSpPr>
        <p:spPr>
          <a:xfrm>
            <a:off x="9416796" y="4677156"/>
            <a:ext cx="64008" cy="64008"/>
          </a:xfrm>
          <a:prstGeom prst="ellipse">
            <a:avLst/>
          </a:prstGeom>
          <a:solidFill>
            <a:srgbClr val="E07A2F"/>
          </a:solidFill>
          <a:ln w="12700">
            <a:solidFill>
              <a:srgbClr val="333333"/>
            </a:solidFill>
            <a:prstDash val="solid"/>
          </a:ln>
        </p:spPr>
      </p:sp>
      <p:sp>
        <p:nvSpPr>
          <p:cNvPr id="27" name="Shape 25"/>
          <p:cNvSpPr/>
          <p:nvPr/>
        </p:nvSpPr>
        <p:spPr>
          <a:xfrm>
            <a:off x="9569196" y="4677156"/>
            <a:ext cx="64008" cy="64008"/>
          </a:xfrm>
          <a:prstGeom prst="ellipse">
            <a:avLst/>
          </a:prstGeom>
          <a:solidFill>
            <a:srgbClr val="E07A2F"/>
          </a:solidFill>
          <a:ln w="12700">
            <a:solidFill>
              <a:srgbClr val="333333"/>
            </a:solidFill>
            <a:prstDash val="solid"/>
          </a:ln>
        </p:spPr>
      </p:sp>
      <p:sp>
        <p:nvSpPr>
          <p:cNvPr id="28" name="Shape 26"/>
          <p:cNvSpPr/>
          <p:nvPr/>
        </p:nvSpPr>
        <p:spPr>
          <a:xfrm>
            <a:off x="9721596" y="4677156"/>
            <a:ext cx="64008" cy="64008"/>
          </a:xfrm>
          <a:prstGeom prst="ellipse">
            <a:avLst/>
          </a:prstGeom>
          <a:solidFill>
            <a:srgbClr val="E07A2F"/>
          </a:solidFill>
          <a:ln w="12700">
            <a:solidFill>
              <a:srgbClr val="333333"/>
            </a:solidFill>
            <a:prstDash val="solid"/>
          </a:ln>
        </p:spPr>
      </p:sp>
      <p:sp>
        <p:nvSpPr>
          <p:cNvPr id="29" name="Shape 27"/>
          <p:cNvSpPr/>
          <p:nvPr/>
        </p:nvSpPr>
        <p:spPr>
          <a:xfrm>
            <a:off x="9873996" y="4677156"/>
            <a:ext cx="64008" cy="64008"/>
          </a:xfrm>
          <a:prstGeom prst="ellipse">
            <a:avLst/>
          </a:prstGeom>
          <a:solidFill>
            <a:srgbClr val="E07A2F"/>
          </a:solidFill>
          <a:ln w="12700">
            <a:solidFill>
              <a:srgbClr val="333333"/>
            </a:solidFill>
            <a:prstDash val="solid"/>
          </a:ln>
        </p:spPr>
      </p:sp>
      <p:sp>
        <p:nvSpPr>
          <p:cNvPr id="30" name="Shape 28"/>
          <p:cNvSpPr/>
          <p:nvPr/>
        </p:nvSpPr>
        <p:spPr>
          <a:xfrm>
            <a:off x="10026396" y="4677156"/>
            <a:ext cx="64008" cy="64008"/>
          </a:xfrm>
          <a:prstGeom prst="ellipse">
            <a:avLst/>
          </a:prstGeom>
          <a:solidFill>
            <a:srgbClr val="E07A2F"/>
          </a:solidFill>
          <a:ln w="12700">
            <a:solidFill>
              <a:srgbClr val="333333"/>
            </a:solidFill>
            <a:prstDash val="solid"/>
          </a:ln>
        </p:spPr>
      </p:sp>
      <p:sp>
        <p:nvSpPr>
          <p:cNvPr id="31" name="Shape 29"/>
          <p:cNvSpPr/>
          <p:nvPr/>
        </p:nvSpPr>
        <p:spPr>
          <a:xfrm>
            <a:off x="10178796" y="4677156"/>
            <a:ext cx="64008" cy="64008"/>
          </a:xfrm>
          <a:prstGeom prst="ellipse">
            <a:avLst/>
          </a:prstGeom>
          <a:solidFill>
            <a:srgbClr val="E07A2F"/>
          </a:solidFill>
          <a:ln w="12700">
            <a:solidFill>
              <a:srgbClr val="333333"/>
            </a:solidFill>
            <a:prstDash val="solid"/>
          </a:ln>
        </p:spPr>
      </p:sp>
      <p:sp>
        <p:nvSpPr>
          <p:cNvPr id="32" name="Shape 30"/>
          <p:cNvSpPr/>
          <p:nvPr/>
        </p:nvSpPr>
        <p:spPr>
          <a:xfrm>
            <a:off x="10331196" y="4677156"/>
            <a:ext cx="64008" cy="64008"/>
          </a:xfrm>
          <a:prstGeom prst="ellipse">
            <a:avLst/>
          </a:prstGeom>
          <a:solidFill>
            <a:srgbClr val="E07A2F"/>
          </a:solidFill>
          <a:ln w="12700">
            <a:solidFill>
              <a:srgbClr val="333333"/>
            </a:solidFill>
            <a:prstDash val="solid"/>
          </a:ln>
        </p:spPr>
      </p:sp>
      <p:sp>
        <p:nvSpPr>
          <p:cNvPr id="33" name="Shape 31"/>
          <p:cNvSpPr/>
          <p:nvPr/>
        </p:nvSpPr>
        <p:spPr>
          <a:xfrm>
            <a:off x="10483596" y="4677156"/>
            <a:ext cx="64008" cy="64008"/>
          </a:xfrm>
          <a:prstGeom prst="ellipse">
            <a:avLst/>
          </a:prstGeom>
          <a:solidFill>
            <a:srgbClr val="E07A2F"/>
          </a:solidFill>
          <a:ln w="12700">
            <a:solidFill>
              <a:srgbClr val="333333"/>
            </a:solidFill>
            <a:prstDash val="solid"/>
          </a:ln>
        </p:spPr>
      </p:sp>
      <p:sp>
        <p:nvSpPr>
          <p:cNvPr id="34" name="Shape 32"/>
          <p:cNvSpPr/>
          <p:nvPr/>
        </p:nvSpPr>
        <p:spPr>
          <a:xfrm>
            <a:off x="10635996" y="4677156"/>
            <a:ext cx="64008" cy="64008"/>
          </a:xfrm>
          <a:prstGeom prst="ellipse">
            <a:avLst/>
          </a:prstGeom>
          <a:solidFill>
            <a:srgbClr val="E07A2F"/>
          </a:solidFill>
          <a:ln w="12700">
            <a:solidFill>
              <a:srgbClr val="3333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How to read the stencil diagrams</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Every model slide uses the same three-panel convention</a:t>
            </a:r>
            <a:endParaRPr lang="en-US" sz="1400" dirty="0"/>
          </a:p>
        </p:txBody>
      </p:sp>
      <p:sp>
        <p:nvSpPr>
          <p:cNvPr id="4" name="Text 2"/>
          <p:cNvSpPr txBox="1"/>
          <p:nvPr/>
        </p:nvSpPr>
        <p:spPr>
          <a:xfrm>
            <a:off x="82296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5" name="Text 3"/>
          <p:cNvSpPr txBox="1"/>
          <p:nvPr/>
        </p:nvSpPr>
        <p:spPr>
          <a:xfrm>
            <a:off x="82296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6" name="Shape 4"/>
          <p:cNvSpPr/>
          <p:nvPr/>
        </p:nvSpPr>
        <p:spPr>
          <a:xfrm>
            <a:off x="969264" y="2139696"/>
            <a:ext cx="2377440" cy="2377440"/>
          </a:xfrm>
          <a:prstGeom prst="rect">
            <a:avLst/>
          </a:prstGeom>
          <a:solidFill>
            <a:srgbClr val="EEF3F8"/>
          </a:solidFill>
          <a:ln w="9525">
            <a:solidFill>
              <a:srgbClr val="B8C4D3"/>
            </a:solidFill>
            <a:prstDash val="solid"/>
          </a:ln>
        </p:spPr>
      </p:sp>
      <p:sp>
        <p:nvSpPr>
          <p:cNvPr id="7" name="Shape 5"/>
          <p:cNvSpPr/>
          <p:nvPr/>
        </p:nvSpPr>
        <p:spPr>
          <a:xfrm>
            <a:off x="896112" y="2212848"/>
            <a:ext cx="2377440" cy="2377440"/>
          </a:xfrm>
          <a:prstGeom prst="rect">
            <a:avLst/>
          </a:prstGeom>
          <a:solidFill>
            <a:srgbClr val="EEF3F8"/>
          </a:solidFill>
          <a:ln w="9525">
            <a:solidFill>
              <a:srgbClr val="B8C4D3"/>
            </a:solidFill>
            <a:prstDash val="solid"/>
          </a:ln>
        </p:spPr>
      </p:sp>
      <p:sp>
        <p:nvSpPr>
          <p:cNvPr id="8" name="Shape 6"/>
          <p:cNvSpPr/>
          <p:nvPr/>
        </p:nvSpPr>
        <p:spPr>
          <a:xfrm>
            <a:off x="822960" y="2286000"/>
            <a:ext cx="2377440" cy="2377440"/>
          </a:xfrm>
          <a:prstGeom prst="rect">
            <a:avLst/>
          </a:prstGeom>
          <a:solidFill>
            <a:srgbClr val="FFFFFF"/>
          </a:solidFill>
          <a:ln w="9525">
            <a:solidFill>
              <a:srgbClr val="B8C4D3"/>
            </a:solidFill>
            <a:prstDash val="solid"/>
          </a:ln>
        </p:spPr>
      </p:sp>
      <p:sp>
        <p:nvSpPr>
          <p:cNvPr id="9" name="Shape 7"/>
          <p:cNvSpPr/>
          <p:nvPr/>
        </p:nvSpPr>
        <p:spPr>
          <a:xfrm>
            <a:off x="992777" y="2286000"/>
            <a:ext cx="0" cy="2377440"/>
          </a:xfrm>
          <a:prstGeom prst="line">
            <a:avLst/>
          </a:prstGeom>
          <a:noFill/>
          <a:ln w="7620">
            <a:solidFill>
              <a:srgbClr val="B8C4D3"/>
            </a:solidFill>
            <a:prstDash val="solid"/>
          </a:ln>
        </p:spPr>
      </p:sp>
      <p:sp>
        <p:nvSpPr>
          <p:cNvPr id="10" name="Shape 8"/>
          <p:cNvSpPr/>
          <p:nvPr/>
        </p:nvSpPr>
        <p:spPr>
          <a:xfrm>
            <a:off x="822960" y="2455817"/>
            <a:ext cx="2377440" cy="0"/>
          </a:xfrm>
          <a:prstGeom prst="line">
            <a:avLst/>
          </a:prstGeom>
          <a:noFill/>
          <a:ln w="7620">
            <a:solidFill>
              <a:srgbClr val="B8C4D3"/>
            </a:solidFill>
            <a:prstDash val="solid"/>
          </a:ln>
        </p:spPr>
      </p:sp>
      <p:sp>
        <p:nvSpPr>
          <p:cNvPr id="11" name="Shape 9"/>
          <p:cNvSpPr/>
          <p:nvPr/>
        </p:nvSpPr>
        <p:spPr>
          <a:xfrm>
            <a:off x="1162594" y="2286000"/>
            <a:ext cx="0" cy="2377440"/>
          </a:xfrm>
          <a:prstGeom prst="line">
            <a:avLst/>
          </a:prstGeom>
          <a:noFill/>
          <a:ln w="7620">
            <a:solidFill>
              <a:srgbClr val="B8C4D3"/>
            </a:solidFill>
            <a:prstDash val="solid"/>
          </a:ln>
        </p:spPr>
      </p:sp>
      <p:sp>
        <p:nvSpPr>
          <p:cNvPr id="12" name="Shape 10"/>
          <p:cNvSpPr/>
          <p:nvPr/>
        </p:nvSpPr>
        <p:spPr>
          <a:xfrm>
            <a:off x="822960" y="2625634"/>
            <a:ext cx="2377440" cy="0"/>
          </a:xfrm>
          <a:prstGeom prst="line">
            <a:avLst/>
          </a:prstGeom>
          <a:noFill/>
          <a:ln w="7620">
            <a:solidFill>
              <a:srgbClr val="B8C4D3"/>
            </a:solidFill>
            <a:prstDash val="solid"/>
          </a:ln>
        </p:spPr>
      </p:sp>
      <p:sp>
        <p:nvSpPr>
          <p:cNvPr id="13" name="Shape 11"/>
          <p:cNvSpPr/>
          <p:nvPr/>
        </p:nvSpPr>
        <p:spPr>
          <a:xfrm>
            <a:off x="1332411" y="2286000"/>
            <a:ext cx="0" cy="2377440"/>
          </a:xfrm>
          <a:prstGeom prst="line">
            <a:avLst/>
          </a:prstGeom>
          <a:noFill/>
          <a:ln w="7620">
            <a:solidFill>
              <a:srgbClr val="B8C4D3"/>
            </a:solidFill>
            <a:prstDash val="solid"/>
          </a:ln>
        </p:spPr>
      </p:sp>
      <p:sp>
        <p:nvSpPr>
          <p:cNvPr id="14" name="Shape 12"/>
          <p:cNvSpPr/>
          <p:nvPr/>
        </p:nvSpPr>
        <p:spPr>
          <a:xfrm>
            <a:off x="822960" y="2795451"/>
            <a:ext cx="2377440" cy="0"/>
          </a:xfrm>
          <a:prstGeom prst="line">
            <a:avLst/>
          </a:prstGeom>
          <a:noFill/>
          <a:ln w="7620">
            <a:solidFill>
              <a:srgbClr val="B8C4D3"/>
            </a:solidFill>
            <a:prstDash val="solid"/>
          </a:ln>
        </p:spPr>
      </p:sp>
      <p:sp>
        <p:nvSpPr>
          <p:cNvPr id="15" name="Shape 13"/>
          <p:cNvSpPr/>
          <p:nvPr/>
        </p:nvSpPr>
        <p:spPr>
          <a:xfrm>
            <a:off x="1502229" y="2286000"/>
            <a:ext cx="0" cy="2377440"/>
          </a:xfrm>
          <a:prstGeom prst="line">
            <a:avLst/>
          </a:prstGeom>
          <a:noFill/>
          <a:ln w="7620">
            <a:solidFill>
              <a:srgbClr val="B8C4D3"/>
            </a:solidFill>
            <a:prstDash val="solid"/>
          </a:ln>
        </p:spPr>
      </p:sp>
      <p:sp>
        <p:nvSpPr>
          <p:cNvPr id="16" name="Shape 14"/>
          <p:cNvSpPr/>
          <p:nvPr/>
        </p:nvSpPr>
        <p:spPr>
          <a:xfrm>
            <a:off x="822960" y="2965269"/>
            <a:ext cx="2377440" cy="0"/>
          </a:xfrm>
          <a:prstGeom prst="line">
            <a:avLst/>
          </a:prstGeom>
          <a:noFill/>
          <a:ln w="7620">
            <a:solidFill>
              <a:srgbClr val="B8C4D3"/>
            </a:solidFill>
            <a:prstDash val="solid"/>
          </a:ln>
        </p:spPr>
      </p:sp>
      <p:sp>
        <p:nvSpPr>
          <p:cNvPr id="17" name="Shape 15"/>
          <p:cNvSpPr/>
          <p:nvPr/>
        </p:nvSpPr>
        <p:spPr>
          <a:xfrm>
            <a:off x="1672046" y="2286000"/>
            <a:ext cx="0" cy="2377440"/>
          </a:xfrm>
          <a:prstGeom prst="line">
            <a:avLst/>
          </a:prstGeom>
          <a:noFill/>
          <a:ln w="7620">
            <a:solidFill>
              <a:srgbClr val="B8C4D3"/>
            </a:solidFill>
            <a:prstDash val="solid"/>
          </a:ln>
        </p:spPr>
      </p:sp>
      <p:sp>
        <p:nvSpPr>
          <p:cNvPr id="18" name="Shape 16"/>
          <p:cNvSpPr/>
          <p:nvPr/>
        </p:nvSpPr>
        <p:spPr>
          <a:xfrm>
            <a:off x="822960" y="3135086"/>
            <a:ext cx="2377440" cy="0"/>
          </a:xfrm>
          <a:prstGeom prst="line">
            <a:avLst/>
          </a:prstGeom>
          <a:noFill/>
          <a:ln w="7620">
            <a:solidFill>
              <a:srgbClr val="B8C4D3"/>
            </a:solidFill>
            <a:prstDash val="solid"/>
          </a:ln>
        </p:spPr>
      </p:sp>
      <p:sp>
        <p:nvSpPr>
          <p:cNvPr id="19" name="Shape 17"/>
          <p:cNvSpPr/>
          <p:nvPr/>
        </p:nvSpPr>
        <p:spPr>
          <a:xfrm>
            <a:off x="1841863" y="2286000"/>
            <a:ext cx="0" cy="2377440"/>
          </a:xfrm>
          <a:prstGeom prst="line">
            <a:avLst/>
          </a:prstGeom>
          <a:noFill/>
          <a:ln w="7620">
            <a:solidFill>
              <a:srgbClr val="B8C4D3"/>
            </a:solidFill>
            <a:prstDash val="solid"/>
          </a:ln>
        </p:spPr>
      </p:sp>
      <p:sp>
        <p:nvSpPr>
          <p:cNvPr id="20" name="Shape 18"/>
          <p:cNvSpPr/>
          <p:nvPr/>
        </p:nvSpPr>
        <p:spPr>
          <a:xfrm>
            <a:off x="822960" y="3304903"/>
            <a:ext cx="2377440" cy="0"/>
          </a:xfrm>
          <a:prstGeom prst="line">
            <a:avLst/>
          </a:prstGeom>
          <a:noFill/>
          <a:ln w="7620">
            <a:solidFill>
              <a:srgbClr val="B8C4D3"/>
            </a:solidFill>
            <a:prstDash val="solid"/>
          </a:ln>
        </p:spPr>
      </p:sp>
      <p:sp>
        <p:nvSpPr>
          <p:cNvPr id="21" name="Shape 19"/>
          <p:cNvSpPr/>
          <p:nvPr/>
        </p:nvSpPr>
        <p:spPr>
          <a:xfrm>
            <a:off x="2011680" y="2286000"/>
            <a:ext cx="0" cy="2377440"/>
          </a:xfrm>
          <a:prstGeom prst="line">
            <a:avLst/>
          </a:prstGeom>
          <a:noFill/>
          <a:ln w="7620">
            <a:solidFill>
              <a:srgbClr val="B8C4D3"/>
            </a:solidFill>
            <a:prstDash val="solid"/>
          </a:ln>
        </p:spPr>
      </p:sp>
      <p:sp>
        <p:nvSpPr>
          <p:cNvPr id="22" name="Shape 20"/>
          <p:cNvSpPr/>
          <p:nvPr/>
        </p:nvSpPr>
        <p:spPr>
          <a:xfrm>
            <a:off x="822960" y="3474720"/>
            <a:ext cx="2377440" cy="0"/>
          </a:xfrm>
          <a:prstGeom prst="line">
            <a:avLst/>
          </a:prstGeom>
          <a:noFill/>
          <a:ln w="7620">
            <a:solidFill>
              <a:srgbClr val="B8C4D3"/>
            </a:solidFill>
            <a:prstDash val="solid"/>
          </a:ln>
        </p:spPr>
      </p:sp>
      <p:sp>
        <p:nvSpPr>
          <p:cNvPr id="23" name="Shape 21"/>
          <p:cNvSpPr/>
          <p:nvPr/>
        </p:nvSpPr>
        <p:spPr>
          <a:xfrm>
            <a:off x="2181497" y="2286000"/>
            <a:ext cx="0" cy="2377440"/>
          </a:xfrm>
          <a:prstGeom prst="line">
            <a:avLst/>
          </a:prstGeom>
          <a:noFill/>
          <a:ln w="7620">
            <a:solidFill>
              <a:srgbClr val="B8C4D3"/>
            </a:solidFill>
            <a:prstDash val="solid"/>
          </a:ln>
        </p:spPr>
      </p:sp>
      <p:sp>
        <p:nvSpPr>
          <p:cNvPr id="24" name="Shape 22"/>
          <p:cNvSpPr/>
          <p:nvPr/>
        </p:nvSpPr>
        <p:spPr>
          <a:xfrm>
            <a:off x="822960" y="3644537"/>
            <a:ext cx="2377440" cy="0"/>
          </a:xfrm>
          <a:prstGeom prst="line">
            <a:avLst/>
          </a:prstGeom>
          <a:noFill/>
          <a:ln w="7620">
            <a:solidFill>
              <a:srgbClr val="B8C4D3"/>
            </a:solidFill>
            <a:prstDash val="solid"/>
          </a:ln>
        </p:spPr>
      </p:sp>
      <p:sp>
        <p:nvSpPr>
          <p:cNvPr id="25" name="Shape 23"/>
          <p:cNvSpPr/>
          <p:nvPr/>
        </p:nvSpPr>
        <p:spPr>
          <a:xfrm>
            <a:off x="2351314" y="2286000"/>
            <a:ext cx="0" cy="2377440"/>
          </a:xfrm>
          <a:prstGeom prst="line">
            <a:avLst/>
          </a:prstGeom>
          <a:noFill/>
          <a:ln w="7620">
            <a:solidFill>
              <a:srgbClr val="B8C4D3"/>
            </a:solidFill>
            <a:prstDash val="solid"/>
          </a:ln>
        </p:spPr>
      </p:sp>
      <p:sp>
        <p:nvSpPr>
          <p:cNvPr id="26" name="Shape 24"/>
          <p:cNvSpPr/>
          <p:nvPr/>
        </p:nvSpPr>
        <p:spPr>
          <a:xfrm>
            <a:off x="822960" y="3814354"/>
            <a:ext cx="2377440" cy="0"/>
          </a:xfrm>
          <a:prstGeom prst="line">
            <a:avLst/>
          </a:prstGeom>
          <a:noFill/>
          <a:ln w="7620">
            <a:solidFill>
              <a:srgbClr val="B8C4D3"/>
            </a:solidFill>
            <a:prstDash val="solid"/>
          </a:ln>
        </p:spPr>
      </p:sp>
      <p:sp>
        <p:nvSpPr>
          <p:cNvPr id="27" name="Shape 25"/>
          <p:cNvSpPr/>
          <p:nvPr/>
        </p:nvSpPr>
        <p:spPr>
          <a:xfrm>
            <a:off x="2521131" y="2286000"/>
            <a:ext cx="0" cy="2377440"/>
          </a:xfrm>
          <a:prstGeom prst="line">
            <a:avLst/>
          </a:prstGeom>
          <a:noFill/>
          <a:ln w="7620">
            <a:solidFill>
              <a:srgbClr val="B8C4D3"/>
            </a:solidFill>
            <a:prstDash val="solid"/>
          </a:ln>
        </p:spPr>
      </p:sp>
      <p:sp>
        <p:nvSpPr>
          <p:cNvPr id="28" name="Shape 26"/>
          <p:cNvSpPr/>
          <p:nvPr/>
        </p:nvSpPr>
        <p:spPr>
          <a:xfrm>
            <a:off x="822960" y="3984171"/>
            <a:ext cx="2377440" cy="0"/>
          </a:xfrm>
          <a:prstGeom prst="line">
            <a:avLst/>
          </a:prstGeom>
          <a:noFill/>
          <a:ln w="7620">
            <a:solidFill>
              <a:srgbClr val="B8C4D3"/>
            </a:solidFill>
            <a:prstDash val="solid"/>
          </a:ln>
        </p:spPr>
      </p:sp>
      <p:sp>
        <p:nvSpPr>
          <p:cNvPr id="29" name="Shape 27"/>
          <p:cNvSpPr/>
          <p:nvPr/>
        </p:nvSpPr>
        <p:spPr>
          <a:xfrm>
            <a:off x="2690949" y="2286000"/>
            <a:ext cx="0" cy="2377440"/>
          </a:xfrm>
          <a:prstGeom prst="line">
            <a:avLst/>
          </a:prstGeom>
          <a:noFill/>
          <a:ln w="7620">
            <a:solidFill>
              <a:srgbClr val="B8C4D3"/>
            </a:solidFill>
            <a:prstDash val="solid"/>
          </a:ln>
        </p:spPr>
      </p:sp>
      <p:sp>
        <p:nvSpPr>
          <p:cNvPr id="30" name="Shape 28"/>
          <p:cNvSpPr/>
          <p:nvPr/>
        </p:nvSpPr>
        <p:spPr>
          <a:xfrm>
            <a:off x="822960" y="4153989"/>
            <a:ext cx="2377440" cy="0"/>
          </a:xfrm>
          <a:prstGeom prst="line">
            <a:avLst/>
          </a:prstGeom>
          <a:noFill/>
          <a:ln w="7620">
            <a:solidFill>
              <a:srgbClr val="B8C4D3"/>
            </a:solidFill>
            <a:prstDash val="solid"/>
          </a:ln>
        </p:spPr>
      </p:sp>
      <p:sp>
        <p:nvSpPr>
          <p:cNvPr id="31" name="Shape 29"/>
          <p:cNvSpPr/>
          <p:nvPr/>
        </p:nvSpPr>
        <p:spPr>
          <a:xfrm>
            <a:off x="2860766" y="2286000"/>
            <a:ext cx="0" cy="2377440"/>
          </a:xfrm>
          <a:prstGeom prst="line">
            <a:avLst/>
          </a:prstGeom>
          <a:noFill/>
          <a:ln w="7620">
            <a:solidFill>
              <a:srgbClr val="B8C4D3"/>
            </a:solidFill>
            <a:prstDash val="solid"/>
          </a:ln>
        </p:spPr>
      </p:sp>
      <p:sp>
        <p:nvSpPr>
          <p:cNvPr id="32" name="Shape 30"/>
          <p:cNvSpPr/>
          <p:nvPr/>
        </p:nvSpPr>
        <p:spPr>
          <a:xfrm>
            <a:off x="822960" y="4323806"/>
            <a:ext cx="2377440" cy="0"/>
          </a:xfrm>
          <a:prstGeom prst="line">
            <a:avLst/>
          </a:prstGeom>
          <a:noFill/>
          <a:ln w="7620">
            <a:solidFill>
              <a:srgbClr val="B8C4D3"/>
            </a:solidFill>
            <a:prstDash val="solid"/>
          </a:ln>
        </p:spPr>
      </p:sp>
      <p:sp>
        <p:nvSpPr>
          <p:cNvPr id="33" name="Shape 31"/>
          <p:cNvSpPr/>
          <p:nvPr/>
        </p:nvSpPr>
        <p:spPr>
          <a:xfrm>
            <a:off x="3030583" y="2286000"/>
            <a:ext cx="0" cy="2377440"/>
          </a:xfrm>
          <a:prstGeom prst="line">
            <a:avLst/>
          </a:prstGeom>
          <a:noFill/>
          <a:ln w="7620">
            <a:solidFill>
              <a:srgbClr val="B8C4D3"/>
            </a:solidFill>
            <a:prstDash val="solid"/>
          </a:ln>
        </p:spPr>
      </p:sp>
      <p:sp>
        <p:nvSpPr>
          <p:cNvPr id="34" name="Shape 32"/>
          <p:cNvSpPr/>
          <p:nvPr/>
        </p:nvSpPr>
        <p:spPr>
          <a:xfrm>
            <a:off x="822960" y="4493623"/>
            <a:ext cx="2377440" cy="0"/>
          </a:xfrm>
          <a:prstGeom prst="line">
            <a:avLst/>
          </a:prstGeom>
          <a:noFill/>
          <a:ln w="7620">
            <a:solidFill>
              <a:srgbClr val="B8C4D3"/>
            </a:solidFill>
            <a:prstDash val="solid"/>
          </a:ln>
        </p:spPr>
      </p:sp>
      <p:sp>
        <p:nvSpPr>
          <p:cNvPr id="35" name="Shape 33"/>
          <p:cNvSpPr/>
          <p:nvPr/>
        </p:nvSpPr>
        <p:spPr>
          <a:xfrm>
            <a:off x="822960" y="2286000"/>
            <a:ext cx="2377440" cy="2377440"/>
          </a:xfrm>
          <a:prstGeom prst="rect">
            <a:avLst/>
          </a:prstGeom>
          <a:ln w="28575">
            <a:solidFill>
              <a:srgbClr val="2E86AB"/>
            </a:solidFill>
            <a:prstDash val="solid"/>
          </a:ln>
        </p:spPr>
      </p:sp>
      <p:sp>
        <p:nvSpPr>
          <p:cNvPr id="36" name="Shape 34"/>
          <p:cNvSpPr/>
          <p:nvPr/>
        </p:nvSpPr>
        <p:spPr>
          <a:xfrm>
            <a:off x="1672046" y="3135086"/>
            <a:ext cx="509451" cy="509451"/>
          </a:xfrm>
          <a:prstGeom prst="rect">
            <a:avLst/>
          </a:prstGeom>
          <a:solidFill>
            <a:srgbClr val="2E86AB">
              <a:alpha val="75000"/>
            </a:srgbClr>
          </a:solidFill>
          <a:ln w="15875">
            <a:solidFill>
              <a:srgbClr val="2E86AB"/>
            </a:solidFill>
            <a:prstDash val="solid"/>
          </a:ln>
        </p:spPr>
      </p:sp>
      <p:sp>
        <p:nvSpPr>
          <p:cNvPr id="37" name="Shape 35"/>
          <p:cNvSpPr/>
          <p:nvPr/>
        </p:nvSpPr>
        <p:spPr>
          <a:xfrm>
            <a:off x="1841863" y="3304903"/>
            <a:ext cx="169817" cy="169817"/>
          </a:xfrm>
          <a:prstGeom prst="rect">
            <a:avLst/>
          </a:prstGeom>
          <a:solidFill>
            <a:srgbClr val="F2C14E"/>
          </a:solidFill>
          <a:ln w="12700">
            <a:solidFill>
              <a:srgbClr val="B58900"/>
            </a:solidFill>
            <a:prstDash val="solid"/>
          </a:ln>
        </p:spPr>
      </p:sp>
      <p:sp>
        <p:nvSpPr>
          <p:cNvPr id="38" name="Text 36"/>
          <p:cNvSpPr txBox="1"/>
          <p:nvPr/>
        </p:nvSpPr>
        <p:spPr>
          <a:xfrm>
            <a:off x="82296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Grid = input tile the encoder sees at once (blue outline).</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Blue square = one token / receptive field. Yellow = the output pixel.</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Stacked sheets = co-registered modalities / channels.</a:t>
            </a:r>
            <a:endParaRPr lang="en-US" sz="950" dirty="0"/>
          </a:p>
        </p:txBody>
      </p:sp>
      <p:sp>
        <p:nvSpPr>
          <p:cNvPr id="39" name="Text 37"/>
          <p:cNvSpPr txBox="1"/>
          <p:nvPr/>
        </p:nvSpPr>
        <p:spPr>
          <a:xfrm>
            <a:off x="365760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40" name="Shape 38"/>
          <p:cNvSpPr/>
          <p:nvPr/>
        </p:nvSpPr>
        <p:spPr>
          <a:xfrm>
            <a:off x="3993642" y="2423160"/>
            <a:ext cx="1568196" cy="1446581"/>
          </a:xfrm>
          <a:prstGeom prst="rect">
            <a:avLst/>
          </a:prstGeom>
          <a:solidFill>
            <a:srgbClr val="E07A2F">
              <a:alpha val="18000"/>
            </a:srgbClr>
          </a:solidFill>
          <a:ln w="12700">
            <a:solidFill>
              <a:srgbClr val="E07A2F"/>
            </a:solidFill>
            <a:prstDash val="solid"/>
          </a:ln>
        </p:spPr>
      </p:sp>
      <p:sp>
        <p:nvSpPr>
          <p:cNvPr id="41" name="Text 39"/>
          <p:cNvSpPr txBox="1"/>
          <p:nvPr/>
        </p:nvSpPr>
        <p:spPr>
          <a:xfrm>
            <a:off x="3765042" y="2176272"/>
            <a:ext cx="2025396" cy="237744"/>
          </a:xfrm>
          <a:prstGeom prst="rect">
            <a:avLst/>
          </a:prstGeom>
          <a:noFill/>
          <a:ln/>
        </p:spPr>
        <p:txBody>
          <a:bodyPr wrap="square" lIns="0" tIns="0" rIns="0" bIns="0" rtlCol="0" anchor="b"/>
          <a:lstStyle/>
          <a:p>
            <a:pPr algn="ctr" indent="0" marL="0">
              <a:buNone/>
            </a:pPr>
            <a:r>
              <a:rPr lang="en-US" sz="750" b="1" dirty="0">
                <a:solidFill>
                  <a:srgbClr val="E07A2F"/>
                </a:solidFill>
                <a:latin typeface="Calibri" pitchFamily="34" charset="0"/>
                <a:ea typeface="Calibri" pitchFamily="34" charset="-122"/>
                <a:cs typeface="Calibri" pitchFamily="34" charset="-120"/>
              </a:rPr>
              <a:t>temporal window</a:t>
            </a:r>
            <a:endParaRPr lang="en-US" sz="750" dirty="0"/>
          </a:p>
        </p:txBody>
      </p:sp>
      <p:sp>
        <p:nvSpPr>
          <p:cNvPr id="42" name="Shape 40"/>
          <p:cNvSpPr/>
          <p:nvPr/>
        </p:nvSpPr>
        <p:spPr>
          <a:xfrm>
            <a:off x="3657600" y="3760013"/>
            <a:ext cx="2240280" cy="0"/>
          </a:xfrm>
          <a:prstGeom prst="line">
            <a:avLst/>
          </a:prstGeom>
          <a:noFill/>
          <a:ln w="12700">
            <a:solidFill>
              <a:srgbClr val="1B2430"/>
            </a:solidFill>
            <a:prstDash val="solid"/>
            <a:tailEnd type="triangle"/>
          </a:ln>
        </p:spPr>
      </p:sp>
      <p:sp>
        <p:nvSpPr>
          <p:cNvPr id="43" name="Text 41"/>
          <p:cNvSpPr txBox="1"/>
          <p:nvPr/>
        </p:nvSpPr>
        <p:spPr>
          <a:xfrm>
            <a:off x="365760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44" name="Shape 42"/>
          <p:cNvSpPr/>
          <p:nvPr/>
        </p:nvSpPr>
        <p:spPr>
          <a:xfrm>
            <a:off x="3750945" y="3723437"/>
            <a:ext cx="0" cy="73152"/>
          </a:xfrm>
          <a:prstGeom prst="line">
            <a:avLst/>
          </a:prstGeom>
          <a:noFill/>
          <a:ln w="9525">
            <a:solidFill>
              <a:srgbClr val="1B2430"/>
            </a:solidFill>
            <a:prstDash val="solid"/>
          </a:ln>
        </p:spPr>
      </p:sp>
      <p:sp>
        <p:nvSpPr>
          <p:cNvPr id="45" name="Shape 43"/>
          <p:cNvSpPr/>
          <p:nvPr/>
        </p:nvSpPr>
        <p:spPr>
          <a:xfrm>
            <a:off x="3937635" y="3723437"/>
            <a:ext cx="0" cy="73152"/>
          </a:xfrm>
          <a:prstGeom prst="line">
            <a:avLst/>
          </a:prstGeom>
          <a:noFill/>
          <a:ln w="9525">
            <a:solidFill>
              <a:srgbClr val="1B2430"/>
            </a:solidFill>
            <a:prstDash val="solid"/>
          </a:ln>
        </p:spPr>
      </p:sp>
      <p:sp>
        <p:nvSpPr>
          <p:cNvPr id="46" name="Shape 44"/>
          <p:cNvSpPr/>
          <p:nvPr/>
        </p:nvSpPr>
        <p:spPr>
          <a:xfrm>
            <a:off x="4124325" y="3723437"/>
            <a:ext cx="0" cy="73152"/>
          </a:xfrm>
          <a:prstGeom prst="line">
            <a:avLst/>
          </a:prstGeom>
          <a:noFill/>
          <a:ln w="9525">
            <a:solidFill>
              <a:srgbClr val="1B2430"/>
            </a:solidFill>
            <a:prstDash val="solid"/>
          </a:ln>
        </p:spPr>
      </p:sp>
      <p:sp>
        <p:nvSpPr>
          <p:cNvPr id="47" name="Shape 45"/>
          <p:cNvSpPr/>
          <p:nvPr/>
        </p:nvSpPr>
        <p:spPr>
          <a:xfrm>
            <a:off x="4311015" y="3723437"/>
            <a:ext cx="0" cy="73152"/>
          </a:xfrm>
          <a:prstGeom prst="line">
            <a:avLst/>
          </a:prstGeom>
          <a:noFill/>
          <a:ln w="9525">
            <a:solidFill>
              <a:srgbClr val="1B2430"/>
            </a:solidFill>
            <a:prstDash val="solid"/>
          </a:ln>
        </p:spPr>
      </p:sp>
      <p:sp>
        <p:nvSpPr>
          <p:cNvPr id="48" name="Shape 46"/>
          <p:cNvSpPr/>
          <p:nvPr/>
        </p:nvSpPr>
        <p:spPr>
          <a:xfrm>
            <a:off x="4497705" y="3723437"/>
            <a:ext cx="0" cy="73152"/>
          </a:xfrm>
          <a:prstGeom prst="line">
            <a:avLst/>
          </a:prstGeom>
          <a:noFill/>
          <a:ln w="9525">
            <a:solidFill>
              <a:srgbClr val="1B2430"/>
            </a:solidFill>
            <a:prstDash val="solid"/>
          </a:ln>
        </p:spPr>
      </p:sp>
      <p:sp>
        <p:nvSpPr>
          <p:cNvPr id="49" name="Shape 47"/>
          <p:cNvSpPr/>
          <p:nvPr/>
        </p:nvSpPr>
        <p:spPr>
          <a:xfrm>
            <a:off x="4684395" y="3723437"/>
            <a:ext cx="0" cy="73152"/>
          </a:xfrm>
          <a:prstGeom prst="line">
            <a:avLst/>
          </a:prstGeom>
          <a:noFill/>
          <a:ln w="9525">
            <a:solidFill>
              <a:srgbClr val="1B2430"/>
            </a:solidFill>
            <a:prstDash val="solid"/>
          </a:ln>
        </p:spPr>
      </p:sp>
      <p:sp>
        <p:nvSpPr>
          <p:cNvPr id="50" name="Shape 48"/>
          <p:cNvSpPr/>
          <p:nvPr/>
        </p:nvSpPr>
        <p:spPr>
          <a:xfrm>
            <a:off x="4871085" y="3723437"/>
            <a:ext cx="0" cy="73152"/>
          </a:xfrm>
          <a:prstGeom prst="line">
            <a:avLst/>
          </a:prstGeom>
          <a:noFill/>
          <a:ln w="9525">
            <a:solidFill>
              <a:srgbClr val="1B2430"/>
            </a:solidFill>
            <a:prstDash val="solid"/>
          </a:ln>
        </p:spPr>
      </p:sp>
      <p:sp>
        <p:nvSpPr>
          <p:cNvPr id="51" name="Shape 49"/>
          <p:cNvSpPr/>
          <p:nvPr/>
        </p:nvSpPr>
        <p:spPr>
          <a:xfrm>
            <a:off x="5057775" y="3723437"/>
            <a:ext cx="0" cy="73152"/>
          </a:xfrm>
          <a:prstGeom prst="line">
            <a:avLst/>
          </a:prstGeom>
          <a:noFill/>
          <a:ln w="9525">
            <a:solidFill>
              <a:srgbClr val="1B2430"/>
            </a:solidFill>
            <a:prstDash val="solid"/>
          </a:ln>
        </p:spPr>
      </p:sp>
      <p:sp>
        <p:nvSpPr>
          <p:cNvPr id="52" name="Shape 50"/>
          <p:cNvSpPr/>
          <p:nvPr/>
        </p:nvSpPr>
        <p:spPr>
          <a:xfrm>
            <a:off x="5244465" y="3723437"/>
            <a:ext cx="0" cy="73152"/>
          </a:xfrm>
          <a:prstGeom prst="line">
            <a:avLst/>
          </a:prstGeom>
          <a:noFill/>
          <a:ln w="9525">
            <a:solidFill>
              <a:srgbClr val="1B2430"/>
            </a:solidFill>
            <a:prstDash val="solid"/>
          </a:ln>
        </p:spPr>
      </p:sp>
      <p:sp>
        <p:nvSpPr>
          <p:cNvPr id="53" name="Shape 51"/>
          <p:cNvSpPr/>
          <p:nvPr/>
        </p:nvSpPr>
        <p:spPr>
          <a:xfrm>
            <a:off x="5431155" y="3723437"/>
            <a:ext cx="0" cy="73152"/>
          </a:xfrm>
          <a:prstGeom prst="line">
            <a:avLst/>
          </a:prstGeom>
          <a:noFill/>
          <a:ln w="9525">
            <a:solidFill>
              <a:srgbClr val="1B2430"/>
            </a:solidFill>
            <a:prstDash val="solid"/>
          </a:ln>
        </p:spPr>
      </p:sp>
      <p:sp>
        <p:nvSpPr>
          <p:cNvPr id="54" name="Shape 52"/>
          <p:cNvSpPr/>
          <p:nvPr/>
        </p:nvSpPr>
        <p:spPr>
          <a:xfrm>
            <a:off x="5617845" y="3723437"/>
            <a:ext cx="0" cy="73152"/>
          </a:xfrm>
          <a:prstGeom prst="line">
            <a:avLst/>
          </a:prstGeom>
          <a:noFill/>
          <a:ln w="9525">
            <a:solidFill>
              <a:srgbClr val="1B2430"/>
            </a:solidFill>
            <a:prstDash val="solid"/>
          </a:ln>
        </p:spPr>
      </p:sp>
      <p:sp>
        <p:nvSpPr>
          <p:cNvPr id="55" name="Shape 53"/>
          <p:cNvSpPr/>
          <p:nvPr/>
        </p:nvSpPr>
        <p:spPr>
          <a:xfrm>
            <a:off x="5804535" y="3723437"/>
            <a:ext cx="0" cy="73152"/>
          </a:xfrm>
          <a:prstGeom prst="line">
            <a:avLst/>
          </a:prstGeom>
          <a:noFill/>
          <a:ln w="9525">
            <a:solidFill>
              <a:srgbClr val="1B2430"/>
            </a:solidFill>
            <a:prstDash val="solid"/>
          </a:ln>
        </p:spPr>
      </p:sp>
      <p:sp>
        <p:nvSpPr>
          <p:cNvPr id="56" name="Text 54"/>
          <p:cNvSpPr txBox="1"/>
          <p:nvPr/>
        </p:nvSpPr>
        <p:spPr>
          <a:xfrm>
            <a:off x="4039362" y="2977286"/>
            <a:ext cx="1476756"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observations used</a:t>
            </a:r>
            <a:endParaRPr lang="en-US" sz="750" dirty="0"/>
          </a:p>
        </p:txBody>
      </p:sp>
      <p:sp>
        <p:nvSpPr>
          <p:cNvPr id="57" name="Shape 55"/>
          <p:cNvSpPr/>
          <p:nvPr/>
        </p:nvSpPr>
        <p:spPr>
          <a:xfrm>
            <a:off x="4048760" y="3173882"/>
            <a:ext cx="64008" cy="64008"/>
          </a:xfrm>
          <a:prstGeom prst="ellipse">
            <a:avLst/>
          </a:prstGeom>
          <a:solidFill>
            <a:srgbClr val="E07A2F"/>
          </a:solidFill>
          <a:ln w="12700">
            <a:solidFill>
              <a:srgbClr val="333333"/>
            </a:solidFill>
            <a:prstDash val="solid"/>
          </a:ln>
        </p:spPr>
      </p:sp>
      <p:sp>
        <p:nvSpPr>
          <p:cNvPr id="58" name="Shape 56"/>
          <p:cNvSpPr/>
          <p:nvPr/>
        </p:nvSpPr>
        <p:spPr>
          <a:xfrm>
            <a:off x="4223004" y="3173882"/>
            <a:ext cx="64008" cy="64008"/>
          </a:xfrm>
          <a:prstGeom prst="ellipse">
            <a:avLst/>
          </a:prstGeom>
          <a:solidFill>
            <a:srgbClr val="E07A2F"/>
          </a:solidFill>
          <a:ln w="12700">
            <a:solidFill>
              <a:srgbClr val="333333"/>
            </a:solidFill>
            <a:prstDash val="solid"/>
          </a:ln>
        </p:spPr>
      </p:sp>
      <p:sp>
        <p:nvSpPr>
          <p:cNvPr id="59" name="Shape 57"/>
          <p:cNvSpPr/>
          <p:nvPr/>
        </p:nvSpPr>
        <p:spPr>
          <a:xfrm>
            <a:off x="4397248" y="3173882"/>
            <a:ext cx="64008" cy="64008"/>
          </a:xfrm>
          <a:prstGeom prst="ellipse">
            <a:avLst/>
          </a:prstGeom>
          <a:solidFill>
            <a:srgbClr val="E07A2F"/>
          </a:solidFill>
          <a:ln w="12700">
            <a:solidFill>
              <a:srgbClr val="333333"/>
            </a:solidFill>
            <a:prstDash val="solid"/>
          </a:ln>
        </p:spPr>
      </p:sp>
      <p:sp>
        <p:nvSpPr>
          <p:cNvPr id="60" name="Shape 58"/>
          <p:cNvSpPr/>
          <p:nvPr/>
        </p:nvSpPr>
        <p:spPr>
          <a:xfrm>
            <a:off x="4571492" y="3173882"/>
            <a:ext cx="64008" cy="64008"/>
          </a:xfrm>
          <a:prstGeom prst="ellipse">
            <a:avLst/>
          </a:prstGeom>
          <a:solidFill>
            <a:srgbClr val="E07A2F"/>
          </a:solidFill>
          <a:ln w="12700">
            <a:solidFill>
              <a:srgbClr val="333333"/>
            </a:solidFill>
            <a:prstDash val="solid"/>
          </a:ln>
        </p:spPr>
      </p:sp>
      <p:sp>
        <p:nvSpPr>
          <p:cNvPr id="61" name="Shape 59"/>
          <p:cNvSpPr/>
          <p:nvPr/>
        </p:nvSpPr>
        <p:spPr>
          <a:xfrm>
            <a:off x="4745736" y="3173882"/>
            <a:ext cx="64008" cy="64008"/>
          </a:xfrm>
          <a:prstGeom prst="ellipse">
            <a:avLst/>
          </a:prstGeom>
          <a:solidFill>
            <a:srgbClr val="E07A2F"/>
          </a:solidFill>
          <a:ln w="12700">
            <a:solidFill>
              <a:srgbClr val="333333"/>
            </a:solidFill>
            <a:prstDash val="solid"/>
          </a:ln>
        </p:spPr>
      </p:sp>
      <p:sp>
        <p:nvSpPr>
          <p:cNvPr id="62" name="Shape 60"/>
          <p:cNvSpPr/>
          <p:nvPr/>
        </p:nvSpPr>
        <p:spPr>
          <a:xfrm>
            <a:off x="4919980" y="3173882"/>
            <a:ext cx="64008" cy="64008"/>
          </a:xfrm>
          <a:prstGeom prst="ellipse">
            <a:avLst/>
          </a:prstGeom>
          <a:solidFill>
            <a:srgbClr val="E07A2F"/>
          </a:solidFill>
          <a:ln w="12700">
            <a:solidFill>
              <a:srgbClr val="333333"/>
            </a:solidFill>
            <a:prstDash val="solid"/>
          </a:ln>
        </p:spPr>
      </p:sp>
      <p:sp>
        <p:nvSpPr>
          <p:cNvPr id="63" name="Shape 61"/>
          <p:cNvSpPr/>
          <p:nvPr/>
        </p:nvSpPr>
        <p:spPr>
          <a:xfrm>
            <a:off x="5094224" y="3173882"/>
            <a:ext cx="64008" cy="64008"/>
          </a:xfrm>
          <a:prstGeom prst="ellipse">
            <a:avLst/>
          </a:prstGeom>
          <a:solidFill>
            <a:srgbClr val="E07A2F"/>
          </a:solidFill>
          <a:ln w="12700">
            <a:solidFill>
              <a:srgbClr val="333333"/>
            </a:solidFill>
            <a:prstDash val="solid"/>
          </a:ln>
        </p:spPr>
      </p:sp>
      <p:sp>
        <p:nvSpPr>
          <p:cNvPr id="64" name="Shape 62"/>
          <p:cNvSpPr/>
          <p:nvPr/>
        </p:nvSpPr>
        <p:spPr>
          <a:xfrm>
            <a:off x="5268468" y="3173882"/>
            <a:ext cx="64008" cy="64008"/>
          </a:xfrm>
          <a:prstGeom prst="ellipse">
            <a:avLst/>
          </a:prstGeom>
          <a:solidFill>
            <a:srgbClr val="E07A2F"/>
          </a:solidFill>
          <a:ln w="12700">
            <a:solidFill>
              <a:srgbClr val="333333"/>
            </a:solidFill>
            <a:prstDash val="solid"/>
          </a:ln>
        </p:spPr>
      </p:sp>
      <p:sp>
        <p:nvSpPr>
          <p:cNvPr id="65" name="Shape 63"/>
          <p:cNvSpPr/>
          <p:nvPr/>
        </p:nvSpPr>
        <p:spPr>
          <a:xfrm>
            <a:off x="5442712" y="3173882"/>
            <a:ext cx="64008" cy="64008"/>
          </a:xfrm>
          <a:prstGeom prst="ellipse">
            <a:avLst/>
          </a:prstGeom>
          <a:solidFill>
            <a:srgbClr val="E07A2F"/>
          </a:solidFill>
          <a:ln w="12700">
            <a:solidFill>
              <a:srgbClr val="333333"/>
            </a:solidFill>
            <a:prstDash val="solid"/>
          </a:ln>
        </p:spPr>
      </p:sp>
      <p:sp>
        <p:nvSpPr>
          <p:cNvPr id="66" name="Text 64"/>
          <p:cNvSpPr txBox="1"/>
          <p:nvPr/>
        </p:nvSpPr>
        <p:spPr>
          <a:xfrm>
            <a:off x="365760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Shaded band = window summarised by one embedding.</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Dots = observations sampled inside it. A single tall bar = one snapshot acquisition.</a:t>
            </a:r>
            <a:endParaRPr lang="en-US" sz="950" dirty="0"/>
          </a:p>
        </p:txBody>
      </p:sp>
      <p:sp>
        <p:nvSpPr>
          <p:cNvPr id="67" name="Shape 65"/>
          <p:cNvSpPr/>
          <p:nvPr/>
        </p:nvSpPr>
        <p:spPr>
          <a:xfrm>
            <a:off x="5989320" y="3337560"/>
            <a:ext cx="274320" cy="274320"/>
          </a:xfrm>
          <a:prstGeom prst="rightArrow">
            <a:avLst/>
          </a:prstGeom>
          <a:solidFill>
            <a:srgbClr val="B8C4D3"/>
          </a:solidFill>
          <a:ln w="12700">
            <a:solidFill>
              <a:srgbClr val="B8C4D3"/>
            </a:solidFill>
            <a:prstDash val="solid"/>
          </a:ln>
        </p:spPr>
      </p:sp>
      <p:sp>
        <p:nvSpPr>
          <p:cNvPr id="68" name="Shape 66"/>
          <p:cNvSpPr/>
          <p:nvPr/>
        </p:nvSpPr>
        <p:spPr>
          <a:xfrm>
            <a:off x="3310128" y="3337560"/>
            <a:ext cx="274320" cy="274320"/>
          </a:xfrm>
          <a:prstGeom prst="rightArrow">
            <a:avLst/>
          </a:prstGeom>
          <a:solidFill>
            <a:srgbClr val="B8C4D3"/>
          </a:solidFill>
          <a:ln w="12700">
            <a:solidFill>
              <a:srgbClr val="B8C4D3"/>
            </a:solidFill>
            <a:prstDash val="solid"/>
          </a:ln>
        </p:spPr>
      </p:sp>
      <p:sp>
        <p:nvSpPr>
          <p:cNvPr id="69" name="Text 67"/>
          <p:cNvSpPr txBox="1"/>
          <p:nvPr/>
        </p:nvSpPr>
        <p:spPr>
          <a:xfrm>
            <a:off x="617220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70" name="Shape 68"/>
          <p:cNvSpPr/>
          <p:nvPr/>
        </p:nvSpPr>
        <p:spPr>
          <a:xfrm>
            <a:off x="6263640" y="2606040"/>
            <a:ext cx="685800" cy="217170"/>
          </a:xfrm>
          <a:prstGeom prst="rect">
            <a:avLst/>
          </a:prstGeom>
          <a:solidFill>
            <a:srgbClr val="6A4C93"/>
          </a:solidFill>
          <a:ln w="9525">
            <a:solidFill>
              <a:srgbClr val="FFFFFF"/>
            </a:solidFill>
            <a:prstDash val="solid"/>
          </a:ln>
        </p:spPr>
      </p:sp>
      <p:sp>
        <p:nvSpPr>
          <p:cNvPr id="71" name="Shape 69"/>
          <p:cNvSpPr/>
          <p:nvPr/>
        </p:nvSpPr>
        <p:spPr>
          <a:xfrm>
            <a:off x="6263640" y="2823210"/>
            <a:ext cx="685800" cy="217170"/>
          </a:xfrm>
          <a:prstGeom prst="rect">
            <a:avLst/>
          </a:prstGeom>
          <a:solidFill>
            <a:srgbClr val="7B5EA7"/>
          </a:solidFill>
          <a:ln w="9525">
            <a:solidFill>
              <a:srgbClr val="FFFFFF"/>
            </a:solidFill>
            <a:prstDash val="solid"/>
          </a:ln>
        </p:spPr>
      </p:sp>
      <p:sp>
        <p:nvSpPr>
          <p:cNvPr id="72" name="Shape 70"/>
          <p:cNvSpPr/>
          <p:nvPr/>
        </p:nvSpPr>
        <p:spPr>
          <a:xfrm>
            <a:off x="6263640" y="3040380"/>
            <a:ext cx="685800" cy="217170"/>
          </a:xfrm>
          <a:prstGeom prst="rect">
            <a:avLst/>
          </a:prstGeom>
          <a:solidFill>
            <a:srgbClr val="8C70BA"/>
          </a:solidFill>
          <a:ln w="9525">
            <a:solidFill>
              <a:srgbClr val="FFFFFF"/>
            </a:solidFill>
            <a:prstDash val="solid"/>
          </a:ln>
        </p:spPr>
      </p:sp>
      <p:sp>
        <p:nvSpPr>
          <p:cNvPr id="73" name="Shape 71"/>
          <p:cNvSpPr/>
          <p:nvPr/>
        </p:nvSpPr>
        <p:spPr>
          <a:xfrm>
            <a:off x="6263640" y="3257550"/>
            <a:ext cx="685800" cy="217170"/>
          </a:xfrm>
          <a:prstGeom prst="rect">
            <a:avLst/>
          </a:prstGeom>
          <a:solidFill>
            <a:srgbClr val="9D82CD"/>
          </a:solidFill>
          <a:ln w="9525">
            <a:solidFill>
              <a:srgbClr val="FFFFFF"/>
            </a:solidFill>
            <a:prstDash val="solid"/>
          </a:ln>
        </p:spPr>
      </p:sp>
      <p:sp>
        <p:nvSpPr>
          <p:cNvPr id="74" name="Shape 72"/>
          <p:cNvSpPr/>
          <p:nvPr/>
        </p:nvSpPr>
        <p:spPr>
          <a:xfrm>
            <a:off x="6263640" y="3474720"/>
            <a:ext cx="685800" cy="217170"/>
          </a:xfrm>
          <a:prstGeom prst="rect">
            <a:avLst/>
          </a:prstGeom>
          <a:solidFill>
            <a:srgbClr val="8C70BA"/>
          </a:solidFill>
          <a:ln w="9525">
            <a:solidFill>
              <a:srgbClr val="FFFFFF"/>
            </a:solidFill>
            <a:prstDash val="solid"/>
          </a:ln>
        </p:spPr>
      </p:sp>
      <p:sp>
        <p:nvSpPr>
          <p:cNvPr id="75" name="Shape 73"/>
          <p:cNvSpPr/>
          <p:nvPr/>
        </p:nvSpPr>
        <p:spPr>
          <a:xfrm>
            <a:off x="6263640" y="3691890"/>
            <a:ext cx="685800" cy="217170"/>
          </a:xfrm>
          <a:prstGeom prst="rect">
            <a:avLst/>
          </a:prstGeom>
          <a:solidFill>
            <a:srgbClr val="7B5EA7"/>
          </a:solidFill>
          <a:ln w="9525">
            <a:solidFill>
              <a:srgbClr val="FFFFFF"/>
            </a:solidFill>
            <a:prstDash val="solid"/>
          </a:ln>
        </p:spPr>
      </p:sp>
      <p:sp>
        <p:nvSpPr>
          <p:cNvPr id="76" name="Shape 74"/>
          <p:cNvSpPr/>
          <p:nvPr/>
        </p:nvSpPr>
        <p:spPr>
          <a:xfrm>
            <a:off x="6263640" y="3909060"/>
            <a:ext cx="685800" cy="217170"/>
          </a:xfrm>
          <a:prstGeom prst="rect">
            <a:avLst/>
          </a:prstGeom>
          <a:solidFill>
            <a:srgbClr val="6A4C93"/>
          </a:solidFill>
          <a:ln w="9525">
            <a:solidFill>
              <a:srgbClr val="FFFFFF"/>
            </a:solidFill>
            <a:prstDash val="solid"/>
          </a:ln>
        </p:spPr>
      </p:sp>
      <p:sp>
        <p:nvSpPr>
          <p:cNvPr id="77" name="Shape 75"/>
          <p:cNvSpPr/>
          <p:nvPr/>
        </p:nvSpPr>
        <p:spPr>
          <a:xfrm>
            <a:off x="6263640" y="4126230"/>
            <a:ext cx="685800" cy="217170"/>
          </a:xfrm>
          <a:prstGeom prst="rect">
            <a:avLst/>
          </a:prstGeom>
          <a:solidFill>
            <a:srgbClr val="5A3D80"/>
          </a:solidFill>
          <a:ln w="9525">
            <a:solidFill>
              <a:srgbClr val="FFFFFF"/>
            </a:solidFill>
            <a:prstDash val="solid"/>
          </a:ln>
        </p:spPr>
      </p:sp>
      <p:sp>
        <p:nvSpPr>
          <p:cNvPr id="78" name="Text 76"/>
          <p:cNvSpPr txBox="1"/>
          <p:nvPr/>
        </p:nvSpPr>
        <p:spPr>
          <a:xfrm>
            <a:off x="587959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D dims</a:t>
            </a:r>
            <a:endParaRPr lang="en-US" sz="1200" dirty="0"/>
          </a:p>
        </p:txBody>
      </p:sp>
      <p:sp>
        <p:nvSpPr>
          <p:cNvPr id="79" name="Text 77"/>
          <p:cNvSpPr txBox="1"/>
          <p:nvPr/>
        </p:nvSpPr>
        <p:spPr>
          <a:xfrm>
            <a:off x="587959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one vector per pixel, per token, or per tile</a:t>
            </a:r>
            <a:endParaRPr lang="en-US" sz="850" dirty="0"/>
          </a:p>
        </p:txBody>
      </p:sp>
      <p:sp>
        <p:nvSpPr>
          <p:cNvPr id="80" name="Shape 78"/>
          <p:cNvSpPr/>
          <p:nvPr/>
        </p:nvSpPr>
        <p:spPr>
          <a:xfrm>
            <a:off x="7863840" y="1417320"/>
            <a:ext cx="3749040" cy="4846320"/>
          </a:xfrm>
          <a:prstGeom prst="roundRect">
            <a:avLst>
              <a:gd name="adj" fmla="val 1951"/>
            </a:avLst>
          </a:prstGeom>
          <a:solidFill>
            <a:srgbClr val="EEF3F8"/>
          </a:solidFill>
          <a:ln w="12700">
            <a:solidFill>
              <a:srgbClr val="333333"/>
            </a:solidFill>
            <a:prstDash val="solid"/>
          </a:ln>
        </p:spPr>
      </p:sp>
      <p:sp>
        <p:nvSpPr>
          <p:cNvPr id="81" name="Text 79"/>
          <p:cNvSpPr txBox="1"/>
          <p:nvPr/>
        </p:nvSpPr>
        <p:spPr>
          <a:xfrm>
            <a:off x="8046720" y="1554480"/>
            <a:ext cx="338328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Four questions we ask of each model</a:t>
            </a:r>
            <a:endParaRPr lang="en-US" sz="1400" dirty="0"/>
          </a:p>
        </p:txBody>
      </p:sp>
      <p:sp>
        <p:nvSpPr>
          <p:cNvPr id="82" name="Text 80"/>
          <p:cNvSpPr txBox="1"/>
          <p:nvPr/>
        </p:nvSpPr>
        <p:spPr>
          <a:xfrm>
            <a:off x="8046720" y="1965960"/>
            <a:ext cx="3429000" cy="4114800"/>
          </a:xfrm>
          <a:prstGeom prst="rect">
            <a:avLst/>
          </a:prstGeom>
          <a:noFill/>
          <a:ln/>
        </p:spPr>
        <p:txBody>
          <a:bodyPr wrap="square" lIns="25400" tIns="25400" rIns="25400" bIns="25400" rtlCol="0" anchor="t"/>
          <a:lstStyle/>
          <a:p>
            <a:pPr marL="342900" indent="-3429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Per-pixel or patch?  Does the embedding of a pixel see its neighbours (patch/ViT) or only its own time series (pixel-wise)?</a:t>
            </a:r>
            <a:endParaRPr lang="en-US" sz="1200" dirty="0"/>
          </a:p>
          <a:p>
            <a:pPr marL="342900" indent="-3429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Snapshot or period summary?  One acquisition, a handful of dates, or a whole year folded into one vector?</a:t>
            </a:r>
            <a:endParaRPr lang="en-US" sz="1200" dirty="0"/>
          </a:p>
          <a:p>
            <a:pPr marL="342900" indent="-3429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Product or model?  Do we get precomputed global embeddings, open weights we can run on our own grid, or both?</a:t>
            </a:r>
            <a:endParaRPr lang="en-US" sz="1200" dirty="0"/>
          </a:p>
          <a:p>
            <a:pPr marL="342900" indent="-3429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Does it touch the ocean?  Land-only masking is the norm; only one of the six is trained on sea pixels.</a:t>
            </a:r>
            <a:endParaRPr lang="en-US" sz="1200" dirty="0"/>
          </a:p>
        </p:txBody>
      </p:sp>
      <p:sp>
        <p:nvSpPr>
          <p:cNvPr id="83" name="Text 8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AlphaEarth Foundations (Google DeepMind)</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An 'embedding field': every 10 m land pixel → 64-D unit vector per year, 2017–2024</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100" b="1" dirty="0">
                <a:solidFill>
                  <a:srgbClr val="1C7293"/>
                </a:solidFill>
                <a:latin typeface="Calibri" pitchFamily="34" charset="0"/>
                <a:ea typeface="Calibri" pitchFamily="34" charset="-122"/>
                <a:cs typeface="Calibri" pitchFamily="34" charset="-120"/>
              </a:rPr>
              <a:t>Who / when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DeepMind + Google Earth Engine; arXiv 2507.22291 (Jul 2025, v2 Sep 2025).</a:t>
            </a:r>
            <a:endParaRPr lang="en-US" sz="1100" dirty="0"/>
          </a:p>
          <a:p>
            <a:pPr indent="0" marL="0">
              <a:buNone/>
            </a:pPr>
            <a:r>
              <a:rPr lang="en-US" sz="1100" b="1" dirty="0">
                <a:solidFill>
                  <a:srgbClr val="1C7293"/>
                </a:solidFill>
                <a:latin typeface="Calibri" pitchFamily="34" charset="0"/>
                <a:ea typeface="Calibri" pitchFamily="34" charset="-122"/>
                <a:cs typeface="Calibri" pitchFamily="34" charset="-120"/>
              </a:rPr>
              <a:t>Inputs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Sentinel-2, Landsat 8/9, Sentinel-1, PALSAR-2, GEDI lidar, ERA5-Land, GRACE, GLO-30 DEM, NLCD, plus text (Wikipedia, GBIF) — &gt;3 B observations.</a:t>
            </a:r>
            <a:endParaRPr lang="en-US" sz="1100" dirty="0"/>
          </a:p>
          <a:p>
            <a:pPr indent="0" marL="0">
              <a:buNone/>
            </a:pPr>
            <a:r>
              <a:rPr lang="en-US" sz="1100" b="1" dirty="0">
                <a:solidFill>
                  <a:srgbClr val="1C7293"/>
                </a:solidFill>
                <a:latin typeface="Calibri" pitchFamily="34" charset="0"/>
                <a:ea typeface="Calibri" pitchFamily="34" charset="-122"/>
                <a:cs typeface="Calibri" pitchFamily="34" charset="-120"/>
              </a:rPr>
              <a:t>Architecture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Space-Time-Precision (STP) encoder — 15 blocks, each with three operators at three resolutions (spatial attention @ L/16, time-axial attention @ L/8, 3×3 convs @ L/2; widths 1024 / 512 / 128) exchanging state through a learned Laplacian pyramid (next slide). Teacher/student video embedders + text alignment; ~480 M deployed (1 B trained). Losses: reconstruction, batch-uniformity on S⁶³, consistency, text-contrastive.</a:t>
            </a:r>
            <a:endParaRPr lang="en-US" sz="1100" dirty="0"/>
          </a:p>
          <a:p>
            <a:pPr indent="0" marL="0">
              <a:buNone/>
            </a:pPr>
            <a:r>
              <a:rPr lang="en-US" sz="1100" b="1" dirty="0">
                <a:solidFill>
                  <a:srgbClr val="1C7293"/>
                </a:solidFill>
                <a:latin typeface="Calibri" pitchFamily="34" charset="0"/>
                <a:ea typeface="Calibri" pitchFamily="34" charset="-122"/>
                <a:cs typeface="Calibri" pitchFamily="34" charset="-120"/>
              </a:rPr>
              <a:t>Stencil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Output 10 m pixel. Input frame 1.28 km × 1.28 km (128 × 128 px; supplement S2.1/S8.2): inference runs on 960 m tiles buffered by 160 m, so a pixel's context is at most the 1.28 km frame, with spatial attention global inside it. Continuous 'valid period' [t₀, t₁) — arbitrary windows in principle; released product = calendar-year summaries.</a:t>
            </a:r>
            <a:endParaRPr lang="en-US" sz="1100" dirty="0"/>
          </a:p>
          <a:p>
            <a:pPr indent="0" marL="0">
              <a:buNone/>
            </a:pPr>
            <a:r>
              <a:rPr lang="en-US" sz="1100" b="1" dirty="0">
                <a:solidFill>
                  <a:srgbClr val="1C7293"/>
                </a:solidFill>
                <a:latin typeface="Calibri" pitchFamily="34" charset="0"/>
                <a:ea typeface="Calibri" pitchFamily="34" charset="-122"/>
                <a:cs typeface="Calibri" pitchFamily="34" charset="-120"/>
              </a:rPr>
              <a:t>Output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64-D, unit-norm, int8 in the public dataset; ~1.4 T footprints / yr. Land + coastal/inland water; no open ocean.</a:t>
            </a:r>
            <a:endParaRPr lang="en-US" sz="1100" dirty="0"/>
          </a:p>
          <a:p>
            <a:pPr indent="0" marL="0">
              <a:buNone/>
            </a:pPr>
            <a:r>
              <a:rPr lang="en-US" sz="1100" b="1" dirty="0">
                <a:solidFill>
                  <a:srgbClr val="1C7293"/>
                </a:solidFill>
                <a:latin typeface="Calibri" pitchFamily="34" charset="0"/>
                <a:ea typeface="Calibri" pitchFamily="34" charset="-122"/>
                <a:cs typeface="Calibri" pitchFamily="34" charset="-120"/>
              </a:rPr>
              <a:t>Availability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Dataset only (CC-BY 4.0) in Earth Engine / GCS. Weights and code not released.</a:t>
            </a:r>
            <a:endParaRPr lang="en-US" sz="1100" dirty="0"/>
          </a:p>
          <a:p>
            <a:pPr indent="0" marL="0">
              <a:buNone/>
            </a:pPr>
            <a:r>
              <a:rPr lang="en-US" sz="1100" b="1" dirty="0">
                <a:solidFill>
                  <a:srgbClr val="1C7293"/>
                </a:solidFill>
                <a:latin typeface="Calibri" pitchFamily="34" charset="0"/>
                <a:ea typeface="Calibri" pitchFamily="34" charset="-122"/>
                <a:cs typeface="Calibri" pitchFamily="34" charset="-120"/>
              </a:rPr>
              <a:t>Results  </a:t>
            </a:r>
            <a:pPr indent="0" marL="0">
              <a:spcAft>
                <a:spcPts val="700"/>
              </a:spcAft>
              <a:buNone/>
            </a:pPr>
            <a:r>
              <a:rPr lang="en-US" sz="1100" dirty="0">
                <a:solidFill>
                  <a:srgbClr val="1B2430"/>
                </a:solidFill>
                <a:latin typeface="Calibri" pitchFamily="34" charset="0"/>
                <a:ea typeface="Calibri" pitchFamily="34" charset="-122"/>
                <a:cs typeface="Calibri" pitchFamily="34" charset="-120"/>
              </a:rPr>
              <a:t>~23.9 % average error reduction vs. prior featurizations over 15 evaluations (10.4 % at 10-shot, 4.2 % at 1-shot); evapotranspiration regression R² 0.58. Per-dataset scores are charts only.</a:t>
            </a:r>
            <a:endParaRPr lang="en-US" sz="110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404104" y="2139696"/>
            <a:ext cx="2377440" cy="2377440"/>
          </a:xfrm>
          <a:prstGeom prst="rect">
            <a:avLst/>
          </a:prstGeom>
          <a:solidFill>
            <a:srgbClr val="EEF3F8"/>
          </a:solidFill>
          <a:ln w="9525">
            <a:solidFill>
              <a:srgbClr val="B8C4D3"/>
            </a:solidFill>
            <a:prstDash val="solid"/>
          </a:ln>
        </p:spPr>
      </p:sp>
      <p:sp>
        <p:nvSpPr>
          <p:cNvPr id="9" name="Shape 7"/>
          <p:cNvSpPr/>
          <p:nvPr/>
        </p:nvSpPr>
        <p:spPr>
          <a:xfrm>
            <a:off x="5330952" y="2212848"/>
            <a:ext cx="2377440" cy="2377440"/>
          </a:xfrm>
          <a:prstGeom prst="rect">
            <a:avLst/>
          </a:prstGeom>
          <a:solidFill>
            <a:srgbClr val="EEF3F8"/>
          </a:solidFill>
          <a:ln w="9525">
            <a:solidFill>
              <a:srgbClr val="B8C4D3"/>
            </a:solidFill>
            <a:prstDash val="solid"/>
          </a:ln>
        </p:spPr>
      </p:sp>
      <p:sp>
        <p:nvSpPr>
          <p:cNvPr id="10" name="Shape 8"/>
          <p:cNvSpPr/>
          <p:nvPr/>
        </p:nvSpPr>
        <p:spPr>
          <a:xfrm>
            <a:off x="5257800" y="2286000"/>
            <a:ext cx="2377440" cy="2377440"/>
          </a:xfrm>
          <a:prstGeom prst="rect">
            <a:avLst/>
          </a:prstGeom>
          <a:solidFill>
            <a:srgbClr val="FFFFFF"/>
          </a:solidFill>
          <a:ln w="9525">
            <a:solidFill>
              <a:srgbClr val="B8C4D3"/>
            </a:solidFill>
            <a:prstDash val="solid"/>
          </a:ln>
        </p:spPr>
      </p:sp>
      <p:sp>
        <p:nvSpPr>
          <p:cNvPr id="11" name="Shape 9"/>
          <p:cNvSpPr/>
          <p:nvPr/>
        </p:nvSpPr>
        <p:spPr>
          <a:xfrm>
            <a:off x="5406390" y="2286000"/>
            <a:ext cx="0" cy="2377440"/>
          </a:xfrm>
          <a:prstGeom prst="line">
            <a:avLst/>
          </a:prstGeom>
          <a:noFill/>
          <a:ln w="7620">
            <a:solidFill>
              <a:srgbClr val="B8C4D3"/>
            </a:solidFill>
            <a:prstDash val="solid"/>
          </a:ln>
        </p:spPr>
      </p:sp>
      <p:sp>
        <p:nvSpPr>
          <p:cNvPr id="12" name="Shape 10"/>
          <p:cNvSpPr/>
          <p:nvPr/>
        </p:nvSpPr>
        <p:spPr>
          <a:xfrm>
            <a:off x="5257800" y="2434590"/>
            <a:ext cx="2377440" cy="0"/>
          </a:xfrm>
          <a:prstGeom prst="line">
            <a:avLst/>
          </a:prstGeom>
          <a:noFill/>
          <a:ln w="7620">
            <a:solidFill>
              <a:srgbClr val="B8C4D3"/>
            </a:solidFill>
            <a:prstDash val="solid"/>
          </a:ln>
        </p:spPr>
      </p:sp>
      <p:sp>
        <p:nvSpPr>
          <p:cNvPr id="13" name="Shape 11"/>
          <p:cNvSpPr/>
          <p:nvPr/>
        </p:nvSpPr>
        <p:spPr>
          <a:xfrm>
            <a:off x="5554980" y="2286000"/>
            <a:ext cx="0" cy="2377440"/>
          </a:xfrm>
          <a:prstGeom prst="line">
            <a:avLst/>
          </a:prstGeom>
          <a:noFill/>
          <a:ln w="7620">
            <a:solidFill>
              <a:srgbClr val="B8C4D3"/>
            </a:solidFill>
            <a:prstDash val="solid"/>
          </a:ln>
        </p:spPr>
      </p:sp>
      <p:sp>
        <p:nvSpPr>
          <p:cNvPr id="14" name="Shape 12"/>
          <p:cNvSpPr/>
          <p:nvPr/>
        </p:nvSpPr>
        <p:spPr>
          <a:xfrm>
            <a:off x="5257800" y="2583180"/>
            <a:ext cx="2377440" cy="0"/>
          </a:xfrm>
          <a:prstGeom prst="line">
            <a:avLst/>
          </a:prstGeom>
          <a:noFill/>
          <a:ln w="7620">
            <a:solidFill>
              <a:srgbClr val="B8C4D3"/>
            </a:solidFill>
            <a:prstDash val="solid"/>
          </a:ln>
        </p:spPr>
      </p:sp>
      <p:sp>
        <p:nvSpPr>
          <p:cNvPr id="15" name="Shape 13"/>
          <p:cNvSpPr/>
          <p:nvPr/>
        </p:nvSpPr>
        <p:spPr>
          <a:xfrm>
            <a:off x="5703570" y="2286000"/>
            <a:ext cx="0" cy="2377440"/>
          </a:xfrm>
          <a:prstGeom prst="line">
            <a:avLst/>
          </a:prstGeom>
          <a:noFill/>
          <a:ln w="7620">
            <a:solidFill>
              <a:srgbClr val="B8C4D3"/>
            </a:solidFill>
            <a:prstDash val="solid"/>
          </a:ln>
        </p:spPr>
      </p:sp>
      <p:sp>
        <p:nvSpPr>
          <p:cNvPr id="16" name="Shape 14"/>
          <p:cNvSpPr/>
          <p:nvPr/>
        </p:nvSpPr>
        <p:spPr>
          <a:xfrm>
            <a:off x="5257800" y="2731770"/>
            <a:ext cx="2377440" cy="0"/>
          </a:xfrm>
          <a:prstGeom prst="line">
            <a:avLst/>
          </a:prstGeom>
          <a:noFill/>
          <a:ln w="7620">
            <a:solidFill>
              <a:srgbClr val="B8C4D3"/>
            </a:solidFill>
            <a:prstDash val="solid"/>
          </a:ln>
        </p:spPr>
      </p:sp>
      <p:sp>
        <p:nvSpPr>
          <p:cNvPr id="17" name="Shape 15"/>
          <p:cNvSpPr/>
          <p:nvPr/>
        </p:nvSpPr>
        <p:spPr>
          <a:xfrm>
            <a:off x="5852160" y="2286000"/>
            <a:ext cx="0" cy="2377440"/>
          </a:xfrm>
          <a:prstGeom prst="line">
            <a:avLst/>
          </a:prstGeom>
          <a:noFill/>
          <a:ln w="7620">
            <a:solidFill>
              <a:srgbClr val="B8C4D3"/>
            </a:solidFill>
            <a:prstDash val="solid"/>
          </a:ln>
        </p:spPr>
      </p:sp>
      <p:sp>
        <p:nvSpPr>
          <p:cNvPr id="18" name="Shape 16"/>
          <p:cNvSpPr/>
          <p:nvPr/>
        </p:nvSpPr>
        <p:spPr>
          <a:xfrm>
            <a:off x="5257800" y="2880360"/>
            <a:ext cx="2377440" cy="0"/>
          </a:xfrm>
          <a:prstGeom prst="line">
            <a:avLst/>
          </a:prstGeom>
          <a:noFill/>
          <a:ln w="7620">
            <a:solidFill>
              <a:srgbClr val="B8C4D3"/>
            </a:solidFill>
            <a:prstDash val="solid"/>
          </a:ln>
        </p:spPr>
      </p:sp>
      <p:sp>
        <p:nvSpPr>
          <p:cNvPr id="19" name="Shape 17"/>
          <p:cNvSpPr/>
          <p:nvPr/>
        </p:nvSpPr>
        <p:spPr>
          <a:xfrm>
            <a:off x="6000750" y="2286000"/>
            <a:ext cx="0" cy="2377440"/>
          </a:xfrm>
          <a:prstGeom prst="line">
            <a:avLst/>
          </a:prstGeom>
          <a:noFill/>
          <a:ln w="7620">
            <a:solidFill>
              <a:srgbClr val="B8C4D3"/>
            </a:solidFill>
            <a:prstDash val="solid"/>
          </a:ln>
        </p:spPr>
      </p:sp>
      <p:sp>
        <p:nvSpPr>
          <p:cNvPr id="20" name="Shape 18"/>
          <p:cNvSpPr/>
          <p:nvPr/>
        </p:nvSpPr>
        <p:spPr>
          <a:xfrm>
            <a:off x="5257800" y="3028950"/>
            <a:ext cx="2377440" cy="0"/>
          </a:xfrm>
          <a:prstGeom prst="line">
            <a:avLst/>
          </a:prstGeom>
          <a:noFill/>
          <a:ln w="7620">
            <a:solidFill>
              <a:srgbClr val="B8C4D3"/>
            </a:solidFill>
            <a:prstDash val="solid"/>
          </a:ln>
        </p:spPr>
      </p:sp>
      <p:sp>
        <p:nvSpPr>
          <p:cNvPr id="21" name="Shape 19"/>
          <p:cNvSpPr/>
          <p:nvPr/>
        </p:nvSpPr>
        <p:spPr>
          <a:xfrm>
            <a:off x="6149340" y="2286000"/>
            <a:ext cx="0" cy="2377440"/>
          </a:xfrm>
          <a:prstGeom prst="line">
            <a:avLst/>
          </a:prstGeom>
          <a:noFill/>
          <a:ln w="7620">
            <a:solidFill>
              <a:srgbClr val="B8C4D3"/>
            </a:solidFill>
            <a:prstDash val="solid"/>
          </a:ln>
        </p:spPr>
      </p:sp>
      <p:sp>
        <p:nvSpPr>
          <p:cNvPr id="22" name="Shape 20"/>
          <p:cNvSpPr/>
          <p:nvPr/>
        </p:nvSpPr>
        <p:spPr>
          <a:xfrm>
            <a:off x="5257800" y="3177540"/>
            <a:ext cx="2377440" cy="0"/>
          </a:xfrm>
          <a:prstGeom prst="line">
            <a:avLst/>
          </a:prstGeom>
          <a:noFill/>
          <a:ln w="7620">
            <a:solidFill>
              <a:srgbClr val="B8C4D3"/>
            </a:solidFill>
            <a:prstDash val="solid"/>
          </a:ln>
        </p:spPr>
      </p:sp>
      <p:sp>
        <p:nvSpPr>
          <p:cNvPr id="23" name="Shape 21"/>
          <p:cNvSpPr/>
          <p:nvPr/>
        </p:nvSpPr>
        <p:spPr>
          <a:xfrm>
            <a:off x="6297930" y="2286000"/>
            <a:ext cx="0" cy="2377440"/>
          </a:xfrm>
          <a:prstGeom prst="line">
            <a:avLst/>
          </a:prstGeom>
          <a:noFill/>
          <a:ln w="7620">
            <a:solidFill>
              <a:srgbClr val="B8C4D3"/>
            </a:solidFill>
            <a:prstDash val="solid"/>
          </a:ln>
        </p:spPr>
      </p:sp>
      <p:sp>
        <p:nvSpPr>
          <p:cNvPr id="24" name="Shape 22"/>
          <p:cNvSpPr/>
          <p:nvPr/>
        </p:nvSpPr>
        <p:spPr>
          <a:xfrm>
            <a:off x="5257800" y="3326130"/>
            <a:ext cx="2377440" cy="0"/>
          </a:xfrm>
          <a:prstGeom prst="line">
            <a:avLst/>
          </a:prstGeom>
          <a:noFill/>
          <a:ln w="7620">
            <a:solidFill>
              <a:srgbClr val="B8C4D3"/>
            </a:solidFill>
            <a:prstDash val="solid"/>
          </a:ln>
        </p:spPr>
      </p:sp>
      <p:sp>
        <p:nvSpPr>
          <p:cNvPr id="25" name="Shape 23"/>
          <p:cNvSpPr/>
          <p:nvPr/>
        </p:nvSpPr>
        <p:spPr>
          <a:xfrm>
            <a:off x="6446520" y="2286000"/>
            <a:ext cx="0" cy="2377440"/>
          </a:xfrm>
          <a:prstGeom prst="line">
            <a:avLst/>
          </a:prstGeom>
          <a:noFill/>
          <a:ln w="7620">
            <a:solidFill>
              <a:srgbClr val="B8C4D3"/>
            </a:solidFill>
            <a:prstDash val="solid"/>
          </a:ln>
        </p:spPr>
      </p:sp>
      <p:sp>
        <p:nvSpPr>
          <p:cNvPr id="26" name="Shape 24"/>
          <p:cNvSpPr/>
          <p:nvPr/>
        </p:nvSpPr>
        <p:spPr>
          <a:xfrm>
            <a:off x="5257800" y="3474720"/>
            <a:ext cx="2377440" cy="0"/>
          </a:xfrm>
          <a:prstGeom prst="line">
            <a:avLst/>
          </a:prstGeom>
          <a:noFill/>
          <a:ln w="7620">
            <a:solidFill>
              <a:srgbClr val="B8C4D3"/>
            </a:solidFill>
            <a:prstDash val="solid"/>
          </a:ln>
        </p:spPr>
      </p:sp>
      <p:sp>
        <p:nvSpPr>
          <p:cNvPr id="27" name="Shape 25"/>
          <p:cNvSpPr/>
          <p:nvPr/>
        </p:nvSpPr>
        <p:spPr>
          <a:xfrm>
            <a:off x="6595110" y="2286000"/>
            <a:ext cx="0" cy="2377440"/>
          </a:xfrm>
          <a:prstGeom prst="line">
            <a:avLst/>
          </a:prstGeom>
          <a:noFill/>
          <a:ln w="7620">
            <a:solidFill>
              <a:srgbClr val="B8C4D3"/>
            </a:solidFill>
            <a:prstDash val="solid"/>
          </a:ln>
        </p:spPr>
      </p:sp>
      <p:sp>
        <p:nvSpPr>
          <p:cNvPr id="28" name="Shape 26"/>
          <p:cNvSpPr/>
          <p:nvPr/>
        </p:nvSpPr>
        <p:spPr>
          <a:xfrm>
            <a:off x="5257800" y="3623310"/>
            <a:ext cx="2377440" cy="0"/>
          </a:xfrm>
          <a:prstGeom prst="line">
            <a:avLst/>
          </a:prstGeom>
          <a:noFill/>
          <a:ln w="7620">
            <a:solidFill>
              <a:srgbClr val="B8C4D3"/>
            </a:solidFill>
            <a:prstDash val="solid"/>
          </a:ln>
        </p:spPr>
      </p:sp>
      <p:sp>
        <p:nvSpPr>
          <p:cNvPr id="29" name="Shape 27"/>
          <p:cNvSpPr/>
          <p:nvPr/>
        </p:nvSpPr>
        <p:spPr>
          <a:xfrm>
            <a:off x="6743700" y="2286000"/>
            <a:ext cx="0" cy="2377440"/>
          </a:xfrm>
          <a:prstGeom prst="line">
            <a:avLst/>
          </a:prstGeom>
          <a:noFill/>
          <a:ln w="7620">
            <a:solidFill>
              <a:srgbClr val="B8C4D3"/>
            </a:solidFill>
            <a:prstDash val="solid"/>
          </a:ln>
        </p:spPr>
      </p:sp>
      <p:sp>
        <p:nvSpPr>
          <p:cNvPr id="30" name="Shape 28"/>
          <p:cNvSpPr/>
          <p:nvPr/>
        </p:nvSpPr>
        <p:spPr>
          <a:xfrm>
            <a:off x="5257800" y="3771900"/>
            <a:ext cx="2377440" cy="0"/>
          </a:xfrm>
          <a:prstGeom prst="line">
            <a:avLst/>
          </a:prstGeom>
          <a:noFill/>
          <a:ln w="7620">
            <a:solidFill>
              <a:srgbClr val="B8C4D3"/>
            </a:solidFill>
            <a:prstDash val="solid"/>
          </a:ln>
        </p:spPr>
      </p:sp>
      <p:sp>
        <p:nvSpPr>
          <p:cNvPr id="31" name="Shape 29"/>
          <p:cNvSpPr/>
          <p:nvPr/>
        </p:nvSpPr>
        <p:spPr>
          <a:xfrm>
            <a:off x="6892290" y="2286000"/>
            <a:ext cx="0" cy="2377440"/>
          </a:xfrm>
          <a:prstGeom prst="line">
            <a:avLst/>
          </a:prstGeom>
          <a:noFill/>
          <a:ln w="7620">
            <a:solidFill>
              <a:srgbClr val="B8C4D3"/>
            </a:solidFill>
            <a:prstDash val="solid"/>
          </a:ln>
        </p:spPr>
      </p:sp>
      <p:sp>
        <p:nvSpPr>
          <p:cNvPr id="32" name="Shape 30"/>
          <p:cNvSpPr/>
          <p:nvPr/>
        </p:nvSpPr>
        <p:spPr>
          <a:xfrm>
            <a:off x="5257800" y="3920490"/>
            <a:ext cx="2377440" cy="0"/>
          </a:xfrm>
          <a:prstGeom prst="line">
            <a:avLst/>
          </a:prstGeom>
          <a:noFill/>
          <a:ln w="7620">
            <a:solidFill>
              <a:srgbClr val="B8C4D3"/>
            </a:solidFill>
            <a:prstDash val="solid"/>
          </a:ln>
        </p:spPr>
      </p:sp>
      <p:sp>
        <p:nvSpPr>
          <p:cNvPr id="33" name="Shape 31"/>
          <p:cNvSpPr/>
          <p:nvPr/>
        </p:nvSpPr>
        <p:spPr>
          <a:xfrm>
            <a:off x="7040880" y="2286000"/>
            <a:ext cx="0" cy="2377440"/>
          </a:xfrm>
          <a:prstGeom prst="line">
            <a:avLst/>
          </a:prstGeom>
          <a:noFill/>
          <a:ln w="7620">
            <a:solidFill>
              <a:srgbClr val="B8C4D3"/>
            </a:solidFill>
            <a:prstDash val="solid"/>
          </a:ln>
        </p:spPr>
      </p:sp>
      <p:sp>
        <p:nvSpPr>
          <p:cNvPr id="34" name="Shape 32"/>
          <p:cNvSpPr/>
          <p:nvPr/>
        </p:nvSpPr>
        <p:spPr>
          <a:xfrm>
            <a:off x="5257800" y="4069080"/>
            <a:ext cx="2377440" cy="0"/>
          </a:xfrm>
          <a:prstGeom prst="line">
            <a:avLst/>
          </a:prstGeom>
          <a:noFill/>
          <a:ln w="7620">
            <a:solidFill>
              <a:srgbClr val="B8C4D3"/>
            </a:solidFill>
            <a:prstDash val="solid"/>
          </a:ln>
        </p:spPr>
      </p:sp>
      <p:sp>
        <p:nvSpPr>
          <p:cNvPr id="35" name="Shape 33"/>
          <p:cNvSpPr/>
          <p:nvPr/>
        </p:nvSpPr>
        <p:spPr>
          <a:xfrm>
            <a:off x="7189470" y="2286000"/>
            <a:ext cx="0" cy="2377440"/>
          </a:xfrm>
          <a:prstGeom prst="line">
            <a:avLst/>
          </a:prstGeom>
          <a:noFill/>
          <a:ln w="7620">
            <a:solidFill>
              <a:srgbClr val="B8C4D3"/>
            </a:solidFill>
            <a:prstDash val="solid"/>
          </a:ln>
        </p:spPr>
      </p:sp>
      <p:sp>
        <p:nvSpPr>
          <p:cNvPr id="36" name="Shape 34"/>
          <p:cNvSpPr/>
          <p:nvPr/>
        </p:nvSpPr>
        <p:spPr>
          <a:xfrm>
            <a:off x="5257800" y="4217670"/>
            <a:ext cx="2377440" cy="0"/>
          </a:xfrm>
          <a:prstGeom prst="line">
            <a:avLst/>
          </a:prstGeom>
          <a:noFill/>
          <a:ln w="7620">
            <a:solidFill>
              <a:srgbClr val="B8C4D3"/>
            </a:solidFill>
            <a:prstDash val="solid"/>
          </a:ln>
        </p:spPr>
      </p:sp>
      <p:sp>
        <p:nvSpPr>
          <p:cNvPr id="37" name="Shape 35"/>
          <p:cNvSpPr/>
          <p:nvPr/>
        </p:nvSpPr>
        <p:spPr>
          <a:xfrm>
            <a:off x="7338060" y="2286000"/>
            <a:ext cx="0" cy="2377440"/>
          </a:xfrm>
          <a:prstGeom prst="line">
            <a:avLst/>
          </a:prstGeom>
          <a:noFill/>
          <a:ln w="7620">
            <a:solidFill>
              <a:srgbClr val="B8C4D3"/>
            </a:solidFill>
            <a:prstDash val="solid"/>
          </a:ln>
        </p:spPr>
      </p:sp>
      <p:sp>
        <p:nvSpPr>
          <p:cNvPr id="38" name="Shape 36"/>
          <p:cNvSpPr/>
          <p:nvPr/>
        </p:nvSpPr>
        <p:spPr>
          <a:xfrm>
            <a:off x="5257800" y="4366260"/>
            <a:ext cx="2377440" cy="0"/>
          </a:xfrm>
          <a:prstGeom prst="line">
            <a:avLst/>
          </a:prstGeom>
          <a:noFill/>
          <a:ln w="7620">
            <a:solidFill>
              <a:srgbClr val="B8C4D3"/>
            </a:solidFill>
            <a:prstDash val="solid"/>
          </a:ln>
        </p:spPr>
      </p:sp>
      <p:sp>
        <p:nvSpPr>
          <p:cNvPr id="39" name="Shape 37"/>
          <p:cNvSpPr/>
          <p:nvPr/>
        </p:nvSpPr>
        <p:spPr>
          <a:xfrm>
            <a:off x="7486650" y="2286000"/>
            <a:ext cx="0" cy="2377440"/>
          </a:xfrm>
          <a:prstGeom prst="line">
            <a:avLst/>
          </a:prstGeom>
          <a:noFill/>
          <a:ln w="7620">
            <a:solidFill>
              <a:srgbClr val="B8C4D3"/>
            </a:solidFill>
            <a:prstDash val="solid"/>
          </a:ln>
        </p:spPr>
      </p:sp>
      <p:sp>
        <p:nvSpPr>
          <p:cNvPr id="40" name="Shape 38"/>
          <p:cNvSpPr/>
          <p:nvPr/>
        </p:nvSpPr>
        <p:spPr>
          <a:xfrm>
            <a:off x="5257800" y="4514850"/>
            <a:ext cx="2377440" cy="0"/>
          </a:xfrm>
          <a:prstGeom prst="line">
            <a:avLst/>
          </a:prstGeom>
          <a:noFill/>
          <a:ln w="7620">
            <a:solidFill>
              <a:srgbClr val="B8C4D3"/>
            </a:solidFill>
            <a:prstDash val="solid"/>
          </a:ln>
        </p:spPr>
      </p:sp>
      <p:sp>
        <p:nvSpPr>
          <p:cNvPr id="41" name="Shape 39"/>
          <p:cNvSpPr/>
          <p:nvPr/>
        </p:nvSpPr>
        <p:spPr>
          <a:xfrm>
            <a:off x="5257800" y="2286000"/>
            <a:ext cx="2377440" cy="2377440"/>
          </a:xfrm>
          <a:prstGeom prst="rect">
            <a:avLst/>
          </a:prstGeom>
          <a:ln w="28575">
            <a:solidFill>
              <a:srgbClr val="2E86AB"/>
            </a:solidFill>
            <a:prstDash val="solid"/>
          </a:ln>
        </p:spPr>
      </p:sp>
      <p:sp>
        <p:nvSpPr>
          <p:cNvPr id="42" name="Shape 40"/>
          <p:cNvSpPr/>
          <p:nvPr/>
        </p:nvSpPr>
        <p:spPr>
          <a:xfrm>
            <a:off x="6297930" y="3326130"/>
            <a:ext cx="297180" cy="297180"/>
          </a:xfrm>
          <a:prstGeom prst="rect">
            <a:avLst/>
          </a:prstGeom>
          <a:solidFill>
            <a:srgbClr val="2E86AB">
              <a:alpha val="75000"/>
            </a:srgbClr>
          </a:solidFill>
          <a:ln w="15875">
            <a:solidFill>
              <a:srgbClr val="2E86AB"/>
            </a:solidFill>
            <a:prstDash val="solid"/>
          </a:ln>
        </p:spPr>
      </p:sp>
      <p:sp>
        <p:nvSpPr>
          <p:cNvPr id="43" name="Shape 41"/>
          <p:cNvSpPr/>
          <p:nvPr/>
        </p:nvSpPr>
        <p:spPr>
          <a:xfrm>
            <a:off x="6446520" y="3474720"/>
            <a:ext cx="148590" cy="148590"/>
          </a:xfrm>
          <a:prstGeom prst="rect">
            <a:avLst/>
          </a:prstGeom>
          <a:solidFill>
            <a:srgbClr val="F2C14E"/>
          </a:solidFill>
          <a:ln w="12700">
            <a:solidFill>
              <a:srgbClr val="B58900"/>
            </a:solidFill>
            <a:prstDash val="solid"/>
          </a:ln>
        </p:spPr>
      </p:sp>
      <p:sp>
        <p:nvSpPr>
          <p:cNvPr id="44" name="Text 42"/>
          <p:cNvSpPr txBox="1"/>
          <p:nvPr/>
        </p:nvSpPr>
        <p:spPr>
          <a:xfrm>
            <a:off x="5303520" y="2304288"/>
            <a:ext cx="146304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frame 128 px = 1.28 km</a:t>
            </a:r>
            <a:endParaRPr lang="en-US" sz="850" dirty="0"/>
          </a:p>
        </p:txBody>
      </p:sp>
      <p:sp>
        <p:nvSpPr>
          <p:cNvPr id="45" name="Text 43"/>
          <p:cNvSpPr txBox="1"/>
          <p:nvPr/>
        </p:nvSpPr>
        <p:spPr>
          <a:xfrm>
            <a:off x="6492240" y="3584448"/>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space-attention cell 160 m</a:t>
            </a:r>
            <a:endParaRPr lang="en-US" sz="850" dirty="0"/>
          </a:p>
        </p:txBody>
      </p:sp>
      <p:sp>
        <p:nvSpPr>
          <p:cNvPr id="46" name="Text 44"/>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Output pixel: 10 m × 10 m (drawn 8× too large).</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Context: the 1.28 km frame. Spatial attention is global inside it on an 8 × 8 grid of 160 m cells; the outer 80 m is trimmed at inference, so no pixel sees further than ~640 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≈10 co-registered sources at 10 m … 300 km native resolution.</a:t>
            </a:r>
            <a:endParaRPr lang="en-US" sz="950" dirty="0"/>
          </a:p>
        </p:txBody>
      </p:sp>
      <p:sp>
        <p:nvSpPr>
          <p:cNvPr id="47" name="Text 45"/>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48" name="Shape 46"/>
          <p:cNvSpPr/>
          <p:nvPr/>
        </p:nvSpPr>
        <p:spPr>
          <a:xfrm>
            <a:off x="8316468" y="2423160"/>
            <a:ext cx="1792224" cy="1446581"/>
          </a:xfrm>
          <a:prstGeom prst="rect">
            <a:avLst/>
          </a:prstGeom>
          <a:solidFill>
            <a:srgbClr val="E07A2F">
              <a:alpha val="18000"/>
            </a:srgbClr>
          </a:solidFill>
          <a:ln w="12700">
            <a:solidFill>
              <a:srgbClr val="E07A2F"/>
            </a:solidFill>
            <a:prstDash val="solid"/>
          </a:ln>
        </p:spPr>
      </p:sp>
      <p:sp>
        <p:nvSpPr>
          <p:cNvPr id="49" name="Text 47"/>
          <p:cNvSpPr txBox="1"/>
          <p:nvPr/>
        </p:nvSpPr>
        <p:spPr>
          <a:xfrm>
            <a:off x="8087868" y="2176272"/>
            <a:ext cx="2249424" cy="237744"/>
          </a:xfrm>
          <a:prstGeom prst="rect">
            <a:avLst/>
          </a:prstGeom>
          <a:noFill/>
          <a:ln/>
        </p:spPr>
        <p:txBody>
          <a:bodyPr wrap="square" lIns="0" tIns="0" rIns="0" bIns="0" rtlCol="0" anchor="b"/>
          <a:lstStyle/>
          <a:p>
            <a:pPr algn="ctr" indent="0" marL="0">
              <a:buNone/>
            </a:pPr>
            <a:r>
              <a:rPr lang="en-US" sz="750" b="1" dirty="0">
                <a:solidFill>
                  <a:srgbClr val="E07A2F"/>
                </a:solidFill>
                <a:latin typeface="Calibri" pitchFamily="34" charset="0"/>
                <a:ea typeface="Calibri" pitchFamily="34" charset="-122"/>
                <a:cs typeface="Calibri" pitchFamily="34" charset="-120"/>
              </a:rPr>
              <a:t>valid period — arbitrary; product = 1 calendar year</a:t>
            </a:r>
            <a:endParaRPr lang="en-US" sz="750" dirty="0"/>
          </a:p>
        </p:txBody>
      </p:sp>
      <p:sp>
        <p:nvSpPr>
          <p:cNvPr id="50" name="Shape 48"/>
          <p:cNvSpPr/>
          <p:nvPr/>
        </p:nvSpPr>
        <p:spPr>
          <a:xfrm>
            <a:off x="8092440" y="3760013"/>
            <a:ext cx="2240280" cy="0"/>
          </a:xfrm>
          <a:prstGeom prst="line">
            <a:avLst/>
          </a:prstGeom>
          <a:noFill/>
          <a:ln w="12700">
            <a:solidFill>
              <a:srgbClr val="1B2430"/>
            </a:solidFill>
            <a:prstDash val="solid"/>
            <a:tailEnd type="triangle"/>
          </a:ln>
        </p:spPr>
      </p:sp>
      <p:sp>
        <p:nvSpPr>
          <p:cNvPr id="51" name="Text 49"/>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52" name="Shape 50"/>
          <p:cNvSpPr/>
          <p:nvPr/>
        </p:nvSpPr>
        <p:spPr>
          <a:xfrm>
            <a:off x="8391144" y="3723437"/>
            <a:ext cx="0" cy="73152"/>
          </a:xfrm>
          <a:prstGeom prst="line">
            <a:avLst/>
          </a:prstGeom>
          <a:noFill/>
          <a:ln w="9525">
            <a:solidFill>
              <a:srgbClr val="1B2430"/>
            </a:solidFill>
            <a:prstDash val="solid"/>
          </a:ln>
        </p:spPr>
      </p:sp>
      <p:sp>
        <p:nvSpPr>
          <p:cNvPr id="53" name="Shape 51"/>
          <p:cNvSpPr/>
          <p:nvPr/>
        </p:nvSpPr>
        <p:spPr>
          <a:xfrm>
            <a:off x="8540496" y="3723437"/>
            <a:ext cx="0" cy="73152"/>
          </a:xfrm>
          <a:prstGeom prst="line">
            <a:avLst/>
          </a:prstGeom>
          <a:noFill/>
          <a:ln w="9525">
            <a:solidFill>
              <a:srgbClr val="1B2430"/>
            </a:solidFill>
            <a:prstDash val="solid"/>
          </a:ln>
        </p:spPr>
      </p:sp>
      <p:sp>
        <p:nvSpPr>
          <p:cNvPr id="54" name="Shape 52"/>
          <p:cNvSpPr/>
          <p:nvPr/>
        </p:nvSpPr>
        <p:spPr>
          <a:xfrm>
            <a:off x="8689848" y="3723437"/>
            <a:ext cx="0" cy="73152"/>
          </a:xfrm>
          <a:prstGeom prst="line">
            <a:avLst/>
          </a:prstGeom>
          <a:noFill/>
          <a:ln w="9525">
            <a:solidFill>
              <a:srgbClr val="1B2430"/>
            </a:solidFill>
            <a:prstDash val="solid"/>
          </a:ln>
        </p:spPr>
      </p:sp>
      <p:sp>
        <p:nvSpPr>
          <p:cNvPr id="55" name="Shape 53"/>
          <p:cNvSpPr/>
          <p:nvPr/>
        </p:nvSpPr>
        <p:spPr>
          <a:xfrm>
            <a:off x="8839200" y="3723437"/>
            <a:ext cx="0" cy="73152"/>
          </a:xfrm>
          <a:prstGeom prst="line">
            <a:avLst/>
          </a:prstGeom>
          <a:noFill/>
          <a:ln w="9525">
            <a:solidFill>
              <a:srgbClr val="1B2430"/>
            </a:solidFill>
            <a:prstDash val="solid"/>
          </a:ln>
        </p:spPr>
      </p:sp>
      <p:sp>
        <p:nvSpPr>
          <p:cNvPr id="56" name="Shape 54"/>
          <p:cNvSpPr/>
          <p:nvPr/>
        </p:nvSpPr>
        <p:spPr>
          <a:xfrm>
            <a:off x="8988552" y="3723437"/>
            <a:ext cx="0" cy="73152"/>
          </a:xfrm>
          <a:prstGeom prst="line">
            <a:avLst/>
          </a:prstGeom>
          <a:noFill/>
          <a:ln w="9525">
            <a:solidFill>
              <a:srgbClr val="1B2430"/>
            </a:solidFill>
            <a:prstDash val="solid"/>
          </a:ln>
        </p:spPr>
      </p:sp>
      <p:sp>
        <p:nvSpPr>
          <p:cNvPr id="57" name="Shape 55"/>
          <p:cNvSpPr/>
          <p:nvPr/>
        </p:nvSpPr>
        <p:spPr>
          <a:xfrm>
            <a:off x="9137904" y="3723437"/>
            <a:ext cx="0" cy="73152"/>
          </a:xfrm>
          <a:prstGeom prst="line">
            <a:avLst/>
          </a:prstGeom>
          <a:noFill/>
          <a:ln w="9525">
            <a:solidFill>
              <a:srgbClr val="1B2430"/>
            </a:solidFill>
            <a:prstDash val="solid"/>
          </a:ln>
        </p:spPr>
      </p:sp>
      <p:sp>
        <p:nvSpPr>
          <p:cNvPr id="58" name="Shape 56"/>
          <p:cNvSpPr/>
          <p:nvPr/>
        </p:nvSpPr>
        <p:spPr>
          <a:xfrm>
            <a:off x="9287256" y="3723437"/>
            <a:ext cx="0" cy="73152"/>
          </a:xfrm>
          <a:prstGeom prst="line">
            <a:avLst/>
          </a:prstGeom>
          <a:noFill/>
          <a:ln w="9525">
            <a:solidFill>
              <a:srgbClr val="1B2430"/>
            </a:solidFill>
            <a:prstDash val="solid"/>
          </a:ln>
        </p:spPr>
      </p:sp>
      <p:sp>
        <p:nvSpPr>
          <p:cNvPr id="59" name="Shape 57"/>
          <p:cNvSpPr/>
          <p:nvPr/>
        </p:nvSpPr>
        <p:spPr>
          <a:xfrm>
            <a:off x="9436608" y="3723437"/>
            <a:ext cx="0" cy="73152"/>
          </a:xfrm>
          <a:prstGeom prst="line">
            <a:avLst/>
          </a:prstGeom>
          <a:noFill/>
          <a:ln w="9525">
            <a:solidFill>
              <a:srgbClr val="1B2430"/>
            </a:solidFill>
            <a:prstDash val="solid"/>
          </a:ln>
        </p:spPr>
      </p:sp>
      <p:sp>
        <p:nvSpPr>
          <p:cNvPr id="60" name="Shape 58"/>
          <p:cNvSpPr/>
          <p:nvPr/>
        </p:nvSpPr>
        <p:spPr>
          <a:xfrm>
            <a:off x="9585960" y="3723437"/>
            <a:ext cx="0" cy="73152"/>
          </a:xfrm>
          <a:prstGeom prst="line">
            <a:avLst/>
          </a:prstGeom>
          <a:noFill/>
          <a:ln w="9525">
            <a:solidFill>
              <a:srgbClr val="1B2430"/>
            </a:solidFill>
            <a:prstDash val="solid"/>
          </a:ln>
        </p:spPr>
      </p:sp>
      <p:sp>
        <p:nvSpPr>
          <p:cNvPr id="61" name="Shape 59"/>
          <p:cNvSpPr/>
          <p:nvPr/>
        </p:nvSpPr>
        <p:spPr>
          <a:xfrm>
            <a:off x="9735312" y="3723437"/>
            <a:ext cx="0" cy="73152"/>
          </a:xfrm>
          <a:prstGeom prst="line">
            <a:avLst/>
          </a:prstGeom>
          <a:noFill/>
          <a:ln w="9525">
            <a:solidFill>
              <a:srgbClr val="1B2430"/>
            </a:solidFill>
            <a:prstDash val="solid"/>
          </a:ln>
        </p:spPr>
      </p:sp>
      <p:sp>
        <p:nvSpPr>
          <p:cNvPr id="62" name="Shape 60"/>
          <p:cNvSpPr/>
          <p:nvPr/>
        </p:nvSpPr>
        <p:spPr>
          <a:xfrm>
            <a:off x="9884664" y="3723437"/>
            <a:ext cx="0" cy="73152"/>
          </a:xfrm>
          <a:prstGeom prst="line">
            <a:avLst/>
          </a:prstGeom>
          <a:noFill/>
          <a:ln w="9525">
            <a:solidFill>
              <a:srgbClr val="1B2430"/>
            </a:solidFill>
            <a:prstDash val="solid"/>
          </a:ln>
        </p:spPr>
      </p:sp>
      <p:sp>
        <p:nvSpPr>
          <p:cNvPr id="63" name="Shape 61"/>
          <p:cNvSpPr/>
          <p:nvPr/>
        </p:nvSpPr>
        <p:spPr>
          <a:xfrm>
            <a:off x="10034016" y="3723437"/>
            <a:ext cx="0" cy="73152"/>
          </a:xfrm>
          <a:prstGeom prst="line">
            <a:avLst/>
          </a:prstGeom>
          <a:noFill/>
          <a:ln w="9525">
            <a:solidFill>
              <a:srgbClr val="1B2430"/>
            </a:solidFill>
            <a:prstDash val="solid"/>
          </a:ln>
        </p:spPr>
      </p:sp>
      <p:sp>
        <p:nvSpPr>
          <p:cNvPr id="64" name="Text 62"/>
          <p:cNvSpPr txBox="1"/>
          <p:nvPr/>
        </p:nvSpPr>
        <p:spPr>
          <a:xfrm>
            <a:off x="8362188" y="2668829"/>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S-2 (~5 d), S-1 (6–12 d)</a:t>
            </a:r>
            <a:endParaRPr lang="en-US" sz="750" dirty="0"/>
          </a:p>
        </p:txBody>
      </p:sp>
      <p:sp>
        <p:nvSpPr>
          <p:cNvPr id="65" name="Shape 63"/>
          <p:cNvSpPr/>
          <p:nvPr/>
        </p:nvSpPr>
        <p:spPr>
          <a:xfrm>
            <a:off x="8325612" y="2874569"/>
            <a:ext cx="45720" cy="45720"/>
          </a:xfrm>
          <a:prstGeom prst="ellipse">
            <a:avLst/>
          </a:prstGeom>
          <a:solidFill>
            <a:srgbClr val="E07A2F"/>
          </a:solidFill>
          <a:ln w="12700">
            <a:solidFill>
              <a:srgbClr val="333333"/>
            </a:solidFill>
            <a:prstDash val="solid"/>
          </a:ln>
        </p:spPr>
      </p:sp>
      <p:sp>
        <p:nvSpPr>
          <p:cNvPr id="66" name="Shape 64"/>
          <p:cNvSpPr/>
          <p:nvPr/>
        </p:nvSpPr>
        <p:spPr>
          <a:xfrm>
            <a:off x="8389620" y="2874569"/>
            <a:ext cx="45720" cy="45720"/>
          </a:xfrm>
          <a:prstGeom prst="ellipse">
            <a:avLst/>
          </a:prstGeom>
          <a:solidFill>
            <a:srgbClr val="E07A2F"/>
          </a:solidFill>
          <a:ln w="12700">
            <a:solidFill>
              <a:srgbClr val="333333"/>
            </a:solidFill>
            <a:prstDash val="solid"/>
          </a:ln>
        </p:spPr>
      </p:sp>
      <p:sp>
        <p:nvSpPr>
          <p:cNvPr id="67" name="Shape 65"/>
          <p:cNvSpPr/>
          <p:nvPr/>
        </p:nvSpPr>
        <p:spPr>
          <a:xfrm>
            <a:off x="8453628" y="2874569"/>
            <a:ext cx="45720" cy="45720"/>
          </a:xfrm>
          <a:prstGeom prst="ellipse">
            <a:avLst/>
          </a:prstGeom>
          <a:solidFill>
            <a:srgbClr val="E07A2F"/>
          </a:solidFill>
          <a:ln w="12700">
            <a:solidFill>
              <a:srgbClr val="333333"/>
            </a:solidFill>
            <a:prstDash val="solid"/>
          </a:ln>
        </p:spPr>
      </p:sp>
      <p:sp>
        <p:nvSpPr>
          <p:cNvPr id="68" name="Shape 66"/>
          <p:cNvSpPr/>
          <p:nvPr/>
        </p:nvSpPr>
        <p:spPr>
          <a:xfrm>
            <a:off x="8517636" y="2874569"/>
            <a:ext cx="45720" cy="45720"/>
          </a:xfrm>
          <a:prstGeom prst="ellipse">
            <a:avLst/>
          </a:prstGeom>
          <a:solidFill>
            <a:srgbClr val="E07A2F"/>
          </a:solidFill>
          <a:ln w="12700">
            <a:solidFill>
              <a:srgbClr val="333333"/>
            </a:solidFill>
            <a:prstDash val="solid"/>
          </a:ln>
        </p:spPr>
      </p:sp>
      <p:sp>
        <p:nvSpPr>
          <p:cNvPr id="69" name="Shape 67"/>
          <p:cNvSpPr/>
          <p:nvPr/>
        </p:nvSpPr>
        <p:spPr>
          <a:xfrm>
            <a:off x="8581644" y="2874569"/>
            <a:ext cx="45720" cy="45720"/>
          </a:xfrm>
          <a:prstGeom prst="ellipse">
            <a:avLst/>
          </a:prstGeom>
          <a:solidFill>
            <a:srgbClr val="E07A2F"/>
          </a:solidFill>
          <a:ln w="12700">
            <a:solidFill>
              <a:srgbClr val="333333"/>
            </a:solidFill>
            <a:prstDash val="solid"/>
          </a:ln>
        </p:spPr>
      </p:sp>
      <p:sp>
        <p:nvSpPr>
          <p:cNvPr id="70" name="Shape 68"/>
          <p:cNvSpPr/>
          <p:nvPr/>
        </p:nvSpPr>
        <p:spPr>
          <a:xfrm>
            <a:off x="8645652" y="2874569"/>
            <a:ext cx="45720" cy="45720"/>
          </a:xfrm>
          <a:prstGeom prst="ellipse">
            <a:avLst/>
          </a:prstGeom>
          <a:solidFill>
            <a:srgbClr val="E07A2F"/>
          </a:solidFill>
          <a:ln w="12700">
            <a:solidFill>
              <a:srgbClr val="333333"/>
            </a:solidFill>
            <a:prstDash val="solid"/>
          </a:ln>
        </p:spPr>
      </p:sp>
      <p:sp>
        <p:nvSpPr>
          <p:cNvPr id="71" name="Shape 69"/>
          <p:cNvSpPr/>
          <p:nvPr/>
        </p:nvSpPr>
        <p:spPr>
          <a:xfrm>
            <a:off x="8709660" y="2874569"/>
            <a:ext cx="45720" cy="45720"/>
          </a:xfrm>
          <a:prstGeom prst="ellipse">
            <a:avLst/>
          </a:prstGeom>
          <a:solidFill>
            <a:srgbClr val="E07A2F"/>
          </a:solidFill>
          <a:ln w="12700">
            <a:solidFill>
              <a:srgbClr val="333333"/>
            </a:solidFill>
            <a:prstDash val="solid"/>
          </a:ln>
        </p:spPr>
      </p:sp>
      <p:sp>
        <p:nvSpPr>
          <p:cNvPr id="72" name="Shape 70"/>
          <p:cNvSpPr/>
          <p:nvPr/>
        </p:nvSpPr>
        <p:spPr>
          <a:xfrm>
            <a:off x="8773668" y="2874569"/>
            <a:ext cx="45720" cy="45720"/>
          </a:xfrm>
          <a:prstGeom prst="ellipse">
            <a:avLst/>
          </a:prstGeom>
          <a:solidFill>
            <a:srgbClr val="E07A2F"/>
          </a:solidFill>
          <a:ln w="12700">
            <a:solidFill>
              <a:srgbClr val="333333"/>
            </a:solidFill>
            <a:prstDash val="solid"/>
          </a:ln>
        </p:spPr>
      </p:sp>
      <p:sp>
        <p:nvSpPr>
          <p:cNvPr id="73" name="Shape 71"/>
          <p:cNvSpPr/>
          <p:nvPr/>
        </p:nvSpPr>
        <p:spPr>
          <a:xfrm>
            <a:off x="8837676" y="2874569"/>
            <a:ext cx="45720" cy="45720"/>
          </a:xfrm>
          <a:prstGeom prst="ellipse">
            <a:avLst/>
          </a:prstGeom>
          <a:solidFill>
            <a:srgbClr val="E07A2F"/>
          </a:solidFill>
          <a:ln w="12700">
            <a:solidFill>
              <a:srgbClr val="333333"/>
            </a:solidFill>
            <a:prstDash val="solid"/>
          </a:ln>
        </p:spPr>
      </p:sp>
      <p:sp>
        <p:nvSpPr>
          <p:cNvPr id="74" name="Shape 72"/>
          <p:cNvSpPr/>
          <p:nvPr/>
        </p:nvSpPr>
        <p:spPr>
          <a:xfrm>
            <a:off x="8901684" y="2874569"/>
            <a:ext cx="45720" cy="45720"/>
          </a:xfrm>
          <a:prstGeom prst="ellipse">
            <a:avLst/>
          </a:prstGeom>
          <a:solidFill>
            <a:srgbClr val="E07A2F"/>
          </a:solidFill>
          <a:ln w="12700">
            <a:solidFill>
              <a:srgbClr val="333333"/>
            </a:solidFill>
            <a:prstDash val="solid"/>
          </a:ln>
        </p:spPr>
      </p:sp>
      <p:sp>
        <p:nvSpPr>
          <p:cNvPr id="75" name="Shape 73"/>
          <p:cNvSpPr/>
          <p:nvPr/>
        </p:nvSpPr>
        <p:spPr>
          <a:xfrm>
            <a:off x="8965692" y="2874569"/>
            <a:ext cx="45720" cy="45720"/>
          </a:xfrm>
          <a:prstGeom prst="ellipse">
            <a:avLst/>
          </a:prstGeom>
          <a:solidFill>
            <a:srgbClr val="E07A2F"/>
          </a:solidFill>
          <a:ln w="12700">
            <a:solidFill>
              <a:srgbClr val="333333"/>
            </a:solidFill>
            <a:prstDash val="solid"/>
          </a:ln>
        </p:spPr>
      </p:sp>
      <p:sp>
        <p:nvSpPr>
          <p:cNvPr id="76" name="Shape 74"/>
          <p:cNvSpPr/>
          <p:nvPr/>
        </p:nvSpPr>
        <p:spPr>
          <a:xfrm>
            <a:off x="9029700" y="2874569"/>
            <a:ext cx="45720" cy="45720"/>
          </a:xfrm>
          <a:prstGeom prst="ellipse">
            <a:avLst/>
          </a:prstGeom>
          <a:solidFill>
            <a:srgbClr val="E07A2F"/>
          </a:solidFill>
          <a:ln w="12700">
            <a:solidFill>
              <a:srgbClr val="333333"/>
            </a:solidFill>
            <a:prstDash val="solid"/>
          </a:ln>
        </p:spPr>
      </p:sp>
      <p:sp>
        <p:nvSpPr>
          <p:cNvPr id="77" name="Shape 75"/>
          <p:cNvSpPr/>
          <p:nvPr/>
        </p:nvSpPr>
        <p:spPr>
          <a:xfrm>
            <a:off x="9093708" y="2874569"/>
            <a:ext cx="45720" cy="45720"/>
          </a:xfrm>
          <a:prstGeom prst="ellipse">
            <a:avLst/>
          </a:prstGeom>
          <a:solidFill>
            <a:srgbClr val="E07A2F"/>
          </a:solidFill>
          <a:ln w="12700">
            <a:solidFill>
              <a:srgbClr val="333333"/>
            </a:solidFill>
            <a:prstDash val="solid"/>
          </a:ln>
        </p:spPr>
      </p:sp>
      <p:sp>
        <p:nvSpPr>
          <p:cNvPr id="78" name="Shape 76"/>
          <p:cNvSpPr/>
          <p:nvPr/>
        </p:nvSpPr>
        <p:spPr>
          <a:xfrm>
            <a:off x="9157716" y="2874569"/>
            <a:ext cx="45720" cy="45720"/>
          </a:xfrm>
          <a:prstGeom prst="ellipse">
            <a:avLst/>
          </a:prstGeom>
          <a:solidFill>
            <a:srgbClr val="E07A2F"/>
          </a:solidFill>
          <a:ln w="12700">
            <a:solidFill>
              <a:srgbClr val="333333"/>
            </a:solidFill>
            <a:prstDash val="solid"/>
          </a:ln>
        </p:spPr>
      </p:sp>
      <p:sp>
        <p:nvSpPr>
          <p:cNvPr id="79" name="Shape 77"/>
          <p:cNvSpPr/>
          <p:nvPr/>
        </p:nvSpPr>
        <p:spPr>
          <a:xfrm>
            <a:off x="9221724" y="2874569"/>
            <a:ext cx="45720" cy="45720"/>
          </a:xfrm>
          <a:prstGeom prst="ellipse">
            <a:avLst/>
          </a:prstGeom>
          <a:solidFill>
            <a:srgbClr val="E07A2F"/>
          </a:solidFill>
          <a:ln w="12700">
            <a:solidFill>
              <a:srgbClr val="333333"/>
            </a:solidFill>
            <a:prstDash val="solid"/>
          </a:ln>
        </p:spPr>
      </p:sp>
      <p:sp>
        <p:nvSpPr>
          <p:cNvPr id="80" name="Shape 78"/>
          <p:cNvSpPr/>
          <p:nvPr/>
        </p:nvSpPr>
        <p:spPr>
          <a:xfrm>
            <a:off x="9285732" y="2874569"/>
            <a:ext cx="45720" cy="45720"/>
          </a:xfrm>
          <a:prstGeom prst="ellipse">
            <a:avLst/>
          </a:prstGeom>
          <a:solidFill>
            <a:srgbClr val="E07A2F"/>
          </a:solidFill>
          <a:ln w="12700">
            <a:solidFill>
              <a:srgbClr val="333333"/>
            </a:solidFill>
            <a:prstDash val="solid"/>
          </a:ln>
        </p:spPr>
      </p:sp>
      <p:sp>
        <p:nvSpPr>
          <p:cNvPr id="81" name="Shape 79"/>
          <p:cNvSpPr/>
          <p:nvPr/>
        </p:nvSpPr>
        <p:spPr>
          <a:xfrm>
            <a:off x="9349740" y="2874569"/>
            <a:ext cx="45720" cy="45720"/>
          </a:xfrm>
          <a:prstGeom prst="ellipse">
            <a:avLst/>
          </a:prstGeom>
          <a:solidFill>
            <a:srgbClr val="E07A2F"/>
          </a:solidFill>
          <a:ln w="12700">
            <a:solidFill>
              <a:srgbClr val="333333"/>
            </a:solidFill>
            <a:prstDash val="solid"/>
          </a:ln>
        </p:spPr>
      </p:sp>
      <p:sp>
        <p:nvSpPr>
          <p:cNvPr id="82" name="Shape 80"/>
          <p:cNvSpPr/>
          <p:nvPr/>
        </p:nvSpPr>
        <p:spPr>
          <a:xfrm>
            <a:off x="9413748" y="2874569"/>
            <a:ext cx="45720" cy="45720"/>
          </a:xfrm>
          <a:prstGeom prst="ellipse">
            <a:avLst/>
          </a:prstGeom>
          <a:solidFill>
            <a:srgbClr val="E07A2F"/>
          </a:solidFill>
          <a:ln w="12700">
            <a:solidFill>
              <a:srgbClr val="333333"/>
            </a:solidFill>
            <a:prstDash val="solid"/>
          </a:ln>
        </p:spPr>
      </p:sp>
      <p:sp>
        <p:nvSpPr>
          <p:cNvPr id="83" name="Shape 81"/>
          <p:cNvSpPr/>
          <p:nvPr/>
        </p:nvSpPr>
        <p:spPr>
          <a:xfrm>
            <a:off x="9477756" y="2874569"/>
            <a:ext cx="45720" cy="45720"/>
          </a:xfrm>
          <a:prstGeom prst="ellipse">
            <a:avLst/>
          </a:prstGeom>
          <a:solidFill>
            <a:srgbClr val="E07A2F"/>
          </a:solidFill>
          <a:ln w="12700">
            <a:solidFill>
              <a:srgbClr val="333333"/>
            </a:solidFill>
            <a:prstDash val="solid"/>
          </a:ln>
        </p:spPr>
      </p:sp>
      <p:sp>
        <p:nvSpPr>
          <p:cNvPr id="84" name="Shape 82"/>
          <p:cNvSpPr/>
          <p:nvPr/>
        </p:nvSpPr>
        <p:spPr>
          <a:xfrm>
            <a:off x="9541764" y="2874569"/>
            <a:ext cx="45720" cy="45720"/>
          </a:xfrm>
          <a:prstGeom prst="ellipse">
            <a:avLst/>
          </a:prstGeom>
          <a:solidFill>
            <a:srgbClr val="E07A2F"/>
          </a:solidFill>
          <a:ln w="12700">
            <a:solidFill>
              <a:srgbClr val="333333"/>
            </a:solidFill>
            <a:prstDash val="solid"/>
          </a:ln>
        </p:spPr>
      </p:sp>
      <p:sp>
        <p:nvSpPr>
          <p:cNvPr id="85" name="Shape 83"/>
          <p:cNvSpPr/>
          <p:nvPr/>
        </p:nvSpPr>
        <p:spPr>
          <a:xfrm>
            <a:off x="9605772" y="2874569"/>
            <a:ext cx="45720" cy="45720"/>
          </a:xfrm>
          <a:prstGeom prst="ellipse">
            <a:avLst/>
          </a:prstGeom>
          <a:solidFill>
            <a:srgbClr val="E07A2F"/>
          </a:solidFill>
          <a:ln w="12700">
            <a:solidFill>
              <a:srgbClr val="333333"/>
            </a:solidFill>
            <a:prstDash val="solid"/>
          </a:ln>
        </p:spPr>
      </p:sp>
      <p:sp>
        <p:nvSpPr>
          <p:cNvPr id="86" name="Shape 84"/>
          <p:cNvSpPr/>
          <p:nvPr/>
        </p:nvSpPr>
        <p:spPr>
          <a:xfrm>
            <a:off x="9669780" y="2874569"/>
            <a:ext cx="45720" cy="45720"/>
          </a:xfrm>
          <a:prstGeom prst="ellipse">
            <a:avLst/>
          </a:prstGeom>
          <a:solidFill>
            <a:srgbClr val="E07A2F"/>
          </a:solidFill>
          <a:ln w="12700">
            <a:solidFill>
              <a:srgbClr val="333333"/>
            </a:solidFill>
            <a:prstDash val="solid"/>
          </a:ln>
        </p:spPr>
      </p:sp>
      <p:sp>
        <p:nvSpPr>
          <p:cNvPr id="87" name="Shape 85"/>
          <p:cNvSpPr/>
          <p:nvPr/>
        </p:nvSpPr>
        <p:spPr>
          <a:xfrm>
            <a:off x="9733788" y="2874569"/>
            <a:ext cx="45720" cy="45720"/>
          </a:xfrm>
          <a:prstGeom prst="ellipse">
            <a:avLst/>
          </a:prstGeom>
          <a:solidFill>
            <a:srgbClr val="E07A2F"/>
          </a:solidFill>
          <a:ln w="12700">
            <a:solidFill>
              <a:srgbClr val="333333"/>
            </a:solidFill>
            <a:prstDash val="solid"/>
          </a:ln>
        </p:spPr>
      </p:sp>
      <p:sp>
        <p:nvSpPr>
          <p:cNvPr id="88" name="Shape 86"/>
          <p:cNvSpPr/>
          <p:nvPr/>
        </p:nvSpPr>
        <p:spPr>
          <a:xfrm>
            <a:off x="9797796" y="2874569"/>
            <a:ext cx="45720" cy="45720"/>
          </a:xfrm>
          <a:prstGeom prst="ellipse">
            <a:avLst/>
          </a:prstGeom>
          <a:solidFill>
            <a:srgbClr val="E07A2F"/>
          </a:solidFill>
          <a:ln w="12700">
            <a:solidFill>
              <a:srgbClr val="333333"/>
            </a:solidFill>
            <a:prstDash val="solid"/>
          </a:ln>
        </p:spPr>
      </p:sp>
      <p:sp>
        <p:nvSpPr>
          <p:cNvPr id="89" name="Shape 87"/>
          <p:cNvSpPr/>
          <p:nvPr/>
        </p:nvSpPr>
        <p:spPr>
          <a:xfrm>
            <a:off x="9861804" y="2874569"/>
            <a:ext cx="45720" cy="45720"/>
          </a:xfrm>
          <a:prstGeom prst="ellipse">
            <a:avLst/>
          </a:prstGeom>
          <a:solidFill>
            <a:srgbClr val="E07A2F"/>
          </a:solidFill>
          <a:ln w="12700">
            <a:solidFill>
              <a:srgbClr val="333333"/>
            </a:solidFill>
            <a:prstDash val="solid"/>
          </a:ln>
        </p:spPr>
      </p:sp>
      <p:sp>
        <p:nvSpPr>
          <p:cNvPr id="90" name="Shape 88"/>
          <p:cNvSpPr/>
          <p:nvPr/>
        </p:nvSpPr>
        <p:spPr>
          <a:xfrm>
            <a:off x="9925812" y="2874569"/>
            <a:ext cx="45720" cy="45720"/>
          </a:xfrm>
          <a:prstGeom prst="ellipse">
            <a:avLst/>
          </a:prstGeom>
          <a:solidFill>
            <a:srgbClr val="E07A2F"/>
          </a:solidFill>
          <a:ln w="12700">
            <a:solidFill>
              <a:srgbClr val="333333"/>
            </a:solidFill>
            <a:prstDash val="solid"/>
          </a:ln>
        </p:spPr>
      </p:sp>
      <p:sp>
        <p:nvSpPr>
          <p:cNvPr id="91" name="Shape 89"/>
          <p:cNvSpPr/>
          <p:nvPr/>
        </p:nvSpPr>
        <p:spPr>
          <a:xfrm>
            <a:off x="9989820" y="2874569"/>
            <a:ext cx="45720" cy="45720"/>
          </a:xfrm>
          <a:prstGeom prst="ellipse">
            <a:avLst/>
          </a:prstGeom>
          <a:solidFill>
            <a:srgbClr val="E07A2F"/>
          </a:solidFill>
          <a:ln w="12700">
            <a:solidFill>
              <a:srgbClr val="333333"/>
            </a:solidFill>
            <a:prstDash val="solid"/>
          </a:ln>
        </p:spPr>
      </p:sp>
      <p:sp>
        <p:nvSpPr>
          <p:cNvPr id="92" name="Shape 90"/>
          <p:cNvSpPr/>
          <p:nvPr/>
        </p:nvSpPr>
        <p:spPr>
          <a:xfrm>
            <a:off x="10053828" y="2874569"/>
            <a:ext cx="45720" cy="45720"/>
          </a:xfrm>
          <a:prstGeom prst="ellipse">
            <a:avLst/>
          </a:prstGeom>
          <a:solidFill>
            <a:srgbClr val="E07A2F"/>
          </a:solidFill>
          <a:ln w="12700">
            <a:solidFill>
              <a:srgbClr val="333333"/>
            </a:solidFill>
            <a:prstDash val="solid"/>
          </a:ln>
        </p:spPr>
      </p:sp>
      <p:sp>
        <p:nvSpPr>
          <p:cNvPr id="93" name="Text 91"/>
          <p:cNvSpPr txBox="1"/>
          <p:nvPr/>
        </p:nvSpPr>
        <p:spPr>
          <a:xfrm>
            <a:off x="8362188" y="2977286"/>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Landsat (16 d), PALSAR-2 (14 d)</a:t>
            </a:r>
            <a:endParaRPr lang="en-US" sz="750" dirty="0"/>
          </a:p>
        </p:txBody>
      </p:sp>
      <p:sp>
        <p:nvSpPr>
          <p:cNvPr id="94" name="Shape 92"/>
          <p:cNvSpPr/>
          <p:nvPr/>
        </p:nvSpPr>
        <p:spPr>
          <a:xfrm>
            <a:off x="8353044" y="3178454"/>
            <a:ext cx="54864" cy="54864"/>
          </a:xfrm>
          <a:prstGeom prst="ellipse">
            <a:avLst/>
          </a:prstGeom>
          <a:solidFill>
            <a:srgbClr val="E07A2F"/>
          </a:solidFill>
          <a:ln w="12700">
            <a:solidFill>
              <a:srgbClr val="333333"/>
            </a:solidFill>
            <a:prstDash val="solid"/>
          </a:ln>
        </p:spPr>
      </p:sp>
      <p:sp>
        <p:nvSpPr>
          <p:cNvPr id="95" name="Shape 93"/>
          <p:cNvSpPr/>
          <p:nvPr/>
        </p:nvSpPr>
        <p:spPr>
          <a:xfrm>
            <a:off x="8481060" y="3178454"/>
            <a:ext cx="54864" cy="54864"/>
          </a:xfrm>
          <a:prstGeom prst="ellipse">
            <a:avLst/>
          </a:prstGeom>
          <a:solidFill>
            <a:srgbClr val="E07A2F"/>
          </a:solidFill>
          <a:ln w="12700">
            <a:solidFill>
              <a:srgbClr val="333333"/>
            </a:solidFill>
            <a:prstDash val="solid"/>
          </a:ln>
        </p:spPr>
      </p:sp>
      <p:sp>
        <p:nvSpPr>
          <p:cNvPr id="96" name="Shape 94"/>
          <p:cNvSpPr/>
          <p:nvPr/>
        </p:nvSpPr>
        <p:spPr>
          <a:xfrm>
            <a:off x="8609076" y="3178454"/>
            <a:ext cx="54864" cy="54864"/>
          </a:xfrm>
          <a:prstGeom prst="ellipse">
            <a:avLst/>
          </a:prstGeom>
          <a:solidFill>
            <a:srgbClr val="E07A2F"/>
          </a:solidFill>
          <a:ln w="12700">
            <a:solidFill>
              <a:srgbClr val="333333"/>
            </a:solidFill>
            <a:prstDash val="solid"/>
          </a:ln>
        </p:spPr>
      </p:sp>
      <p:sp>
        <p:nvSpPr>
          <p:cNvPr id="97" name="Shape 95"/>
          <p:cNvSpPr/>
          <p:nvPr/>
        </p:nvSpPr>
        <p:spPr>
          <a:xfrm>
            <a:off x="8737092" y="3178454"/>
            <a:ext cx="54864" cy="54864"/>
          </a:xfrm>
          <a:prstGeom prst="ellipse">
            <a:avLst/>
          </a:prstGeom>
          <a:solidFill>
            <a:srgbClr val="E07A2F"/>
          </a:solidFill>
          <a:ln w="12700">
            <a:solidFill>
              <a:srgbClr val="333333"/>
            </a:solidFill>
            <a:prstDash val="solid"/>
          </a:ln>
        </p:spPr>
      </p:sp>
      <p:sp>
        <p:nvSpPr>
          <p:cNvPr id="98" name="Shape 96"/>
          <p:cNvSpPr/>
          <p:nvPr/>
        </p:nvSpPr>
        <p:spPr>
          <a:xfrm>
            <a:off x="8865108" y="3178454"/>
            <a:ext cx="54864" cy="54864"/>
          </a:xfrm>
          <a:prstGeom prst="ellipse">
            <a:avLst/>
          </a:prstGeom>
          <a:solidFill>
            <a:srgbClr val="E07A2F"/>
          </a:solidFill>
          <a:ln w="12700">
            <a:solidFill>
              <a:srgbClr val="333333"/>
            </a:solidFill>
            <a:prstDash val="solid"/>
          </a:ln>
        </p:spPr>
      </p:sp>
      <p:sp>
        <p:nvSpPr>
          <p:cNvPr id="99" name="Shape 97"/>
          <p:cNvSpPr/>
          <p:nvPr/>
        </p:nvSpPr>
        <p:spPr>
          <a:xfrm>
            <a:off x="8993124" y="3178454"/>
            <a:ext cx="54864" cy="54864"/>
          </a:xfrm>
          <a:prstGeom prst="ellipse">
            <a:avLst/>
          </a:prstGeom>
          <a:solidFill>
            <a:srgbClr val="E07A2F"/>
          </a:solidFill>
          <a:ln w="12700">
            <a:solidFill>
              <a:srgbClr val="333333"/>
            </a:solidFill>
            <a:prstDash val="solid"/>
          </a:ln>
        </p:spPr>
      </p:sp>
      <p:sp>
        <p:nvSpPr>
          <p:cNvPr id="100" name="Shape 98"/>
          <p:cNvSpPr/>
          <p:nvPr/>
        </p:nvSpPr>
        <p:spPr>
          <a:xfrm>
            <a:off x="9121140" y="3178454"/>
            <a:ext cx="54864" cy="54864"/>
          </a:xfrm>
          <a:prstGeom prst="ellipse">
            <a:avLst/>
          </a:prstGeom>
          <a:solidFill>
            <a:srgbClr val="E07A2F"/>
          </a:solidFill>
          <a:ln w="12700">
            <a:solidFill>
              <a:srgbClr val="333333"/>
            </a:solidFill>
            <a:prstDash val="solid"/>
          </a:ln>
        </p:spPr>
      </p:sp>
      <p:sp>
        <p:nvSpPr>
          <p:cNvPr id="101" name="Shape 99"/>
          <p:cNvSpPr/>
          <p:nvPr/>
        </p:nvSpPr>
        <p:spPr>
          <a:xfrm>
            <a:off x="9249156" y="3178454"/>
            <a:ext cx="54864" cy="54864"/>
          </a:xfrm>
          <a:prstGeom prst="ellipse">
            <a:avLst/>
          </a:prstGeom>
          <a:solidFill>
            <a:srgbClr val="E07A2F"/>
          </a:solidFill>
          <a:ln w="12700">
            <a:solidFill>
              <a:srgbClr val="333333"/>
            </a:solidFill>
            <a:prstDash val="solid"/>
          </a:ln>
        </p:spPr>
      </p:sp>
      <p:sp>
        <p:nvSpPr>
          <p:cNvPr id="102" name="Shape 100"/>
          <p:cNvSpPr/>
          <p:nvPr/>
        </p:nvSpPr>
        <p:spPr>
          <a:xfrm>
            <a:off x="9377172" y="3178454"/>
            <a:ext cx="54864" cy="54864"/>
          </a:xfrm>
          <a:prstGeom prst="ellipse">
            <a:avLst/>
          </a:prstGeom>
          <a:solidFill>
            <a:srgbClr val="E07A2F"/>
          </a:solidFill>
          <a:ln w="12700">
            <a:solidFill>
              <a:srgbClr val="333333"/>
            </a:solidFill>
            <a:prstDash val="solid"/>
          </a:ln>
        </p:spPr>
      </p:sp>
      <p:sp>
        <p:nvSpPr>
          <p:cNvPr id="103" name="Shape 101"/>
          <p:cNvSpPr/>
          <p:nvPr/>
        </p:nvSpPr>
        <p:spPr>
          <a:xfrm>
            <a:off x="9505188" y="3178454"/>
            <a:ext cx="54864" cy="54864"/>
          </a:xfrm>
          <a:prstGeom prst="ellipse">
            <a:avLst/>
          </a:prstGeom>
          <a:solidFill>
            <a:srgbClr val="E07A2F"/>
          </a:solidFill>
          <a:ln w="12700">
            <a:solidFill>
              <a:srgbClr val="333333"/>
            </a:solidFill>
            <a:prstDash val="solid"/>
          </a:ln>
        </p:spPr>
      </p:sp>
      <p:sp>
        <p:nvSpPr>
          <p:cNvPr id="104" name="Shape 102"/>
          <p:cNvSpPr/>
          <p:nvPr/>
        </p:nvSpPr>
        <p:spPr>
          <a:xfrm>
            <a:off x="9633204" y="3178454"/>
            <a:ext cx="54864" cy="54864"/>
          </a:xfrm>
          <a:prstGeom prst="ellipse">
            <a:avLst/>
          </a:prstGeom>
          <a:solidFill>
            <a:srgbClr val="E07A2F"/>
          </a:solidFill>
          <a:ln w="12700">
            <a:solidFill>
              <a:srgbClr val="333333"/>
            </a:solidFill>
            <a:prstDash val="solid"/>
          </a:ln>
        </p:spPr>
      </p:sp>
      <p:sp>
        <p:nvSpPr>
          <p:cNvPr id="105" name="Shape 103"/>
          <p:cNvSpPr/>
          <p:nvPr/>
        </p:nvSpPr>
        <p:spPr>
          <a:xfrm>
            <a:off x="9761220" y="3178454"/>
            <a:ext cx="54864" cy="54864"/>
          </a:xfrm>
          <a:prstGeom prst="ellipse">
            <a:avLst/>
          </a:prstGeom>
          <a:solidFill>
            <a:srgbClr val="E07A2F"/>
          </a:solidFill>
          <a:ln w="12700">
            <a:solidFill>
              <a:srgbClr val="333333"/>
            </a:solidFill>
            <a:prstDash val="solid"/>
          </a:ln>
        </p:spPr>
      </p:sp>
      <p:sp>
        <p:nvSpPr>
          <p:cNvPr id="106" name="Shape 104"/>
          <p:cNvSpPr/>
          <p:nvPr/>
        </p:nvSpPr>
        <p:spPr>
          <a:xfrm>
            <a:off x="9889236" y="3178454"/>
            <a:ext cx="54864" cy="54864"/>
          </a:xfrm>
          <a:prstGeom prst="ellipse">
            <a:avLst/>
          </a:prstGeom>
          <a:solidFill>
            <a:srgbClr val="E07A2F"/>
          </a:solidFill>
          <a:ln w="12700">
            <a:solidFill>
              <a:srgbClr val="333333"/>
            </a:solidFill>
            <a:prstDash val="solid"/>
          </a:ln>
        </p:spPr>
      </p:sp>
      <p:sp>
        <p:nvSpPr>
          <p:cNvPr id="107" name="Shape 105"/>
          <p:cNvSpPr/>
          <p:nvPr/>
        </p:nvSpPr>
        <p:spPr>
          <a:xfrm>
            <a:off x="10017252" y="3178454"/>
            <a:ext cx="54864" cy="54864"/>
          </a:xfrm>
          <a:prstGeom prst="ellipse">
            <a:avLst/>
          </a:prstGeom>
          <a:solidFill>
            <a:srgbClr val="E07A2F"/>
          </a:solidFill>
          <a:ln w="12700">
            <a:solidFill>
              <a:srgbClr val="333333"/>
            </a:solidFill>
            <a:prstDash val="solid"/>
          </a:ln>
        </p:spPr>
      </p:sp>
      <p:sp>
        <p:nvSpPr>
          <p:cNvPr id="108" name="Text 106"/>
          <p:cNvSpPr txBox="1"/>
          <p:nvPr/>
        </p:nvSpPr>
        <p:spPr>
          <a:xfrm>
            <a:off x="8362188" y="3285744"/>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B85C1E"/>
                </a:solidFill>
                <a:latin typeface="Calibri" pitchFamily="34" charset="0"/>
                <a:ea typeface="Calibri" pitchFamily="34" charset="-122"/>
                <a:cs typeface="Calibri" pitchFamily="34" charset="-120"/>
              </a:rPr>
              <a:t>ERA5 daily, GRACE monthly, static DEM/LC</a:t>
            </a:r>
            <a:endParaRPr lang="en-US" sz="750" dirty="0"/>
          </a:p>
        </p:txBody>
      </p:sp>
      <p:sp>
        <p:nvSpPr>
          <p:cNvPr id="109" name="Shape 107"/>
          <p:cNvSpPr/>
          <p:nvPr/>
        </p:nvSpPr>
        <p:spPr>
          <a:xfrm>
            <a:off x="8433816" y="3482340"/>
            <a:ext cx="64008" cy="64008"/>
          </a:xfrm>
          <a:prstGeom prst="ellipse">
            <a:avLst/>
          </a:prstGeom>
          <a:solidFill>
            <a:srgbClr val="B85C1E"/>
          </a:solidFill>
          <a:ln w="12700">
            <a:solidFill>
              <a:srgbClr val="333333"/>
            </a:solidFill>
            <a:prstDash val="solid"/>
          </a:ln>
        </p:spPr>
      </p:sp>
      <p:sp>
        <p:nvSpPr>
          <p:cNvPr id="110" name="Shape 108"/>
          <p:cNvSpPr/>
          <p:nvPr/>
        </p:nvSpPr>
        <p:spPr>
          <a:xfrm>
            <a:off x="8732520" y="3482340"/>
            <a:ext cx="64008" cy="64008"/>
          </a:xfrm>
          <a:prstGeom prst="ellipse">
            <a:avLst/>
          </a:prstGeom>
          <a:solidFill>
            <a:srgbClr val="B85C1E"/>
          </a:solidFill>
          <a:ln w="12700">
            <a:solidFill>
              <a:srgbClr val="333333"/>
            </a:solidFill>
            <a:prstDash val="solid"/>
          </a:ln>
        </p:spPr>
      </p:sp>
      <p:sp>
        <p:nvSpPr>
          <p:cNvPr id="111" name="Shape 109"/>
          <p:cNvSpPr/>
          <p:nvPr/>
        </p:nvSpPr>
        <p:spPr>
          <a:xfrm>
            <a:off x="9031224" y="3482340"/>
            <a:ext cx="64008" cy="64008"/>
          </a:xfrm>
          <a:prstGeom prst="ellipse">
            <a:avLst/>
          </a:prstGeom>
          <a:solidFill>
            <a:srgbClr val="B85C1E"/>
          </a:solidFill>
          <a:ln w="12700">
            <a:solidFill>
              <a:srgbClr val="333333"/>
            </a:solidFill>
            <a:prstDash val="solid"/>
          </a:ln>
        </p:spPr>
      </p:sp>
      <p:sp>
        <p:nvSpPr>
          <p:cNvPr id="112" name="Shape 110"/>
          <p:cNvSpPr/>
          <p:nvPr/>
        </p:nvSpPr>
        <p:spPr>
          <a:xfrm>
            <a:off x="9329928" y="3482340"/>
            <a:ext cx="64008" cy="64008"/>
          </a:xfrm>
          <a:prstGeom prst="ellipse">
            <a:avLst/>
          </a:prstGeom>
          <a:solidFill>
            <a:srgbClr val="B85C1E"/>
          </a:solidFill>
          <a:ln w="12700">
            <a:solidFill>
              <a:srgbClr val="333333"/>
            </a:solidFill>
            <a:prstDash val="solid"/>
          </a:ln>
        </p:spPr>
      </p:sp>
      <p:sp>
        <p:nvSpPr>
          <p:cNvPr id="113" name="Shape 111"/>
          <p:cNvSpPr/>
          <p:nvPr/>
        </p:nvSpPr>
        <p:spPr>
          <a:xfrm>
            <a:off x="9628632" y="3482340"/>
            <a:ext cx="64008" cy="64008"/>
          </a:xfrm>
          <a:prstGeom prst="ellipse">
            <a:avLst/>
          </a:prstGeom>
          <a:solidFill>
            <a:srgbClr val="B85C1E"/>
          </a:solidFill>
          <a:ln w="12700">
            <a:solidFill>
              <a:srgbClr val="333333"/>
            </a:solidFill>
            <a:prstDash val="solid"/>
          </a:ln>
        </p:spPr>
      </p:sp>
      <p:sp>
        <p:nvSpPr>
          <p:cNvPr id="114" name="Shape 112"/>
          <p:cNvSpPr/>
          <p:nvPr/>
        </p:nvSpPr>
        <p:spPr>
          <a:xfrm>
            <a:off x="9927336" y="3482340"/>
            <a:ext cx="64008" cy="64008"/>
          </a:xfrm>
          <a:prstGeom prst="ellipse">
            <a:avLst/>
          </a:prstGeom>
          <a:solidFill>
            <a:srgbClr val="B85C1E"/>
          </a:solidFill>
          <a:ln w="12700">
            <a:solidFill>
              <a:srgbClr val="333333"/>
            </a:solidFill>
            <a:prstDash val="solid"/>
          </a:ln>
        </p:spPr>
      </p:sp>
      <p:sp>
        <p:nvSpPr>
          <p:cNvPr id="115" name="Text 113"/>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All observations in the window are summarised — a period embedding, not a snapshot.</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Model supports interpolation/extrapolation in time; only annual layers are public.</a:t>
            </a:r>
            <a:endParaRPr lang="en-US" sz="950" dirty="0"/>
          </a:p>
        </p:txBody>
      </p:sp>
      <p:sp>
        <p:nvSpPr>
          <p:cNvPr id="116" name="Shape 114"/>
          <p:cNvSpPr/>
          <p:nvPr/>
        </p:nvSpPr>
        <p:spPr>
          <a:xfrm>
            <a:off x="10424160" y="3337560"/>
            <a:ext cx="274320" cy="274320"/>
          </a:xfrm>
          <a:prstGeom prst="rightArrow">
            <a:avLst/>
          </a:prstGeom>
          <a:solidFill>
            <a:srgbClr val="B8C4D3"/>
          </a:solidFill>
          <a:ln w="12700">
            <a:solidFill>
              <a:srgbClr val="B8C4D3"/>
            </a:solidFill>
            <a:prstDash val="solid"/>
          </a:ln>
        </p:spPr>
      </p:sp>
      <p:sp>
        <p:nvSpPr>
          <p:cNvPr id="117" name="Shape 115"/>
          <p:cNvSpPr/>
          <p:nvPr/>
        </p:nvSpPr>
        <p:spPr>
          <a:xfrm>
            <a:off x="7744968" y="3337560"/>
            <a:ext cx="274320" cy="274320"/>
          </a:xfrm>
          <a:prstGeom prst="rightArrow">
            <a:avLst/>
          </a:prstGeom>
          <a:solidFill>
            <a:srgbClr val="B8C4D3"/>
          </a:solidFill>
          <a:ln w="12700">
            <a:solidFill>
              <a:srgbClr val="B8C4D3"/>
            </a:solidFill>
            <a:prstDash val="solid"/>
          </a:ln>
        </p:spPr>
      </p:sp>
      <p:sp>
        <p:nvSpPr>
          <p:cNvPr id="118" name="Text 116"/>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119" name="Shape 117"/>
          <p:cNvSpPr/>
          <p:nvPr/>
        </p:nvSpPr>
        <p:spPr>
          <a:xfrm>
            <a:off x="10698480" y="2606040"/>
            <a:ext cx="685800" cy="217170"/>
          </a:xfrm>
          <a:prstGeom prst="rect">
            <a:avLst/>
          </a:prstGeom>
          <a:solidFill>
            <a:srgbClr val="6A4C93"/>
          </a:solidFill>
          <a:ln w="9525">
            <a:solidFill>
              <a:srgbClr val="FFFFFF"/>
            </a:solidFill>
            <a:prstDash val="solid"/>
          </a:ln>
        </p:spPr>
      </p:sp>
      <p:sp>
        <p:nvSpPr>
          <p:cNvPr id="120" name="Shape 118"/>
          <p:cNvSpPr/>
          <p:nvPr/>
        </p:nvSpPr>
        <p:spPr>
          <a:xfrm>
            <a:off x="10698480" y="2823210"/>
            <a:ext cx="685800" cy="217170"/>
          </a:xfrm>
          <a:prstGeom prst="rect">
            <a:avLst/>
          </a:prstGeom>
          <a:solidFill>
            <a:srgbClr val="7B5EA7"/>
          </a:solidFill>
          <a:ln w="9525">
            <a:solidFill>
              <a:srgbClr val="FFFFFF"/>
            </a:solidFill>
            <a:prstDash val="solid"/>
          </a:ln>
        </p:spPr>
      </p:sp>
      <p:sp>
        <p:nvSpPr>
          <p:cNvPr id="121" name="Shape 119"/>
          <p:cNvSpPr/>
          <p:nvPr/>
        </p:nvSpPr>
        <p:spPr>
          <a:xfrm>
            <a:off x="10698480" y="3040380"/>
            <a:ext cx="685800" cy="217170"/>
          </a:xfrm>
          <a:prstGeom prst="rect">
            <a:avLst/>
          </a:prstGeom>
          <a:solidFill>
            <a:srgbClr val="8C70BA"/>
          </a:solidFill>
          <a:ln w="9525">
            <a:solidFill>
              <a:srgbClr val="FFFFFF"/>
            </a:solidFill>
            <a:prstDash val="solid"/>
          </a:ln>
        </p:spPr>
      </p:sp>
      <p:sp>
        <p:nvSpPr>
          <p:cNvPr id="122" name="Shape 120"/>
          <p:cNvSpPr/>
          <p:nvPr/>
        </p:nvSpPr>
        <p:spPr>
          <a:xfrm>
            <a:off x="10698480" y="3257550"/>
            <a:ext cx="685800" cy="217170"/>
          </a:xfrm>
          <a:prstGeom prst="rect">
            <a:avLst/>
          </a:prstGeom>
          <a:solidFill>
            <a:srgbClr val="9D82CD"/>
          </a:solidFill>
          <a:ln w="9525">
            <a:solidFill>
              <a:srgbClr val="FFFFFF"/>
            </a:solidFill>
            <a:prstDash val="solid"/>
          </a:ln>
        </p:spPr>
      </p:sp>
      <p:sp>
        <p:nvSpPr>
          <p:cNvPr id="123" name="Shape 121"/>
          <p:cNvSpPr/>
          <p:nvPr/>
        </p:nvSpPr>
        <p:spPr>
          <a:xfrm>
            <a:off x="10698480" y="3474720"/>
            <a:ext cx="685800" cy="217170"/>
          </a:xfrm>
          <a:prstGeom prst="rect">
            <a:avLst/>
          </a:prstGeom>
          <a:solidFill>
            <a:srgbClr val="8C70BA"/>
          </a:solidFill>
          <a:ln w="9525">
            <a:solidFill>
              <a:srgbClr val="FFFFFF"/>
            </a:solidFill>
            <a:prstDash val="solid"/>
          </a:ln>
        </p:spPr>
      </p:sp>
      <p:sp>
        <p:nvSpPr>
          <p:cNvPr id="124" name="Shape 122"/>
          <p:cNvSpPr/>
          <p:nvPr/>
        </p:nvSpPr>
        <p:spPr>
          <a:xfrm>
            <a:off x="10698480" y="3691890"/>
            <a:ext cx="685800" cy="217170"/>
          </a:xfrm>
          <a:prstGeom prst="rect">
            <a:avLst/>
          </a:prstGeom>
          <a:solidFill>
            <a:srgbClr val="7B5EA7"/>
          </a:solidFill>
          <a:ln w="9525">
            <a:solidFill>
              <a:srgbClr val="FFFFFF"/>
            </a:solidFill>
            <a:prstDash val="solid"/>
          </a:ln>
        </p:spPr>
      </p:sp>
      <p:sp>
        <p:nvSpPr>
          <p:cNvPr id="125" name="Shape 123"/>
          <p:cNvSpPr/>
          <p:nvPr/>
        </p:nvSpPr>
        <p:spPr>
          <a:xfrm>
            <a:off x="10698480" y="3909060"/>
            <a:ext cx="685800" cy="217170"/>
          </a:xfrm>
          <a:prstGeom prst="rect">
            <a:avLst/>
          </a:prstGeom>
          <a:solidFill>
            <a:srgbClr val="6A4C93"/>
          </a:solidFill>
          <a:ln w="9525">
            <a:solidFill>
              <a:srgbClr val="FFFFFF"/>
            </a:solidFill>
            <a:prstDash val="solid"/>
          </a:ln>
        </p:spPr>
      </p:sp>
      <p:sp>
        <p:nvSpPr>
          <p:cNvPr id="126" name="Shape 124"/>
          <p:cNvSpPr/>
          <p:nvPr/>
        </p:nvSpPr>
        <p:spPr>
          <a:xfrm>
            <a:off x="10698480" y="4126230"/>
            <a:ext cx="685800" cy="217170"/>
          </a:xfrm>
          <a:prstGeom prst="rect">
            <a:avLst/>
          </a:prstGeom>
          <a:solidFill>
            <a:srgbClr val="5A3D80"/>
          </a:solidFill>
          <a:ln w="9525">
            <a:solidFill>
              <a:srgbClr val="FFFFFF"/>
            </a:solidFill>
            <a:prstDash val="solid"/>
          </a:ln>
        </p:spPr>
      </p:sp>
      <p:sp>
        <p:nvSpPr>
          <p:cNvPr id="127" name="Text 125"/>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64-D</a:t>
            </a:r>
            <a:endParaRPr lang="en-US" sz="1200" dirty="0"/>
          </a:p>
        </p:txBody>
      </p:sp>
      <p:sp>
        <p:nvSpPr>
          <p:cNvPr id="128" name="Text 126"/>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10 m pixel per year</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int8, unit sphere</a:t>
            </a:r>
            <a:endParaRPr lang="en-US" sz="850" dirty="0"/>
          </a:p>
        </p:txBody>
      </p:sp>
      <p:sp>
        <p:nvSpPr>
          <p:cNvPr id="129" name="Text 12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AlphaEarth — inside the STP encoder</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L = side length of the square input frame, in pixels — L = 128 (1.28 km at 10 m) for training and inference (supplement S2.1, S8.2). Three operators at L/16, L/8 and L/2 exchange state through a learned Laplacian pyramid after every one of 15 blocks.</a:t>
            </a:r>
            <a:endParaRPr lang="en-US" sz="1250" dirty="0"/>
          </a:p>
        </p:txBody>
      </p:sp>
      <p:sp>
        <p:nvSpPr>
          <p:cNvPr id="4" name="Shape 2"/>
          <p:cNvSpPr/>
          <p:nvPr/>
        </p:nvSpPr>
        <p:spPr>
          <a:xfrm>
            <a:off x="548640" y="1783080"/>
            <a:ext cx="2331720" cy="914400"/>
          </a:xfrm>
          <a:prstGeom prst="roundRect">
            <a:avLst>
              <a:gd name="adj" fmla="val 6000"/>
            </a:avLst>
          </a:prstGeom>
          <a:solidFill>
            <a:srgbClr val="EEF3F8"/>
          </a:solidFill>
          <a:ln w="12700">
            <a:solidFill>
              <a:srgbClr val="333333"/>
            </a:solidFill>
            <a:prstDash val="solid"/>
          </a:ln>
        </p:spPr>
      </p:sp>
      <p:sp>
        <p:nvSpPr>
          <p:cNvPr id="5" name="Text 3"/>
          <p:cNvSpPr txBox="1"/>
          <p:nvPr/>
        </p:nvSpPr>
        <p:spPr>
          <a:xfrm>
            <a:off x="658368" y="1837944"/>
            <a:ext cx="2148840" cy="822960"/>
          </a:xfrm>
          <a:prstGeom prst="rect">
            <a:avLst/>
          </a:prstGeom>
          <a:noFill/>
          <a:ln/>
        </p:spPr>
        <p:txBody>
          <a:bodyPr wrap="square" lIns="0" tIns="0" rIns="0" bIns="0" rtlCol="0" anchor="t"/>
          <a:lstStyle/>
          <a:p>
            <a:pPr indent="0" marL="0">
              <a:buNone/>
            </a:pPr>
            <a:r>
              <a:rPr lang="en-US" sz="1100" b="1" dirty="0">
                <a:solidFill>
                  <a:srgbClr val="2E86AB"/>
                </a:solidFill>
                <a:latin typeface="Calibri" pitchFamily="34" charset="0"/>
                <a:ea typeface="Calibri" pitchFamily="34" charset="-122"/>
                <a:cs typeface="Calibri" pitchFamily="34" charset="-120"/>
              </a:rPr>
              <a:t>SPACE operator</a:t>
            </a:r>
            <a:endParaRPr lang="en-US" sz="1100" dirty="0"/>
          </a:p>
          <a:p>
            <a:pPr indent="0" marL="0">
              <a:buNone/>
            </a:pPr>
            <a:r>
              <a:rPr lang="en-US" sz="1000" b="1" dirty="0">
                <a:solidFill>
                  <a:srgbClr val="1B2430"/>
                </a:solidFill>
                <a:latin typeface="Calibri" pitchFamily="34" charset="0"/>
                <a:ea typeface="Calibri" pitchFamily="34" charset="-122"/>
                <a:cs typeface="Calibri" pitchFamily="34" charset="-120"/>
              </a:rPr>
              <a:t>grid of L/16 × L/16 cells</a:t>
            </a:r>
            <a:endParaRPr lang="en-US" sz="1100" dirty="0"/>
          </a:p>
          <a:p>
            <a:pPr indent="0" marL="0">
              <a:buNone/>
            </a:pPr>
            <a:r>
              <a:rPr lang="en-US" sz="850" dirty="0">
                <a:solidFill>
                  <a:srgbClr val="1B2430"/>
                </a:solidFill>
                <a:latin typeface="Calibri" pitchFamily="34" charset="0"/>
                <a:ea typeface="Calibri" pitchFamily="34" charset="-122"/>
                <a:cs typeface="Calibri" pitchFamily="34" charset="-120"/>
              </a:rPr>
              <a:t>ViT-like spatial self-attention over the whole (down-scaled) frame — global context, coarse grid</a:t>
            </a:r>
            <a:endParaRPr lang="en-US" sz="1100" dirty="0"/>
          </a:p>
        </p:txBody>
      </p:sp>
      <p:sp>
        <p:nvSpPr>
          <p:cNvPr id="6" name="Shape 4"/>
          <p:cNvSpPr/>
          <p:nvPr/>
        </p:nvSpPr>
        <p:spPr>
          <a:xfrm>
            <a:off x="548640" y="2971800"/>
            <a:ext cx="2331720" cy="914400"/>
          </a:xfrm>
          <a:prstGeom prst="roundRect">
            <a:avLst>
              <a:gd name="adj" fmla="val 6000"/>
            </a:avLst>
          </a:prstGeom>
          <a:solidFill>
            <a:srgbClr val="EEF3F8"/>
          </a:solidFill>
          <a:ln w="12700">
            <a:solidFill>
              <a:srgbClr val="333333"/>
            </a:solidFill>
            <a:prstDash val="solid"/>
          </a:ln>
        </p:spPr>
      </p:sp>
      <p:sp>
        <p:nvSpPr>
          <p:cNvPr id="7" name="Text 5"/>
          <p:cNvSpPr txBox="1"/>
          <p:nvPr/>
        </p:nvSpPr>
        <p:spPr>
          <a:xfrm>
            <a:off x="658368" y="3026664"/>
            <a:ext cx="2148840" cy="822960"/>
          </a:xfrm>
          <a:prstGeom prst="rect">
            <a:avLst/>
          </a:prstGeom>
          <a:noFill/>
          <a:ln/>
        </p:spPr>
        <p:txBody>
          <a:bodyPr wrap="square" lIns="0" tIns="0" rIns="0" bIns="0" rtlCol="0" anchor="t"/>
          <a:lstStyle/>
          <a:p>
            <a:pPr indent="0" marL="0">
              <a:buNone/>
            </a:pPr>
            <a:r>
              <a:rPr lang="en-US" sz="1100" b="1" dirty="0">
                <a:solidFill>
                  <a:srgbClr val="E07A2F"/>
                </a:solidFill>
                <a:latin typeface="Calibri" pitchFamily="34" charset="0"/>
                <a:ea typeface="Calibri" pitchFamily="34" charset="-122"/>
                <a:cs typeface="Calibri" pitchFamily="34" charset="-120"/>
              </a:rPr>
              <a:t>TIME operator</a:t>
            </a:r>
            <a:endParaRPr lang="en-US" sz="1100" dirty="0"/>
          </a:p>
          <a:p>
            <a:pPr indent="0" marL="0">
              <a:buNone/>
            </a:pPr>
            <a:r>
              <a:rPr lang="en-US" sz="1000" b="1" dirty="0">
                <a:solidFill>
                  <a:srgbClr val="1B2430"/>
                </a:solidFill>
                <a:latin typeface="Calibri" pitchFamily="34" charset="0"/>
                <a:ea typeface="Calibri" pitchFamily="34" charset="-122"/>
                <a:cs typeface="Calibri" pitchFamily="34" charset="-120"/>
              </a:rPr>
              <a:t>grid of L/8 × L/8 cells</a:t>
            </a:r>
            <a:endParaRPr lang="en-US" sz="1100" dirty="0"/>
          </a:p>
          <a:p>
            <a:pPr indent="0" marL="0">
              <a:buNone/>
            </a:pPr>
            <a:r>
              <a:rPr lang="en-US" sz="850" dirty="0">
                <a:solidFill>
                  <a:srgbClr val="1B2430"/>
                </a:solidFill>
                <a:latin typeface="Calibri" pitchFamily="34" charset="0"/>
                <a:ea typeface="Calibri" pitchFamily="34" charset="-122"/>
                <a:cs typeface="Calibri" pitchFamily="34" charset="-120"/>
              </a:rPr>
              <a:t>time-axial self-attention along each pixel's sequence; every element conditioned on its sinusoidal timecode</a:t>
            </a:r>
            <a:endParaRPr lang="en-US" sz="1100" dirty="0"/>
          </a:p>
        </p:txBody>
      </p:sp>
      <p:sp>
        <p:nvSpPr>
          <p:cNvPr id="8" name="Shape 6"/>
          <p:cNvSpPr/>
          <p:nvPr/>
        </p:nvSpPr>
        <p:spPr>
          <a:xfrm>
            <a:off x="548640" y="4160520"/>
            <a:ext cx="2331720" cy="914400"/>
          </a:xfrm>
          <a:prstGeom prst="roundRect">
            <a:avLst>
              <a:gd name="adj" fmla="val 6000"/>
            </a:avLst>
          </a:prstGeom>
          <a:solidFill>
            <a:srgbClr val="EEF3F8"/>
          </a:solidFill>
          <a:ln w="12700">
            <a:solidFill>
              <a:srgbClr val="333333"/>
            </a:solidFill>
            <a:prstDash val="solid"/>
          </a:ln>
        </p:spPr>
      </p:sp>
      <p:sp>
        <p:nvSpPr>
          <p:cNvPr id="9" name="Text 7"/>
          <p:cNvSpPr txBox="1"/>
          <p:nvPr/>
        </p:nvSpPr>
        <p:spPr>
          <a:xfrm>
            <a:off x="658368" y="4215384"/>
            <a:ext cx="2148840" cy="822960"/>
          </a:xfrm>
          <a:prstGeom prst="rect">
            <a:avLst/>
          </a:prstGeom>
          <a:noFill/>
          <a:ln/>
        </p:spPr>
        <p:txBody>
          <a:bodyPr wrap="square" lIns="0" tIns="0" rIns="0" bIns="0" rtlCol="0" anchor="t"/>
          <a:lstStyle/>
          <a:p>
            <a:pPr indent="0" marL="0">
              <a:buNone/>
            </a:pPr>
            <a:r>
              <a:rPr lang="en-US" sz="1100" b="1" dirty="0">
                <a:solidFill>
                  <a:srgbClr val="1F7A4D"/>
                </a:solidFill>
                <a:latin typeface="Calibri" pitchFamily="34" charset="0"/>
                <a:ea typeface="Calibri" pitchFamily="34" charset="-122"/>
                <a:cs typeface="Calibri" pitchFamily="34" charset="-120"/>
              </a:rPr>
              <a:t>PRECISION operator</a:t>
            </a:r>
            <a:endParaRPr lang="en-US" sz="1100" dirty="0"/>
          </a:p>
          <a:p>
            <a:pPr indent="0" marL="0">
              <a:buNone/>
            </a:pPr>
            <a:r>
              <a:rPr lang="en-US" sz="1000" b="1" dirty="0">
                <a:solidFill>
                  <a:srgbClr val="1B2430"/>
                </a:solidFill>
                <a:latin typeface="Calibri" pitchFamily="34" charset="0"/>
                <a:ea typeface="Calibri" pitchFamily="34" charset="-122"/>
                <a:cs typeface="Calibri" pitchFamily="34" charset="-120"/>
              </a:rPr>
              <a:t>grid of L/2 × L/2 cells</a:t>
            </a:r>
            <a:endParaRPr lang="en-US" sz="1100" dirty="0"/>
          </a:p>
          <a:p>
            <a:pPr indent="0" marL="0">
              <a:buNone/>
            </a:pPr>
            <a:r>
              <a:rPr lang="en-US" sz="850" dirty="0">
                <a:solidFill>
                  <a:srgbClr val="1B2430"/>
                </a:solidFill>
                <a:latin typeface="Calibri" pitchFamily="34" charset="0"/>
                <a:ea typeface="Calibri" pitchFamily="34" charset="-122"/>
                <a:cs typeface="Calibri" pitchFamily="34" charset="-120"/>
              </a:rPr>
              <a:t>3×3 convolutions — keeps fine spatial detail near output resolution</a:t>
            </a:r>
            <a:endParaRPr lang="en-US" sz="1100" dirty="0"/>
          </a:p>
        </p:txBody>
      </p:sp>
      <p:sp>
        <p:nvSpPr>
          <p:cNvPr id="10" name="Shape 8"/>
          <p:cNvSpPr/>
          <p:nvPr/>
        </p:nvSpPr>
        <p:spPr>
          <a:xfrm>
            <a:off x="3154680" y="1783080"/>
            <a:ext cx="960120" cy="3291840"/>
          </a:xfrm>
          <a:prstGeom prst="roundRect">
            <a:avLst>
              <a:gd name="adj" fmla="val 5714"/>
            </a:avLst>
          </a:prstGeom>
          <a:solidFill>
            <a:srgbClr val="F4F6F9"/>
          </a:solidFill>
          <a:ln w="9525">
            <a:solidFill>
              <a:srgbClr val="B8C4D3"/>
            </a:solidFill>
            <a:prstDash val="solid"/>
          </a:ln>
        </p:spPr>
      </p:sp>
      <p:sp>
        <p:nvSpPr>
          <p:cNvPr id="11" name="Text 9"/>
          <p:cNvSpPr txBox="1"/>
          <p:nvPr/>
        </p:nvSpPr>
        <p:spPr>
          <a:xfrm>
            <a:off x="3227832" y="1828800"/>
            <a:ext cx="822960" cy="3200400"/>
          </a:xfrm>
          <a:prstGeom prst="rect">
            <a:avLst/>
          </a:prstGeom>
          <a:noFill/>
          <a:ln/>
        </p:spPr>
        <p:txBody>
          <a:bodyPr wrap="square" lIns="0" tIns="0" rIns="0" bIns="0" rtlCol="0" anchor="t"/>
          <a:lstStyle/>
          <a:p>
            <a:pPr indent="0" marL="0">
              <a:buNone/>
            </a:pPr>
            <a:r>
              <a:rPr lang="en-US" sz="1000" b="1" dirty="0">
                <a:solidFill>
                  <a:srgbClr val="1B2430"/>
                </a:solidFill>
                <a:latin typeface="Calibri" pitchFamily="34" charset="0"/>
                <a:ea typeface="Calibri" pitchFamily="34" charset="-122"/>
                <a:cs typeface="Calibri" pitchFamily="34" charset="-120"/>
              </a:rPr>
              <a:t>Input projectors</a:t>
            </a:r>
            <a:endParaRPr lang="en-US" sz="1000" dirty="0"/>
          </a:p>
          <a:p>
            <a:pPr indent="0" marL="0">
              <a:buNone/>
            </a:pPr>
            <a:r>
              <a:rPr lang="en-US" sz="850" dirty="0">
                <a:solidFill>
                  <a:srgbClr val="1B2430"/>
                </a:solidFill>
                <a:latin typeface="Calibri" pitchFamily="34" charset="0"/>
                <a:ea typeface="Calibri" pitchFamily="34" charset="-122"/>
                <a:cs typeface="Calibri" pitchFamily="34" charset="-120"/>
              </a:rPr>
              <a:t>one per source; frames + timestamps → feature maps at 1/2 L. Σ Nᵢ frames in, Σ Nᵢ maps out.</a:t>
            </a:r>
            <a:endParaRPr lang="en-US" sz="1000" dirty="0"/>
          </a:p>
        </p:txBody>
      </p:sp>
      <p:sp>
        <p:nvSpPr>
          <p:cNvPr id="12" name="Text 10"/>
          <p:cNvSpPr txBox="1"/>
          <p:nvPr/>
        </p:nvSpPr>
        <p:spPr>
          <a:xfrm>
            <a:off x="4389120" y="1463040"/>
            <a:ext cx="1051560" cy="228600"/>
          </a:xfrm>
          <a:prstGeom prst="rect">
            <a:avLst/>
          </a:prstGeom>
          <a:noFill/>
          <a:ln/>
        </p:spPr>
        <p:txBody>
          <a:bodyPr wrap="square" lIns="0" tIns="0" rIns="0" bIns="0" rtlCol="0" anchor="ctr"/>
          <a:lstStyle/>
          <a:p>
            <a:pPr algn="ctr" indent="0" marL="0">
              <a:buNone/>
            </a:pPr>
            <a:r>
              <a:rPr lang="en-US" sz="900" b="1" dirty="0">
                <a:solidFill>
                  <a:srgbClr val="6B7A8F"/>
                </a:solidFill>
                <a:latin typeface="Calibri" pitchFamily="34" charset="0"/>
                <a:ea typeface="Calibri" pitchFamily="34" charset="-122"/>
                <a:cs typeface="Calibri" pitchFamily="34" charset="-120"/>
              </a:rPr>
              <a:t>block 1</a:t>
            </a:r>
            <a:endParaRPr lang="en-US" sz="900" dirty="0"/>
          </a:p>
        </p:txBody>
      </p:sp>
      <p:sp>
        <p:nvSpPr>
          <p:cNvPr id="13" name="Shape 11"/>
          <p:cNvSpPr/>
          <p:nvPr/>
        </p:nvSpPr>
        <p:spPr>
          <a:xfrm>
            <a:off x="4389120" y="1956816"/>
            <a:ext cx="1051560" cy="566928"/>
          </a:xfrm>
          <a:prstGeom prst="roundRect">
            <a:avLst>
              <a:gd name="adj" fmla="val 8065"/>
            </a:avLst>
          </a:prstGeom>
          <a:solidFill>
            <a:srgbClr val="2E86AB">
              <a:alpha val="85000"/>
            </a:srgbClr>
          </a:solidFill>
          <a:ln w="12700">
            <a:solidFill>
              <a:srgbClr val="2E86AB"/>
            </a:solidFill>
            <a:prstDash val="solid"/>
          </a:ln>
        </p:spPr>
      </p:sp>
      <p:sp>
        <p:nvSpPr>
          <p:cNvPr id="14" name="Text 12"/>
          <p:cNvSpPr txBox="1"/>
          <p:nvPr/>
        </p:nvSpPr>
        <p:spPr>
          <a:xfrm>
            <a:off x="4389120" y="1956816"/>
            <a:ext cx="105156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space</a:t>
            </a:r>
            <a:endParaRPr lang="en-US" sz="900" dirty="0"/>
          </a:p>
        </p:txBody>
      </p:sp>
      <p:sp>
        <p:nvSpPr>
          <p:cNvPr id="15" name="Shape 13"/>
          <p:cNvSpPr/>
          <p:nvPr/>
        </p:nvSpPr>
        <p:spPr>
          <a:xfrm>
            <a:off x="4389120" y="3145536"/>
            <a:ext cx="1051560" cy="566928"/>
          </a:xfrm>
          <a:prstGeom prst="roundRect">
            <a:avLst>
              <a:gd name="adj" fmla="val 8065"/>
            </a:avLst>
          </a:prstGeom>
          <a:solidFill>
            <a:srgbClr val="E07A2F">
              <a:alpha val="85000"/>
            </a:srgbClr>
          </a:solidFill>
          <a:ln w="12700">
            <a:solidFill>
              <a:srgbClr val="E07A2F"/>
            </a:solidFill>
            <a:prstDash val="solid"/>
          </a:ln>
        </p:spPr>
      </p:sp>
      <p:sp>
        <p:nvSpPr>
          <p:cNvPr id="16" name="Text 14"/>
          <p:cNvSpPr txBox="1"/>
          <p:nvPr/>
        </p:nvSpPr>
        <p:spPr>
          <a:xfrm>
            <a:off x="4389120" y="3145536"/>
            <a:ext cx="105156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time</a:t>
            </a:r>
            <a:endParaRPr lang="en-US" sz="900" dirty="0"/>
          </a:p>
        </p:txBody>
      </p:sp>
      <p:sp>
        <p:nvSpPr>
          <p:cNvPr id="17" name="Shape 15"/>
          <p:cNvSpPr/>
          <p:nvPr/>
        </p:nvSpPr>
        <p:spPr>
          <a:xfrm>
            <a:off x="4389120" y="4334256"/>
            <a:ext cx="1051560" cy="566928"/>
          </a:xfrm>
          <a:prstGeom prst="roundRect">
            <a:avLst>
              <a:gd name="adj" fmla="val 8065"/>
            </a:avLst>
          </a:prstGeom>
          <a:solidFill>
            <a:srgbClr val="1F7A4D">
              <a:alpha val="85000"/>
            </a:srgbClr>
          </a:solidFill>
          <a:ln w="12700">
            <a:solidFill>
              <a:srgbClr val="1F7A4D"/>
            </a:solidFill>
            <a:prstDash val="solid"/>
          </a:ln>
        </p:spPr>
      </p:sp>
      <p:sp>
        <p:nvSpPr>
          <p:cNvPr id="18" name="Text 16"/>
          <p:cNvSpPr txBox="1"/>
          <p:nvPr/>
        </p:nvSpPr>
        <p:spPr>
          <a:xfrm>
            <a:off x="4389120" y="4334256"/>
            <a:ext cx="105156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p>
        </p:txBody>
      </p:sp>
      <p:sp>
        <p:nvSpPr>
          <p:cNvPr id="19" name="Shape 17"/>
          <p:cNvSpPr/>
          <p:nvPr/>
        </p:nvSpPr>
        <p:spPr>
          <a:xfrm>
            <a:off x="5458968" y="2240280"/>
            <a:ext cx="603504" cy="0"/>
          </a:xfrm>
          <a:prstGeom prst="line">
            <a:avLst/>
          </a:prstGeom>
          <a:noFill/>
          <a:ln w="9525">
            <a:solidFill>
              <a:srgbClr val="8A97A8"/>
            </a:solidFill>
            <a:prstDash val="solid"/>
            <a:tailEnd type="triangle"/>
          </a:ln>
        </p:spPr>
      </p:sp>
      <p:sp>
        <p:nvSpPr>
          <p:cNvPr id="20" name="Shape 18"/>
          <p:cNvSpPr/>
          <p:nvPr/>
        </p:nvSpPr>
        <p:spPr>
          <a:xfrm>
            <a:off x="5458968" y="2240280"/>
            <a:ext cx="603504" cy="1188720"/>
          </a:xfrm>
          <a:prstGeom prst="line">
            <a:avLst/>
          </a:prstGeom>
          <a:noFill/>
          <a:ln w="9525">
            <a:solidFill>
              <a:srgbClr val="8A97A8"/>
            </a:solidFill>
            <a:prstDash val="solid"/>
            <a:tailEnd type="triangle"/>
          </a:ln>
        </p:spPr>
      </p:sp>
      <p:sp>
        <p:nvSpPr>
          <p:cNvPr id="21" name="Shape 19"/>
          <p:cNvSpPr/>
          <p:nvPr/>
        </p:nvSpPr>
        <p:spPr>
          <a:xfrm>
            <a:off x="5458968" y="2240280"/>
            <a:ext cx="603504" cy="2377440"/>
          </a:xfrm>
          <a:prstGeom prst="line">
            <a:avLst/>
          </a:prstGeom>
          <a:noFill/>
          <a:ln w="9525">
            <a:solidFill>
              <a:srgbClr val="8A97A8"/>
            </a:solidFill>
            <a:prstDash val="solid"/>
            <a:tailEnd type="triangle"/>
          </a:ln>
        </p:spPr>
      </p:sp>
      <p:sp>
        <p:nvSpPr>
          <p:cNvPr id="22" name="Shape 20"/>
          <p:cNvSpPr/>
          <p:nvPr/>
        </p:nvSpPr>
        <p:spPr>
          <a:xfrm flipV="1">
            <a:off x="5458968" y="2240280"/>
            <a:ext cx="603504" cy="1188720"/>
          </a:xfrm>
          <a:prstGeom prst="line">
            <a:avLst/>
          </a:prstGeom>
          <a:noFill/>
          <a:ln w="9525">
            <a:solidFill>
              <a:srgbClr val="8A97A8"/>
            </a:solidFill>
            <a:prstDash val="solid"/>
            <a:tailEnd type="triangle"/>
          </a:ln>
        </p:spPr>
      </p:sp>
      <p:sp>
        <p:nvSpPr>
          <p:cNvPr id="23" name="Shape 21"/>
          <p:cNvSpPr/>
          <p:nvPr/>
        </p:nvSpPr>
        <p:spPr>
          <a:xfrm>
            <a:off x="5458968" y="3429000"/>
            <a:ext cx="603504" cy="0"/>
          </a:xfrm>
          <a:prstGeom prst="line">
            <a:avLst/>
          </a:prstGeom>
          <a:noFill/>
          <a:ln w="9525">
            <a:solidFill>
              <a:srgbClr val="8A97A8"/>
            </a:solidFill>
            <a:prstDash val="solid"/>
            <a:tailEnd type="triangle"/>
          </a:ln>
        </p:spPr>
      </p:sp>
      <p:sp>
        <p:nvSpPr>
          <p:cNvPr id="24" name="Shape 22"/>
          <p:cNvSpPr/>
          <p:nvPr/>
        </p:nvSpPr>
        <p:spPr>
          <a:xfrm>
            <a:off x="5458968" y="3429000"/>
            <a:ext cx="603504" cy="1188720"/>
          </a:xfrm>
          <a:prstGeom prst="line">
            <a:avLst/>
          </a:prstGeom>
          <a:noFill/>
          <a:ln w="9525">
            <a:solidFill>
              <a:srgbClr val="8A97A8"/>
            </a:solidFill>
            <a:prstDash val="solid"/>
            <a:tailEnd type="triangle"/>
          </a:ln>
        </p:spPr>
      </p:sp>
      <p:sp>
        <p:nvSpPr>
          <p:cNvPr id="25" name="Shape 23"/>
          <p:cNvSpPr/>
          <p:nvPr/>
        </p:nvSpPr>
        <p:spPr>
          <a:xfrm flipV="1">
            <a:off x="5458968" y="2240280"/>
            <a:ext cx="603504" cy="2377440"/>
          </a:xfrm>
          <a:prstGeom prst="line">
            <a:avLst/>
          </a:prstGeom>
          <a:noFill/>
          <a:ln w="9525">
            <a:solidFill>
              <a:srgbClr val="8A97A8"/>
            </a:solidFill>
            <a:prstDash val="solid"/>
            <a:tailEnd type="triangle"/>
          </a:ln>
        </p:spPr>
      </p:sp>
      <p:sp>
        <p:nvSpPr>
          <p:cNvPr id="26" name="Shape 24"/>
          <p:cNvSpPr/>
          <p:nvPr/>
        </p:nvSpPr>
        <p:spPr>
          <a:xfrm flipV="1">
            <a:off x="5458968" y="3429000"/>
            <a:ext cx="603504" cy="1188720"/>
          </a:xfrm>
          <a:prstGeom prst="line">
            <a:avLst/>
          </a:prstGeom>
          <a:noFill/>
          <a:ln w="9525">
            <a:solidFill>
              <a:srgbClr val="8A97A8"/>
            </a:solidFill>
            <a:prstDash val="solid"/>
            <a:tailEnd type="triangle"/>
          </a:ln>
        </p:spPr>
      </p:sp>
      <p:sp>
        <p:nvSpPr>
          <p:cNvPr id="27" name="Shape 25"/>
          <p:cNvSpPr/>
          <p:nvPr/>
        </p:nvSpPr>
        <p:spPr>
          <a:xfrm>
            <a:off x="5458968" y="4617720"/>
            <a:ext cx="603504" cy="0"/>
          </a:xfrm>
          <a:prstGeom prst="line">
            <a:avLst/>
          </a:prstGeom>
          <a:noFill/>
          <a:ln w="9525">
            <a:solidFill>
              <a:srgbClr val="8A97A8"/>
            </a:solidFill>
            <a:prstDash val="solid"/>
            <a:tailEnd type="triangle"/>
          </a:ln>
        </p:spPr>
      </p:sp>
      <p:sp>
        <p:nvSpPr>
          <p:cNvPr id="28" name="Text 26"/>
          <p:cNvSpPr txBox="1"/>
          <p:nvPr/>
        </p:nvSpPr>
        <p:spPr>
          <a:xfrm>
            <a:off x="4983480" y="5120640"/>
            <a:ext cx="1554480" cy="457200"/>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learned Laplacian-pyramid rescaling: every operator feeds every operator of the next block</a:t>
            </a:r>
            <a:endParaRPr lang="en-US" sz="800" dirty="0"/>
          </a:p>
        </p:txBody>
      </p:sp>
      <p:sp>
        <p:nvSpPr>
          <p:cNvPr id="29" name="Text 27"/>
          <p:cNvSpPr txBox="1"/>
          <p:nvPr/>
        </p:nvSpPr>
        <p:spPr>
          <a:xfrm>
            <a:off x="6080760" y="1463040"/>
            <a:ext cx="1051560" cy="228600"/>
          </a:xfrm>
          <a:prstGeom prst="rect">
            <a:avLst/>
          </a:prstGeom>
          <a:noFill/>
          <a:ln/>
        </p:spPr>
        <p:txBody>
          <a:bodyPr wrap="square" lIns="0" tIns="0" rIns="0" bIns="0" rtlCol="0" anchor="ctr"/>
          <a:lstStyle/>
          <a:p>
            <a:pPr algn="ctr" indent="0" marL="0">
              <a:buNone/>
            </a:pPr>
            <a:r>
              <a:rPr lang="en-US" sz="900" b="1" dirty="0">
                <a:solidFill>
                  <a:srgbClr val="6B7A8F"/>
                </a:solidFill>
                <a:latin typeface="Calibri" pitchFamily="34" charset="0"/>
                <a:ea typeface="Calibri" pitchFamily="34" charset="-122"/>
                <a:cs typeface="Calibri" pitchFamily="34" charset="-120"/>
              </a:rPr>
              <a:t>block 2</a:t>
            </a:r>
            <a:endParaRPr lang="en-US" sz="900" dirty="0"/>
          </a:p>
        </p:txBody>
      </p:sp>
      <p:sp>
        <p:nvSpPr>
          <p:cNvPr id="30" name="Shape 28"/>
          <p:cNvSpPr/>
          <p:nvPr/>
        </p:nvSpPr>
        <p:spPr>
          <a:xfrm>
            <a:off x="6080760" y="1956816"/>
            <a:ext cx="1051560" cy="566928"/>
          </a:xfrm>
          <a:prstGeom prst="roundRect">
            <a:avLst>
              <a:gd name="adj" fmla="val 8065"/>
            </a:avLst>
          </a:prstGeom>
          <a:solidFill>
            <a:srgbClr val="2E86AB">
              <a:alpha val="85000"/>
            </a:srgbClr>
          </a:solidFill>
          <a:ln w="12700">
            <a:solidFill>
              <a:srgbClr val="2E86AB"/>
            </a:solidFill>
            <a:prstDash val="solid"/>
          </a:ln>
        </p:spPr>
      </p:sp>
      <p:sp>
        <p:nvSpPr>
          <p:cNvPr id="31" name="Text 29"/>
          <p:cNvSpPr txBox="1"/>
          <p:nvPr/>
        </p:nvSpPr>
        <p:spPr>
          <a:xfrm>
            <a:off x="6080760" y="1956816"/>
            <a:ext cx="105156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space</a:t>
            </a:r>
            <a:endParaRPr lang="en-US" sz="900" dirty="0"/>
          </a:p>
        </p:txBody>
      </p:sp>
      <p:sp>
        <p:nvSpPr>
          <p:cNvPr id="32" name="Shape 30"/>
          <p:cNvSpPr/>
          <p:nvPr/>
        </p:nvSpPr>
        <p:spPr>
          <a:xfrm>
            <a:off x="6080760" y="3145536"/>
            <a:ext cx="1051560" cy="566928"/>
          </a:xfrm>
          <a:prstGeom prst="roundRect">
            <a:avLst>
              <a:gd name="adj" fmla="val 8065"/>
            </a:avLst>
          </a:prstGeom>
          <a:solidFill>
            <a:srgbClr val="E07A2F">
              <a:alpha val="85000"/>
            </a:srgbClr>
          </a:solidFill>
          <a:ln w="12700">
            <a:solidFill>
              <a:srgbClr val="E07A2F"/>
            </a:solidFill>
            <a:prstDash val="solid"/>
          </a:ln>
        </p:spPr>
      </p:sp>
      <p:sp>
        <p:nvSpPr>
          <p:cNvPr id="33" name="Text 31"/>
          <p:cNvSpPr txBox="1"/>
          <p:nvPr/>
        </p:nvSpPr>
        <p:spPr>
          <a:xfrm>
            <a:off x="6080760" y="3145536"/>
            <a:ext cx="105156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time</a:t>
            </a:r>
            <a:endParaRPr lang="en-US" sz="900" dirty="0"/>
          </a:p>
        </p:txBody>
      </p:sp>
      <p:sp>
        <p:nvSpPr>
          <p:cNvPr id="34" name="Shape 32"/>
          <p:cNvSpPr/>
          <p:nvPr/>
        </p:nvSpPr>
        <p:spPr>
          <a:xfrm>
            <a:off x="6080760" y="4334256"/>
            <a:ext cx="1051560" cy="566928"/>
          </a:xfrm>
          <a:prstGeom prst="roundRect">
            <a:avLst>
              <a:gd name="adj" fmla="val 8065"/>
            </a:avLst>
          </a:prstGeom>
          <a:solidFill>
            <a:srgbClr val="1F7A4D">
              <a:alpha val="85000"/>
            </a:srgbClr>
          </a:solidFill>
          <a:ln w="12700">
            <a:solidFill>
              <a:srgbClr val="1F7A4D"/>
            </a:solidFill>
            <a:prstDash val="solid"/>
          </a:ln>
        </p:spPr>
      </p:sp>
      <p:sp>
        <p:nvSpPr>
          <p:cNvPr id="35" name="Text 33"/>
          <p:cNvSpPr txBox="1"/>
          <p:nvPr/>
        </p:nvSpPr>
        <p:spPr>
          <a:xfrm>
            <a:off x="6080760" y="4334256"/>
            <a:ext cx="105156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p>
        </p:txBody>
      </p:sp>
      <p:sp>
        <p:nvSpPr>
          <p:cNvPr id="36" name="Shape 34"/>
          <p:cNvSpPr/>
          <p:nvPr/>
        </p:nvSpPr>
        <p:spPr>
          <a:xfrm>
            <a:off x="7150608" y="2240280"/>
            <a:ext cx="603504" cy="0"/>
          </a:xfrm>
          <a:prstGeom prst="line">
            <a:avLst/>
          </a:prstGeom>
          <a:noFill/>
          <a:ln w="9525">
            <a:solidFill>
              <a:srgbClr val="8A97A8"/>
            </a:solidFill>
            <a:prstDash val="solid"/>
            <a:tailEnd type="triangle"/>
          </a:ln>
        </p:spPr>
      </p:sp>
      <p:sp>
        <p:nvSpPr>
          <p:cNvPr id="37" name="Shape 35"/>
          <p:cNvSpPr/>
          <p:nvPr/>
        </p:nvSpPr>
        <p:spPr>
          <a:xfrm>
            <a:off x="7150608" y="2240280"/>
            <a:ext cx="603504" cy="1188720"/>
          </a:xfrm>
          <a:prstGeom prst="line">
            <a:avLst/>
          </a:prstGeom>
          <a:noFill/>
          <a:ln w="9525">
            <a:solidFill>
              <a:srgbClr val="8A97A8"/>
            </a:solidFill>
            <a:prstDash val="solid"/>
            <a:tailEnd type="triangle"/>
          </a:ln>
        </p:spPr>
      </p:sp>
      <p:sp>
        <p:nvSpPr>
          <p:cNvPr id="38" name="Shape 36"/>
          <p:cNvSpPr/>
          <p:nvPr/>
        </p:nvSpPr>
        <p:spPr>
          <a:xfrm>
            <a:off x="7150608" y="2240280"/>
            <a:ext cx="603504" cy="2377440"/>
          </a:xfrm>
          <a:prstGeom prst="line">
            <a:avLst/>
          </a:prstGeom>
          <a:noFill/>
          <a:ln w="9525">
            <a:solidFill>
              <a:srgbClr val="8A97A8"/>
            </a:solidFill>
            <a:prstDash val="solid"/>
            <a:tailEnd type="triangle"/>
          </a:ln>
        </p:spPr>
      </p:sp>
      <p:sp>
        <p:nvSpPr>
          <p:cNvPr id="39" name="Shape 37"/>
          <p:cNvSpPr/>
          <p:nvPr/>
        </p:nvSpPr>
        <p:spPr>
          <a:xfrm flipV="1">
            <a:off x="7150608" y="2240280"/>
            <a:ext cx="603504" cy="1188720"/>
          </a:xfrm>
          <a:prstGeom prst="line">
            <a:avLst/>
          </a:prstGeom>
          <a:noFill/>
          <a:ln w="9525">
            <a:solidFill>
              <a:srgbClr val="8A97A8"/>
            </a:solidFill>
            <a:prstDash val="solid"/>
            <a:tailEnd type="triangle"/>
          </a:ln>
        </p:spPr>
      </p:sp>
      <p:sp>
        <p:nvSpPr>
          <p:cNvPr id="40" name="Shape 38"/>
          <p:cNvSpPr/>
          <p:nvPr/>
        </p:nvSpPr>
        <p:spPr>
          <a:xfrm>
            <a:off x="7150608" y="3429000"/>
            <a:ext cx="603504" cy="0"/>
          </a:xfrm>
          <a:prstGeom prst="line">
            <a:avLst/>
          </a:prstGeom>
          <a:noFill/>
          <a:ln w="9525">
            <a:solidFill>
              <a:srgbClr val="8A97A8"/>
            </a:solidFill>
            <a:prstDash val="solid"/>
            <a:tailEnd type="triangle"/>
          </a:ln>
        </p:spPr>
      </p:sp>
      <p:sp>
        <p:nvSpPr>
          <p:cNvPr id="41" name="Shape 39"/>
          <p:cNvSpPr/>
          <p:nvPr/>
        </p:nvSpPr>
        <p:spPr>
          <a:xfrm>
            <a:off x="7150608" y="3429000"/>
            <a:ext cx="603504" cy="1188720"/>
          </a:xfrm>
          <a:prstGeom prst="line">
            <a:avLst/>
          </a:prstGeom>
          <a:noFill/>
          <a:ln w="9525">
            <a:solidFill>
              <a:srgbClr val="8A97A8"/>
            </a:solidFill>
            <a:prstDash val="solid"/>
            <a:tailEnd type="triangle"/>
          </a:ln>
        </p:spPr>
      </p:sp>
      <p:sp>
        <p:nvSpPr>
          <p:cNvPr id="42" name="Shape 40"/>
          <p:cNvSpPr/>
          <p:nvPr/>
        </p:nvSpPr>
        <p:spPr>
          <a:xfrm flipV="1">
            <a:off x="7150608" y="2240280"/>
            <a:ext cx="603504" cy="2377440"/>
          </a:xfrm>
          <a:prstGeom prst="line">
            <a:avLst/>
          </a:prstGeom>
          <a:noFill/>
          <a:ln w="9525">
            <a:solidFill>
              <a:srgbClr val="8A97A8"/>
            </a:solidFill>
            <a:prstDash val="solid"/>
            <a:tailEnd type="triangle"/>
          </a:ln>
        </p:spPr>
      </p:sp>
      <p:sp>
        <p:nvSpPr>
          <p:cNvPr id="43" name="Shape 41"/>
          <p:cNvSpPr/>
          <p:nvPr/>
        </p:nvSpPr>
        <p:spPr>
          <a:xfrm flipV="1">
            <a:off x="7150608" y="3429000"/>
            <a:ext cx="603504" cy="1188720"/>
          </a:xfrm>
          <a:prstGeom prst="line">
            <a:avLst/>
          </a:prstGeom>
          <a:noFill/>
          <a:ln w="9525">
            <a:solidFill>
              <a:srgbClr val="8A97A8"/>
            </a:solidFill>
            <a:prstDash val="solid"/>
            <a:tailEnd type="triangle"/>
          </a:ln>
        </p:spPr>
      </p:sp>
      <p:sp>
        <p:nvSpPr>
          <p:cNvPr id="44" name="Shape 42"/>
          <p:cNvSpPr/>
          <p:nvPr/>
        </p:nvSpPr>
        <p:spPr>
          <a:xfrm>
            <a:off x="7150608" y="4617720"/>
            <a:ext cx="603504" cy="0"/>
          </a:xfrm>
          <a:prstGeom prst="line">
            <a:avLst/>
          </a:prstGeom>
          <a:noFill/>
          <a:ln w="9525">
            <a:solidFill>
              <a:srgbClr val="8A97A8"/>
            </a:solidFill>
            <a:prstDash val="solid"/>
            <a:tailEnd type="triangle"/>
          </a:ln>
        </p:spPr>
      </p:sp>
      <p:sp>
        <p:nvSpPr>
          <p:cNvPr id="45" name="Text 43"/>
          <p:cNvSpPr txBox="1"/>
          <p:nvPr/>
        </p:nvSpPr>
        <p:spPr>
          <a:xfrm>
            <a:off x="7772400" y="1463040"/>
            <a:ext cx="1051560" cy="228600"/>
          </a:xfrm>
          <a:prstGeom prst="rect">
            <a:avLst/>
          </a:prstGeom>
          <a:noFill/>
          <a:ln/>
        </p:spPr>
        <p:txBody>
          <a:bodyPr wrap="square" lIns="0" tIns="0" rIns="0" bIns="0" rtlCol="0" anchor="ctr"/>
          <a:lstStyle/>
          <a:p>
            <a:pPr algn="ctr" indent="0" marL="0">
              <a:buNone/>
            </a:pPr>
            <a:r>
              <a:rPr lang="en-US" sz="900" b="1" dirty="0">
                <a:solidFill>
                  <a:srgbClr val="6B7A8F"/>
                </a:solidFill>
                <a:latin typeface="Calibri" pitchFamily="34" charset="0"/>
                <a:ea typeface="Calibri" pitchFamily="34" charset="-122"/>
                <a:cs typeface="Calibri" pitchFamily="34" charset="-120"/>
              </a:rPr>
              <a:t>block 15</a:t>
            </a:r>
            <a:endParaRPr lang="en-US" sz="900" dirty="0"/>
          </a:p>
        </p:txBody>
      </p:sp>
      <p:sp>
        <p:nvSpPr>
          <p:cNvPr id="46" name="Shape 44"/>
          <p:cNvSpPr/>
          <p:nvPr/>
        </p:nvSpPr>
        <p:spPr>
          <a:xfrm>
            <a:off x="7772400" y="1956816"/>
            <a:ext cx="1051560" cy="566928"/>
          </a:xfrm>
          <a:prstGeom prst="roundRect">
            <a:avLst>
              <a:gd name="adj" fmla="val 8065"/>
            </a:avLst>
          </a:prstGeom>
          <a:solidFill>
            <a:srgbClr val="2E86AB">
              <a:alpha val="30000"/>
            </a:srgbClr>
          </a:solidFill>
          <a:ln w="12700">
            <a:solidFill>
              <a:srgbClr val="2E86AB"/>
            </a:solidFill>
            <a:prstDash val="dash"/>
          </a:ln>
        </p:spPr>
      </p:sp>
      <p:sp>
        <p:nvSpPr>
          <p:cNvPr id="47" name="Text 45"/>
          <p:cNvSpPr txBox="1"/>
          <p:nvPr/>
        </p:nvSpPr>
        <p:spPr>
          <a:xfrm>
            <a:off x="7772400" y="1956816"/>
            <a:ext cx="1051560" cy="566928"/>
          </a:xfrm>
          <a:prstGeom prst="rect">
            <a:avLst/>
          </a:prstGeom>
          <a:noFill/>
          <a:ln/>
        </p:spPr>
        <p:txBody>
          <a:bodyPr wrap="square" lIns="0" tIns="0" rIns="0" bIns="0" rtlCol="0" anchor="ctr"/>
          <a:lstStyle/>
          <a:p>
            <a:pPr algn="ctr" indent="0" marL="0">
              <a:buNone/>
            </a:pPr>
            <a:r>
              <a:rPr lang="en-US" sz="900" b="1" dirty="0">
                <a:solidFill>
                  <a:srgbClr val="2E86AB"/>
                </a:solidFill>
                <a:latin typeface="Calibri" pitchFamily="34" charset="0"/>
                <a:ea typeface="Calibri" pitchFamily="34" charset="-122"/>
                <a:cs typeface="Calibri" pitchFamily="34" charset="-120"/>
              </a:rPr>
              <a:t>space</a:t>
            </a:r>
            <a:endParaRPr lang="en-US" sz="900" dirty="0"/>
          </a:p>
        </p:txBody>
      </p:sp>
      <p:sp>
        <p:nvSpPr>
          <p:cNvPr id="48" name="Shape 46"/>
          <p:cNvSpPr/>
          <p:nvPr/>
        </p:nvSpPr>
        <p:spPr>
          <a:xfrm>
            <a:off x="7772400" y="3145536"/>
            <a:ext cx="1051560" cy="566928"/>
          </a:xfrm>
          <a:prstGeom prst="roundRect">
            <a:avLst>
              <a:gd name="adj" fmla="val 8065"/>
            </a:avLst>
          </a:prstGeom>
          <a:solidFill>
            <a:srgbClr val="E07A2F">
              <a:alpha val="30000"/>
            </a:srgbClr>
          </a:solidFill>
          <a:ln w="12700">
            <a:solidFill>
              <a:srgbClr val="E07A2F"/>
            </a:solidFill>
            <a:prstDash val="dash"/>
          </a:ln>
        </p:spPr>
      </p:sp>
      <p:sp>
        <p:nvSpPr>
          <p:cNvPr id="49" name="Text 47"/>
          <p:cNvSpPr txBox="1"/>
          <p:nvPr/>
        </p:nvSpPr>
        <p:spPr>
          <a:xfrm>
            <a:off x="7772400" y="3145536"/>
            <a:ext cx="1051560" cy="566928"/>
          </a:xfrm>
          <a:prstGeom prst="rect">
            <a:avLst/>
          </a:prstGeom>
          <a:noFill/>
          <a:ln/>
        </p:spPr>
        <p:txBody>
          <a:bodyPr wrap="square" lIns="0" tIns="0" rIns="0" bIns="0" rtlCol="0" anchor="ctr"/>
          <a:lstStyle/>
          <a:p>
            <a:pPr algn="ctr" indent="0" marL="0">
              <a:buNone/>
            </a:pPr>
            <a:r>
              <a:rPr lang="en-US" sz="900" b="1" dirty="0">
                <a:solidFill>
                  <a:srgbClr val="E07A2F"/>
                </a:solidFill>
                <a:latin typeface="Calibri" pitchFamily="34" charset="0"/>
                <a:ea typeface="Calibri" pitchFamily="34" charset="-122"/>
                <a:cs typeface="Calibri" pitchFamily="34" charset="-120"/>
              </a:rPr>
              <a:t>time</a:t>
            </a:r>
            <a:endParaRPr lang="en-US" sz="900" dirty="0"/>
          </a:p>
        </p:txBody>
      </p:sp>
      <p:sp>
        <p:nvSpPr>
          <p:cNvPr id="50" name="Shape 48"/>
          <p:cNvSpPr/>
          <p:nvPr/>
        </p:nvSpPr>
        <p:spPr>
          <a:xfrm>
            <a:off x="7772400" y="4334256"/>
            <a:ext cx="1051560" cy="566928"/>
          </a:xfrm>
          <a:prstGeom prst="roundRect">
            <a:avLst>
              <a:gd name="adj" fmla="val 8065"/>
            </a:avLst>
          </a:prstGeom>
          <a:solidFill>
            <a:srgbClr val="1F7A4D">
              <a:alpha val="30000"/>
            </a:srgbClr>
          </a:solidFill>
          <a:ln w="12700">
            <a:solidFill>
              <a:srgbClr val="1F7A4D"/>
            </a:solidFill>
            <a:prstDash val="dash"/>
          </a:ln>
        </p:spPr>
      </p:sp>
      <p:sp>
        <p:nvSpPr>
          <p:cNvPr id="51" name="Text 49"/>
          <p:cNvSpPr txBox="1"/>
          <p:nvPr/>
        </p:nvSpPr>
        <p:spPr>
          <a:xfrm>
            <a:off x="7772400" y="4334256"/>
            <a:ext cx="1051560" cy="566928"/>
          </a:xfrm>
          <a:prstGeom prst="rect">
            <a:avLst/>
          </a:prstGeom>
          <a:noFill/>
          <a:ln/>
        </p:spPr>
        <p:txBody>
          <a:bodyPr wrap="square" lIns="0" tIns="0" rIns="0" bIns="0" rtlCol="0" anchor="ctr"/>
          <a:lstStyle/>
          <a:p>
            <a:pPr algn="ctr" indent="0" marL="0">
              <a:buNone/>
            </a:pPr>
            <a:r>
              <a:rPr lang="en-US" sz="900" b="1" dirty="0">
                <a:solidFill>
                  <a:srgbClr val="1F7A4D"/>
                </a:solidFill>
                <a:latin typeface="Calibri" pitchFamily="34" charset="0"/>
                <a:ea typeface="Calibri" pitchFamily="34" charset="-122"/>
                <a:cs typeface="Calibri" pitchFamily="34" charset="-120"/>
              </a:rPr>
              <a:t>precision</a:t>
            </a:r>
            <a:endParaRPr lang="en-US" sz="900" dirty="0"/>
          </a:p>
        </p:txBody>
      </p:sp>
      <p:sp>
        <p:nvSpPr>
          <p:cNvPr id="52" name="Text 50"/>
          <p:cNvSpPr txBox="1"/>
          <p:nvPr/>
        </p:nvSpPr>
        <p:spPr>
          <a:xfrm>
            <a:off x="7223760" y="3017520"/>
            <a:ext cx="457200" cy="365760"/>
          </a:xfrm>
          <a:prstGeom prst="rect">
            <a:avLst/>
          </a:prstGeom>
          <a:noFill/>
          <a:ln/>
        </p:spPr>
        <p:txBody>
          <a:bodyPr wrap="square" lIns="0" tIns="0" rIns="0" bIns="0" rtlCol="0" anchor="ctr"/>
          <a:lstStyle/>
          <a:p>
            <a:pPr algn="ctr" indent="0" marL="0">
              <a:buNone/>
            </a:pPr>
            <a:r>
              <a:rPr lang="en-US" sz="1600" dirty="0">
                <a:solidFill>
                  <a:srgbClr val="6B7A8F"/>
                </a:solidFill>
                <a:latin typeface="Calibri" pitchFamily="34" charset="0"/>
                <a:ea typeface="Calibri" pitchFamily="34" charset="-122"/>
                <a:cs typeface="Calibri" pitchFamily="34" charset="-120"/>
              </a:rPr>
              <a:t>· · ·</a:t>
            </a:r>
            <a:endParaRPr lang="en-US" sz="1600" dirty="0"/>
          </a:p>
        </p:txBody>
      </p:sp>
      <p:sp>
        <p:nvSpPr>
          <p:cNvPr id="53" name="Shape 51"/>
          <p:cNvSpPr/>
          <p:nvPr/>
        </p:nvSpPr>
        <p:spPr>
          <a:xfrm>
            <a:off x="4142232" y="3291840"/>
            <a:ext cx="219456" cy="274320"/>
          </a:xfrm>
          <a:prstGeom prst="rightArrow">
            <a:avLst/>
          </a:prstGeom>
          <a:solidFill>
            <a:srgbClr val="B8C4D3"/>
          </a:solidFill>
          <a:ln w="12700">
            <a:solidFill>
              <a:srgbClr val="333333"/>
            </a:solidFill>
            <a:prstDash val="solid"/>
          </a:ln>
        </p:spPr>
      </p:sp>
      <p:sp>
        <p:nvSpPr>
          <p:cNvPr id="54" name="Shape 52"/>
          <p:cNvSpPr/>
          <p:nvPr/>
        </p:nvSpPr>
        <p:spPr>
          <a:xfrm>
            <a:off x="8851392" y="3291840"/>
            <a:ext cx="182880" cy="274320"/>
          </a:xfrm>
          <a:prstGeom prst="rightArrow">
            <a:avLst/>
          </a:prstGeom>
          <a:solidFill>
            <a:srgbClr val="B8C4D3"/>
          </a:solidFill>
          <a:ln w="12700">
            <a:solidFill>
              <a:srgbClr val="333333"/>
            </a:solidFill>
            <a:prstDash val="solid"/>
          </a:ln>
        </p:spPr>
      </p:sp>
      <p:sp>
        <p:nvSpPr>
          <p:cNvPr id="55" name="Shape 53"/>
          <p:cNvSpPr/>
          <p:nvPr/>
        </p:nvSpPr>
        <p:spPr>
          <a:xfrm>
            <a:off x="9052560" y="1783080"/>
            <a:ext cx="1600200" cy="3291840"/>
          </a:xfrm>
          <a:prstGeom prst="roundRect">
            <a:avLst>
              <a:gd name="adj" fmla="val 3429"/>
            </a:avLst>
          </a:prstGeom>
          <a:solidFill>
            <a:srgbClr val="EEF3F8"/>
          </a:solidFill>
          <a:ln w="12700">
            <a:solidFill>
              <a:srgbClr val="333333"/>
            </a:solidFill>
            <a:prstDash val="solid"/>
          </a:ln>
        </p:spPr>
      </p:sp>
      <p:sp>
        <p:nvSpPr>
          <p:cNvPr id="56" name="Text 54"/>
          <p:cNvSpPr txBox="1"/>
          <p:nvPr/>
        </p:nvSpPr>
        <p:spPr>
          <a:xfrm>
            <a:off x="9144000" y="1828800"/>
            <a:ext cx="1417320" cy="3200400"/>
          </a:xfrm>
          <a:prstGeom prst="rect">
            <a:avLst/>
          </a:prstGeom>
          <a:noFill/>
          <a:ln/>
        </p:spPr>
        <p:txBody>
          <a:bodyPr wrap="square" lIns="0" tIns="0" rIns="0" bIns="0" rtlCol="0" anchor="t"/>
          <a:lstStyle/>
          <a:p>
            <a:pPr indent="0" marL="0">
              <a:buNone/>
            </a:pPr>
            <a:r>
              <a:rPr lang="en-US" sz="1100" b="1" dirty="0">
                <a:solidFill>
                  <a:srgbClr val="6A4C93"/>
                </a:solidFill>
                <a:latin typeface="Calibri" pitchFamily="34" charset="0"/>
                <a:ea typeface="Calibri" pitchFamily="34" charset="-122"/>
                <a:cs typeface="Calibri" pitchFamily="34" charset="-120"/>
              </a:rPr>
              <a:t>Output head</a:t>
            </a:r>
            <a:endParaRPr lang="en-US" sz="1000" dirty="0"/>
          </a:p>
          <a:p>
            <a:pPr indent="0" marL="0">
              <a:buNone/>
            </a:pPr>
            <a:r>
              <a:rPr lang="en-US" sz="850" dirty="0">
                <a:solidFill>
                  <a:srgbClr val="1B2430"/>
                </a:solidFill>
                <a:latin typeface="Calibri" pitchFamily="34" charset="0"/>
                <a:ea typeface="Calibri" pitchFamily="34" charset="-122"/>
                <a:cs typeface="Calibri" pitchFamily="34" charset="-120"/>
              </a:rPr>
              <a:t>final learned spatial resampling up to the precision resolution, then to 10 m</a:t>
            </a:r>
            <a:endParaRPr lang="en-US" sz="1000" dirty="0"/>
          </a:p>
          <a:p>
            <a:pPr indent="0" marL="0">
              <a:buNone/>
            </a:pPr>
            <a:r>
              <a:rPr lang="en-US" sz="500" dirty="0">
                <a:solidFill>
                  <a:srgbClr val="1B2430"/>
                </a:solidFill>
                <a:latin typeface="Calibri" pitchFamily="34" charset="0"/>
                <a:ea typeface="Calibri" pitchFamily="34" charset="-122"/>
                <a:cs typeface="Calibri" pitchFamily="34" charset="-120"/>
              </a:rPr>
              <a:t> </a:t>
            </a:r>
            <a:endParaRPr lang="en-US" sz="1000" dirty="0"/>
          </a:p>
          <a:p>
            <a:pPr indent="0" marL="0">
              <a:buNone/>
            </a:pPr>
            <a:r>
              <a:rPr lang="en-US" sz="1200" b="1" dirty="0">
                <a:solidFill>
                  <a:srgbClr val="6A4C93"/>
                </a:solidFill>
                <a:latin typeface="Calibri" pitchFamily="34" charset="0"/>
                <a:ea typeface="Calibri" pitchFamily="34" charset="-122"/>
                <a:cs typeface="Calibri" pitchFamily="34" charset="-120"/>
              </a:rPr>
              <a:t>64-D per pixel</a:t>
            </a:r>
            <a:endParaRPr lang="en-US" sz="1000" dirty="0"/>
          </a:p>
          <a:p>
            <a:pPr indent="0" marL="0">
              <a:buNone/>
            </a:pPr>
            <a:r>
              <a:rPr lang="en-US" sz="850" dirty="0">
                <a:solidFill>
                  <a:srgbClr val="1B2430"/>
                </a:solidFill>
                <a:latin typeface="Calibri" pitchFamily="34" charset="0"/>
                <a:ea typeface="Calibri" pitchFamily="34" charset="-122"/>
                <a:cs typeface="Calibri" pitchFamily="34" charset="-120"/>
              </a:rPr>
              <a:t>unit-norm (S⁶³), quantized to 64 bytes (int8) in the released layers</a:t>
            </a:r>
            <a:endParaRPr lang="en-US" sz="1000" dirty="0"/>
          </a:p>
          <a:p>
            <a:pPr indent="0" marL="0">
              <a:buNone/>
            </a:pPr>
            <a:r>
              <a:rPr lang="en-US" sz="500" dirty="0">
                <a:solidFill>
                  <a:srgbClr val="1B2430"/>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E07A2F"/>
                </a:solidFill>
                <a:latin typeface="Calibri" pitchFamily="34" charset="0"/>
                <a:ea typeface="Calibri" pitchFamily="34" charset="-122"/>
                <a:cs typeface="Calibri" pitchFamily="34" charset="-120"/>
              </a:rPr>
              <a:t>Conditioning</a:t>
            </a:r>
            <a:endParaRPr lang="en-US" sz="1000" dirty="0"/>
          </a:p>
          <a:p>
            <a:pPr indent="0" marL="0">
              <a:buNone/>
            </a:pPr>
            <a:r>
              <a:rPr lang="en-US" sz="850" dirty="0">
                <a:solidFill>
                  <a:srgbClr val="1B2430"/>
                </a:solidFill>
                <a:latin typeface="Calibri" pitchFamily="34" charset="0"/>
                <a:ea typeface="Calibri" pitchFamily="34" charset="-122"/>
                <a:cs typeface="Calibri" pitchFamily="34" charset="-120"/>
              </a:rPr>
              <a:t>a 'valid period' (t_s, t_e) is injected as timecodes, so the same inputs can be summarised over any date range — interpolating or extrapolating past the observations</a:t>
            </a:r>
            <a:endParaRPr lang="en-US" sz="1000" dirty="0"/>
          </a:p>
        </p:txBody>
      </p:sp>
      <p:sp>
        <p:nvSpPr>
          <p:cNvPr id="57" name="Shape 55"/>
          <p:cNvSpPr/>
          <p:nvPr/>
        </p:nvSpPr>
        <p:spPr>
          <a:xfrm>
            <a:off x="548640" y="5532120"/>
            <a:ext cx="11064240" cy="777240"/>
          </a:xfrm>
          <a:prstGeom prst="roundRect">
            <a:avLst>
              <a:gd name="adj" fmla="val 7059"/>
            </a:avLst>
          </a:prstGeom>
          <a:solidFill>
            <a:srgbClr val="F4F6F9"/>
          </a:solidFill>
          <a:ln w="12700">
            <a:solidFill>
              <a:srgbClr val="333333"/>
            </a:solidFill>
            <a:prstDash val="solid"/>
          </a:ln>
        </p:spPr>
      </p:sp>
      <p:sp>
        <p:nvSpPr>
          <p:cNvPr id="58" name="Text 56"/>
          <p:cNvSpPr txBox="1"/>
          <p:nvPr/>
        </p:nvSpPr>
        <p:spPr>
          <a:xfrm>
            <a:off x="685800" y="5577840"/>
            <a:ext cx="10789920" cy="685800"/>
          </a:xfrm>
          <a:prstGeom prst="rect">
            <a:avLst/>
          </a:prstGeom>
          <a:noFill/>
          <a:ln/>
        </p:spPr>
        <p:txBody>
          <a:bodyPr wrap="square" lIns="0" tIns="0" rIns="0" bIns="0"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Training trio  </a:t>
            </a:r>
            <a:pPr indent="0" marL="0">
              <a:buNone/>
            </a:pPr>
            <a:r>
              <a:rPr lang="en-US" sz="950" dirty="0">
                <a:solidFill>
                  <a:srgbClr val="1B2430"/>
                </a:solidFill>
                <a:latin typeface="Calibri" pitchFamily="34" charset="0"/>
                <a:ea typeface="Calibri" pitchFamily="34" charset="-122"/>
                <a:cs typeface="Calibri" pitchFamily="34" charset="-120"/>
              </a:rPr>
              <a:t>teacher video embedder with implicit decoders · student with identical architecture (consistency + batch-uniformity on the sphere) · text-alignment model with a frozen language model (CLIP-style). ~1 B and ~480 M variants trained; the 480 M one is deployed.   </a:t>
            </a:r>
            <a:pPr indent="0" marL="0">
              <a:buNone/>
            </a:pPr>
            <a:r>
              <a:rPr lang="en-US" sz="950" b="1" dirty="0">
                <a:solidFill>
                  <a:srgbClr val="1F7A4D"/>
                </a:solidFill>
                <a:latin typeface="Calibri" pitchFamily="34" charset="0"/>
                <a:ea typeface="Calibri" pitchFamily="34" charset="-122"/>
                <a:cs typeface="Calibri" pitchFamily="34" charset="-120"/>
              </a:rPr>
              <a:t>In the supplement (S2.4, S8.2):  </a:t>
            </a:r>
            <a:pPr indent="0" marL="0">
              <a:buNone/>
            </a:pPr>
            <a:r>
              <a:rPr lang="en-US" sz="950" dirty="0">
                <a:solidFill>
                  <a:srgbClr val="1B2430"/>
                </a:solidFill>
                <a:latin typeface="Calibri" pitchFamily="34" charset="0"/>
                <a:ea typeface="Calibri" pitchFamily="34" charset="-122"/>
                <a:cs typeface="Calibri" pitchFamily="34" charset="-120"/>
              </a:rPr>
              <a:t>15 STP blocks; widths D_S = 1024 (space), D_T = 512 (time), D_P = 128 (precision); implicit decoders = 2-hidden-layer MLPs of width 512; vMF bottleneck κ = 8·10³; inference on 960 m tiles buffered to 1.28 km, outer 80 m trimmed. So the spatial receptive field is at most 1.28 km — the whole frame.   </a:t>
            </a:r>
            <a:pPr indent="0" marL="0">
              <a:buNone/>
            </a:pPr>
            <a:r>
              <a:rPr lang="en-US" sz="950" b="1" dirty="0">
                <a:solidFill>
                  <a:srgbClr val="A23B3B"/>
                </a:solidFill>
                <a:latin typeface="Calibri" pitchFamily="34" charset="0"/>
                <a:ea typeface="Calibri" pitchFamily="34" charset="-122"/>
                <a:cs typeface="Calibri" pitchFamily="34" charset="-120"/>
              </a:rPr>
              <a:t>Still not stated:  </a:t>
            </a:r>
            <a:pPr indent="0" marL="0">
              <a:buNone/>
            </a:pPr>
            <a:r>
              <a:rPr lang="en-US" sz="950" dirty="0">
                <a:solidFill>
                  <a:srgbClr val="1B2430"/>
                </a:solidFill>
                <a:latin typeface="Calibri" pitchFamily="34" charset="0"/>
                <a:ea typeface="Calibri" pitchFamily="34" charset="-122"/>
                <a:cs typeface="Calibri" pitchFamily="34" charset="-120"/>
              </a:rPr>
              <a:t>the exact pyramid up/down-sampling kernels and how the three states are merged.</a:t>
            </a:r>
            <a:endParaRPr lang="en-US" sz="950" dirty="0"/>
          </a:p>
        </p:txBody>
      </p:sp>
      <p:sp>
        <p:nvSpPr>
          <p:cNvPr id="59" name="Text 5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STP, step 1 of 4 — input projectors bring every source to ½ L</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One frame of the same 1.28 km footprint from each sensor, at its own native resolution, becomes a 64 × 64 feature map at 20 m</a:t>
            </a:r>
            <a:endParaRPr lang="en-US" sz="1250" dirty="0"/>
          </a:p>
        </p:txBody>
      </p:sp>
      <p:sp>
        <p:nvSpPr>
          <p:cNvPr id="4" name="Shape 2"/>
          <p:cNvSpPr/>
          <p:nvPr/>
        </p:nvSpPr>
        <p:spPr>
          <a:xfrm>
            <a:off x="548640" y="1371600"/>
            <a:ext cx="2008022" cy="566928"/>
          </a:xfrm>
          <a:prstGeom prst="roundRect">
            <a:avLst>
              <a:gd name="adj" fmla="val 9677"/>
            </a:avLst>
          </a:prstGeom>
          <a:solidFill>
            <a:srgbClr val="F4F6F9"/>
          </a:solidFill>
          <a:ln w="9525">
            <a:solidFill>
              <a:srgbClr val="B8C4D3"/>
            </a:solidFill>
            <a:prstDash val="solid"/>
          </a:ln>
        </p:spPr>
      </p:sp>
      <p:sp>
        <p:nvSpPr>
          <p:cNvPr id="5" name="Text 3"/>
          <p:cNvSpPr txBox="1"/>
          <p:nvPr/>
        </p:nvSpPr>
        <p:spPr>
          <a:xfrm>
            <a:off x="640080"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many sources, native resolutions, dated frames</a:t>
            </a:r>
            <a:endParaRPr lang="en-US" sz="1050" dirty="0"/>
          </a:p>
        </p:txBody>
      </p:sp>
      <p:sp>
        <p:nvSpPr>
          <p:cNvPr id="6" name="Shape 4"/>
          <p:cNvSpPr/>
          <p:nvPr/>
        </p:nvSpPr>
        <p:spPr>
          <a:xfrm>
            <a:off x="2593238" y="1563624"/>
            <a:ext cx="182880" cy="182880"/>
          </a:xfrm>
          <a:prstGeom prst="rightArrow">
            <a:avLst/>
          </a:prstGeom>
          <a:solidFill>
            <a:srgbClr val="B8C4D3"/>
          </a:solidFill>
          <a:ln w="12700">
            <a:solidFill>
              <a:srgbClr val="333333"/>
            </a:solidFill>
            <a:prstDash val="solid"/>
          </a:ln>
        </p:spPr>
      </p:sp>
      <p:sp>
        <p:nvSpPr>
          <p:cNvPr id="7" name="Shape 5"/>
          <p:cNvSpPr/>
          <p:nvPr/>
        </p:nvSpPr>
        <p:spPr>
          <a:xfrm>
            <a:off x="2812694" y="1371600"/>
            <a:ext cx="2008022" cy="566928"/>
          </a:xfrm>
          <a:prstGeom prst="roundRect">
            <a:avLst>
              <a:gd name="adj" fmla="val 9677"/>
            </a:avLst>
          </a:prstGeom>
          <a:solidFill>
            <a:srgbClr val="0B1F3A"/>
          </a:solidFill>
          <a:ln w="9525">
            <a:solidFill>
              <a:srgbClr val="0B1F3A"/>
            </a:solidFill>
            <a:prstDash val="solid"/>
          </a:ln>
        </p:spPr>
      </p:sp>
      <p:sp>
        <p:nvSpPr>
          <p:cNvPr id="8" name="Text 6"/>
          <p:cNvSpPr txBox="1"/>
          <p:nvPr/>
        </p:nvSpPr>
        <p:spPr>
          <a:xfrm>
            <a:off x="2904134" y="1371600"/>
            <a:ext cx="1825142"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Input projectors</a:t>
            </a:r>
            <a:endParaRPr lang="en-US" sz="1050" dirty="0"/>
          </a:p>
          <a:p>
            <a:pPr indent="0" marL="0">
              <a:buNone/>
            </a:pPr>
            <a:r>
              <a:rPr lang="en-US" sz="800" dirty="0">
                <a:solidFill>
                  <a:srgbClr val="CADCFC"/>
                </a:solidFill>
                <a:latin typeface="Calibri" pitchFamily="34" charset="0"/>
                <a:ea typeface="Calibri" pitchFamily="34" charset="-122"/>
                <a:cs typeface="Calibri" pitchFamily="34" charset="-120"/>
              </a:rPr>
              <a:t>→ ½ L feature maps (64 px @ 20 m)</a:t>
            </a:r>
            <a:endParaRPr lang="en-US" sz="1050" dirty="0"/>
          </a:p>
        </p:txBody>
      </p:sp>
      <p:sp>
        <p:nvSpPr>
          <p:cNvPr id="9" name="Shape 7"/>
          <p:cNvSpPr/>
          <p:nvPr/>
        </p:nvSpPr>
        <p:spPr>
          <a:xfrm>
            <a:off x="4857293" y="1563624"/>
            <a:ext cx="182880" cy="182880"/>
          </a:xfrm>
          <a:prstGeom prst="rightArrow">
            <a:avLst/>
          </a:prstGeom>
          <a:solidFill>
            <a:srgbClr val="B8C4D3"/>
          </a:solidFill>
          <a:ln w="12700">
            <a:solidFill>
              <a:srgbClr val="333333"/>
            </a:solidFill>
            <a:prstDash val="solid"/>
          </a:ln>
        </p:spPr>
      </p:sp>
      <p:sp>
        <p:nvSpPr>
          <p:cNvPr id="10" name="Shape 8"/>
          <p:cNvSpPr/>
          <p:nvPr/>
        </p:nvSpPr>
        <p:spPr>
          <a:xfrm>
            <a:off x="5076749" y="1371600"/>
            <a:ext cx="2008022" cy="566928"/>
          </a:xfrm>
          <a:prstGeom prst="roundRect">
            <a:avLst>
              <a:gd name="adj" fmla="val 9677"/>
            </a:avLst>
          </a:prstGeom>
          <a:solidFill>
            <a:srgbClr val="F4F6F9"/>
          </a:solidFill>
          <a:ln w="9525">
            <a:solidFill>
              <a:srgbClr val="B8C4D3"/>
            </a:solidFill>
            <a:prstDash val="solid"/>
          </a:ln>
        </p:spPr>
      </p:sp>
      <p:sp>
        <p:nvSpPr>
          <p:cNvPr id="11" name="Text 9"/>
          <p:cNvSpPr txBox="1"/>
          <p:nvPr/>
        </p:nvSpPr>
        <p:spPr>
          <a:xfrm>
            <a:off x="5168189"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STP block</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space ⅟₁₆ L · time ⅛ L · precision ½ L</a:t>
            </a:r>
            <a:endParaRPr lang="en-US" sz="1050" dirty="0"/>
          </a:p>
        </p:txBody>
      </p:sp>
      <p:sp>
        <p:nvSpPr>
          <p:cNvPr id="12" name="Shape 10"/>
          <p:cNvSpPr/>
          <p:nvPr/>
        </p:nvSpPr>
        <p:spPr>
          <a:xfrm>
            <a:off x="7121347" y="1563624"/>
            <a:ext cx="182880" cy="182880"/>
          </a:xfrm>
          <a:prstGeom prst="rightArrow">
            <a:avLst/>
          </a:prstGeom>
          <a:solidFill>
            <a:srgbClr val="B8C4D3"/>
          </a:solidFill>
          <a:ln w="12700">
            <a:solidFill>
              <a:srgbClr val="333333"/>
            </a:solidFill>
            <a:prstDash val="solid"/>
          </a:ln>
        </p:spPr>
      </p:sp>
      <p:sp>
        <p:nvSpPr>
          <p:cNvPr id="13" name="Shape 11"/>
          <p:cNvSpPr/>
          <p:nvPr/>
        </p:nvSpPr>
        <p:spPr>
          <a:xfrm>
            <a:off x="7340803" y="1371600"/>
            <a:ext cx="2008022" cy="566928"/>
          </a:xfrm>
          <a:prstGeom prst="roundRect">
            <a:avLst>
              <a:gd name="adj" fmla="val 9677"/>
            </a:avLst>
          </a:prstGeom>
          <a:solidFill>
            <a:srgbClr val="F4F6F9"/>
          </a:solidFill>
          <a:ln w="9525">
            <a:solidFill>
              <a:srgbClr val="B8C4D3"/>
            </a:solidFill>
            <a:prstDash val="solid"/>
          </a:ln>
        </p:spPr>
      </p:sp>
      <p:sp>
        <p:nvSpPr>
          <p:cNvPr id="14" name="Text 12"/>
          <p:cNvSpPr txBox="1"/>
          <p:nvPr/>
        </p:nvSpPr>
        <p:spPr>
          <a:xfrm>
            <a:off x="7432243"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Pyramid exchange</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every operator → every operator, × N</a:t>
            </a:r>
            <a:endParaRPr lang="en-US" sz="1050" dirty="0"/>
          </a:p>
        </p:txBody>
      </p:sp>
      <p:sp>
        <p:nvSpPr>
          <p:cNvPr id="15" name="Shape 13"/>
          <p:cNvSpPr/>
          <p:nvPr/>
        </p:nvSpPr>
        <p:spPr>
          <a:xfrm>
            <a:off x="9385402" y="1563624"/>
            <a:ext cx="182880" cy="182880"/>
          </a:xfrm>
          <a:prstGeom prst="rightArrow">
            <a:avLst/>
          </a:prstGeom>
          <a:solidFill>
            <a:srgbClr val="B8C4D3"/>
          </a:solidFill>
          <a:ln w="12700">
            <a:solidFill>
              <a:srgbClr val="333333"/>
            </a:solidFill>
            <a:prstDash val="solid"/>
          </a:ln>
        </p:spPr>
      </p:sp>
      <p:sp>
        <p:nvSpPr>
          <p:cNvPr id="16" name="Shape 14"/>
          <p:cNvSpPr/>
          <p:nvPr/>
        </p:nvSpPr>
        <p:spPr>
          <a:xfrm>
            <a:off x="9604858" y="1371600"/>
            <a:ext cx="2008022" cy="566928"/>
          </a:xfrm>
          <a:prstGeom prst="roundRect">
            <a:avLst>
              <a:gd name="adj" fmla="val 9677"/>
            </a:avLst>
          </a:prstGeom>
          <a:solidFill>
            <a:srgbClr val="F4F6F9"/>
          </a:solidFill>
          <a:ln w="9525">
            <a:solidFill>
              <a:srgbClr val="B8C4D3"/>
            </a:solidFill>
            <a:prstDash val="solid"/>
          </a:ln>
        </p:spPr>
      </p:sp>
      <p:sp>
        <p:nvSpPr>
          <p:cNvPr id="17" name="Text 15"/>
          <p:cNvSpPr txBox="1"/>
          <p:nvPr/>
        </p:nvSpPr>
        <p:spPr>
          <a:xfrm>
            <a:off x="9696298"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Output head</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 L (10 m), 64-D unit vector</a:t>
            </a:r>
            <a:endParaRPr lang="en-US" sz="1050" dirty="0"/>
          </a:p>
        </p:txBody>
      </p:sp>
      <p:sp>
        <p:nvSpPr>
          <p:cNvPr id="18" name="Text 16"/>
          <p:cNvSpPr txBox="1"/>
          <p:nvPr/>
        </p:nvSpPr>
        <p:spPr>
          <a:xfrm>
            <a:off x="548640" y="6172200"/>
            <a:ext cx="11064240" cy="256032"/>
          </a:xfrm>
          <a:prstGeom prst="rect">
            <a:avLst/>
          </a:prstGeom>
          <a:noFill/>
          <a:ln/>
        </p:spPr>
        <p:txBody>
          <a:bodyPr wrap="square" lIns="0" tIns="0" rIns="0" bIns="0" rtlCol="0" anchor="ctr"/>
          <a:lstStyle/>
          <a:p>
            <a:pPr indent="0" marL="0">
              <a:buNone/>
            </a:pPr>
            <a:r>
              <a:rPr lang="en-US" sz="900" i="1" dirty="0">
                <a:solidFill>
                  <a:srgbClr val="6B7A8F"/>
                </a:solidFill>
                <a:latin typeface="Calibri" pitchFamily="34" charset="0"/>
                <a:ea typeface="Calibri" pitchFamily="34" charset="-122"/>
                <a:cs typeface="Calibri" pitchFamily="34" charset="-120"/>
              </a:rPr>
              <a:t>L = side length of the square input frame in pixels. L = 128 px @ 10 m (1.28 km) is the paper's own frame (supplement S2.1, S8.2); the real depth is N = 15 blocks, we draw 4. Frame counts per year are typical values, not from the paper.</a:t>
            </a:r>
            <a:endParaRPr lang="en-US" sz="900" dirty="0"/>
          </a:p>
        </p:txBody>
      </p:sp>
      <p:sp>
        <p:nvSpPr>
          <p:cNvPr id="19" name="Shape 17"/>
          <p:cNvSpPr/>
          <p:nvPr/>
        </p:nvSpPr>
        <p:spPr>
          <a:xfrm>
            <a:off x="923544" y="2551176"/>
            <a:ext cx="1417320" cy="1417320"/>
          </a:xfrm>
          <a:prstGeom prst="rect">
            <a:avLst/>
          </a:prstGeom>
          <a:solidFill>
            <a:srgbClr val="EEF3F8"/>
          </a:solidFill>
          <a:ln w="7620">
            <a:solidFill>
              <a:srgbClr val="B8C4D3"/>
            </a:solidFill>
            <a:prstDash val="solid"/>
          </a:ln>
        </p:spPr>
      </p:sp>
      <p:sp>
        <p:nvSpPr>
          <p:cNvPr id="20" name="Shape 18"/>
          <p:cNvSpPr/>
          <p:nvPr/>
        </p:nvSpPr>
        <p:spPr>
          <a:xfrm>
            <a:off x="859536" y="2615184"/>
            <a:ext cx="1417320" cy="1417320"/>
          </a:xfrm>
          <a:prstGeom prst="rect">
            <a:avLst/>
          </a:prstGeom>
          <a:solidFill>
            <a:srgbClr val="EEF3F8"/>
          </a:solidFill>
          <a:ln w="7620">
            <a:solidFill>
              <a:srgbClr val="B8C4D3"/>
            </a:solidFill>
            <a:prstDash val="solid"/>
          </a:ln>
        </p:spPr>
      </p:sp>
      <p:sp>
        <p:nvSpPr>
          <p:cNvPr id="21" name="Shape 19"/>
          <p:cNvSpPr/>
          <p:nvPr/>
        </p:nvSpPr>
        <p:spPr>
          <a:xfrm>
            <a:off x="795528" y="2679192"/>
            <a:ext cx="1417320" cy="1417320"/>
          </a:xfrm>
          <a:prstGeom prst="rect">
            <a:avLst/>
          </a:prstGeom>
          <a:solidFill>
            <a:srgbClr val="EEF3F8"/>
          </a:solidFill>
          <a:ln w="7620">
            <a:solidFill>
              <a:srgbClr val="B8C4D3"/>
            </a:solidFill>
            <a:prstDash val="solid"/>
          </a:ln>
        </p:spPr>
      </p:sp>
      <p:sp>
        <p:nvSpPr>
          <p:cNvPr id="22" name="Shape 20"/>
          <p:cNvSpPr/>
          <p:nvPr/>
        </p:nvSpPr>
        <p:spPr>
          <a:xfrm>
            <a:off x="731520" y="2743200"/>
            <a:ext cx="1417320" cy="1417320"/>
          </a:xfrm>
          <a:prstGeom prst="rect">
            <a:avLst/>
          </a:prstGeom>
          <a:solidFill>
            <a:srgbClr val="FFFFFF"/>
          </a:solidFill>
          <a:ln w="9525">
            <a:solidFill>
              <a:srgbClr val="B8C4D3"/>
            </a:solidFill>
            <a:prstDash val="solid"/>
          </a:ln>
        </p:spPr>
      </p:sp>
      <p:sp>
        <p:nvSpPr>
          <p:cNvPr id="23" name="Shape 21"/>
          <p:cNvSpPr/>
          <p:nvPr/>
        </p:nvSpPr>
        <p:spPr>
          <a:xfrm>
            <a:off x="820103" y="2743200"/>
            <a:ext cx="0" cy="1417320"/>
          </a:xfrm>
          <a:prstGeom prst="line">
            <a:avLst/>
          </a:prstGeom>
          <a:noFill/>
          <a:ln w="5080">
            <a:solidFill>
              <a:srgbClr val="B8C4D3"/>
            </a:solidFill>
            <a:prstDash val="solid"/>
          </a:ln>
        </p:spPr>
      </p:sp>
      <p:sp>
        <p:nvSpPr>
          <p:cNvPr id="24" name="Shape 22"/>
          <p:cNvSpPr/>
          <p:nvPr/>
        </p:nvSpPr>
        <p:spPr>
          <a:xfrm>
            <a:off x="731520" y="2831783"/>
            <a:ext cx="1417320" cy="0"/>
          </a:xfrm>
          <a:prstGeom prst="line">
            <a:avLst/>
          </a:prstGeom>
          <a:noFill/>
          <a:ln w="5080">
            <a:solidFill>
              <a:srgbClr val="B8C4D3"/>
            </a:solidFill>
            <a:prstDash val="solid"/>
          </a:ln>
        </p:spPr>
      </p:sp>
      <p:sp>
        <p:nvSpPr>
          <p:cNvPr id="25" name="Shape 23"/>
          <p:cNvSpPr/>
          <p:nvPr/>
        </p:nvSpPr>
        <p:spPr>
          <a:xfrm>
            <a:off x="908685" y="2743200"/>
            <a:ext cx="0" cy="1417320"/>
          </a:xfrm>
          <a:prstGeom prst="line">
            <a:avLst/>
          </a:prstGeom>
          <a:noFill/>
          <a:ln w="5080">
            <a:solidFill>
              <a:srgbClr val="B8C4D3"/>
            </a:solidFill>
            <a:prstDash val="solid"/>
          </a:ln>
        </p:spPr>
      </p:sp>
      <p:sp>
        <p:nvSpPr>
          <p:cNvPr id="26" name="Shape 24"/>
          <p:cNvSpPr/>
          <p:nvPr/>
        </p:nvSpPr>
        <p:spPr>
          <a:xfrm>
            <a:off x="731520" y="2920365"/>
            <a:ext cx="1417320" cy="0"/>
          </a:xfrm>
          <a:prstGeom prst="line">
            <a:avLst/>
          </a:prstGeom>
          <a:noFill/>
          <a:ln w="5080">
            <a:solidFill>
              <a:srgbClr val="B8C4D3"/>
            </a:solidFill>
            <a:prstDash val="solid"/>
          </a:ln>
        </p:spPr>
      </p:sp>
      <p:sp>
        <p:nvSpPr>
          <p:cNvPr id="27" name="Shape 25"/>
          <p:cNvSpPr/>
          <p:nvPr/>
        </p:nvSpPr>
        <p:spPr>
          <a:xfrm>
            <a:off x="997268" y="2743200"/>
            <a:ext cx="0" cy="1417320"/>
          </a:xfrm>
          <a:prstGeom prst="line">
            <a:avLst/>
          </a:prstGeom>
          <a:noFill/>
          <a:ln w="5080">
            <a:solidFill>
              <a:srgbClr val="B8C4D3"/>
            </a:solidFill>
            <a:prstDash val="solid"/>
          </a:ln>
        </p:spPr>
      </p:sp>
      <p:sp>
        <p:nvSpPr>
          <p:cNvPr id="28" name="Shape 26"/>
          <p:cNvSpPr/>
          <p:nvPr/>
        </p:nvSpPr>
        <p:spPr>
          <a:xfrm>
            <a:off x="731520" y="3008948"/>
            <a:ext cx="1417320" cy="0"/>
          </a:xfrm>
          <a:prstGeom prst="line">
            <a:avLst/>
          </a:prstGeom>
          <a:noFill/>
          <a:ln w="5080">
            <a:solidFill>
              <a:srgbClr val="B8C4D3"/>
            </a:solidFill>
            <a:prstDash val="solid"/>
          </a:ln>
        </p:spPr>
      </p:sp>
      <p:sp>
        <p:nvSpPr>
          <p:cNvPr id="29" name="Shape 27"/>
          <p:cNvSpPr/>
          <p:nvPr/>
        </p:nvSpPr>
        <p:spPr>
          <a:xfrm>
            <a:off x="1085850" y="2743200"/>
            <a:ext cx="0" cy="1417320"/>
          </a:xfrm>
          <a:prstGeom prst="line">
            <a:avLst/>
          </a:prstGeom>
          <a:noFill/>
          <a:ln w="5080">
            <a:solidFill>
              <a:srgbClr val="B8C4D3"/>
            </a:solidFill>
            <a:prstDash val="solid"/>
          </a:ln>
        </p:spPr>
      </p:sp>
      <p:sp>
        <p:nvSpPr>
          <p:cNvPr id="30" name="Shape 28"/>
          <p:cNvSpPr/>
          <p:nvPr/>
        </p:nvSpPr>
        <p:spPr>
          <a:xfrm>
            <a:off x="731520" y="3097530"/>
            <a:ext cx="1417320" cy="0"/>
          </a:xfrm>
          <a:prstGeom prst="line">
            <a:avLst/>
          </a:prstGeom>
          <a:noFill/>
          <a:ln w="5080">
            <a:solidFill>
              <a:srgbClr val="B8C4D3"/>
            </a:solidFill>
            <a:prstDash val="solid"/>
          </a:ln>
        </p:spPr>
      </p:sp>
      <p:sp>
        <p:nvSpPr>
          <p:cNvPr id="31" name="Shape 29"/>
          <p:cNvSpPr/>
          <p:nvPr/>
        </p:nvSpPr>
        <p:spPr>
          <a:xfrm>
            <a:off x="1174433" y="2743200"/>
            <a:ext cx="0" cy="1417320"/>
          </a:xfrm>
          <a:prstGeom prst="line">
            <a:avLst/>
          </a:prstGeom>
          <a:noFill/>
          <a:ln w="5080">
            <a:solidFill>
              <a:srgbClr val="B8C4D3"/>
            </a:solidFill>
            <a:prstDash val="solid"/>
          </a:ln>
        </p:spPr>
      </p:sp>
      <p:sp>
        <p:nvSpPr>
          <p:cNvPr id="32" name="Shape 30"/>
          <p:cNvSpPr/>
          <p:nvPr/>
        </p:nvSpPr>
        <p:spPr>
          <a:xfrm>
            <a:off x="731520" y="3186113"/>
            <a:ext cx="1417320" cy="0"/>
          </a:xfrm>
          <a:prstGeom prst="line">
            <a:avLst/>
          </a:prstGeom>
          <a:noFill/>
          <a:ln w="5080">
            <a:solidFill>
              <a:srgbClr val="B8C4D3"/>
            </a:solidFill>
            <a:prstDash val="solid"/>
          </a:ln>
        </p:spPr>
      </p:sp>
      <p:sp>
        <p:nvSpPr>
          <p:cNvPr id="33" name="Shape 31"/>
          <p:cNvSpPr/>
          <p:nvPr/>
        </p:nvSpPr>
        <p:spPr>
          <a:xfrm>
            <a:off x="1263015" y="2743200"/>
            <a:ext cx="0" cy="1417320"/>
          </a:xfrm>
          <a:prstGeom prst="line">
            <a:avLst/>
          </a:prstGeom>
          <a:noFill/>
          <a:ln w="5080">
            <a:solidFill>
              <a:srgbClr val="B8C4D3"/>
            </a:solidFill>
            <a:prstDash val="solid"/>
          </a:ln>
        </p:spPr>
      </p:sp>
      <p:sp>
        <p:nvSpPr>
          <p:cNvPr id="34" name="Shape 32"/>
          <p:cNvSpPr/>
          <p:nvPr/>
        </p:nvSpPr>
        <p:spPr>
          <a:xfrm>
            <a:off x="731520" y="3274695"/>
            <a:ext cx="1417320" cy="0"/>
          </a:xfrm>
          <a:prstGeom prst="line">
            <a:avLst/>
          </a:prstGeom>
          <a:noFill/>
          <a:ln w="5080">
            <a:solidFill>
              <a:srgbClr val="B8C4D3"/>
            </a:solidFill>
            <a:prstDash val="solid"/>
          </a:ln>
        </p:spPr>
      </p:sp>
      <p:sp>
        <p:nvSpPr>
          <p:cNvPr id="35" name="Shape 33"/>
          <p:cNvSpPr/>
          <p:nvPr/>
        </p:nvSpPr>
        <p:spPr>
          <a:xfrm>
            <a:off x="1351598" y="2743200"/>
            <a:ext cx="0" cy="1417320"/>
          </a:xfrm>
          <a:prstGeom prst="line">
            <a:avLst/>
          </a:prstGeom>
          <a:noFill/>
          <a:ln w="5080">
            <a:solidFill>
              <a:srgbClr val="B8C4D3"/>
            </a:solidFill>
            <a:prstDash val="solid"/>
          </a:ln>
        </p:spPr>
      </p:sp>
      <p:sp>
        <p:nvSpPr>
          <p:cNvPr id="36" name="Shape 34"/>
          <p:cNvSpPr/>
          <p:nvPr/>
        </p:nvSpPr>
        <p:spPr>
          <a:xfrm>
            <a:off x="731520" y="3363278"/>
            <a:ext cx="1417320" cy="0"/>
          </a:xfrm>
          <a:prstGeom prst="line">
            <a:avLst/>
          </a:prstGeom>
          <a:noFill/>
          <a:ln w="5080">
            <a:solidFill>
              <a:srgbClr val="B8C4D3"/>
            </a:solidFill>
            <a:prstDash val="solid"/>
          </a:ln>
        </p:spPr>
      </p:sp>
      <p:sp>
        <p:nvSpPr>
          <p:cNvPr id="37" name="Shape 35"/>
          <p:cNvSpPr/>
          <p:nvPr/>
        </p:nvSpPr>
        <p:spPr>
          <a:xfrm>
            <a:off x="1440180" y="2743200"/>
            <a:ext cx="0" cy="1417320"/>
          </a:xfrm>
          <a:prstGeom prst="line">
            <a:avLst/>
          </a:prstGeom>
          <a:noFill/>
          <a:ln w="5080">
            <a:solidFill>
              <a:srgbClr val="B8C4D3"/>
            </a:solidFill>
            <a:prstDash val="solid"/>
          </a:ln>
        </p:spPr>
      </p:sp>
      <p:sp>
        <p:nvSpPr>
          <p:cNvPr id="38" name="Shape 36"/>
          <p:cNvSpPr/>
          <p:nvPr/>
        </p:nvSpPr>
        <p:spPr>
          <a:xfrm>
            <a:off x="731520" y="3451860"/>
            <a:ext cx="1417320" cy="0"/>
          </a:xfrm>
          <a:prstGeom prst="line">
            <a:avLst/>
          </a:prstGeom>
          <a:noFill/>
          <a:ln w="5080">
            <a:solidFill>
              <a:srgbClr val="B8C4D3"/>
            </a:solidFill>
            <a:prstDash val="solid"/>
          </a:ln>
        </p:spPr>
      </p:sp>
      <p:sp>
        <p:nvSpPr>
          <p:cNvPr id="39" name="Shape 37"/>
          <p:cNvSpPr/>
          <p:nvPr/>
        </p:nvSpPr>
        <p:spPr>
          <a:xfrm>
            <a:off x="1528763" y="2743200"/>
            <a:ext cx="0" cy="1417320"/>
          </a:xfrm>
          <a:prstGeom prst="line">
            <a:avLst/>
          </a:prstGeom>
          <a:noFill/>
          <a:ln w="5080">
            <a:solidFill>
              <a:srgbClr val="B8C4D3"/>
            </a:solidFill>
            <a:prstDash val="solid"/>
          </a:ln>
        </p:spPr>
      </p:sp>
      <p:sp>
        <p:nvSpPr>
          <p:cNvPr id="40" name="Shape 38"/>
          <p:cNvSpPr/>
          <p:nvPr/>
        </p:nvSpPr>
        <p:spPr>
          <a:xfrm>
            <a:off x="731520" y="3540443"/>
            <a:ext cx="1417320" cy="0"/>
          </a:xfrm>
          <a:prstGeom prst="line">
            <a:avLst/>
          </a:prstGeom>
          <a:noFill/>
          <a:ln w="5080">
            <a:solidFill>
              <a:srgbClr val="B8C4D3"/>
            </a:solidFill>
            <a:prstDash val="solid"/>
          </a:ln>
        </p:spPr>
      </p:sp>
      <p:sp>
        <p:nvSpPr>
          <p:cNvPr id="41" name="Shape 39"/>
          <p:cNvSpPr/>
          <p:nvPr/>
        </p:nvSpPr>
        <p:spPr>
          <a:xfrm>
            <a:off x="1617345" y="2743200"/>
            <a:ext cx="0" cy="1417320"/>
          </a:xfrm>
          <a:prstGeom prst="line">
            <a:avLst/>
          </a:prstGeom>
          <a:noFill/>
          <a:ln w="5080">
            <a:solidFill>
              <a:srgbClr val="B8C4D3"/>
            </a:solidFill>
            <a:prstDash val="solid"/>
          </a:ln>
        </p:spPr>
      </p:sp>
      <p:sp>
        <p:nvSpPr>
          <p:cNvPr id="42" name="Shape 40"/>
          <p:cNvSpPr/>
          <p:nvPr/>
        </p:nvSpPr>
        <p:spPr>
          <a:xfrm>
            <a:off x="731520" y="3629025"/>
            <a:ext cx="1417320" cy="0"/>
          </a:xfrm>
          <a:prstGeom prst="line">
            <a:avLst/>
          </a:prstGeom>
          <a:noFill/>
          <a:ln w="5080">
            <a:solidFill>
              <a:srgbClr val="B8C4D3"/>
            </a:solidFill>
            <a:prstDash val="solid"/>
          </a:ln>
        </p:spPr>
      </p:sp>
      <p:sp>
        <p:nvSpPr>
          <p:cNvPr id="43" name="Shape 41"/>
          <p:cNvSpPr/>
          <p:nvPr/>
        </p:nvSpPr>
        <p:spPr>
          <a:xfrm>
            <a:off x="1705928" y="2743200"/>
            <a:ext cx="0" cy="1417320"/>
          </a:xfrm>
          <a:prstGeom prst="line">
            <a:avLst/>
          </a:prstGeom>
          <a:noFill/>
          <a:ln w="5080">
            <a:solidFill>
              <a:srgbClr val="B8C4D3"/>
            </a:solidFill>
            <a:prstDash val="solid"/>
          </a:ln>
        </p:spPr>
      </p:sp>
      <p:sp>
        <p:nvSpPr>
          <p:cNvPr id="44" name="Shape 42"/>
          <p:cNvSpPr/>
          <p:nvPr/>
        </p:nvSpPr>
        <p:spPr>
          <a:xfrm>
            <a:off x="731520" y="3717608"/>
            <a:ext cx="1417320" cy="0"/>
          </a:xfrm>
          <a:prstGeom prst="line">
            <a:avLst/>
          </a:prstGeom>
          <a:noFill/>
          <a:ln w="5080">
            <a:solidFill>
              <a:srgbClr val="B8C4D3"/>
            </a:solidFill>
            <a:prstDash val="solid"/>
          </a:ln>
        </p:spPr>
      </p:sp>
      <p:sp>
        <p:nvSpPr>
          <p:cNvPr id="45" name="Shape 43"/>
          <p:cNvSpPr/>
          <p:nvPr/>
        </p:nvSpPr>
        <p:spPr>
          <a:xfrm>
            <a:off x="1794510" y="2743200"/>
            <a:ext cx="0" cy="1417320"/>
          </a:xfrm>
          <a:prstGeom prst="line">
            <a:avLst/>
          </a:prstGeom>
          <a:noFill/>
          <a:ln w="5080">
            <a:solidFill>
              <a:srgbClr val="B8C4D3"/>
            </a:solidFill>
            <a:prstDash val="solid"/>
          </a:ln>
        </p:spPr>
      </p:sp>
      <p:sp>
        <p:nvSpPr>
          <p:cNvPr id="46" name="Shape 44"/>
          <p:cNvSpPr/>
          <p:nvPr/>
        </p:nvSpPr>
        <p:spPr>
          <a:xfrm>
            <a:off x="731520" y="3806190"/>
            <a:ext cx="1417320" cy="0"/>
          </a:xfrm>
          <a:prstGeom prst="line">
            <a:avLst/>
          </a:prstGeom>
          <a:noFill/>
          <a:ln w="5080">
            <a:solidFill>
              <a:srgbClr val="B8C4D3"/>
            </a:solidFill>
            <a:prstDash val="solid"/>
          </a:ln>
        </p:spPr>
      </p:sp>
      <p:sp>
        <p:nvSpPr>
          <p:cNvPr id="47" name="Shape 45"/>
          <p:cNvSpPr/>
          <p:nvPr/>
        </p:nvSpPr>
        <p:spPr>
          <a:xfrm>
            <a:off x="1883093" y="2743200"/>
            <a:ext cx="0" cy="1417320"/>
          </a:xfrm>
          <a:prstGeom prst="line">
            <a:avLst/>
          </a:prstGeom>
          <a:noFill/>
          <a:ln w="5080">
            <a:solidFill>
              <a:srgbClr val="B8C4D3"/>
            </a:solidFill>
            <a:prstDash val="solid"/>
          </a:ln>
        </p:spPr>
      </p:sp>
      <p:sp>
        <p:nvSpPr>
          <p:cNvPr id="48" name="Shape 46"/>
          <p:cNvSpPr/>
          <p:nvPr/>
        </p:nvSpPr>
        <p:spPr>
          <a:xfrm>
            <a:off x="731520" y="3894773"/>
            <a:ext cx="1417320" cy="0"/>
          </a:xfrm>
          <a:prstGeom prst="line">
            <a:avLst/>
          </a:prstGeom>
          <a:noFill/>
          <a:ln w="5080">
            <a:solidFill>
              <a:srgbClr val="B8C4D3"/>
            </a:solidFill>
            <a:prstDash val="solid"/>
          </a:ln>
        </p:spPr>
      </p:sp>
      <p:sp>
        <p:nvSpPr>
          <p:cNvPr id="49" name="Shape 47"/>
          <p:cNvSpPr/>
          <p:nvPr/>
        </p:nvSpPr>
        <p:spPr>
          <a:xfrm>
            <a:off x="1971675" y="2743200"/>
            <a:ext cx="0" cy="1417320"/>
          </a:xfrm>
          <a:prstGeom prst="line">
            <a:avLst/>
          </a:prstGeom>
          <a:noFill/>
          <a:ln w="5080">
            <a:solidFill>
              <a:srgbClr val="B8C4D3"/>
            </a:solidFill>
            <a:prstDash val="solid"/>
          </a:ln>
        </p:spPr>
      </p:sp>
      <p:sp>
        <p:nvSpPr>
          <p:cNvPr id="50" name="Shape 48"/>
          <p:cNvSpPr/>
          <p:nvPr/>
        </p:nvSpPr>
        <p:spPr>
          <a:xfrm>
            <a:off x="731520" y="3983355"/>
            <a:ext cx="1417320" cy="0"/>
          </a:xfrm>
          <a:prstGeom prst="line">
            <a:avLst/>
          </a:prstGeom>
          <a:noFill/>
          <a:ln w="5080">
            <a:solidFill>
              <a:srgbClr val="B8C4D3"/>
            </a:solidFill>
            <a:prstDash val="solid"/>
          </a:ln>
        </p:spPr>
      </p:sp>
      <p:sp>
        <p:nvSpPr>
          <p:cNvPr id="51" name="Shape 49"/>
          <p:cNvSpPr/>
          <p:nvPr/>
        </p:nvSpPr>
        <p:spPr>
          <a:xfrm>
            <a:off x="2060257" y="2743200"/>
            <a:ext cx="0" cy="1417320"/>
          </a:xfrm>
          <a:prstGeom prst="line">
            <a:avLst/>
          </a:prstGeom>
          <a:noFill/>
          <a:ln w="5080">
            <a:solidFill>
              <a:srgbClr val="B8C4D3"/>
            </a:solidFill>
            <a:prstDash val="solid"/>
          </a:ln>
        </p:spPr>
      </p:sp>
      <p:sp>
        <p:nvSpPr>
          <p:cNvPr id="52" name="Shape 50"/>
          <p:cNvSpPr/>
          <p:nvPr/>
        </p:nvSpPr>
        <p:spPr>
          <a:xfrm>
            <a:off x="731520" y="4071938"/>
            <a:ext cx="1417320" cy="0"/>
          </a:xfrm>
          <a:prstGeom prst="line">
            <a:avLst/>
          </a:prstGeom>
          <a:noFill/>
          <a:ln w="5080">
            <a:solidFill>
              <a:srgbClr val="B8C4D3"/>
            </a:solidFill>
            <a:prstDash val="solid"/>
          </a:ln>
        </p:spPr>
      </p:sp>
      <p:sp>
        <p:nvSpPr>
          <p:cNvPr id="53" name="Shape 51"/>
          <p:cNvSpPr/>
          <p:nvPr/>
        </p:nvSpPr>
        <p:spPr>
          <a:xfrm>
            <a:off x="1351598" y="3363278"/>
            <a:ext cx="88583" cy="88583"/>
          </a:xfrm>
          <a:prstGeom prst="rect">
            <a:avLst/>
          </a:prstGeom>
          <a:solidFill>
            <a:srgbClr val="F2C14E"/>
          </a:solidFill>
          <a:ln w="12700">
            <a:solidFill>
              <a:srgbClr val="F2C14E"/>
            </a:solidFill>
            <a:prstDash val="solid"/>
          </a:ln>
        </p:spPr>
      </p:sp>
      <p:sp>
        <p:nvSpPr>
          <p:cNvPr id="54" name="Text 52"/>
          <p:cNvSpPr txBox="1"/>
          <p:nvPr/>
        </p:nvSpPr>
        <p:spPr>
          <a:xfrm>
            <a:off x="457200" y="2240280"/>
            <a:ext cx="1965960" cy="256032"/>
          </a:xfrm>
          <a:prstGeom prst="rect">
            <a:avLst/>
          </a:prstGeom>
          <a:noFill/>
          <a:ln/>
        </p:spPr>
        <p:txBody>
          <a:bodyPr wrap="square" lIns="0" tIns="0" rIns="0" bIns="0" rtlCol="0" anchor="ctr"/>
          <a:lstStyle/>
          <a:p>
            <a:pPr algn="ctr" indent="0" marL="0">
              <a:buNone/>
            </a:pPr>
            <a:r>
              <a:rPr lang="en-US" sz="950" b="1" dirty="0">
                <a:solidFill>
                  <a:srgbClr val="2E86AB"/>
                </a:solidFill>
                <a:latin typeface="Calibri" pitchFamily="34" charset="0"/>
                <a:ea typeface="Calibri" pitchFamily="34" charset="-122"/>
                <a:cs typeface="Calibri" pitchFamily="34" charset="-120"/>
              </a:rPr>
              <a:t>Sentinel-2 · 10 m</a:t>
            </a:r>
            <a:endParaRPr lang="en-US" sz="950" dirty="0"/>
          </a:p>
        </p:txBody>
      </p:sp>
      <p:sp>
        <p:nvSpPr>
          <p:cNvPr id="55" name="Text 53"/>
          <p:cNvSpPr txBox="1"/>
          <p:nvPr/>
        </p:nvSpPr>
        <p:spPr>
          <a:xfrm>
            <a:off x="365760" y="4206240"/>
            <a:ext cx="2148840" cy="4572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128 × 128 px (drawn 16 × 16)</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~70 dated frames / yr</a:t>
            </a:r>
            <a:endParaRPr lang="en-US" sz="850" dirty="0"/>
          </a:p>
        </p:txBody>
      </p:sp>
      <p:sp>
        <p:nvSpPr>
          <p:cNvPr id="56" name="Shape 54"/>
          <p:cNvSpPr/>
          <p:nvPr/>
        </p:nvSpPr>
        <p:spPr>
          <a:xfrm>
            <a:off x="2871216" y="2615184"/>
            <a:ext cx="1417320" cy="1417320"/>
          </a:xfrm>
          <a:prstGeom prst="rect">
            <a:avLst/>
          </a:prstGeom>
          <a:solidFill>
            <a:srgbClr val="EEF3F8"/>
          </a:solidFill>
          <a:ln w="7620">
            <a:solidFill>
              <a:srgbClr val="B8C4D3"/>
            </a:solidFill>
            <a:prstDash val="solid"/>
          </a:ln>
        </p:spPr>
      </p:sp>
      <p:sp>
        <p:nvSpPr>
          <p:cNvPr id="57" name="Shape 55"/>
          <p:cNvSpPr/>
          <p:nvPr/>
        </p:nvSpPr>
        <p:spPr>
          <a:xfrm>
            <a:off x="2807208" y="2679192"/>
            <a:ext cx="1417320" cy="1417320"/>
          </a:xfrm>
          <a:prstGeom prst="rect">
            <a:avLst/>
          </a:prstGeom>
          <a:solidFill>
            <a:srgbClr val="EEF3F8"/>
          </a:solidFill>
          <a:ln w="7620">
            <a:solidFill>
              <a:srgbClr val="B8C4D3"/>
            </a:solidFill>
            <a:prstDash val="solid"/>
          </a:ln>
        </p:spPr>
      </p:sp>
      <p:sp>
        <p:nvSpPr>
          <p:cNvPr id="58" name="Shape 56"/>
          <p:cNvSpPr/>
          <p:nvPr/>
        </p:nvSpPr>
        <p:spPr>
          <a:xfrm>
            <a:off x="2743200" y="2743200"/>
            <a:ext cx="1417320" cy="1417320"/>
          </a:xfrm>
          <a:prstGeom prst="rect">
            <a:avLst/>
          </a:prstGeom>
          <a:solidFill>
            <a:srgbClr val="FFFFFF"/>
          </a:solidFill>
          <a:ln w="9525">
            <a:solidFill>
              <a:srgbClr val="B8C4D3"/>
            </a:solidFill>
            <a:prstDash val="solid"/>
          </a:ln>
        </p:spPr>
      </p:sp>
      <p:sp>
        <p:nvSpPr>
          <p:cNvPr id="59" name="Shape 57"/>
          <p:cNvSpPr/>
          <p:nvPr/>
        </p:nvSpPr>
        <p:spPr>
          <a:xfrm>
            <a:off x="2920365" y="2743200"/>
            <a:ext cx="0" cy="1417320"/>
          </a:xfrm>
          <a:prstGeom prst="line">
            <a:avLst/>
          </a:prstGeom>
          <a:noFill/>
          <a:ln w="7620">
            <a:solidFill>
              <a:srgbClr val="B8C4D3"/>
            </a:solidFill>
            <a:prstDash val="solid"/>
          </a:ln>
        </p:spPr>
      </p:sp>
      <p:sp>
        <p:nvSpPr>
          <p:cNvPr id="60" name="Shape 58"/>
          <p:cNvSpPr/>
          <p:nvPr/>
        </p:nvSpPr>
        <p:spPr>
          <a:xfrm>
            <a:off x="2743200" y="2920365"/>
            <a:ext cx="1417320" cy="0"/>
          </a:xfrm>
          <a:prstGeom prst="line">
            <a:avLst/>
          </a:prstGeom>
          <a:noFill/>
          <a:ln w="7620">
            <a:solidFill>
              <a:srgbClr val="B8C4D3"/>
            </a:solidFill>
            <a:prstDash val="solid"/>
          </a:ln>
        </p:spPr>
      </p:sp>
      <p:sp>
        <p:nvSpPr>
          <p:cNvPr id="61" name="Shape 59"/>
          <p:cNvSpPr/>
          <p:nvPr/>
        </p:nvSpPr>
        <p:spPr>
          <a:xfrm>
            <a:off x="3097530" y="2743200"/>
            <a:ext cx="0" cy="1417320"/>
          </a:xfrm>
          <a:prstGeom prst="line">
            <a:avLst/>
          </a:prstGeom>
          <a:noFill/>
          <a:ln w="7620">
            <a:solidFill>
              <a:srgbClr val="B8C4D3"/>
            </a:solidFill>
            <a:prstDash val="solid"/>
          </a:ln>
        </p:spPr>
      </p:sp>
      <p:sp>
        <p:nvSpPr>
          <p:cNvPr id="62" name="Shape 60"/>
          <p:cNvSpPr/>
          <p:nvPr/>
        </p:nvSpPr>
        <p:spPr>
          <a:xfrm>
            <a:off x="2743200" y="3097530"/>
            <a:ext cx="1417320" cy="0"/>
          </a:xfrm>
          <a:prstGeom prst="line">
            <a:avLst/>
          </a:prstGeom>
          <a:noFill/>
          <a:ln w="7620">
            <a:solidFill>
              <a:srgbClr val="B8C4D3"/>
            </a:solidFill>
            <a:prstDash val="solid"/>
          </a:ln>
        </p:spPr>
      </p:sp>
      <p:sp>
        <p:nvSpPr>
          <p:cNvPr id="63" name="Shape 61"/>
          <p:cNvSpPr/>
          <p:nvPr/>
        </p:nvSpPr>
        <p:spPr>
          <a:xfrm>
            <a:off x="3274695" y="2743200"/>
            <a:ext cx="0" cy="1417320"/>
          </a:xfrm>
          <a:prstGeom prst="line">
            <a:avLst/>
          </a:prstGeom>
          <a:noFill/>
          <a:ln w="7620">
            <a:solidFill>
              <a:srgbClr val="B8C4D3"/>
            </a:solidFill>
            <a:prstDash val="solid"/>
          </a:ln>
        </p:spPr>
      </p:sp>
      <p:sp>
        <p:nvSpPr>
          <p:cNvPr id="64" name="Shape 62"/>
          <p:cNvSpPr/>
          <p:nvPr/>
        </p:nvSpPr>
        <p:spPr>
          <a:xfrm>
            <a:off x="2743200" y="3274695"/>
            <a:ext cx="1417320" cy="0"/>
          </a:xfrm>
          <a:prstGeom prst="line">
            <a:avLst/>
          </a:prstGeom>
          <a:noFill/>
          <a:ln w="7620">
            <a:solidFill>
              <a:srgbClr val="B8C4D3"/>
            </a:solidFill>
            <a:prstDash val="solid"/>
          </a:ln>
        </p:spPr>
      </p:sp>
      <p:sp>
        <p:nvSpPr>
          <p:cNvPr id="65" name="Shape 63"/>
          <p:cNvSpPr/>
          <p:nvPr/>
        </p:nvSpPr>
        <p:spPr>
          <a:xfrm>
            <a:off x="3451860" y="2743200"/>
            <a:ext cx="0" cy="1417320"/>
          </a:xfrm>
          <a:prstGeom prst="line">
            <a:avLst/>
          </a:prstGeom>
          <a:noFill/>
          <a:ln w="7620">
            <a:solidFill>
              <a:srgbClr val="B8C4D3"/>
            </a:solidFill>
            <a:prstDash val="solid"/>
          </a:ln>
        </p:spPr>
      </p:sp>
      <p:sp>
        <p:nvSpPr>
          <p:cNvPr id="66" name="Shape 64"/>
          <p:cNvSpPr/>
          <p:nvPr/>
        </p:nvSpPr>
        <p:spPr>
          <a:xfrm>
            <a:off x="2743200" y="3451860"/>
            <a:ext cx="1417320" cy="0"/>
          </a:xfrm>
          <a:prstGeom prst="line">
            <a:avLst/>
          </a:prstGeom>
          <a:noFill/>
          <a:ln w="7620">
            <a:solidFill>
              <a:srgbClr val="B8C4D3"/>
            </a:solidFill>
            <a:prstDash val="solid"/>
          </a:ln>
        </p:spPr>
      </p:sp>
      <p:sp>
        <p:nvSpPr>
          <p:cNvPr id="67" name="Shape 65"/>
          <p:cNvSpPr/>
          <p:nvPr/>
        </p:nvSpPr>
        <p:spPr>
          <a:xfrm>
            <a:off x="3629025" y="2743200"/>
            <a:ext cx="0" cy="1417320"/>
          </a:xfrm>
          <a:prstGeom prst="line">
            <a:avLst/>
          </a:prstGeom>
          <a:noFill/>
          <a:ln w="7620">
            <a:solidFill>
              <a:srgbClr val="B8C4D3"/>
            </a:solidFill>
            <a:prstDash val="solid"/>
          </a:ln>
        </p:spPr>
      </p:sp>
      <p:sp>
        <p:nvSpPr>
          <p:cNvPr id="68" name="Shape 66"/>
          <p:cNvSpPr/>
          <p:nvPr/>
        </p:nvSpPr>
        <p:spPr>
          <a:xfrm>
            <a:off x="2743200" y="3629025"/>
            <a:ext cx="1417320" cy="0"/>
          </a:xfrm>
          <a:prstGeom prst="line">
            <a:avLst/>
          </a:prstGeom>
          <a:noFill/>
          <a:ln w="7620">
            <a:solidFill>
              <a:srgbClr val="B8C4D3"/>
            </a:solidFill>
            <a:prstDash val="solid"/>
          </a:ln>
        </p:spPr>
      </p:sp>
      <p:sp>
        <p:nvSpPr>
          <p:cNvPr id="69" name="Shape 67"/>
          <p:cNvSpPr/>
          <p:nvPr/>
        </p:nvSpPr>
        <p:spPr>
          <a:xfrm>
            <a:off x="3806190" y="2743200"/>
            <a:ext cx="0" cy="1417320"/>
          </a:xfrm>
          <a:prstGeom prst="line">
            <a:avLst/>
          </a:prstGeom>
          <a:noFill/>
          <a:ln w="7620">
            <a:solidFill>
              <a:srgbClr val="B8C4D3"/>
            </a:solidFill>
            <a:prstDash val="solid"/>
          </a:ln>
        </p:spPr>
      </p:sp>
      <p:sp>
        <p:nvSpPr>
          <p:cNvPr id="70" name="Shape 68"/>
          <p:cNvSpPr/>
          <p:nvPr/>
        </p:nvSpPr>
        <p:spPr>
          <a:xfrm>
            <a:off x="2743200" y="3806190"/>
            <a:ext cx="1417320" cy="0"/>
          </a:xfrm>
          <a:prstGeom prst="line">
            <a:avLst/>
          </a:prstGeom>
          <a:noFill/>
          <a:ln w="7620">
            <a:solidFill>
              <a:srgbClr val="B8C4D3"/>
            </a:solidFill>
            <a:prstDash val="solid"/>
          </a:ln>
        </p:spPr>
      </p:sp>
      <p:sp>
        <p:nvSpPr>
          <p:cNvPr id="71" name="Shape 69"/>
          <p:cNvSpPr/>
          <p:nvPr/>
        </p:nvSpPr>
        <p:spPr>
          <a:xfrm>
            <a:off x="3983355" y="2743200"/>
            <a:ext cx="0" cy="1417320"/>
          </a:xfrm>
          <a:prstGeom prst="line">
            <a:avLst/>
          </a:prstGeom>
          <a:noFill/>
          <a:ln w="7620">
            <a:solidFill>
              <a:srgbClr val="B8C4D3"/>
            </a:solidFill>
            <a:prstDash val="solid"/>
          </a:ln>
        </p:spPr>
      </p:sp>
      <p:sp>
        <p:nvSpPr>
          <p:cNvPr id="72" name="Shape 70"/>
          <p:cNvSpPr/>
          <p:nvPr/>
        </p:nvSpPr>
        <p:spPr>
          <a:xfrm>
            <a:off x="2743200" y="3983355"/>
            <a:ext cx="1417320" cy="0"/>
          </a:xfrm>
          <a:prstGeom prst="line">
            <a:avLst/>
          </a:prstGeom>
          <a:noFill/>
          <a:ln w="7620">
            <a:solidFill>
              <a:srgbClr val="B8C4D3"/>
            </a:solidFill>
            <a:prstDash val="solid"/>
          </a:ln>
        </p:spPr>
      </p:sp>
      <p:sp>
        <p:nvSpPr>
          <p:cNvPr id="73" name="Shape 71"/>
          <p:cNvSpPr/>
          <p:nvPr/>
        </p:nvSpPr>
        <p:spPr>
          <a:xfrm>
            <a:off x="3274695" y="3274695"/>
            <a:ext cx="177165" cy="177165"/>
          </a:xfrm>
          <a:prstGeom prst="rect">
            <a:avLst/>
          </a:prstGeom>
          <a:solidFill>
            <a:srgbClr val="F2C14E"/>
          </a:solidFill>
          <a:ln w="12700">
            <a:solidFill>
              <a:srgbClr val="F2C14E"/>
            </a:solidFill>
            <a:prstDash val="solid"/>
          </a:ln>
        </p:spPr>
      </p:sp>
      <p:sp>
        <p:nvSpPr>
          <p:cNvPr id="74" name="Text 72"/>
          <p:cNvSpPr txBox="1"/>
          <p:nvPr/>
        </p:nvSpPr>
        <p:spPr>
          <a:xfrm>
            <a:off x="2468880" y="2304288"/>
            <a:ext cx="1965960" cy="256032"/>
          </a:xfrm>
          <a:prstGeom prst="rect">
            <a:avLst/>
          </a:prstGeom>
          <a:noFill/>
          <a:ln/>
        </p:spPr>
        <p:txBody>
          <a:bodyPr wrap="square" lIns="0" tIns="0" rIns="0" bIns="0" rtlCol="0" anchor="ctr"/>
          <a:lstStyle/>
          <a:p>
            <a:pPr algn="ctr" indent="0" marL="0">
              <a:buNone/>
            </a:pPr>
            <a:r>
              <a:rPr lang="en-US" sz="950" b="1" dirty="0">
                <a:solidFill>
                  <a:srgbClr val="2E86AB"/>
                </a:solidFill>
                <a:latin typeface="Calibri" pitchFamily="34" charset="0"/>
                <a:ea typeface="Calibri" pitchFamily="34" charset="-122"/>
                <a:cs typeface="Calibri" pitchFamily="34" charset="-120"/>
              </a:rPr>
              <a:t>Landsat · 30 m</a:t>
            </a:r>
            <a:endParaRPr lang="en-US" sz="950" dirty="0"/>
          </a:p>
        </p:txBody>
      </p:sp>
      <p:sp>
        <p:nvSpPr>
          <p:cNvPr id="75" name="Text 73"/>
          <p:cNvSpPr txBox="1"/>
          <p:nvPr/>
        </p:nvSpPr>
        <p:spPr>
          <a:xfrm>
            <a:off x="2377440" y="4206240"/>
            <a:ext cx="2148840" cy="4572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 43 × 43 px (drawn 8 × 8)</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~20 frames / yr</a:t>
            </a:r>
            <a:endParaRPr lang="en-US" sz="850" dirty="0"/>
          </a:p>
        </p:txBody>
      </p:sp>
      <p:sp>
        <p:nvSpPr>
          <p:cNvPr id="76" name="Shape 74"/>
          <p:cNvSpPr/>
          <p:nvPr/>
        </p:nvSpPr>
        <p:spPr>
          <a:xfrm>
            <a:off x="4818888" y="2679192"/>
            <a:ext cx="1417320" cy="1417320"/>
          </a:xfrm>
          <a:prstGeom prst="rect">
            <a:avLst/>
          </a:prstGeom>
          <a:solidFill>
            <a:srgbClr val="EEF3F8"/>
          </a:solidFill>
          <a:ln w="7620">
            <a:solidFill>
              <a:srgbClr val="B8C4D3"/>
            </a:solidFill>
            <a:prstDash val="solid"/>
          </a:ln>
        </p:spPr>
      </p:sp>
      <p:sp>
        <p:nvSpPr>
          <p:cNvPr id="77" name="Shape 75"/>
          <p:cNvSpPr/>
          <p:nvPr/>
        </p:nvSpPr>
        <p:spPr>
          <a:xfrm>
            <a:off x="4754880" y="2743200"/>
            <a:ext cx="1417320" cy="1417320"/>
          </a:xfrm>
          <a:prstGeom prst="rect">
            <a:avLst/>
          </a:prstGeom>
          <a:solidFill>
            <a:srgbClr val="FFFFFF"/>
          </a:solidFill>
          <a:ln w="9525">
            <a:solidFill>
              <a:srgbClr val="B8C4D3"/>
            </a:solidFill>
            <a:prstDash val="solid"/>
          </a:ln>
        </p:spPr>
      </p:sp>
      <p:sp>
        <p:nvSpPr>
          <p:cNvPr id="78" name="Shape 76"/>
          <p:cNvSpPr/>
          <p:nvPr/>
        </p:nvSpPr>
        <p:spPr>
          <a:xfrm>
            <a:off x="4754880" y="2743200"/>
            <a:ext cx="1417320" cy="1417320"/>
          </a:xfrm>
          <a:prstGeom prst="rect">
            <a:avLst/>
          </a:prstGeom>
          <a:solidFill>
            <a:srgbClr val="F2C14E">
              <a:alpha val="15000"/>
            </a:srgbClr>
          </a:solidFill>
          <a:ln w="12700">
            <a:solidFill>
              <a:srgbClr val="F2C14E"/>
            </a:solidFill>
            <a:prstDash val="solid"/>
          </a:ln>
        </p:spPr>
      </p:sp>
      <p:sp>
        <p:nvSpPr>
          <p:cNvPr id="79" name="Text 77"/>
          <p:cNvSpPr txBox="1"/>
          <p:nvPr/>
        </p:nvSpPr>
        <p:spPr>
          <a:xfrm>
            <a:off x="4480560" y="2368296"/>
            <a:ext cx="1965960" cy="256032"/>
          </a:xfrm>
          <a:prstGeom prst="rect">
            <a:avLst/>
          </a:prstGeom>
          <a:noFill/>
          <a:ln/>
        </p:spPr>
        <p:txBody>
          <a:bodyPr wrap="square" lIns="0" tIns="0" rIns="0" bIns="0" rtlCol="0" anchor="ctr"/>
          <a:lstStyle/>
          <a:p>
            <a:pPr algn="ctr" indent="0" marL="0">
              <a:buNone/>
            </a:pPr>
            <a:r>
              <a:rPr lang="en-US" sz="950" b="1" dirty="0">
                <a:solidFill>
                  <a:srgbClr val="2E86AB"/>
                </a:solidFill>
                <a:latin typeface="Calibri" pitchFamily="34" charset="0"/>
                <a:ea typeface="Calibri" pitchFamily="34" charset="-122"/>
                <a:cs typeface="Calibri" pitchFamily="34" charset="-120"/>
              </a:rPr>
              <a:t>ERA5-Land · 9 km</a:t>
            </a:r>
            <a:endParaRPr lang="en-US" sz="950" dirty="0"/>
          </a:p>
        </p:txBody>
      </p:sp>
      <p:sp>
        <p:nvSpPr>
          <p:cNvPr id="80" name="Text 78"/>
          <p:cNvSpPr txBox="1"/>
          <p:nvPr/>
        </p:nvSpPr>
        <p:spPr>
          <a:xfrm>
            <a:off x="4389120" y="4206240"/>
            <a:ext cx="2148840" cy="4572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the whole frame is one cell</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daily → monthly</a:t>
            </a:r>
            <a:endParaRPr lang="en-US" sz="850" dirty="0"/>
          </a:p>
        </p:txBody>
      </p:sp>
      <p:sp>
        <p:nvSpPr>
          <p:cNvPr id="81" name="Text 79"/>
          <p:cNvSpPr txBox="1"/>
          <p:nvPr/>
        </p:nvSpPr>
        <p:spPr>
          <a:xfrm>
            <a:off x="640080" y="4846320"/>
            <a:ext cx="5669280" cy="274320"/>
          </a:xfrm>
          <a:prstGeom prst="rect">
            <a:avLst/>
          </a:prstGeom>
          <a:noFill/>
          <a:ln/>
        </p:spPr>
        <p:txBody>
          <a:bodyPr wrap="square" lIns="0" tIns="0" rIns="0" bIns="0" rtlCol="0" anchor="ctr"/>
          <a:lstStyle/>
          <a:p>
            <a:pPr indent="0" marL="0">
              <a:buNone/>
            </a:pPr>
            <a:r>
              <a:rPr lang="en-US" sz="900" i="1" dirty="0">
                <a:solidFill>
                  <a:srgbClr val="6B7A8F"/>
                </a:solidFill>
                <a:latin typeface="Calibri" pitchFamily="34" charset="0"/>
                <a:ea typeface="Calibri" pitchFamily="34" charset="-122"/>
                <a:cs typeface="Calibri" pitchFamily="34" charset="-120"/>
              </a:rPr>
              <a:t>… + S-1, PALSAR-2, GEDI, GRACE, DEM, land-cover, text</a:t>
            </a:r>
            <a:endParaRPr lang="en-US" sz="900" dirty="0"/>
          </a:p>
        </p:txBody>
      </p:sp>
      <p:sp>
        <p:nvSpPr>
          <p:cNvPr id="82" name="Shape 80"/>
          <p:cNvSpPr/>
          <p:nvPr/>
        </p:nvSpPr>
        <p:spPr>
          <a:xfrm>
            <a:off x="6446520" y="3223260"/>
            <a:ext cx="822960" cy="457200"/>
          </a:xfrm>
          <a:prstGeom prst="rightArrow">
            <a:avLst/>
          </a:prstGeom>
          <a:solidFill>
            <a:srgbClr val="2E86AB">
              <a:alpha val="70000"/>
            </a:srgbClr>
          </a:solidFill>
          <a:ln w="12700">
            <a:solidFill>
              <a:srgbClr val="333333"/>
            </a:solidFill>
            <a:prstDash val="solid"/>
          </a:ln>
        </p:spPr>
      </p:sp>
      <p:sp>
        <p:nvSpPr>
          <p:cNvPr id="83" name="Text 81"/>
          <p:cNvSpPr txBox="1"/>
          <p:nvPr/>
        </p:nvSpPr>
        <p:spPr>
          <a:xfrm>
            <a:off x="6172200" y="3726180"/>
            <a:ext cx="1371600" cy="457200"/>
          </a:xfrm>
          <a:prstGeom prst="rect">
            <a:avLst/>
          </a:prstGeom>
          <a:noFill/>
          <a:ln/>
        </p:spPr>
        <p:txBody>
          <a:bodyPr wrap="square" lIns="0" tIns="0" rIns="0" bIns="0" rtlCol="0" anchor="ctr"/>
          <a:lstStyle/>
          <a:p>
            <a:pPr algn="ctr" indent="0" marL="0">
              <a:buNone/>
            </a:pPr>
            <a:r>
              <a:rPr lang="en-US" sz="800" dirty="0">
                <a:solidFill>
                  <a:srgbClr val="2E86AB"/>
                </a:solidFill>
                <a:latin typeface="Calibri" pitchFamily="34" charset="0"/>
                <a:ea typeface="Calibri" pitchFamily="34" charset="-122"/>
                <a:cs typeface="Calibri" pitchFamily="34" charset="-120"/>
              </a:rPr>
              <a:t>learned projector per source</a:t>
            </a:r>
            <a:endParaRPr lang="en-US" sz="800" dirty="0"/>
          </a:p>
          <a:p>
            <a:pPr algn="ctr" indent="0" marL="0">
              <a:buNone/>
            </a:pPr>
            <a:r>
              <a:rPr lang="en-US" sz="800" dirty="0">
                <a:solidFill>
                  <a:srgbClr val="2E86AB"/>
                </a:solidFill>
                <a:latin typeface="Calibri" pitchFamily="34" charset="0"/>
                <a:ea typeface="Calibri" pitchFamily="34" charset="-122"/>
                <a:cs typeface="Calibri" pitchFamily="34" charset="-120"/>
              </a:rPr>
              <a:t>(down-scale to ½ L)</a:t>
            </a:r>
            <a:endParaRPr lang="en-US" sz="800" dirty="0"/>
          </a:p>
        </p:txBody>
      </p:sp>
      <p:sp>
        <p:nvSpPr>
          <p:cNvPr id="84" name="Shape 82"/>
          <p:cNvSpPr/>
          <p:nvPr/>
        </p:nvSpPr>
        <p:spPr>
          <a:xfrm>
            <a:off x="8119872" y="2304288"/>
            <a:ext cx="2011680" cy="2011680"/>
          </a:xfrm>
          <a:prstGeom prst="rect">
            <a:avLst/>
          </a:prstGeom>
          <a:solidFill>
            <a:srgbClr val="EEF3F8"/>
          </a:solidFill>
          <a:ln w="7620">
            <a:solidFill>
              <a:srgbClr val="B8C4D3"/>
            </a:solidFill>
            <a:prstDash val="solid"/>
          </a:ln>
        </p:spPr>
      </p:sp>
      <p:sp>
        <p:nvSpPr>
          <p:cNvPr id="85" name="Shape 83"/>
          <p:cNvSpPr/>
          <p:nvPr/>
        </p:nvSpPr>
        <p:spPr>
          <a:xfrm>
            <a:off x="8055864" y="2368296"/>
            <a:ext cx="2011680" cy="2011680"/>
          </a:xfrm>
          <a:prstGeom prst="rect">
            <a:avLst/>
          </a:prstGeom>
          <a:solidFill>
            <a:srgbClr val="EEF3F8"/>
          </a:solidFill>
          <a:ln w="7620">
            <a:solidFill>
              <a:srgbClr val="B8C4D3"/>
            </a:solidFill>
            <a:prstDash val="solid"/>
          </a:ln>
        </p:spPr>
      </p:sp>
      <p:sp>
        <p:nvSpPr>
          <p:cNvPr id="86" name="Shape 84"/>
          <p:cNvSpPr/>
          <p:nvPr/>
        </p:nvSpPr>
        <p:spPr>
          <a:xfrm>
            <a:off x="7991856" y="2432304"/>
            <a:ext cx="2011680" cy="2011680"/>
          </a:xfrm>
          <a:prstGeom prst="rect">
            <a:avLst/>
          </a:prstGeom>
          <a:solidFill>
            <a:srgbClr val="EEF3F8"/>
          </a:solidFill>
          <a:ln w="7620">
            <a:solidFill>
              <a:srgbClr val="B8C4D3"/>
            </a:solidFill>
            <a:prstDash val="solid"/>
          </a:ln>
        </p:spPr>
      </p:sp>
      <p:sp>
        <p:nvSpPr>
          <p:cNvPr id="87" name="Shape 85"/>
          <p:cNvSpPr/>
          <p:nvPr/>
        </p:nvSpPr>
        <p:spPr>
          <a:xfrm>
            <a:off x="7927848" y="2496312"/>
            <a:ext cx="2011680" cy="2011680"/>
          </a:xfrm>
          <a:prstGeom prst="rect">
            <a:avLst/>
          </a:prstGeom>
          <a:solidFill>
            <a:srgbClr val="EEF3F8"/>
          </a:solidFill>
          <a:ln w="7620">
            <a:solidFill>
              <a:srgbClr val="B8C4D3"/>
            </a:solidFill>
            <a:prstDash val="solid"/>
          </a:ln>
        </p:spPr>
      </p:sp>
      <p:sp>
        <p:nvSpPr>
          <p:cNvPr id="88" name="Shape 86"/>
          <p:cNvSpPr/>
          <p:nvPr/>
        </p:nvSpPr>
        <p:spPr>
          <a:xfrm>
            <a:off x="7863840" y="2560320"/>
            <a:ext cx="2011680" cy="2011680"/>
          </a:xfrm>
          <a:prstGeom prst="rect">
            <a:avLst/>
          </a:prstGeom>
          <a:solidFill>
            <a:srgbClr val="FFFFFF"/>
          </a:solidFill>
          <a:ln w="9525">
            <a:solidFill>
              <a:srgbClr val="B8C4D3"/>
            </a:solidFill>
            <a:prstDash val="solid"/>
          </a:ln>
        </p:spPr>
      </p:sp>
      <p:sp>
        <p:nvSpPr>
          <p:cNvPr id="89" name="Shape 87"/>
          <p:cNvSpPr/>
          <p:nvPr/>
        </p:nvSpPr>
        <p:spPr>
          <a:xfrm>
            <a:off x="7895273" y="2560320"/>
            <a:ext cx="0" cy="2011680"/>
          </a:xfrm>
          <a:prstGeom prst="line">
            <a:avLst/>
          </a:prstGeom>
          <a:noFill/>
          <a:ln w="3175">
            <a:solidFill>
              <a:srgbClr val="B8C4D3"/>
            </a:solidFill>
            <a:prstDash val="solid"/>
          </a:ln>
        </p:spPr>
      </p:sp>
      <p:sp>
        <p:nvSpPr>
          <p:cNvPr id="90" name="Shape 88"/>
          <p:cNvSpPr/>
          <p:nvPr/>
        </p:nvSpPr>
        <p:spPr>
          <a:xfrm>
            <a:off x="7863840" y="2591752"/>
            <a:ext cx="2011680" cy="0"/>
          </a:xfrm>
          <a:prstGeom prst="line">
            <a:avLst/>
          </a:prstGeom>
          <a:noFill/>
          <a:ln w="3175">
            <a:solidFill>
              <a:srgbClr val="B8C4D3"/>
            </a:solidFill>
            <a:prstDash val="solid"/>
          </a:ln>
        </p:spPr>
      </p:sp>
      <p:sp>
        <p:nvSpPr>
          <p:cNvPr id="91" name="Shape 89"/>
          <p:cNvSpPr/>
          <p:nvPr/>
        </p:nvSpPr>
        <p:spPr>
          <a:xfrm>
            <a:off x="7926705" y="2560320"/>
            <a:ext cx="0" cy="2011680"/>
          </a:xfrm>
          <a:prstGeom prst="line">
            <a:avLst/>
          </a:prstGeom>
          <a:noFill/>
          <a:ln w="3175">
            <a:solidFill>
              <a:srgbClr val="B8C4D3"/>
            </a:solidFill>
            <a:prstDash val="solid"/>
          </a:ln>
        </p:spPr>
      </p:sp>
      <p:sp>
        <p:nvSpPr>
          <p:cNvPr id="92" name="Shape 90"/>
          <p:cNvSpPr/>
          <p:nvPr/>
        </p:nvSpPr>
        <p:spPr>
          <a:xfrm>
            <a:off x="7863840" y="2623185"/>
            <a:ext cx="2011680" cy="0"/>
          </a:xfrm>
          <a:prstGeom prst="line">
            <a:avLst/>
          </a:prstGeom>
          <a:noFill/>
          <a:ln w="3175">
            <a:solidFill>
              <a:srgbClr val="B8C4D3"/>
            </a:solidFill>
            <a:prstDash val="solid"/>
          </a:ln>
        </p:spPr>
      </p:sp>
      <p:sp>
        <p:nvSpPr>
          <p:cNvPr id="93" name="Shape 91"/>
          <p:cNvSpPr/>
          <p:nvPr/>
        </p:nvSpPr>
        <p:spPr>
          <a:xfrm>
            <a:off x="7958138" y="2560320"/>
            <a:ext cx="0" cy="2011680"/>
          </a:xfrm>
          <a:prstGeom prst="line">
            <a:avLst/>
          </a:prstGeom>
          <a:noFill/>
          <a:ln w="3175">
            <a:solidFill>
              <a:srgbClr val="B8C4D3"/>
            </a:solidFill>
            <a:prstDash val="solid"/>
          </a:ln>
        </p:spPr>
      </p:sp>
      <p:sp>
        <p:nvSpPr>
          <p:cNvPr id="94" name="Shape 92"/>
          <p:cNvSpPr/>
          <p:nvPr/>
        </p:nvSpPr>
        <p:spPr>
          <a:xfrm>
            <a:off x="7863840" y="2654617"/>
            <a:ext cx="2011680" cy="0"/>
          </a:xfrm>
          <a:prstGeom prst="line">
            <a:avLst/>
          </a:prstGeom>
          <a:noFill/>
          <a:ln w="3175">
            <a:solidFill>
              <a:srgbClr val="B8C4D3"/>
            </a:solidFill>
            <a:prstDash val="solid"/>
          </a:ln>
        </p:spPr>
      </p:sp>
      <p:sp>
        <p:nvSpPr>
          <p:cNvPr id="95" name="Shape 93"/>
          <p:cNvSpPr/>
          <p:nvPr/>
        </p:nvSpPr>
        <p:spPr>
          <a:xfrm>
            <a:off x="7989570" y="2560320"/>
            <a:ext cx="0" cy="2011680"/>
          </a:xfrm>
          <a:prstGeom prst="line">
            <a:avLst/>
          </a:prstGeom>
          <a:noFill/>
          <a:ln w="3175">
            <a:solidFill>
              <a:srgbClr val="B8C4D3"/>
            </a:solidFill>
            <a:prstDash val="solid"/>
          </a:ln>
        </p:spPr>
      </p:sp>
      <p:sp>
        <p:nvSpPr>
          <p:cNvPr id="96" name="Shape 94"/>
          <p:cNvSpPr/>
          <p:nvPr/>
        </p:nvSpPr>
        <p:spPr>
          <a:xfrm>
            <a:off x="7863840" y="2686050"/>
            <a:ext cx="2011680" cy="0"/>
          </a:xfrm>
          <a:prstGeom prst="line">
            <a:avLst/>
          </a:prstGeom>
          <a:noFill/>
          <a:ln w="3175">
            <a:solidFill>
              <a:srgbClr val="B8C4D3"/>
            </a:solidFill>
            <a:prstDash val="solid"/>
          </a:ln>
        </p:spPr>
      </p:sp>
      <p:sp>
        <p:nvSpPr>
          <p:cNvPr id="97" name="Shape 95"/>
          <p:cNvSpPr/>
          <p:nvPr/>
        </p:nvSpPr>
        <p:spPr>
          <a:xfrm>
            <a:off x="8021003" y="2560320"/>
            <a:ext cx="0" cy="2011680"/>
          </a:xfrm>
          <a:prstGeom prst="line">
            <a:avLst/>
          </a:prstGeom>
          <a:noFill/>
          <a:ln w="3175">
            <a:solidFill>
              <a:srgbClr val="B8C4D3"/>
            </a:solidFill>
            <a:prstDash val="solid"/>
          </a:ln>
        </p:spPr>
      </p:sp>
      <p:sp>
        <p:nvSpPr>
          <p:cNvPr id="98" name="Shape 96"/>
          <p:cNvSpPr/>
          <p:nvPr/>
        </p:nvSpPr>
        <p:spPr>
          <a:xfrm>
            <a:off x="7863840" y="2717483"/>
            <a:ext cx="2011680" cy="0"/>
          </a:xfrm>
          <a:prstGeom prst="line">
            <a:avLst/>
          </a:prstGeom>
          <a:noFill/>
          <a:ln w="3175">
            <a:solidFill>
              <a:srgbClr val="B8C4D3"/>
            </a:solidFill>
            <a:prstDash val="solid"/>
          </a:ln>
        </p:spPr>
      </p:sp>
      <p:sp>
        <p:nvSpPr>
          <p:cNvPr id="99" name="Shape 97"/>
          <p:cNvSpPr/>
          <p:nvPr/>
        </p:nvSpPr>
        <p:spPr>
          <a:xfrm>
            <a:off x="8052435" y="2560320"/>
            <a:ext cx="0" cy="2011680"/>
          </a:xfrm>
          <a:prstGeom prst="line">
            <a:avLst/>
          </a:prstGeom>
          <a:noFill/>
          <a:ln w="3175">
            <a:solidFill>
              <a:srgbClr val="B8C4D3"/>
            </a:solidFill>
            <a:prstDash val="solid"/>
          </a:ln>
        </p:spPr>
      </p:sp>
      <p:sp>
        <p:nvSpPr>
          <p:cNvPr id="100" name="Shape 98"/>
          <p:cNvSpPr/>
          <p:nvPr/>
        </p:nvSpPr>
        <p:spPr>
          <a:xfrm>
            <a:off x="7863840" y="2748915"/>
            <a:ext cx="2011680" cy="0"/>
          </a:xfrm>
          <a:prstGeom prst="line">
            <a:avLst/>
          </a:prstGeom>
          <a:noFill/>
          <a:ln w="3175">
            <a:solidFill>
              <a:srgbClr val="B8C4D3"/>
            </a:solidFill>
            <a:prstDash val="solid"/>
          </a:ln>
        </p:spPr>
      </p:sp>
      <p:sp>
        <p:nvSpPr>
          <p:cNvPr id="101" name="Shape 99"/>
          <p:cNvSpPr/>
          <p:nvPr/>
        </p:nvSpPr>
        <p:spPr>
          <a:xfrm>
            <a:off x="8083867" y="2560320"/>
            <a:ext cx="0" cy="2011680"/>
          </a:xfrm>
          <a:prstGeom prst="line">
            <a:avLst/>
          </a:prstGeom>
          <a:noFill/>
          <a:ln w="3175">
            <a:solidFill>
              <a:srgbClr val="B8C4D3"/>
            </a:solidFill>
            <a:prstDash val="solid"/>
          </a:ln>
        </p:spPr>
      </p:sp>
      <p:sp>
        <p:nvSpPr>
          <p:cNvPr id="102" name="Shape 100"/>
          <p:cNvSpPr/>
          <p:nvPr/>
        </p:nvSpPr>
        <p:spPr>
          <a:xfrm>
            <a:off x="7863840" y="2780348"/>
            <a:ext cx="2011680" cy="0"/>
          </a:xfrm>
          <a:prstGeom prst="line">
            <a:avLst/>
          </a:prstGeom>
          <a:noFill/>
          <a:ln w="3175">
            <a:solidFill>
              <a:srgbClr val="B8C4D3"/>
            </a:solidFill>
            <a:prstDash val="solid"/>
          </a:ln>
        </p:spPr>
      </p:sp>
      <p:sp>
        <p:nvSpPr>
          <p:cNvPr id="103" name="Shape 101"/>
          <p:cNvSpPr/>
          <p:nvPr/>
        </p:nvSpPr>
        <p:spPr>
          <a:xfrm>
            <a:off x="8115300" y="2560320"/>
            <a:ext cx="0" cy="2011680"/>
          </a:xfrm>
          <a:prstGeom prst="line">
            <a:avLst/>
          </a:prstGeom>
          <a:noFill/>
          <a:ln w="3175">
            <a:solidFill>
              <a:srgbClr val="B8C4D3"/>
            </a:solidFill>
            <a:prstDash val="solid"/>
          </a:ln>
        </p:spPr>
      </p:sp>
      <p:sp>
        <p:nvSpPr>
          <p:cNvPr id="104" name="Shape 102"/>
          <p:cNvSpPr/>
          <p:nvPr/>
        </p:nvSpPr>
        <p:spPr>
          <a:xfrm>
            <a:off x="7863840" y="2811780"/>
            <a:ext cx="2011680" cy="0"/>
          </a:xfrm>
          <a:prstGeom prst="line">
            <a:avLst/>
          </a:prstGeom>
          <a:noFill/>
          <a:ln w="3175">
            <a:solidFill>
              <a:srgbClr val="B8C4D3"/>
            </a:solidFill>
            <a:prstDash val="solid"/>
          </a:ln>
        </p:spPr>
      </p:sp>
      <p:sp>
        <p:nvSpPr>
          <p:cNvPr id="105" name="Shape 103"/>
          <p:cNvSpPr/>
          <p:nvPr/>
        </p:nvSpPr>
        <p:spPr>
          <a:xfrm>
            <a:off x="8146732" y="2560320"/>
            <a:ext cx="0" cy="2011680"/>
          </a:xfrm>
          <a:prstGeom prst="line">
            <a:avLst/>
          </a:prstGeom>
          <a:noFill/>
          <a:ln w="3175">
            <a:solidFill>
              <a:srgbClr val="B8C4D3"/>
            </a:solidFill>
            <a:prstDash val="solid"/>
          </a:ln>
        </p:spPr>
      </p:sp>
      <p:sp>
        <p:nvSpPr>
          <p:cNvPr id="106" name="Shape 104"/>
          <p:cNvSpPr/>
          <p:nvPr/>
        </p:nvSpPr>
        <p:spPr>
          <a:xfrm>
            <a:off x="7863840" y="2843213"/>
            <a:ext cx="2011680" cy="0"/>
          </a:xfrm>
          <a:prstGeom prst="line">
            <a:avLst/>
          </a:prstGeom>
          <a:noFill/>
          <a:ln w="3175">
            <a:solidFill>
              <a:srgbClr val="B8C4D3"/>
            </a:solidFill>
            <a:prstDash val="solid"/>
          </a:ln>
        </p:spPr>
      </p:sp>
      <p:sp>
        <p:nvSpPr>
          <p:cNvPr id="107" name="Shape 105"/>
          <p:cNvSpPr/>
          <p:nvPr/>
        </p:nvSpPr>
        <p:spPr>
          <a:xfrm>
            <a:off x="8178165" y="2560320"/>
            <a:ext cx="0" cy="2011680"/>
          </a:xfrm>
          <a:prstGeom prst="line">
            <a:avLst/>
          </a:prstGeom>
          <a:noFill/>
          <a:ln w="3175">
            <a:solidFill>
              <a:srgbClr val="B8C4D3"/>
            </a:solidFill>
            <a:prstDash val="solid"/>
          </a:ln>
        </p:spPr>
      </p:sp>
      <p:sp>
        <p:nvSpPr>
          <p:cNvPr id="108" name="Shape 106"/>
          <p:cNvSpPr/>
          <p:nvPr/>
        </p:nvSpPr>
        <p:spPr>
          <a:xfrm>
            <a:off x="7863840" y="2874645"/>
            <a:ext cx="2011680" cy="0"/>
          </a:xfrm>
          <a:prstGeom prst="line">
            <a:avLst/>
          </a:prstGeom>
          <a:noFill/>
          <a:ln w="3175">
            <a:solidFill>
              <a:srgbClr val="B8C4D3"/>
            </a:solidFill>
            <a:prstDash val="solid"/>
          </a:ln>
        </p:spPr>
      </p:sp>
      <p:sp>
        <p:nvSpPr>
          <p:cNvPr id="109" name="Shape 107"/>
          <p:cNvSpPr/>
          <p:nvPr/>
        </p:nvSpPr>
        <p:spPr>
          <a:xfrm>
            <a:off x="8209598" y="2560320"/>
            <a:ext cx="0" cy="2011680"/>
          </a:xfrm>
          <a:prstGeom prst="line">
            <a:avLst/>
          </a:prstGeom>
          <a:noFill/>
          <a:ln w="3175">
            <a:solidFill>
              <a:srgbClr val="B8C4D3"/>
            </a:solidFill>
            <a:prstDash val="solid"/>
          </a:ln>
        </p:spPr>
      </p:sp>
      <p:sp>
        <p:nvSpPr>
          <p:cNvPr id="110" name="Shape 108"/>
          <p:cNvSpPr/>
          <p:nvPr/>
        </p:nvSpPr>
        <p:spPr>
          <a:xfrm>
            <a:off x="7863840" y="2906077"/>
            <a:ext cx="2011680" cy="0"/>
          </a:xfrm>
          <a:prstGeom prst="line">
            <a:avLst/>
          </a:prstGeom>
          <a:noFill/>
          <a:ln w="3175">
            <a:solidFill>
              <a:srgbClr val="B8C4D3"/>
            </a:solidFill>
            <a:prstDash val="solid"/>
          </a:ln>
        </p:spPr>
      </p:sp>
      <p:sp>
        <p:nvSpPr>
          <p:cNvPr id="111" name="Shape 109"/>
          <p:cNvSpPr/>
          <p:nvPr/>
        </p:nvSpPr>
        <p:spPr>
          <a:xfrm>
            <a:off x="8241030" y="2560320"/>
            <a:ext cx="0" cy="2011680"/>
          </a:xfrm>
          <a:prstGeom prst="line">
            <a:avLst/>
          </a:prstGeom>
          <a:noFill/>
          <a:ln w="3175">
            <a:solidFill>
              <a:srgbClr val="B8C4D3"/>
            </a:solidFill>
            <a:prstDash val="solid"/>
          </a:ln>
        </p:spPr>
      </p:sp>
      <p:sp>
        <p:nvSpPr>
          <p:cNvPr id="112" name="Shape 110"/>
          <p:cNvSpPr/>
          <p:nvPr/>
        </p:nvSpPr>
        <p:spPr>
          <a:xfrm>
            <a:off x="7863840" y="2937510"/>
            <a:ext cx="2011680" cy="0"/>
          </a:xfrm>
          <a:prstGeom prst="line">
            <a:avLst/>
          </a:prstGeom>
          <a:noFill/>
          <a:ln w="3175">
            <a:solidFill>
              <a:srgbClr val="B8C4D3"/>
            </a:solidFill>
            <a:prstDash val="solid"/>
          </a:ln>
        </p:spPr>
      </p:sp>
      <p:sp>
        <p:nvSpPr>
          <p:cNvPr id="113" name="Shape 111"/>
          <p:cNvSpPr/>
          <p:nvPr/>
        </p:nvSpPr>
        <p:spPr>
          <a:xfrm>
            <a:off x="8272463" y="2560320"/>
            <a:ext cx="0" cy="2011680"/>
          </a:xfrm>
          <a:prstGeom prst="line">
            <a:avLst/>
          </a:prstGeom>
          <a:noFill/>
          <a:ln w="3175">
            <a:solidFill>
              <a:srgbClr val="B8C4D3"/>
            </a:solidFill>
            <a:prstDash val="solid"/>
          </a:ln>
        </p:spPr>
      </p:sp>
      <p:sp>
        <p:nvSpPr>
          <p:cNvPr id="114" name="Shape 112"/>
          <p:cNvSpPr/>
          <p:nvPr/>
        </p:nvSpPr>
        <p:spPr>
          <a:xfrm>
            <a:off x="7863840" y="2968942"/>
            <a:ext cx="2011680" cy="0"/>
          </a:xfrm>
          <a:prstGeom prst="line">
            <a:avLst/>
          </a:prstGeom>
          <a:noFill/>
          <a:ln w="3175">
            <a:solidFill>
              <a:srgbClr val="B8C4D3"/>
            </a:solidFill>
            <a:prstDash val="solid"/>
          </a:ln>
        </p:spPr>
      </p:sp>
      <p:sp>
        <p:nvSpPr>
          <p:cNvPr id="115" name="Shape 113"/>
          <p:cNvSpPr/>
          <p:nvPr/>
        </p:nvSpPr>
        <p:spPr>
          <a:xfrm>
            <a:off x="8303895" y="2560320"/>
            <a:ext cx="0" cy="2011680"/>
          </a:xfrm>
          <a:prstGeom prst="line">
            <a:avLst/>
          </a:prstGeom>
          <a:noFill/>
          <a:ln w="3175">
            <a:solidFill>
              <a:srgbClr val="B8C4D3"/>
            </a:solidFill>
            <a:prstDash val="solid"/>
          </a:ln>
        </p:spPr>
      </p:sp>
      <p:sp>
        <p:nvSpPr>
          <p:cNvPr id="116" name="Shape 114"/>
          <p:cNvSpPr/>
          <p:nvPr/>
        </p:nvSpPr>
        <p:spPr>
          <a:xfrm>
            <a:off x="7863840" y="3000375"/>
            <a:ext cx="2011680" cy="0"/>
          </a:xfrm>
          <a:prstGeom prst="line">
            <a:avLst/>
          </a:prstGeom>
          <a:noFill/>
          <a:ln w="3175">
            <a:solidFill>
              <a:srgbClr val="B8C4D3"/>
            </a:solidFill>
            <a:prstDash val="solid"/>
          </a:ln>
        </p:spPr>
      </p:sp>
      <p:sp>
        <p:nvSpPr>
          <p:cNvPr id="117" name="Shape 115"/>
          <p:cNvSpPr/>
          <p:nvPr/>
        </p:nvSpPr>
        <p:spPr>
          <a:xfrm>
            <a:off x="8335328" y="2560320"/>
            <a:ext cx="0" cy="2011680"/>
          </a:xfrm>
          <a:prstGeom prst="line">
            <a:avLst/>
          </a:prstGeom>
          <a:noFill/>
          <a:ln w="3175">
            <a:solidFill>
              <a:srgbClr val="B8C4D3"/>
            </a:solidFill>
            <a:prstDash val="solid"/>
          </a:ln>
        </p:spPr>
      </p:sp>
      <p:sp>
        <p:nvSpPr>
          <p:cNvPr id="118" name="Shape 116"/>
          <p:cNvSpPr/>
          <p:nvPr/>
        </p:nvSpPr>
        <p:spPr>
          <a:xfrm>
            <a:off x="7863840" y="3031808"/>
            <a:ext cx="2011680" cy="0"/>
          </a:xfrm>
          <a:prstGeom prst="line">
            <a:avLst/>
          </a:prstGeom>
          <a:noFill/>
          <a:ln w="3175">
            <a:solidFill>
              <a:srgbClr val="B8C4D3"/>
            </a:solidFill>
            <a:prstDash val="solid"/>
          </a:ln>
        </p:spPr>
      </p:sp>
      <p:sp>
        <p:nvSpPr>
          <p:cNvPr id="119" name="Shape 117"/>
          <p:cNvSpPr/>
          <p:nvPr/>
        </p:nvSpPr>
        <p:spPr>
          <a:xfrm>
            <a:off x="8366760" y="2560320"/>
            <a:ext cx="0" cy="2011680"/>
          </a:xfrm>
          <a:prstGeom prst="line">
            <a:avLst/>
          </a:prstGeom>
          <a:noFill/>
          <a:ln w="3175">
            <a:solidFill>
              <a:srgbClr val="B8C4D3"/>
            </a:solidFill>
            <a:prstDash val="solid"/>
          </a:ln>
        </p:spPr>
      </p:sp>
      <p:sp>
        <p:nvSpPr>
          <p:cNvPr id="120" name="Shape 118"/>
          <p:cNvSpPr/>
          <p:nvPr/>
        </p:nvSpPr>
        <p:spPr>
          <a:xfrm>
            <a:off x="7863840" y="3063240"/>
            <a:ext cx="2011680" cy="0"/>
          </a:xfrm>
          <a:prstGeom prst="line">
            <a:avLst/>
          </a:prstGeom>
          <a:noFill/>
          <a:ln w="3175">
            <a:solidFill>
              <a:srgbClr val="B8C4D3"/>
            </a:solidFill>
            <a:prstDash val="solid"/>
          </a:ln>
        </p:spPr>
      </p:sp>
      <p:sp>
        <p:nvSpPr>
          <p:cNvPr id="121" name="Shape 119"/>
          <p:cNvSpPr/>
          <p:nvPr/>
        </p:nvSpPr>
        <p:spPr>
          <a:xfrm>
            <a:off x="8398193" y="2560320"/>
            <a:ext cx="0" cy="2011680"/>
          </a:xfrm>
          <a:prstGeom prst="line">
            <a:avLst/>
          </a:prstGeom>
          <a:noFill/>
          <a:ln w="3175">
            <a:solidFill>
              <a:srgbClr val="B8C4D3"/>
            </a:solidFill>
            <a:prstDash val="solid"/>
          </a:ln>
        </p:spPr>
      </p:sp>
      <p:sp>
        <p:nvSpPr>
          <p:cNvPr id="122" name="Shape 120"/>
          <p:cNvSpPr/>
          <p:nvPr/>
        </p:nvSpPr>
        <p:spPr>
          <a:xfrm>
            <a:off x="7863840" y="3094673"/>
            <a:ext cx="2011680" cy="0"/>
          </a:xfrm>
          <a:prstGeom prst="line">
            <a:avLst/>
          </a:prstGeom>
          <a:noFill/>
          <a:ln w="3175">
            <a:solidFill>
              <a:srgbClr val="B8C4D3"/>
            </a:solidFill>
            <a:prstDash val="solid"/>
          </a:ln>
        </p:spPr>
      </p:sp>
      <p:sp>
        <p:nvSpPr>
          <p:cNvPr id="123" name="Shape 121"/>
          <p:cNvSpPr/>
          <p:nvPr/>
        </p:nvSpPr>
        <p:spPr>
          <a:xfrm>
            <a:off x="8429625" y="2560320"/>
            <a:ext cx="0" cy="2011680"/>
          </a:xfrm>
          <a:prstGeom prst="line">
            <a:avLst/>
          </a:prstGeom>
          <a:noFill/>
          <a:ln w="3175">
            <a:solidFill>
              <a:srgbClr val="B8C4D3"/>
            </a:solidFill>
            <a:prstDash val="solid"/>
          </a:ln>
        </p:spPr>
      </p:sp>
      <p:sp>
        <p:nvSpPr>
          <p:cNvPr id="124" name="Shape 122"/>
          <p:cNvSpPr/>
          <p:nvPr/>
        </p:nvSpPr>
        <p:spPr>
          <a:xfrm>
            <a:off x="7863840" y="3126105"/>
            <a:ext cx="2011680" cy="0"/>
          </a:xfrm>
          <a:prstGeom prst="line">
            <a:avLst/>
          </a:prstGeom>
          <a:noFill/>
          <a:ln w="3175">
            <a:solidFill>
              <a:srgbClr val="B8C4D3"/>
            </a:solidFill>
            <a:prstDash val="solid"/>
          </a:ln>
        </p:spPr>
      </p:sp>
      <p:sp>
        <p:nvSpPr>
          <p:cNvPr id="125" name="Shape 123"/>
          <p:cNvSpPr/>
          <p:nvPr/>
        </p:nvSpPr>
        <p:spPr>
          <a:xfrm>
            <a:off x="8461057" y="2560320"/>
            <a:ext cx="0" cy="2011680"/>
          </a:xfrm>
          <a:prstGeom prst="line">
            <a:avLst/>
          </a:prstGeom>
          <a:noFill/>
          <a:ln w="3175">
            <a:solidFill>
              <a:srgbClr val="B8C4D3"/>
            </a:solidFill>
            <a:prstDash val="solid"/>
          </a:ln>
        </p:spPr>
      </p:sp>
      <p:sp>
        <p:nvSpPr>
          <p:cNvPr id="126" name="Shape 124"/>
          <p:cNvSpPr/>
          <p:nvPr/>
        </p:nvSpPr>
        <p:spPr>
          <a:xfrm>
            <a:off x="7863840" y="3157538"/>
            <a:ext cx="2011680" cy="0"/>
          </a:xfrm>
          <a:prstGeom prst="line">
            <a:avLst/>
          </a:prstGeom>
          <a:noFill/>
          <a:ln w="3175">
            <a:solidFill>
              <a:srgbClr val="B8C4D3"/>
            </a:solidFill>
            <a:prstDash val="solid"/>
          </a:ln>
        </p:spPr>
      </p:sp>
      <p:sp>
        <p:nvSpPr>
          <p:cNvPr id="127" name="Shape 125"/>
          <p:cNvSpPr/>
          <p:nvPr/>
        </p:nvSpPr>
        <p:spPr>
          <a:xfrm>
            <a:off x="8492490" y="2560320"/>
            <a:ext cx="0" cy="2011680"/>
          </a:xfrm>
          <a:prstGeom prst="line">
            <a:avLst/>
          </a:prstGeom>
          <a:noFill/>
          <a:ln w="3175">
            <a:solidFill>
              <a:srgbClr val="B8C4D3"/>
            </a:solidFill>
            <a:prstDash val="solid"/>
          </a:ln>
        </p:spPr>
      </p:sp>
      <p:sp>
        <p:nvSpPr>
          <p:cNvPr id="128" name="Shape 126"/>
          <p:cNvSpPr/>
          <p:nvPr/>
        </p:nvSpPr>
        <p:spPr>
          <a:xfrm>
            <a:off x="7863840" y="3188970"/>
            <a:ext cx="2011680" cy="0"/>
          </a:xfrm>
          <a:prstGeom prst="line">
            <a:avLst/>
          </a:prstGeom>
          <a:noFill/>
          <a:ln w="3175">
            <a:solidFill>
              <a:srgbClr val="B8C4D3"/>
            </a:solidFill>
            <a:prstDash val="solid"/>
          </a:ln>
        </p:spPr>
      </p:sp>
      <p:sp>
        <p:nvSpPr>
          <p:cNvPr id="129" name="Shape 127"/>
          <p:cNvSpPr/>
          <p:nvPr/>
        </p:nvSpPr>
        <p:spPr>
          <a:xfrm>
            <a:off x="8523923" y="2560320"/>
            <a:ext cx="0" cy="2011680"/>
          </a:xfrm>
          <a:prstGeom prst="line">
            <a:avLst/>
          </a:prstGeom>
          <a:noFill/>
          <a:ln w="3175">
            <a:solidFill>
              <a:srgbClr val="B8C4D3"/>
            </a:solidFill>
            <a:prstDash val="solid"/>
          </a:ln>
        </p:spPr>
      </p:sp>
      <p:sp>
        <p:nvSpPr>
          <p:cNvPr id="130" name="Shape 128"/>
          <p:cNvSpPr/>
          <p:nvPr/>
        </p:nvSpPr>
        <p:spPr>
          <a:xfrm>
            <a:off x="7863840" y="3220402"/>
            <a:ext cx="2011680" cy="0"/>
          </a:xfrm>
          <a:prstGeom prst="line">
            <a:avLst/>
          </a:prstGeom>
          <a:noFill/>
          <a:ln w="3175">
            <a:solidFill>
              <a:srgbClr val="B8C4D3"/>
            </a:solidFill>
            <a:prstDash val="solid"/>
          </a:ln>
        </p:spPr>
      </p:sp>
      <p:sp>
        <p:nvSpPr>
          <p:cNvPr id="131" name="Shape 129"/>
          <p:cNvSpPr/>
          <p:nvPr/>
        </p:nvSpPr>
        <p:spPr>
          <a:xfrm>
            <a:off x="8555355" y="2560320"/>
            <a:ext cx="0" cy="2011680"/>
          </a:xfrm>
          <a:prstGeom prst="line">
            <a:avLst/>
          </a:prstGeom>
          <a:noFill/>
          <a:ln w="3175">
            <a:solidFill>
              <a:srgbClr val="B8C4D3"/>
            </a:solidFill>
            <a:prstDash val="solid"/>
          </a:ln>
        </p:spPr>
      </p:sp>
      <p:sp>
        <p:nvSpPr>
          <p:cNvPr id="132" name="Shape 130"/>
          <p:cNvSpPr/>
          <p:nvPr/>
        </p:nvSpPr>
        <p:spPr>
          <a:xfrm>
            <a:off x="7863840" y="3251835"/>
            <a:ext cx="2011680" cy="0"/>
          </a:xfrm>
          <a:prstGeom prst="line">
            <a:avLst/>
          </a:prstGeom>
          <a:noFill/>
          <a:ln w="3175">
            <a:solidFill>
              <a:srgbClr val="B8C4D3"/>
            </a:solidFill>
            <a:prstDash val="solid"/>
          </a:ln>
        </p:spPr>
      </p:sp>
      <p:sp>
        <p:nvSpPr>
          <p:cNvPr id="133" name="Shape 131"/>
          <p:cNvSpPr/>
          <p:nvPr/>
        </p:nvSpPr>
        <p:spPr>
          <a:xfrm>
            <a:off x="8586788" y="2560320"/>
            <a:ext cx="0" cy="2011680"/>
          </a:xfrm>
          <a:prstGeom prst="line">
            <a:avLst/>
          </a:prstGeom>
          <a:noFill/>
          <a:ln w="3175">
            <a:solidFill>
              <a:srgbClr val="B8C4D3"/>
            </a:solidFill>
            <a:prstDash val="solid"/>
          </a:ln>
        </p:spPr>
      </p:sp>
      <p:sp>
        <p:nvSpPr>
          <p:cNvPr id="134" name="Shape 132"/>
          <p:cNvSpPr/>
          <p:nvPr/>
        </p:nvSpPr>
        <p:spPr>
          <a:xfrm>
            <a:off x="7863840" y="3283267"/>
            <a:ext cx="2011680" cy="0"/>
          </a:xfrm>
          <a:prstGeom prst="line">
            <a:avLst/>
          </a:prstGeom>
          <a:noFill/>
          <a:ln w="3175">
            <a:solidFill>
              <a:srgbClr val="B8C4D3"/>
            </a:solidFill>
            <a:prstDash val="solid"/>
          </a:ln>
        </p:spPr>
      </p:sp>
      <p:sp>
        <p:nvSpPr>
          <p:cNvPr id="135" name="Shape 133"/>
          <p:cNvSpPr/>
          <p:nvPr/>
        </p:nvSpPr>
        <p:spPr>
          <a:xfrm>
            <a:off x="8618220" y="2560320"/>
            <a:ext cx="0" cy="2011680"/>
          </a:xfrm>
          <a:prstGeom prst="line">
            <a:avLst/>
          </a:prstGeom>
          <a:noFill/>
          <a:ln w="3175">
            <a:solidFill>
              <a:srgbClr val="B8C4D3"/>
            </a:solidFill>
            <a:prstDash val="solid"/>
          </a:ln>
        </p:spPr>
      </p:sp>
      <p:sp>
        <p:nvSpPr>
          <p:cNvPr id="136" name="Shape 134"/>
          <p:cNvSpPr/>
          <p:nvPr/>
        </p:nvSpPr>
        <p:spPr>
          <a:xfrm>
            <a:off x="7863840" y="3314700"/>
            <a:ext cx="2011680" cy="0"/>
          </a:xfrm>
          <a:prstGeom prst="line">
            <a:avLst/>
          </a:prstGeom>
          <a:noFill/>
          <a:ln w="3175">
            <a:solidFill>
              <a:srgbClr val="B8C4D3"/>
            </a:solidFill>
            <a:prstDash val="solid"/>
          </a:ln>
        </p:spPr>
      </p:sp>
      <p:sp>
        <p:nvSpPr>
          <p:cNvPr id="137" name="Shape 135"/>
          <p:cNvSpPr/>
          <p:nvPr/>
        </p:nvSpPr>
        <p:spPr>
          <a:xfrm>
            <a:off x="8649653" y="2560320"/>
            <a:ext cx="0" cy="2011680"/>
          </a:xfrm>
          <a:prstGeom prst="line">
            <a:avLst/>
          </a:prstGeom>
          <a:noFill/>
          <a:ln w="3175">
            <a:solidFill>
              <a:srgbClr val="B8C4D3"/>
            </a:solidFill>
            <a:prstDash val="solid"/>
          </a:ln>
        </p:spPr>
      </p:sp>
      <p:sp>
        <p:nvSpPr>
          <p:cNvPr id="138" name="Shape 136"/>
          <p:cNvSpPr/>
          <p:nvPr/>
        </p:nvSpPr>
        <p:spPr>
          <a:xfrm>
            <a:off x="7863840" y="3346133"/>
            <a:ext cx="2011680" cy="0"/>
          </a:xfrm>
          <a:prstGeom prst="line">
            <a:avLst/>
          </a:prstGeom>
          <a:noFill/>
          <a:ln w="3175">
            <a:solidFill>
              <a:srgbClr val="B8C4D3"/>
            </a:solidFill>
            <a:prstDash val="solid"/>
          </a:ln>
        </p:spPr>
      </p:sp>
      <p:sp>
        <p:nvSpPr>
          <p:cNvPr id="139" name="Shape 137"/>
          <p:cNvSpPr/>
          <p:nvPr/>
        </p:nvSpPr>
        <p:spPr>
          <a:xfrm>
            <a:off x="8681085" y="2560320"/>
            <a:ext cx="0" cy="2011680"/>
          </a:xfrm>
          <a:prstGeom prst="line">
            <a:avLst/>
          </a:prstGeom>
          <a:noFill/>
          <a:ln w="3175">
            <a:solidFill>
              <a:srgbClr val="B8C4D3"/>
            </a:solidFill>
            <a:prstDash val="solid"/>
          </a:ln>
        </p:spPr>
      </p:sp>
      <p:sp>
        <p:nvSpPr>
          <p:cNvPr id="140" name="Shape 138"/>
          <p:cNvSpPr/>
          <p:nvPr/>
        </p:nvSpPr>
        <p:spPr>
          <a:xfrm>
            <a:off x="7863840" y="3377565"/>
            <a:ext cx="2011680" cy="0"/>
          </a:xfrm>
          <a:prstGeom prst="line">
            <a:avLst/>
          </a:prstGeom>
          <a:noFill/>
          <a:ln w="3175">
            <a:solidFill>
              <a:srgbClr val="B8C4D3"/>
            </a:solidFill>
            <a:prstDash val="solid"/>
          </a:ln>
        </p:spPr>
      </p:sp>
      <p:sp>
        <p:nvSpPr>
          <p:cNvPr id="141" name="Shape 139"/>
          <p:cNvSpPr/>
          <p:nvPr/>
        </p:nvSpPr>
        <p:spPr>
          <a:xfrm>
            <a:off x="8712518" y="2560320"/>
            <a:ext cx="0" cy="2011680"/>
          </a:xfrm>
          <a:prstGeom prst="line">
            <a:avLst/>
          </a:prstGeom>
          <a:noFill/>
          <a:ln w="3175">
            <a:solidFill>
              <a:srgbClr val="B8C4D3"/>
            </a:solidFill>
            <a:prstDash val="solid"/>
          </a:ln>
        </p:spPr>
      </p:sp>
      <p:sp>
        <p:nvSpPr>
          <p:cNvPr id="142" name="Shape 140"/>
          <p:cNvSpPr/>
          <p:nvPr/>
        </p:nvSpPr>
        <p:spPr>
          <a:xfrm>
            <a:off x="7863840" y="3408998"/>
            <a:ext cx="2011680" cy="0"/>
          </a:xfrm>
          <a:prstGeom prst="line">
            <a:avLst/>
          </a:prstGeom>
          <a:noFill/>
          <a:ln w="3175">
            <a:solidFill>
              <a:srgbClr val="B8C4D3"/>
            </a:solidFill>
            <a:prstDash val="solid"/>
          </a:ln>
        </p:spPr>
      </p:sp>
      <p:sp>
        <p:nvSpPr>
          <p:cNvPr id="143" name="Shape 141"/>
          <p:cNvSpPr/>
          <p:nvPr/>
        </p:nvSpPr>
        <p:spPr>
          <a:xfrm>
            <a:off x="8743950" y="2560320"/>
            <a:ext cx="0" cy="2011680"/>
          </a:xfrm>
          <a:prstGeom prst="line">
            <a:avLst/>
          </a:prstGeom>
          <a:noFill/>
          <a:ln w="3175">
            <a:solidFill>
              <a:srgbClr val="B8C4D3"/>
            </a:solidFill>
            <a:prstDash val="solid"/>
          </a:ln>
        </p:spPr>
      </p:sp>
      <p:sp>
        <p:nvSpPr>
          <p:cNvPr id="144" name="Shape 142"/>
          <p:cNvSpPr/>
          <p:nvPr/>
        </p:nvSpPr>
        <p:spPr>
          <a:xfrm>
            <a:off x="7863840" y="3440430"/>
            <a:ext cx="2011680" cy="0"/>
          </a:xfrm>
          <a:prstGeom prst="line">
            <a:avLst/>
          </a:prstGeom>
          <a:noFill/>
          <a:ln w="3175">
            <a:solidFill>
              <a:srgbClr val="B8C4D3"/>
            </a:solidFill>
            <a:prstDash val="solid"/>
          </a:ln>
        </p:spPr>
      </p:sp>
      <p:sp>
        <p:nvSpPr>
          <p:cNvPr id="145" name="Shape 143"/>
          <p:cNvSpPr/>
          <p:nvPr/>
        </p:nvSpPr>
        <p:spPr>
          <a:xfrm>
            <a:off x="8775382" y="2560320"/>
            <a:ext cx="0" cy="2011680"/>
          </a:xfrm>
          <a:prstGeom prst="line">
            <a:avLst/>
          </a:prstGeom>
          <a:noFill/>
          <a:ln w="3175">
            <a:solidFill>
              <a:srgbClr val="B8C4D3"/>
            </a:solidFill>
            <a:prstDash val="solid"/>
          </a:ln>
        </p:spPr>
      </p:sp>
      <p:sp>
        <p:nvSpPr>
          <p:cNvPr id="146" name="Shape 144"/>
          <p:cNvSpPr/>
          <p:nvPr/>
        </p:nvSpPr>
        <p:spPr>
          <a:xfrm>
            <a:off x="7863840" y="3471863"/>
            <a:ext cx="2011680" cy="0"/>
          </a:xfrm>
          <a:prstGeom prst="line">
            <a:avLst/>
          </a:prstGeom>
          <a:noFill/>
          <a:ln w="3175">
            <a:solidFill>
              <a:srgbClr val="B8C4D3"/>
            </a:solidFill>
            <a:prstDash val="solid"/>
          </a:ln>
        </p:spPr>
      </p:sp>
      <p:sp>
        <p:nvSpPr>
          <p:cNvPr id="147" name="Shape 145"/>
          <p:cNvSpPr/>
          <p:nvPr/>
        </p:nvSpPr>
        <p:spPr>
          <a:xfrm>
            <a:off x="8806815" y="2560320"/>
            <a:ext cx="0" cy="2011680"/>
          </a:xfrm>
          <a:prstGeom prst="line">
            <a:avLst/>
          </a:prstGeom>
          <a:noFill/>
          <a:ln w="3175">
            <a:solidFill>
              <a:srgbClr val="B8C4D3"/>
            </a:solidFill>
            <a:prstDash val="solid"/>
          </a:ln>
        </p:spPr>
      </p:sp>
      <p:sp>
        <p:nvSpPr>
          <p:cNvPr id="148" name="Shape 146"/>
          <p:cNvSpPr/>
          <p:nvPr/>
        </p:nvSpPr>
        <p:spPr>
          <a:xfrm>
            <a:off x="7863840" y="3503295"/>
            <a:ext cx="2011680" cy="0"/>
          </a:xfrm>
          <a:prstGeom prst="line">
            <a:avLst/>
          </a:prstGeom>
          <a:noFill/>
          <a:ln w="3175">
            <a:solidFill>
              <a:srgbClr val="B8C4D3"/>
            </a:solidFill>
            <a:prstDash val="solid"/>
          </a:ln>
        </p:spPr>
      </p:sp>
      <p:sp>
        <p:nvSpPr>
          <p:cNvPr id="149" name="Shape 147"/>
          <p:cNvSpPr/>
          <p:nvPr/>
        </p:nvSpPr>
        <p:spPr>
          <a:xfrm>
            <a:off x="8838248" y="2560320"/>
            <a:ext cx="0" cy="2011680"/>
          </a:xfrm>
          <a:prstGeom prst="line">
            <a:avLst/>
          </a:prstGeom>
          <a:noFill/>
          <a:ln w="3175">
            <a:solidFill>
              <a:srgbClr val="B8C4D3"/>
            </a:solidFill>
            <a:prstDash val="solid"/>
          </a:ln>
        </p:spPr>
      </p:sp>
      <p:sp>
        <p:nvSpPr>
          <p:cNvPr id="150" name="Shape 148"/>
          <p:cNvSpPr/>
          <p:nvPr/>
        </p:nvSpPr>
        <p:spPr>
          <a:xfrm>
            <a:off x="7863840" y="3534727"/>
            <a:ext cx="2011680" cy="0"/>
          </a:xfrm>
          <a:prstGeom prst="line">
            <a:avLst/>
          </a:prstGeom>
          <a:noFill/>
          <a:ln w="3175">
            <a:solidFill>
              <a:srgbClr val="B8C4D3"/>
            </a:solidFill>
            <a:prstDash val="solid"/>
          </a:ln>
        </p:spPr>
      </p:sp>
      <p:sp>
        <p:nvSpPr>
          <p:cNvPr id="151" name="Shape 149"/>
          <p:cNvSpPr/>
          <p:nvPr/>
        </p:nvSpPr>
        <p:spPr>
          <a:xfrm>
            <a:off x="8869680" y="2560320"/>
            <a:ext cx="0" cy="2011680"/>
          </a:xfrm>
          <a:prstGeom prst="line">
            <a:avLst/>
          </a:prstGeom>
          <a:noFill/>
          <a:ln w="3175">
            <a:solidFill>
              <a:srgbClr val="B8C4D3"/>
            </a:solidFill>
            <a:prstDash val="solid"/>
          </a:ln>
        </p:spPr>
      </p:sp>
      <p:sp>
        <p:nvSpPr>
          <p:cNvPr id="152" name="Shape 150"/>
          <p:cNvSpPr/>
          <p:nvPr/>
        </p:nvSpPr>
        <p:spPr>
          <a:xfrm>
            <a:off x="7863840" y="3566160"/>
            <a:ext cx="2011680" cy="0"/>
          </a:xfrm>
          <a:prstGeom prst="line">
            <a:avLst/>
          </a:prstGeom>
          <a:noFill/>
          <a:ln w="3175">
            <a:solidFill>
              <a:srgbClr val="B8C4D3"/>
            </a:solidFill>
            <a:prstDash val="solid"/>
          </a:ln>
        </p:spPr>
      </p:sp>
      <p:sp>
        <p:nvSpPr>
          <p:cNvPr id="153" name="Shape 151"/>
          <p:cNvSpPr/>
          <p:nvPr/>
        </p:nvSpPr>
        <p:spPr>
          <a:xfrm>
            <a:off x="8901113" y="2560320"/>
            <a:ext cx="0" cy="2011680"/>
          </a:xfrm>
          <a:prstGeom prst="line">
            <a:avLst/>
          </a:prstGeom>
          <a:noFill/>
          <a:ln w="3175">
            <a:solidFill>
              <a:srgbClr val="B8C4D3"/>
            </a:solidFill>
            <a:prstDash val="solid"/>
          </a:ln>
        </p:spPr>
      </p:sp>
      <p:sp>
        <p:nvSpPr>
          <p:cNvPr id="154" name="Shape 152"/>
          <p:cNvSpPr/>
          <p:nvPr/>
        </p:nvSpPr>
        <p:spPr>
          <a:xfrm>
            <a:off x="7863840" y="3597593"/>
            <a:ext cx="2011680" cy="0"/>
          </a:xfrm>
          <a:prstGeom prst="line">
            <a:avLst/>
          </a:prstGeom>
          <a:noFill/>
          <a:ln w="3175">
            <a:solidFill>
              <a:srgbClr val="B8C4D3"/>
            </a:solidFill>
            <a:prstDash val="solid"/>
          </a:ln>
        </p:spPr>
      </p:sp>
      <p:sp>
        <p:nvSpPr>
          <p:cNvPr id="155" name="Shape 153"/>
          <p:cNvSpPr/>
          <p:nvPr/>
        </p:nvSpPr>
        <p:spPr>
          <a:xfrm>
            <a:off x="8932545" y="2560320"/>
            <a:ext cx="0" cy="2011680"/>
          </a:xfrm>
          <a:prstGeom prst="line">
            <a:avLst/>
          </a:prstGeom>
          <a:noFill/>
          <a:ln w="3175">
            <a:solidFill>
              <a:srgbClr val="B8C4D3"/>
            </a:solidFill>
            <a:prstDash val="solid"/>
          </a:ln>
        </p:spPr>
      </p:sp>
      <p:sp>
        <p:nvSpPr>
          <p:cNvPr id="156" name="Shape 154"/>
          <p:cNvSpPr/>
          <p:nvPr/>
        </p:nvSpPr>
        <p:spPr>
          <a:xfrm>
            <a:off x="7863840" y="3629025"/>
            <a:ext cx="2011680" cy="0"/>
          </a:xfrm>
          <a:prstGeom prst="line">
            <a:avLst/>
          </a:prstGeom>
          <a:noFill/>
          <a:ln w="3175">
            <a:solidFill>
              <a:srgbClr val="B8C4D3"/>
            </a:solidFill>
            <a:prstDash val="solid"/>
          </a:ln>
        </p:spPr>
      </p:sp>
      <p:sp>
        <p:nvSpPr>
          <p:cNvPr id="157" name="Shape 155"/>
          <p:cNvSpPr/>
          <p:nvPr/>
        </p:nvSpPr>
        <p:spPr>
          <a:xfrm>
            <a:off x="8963978" y="2560320"/>
            <a:ext cx="0" cy="2011680"/>
          </a:xfrm>
          <a:prstGeom prst="line">
            <a:avLst/>
          </a:prstGeom>
          <a:noFill/>
          <a:ln w="3175">
            <a:solidFill>
              <a:srgbClr val="B8C4D3"/>
            </a:solidFill>
            <a:prstDash val="solid"/>
          </a:ln>
        </p:spPr>
      </p:sp>
      <p:sp>
        <p:nvSpPr>
          <p:cNvPr id="158" name="Shape 156"/>
          <p:cNvSpPr/>
          <p:nvPr/>
        </p:nvSpPr>
        <p:spPr>
          <a:xfrm>
            <a:off x="7863840" y="3660458"/>
            <a:ext cx="2011680" cy="0"/>
          </a:xfrm>
          <a:prstGeom prst="line">
            <a:avLst/>
          </a:prstGeom>
          <a:noFill/>
          <a:ln w="3175">
            <a:solidFill>
              <a:srgbClr val="B8C4D3"/>
            </a:solidFill>
            <a:prstDash val="solid"/>
          </a:ln>
        </p:spPr>
      </p:sp>
      <p:sp>
        <p:nvSpPr>
          <p:cNvPr id="159" name="Shape 157"/>
          <p:cNvSpPr/>
          <p:nvPr/>
        </p:nvSpPr>
        <p:spPr>
          <a:xfrm>
            <a:off x="8995410" y="2560320"/>
            <a:ext cx="0" cy="2011680"/>
          </a:xfrm>
          <a:prstGeom prst="line">
            <a:avLst/>
          </a:prstGeom>
          <a:noFill/>
          <a:ln w="3175">
            <a:solidFill>
              <a:srgbClr val="B8C4D3"/>
            </a:solidFill>
            <a:prstDash val="solid"/>
          </a:ln>
        </p:spPr>
      </p:sp>
      <p:sp>
        <p:nvSpPr>
          <p:cNvPr id="160" name="Shape 158"/>
          <p:cNvSpPr/>
          <p:nvPr/>
        </p:nvSpPr>
        <p:spPr>
          <a:xfrm>
            <a:off x="7863840" y="3691890"/>
            <a:ext cx="2011680" cy="0"/>
          </a:xfrm>
          <a:prstGeom prst="line">
            <a:avLst/>
          </a:prstGeom>
          <a:noFill/>
          <a:ln w="3175">
            <a:solidFill>
              <a:srgbClr val="B8C4D3"/>
            </a:solidFill>
            <a:prstDash val="solid"/>
          </a:ln>
        </p:spPr>
      </p:sp>
      <p:sp>
        <p:nvSpPr>
          <p:cNvPr id="161" name="Shape 159"/>
          <p:cNvSpPr/>
          <p:nvPr/>
        </p:nvSpPr>
        <p:spPr>
          <a:xfrm>
            <a:off x="9026843" y="2560320"/>
            <a:ext cx="0" cy="2011680"/>
          </a:xfrm>
          <a:prstGeom prst="line">
            <a:avLst/>
          </a:prstGeom>
          <a:noFill/>
          <a:ln w="3175">
            <a:solidFill>
              <a:srgbClr val="B8C4D3"/>
            </a:solidFill>
            <a:prstDash val="solid"/>
          </a:ln>
        </p:spPr>
      </p:sp>
      <p:sp>
        <p:nvSpPr>
          <p:cNvPr id="162" name="Shape 160"/>
          <p:cNvSpPr/>
          <p:nvPr/>
        </p:nvSpPr>
        <p:spPr>
          <a:xfrm>
            <a:off x="7863840" y="3723323"/>
            <a:ext cx="2011680" cy="0"/>
          </a:xfrm>
          <a:prstGeom prst="line">
            <a:avLst/>
          </a:prstGeom>
          <a:noFill/>
          <a:ln w="3175">
            <a:solidFill>
              <a:srgbClr val="B8C4D3"/>
            </a:solidFill>
            <a:prstDash val="solid"/>
          </a:ln>
        </p:spPr>
      </p:sp>
      <p:sp>
        <p:nvSpPr>
          <p:cNvPr id="163" name="Shape 161"/>
          <p:cNvSpPr/>
          <p:nvPr/>
        </p:nvSpPr>
        <p:spPr>
          <a:xfrm>
            <a:off x="9058275" y="2560320"/>
            <a:ext cx="0" cy="2011680"/>
          </a:xfrm>
          <a:prstGeom prst="line">
            <a:avLst/>
          </a:prstGeom>
          <a:noFill/>
          <a:ln w="3175">
            <a:solidFill>
              <a:srgbClr val="B8C4D3"/>
            </a:solidFill>
            <a:prstDash val="solid"/>
          </a:ln>
        </p:spPr>
      </p:sp>
      <p:sp>
        <p:nvSpPr>
          <p:cNvPr id="164" name="Shape 162"/>
          <p:cNvSpPr/>
          <p:nvPr/>
        </p:nvSpPr>
        <p:spPr>
          <a:xfrm>
            <a:off x="7863840" y="3754755"/>
            <a:ext cx="2011680" cy="0"/>
          </a:xfrm>
          <a:prstGeom prst="line">
            <a:avLst/>
          </a:prstGeom>
          <a:noFill/>
          <a:ln w="3175">
            <a:solidFill>
              <a:srgbClr val="B8C4D3"/>
            </a:solidFill>
            <a:prstDash val="solid"/>
          </a:ln>
        </p:spPr>
      </p:sp>
      <p:sp>
        <p:nvSpPr>
          <p:cNvPr id="165" name="Shape 163"/>
          <p:cNvSpPr/>
          <p:nvPr/>
        </p:nvSpPr>
        <p:spPr>
          <a:xfrm>
            <a:off x="9089708" y="2560320"/>
            <a:ext cx="0" cy="2011680"/>
          </a:xfrm>
          <a:prstGeom prst="line">
            <a:avLst/>
          </a:prstGeom>
          <a:noFill/>
          <a:ln w="3175">
            <a:solidFill>
              <a:srgbClr val="B8C4D3"/>
            </a:solidFill>
            <a:prstDash val="solid"/>
          </a:ln>
        </p:spPr>
      </p:sp>
      <p:sp>
        <p:nvSpPr>
          <p:cNvPr id="166" name="Shape 164"/>
          <p:cNvSpPr/>
          <p:nvPr/>
        </p:nvSpPr>
        <p:spPr>
          <a:xfrm>
            <a:off x="7863840" y="3786188"/>
            <a:ext cx="2011680" cy="0"/>
          </a:xfrm>
          <a:prstGeom prst="line">
            <a:avLst/>
          </a:prstGeom>
          <a:noFill/>
          <a:ln w="3175">
            <a:solidFill>
              <a:srgbClr val="B8C4D3"/>
            </a:solidFill>
            <a:prstDash val="solid"/>
          </a:ln>
        </p:spPr>
      </p:sp>
      <p:sp>
        <p:nvSpPr>
          <p:cNvPr id="167" name="Shape 165"/>
          <p:cNvSpPr/>
          <p:nvPr/>
        </p:nvSpPr>
        <p:spPr>
          <a:xfrm>
            <a:off x="9121140" y="2560320"/>
            <a:ext cx="0" cy="2011680"/>
          </a:xfrm>
          <a:prstGeom prst="line">
            <a:avLst/>
          </a:prstGeom>
          <a:noFill/>
          <a:ln w="3175">
            <a:solidFill>
              <a:srgbClr val="B8C4D3"/>
            </a:solidFill>
            <a:prstDash val="solid"/>
          </a:ln>
        </p:spPr>
      </p:sp>
      <p:sp>
        <p:nvSpPr>
          <p:cNvPr id="168" name="Shape 166"/>
          <p:cNvSpPr/>
          <p:nvPr/>
        </p:nvSpPr>
        <p:spPr>
          <a:xfrm>
            <a:off x="7863840" y="3817620"/>
            <a:ext cx="2011680" cy="0"/>
          </a:xfrm>
          <a:prstGeom prst="line">
            <a:avLst/>
          </a:prstGeom>
          <a:noFill/>
          <a:ln w="3175">
            <a:solidFill>
              <a:srgbClr val="B8C4D3"/>
            </a:solidFill>
            <a:prstDash val="solid"/>
          </a:ln>
        </p:spPr>
      </p:sp>
      <p:sp>
        <p:nvSpPr>
          <p:cNvPr id="169" name="Shape 167"/>
          <p:cNvSpPr/>
          <p:nvPr/>
        </p:nvSpPr>
        <p:spPr>
          <a:xfrm>
            <a:off x="9152573" y="2560320"/>
            <a:ext cx="0" cy="2011680"/>
          </a:xfrm>
          <a:prstGeom prst="line">
            <a:avLst/>
          </a:prstGeom>
          <a:noFill/>
          <a:ln w="3175">
            <a:solidFill>
              <a:srgbClr val="B8C4D3"/>
            </a:solidFill>
            <a:prstDash val="solid"/>
          </a:ln>
        </p:spPr>
      </p:sp>
      <p:sp>
        <p:nvSpPr>
          <p:cNvPr id="170" name="Shape 168"/>
          <p:cNvSpPr/>
          <p:nvPr/>
        </p:nvSpPr>
        <p:spPr>
          <a:xfrm>
            <a:off x="7863840" y="3849052"/>
            <a:ext cx="2011680" cy="0"/>
          </a:xfrm>
          <a:prstGeom prst="line">
            <a:avLst/>
          </a:prstGeom>
          <a:noFill/>
          <a:ln w="3175">
            <a:solidFill>
              <a:srgbClr val="B8C4D3"/>
            </a:solidFill>
            <a:prstDash val="solid"/>
          </a:ln>
        </p:spPr>
      </p:sp>
      <p:sp>
        <p:nvSpPr>
          <p:cNvPr id="171" name="Shape 169"/>
          <p:cNvSpPr/>
          <p:nvPr/>
        </p:nvSpPr>
        <p:spPr>
          <a:xfrm>
            <a:off x="9184005" y="2560320"/>
            <a:ext cx="0" cy="2011680"/>
          </a:xfrm>
          <a:prstGeom prst="line">
            <a:avLst/>
          </a:prstGeom>
          <a:noFill/>
          <a:ln w="3175">
            <a:solidFill>
              <a:srgbClr val="B8C4D3"/>
            </a:solidFill>
            <a:prstDash val="solid"/>
          </a:ln>
        </p:spPr>
      </p:sp>
      <p:sp>
        <p:nvSpPr>
          <p:cNvPr id="172" name="Shape 170"/>
          <p:cNvSpPr/>
          <p:nvPr/>
        </p:nvSpPr>
        <p:spPr>
          <a:xfrm>
            <a:off x="7863840" y="3880485"/>
            <a:ext cx="2011680" cy="0"/>
          </a:xfrm>
          <a:prstGeom prst="line">
            <a:avLst/>
          </a:prstGeom>
          <a:noFill/>
          <a:ln w="3175">
            <a:solidFill>
              <a:srgbClr val="B8C4D3"/>
            </a:solidFill>
            <a:prstDash val="solid"/>
          </a:ln>
        </p:spPr>
      </p:sp>
      <p:sp>
        <p:nvSpPr>
          <p:cNvPr id="173" name="Shape 171"/>
          <p:cNvSpPr/>
          <p:nvPr/>
        </p:nvSpPr>
        <p:spPr>
          <a:xfrm>
            <a:off x="9215438" y="2560320"/>
            <a:ext cx="0" cy="2011680"/>
          </a:xfrm>
          <a:prstGeom prst="line">
            <a:avLst/>
          </a:prstGeom>
          <a:noFill/>
          <a:ln w="3175">
            <a:solidFill>
              <a:srgbClr val="B8C4D3"/>
            </a:solidFill>
            <a:prstDash val="solid"/>
          </a:ln>
        </p:spPr>
      </p:sp>
      <p:sp>
        <p:nvSpPr>
          <p:cNvPr id="174" name="Shape 172"/>
          <p:cNvSpPr/>
          <p:nvPr/>
        </p:nvSpPr>
        <p:spPr>
          <a:xfrm>
            <a:off x="7863840" y="3911918"/>
            <a:ext cx="2011680" cy="0"/>
          </a:xfrm>
          <a:prstGeom prst="line">
            <a:avLst/>
          </a:prstGeom>
          <a:noFill/>
          <a:ln w="3175">
            <a:solidFill>
              <a:srgbClr val="B8C4D3"/>
            </a:solidFill>
            <a:prstDash val="solid"/>
          </a:ln>
        </p:spPr>
      </p:sp>
      <p:sp>
        <p:nvSpPr>
          <p:cNvPr id="175" name="Shape 173"/>
          <p:cNvSpPr/>
          <p:nvPr/>
        </p:nvSpPr>
        <p:spPr>
          <a:xfrm>
            <a:off x="9246870" y="2560320"/>
            <a:ext cx="0" cy="2011680"/>
          </a:xfrm>
          <a:prstGeom prst="line">
            <a:avLst/>
          </a:prstGeom>
          <a:noFill/>
          <a:ln w="3175">
            <a:solidFill>
              <a:srgbClr val="B8C4D3"/>
            </a:solidFill>
            <a:prstDash val="solid"/>
          </a:ln>
        </p:spPr>
      </p:sp>
      <p:sp>
        <p:nvSpPr>
          <p:cNvPr id="176" name="Shape 174"/>
          <p:cNvSpPr/>
          <p:nvPr/>
        </p:nvSpPr>
        <p:spPr>
          <a:xfrm>
            <a:off x="7863840" y="3943350"/>
            <a:ext cx="2011680" cy="0"/>
          </a:xfrm>
          <a:prstGeom prst="line">
            <a:avLst/>
          </a:prstGeom>
          <a:noFill/>
          <a:ln w="3175">
            <a:solidFill>
              <a:srgbClr val="B8C4D3"/>
            </a:solidFill>
            <a:prstDash val="solid"/>
          </a:ln>
        </p:spPr>
      </p:sp>
      <p:sp>
        <p:nvSpPr>
          <p:cNvPr id="177" name="Shape 175"/>
          <p:cNvSpPr/>
          <p:nvPr/>
        </p:nvSpPr>
        <p:spPr>
          <a:xfrm>
            <a:off x="9278303" y="2560320"/>
            <a:ext cx="0" cy="2011680"/>
          </a:xfrm>
          <a:prstGeom prst="line">
            <a:avLst/>
          </a:prstGeom>
          <a:noFill/>
          <a:ln w="3175">
            <a:solidFill>
              <a:srgbClr val="B8C4D3"/>
            </a:solidFill>
            <a:prstDash val="solid"/>
          </a:ln>
        </p:spPr>
      </p:sp>
      <p:sp>
        <p:nvSpPr>
          <p:cNvPr id="178" name="Shape 176"/>
          <p:cNvSpPr/>
          <p:nvPr/>
        </p:nvSpPr>
        <p:spPr>
          <a:xfrm>
            <a:off x="7863840" y="3974783"/>
            <a:ext cx="2011680" cy="0"/>
          </a:xfrm>
          <a:prstGeom prst="line">
            <a:avLst/>
          </a:prstGeom>
          <a:noFill/>
          <a:ln w="3175">
            <a:solidFill>
              <a:srgbClr val="B8C4D3"/>
            </a:solidFill>
            <a:prstDash val="solid"/>
          </a:ln>
        </p:spPr>
      </p:sp>
      <p:sp>
        <p:nvSpPr>
          <p:cNvPr id="179" name="Shape 177"/>
          <p:cNvSpPr/>
          <p:nvPr/>
        </p:nvSpPr>
        <p:spPr>
          <a:xfrm>
            <a:off x="9309735" y="2560320"/>
            <a:ext cx="0" cy="2011680"/>
          </a:xfrm>
          <a:prstGeom prst="line">
            <a:avLst/>
          </a:prstGeom>
          <a:noFill/>
          <a:ln w="3175">
            <a:solidFill>
              <a:srgbClr val="B8C4D3"/>
            </a:solidFill>
            <a:prstDash val="solid"/>
          </a:ln>
        </p:spPr>
      </p:sp>
      <p:sp>
        <p:nvSpPr>
          <p:cNvPr id="180" name="Shape 178"/>
          <p:cNvSpPr/>
          <p:nvPr/>
        </p:nvSpPr>
        <p:spPr>
          <a:xfrm>
            <a:off x="7863840" y="4006215"/>
            <a:ext cx="2011680" cy="0"/>
          </a:xfrm>
          <a:prstGeom prst="line">
            <a:avLst/>
          </a:prstGeom>
          <a:noFill/>
          <a:ln w="3175">
            <a:solidFill>
              <a:srgbClr val="B8C4D3"/>
            </a:solidFill>
            <a:prstDash val="solid"/>
          </a:ln>
        </p:spPr>
      </p:sp>
      <p:sp>
        <p:nvSpPr>
          <p:cNvPr id="181" name="Shape 179"/>
          <p:cNvSpPr/>
          <p:nvPr/>
        </p:nvSpPr>
        <p:spPr>
          <a:xfrm>
            <a:off x="9341168" y="2560320"/>
            <a:ext cx="0" cy="2011680"/>
          </a:xfrm>
          <a:prstGeom prst="line">
            <a:avLst/>
          </a:prstGeom>
          <a:noFill/>
          <a:ln w="3175">
            <a:solidFill>
              <a:srgbClr val="B8C4D3"/>
            </a:solidFill>
            <a:prstDash val="solid"/>
          </a:ln>
        </p:spPr>
      </p:sp>
      <p:sp>
        <p:nvSpPr>
          <p:cNvPr id="182" name="Shape 180"/>
          <p:cNvSpPr/>
          <p:nvPr/>
        </p:nvSpPr>
        <p:spPr>
          <a:xfrm>
            <a:off x="7863840" y="4037648"/>
            <a:ext cx="2011680" cy="0"/>
          </a:xfrm>
          <a:prstGeom prst="line">
            <a:avLst/>
          </a:prstGeom>
          <a:noFill/>
          <a:ln w="3175">
            <a:solidFill>
              <a:srgbClr val="B8C4D3"/>
            </a:solidFill>
            <a:prstDash val="solid"/>
          </a:ln>
        </p:spPr>
      </p:sp>
      <p:sp>
        <p:nvSpPr>
          <p:cNvPr id="183" name="Shape 181"/>
          <p:cNvSpPr/>
          <p:nvPr/>
        </p:nvSpPr>
        <p:spPr>
          <a:xfrm>
            <a:off x="9372600" y="2560320"/>
            <a:ext cx="0" cy="2011680"/>
          </a:xfrm>
          <a:prstGeom prst="line">
            <a:avLst/>
          </a:prstGeom>
          <a:noFill/>
          <a:ln w="3175">
            <a:solidFill>
              <a:srgbClr val="B8C4D3"/>
            </a:solidFill>
            <a:prstDash val="solid"/>
          </a:ln>
        </p:spPr>
      </p:sp>
      <p:sp>
        <p:nvSpPr>
          <p:cNvPr id="184" name="Shape 182"/>
          <p:cNvSpPr/>
          <p:nvPr/>
        </p:nvSpPr>
        <p:spPr>
          <a:xfrm>
            <a:off x="7863840" y="4069080"/>
            <a:ext cx="2011680" cy="0"/>
          </a:xfrm>
          <a:prstGeom prst="line">
            <a:avLst/>
          </a:prstGeom>
          <a:noFill/>
          <a:ln w="3175">
            <a:solidFill>
              <a:srgbClr val="B8C4D3"/>
            </a:solidFill>
            <a:prstDash val="solid"/>
          </a:ln>
        </p:spPr>
      </p:sp>
      <p:sp>
        <p:nvSpPr>
          <p:cNvPr id="185" name="Shape 183"/>
          <p:cNvSpPr/>
          <p:nvPr/>
        </p:nvSpPr>
        <p:spPr>
          <a:xfrm>
            <a:off x="9404033" y="2560320"/>
            <a:ext cx="0" cy="2011680"/>
          </a:xfrm>
          <a:prstGeom prst="line">
            <a:avLst/>
          </a:prstGeom>
          <a:noFill/>
          <a:ln w="3175">
            <a:solidFill>
              <a:srgbClr val="B8C4D3"/>
            </a:solidFill>
            <a:prstDash val="solid"/>
          </a:ln>
        </p:spPr>
      </p:sp>
      <p:sp>
        <p:nvSpPr>
          <p:cNvPr id="186" name="Shape 184"/>
          <p:cNvSpPr/>
          <p:nvPr/>
        </p:nvSpPr>
        <p:spPr>
          <a:xfrm>
            <a:off x="7863840" y="4100513"/>
            <a:ext cx="2011680" cy="0"/>
          </a:xfrm>
          <a:prstGeom prst="line">
            <a:avLst/>
          </a:prstGeom>
          <a:noFill/>
          <a:ln w="3175">
            <a:solidFill>
              <a:srgbClr val="B8C4D3"/>
            </a:solidFill>
            <a:prstDash val="solid"/>
          </a:ln>
        </p:spPr>
      </p:sp>
      <p:sp>
        <p:nvSpPr>
          <p:cNvPr id="187" name="Shape 185"/>
          <p:cNvSpPr/>
          <p:nvPr/>
        </p:nvSpPr>
        <p:spPr>
          <a:xfrm>
            <a:off x="9435465" y="2560320"/>
            <a:ext cx="0" cy="2011680"/>
          </a:xfrm>
          <a:prstGeom prst="line">
            <a:avLst/>
          </a:prstGeom>
          <a:noFill/>
          <a:ln w="3175">
            <a:solidFill>
              <a:srgbClr val="B8C4D3"/>
            </a:solidFill>
            <a:prstDash val="solid"/>
          </a:ln>
        </p:spPr>
      </p:sp>
      <p:sp>
        <p:nvSpPr>
          <p:cNvPr id="188" name="Shape 186"/>
          <p:cNvSpPr/>
          <p:nvPr/>
        </p:nvSpPr>
        <p:spPr>
          <a:xfrm>
            <a:off x="7863840" y="4131945"/>
            <a:ext cx="2011680" cy="0"/>
          </a:xfrm>
          <a:prstGeom prst="line">
            <a:avLst/>
          </a:prstGeom>
          <a:noFill/>
          <a:ln w="3175">
            <a:solidFill>
              <a:srgbClr val="B8C4D3"/>
            </a:solidFill>
            <a:prstDash val="solid"/>
          </a:ln>
        </p:spPr>
      </p:sp>
      <p:sp>
        <p:nvSpPr>
          <p:cNvPr id="189" name="Shape 187"/>
          <p:cNvSpPr/>
          <p:nvPr/>
        </p:nvSpPr>
        <p:spPr>
          <a:xfrm>
            <a:off x="9466898" y="2560320"/>
            <a:ext cx="0" cy="2011680"/>
          </a:xfrm>
          <a:prstGeom prst="line">
            <a:avLst/>
          </a:prstGeom>
          <a:noFill/>
          <a:ln w="3175">
            <a:solidFill>
              <a:srgbClr val="B8C4D3"/>
            </a:solidFill>
            <a:prstDash val="solid"/>
          </a:ln>
        </p:spPr>
      </p:sp>
      <p:sp>
        <p:nvSpPr>
          <p:cNvPr id="190" name="Shape 188"/>
          <p:cNvSpPr/>
          <p:nvPr/>
        </p:nvSpPr>
        <p:spPr>
          <a:xfrm>
            <a:off x="7863840" y="4163377"/>
            <a:ext cx="2011680" cy="0"/>
          </a:xfrm>
          <a:prstGeom prst="line">
            <a:avLst/>
          </a:prstGeom>
          <a:noFill/>
          <a:ln w="3175">
            <a:solidFill>
              <a:srgbClr val="B8C4D3"/>
            </a:solidFill>
            <a:prstDash val="solid"/>
          </a:ln>
        </p:spPr>
      </p:sp>
      <p:sp>
        <p:nvSpPr>
          <p:cNvPr id="191" name="Shape 189"/>
          <p:cNvSpPr/>
          <p:nvPr/>
        </p:nvSpPr>
        <p:spPr>
          <a:xfrm>
            <a:off x="9498330" y="2560320"/>
            <a:ext cx="0" cy="2011680"/>
          </a:xfrm>
          <a:prstGeom prst="line">
            <a:avLst/>
          </a:prstGeom>
          <a:noFill/>
          <a:ln w="3175">
            <a:solidFill>
              <a:srgbClr val="B8C4D3"/>
            </a:solidFill>
            <a:prstDash val="solid"/>
          </a:ln>
        </p:spPr>
      </p:sp>
      <p:sp>
        <p:nvSpPr>
          <p:cNvPr id="192" name="Shape 190"/>
          <p:cNvSpPr/>
          <p:nvPr/>
        </p:nvSpPr>
        <p:spPr>
          <a:xfrm>
            <a:off x="7863840" y="4194810"/>
            <a:ext cx="2011680" cy="0"/>
          </a:xfrm>
          <a:prstGeom prst="line">
            <a:avLst/>
          </a:prstGeom>
          <a:noFill/>
          <a:ln w="3175">
            <a:solidFill>
              <a:srgbClr val="B8C4D3"/>
            </a:solidFill>
            <a:prstDash val="solid"/>
          </a:ln>
        </p:spPr>
      </p:sp>
      <p:sp>
        <p:nvSpPr>
          <p:cNvPr id="193" name="Shape 191"/>
          <p:cNvSpPr/>
          <p:nvPr/>
        </p:nvSpPr>
        <p:spPr>
          <a:xfrm>
            <a:off x="9529763" y="2560320"/>
            <a:ext cx="0" cy="2011680"/>
          </a:xfrm>
          <a:prstGeom prst="line">
            <a:avLst/>
          </a:prstGeom>
          <a:noFill/>
          <a:ln w="3175">
            <a:solidFill>
              <a:srgbClr val="B8C4D3"/>
            </a:solidFill>
            <a:prstDash val="solid"/>
          </a:ln>
        </p:spPr>
      </p:sp>
      <p:sp>
        <p:nvSpPr>
          <p:cNvPr id="194" name="Shape 192"/>
          <p:cNvSpPr/>
          <p:nvPr/>
        </p:nvSpPr>
        <p:spPr>
          <a:xfrm>
            <a:off x="7863840" y="4226243"/>
            <a:ext cx="2011680" cy="0"/>
          </a:xfrm>
          <a:prstGeom prst="line">
            <a:avLst/>
          </a:prstGeom>
          <a:noFill/>
          <a:ln w="3175">
            <a:solidFill>
              <a:srgbClr val="B8C4D3"/>
            </a:solidFill>
            <a:prstDash val="solid"/>
          </a:ln>
        </p:spPr>
      </p:sp>
      <p:sp>
        <p:nvSpPr>
          <p:cNvPr id="195" name="Shape 193"/>
          <p:cNvSpPr/>
          <p:nvPr/>
        </p:nvSpPr>
        <p:spPr>
          <a:xfrm>
            <a:off x="9561195" y="2560320"/>
            <a:ext cx="0" cy="2011680"/>
          </a:xfrm>
          <a:prstGeom prst="line">
            <a:avLst/>
          </a:prstGeom>
          <a:noFill/>
          <a:ln w="3175">
            <a:solidFill>
              <a:srgbClr val="B8C4D3"/>
            </a:solidFill>
            <a:prstDash val="solid"/>
          </a:ln>
        </p:spPr>
      </p:sp>
      <p:sp>
        <p:nvSpPr>
          <p:cNvPr id="196" name="Shape 194"/>
          <p:cNvSpPr/>
          <p:nvPr/>
        </p:nvSpPr>
        <p:spPr>
          <a:xfrm>
            <a:off x="7863840" y="4257675"/>
            <a:ext cx="2011680" cy="0"/>
          </a:xfrm>
          <a:prstGeom prst="line">
            <a:avLst/>
          </a:prstGeom>
          <a:noFill/>
          <a:ln w="3175">
            <a:solidFill>
              <a:srgbClr val="B8C4D3"/>
            </a:solidFill>
            <a:prstDash val="solid"/>
          </a:ln>
        </p:spPr>
      </p:sp>
      <p:sp>
        <p:nvSpPr>
          <p:cNvPr id="197" name="Shape 195"/>
          <p:cNvSpPr/>
          <p:nvPr/>
        </p:nvSpPr>
        <p:spPr>
          <a:xfrm>
            <a:off x="9592628" y="2560320"/>
            <a:ext cx="0" cy="2011680"/>
          </a:xfrm>
          <a:prstGeom prst="line">
            <a:avLst/>
          </a:prstGeom>
          <a:noFill/>
          <a:ln w="3175">
            <a:solidFill>
              <a:srgbClr val="B8C4D3"/>
            </a:solidFill>
            <a:prstDash val="solid"/>
          </a:ln>
        </p:spPr>
      </p:sp>
      <p:sp>
        <p:nvSpPr>
          <p:cNvPr id="198" name="Shape 196"/>
          <p:cNvSpPr/>
          <p:nvPr/>
        </p:nvSpPr>
        <p:spPr>
          <a:xfrm>
            <a:off x="7863840" y="4289108"/>
            <a:ext cx="2011680" cy="0"/>
          </a:xfrm>
          <a:prstGeom prst="line">
            <a:avLst/>
          </a:prstGeom>
          <a:noFill/>
          <a:ln w="3175">
            <a:solidFill>
              <a:srgbClr val="B8C4D3"/>
            </a:solidFill>
            <a:prstDash val="solid"/>
          </a:ln>
        </p:spPr>
      </p:sp>
      <p:sp>
        <p:nvSpPr>
          <p:cNvPr id="199" name="Shape 197"/>
          <p:cNvSpPr/>
          <p:nvPr/>
        </p:nvSpPr>
        <p:spPr>
          <a:xfrm>
            <a:off x="9624060" y="2560320"/>
            <a:ext cx="0" cy="2011680"/>
          </a:xfrm>
          <a:prstGeom prst="line">
            <a:avLst/>
          </a:prstGeom>
          <a:noFill/>
          <a:ln w="3175">
            <a:solidFill>
              <a:srgbClr val="B8C4D3"/>
            </a:solidFill>
            <a:prstDash val="solid"/>
          </a:ln>
        </p:spPr>
      </p:sp>
      <p:sp>
        <p:nvSpPr>
          <p:cNvPr id="200" name="Shape 198"/>
          <p:cNvSpPr/>
          <p:nvPr/>
        </p:nvSpPr>
        <p:spPr>
          <a:xfrm>
            <a:off x="7863840" y="4320540"/>
            <a:ext cx="2011680" cy="0"/>
          </a:xfrm>
          <a:prstGeom prst="line">
            <a:avLst/>
          </a:prstGeom>
          <a:noFill/>
          <a:ln w="3175">
            <a:solidFill>
              <a:srgbClr val="B8C4D3"/>
            </a:solidFill>
            <a:prstDash val="solid"/>
          </a:ln>
        </p:spPr>
      </p:sp>
      <p:sp>
        <p:nvSpPr>
          <p:cNvPr id="201" name="Shape 199"/>
          <p:cNvSpPr/>
          <p:nvPr/>
        </p:nvSpPr>
        <p:spPr>
          <a:xfrm>
            <a:off x="9655493" y="2560320"/>
            <a:ext cx="0" cy="2011680"/>
          </a:xfrm>
          <a:prstGeom prst="line">
            <a:avLst/>
          </a:prstGeom>
          <a:noFill/>
          <a:ln w="3175">
            <a:solidFill>
              <a:srgbClr val="B8C4D3"/>
            </a:solidFill>
            <a:prstDash val="solid"/>
          </a:ln>
        </p:spPr>
      </p:sp>
      <p:sp>
        <p:nvSpPr>
          <p:cNvPr id="202" name="Shape 200"/>
          <p:cNvSpPr/>
          <p:nvPr/>
        </p:nvSpPr>
        <p:spPr>
          <a:xfrm>
            <a:off x="7863840" y="4351973"/>
            <a:ext cx="2011680" cy="0"/>
          </a:xfrm>
          <a:prstGeom prst="line">
            <a:avLst/>
          </a:prstGeom>
          <a:noFill/>
          <a:ln w="3175">
            <a:solidFill>
              <a:srgbClr val="B8C4D3"/>
            </a:solidFill>
            <a:prstDash val="solid"/>
          </a:ln>
        </p:spPr>
      </p:sp>
      <p:sp>
        <p:nvSpPr>
          <p:cNvPr id="203" name="Shape 201"/>
          <p:cNvSpPr/>
          <p:nvPr/>
        </p:nvSpPr>
        <p:spPr>
          <a:xfrm>
            <a:off x="9686925" y="2560320"/>
            <a:ext cx="0" cy="2011680"/>
          </a:xfrm>
          <a:prstGeom prst="line">
            <a:avLst/>
          </a:prstGeom>
          <a:noFill/>
          <a:ln w="3175">
            <a:solidFill>
              <a:srgbClr val="B8C4D3"/>
            </a:solidFill>
            <a:prstDash val="solid"/>
          </a:ln>
        </p:spPr>
      </p:sp>
      <p:sp>
        <p:nvSpPr>
          <p:cNvPr id="204" name="Shape 202"/>
          <p:cNvSpPr/>
          <p:nvPr/>
        </p:nvSpPr>
        <p:spPr>
          <a:xfrm>
            <a:off x="7863840" y="4383405"/>
            <a:ext cx="2011680" cy="0"/>
          </a:xfrm>
          <a:prstGeom prst="line">
            <a:avLst/>
          </a:prstGeom>
          <a:noFill/>
          <a:ln w="3175">
            <a:solidFill>
              <a:srgbClr val="B8C4D3"/>
            </a:solidFill>
            <a:prstDash val="solid"/>
          </a:ln>
        </p:spPr>
      </p:sp>
      <p:sp>
        <p:nvSpPr>
          <p:cNvPr id="205" name="Shape 203"/>
          <p:cNvSpPr/>
          <p:nvPr/>
        </p:nvSpPr>
        <p:spPr>
          <a:xfrm>
            <a:off x="9718358" y="2560320"/>
            <a:ext cx="0" cy="2011680"/>
          </a:xfrm>
          <a:prstGeom prst="line">
            <a:avLst/>
          </a:prstGeom>
          <a:noFill/>
          <a:ln w="3175">
            <a:solidFill>
              <a:srgbClr val="B8C4D3"/>
            </a:solidFill>
            <a:prstDash val="solid"/>
          </a:ln>
        </p:spPr>
      </p:sp>
      <p:sp>
        <p:nvSpPr>
          <p:cNvPr id="206" name="Shape 204"/>
          <p:cNvSpPr/>
          <p:nvPr/>
        </p:nvSpPr>
        <p:spPr>
          <a:xfrm>
            <a:off x="7863840" y="4414838"/>
            <a:ext cx="2011680" cy="0"/>
          </a:xfrm>
          <a:prstGeom prst="line">
            <a:avLst/>
          </a:prstGeom>
          <a:noFill/>
          <a:ln w="3175">
            <a:solidFill>
              <a:srgbClr val="B8C4D3"/>
            </a:solidFill>
            <a:prstDash val="solid"/>
          </a:ln>
        </p:spPr>
      </p:sp>
      <p:sp>
        <p:nvSpPr>
          <p:cNvPr id="207" name="Shape 205"/>
          <p:cNvSpPr/>
          <p:nvPr/>
        </p:nvSpPr>
        <p:spPr>
          <a:xfrm>
            <a:off x="9749790" y="2560320"/>
            <a:ext cx="0" cy="2011680"/>
          </a:xfrm>
          <a:prstGeom prst="line">
            <a:avLst/>
          </a:prstGeom>
          <a:noFill/>
          <a:ln w="3175">
            <a:solidFill>
              <a:srgbClr val="B8C4D3"/>
            </a:solidFill>
            <a:prstDash val="solid"/>
          </a:ln>
        </p:spPr>
      </p:sp>
      <p:sp>
        <p:nvSpPr>
          <p:cNvPr id="208" name="Shape 206"/>
          <p:cNvSpPr/>
          <p:nvPr/>
        </p:nvSpPr>
        <p:spPr>
          <a:xfrm>
            <a:off x="7863840" y="4446270"/>
            <a:ext cx="2011680" cy="0"/>
          </a:xfrm>
          <a:prstGeom prst="line">
            <a:avLst/>
          </a:prstGeom>
          <a:noFill/>
          <a:ln w="3175">
            <a:solidFill>
              <a:srgbClr val="B8C4D3"/>
            </a:solidFill>
            <a:prstDash val="solid"/>
          </a:ln>
        </p:spPr>
      </p:sp>
      <p:sp>
        <p:nvSpPr>
          <p:cNvPr id="209" name="Shape 207"/>
          <p:cNvSpPr/>
          <p:nvPr/>
        </p:nvSpPr>
        <p:spPr>
          <a:xfrm>
            <a:off x="9781223" y="2560320"/>
            <a:ext cx="0" cy="2011680"/>
          </a:xfrm>
          <a:prstGeom prst="line">
            <a:avLst/>
          </a:prstGeom>
          <a:noFill/>
          <a:ln w="3175">
            <a:solidFill>
              <a:srgbClr val="B8C4D3"/>
            </a:solidFill>
            <a:prstDash val="solid"/>
          </a:ln>
        </p:spPr>
      </p:sp>
      <p:sp>
        <p:nvSpPr>
          <p:cNvPr id="210" name="Shape 208"/>
          <p:cNvSpPr/>
          <p:nvPr/>
        </p:nvSpPr>
        <p:spPr>
          <a:xfrm>
            <a:off x="7863840" y="4477703"/>
            <a:ext cx="2011680" cy="0"/>
          </a:xfrm>
          <a:prstGeom prst="line">
            <a:avLst/>
          </a:prstGeom>
          <a:noFill/>
          <a:ln w="3175">
            <a:solidFill>
              <a:srgbClr val="B8C4D3"/>
            </a:solidFill>
            <a:prstDash val="solid"/>
          </a:ln>
        </p:spPr>
      </p:sp>
      <p:sp>
        <p:nvSpPr>
          <p:cNvPr id="211" name="Shape 209"/>
          <p:cNvSpPr/>
          <p:nvPr/>
        </p:nvSpPr>
        <p:spPr>
          <a:xfrm>
            <a:off x="9812655" y="2560320"/>
            <a:ext cx="0" cy="2011680"/>
          </a:xfrm>
          <a:prstGeom prst="line">
            <a:avLst/>
          </a:prstGeom>
          <a:noFill/>
          <a:ln w="3175">
            <a:solidFill>
              <a:srgbClr val="B8C4D3"/>
            </a:solidFill>
            <a:prstDash val="solid"/>
          </a:ln>
        </p:spPr>
      </p:sp>
      <p:sp>
        <p:nvSpPr>
          <p:cNvPr id="212" name="Shape 210"/>
          <p:cNvSpPr/>
          <p:nvPr/>
        </p:nvSpPr>
        <p:spPr>
          <a:xfrm>
            <a:off x="7863840" y="4509135"/>
            <a:ext cx="2011680" cy="0"/>
          </a:xfrm>
          <a:prstGeom prst="line">
            <a:avLst/>
          </a:prstGeom>
          <a:noFill/>
          <a:ln w="3175">
            <a:solidFill>
              <a:srgbClr val="B8C4D3"/>
            </a:solidFill>
            <a:prstDash val="solid"/>
          </a:ln>
        </p:spPr>
      </p:sp>
      <p:sp>
        <p:nvSpPr>
          <p:cNvPr id="213" name="Shape 211"/>
          <p:cNvSpPr/>
          <p:nvPr/>
        </p:nvSpPr>
        <p:spPr>
          <a:xfrm>
            <a:off x="9844088" y="2560320"/>
            <a:ext cx="0" cy="2011680"/>
          </a:xfrm>
          <a:prstGeom prst="line">
            <a:avLst/>
          </a:prstGeom>
          <a:noFill/>
          <a:ln w="3175">
            <a:solidFill>
              <a:srgbClr val="B8C4D3"/>
            </a:solidFill>
            <a:prstDash val="solid"/>
          </a:ln>
        </p:spPr>
      </p:sp>
      <p:sp>
        <p:nvSpPr>
          <p:cNvPr id="214" name="Shape 212"/>
          <p:cNvSpPr/>
          <p:nvPr/>
        </p:nvSpPr>
        <p:spPr>
          <a:xfrm>
            <a:off x="7863840" y="4540568"/>
            <a:ext cx="2011680" cy="0"/>
          </a:xfrm>
          <a:prstGeom prst="line">
            <a:avLst/>
          </a:prstGeom>
          <a:noFill/>
          <a:ln w="3175">
            <a:solidFill>
              <a:srgbClr val="B8C4D3"/>
            </a:solidFill>
            <a:prstDash val="solid"/>
          </a:ln>
        </p:spPr>
      </p:sp>
      <p:sp>
        <p:nvSpPr>
          <p:cNvPr id="215" name="Shape 213"/>
          <p:cNvSpPr/>
          <p:nvPr/>
        </p:nvSpPr>
        <p:spPr>
          <a:xfrm>
            <a:off x="8838248" y="3534727"/>
            <a:ext cx="62865" cy="62865"/>
          </a:xfrm>
          <a:prstGeom prst="rect">
            <a:avLst/>
          </a:prstGeom>
          <a:solidFill>
            <a:srgbClr val="F2C14E"/>
          </a:solidFill>
          <a:ln w="12700">
            <a:solidFill>
              <a:srgbClr val="F2C14E"/>
            </a:solidFill>
            <a:prstDash val="solid"/>
          </a:ln>
        </p:spPr>
      </p:sp>
      <p:sp>
        <p:nvSpPr>
          <p:cNvPr id="216" name="Text 214"/>
          <p:cNvSpPr txBox="1"/>
          <p:nvPr/>
        </p:nvSpPr>
        <p:spPr>
          <a:xfrm>
            <a:off x="7589520" y="1993392"/>
            <a:ext cx="2560320" cy="256032"/>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½ L feature maps · 64 × 64 @ 20 m</a:t>
            </a:r>
            <a:endParaRPr lang="en-US" sz="950" dirty="0"/>
          </a:p>
        </p:txBody>
      </p:sp>
      <p:sp>
        <p:nvSpPr>
          <p:cNvPr id="217" name="Text 215"/>
          <p:cNvSpPr txBox="1"/>
          <p:nvPr/>
        </p:nvSpPr>
        <p:spPr>
          <a:xfrm>
            <a:off x="7680960" y="4709160"/>
            <a:ext cx="3749040" cy="1188720"/>
          </a:xfrm>
          <a:prstGeom prst="rect">
            <a:avLst/>
          </a:prstGeom>
          <a:noFill/>
          <a:ln/>
        </p:spPr>
        <p:txBody>
          <a:bodyPr wrap="square" lIns="0" tIns="0" rIns="0" bIns="0" rtlCol="0" anchor="t"/>
          <a:lstStyle/>
          <a:p>
            <a:pPr indent="0" marL="0">
              <a:buNone/>
            </a:pPr>
            <a:r>
              <a:rPr lang="en-US" sz="950" b="1" dirty="0">
                <a:solidFill>
                  <a:srgbClr val="0B1F3A"/>
                </a:solidFill>
                <a:latin typeface="Calibri" pitchFamily="34" charset="0"/>
                <a:ea typeface="Calibri" pitchFamily="34" charset="-122"/>
                <a:cs typeface="Calibri" pitchFamily="34" charset="-120"/>
              </a:rPr>
              <a:t>Σ Nᵢ frames in → Σ Nᵢ maps out.  </a:t>
            </a:r>
            <a:pPr indent="0" marL="0">
              <a:buNone/>
            </a:pPr>
            <a:r>
              <a:rPr lang="en-US" sz="950" dirty="0">
                <a:solidFill>
                  <a:srgbClr val="1B2430"/>
                </a:solidFill>
                <a:latin typeface="Calibri" pitchFamily="34" charset="0"/>
                <a:ea typeface="Calibri" pitchFamily="34" charset="-122"/>
                <a:cs typeface="Calibri" pitchFamily="34" charset="-120"/>
              </a:rPr>
              <a:t>Every frame keeps its acquisition timestamp as a sinusoidal timecode, so the block that follows knows when each map was observed. The yellow 10 m pixel is now a 20 m feature cell — the first (and only) fixed loss of resolution before the output head restores it.</a:t>
            </a:r>
            <a:endParaRPr lang="en-US" sz="950" dirty="0"/>
          </a:p>
        </p:txBody>
      </p:sp>
      <p:sp>
        <p:nvSpPr>
          <p:cNvPr id="218" name="Text 2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STP, step 2 of 4 — three operators, three resolutions</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Same 1.28 km footprint, three grids: what one cell can 'see' in each operator</a:t>
            </a:r>
            <a:endParaRPr lang="en-US" sz="1400" dirty="0"/>
          </a:p>
        </p:txBody>
      </p:sp>
      <p:sp>
        <p:nvSpPr>
          <p:cNvPr id="4" name="Shape 2"/>
          <p:cNvSpPr/>
          <p:nvPr/>
        </p:nvSpPr>
        <p:spPr>
          <a:xfrm>
            <a:off x="548640" y="1371600"/>
            <a:ext cx="2008022" cy="566928"/>
          </a:xfrm>
          <a:prstGeom prst="roundRect">
            <a:avLst>
              <a:gd name="adj" fmla="val 9677"/>
            </a:avLst>
          </a:prstGeom>
          <a:solidFill>
            <a:srgbClr val="F4F6F9"/>
          </a:solidFill>
          <a:ln w="9525">
            <a:solidFill>
              <a:srgbClr val="B8C4D3"/>
            </a:solidFill>
            <a:prstDash val="solid"/>
          </a:ln>
        </p:spPr>
      </p:sp>
      <p:sp>
        <p:nvSpPr>
          <p:cNvPr id="5" name="Text 3"/>
          <p:cNvSpPr txBox="1"/>
          <p:nvPr/>
        </p:nvSpPr>
        <p:spPr>
          <a:xfrm>
            <a:off x="640080"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many sources, native resolutions, dated frames</a:t>
            </a:r>
            <a:endParaRPr lang="en-US" sz="1050" dirty="0"/>
          </a:p>
        </p:txBody>
      </p:sp>
      <p:sp>
        <p:nvSpPr>
          <p:cNvPr id="6" name="Shape 4"/>
          <p:cNvSpPr/>
          <p:nvPr/>
        </p:nvSpPr>
        <p:spPr>
          <a:xfrm>
            <a:off x="2593238" y="1563624"/>
            <a:ext cx="182880" cy="182880"/>
          </a:xfrm>
          <a:prstGeom prst="rightArrow">
            <a:avLst/>
          </a:prstGeom>
          <a:solidFill>
            <a:srgbClr val="B8C4D3"/>
          </a:solidFill>
          <a:ln w="12700">
            <a:solidFill>
              <a:srgbClr val="333333"/>
            </a:solidFill>
            <a:prstDash val="solid"/>
          </a:ln>
        </p:spPr>
      </p:sp>
      <p:sp>
        <p:nvSpPr>
          <p:cNvPr id="7" name="Shape 5"/>
          <p:cNvSpPr/>
          <p:nvPr/>
        </p:nvSpPr>
        <p:spPr>
          <a:xfrm>
            <a:off x="2812694" y="1371600"/>
            <a:ext cx="2008022" cy="566928"/>
          </a:xfrm>
          <a:prstGeom prst="roundRect">
            <a:avLst>
              <a:gd name="adj" fmla="val 9677"/>
            </a:avLst>
          </a:prstGeom>
          <a:solidFill>
            <a:srgbClr val="F4F6F9"/>
          </a:solidFill>
          <a:ln w="9525">
            <a:solidFill>
              <a:srgbClr val="B8C4D3"/>
            </a:solidFill>
            <a:prstDash val="solid"/>
          </a:ln>
        </p:spPr>
      </p:sp>
      <p:sp>
        <p:nvSpPr>
          <p:cNvPr id="8" name="Text 6"/>
          <p:cNvSpPr txBox="1"/>
          <p:nvPr/>
        </p:nvSpPr>
        <p:spPr>
          <a:xfrm>
            <a:off x="2904134"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 projectors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 ½ L feature maps (64 px @ 20 m)</a:t>
            </a:r>
            <a:endParaRPr lang="en-US" sz="1050" dirty="0"/>
          </a:p>
        </p:txBody>
      </p:sp>
      <p:sp>
        <p:nvSpPr>
          <p:cNvPr id="9" name="Shape 7"/>
          <p:cNvSpPr/>
          <p:nvPr/>
        </p:nvSpPr>
        <p:spPr>
          <a:xfrm>
            <a:off x="4857293" y="1563624"/>
            <a:ext cx="182880" cy="182880"/>
          </a:xfrm>
          <a:prstGeom prst="rightArrow">
            <a:avLst/>
          </a:prstGeom>
          <a:solidFill>
            <a:srgbClr val="B8C4D3"/>
          </a:solidFill>
          <a:ln w="12700">
            <a:solidFill>
              <a:srgbClr val="333333"/>
            </a:solidFill>
            <a:prstDash val="solid"/>
          </a:ln>
        </p:spPr>
      </p:sp>
      <p:sp>
        <p:nvSpPr>
          <p:cNvPr id="10" name="Shape 8"/>
          <p:cNvSpPr/>
          <p:nvPr/>
        </p:nvSpPr>
        <p:spPr>
          <a:xfrm>
            <a:off x="5076749" y="1371600"/>
            <a:ext cx="2008022" cy="566928"/>
          </a:xfrm>
          <a:prstGeom prst="roundRect">
            <a:avLst>
              <a:gd name="adj" fmla="val 9677"/>
            </a:avLst>
          </a:prstGeom>
          <a:solidFill>
            <a:srgbClr val="0B1F3A"/>
          </a:solidFill>
          <a:ln w="9525">
            <a:solidFill>
              <a:srgbClr val="0B1F3A"/>
            </a:solidFill>
            <a:prstDash val="solid"/>
          </a:ln>
        </p:spPr>
      </p:sp>
      <p:sp>
        <p:nvSpPr>
          <p:cNvPr id="11" name="Text 9"/>
          <p:cNvSpPr txBox="1"/>
          <p:nvPr/>
        </p:nvSpPr>
        <p:spPr>
          <a:xfrm>
            <a:off x="5168189" y="1371600"/>
            <a:ext cx="1825142"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STP block</a:t>
            </a:r>
            <a:endParaRPr lang="en-US" sz="1050" dirty="0"/>
          </a:p>
          <a:p>
            <a:pPr indent="0" marL="0">
              <a:buNone/>
            </a:pPr>
            <a:r>
              <a:rPr lang="en-US" sz="800" dirty="0">
                <a:solidFill>
                  <a:srgbClr val="CADCFC"/>
                </a:solidFill>
                <a:latin typeface="Calibri" pitchFamily="34" charset="0"/>
                <a:ea typeface="Calibri" pitchFamily="34" charset="-122"/>
                <a:cs typeface="Calibri" pitchFamily="34" charset="-120"/>
              </a:rPr>
              <a:t>space ⅟₁₆ L · time ⅛ L · precision ½ L</a:t>
            </a:r>
            <a:endParaRPr lang="en-US" sz="1050" dirty="0"/>
          </a:p>
        </p:txBody>
      </p:sp>
      <p:sp>
        <p:nvSpPr>
          <p:cNvPr id="12" name="Shape 10"/>
          <p:cNvSpPr/>
          <p:nvPr/>
        </p:nvSpPr>
        <p:spPr>
          <a:xfrm>
            <a:off x="7121347" y="1563624"/>
            <a:ext cx="182880" cy="182880"/>
          </a:xfrm>
          <a:prstGeom prst="rightArrow">
            <a:avLst/>
          </a:prstGeom>
          <a:solidFill>
            <a:srgbClr val="B8C4D3"/>
          </a:solidFill>
          <a:ln w="12700">
            <a:solidFill>
              <a:srgbClr val="333333"/>
            </a:solidFill>
            <a:prstDash val="solid"/>
          </a:ln>
        </p:spPr>
      </p:sp>
      <p:sp>
        <p:nvSpPr>
          <p:cNvPr id="13" name="Shape 11"/>
          <p:cNvSpPr/>
          <p:nvPr/>
        </p:nvSpPr>
        <p:spPr>
          <a:xfrm>
            <a:off x="7340803" y="1371600"/>
            <a:ext cx="2008022" cy="566928"/>
          </a:xfrm>
          <a:prstGeom prst="roundRect">
            <a:avLst>
              <a:gd name="adj" fmla="val 9677"/>
            </a:avLst>
          </a:prstGeom>
          <a:solidFill>
            <a:srgbClr val="F4F6F9"/>
          </a:solidFill>
          <a:ln w="9525">
            <a:solidFill>
              <a:srgbClr val="B8C4D3"/>
            </a:solidFill>
            <a:prstDash val="solid"/>
          </a:ln>
        </p:spPr>
      </p:sp>
      <p:sp>
        <p:nvSpPr>
          <p:cNvPr id="14" name="Text 12"/>
          <p:cNvSpPr txBox="1"/>
          <p:nvPr/>
        </p:nvSpPr>
        <p:spPr>
          <a:xfrm>
            <a:off x="7432243"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Pyramid exchange</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every operator → every operator, × N</a:t>
            </a:r>
            <a:endParaRPr lang="en-US" sz="1050" dirty="0"/>
          </a:p>
        </p:txBody>
      </p:sp>
      <p:sp>
        <p:nvSpPr>
          <p:cNvPr id="15" name="Shape 13"/>
          <p:cNvSpPr/>
          <p:nvPr/>
        </p:nvSpPr>
        <p:spPr>
          <a:xfrm>
            <a:off x="9385402" y="1563624"/>
            <a:ext cx="182880" cy="182880"/>
          </a:xfrm>
          <a:prstGeom prst="rightArrow">
            <a:avLst/>
          </a:prstGeom>
          <a:solidFill>
            <a:srgbClr val="B8C4D3"/>
          </a:solidFill>
          <a:ln w="12700">
            <a:solidFill>
              <a:srgbClr val="333333"/>
            </a:solidFill>
            <a:prstDash val="solid"/>
          </a:ln>
        </p:spPr>
      </p:sp>
      <p:sp>
        <p:nvSpPr>
          <p:cNvPr id="16" name="Shape 14"/>
          <p:cNvSpPr/>
          <p:nvPr/>
        </p:nvSpPr>
        <p:spPr>
          <a:xfrm>
            <a:off x="9604858" y="1371600"/>
            <a:ext cx="2008022" cy="566928"/>
          </a:xfrm>
          <a:prstGeom prst="roundRect">
            <a:avLst>
              <a:gd name="adj" fmla="val 9677"/>
            </a:avLst>
          </a:prstGeom>
          <a:solidFill>
            <a:srgbClr val="F4F6F9"/>
          </a:solidFill>
          <a:ln w="9525">
            <a:solidFill>
              <a:srgbClr val="B8C4D3"/>
            </a:solidFill>
            <a:prstDash val="solid"/>
          </a:ln>
        </p:spPr>
      </p:sp>
      <p:sp>
        <p:nvSpPr>
          <p:cNvPr id="17" name="Text 15"/>
          <p:cNvSpPr txBox="1"/>
          <p:nvPr/>
        </p:nvSpPr>
        <p:spPr>
          <a:xfrm>
            <a:off x="9696298"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Output head</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 L (10 m), 64-D unit vector</a:t>
            </a:r>
            <a:endParaRPr lang="en-US" sz="1050" dirty="0"/>
          </a:p>
        </p:txBody>
      </p:sp>
      <p:sp>
        <p:nvSpPr>
          <p:cNvPr id="18" name="Text 16"/>
          <p:cNvSpPr txBox="1"/>
          <p:nvPr/>
        </p:nvSpPr>
        <p:spPr>
          <a:xfrm>
            <a:off x="548640" y="6172200"/>
            <a:ext cx="11064240" cy="256032"/>
          </a:xfrm>
          <a:prstGeom prst="rect">
            <a:avLst/>
          </a:prstGeom>
          <a:noFill/>
          <a:ln/>
        </p:spPr>
        <p:txBody>
          <a:bodyPr wrap="square" lIns="0" tIns="0" rIns="0" bIns="0" rtlCol="0" anchor="ctr"/>
          <a:lstStyle/>
          <a:p>
            <a:pPr indent="0" marL="0">
              <a:buNone/>
            </a:pPr>
            <a:r>
              <a:rPr lang="en-US" sz="900" i="1" dirty="0">
                <a:solidFill>
                  <a:srgbClr val="6B7A8F"/>
                </a:solidFill>
                <a:latin typeface="Calibri" pitchFamily="34" charset="0"/>
                <a:ea typeface="Calibri" pitchFamily="34" charset="-122"/>
                <a:cs typeface="Calibri" pitchFamily="34" charset="-120"/>
              </a:rPr>
              <a:t>L = side length of the square input frame in pixels. L = 128 px @ 10 m (1.28 km) is the paper's own frame (supplement S2.1, S8.2); the real depth is N = 15 blocks, we draw 4. Frame counts per year are typical values, not from the paper.</a:t>
            </a:r>
            <a:endParaRPr lang="en-US" sz="900" dirty="0"/>
          </a:p>
        </p:txBody>
      </p:sp>
      <p:sp>
        <p:nvSpPr>
          <p:cNvPr id="19" name="Shape 17"/>
          <p:cNvSpPr/>
          <p:nvPr/>
        </p:nvSpPr>
        <p:spPr>
          <a:xfrm>
            <a:off x="822960" y="2651760"/>
            <a:ext cx="1874520" cy="1874520"/>
          </a:xfrm>
          <a:prstGeom prst="rect">
            <a:avLst/>
          </a:prstGeom>
          <a:solidFill>
            <a:srgbClr val="FFFFFF"/>
          </a:solidFill>
          <a:ln w="9525">
            <a:solidFill>
              <a:srgbClr val="B8C4D3"/>
            </a:solidFill>
            <a:prstDash val="solid"/>
          </a:ln>
        </p:spPr>
      </p:sp>
      <p:sp>
        <p:nvSpPr>
          <p:cNvPr id="20" name="Shape 18"/>
          <p:cNvSpPr/>
          <p:nvPr/>
        </p:nvSpPr>
        <p:spPr>
          <a:xfrm>
            <a:off x="1057275" y="2651760"/>
            <a:ext cx="0" cy="1874520"/>
          </a:xfrm>
          <a:prstGeom prst="line">
            <a:avLst/>
          </a:prstGeom>
          <a:noFill/>
          <a:ln w="7620">
            <a:solidFill>
              <a:srgbClr val="B8C4D3"/>
            </a:solidFill>
            <a:prstDash val="solid"/>
          </a:ln>
        </p:spPr>
      </p:sp>
      <p:sp>
        <p:nvSpPr>
          <p:cNvPr id="21" name="Shape 19"/>
          <p:cNvSpPr/>
          <p:nvPr/>
        </p:nvSpPr>
        <p:spPr>
          <a:xfrm>
            <a:off x="822960" y="2886075"/>
            <a:ext cx="1874520" cy="0"/>
          </a:xfrm>
          <a:prstGeom prst="line">
            <a:avLst/>
          </a:prstGeom>
          <a:noFill/>
          <a:ln w="7620">
            <a:solidFill>
              <a:srgbClr val="B8C4D3"/>
            </a:solidFill>
            <a:prstDash val="solid"/>
          </a:ln>
        </p:spPr>
      </p:sp>
      <p:sp>
        <p:nvSpPr>
          <p:cNvPr id="22" name="Shape 20"/>
          <p:cNvSpPr/>
          <p:nvPr/>
        </p:nvSpPr>
        <p:spPr>
          <a:xfrm>
            <a:off x="1291590" y="2651760"/>
            <a:ext cx="0" cy="1874520"/>
          </a:xfrm>
          <a:prstGeom prst="line">
            <a:avLst/>
          </a:prstGeom>
          <a:noFill/>
          <a:ln w="7620">
            <a:solidFill>
              <a:srgbClr val="B8C4D3"/>
            </a:solidFill>
            <a:prstDash val="solid"/>
          </a:ln>
        </p:spPr>
      </p:sp>
      <p:sp>
        <p:nvSpPr>
          <p:cNvPr id="23" name="Shape 21"/>
          <p:cNvSpPr/>
          <p:nvPr/>
        </p:nvSpPr>
        <p:spPr>
          <a:xfrm>
            <a:off x="822960" y="3120390"/>
            <a:ext cx="1874520" cy="0"/>
          </a:xfrm>
          <a:prstGeom prst="line">
            <a:avLst/>
          </a:prstGeom>
          <a:noFill/>
          <a:ln w="7620">
            <a:solidFill>
              <a:srgbClr val="B8C4D3"/>
            </a:solidFill>
            <a:prstDash val="solid"/>
          </a:ln>
        </p:spPr>
      </p:sp>
      <p:sp>
        <p:nvSpPr>
          <p:cNvPr id="24" name="Shape 22"/>
          <p:cNvSpPr/>
          <p:nvPr/>
        </p:nvSpPr>
        <p:spPr>
          <a:xfrm>
            <a:off x="1525905" y="2651760"/>
            <a:ext cx="0" cy="1874520"/>
          </a:xfrm>
          <a:prstGeom prst="line">
            <a:avLst/>
          </a:prstGeom>
          <a:noFill/>
          <a:ln w="7620">
            <a:solidFill>
              <a:srgbClr val="B8C4D3"/>
            </a:solidFill>
            <a:prstDash val="solid"/>
          </a:ln>
        </p:spPr>
      </p:sp>
      <p:sp>
        <p:nvSpPr>
          <p:cNvPr id="25" name="Shape 23"/>
          <p:cNvSpPr/>
          <p:nvPr/>
        </p:nvSpPr>
        <p:spPr>
          <a:xfrm>
            <a:off x="822960" y="3354705"/>
            <a:ext cx="1874520" cy="0"/>
          </a:xfrm>
          <a:prstGeom prst="line">
            <a:avLst/>
          </a:prstGeom>
          <a:noFill/>
          <a:ln w="7620">
            <a:solidFill>
              <a:srgbClr val="B8C4D3"/>
            </a:solidFill>
            <a:prstDash val="solid"/>
          </a:ln>
        </p:spPr>
      </p:sp>
      <p:sp>
        <p:nvSpPr>
          <p:cNvPr id="26" name="Shape 24"/>
          <p:cNvSpPr/>
          <p:nvPr/>
        </p:nvSpPr>
        <p:spPr>
          <a:xfrm>
            <a:off x="1760220" y="2651760"/>
            <a:ext cx="0" cy="1874520"/>
          </a:xfrm>
          <a:prstGeom prst="line">
            <a:avLst/>
          </a:prstGeom>
          <a:noFill/>
          <a:ln w="7620">
            <a:solidFill>
              <a:srgbClr val="B8C4D3"/>
            </a:solidFill>
            <a:prstDash val="solid"/>
          </a:ln>
        </p:spPr>
      </p:sp>
      <p:sp>
        <p:nvSpPr>
          <p:cNvPr id="27" name="Shape 25"/>
          <p:cNvSpPr/>
          <p:nvPr/>
        </p:nvSpPr>
        <p:spPr>
          <a:xfrm>
            <a:off x="822960" y="3589020"/>
            <a:ext cx="1874520" cy="0"/>
          </a:xfrm>
          <a:prstGeom prst="line">
            <a:avLst/>
          </a:prstGeom>
          <a:noFill/>
          <a:ln w="7620">
            <a:solidFill>
              <a:srgbClr val="B8C4D3"/>
            </a:solidFill>
            <a:prstDash val="solid"/>
          </a:ln>
        </p:spPr>
      </p:sp>
      <p:sp>
        <p:nvSpPr>
          <p:cNvPr id="28" name="Shape 26"/>
          <p:cNvSpPr/>
          <p:nvPr/>
        </p:nvSpPr>
        <p:spPr>
          <a:xfrm>
            <a:off x="1994535" y="2651760"/>
            <a:ext cx="0" cy="1874520"/>
          </a:xfrm>
          <a:prstGeom prst="line">
            <a:avLst/>
          </a:prstGeom>
          <a:noFill/>
          <a:ln w="7620">
            <a:solidFill>
              <a:srgbClr val="B8C4D3"/>
            </a:solidFill>
            <a:prstDash val="solid"/>
          </a:ln>
        </p:spPr>
      </p:sp>
      <p:sp>
        <p:nvSpPr>
          <p:cNvPr id="29" name="Shape 27"/>
          <p:cNvSpPr/>
          <p:nvPr/>
        </p:nvSpPr>
        <p:spPr>
          <a:xfrm>
            <a:off x="822960" y="3823335"/>
            <a:ext cx="1874520" cy="0"/>
          </a:xfrm>
          <a:prstGeom prst="line">
            <a:avLst/>
          </a:prstGeom>
          <a:noFill/>
          <a:ln w="7620">
            <a:solidFill>
              <a:srgbClr val="B8C4D3"/>
            </a:solidFill>
            <a:prstDash val="solid"/>
          </a:ln>
        </p:spPr>
      </p:sp>
      <p:sp>
        <p:nvSpPr>
          <p:cNvPr id="30" name="Shape 28"/>
          <p:cNvSpPr/>
          <p:nvPr/>
        </p:nvSpPr>
        <p:spPr>
          <a:xfrm>
            <a:off x="2228850" y="2651760"/>
            <a:ext cx="0" cy="1874520"/>
          </a:xfrm>
          <a:prstGeom prst="line">
            <a:avLst/>
          </a:prstGeom>
          <a:noFill/>
          <a:ln w="7620">
            <a:solidFill>
              <a:srgbClr val="B8C4D3"/>
            </a:solidFill>
            <a:prstDash val="solid"/>
          </a:ln>
        </p:spPr>
      </p:sp>
      <p:sp>
        <p:nvSpPr>
          <p:cNvPr id="31" name="Shape 29"/>
          <p:cNvSpPr/>
          <p:nvPr/>
        </p:nvSpPr>
        <p:spPr>
          <a:xfrm>
            <a:off x="822960" y="4057650"/>
            <a:ext cx="1874520" cy="0"/>
          </a:xfrm>
          <a:prstGeom prst="line">
            <a:avLst/>
          </a:prstGeom>
          <a:noFill/>
          <a:ln w="7620">
            <a:solidFill>
              <a:srgbClr val="B8C4D3"/>
            </a:solidFill>
            <a:prstDash val="solid"/>
          </a:ln>
        </p:spPr>
      </p:sp>
      <p:sp>
        <p:nvSpPr>
          <p:cNvPr id="32" name="Shape 30"/>
          <p:cNvSpPr/>
          <p:nvPr/>
        </p:nvSpPr>
        <p:spPr>
          <a:xfrm>
            <a:off x="2463165" y="2651760"/>
            <a:ext cx="0" cy="1874520"/>
          </a:xfrm>
          <a:prstGeom prst="line">
            <a:avLst/>
          </a:prstGeom>
          <a:noFill/>
          <a:ln w="7620">
            <a:solidFill>
              <a:srgbClr val="B8C4D3"/>
            </a:solidFill>
            <a:prstDash val="solid"/>
          </a:ln>
        </p:spPr>
      </p:sp>
      <p:sp>
        <p:nvSpPr>
          <p:cNvPr id="33" name="Shape 31"/>
          <p:cNvSpPr/>
          <p:nvPr/>
        </p:nvSpPr>
        <p:spPr>
          <a:xfrm>
            <a:off x="822960" y="4291965"/>
            <a:ext cx="1874520" cy="0"/>
          </a:xfrm>
          <a:prstGeom prst="line">
            <a:avLst/>
          </a:prstGeom>
          <a:noFill/>
          <a:ln w="7620">
            <a:solidFill>
              <a:srgbClr val="B8C4D3"/>
            </a:solidFill>
            <a:prstDash val="solid"/>
          </a:ln>
        </p:spPr>
      </p:sp>
      <p:sp>
        <p:nvSpPr>
          <p:cNvPr id="34" name="Shape 32"/>
          <p:cNvSpPr/>
          <p:nvPr/>
        </p:nvSpPr>
        <p:spPr>
          <a:xfrm>
            <a:off x="1525905" y="3354705"/>
            <a:ext cx="234315" cy="234315"/>
          </a:xfrm>
          <a:prstGeom prst="rect">
            <a:avLst/>
          </a:prstGeom>
          <a:solidFill>
            <a:srgbClr val="2E86AB"/>
          </a:solidFill>
          <a:ln w="12700">
            <a:solidFill>
              <a:srgbClr val="2E86AB"/>
            </a:solidFill>
            <a:prstDash val="solid"/>
          </a:ln>
        </p:spPr>
      </p:sp>
      <p:sp>
        <p:nvSpPr>
          <p:cNvPr id="35" name="Shape 33"/>
          <p:cNvSpPr/>
          <p:nvPr/>
        </p:nvSpPr>
        <p:spPr>
          <a:xfrm>
            <a:off x="2228850" y="2651760"/>
            <a:ext cx="234315" cy="234315"/>
          </a:xfrm>
          <a:prstGeom prst="rect">
            <a:avLst/>
          </a:prstGeom>
          <a:solidFill>
            <a:srgbClr val="2E86AB">
              <a:alpha val="45000"/>
            </a:srgbClr>
          </a:solidFill>
          <a:ln w="12700">
            <a:solidFill>
              <a:srgbClr val="2E86AB"/>
            </a:solidFill>
            <a:prstDash val="solid"/>
          </a:ln>
        </p:spPr>
      </p:sp>
      <p:sp>
        <p:nvSpPr>
          <p:cNvPr id="36" name="Shape 34"/>
          <p:cNvSpPr/>
          <p:nvPr/>
        </p:nvSpPr>
        <p:spPr>
          <a:xfrm>
            <a:off x="1057275" y="4057650"/>
            <a:ext cx="234315" cy="234315"/>
          </a:xfrm>
          <a:prstGeom prst="rect">
            <a:avLst/>
          </a:prstGeom>
          <a:solidFill>
            <a:srgbClr val="2E86AB">
              <a:alpha val="45000"/>
            </a:srgbClr>
          </a:solidFill>
          <a:ln w="12700">
            <a:solidFill>
              <a:srgbClr val="2E86AB"/>
            </a:solidFill>
            <a:prstDash val="solid"/>
          </a:ln>
        </p:spPr>
      </p:sp>
      <p:sp>
        <p:nvSpPr>
          <p:cNvPr id="37" name="Shape 35"/>
          <p:cNvSpPr/>
          <p:nvPr/>
        </p:nvSpPr>
        <p:spPr>
          <a:xfrm>
            <a:off x="2463165" y="4291965"/>
            <a:ext cx="234315" cy="234315"/>
          </a:xfrm>
          <a:prstGeom prst="rect">
            <a:avLst/>
          </a:prstGeom>
          <a:solidFill>
            <a:srgbClr val="2E86AB">
              <a:alpha val="45000"/>
            </a:srgbClr>
          </a:solidFill>
          <a:ln w="12700">
            <a:solidFill>
              <a:srgbClr val="2E86AB"/>
            </a:solidFill>
            <a:prstDash val="solid"/>
          </a:ln>
        </p:spPr>
      </p:sp>
      <p:sp>
        <p:nvSpPr>
          <p:cNvPr id="38" name="Shape 36"/>
          <p:cNvSpPr/>
          <p:nvPr/>
        </p:nvSpPr>
        <p:spPr>
          <a:xfrm>
            <a:off x="1057275" y="2886075"/>
            <a:ext cx="234315" cy="234315"/>
          </a:xfrm>
          <a:prstGeom prst="rect">
            <a:avLst/>
          </a:prstGeom>
          <a:solidFill>
            <a:srgbClr val="2E86AB">
              <a:alpha val="45000"/>
            </a:srgbClr>
          </a:solidFill>
          <a:ln w="12700">
            <a:solidFill>
              <a:srgbClr val="2E86AB"/>
            </a:solidFill>
            <a:prstDash val="solid"/>
          </a:ln>
        </p:spPr>
      </p:sp>
      <p:sp>
        <p:nvSpPr>
          <p:cNvPr id="39" name="Shape 37"/>
          <p:cNvSpPr/>
          <p:nvPr/>
        </p:nvSpPr>
        <p:spPr>
          <a:xfrm>
            <a:off x="2228850" y="3823335"/>
            <a:ext cx="234315" cy="234315"/>
          </a:xfrm>
          <a:prstGeom prst="rect">
            <a:avLst/>
          </a:prstGeom>
          <a:solidFill>
            <a:srgbClr val="2E86AB">
              <a:alpha val="45000"/>
            </a:srgbClr>
          </a:solidFill>
          <a:ln w="12700">
            <a:solidFill>
              <a:srgbClr val="2E86AB"/>
            </a:solidFill>
            <a:prstDash val="solid"/>
          </a:ln>
        </p:spPr>
      </p:sp>
      <p:sp>
        <p:nvSpPr>
          <p:cNvPr id="40" name="Text 38"/>
          <p:cNvSpPr txBox="1"/>
          <p:nvPr/>
        </p:nvSpPr>
        <p:spPr>
          <a:xfrm>
            <a:off x="548640" y="2340864"/>
            <a:ext cx="2423160" cy="256032"/>
          </a:xfrm>
          <a:prstGeom prst="rect">
            <a:avLst/>
          </a:prstGeom>
          <a:noFill/>
          <a:ln/>
        </p:spPr>
        <p:txBody>
          <a:bodyPr wrap="square" lIns="0" tIns="0" rIns="0" bIns="0" rtlCol="0" anchor="ctr"/>
          <a:lstStyle/>
          <a:p>
            <a:pPr algn="ctr" indent="0" marL="0">
              <a:buNone/>
            </a:pPr>
            <a:r>
              <a:rPr lang="en-US" sz="950" b="1" dirty="0">
                <a:solidFill>
                  <a:srgbClr val="2E86AB"/>
                </a:solidFill>
                <a:latin typeface="Calibri" pitchFamily="34" charset="0"/>
                <a:ea typeface="Calibri" pitchFamily="34" charset="-122"/>
                <a:cs typeface="Calibri" pitchFamily="34" charset="-120"/>
              </a:rPr>
              <a:t>SPACE operator · ⅟₁₆ L = 8 × 8 cells of 160 m</a:t>
            </a:r>
            <a:endParaRPr lang="en-US" sz="950" dirty="0"/>
          </a:p>
        </p:txBody>
      </p:sp>
      <p:sp>
        <p:nvSpPr>
          <p:cNvPr id="41" name="Text 39"/>
          <p:cNvSpPr txBox="1"/>
          <p:nvPr/>
        </p:nvSpPr>
        <p:spPr>
          <a:xfrm>
            <a:off x="457200" y="4572000"/>
            <a:ext cx="2606040" cy="64008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ViT-like self-attention: the cell attends to every other cell of the frame. Receptive field = whole frame, at coarse grain.</a:t>
            </a:r>
            <a:endParaRPr lang="en-US" sz="850" dirty="0"/>
          </a:p>
        </p:txBody>
      </p:sp>
      <p:sp>
        <p:nvSpPr>
          <p:cNvPr id="42" name="Shape 40"/>
          <p:cNvSpPr/>
          <p:nvPr/>
        </p:nvSpPr>
        <p:spPr>
          <a:xfrm flipH="1">
            <a:off x="1643063" y="2768917"/>
            <a:ext cx="702945" cy="702945"/>
          </a:xfrm>
          <a:prstGeom prst="line">
            <a:avLst/>
          </a:prstGeom>
          <a:noFill/>
          <a:ln w="12700">
            <a:solidFill>
              <a:srgbClr val="2E86AB"/>
            </a:solidFill>
            <a:prstDash val="dash"/>
          </a:ln>
        </p:spPr>
      </p:sp>
      <p:sp>
        <p:nvSpPr>
          <p:cNvPr id="43" name="Shape 41"/>
          <p:cNvSpPr/>
          <p:nvPr/>
        </p:nvSpPr>
        <p:spPr>
          <a:xfrm flipH="1">
            <a:off x="1174433" y="3471863"/>
            <a:ext cx="468630" cy="702945"/>
          </a:xfrm>
          <a:prstGeom prst="line">
            <a:avLst/>
          </a:prstGeom>
          <a:noFill/>
          <a:ln w="12700">
            <a:solidFill>
              <a:srgbClr val="2E86AB"/>
            </a:solidFill>
            <a:prstDash val="dash"/>
          </a:ln>
        </p:spPr>
      </p:sp>
      <p:sp>
        <p:nvSpPr>
          <p:cNvPr id="44" name="Shape 42"/>
          <p:cNvSpPr/>
          <p:nvPr/>
        </p:nvSpPr>
        <p:spPr>
          <a:xfrm>
            <a:off x="1643063" y="3471863"/>
            <a:ext cx="937260" cy="937260"/>
          </a:xfrm>
          <a:prstGeom prst="line">
            <a:avLst/>
          </a:prstGeom>
          <a:noFill/>
          <a:ln w="12700">
            <a:solidFill>
              <a:srgbClr val="2E86AB"/>
            </a:solidFill>
            <a:prstDash val="dash"/>
          </a:ln>
        </p:spPr>
      </p:sp>
      <p:sp>
        <p:nvSpPr>
          <p:cNvPr id="45" name="Shape 43"/>
          <p:cNvSpPr/>
          <p:nvPr/>
        </p:nvSpPr>
        <p:spPr>
          <a:xfrm>
            <a:off x="1174433" y="3003233"/>
            <a:ext cx="468630" cy="468630"/>
          </a:xfrm>
          <a:prstGeom prst="line">
            <a:avLst/>
          </a:prstGeom>
          <a:noFill/>
          <a:ln w="12700">
            <a:solidFill>
              <a:srgbClr val="2E86AB"/>
            </a:solidFill>
            <a:prstDash val="dash"/>
          </a:ln>
        </p:spPr>
      </p:sp>
      <p:sp>
        <p:nvSpPr>
          <p:cNvPr id="46" name="Shape 44"/>
          <p:cNvSpPr/>
          <p:nvPr/>
        </p:nvSpPr>
        <p:spPr>
          <a:xfrm>
            <a:off x="1643063" y="3471863"/>
            <a:ext cx="702945" cy="468630"/>
          </a:xfrm>
          <a:prstGeom prst="line">
            <a:avLst/>
          </a:prstGeom>
          <a:noFill/>
          <a:ln w="12700">
            <a:solidFill>
              <a:srgbClr val="2E86AB"/>
            </a:solidFill>
            <a:prstDash val="dash"/>
          </a:ln>
        </p:spPr>
      </p:sp>
      <p:sp>
        <p:nvSpPr>
          <p:cNvPr id="47" name="Shape 45"/>
          <p:cNvSpPr/>
          <p:nvPr/>
        </p:nvSpPr>
        <p:spPr>
          <a:xfrm>
            <a:off x="4809744" y="2459736"/>
            <a:ext cx="1874520" cy="1874520"/>
          </a:xfrm>
          <a:prstGeom prst="rect">
            <a:avLst/>
          </a:prstGeom>
          <a:solidFill>
            <a:srgbClr val="FCEFE4"/>
          </a:solidFill>
          <a:ln w="7620">
            <a:solidFill>
              <a:srgbClr val="B8C4D3"/>
            </a:solidFill>
            <a:prstDash val="solid"/>
          </a:ln>
        </p:spPr>
      </p:sp>
      <p:sp>
        <p:nvSpPr>
          <p:cNvPr id="48" name="Shape 46"/>
          <p:cNvSpPr/>
          <p:nvPr/>
        </p:nvSpPr>
        <p:spPr>
          <a:xfrm>
            <a:off x="4745736" y="2523744"/>
            <a:ext cx="1874520" cy="1874520"/>
          </a:xfrm>
          <a:prstGeom prst="rect">
            <a:avLst/>
          </a:prstGeom>
          <a:solidFill>
            <a:srgbClr val="FCEFE4"/>
          </a:solidFill>
          <a:ln w="7620">
            <a:solidFill>
              <a:srgbClr val="B8C4D3"/>
            </a:solidFill>
            <a:prstDash val="solid"/>
          </a:ln>
        </p:spPr>
      </p:sp>
      <p:sp>
        <p:nvSpPr>
          <p:cNvPr id="49" name="Shape 47"/>
          <p:cNvSpPr/>
          <p:nvPr/>
        </p:nvSpPr>
        <p:spPr>
          <a:xfrm>
            <a:off x="4681728" y="2587752"/>
            <a:ext cx="1874520" cy="1874520"/>
          </a:xfrm>
          <a:prstGeom prst="rect">
            <a:avLst/>
          </a:prstGeom>
          <a:solidFill>
            <a:srgbClr val="FCEFE4"/>
          </a:solidFill>
          <a:ln w="7620">
            <a:solidFill>
              <a:srgbClr val="B8C4D3"/>
            </a:solidFill>
            <a:prstDash val="solid"/>
          </a:ln>
        </p:spPr>
      </p:sp>
      <p:sp>
        <p:nvSpPr>
          <p:cNvPr id="50" name="Shape 48"/>
          <p:cNvSpPr/>
          <p:nvPr/>
        </p:nvSpPr>
        <p:spPr>
          <a:xfrm>
            <a:off x="4617720" y="2651760"/>
            <a:ext cx="1874520" cy="1874520"/>
          </a:xfrm>
          <a:prstGeom prst="rect">
            <a:avLst/>
          </a:prstGeom>
          <a:solidFill>
            <a:srgbClr val="FFFFFF"/>
          </a:solidFill>
          <a:ln w="9525">
            <a:solidFill>
              <a:srgbClr val="B8C4D3"/>
            </a:solidFill>
            <a:prstDash val="solid"/>
          </a:ln>
        </p:spPr>
      </p:sp>
      <p:sp>
        <p:nvSpPr>
          <p:cNvPr id="51" name="Shape 49"/>
          <p:cNvSpPr/>
          <p:nvPr/>
        </p:nvSpPr>
        <p:spPr>
          <a:xfrm>
            <a:off x="4734878" y="2651760"/>
            <a:ext cx="0" cy="1874520"/>
          </a:xfrm>
          <a:prstGeom prst="line">
            <a:avLst/>
          </a:prstGeom>
          <a:noFill/>
          <a:ln w="5080">
            <a:solidFill>
              <a:srgbClr val="B8C4D3"/>
            </a:solidFill>
            <a:prstDash val="solid"/>
          </a:ln>
        </p:spPr>
      </p:sp>
      <p:sp>
        <p:nvSpPr>
          <p:cNvPr id="52" name="Shape 50"/>
          <p:cNvSpPr/>
          <p:nvPr/>
        </p:nvSpPr>
        <p:spPr>
          <a:xfrm>
            <a:off x="4617720" y="2768917"/>
            <a:ext cx="1874520" cy="0"/>
          </a:xfrm>
          <a:prstGeom prst="line">
            <a:avLst/>
          </a:prstGeom>
          <a:noFill/>
          <a:ln w="5080">
            <a:solidFill>
              <a:srgbClr val="B8C4D3"/>
            </a:solidFill>
            <a:prstDash val="solid"/>
          </a:ln>
        </p:spPr>
      </p:sp>
      <p:sp>
        <p:nvSpPr>
          <p:cNvPr id="53" name="Shape 51"/>
          <p:cNvSpPr/>
          <p:nvPr/>
        </p:nvSpPr>
        <p:spPr>
          <a:xfrm>
            <a:off x="4852035" y="2651760"/>
            <a:ext cx="0" cy="1874520"/>
          </a:xfrm>
          <a:prstGeom prst="line">
            <a:avLst/>
          </a:prstGeom>
          <a:noFill/>
          <a:ln w="5080">
            <a:solidFill>
              <a:srgbClr val="B8C4D3"/>
            </a:solidFill>
            <a:prstDash val="solid"/>
          </a:ln>
        </p:spPr>
      </p:sp>
      <p:sp>
        <p:nvSpPr>
          <p:cNvPr id="54" name="Shape 52"/>
          <p:cNvSpPr/>
          <p:nvPr/>
        </p:nvSpPr>
        <p:spPr>
          <a:xfrm>
            <a:off x="4617720" y="2886075"/>
            <a:ext cx="1874520" cy="0"/>
          </a:xfrm>
          <a:prstGeom prst="line">
            <a:avLst/>
          </a:prstGeom>
          <a:noFill/>
          <a:ln w="5080">
            <a:solidFill>
              <a:srgbClr val="B8C4D3"/>
            </a:solidFill>
            <a:prstDash val="solid"/>
          </a:ln>
        </p:spPr>
      </p:sp>
      <p:sp>
        <p:nvSpPr>
          <p:cNvPr id="55" name="Shape 53"/>
          <p:cNvSpPr/>
          <p:nvPr/>
        </p:nvSpPr>
        <p:spPr>
          <a:xfrm>
            <a:off x="4969193" y="2651760"/>
            <a:ext cx="0" cy="1874520"/>
          </a:xfrm>
          <a:prstGeom prst="line">
            <a:avLst/>
          </a:prstGeom>
          <a:noFill/>
          <a:ln w="5080">
            <a:solidFill>
              <a:srgbClr val="B8C4D3"/>
            </a:solidFill>
            <a:prstDash val="solid"/>
          </a:ln>
        </p:spPr>
      </p:sp>
      <p:sp>
        <p:nvSpPr>
          <p:cNvPr id="56" name="Shape 54"/>
          <p:cNvSpPr/>
          <p:nvPr/>
        </p:nvSpPr>
        <p:spPr>
          <a:xfrm>
            <a:off x="4617720" y="3003233"/>
            <a:ext cx="1874520" cy="0"/>
          </a:xfrm>
          <a:prstGeom prst="line">
            <a:avLst/>
          </a:prstGeom>
          <a:noFill/>
          <a:ln w="5080">
            <a:solidFill>
              <a:srgbClr val="B8C4D3"/>
            </a:solidFill>
            <a:prstDash val="solid"/>
          </a:ln>
        </p:spPr>
      </p:sp>
      <p:sp>
        <p:nvSpPr>
          <p:cNvPr id="57" name="Shape 55"/>
          <p:cNvSpPr/>
          <p:nvPr/>
        </p:nvSpPr>
        <p:spPr>
          <a:xfrm>
            <a:off x="5086350" y="2651760"/>
            <a:ext cx="0" cy="1874520"/>
          </a:xfrm>
          <a:prstGeom prst="line">
            <a:avLst/>
          </a:prstGeom>
          <a:noFill/>
          <a:ln w="5080">
            <a:solidFill>
              <a:srgbClr val="B8C4D3"/>
            </a:solidFill>
            <a:prstDash val="solid"/>
          </a:ln>
        </p:spPr>
      </p:sp>
      <p:sp>
        <p:nvSpPr>
          <p:cNvPr id="58" name="Shape 56"/>
          <p:cNvSpPr/>
          <p:nvPr/>
        </p:nvSpPr>
        <p:spPr>
          <a:xfrm>
            <a:off x="4617720" y="3120390"/>
            <a:ext cx="1874520" cy="0"/>
          </a:xfrm>
          <a:prstGeom prst="line">
            <a:avLst/>
          </a:prstGeom>
          <a:noFill/>
          <a:ln w="5080">
            <a:solidFill>
              <a:srgbClr val="B8C4D3"/>
            </a:solidFill>
            <a:prstDash val="solid"/>
          </a:ln>
        </p:spPr>
      </p:sp>
      <p:sp>
        <p:nvSpPr>
          <p:cNvPr id="59" name="Shape 57"/>
          <p:cNvSpPr/>
          <p:nvPr/>
        </p:nvSpPr>
        <p:spPr>
          <a:xfrm>
            <a:off x="5203508" y="2651760"/>
            <a:ext cx="0" cy="1874520"/>
          </a:xfrm>
          <a:prstGeom prst="line">
            <a:avLst/>
          </a:prstGeom>
          <a:noFill/>
          <a:ln w="5080">
            <a:solidFill>
              <a:srgbClr val="B8C4D3"/>
            </a:solidFill>
            <a:prstDash val="solid"/>
          </a:ln>
        </p:spPr>
      </p:sp>
      <p:sp>
        <p:nvSpPr>
          <p:cNvPr id="60" name="Shape 58"/>
          <p:cNvSpPr/>
          <p:nvPr/>
        </p:nvSpPr>
        <p:spPr>
          <a:xfrm>
            <a:off x="4617720" y="3237548"/>
            <a:ext cx="1874520" cy="0"/>
          </a:xfrm>
          <a:prstGeom prst="line">
            <a:avLst/>
          </a:prstGeom>
          <a:noFill/>
          <a:ln w="5080">
            <a:solidFill>
              <a:srgbClr val="B8C4D3"/>
            </a:solidFill>
            <a:prstDash val="solid"/>
          </a:ln>
        </p:spPr>
      </p:sp>
      <p:sp>
        <p:nvSpPr>
          <p:cNvPr id="61" name="Shape 59"/>
          <p:cNvSpPr/>
          <p:nvPr/>
        </p:nvSpPr>
        <p:spPr>
          <a:xfrm>
            <a:off x="5320665" y="2651760"/>
            <a:ext cx="0" cy="1874520"/>
          </a:xfrm>
          <a:prstGeom prst="line">
            <a:avLst/>
          </a:prstGeom>
          <a:noFill/>
          <a:ln w="5080">
            <a:solidFill>
              <a:srgbClr val="B8C4D3"/>
            </a:solidFill>
            <a:prstDash val="solid"/>
          </a:ln>
        </p:spPr>
      </p:sp>
      <p:sp>
        <p:nvSpPr>
          <p:cNvPr id="62" name="Shape 60"/>
          <p:cNvSpPr/>
          <p:nvPr/>
        </p:nvSpPr>
        <p:spPr>
          <a:xfrm>
            <a:off x="4617720" y="3354705"/>
            <a:ext cx="1874520" cy="0"/>
          </a:xfrm>
          <a:prstGeom prst="line">
            <a:avLst/>
          </a:prstGeom>
          <a:noFill/>
          <a:ln w="5080">
            <a:solidFill>
              <a:srgbClr val="B8C4D3"/>
            </a:solidFill>
            <a:prstDash val="solid"/>
          </a:ln>
        </p:spPr>
      </p:sp>
      <p:sp>
        <p:nvSpPr>
          <p:cNvPr id="63" name="Shape 61"/>
          <p:cNvSpPr/>
          <p:nvPr/>
        </p:nvSpPr>
        <p:spPr>
          <a:xfrm>
            <a:off x="5437822" y="2651760"/>
            <a:ext cx="0" cy="1874520"/>
          </a:xfrm>
          <a:prstGeom prst="line">
            <a:avLst/>
          </a:prstGeom>
          <a:noFill/>
          <a:ln w="5080">
            <a:solidFill>
              <a:srgbClr val="B8C4D3"/>
            </a:solidFill>
            <a:prstDash val="solid"/>
          </a:ln>
        </p:spPr>
      </p:sp>
      <p:sp>
        <p:nvSpPr>
          <p:cNvPr id="64" name="Shape 62"/>
          <p:cNvSpPr/>
          <p:nvPr/>
        </p:nvSpPr>
        <p:spPr>
          <a:xfrm>
            <a:off x="4617720" y="3471863"/>
            <a:ext cx="1874520" cy="0"/>
          </a:xfrm>
          <a:prstGeom prst="line">
            <a:avLst/>
          </a:prstGeom>
          <a:noFill/>
          <a:ln w="5080">
            <a:solidFill>
              <a:srgbClr val="B8C4D3"/>
            </a:solidFill>
            <a:prstDash val="solid"/>
          </a:ln>
        </p:spPr>
      </p:sp>
      <p:sp>
        <p:nvSpPr>
          <p:cNvPr id="65" name="Shape 63"/>
          <p:cNvSpPr/>
          <p:nvPr/>
        </p:nvSpPr>
        <p:spPr>
          <a:xfrm>
            <a:off x="5554980" y="2651760"/>
            <a:ext cx="0" cy="1874520"/>
          </a:xfrm>
          <a:prstGeom prst="line">
            <a:avLst/>
          </a:prstGeom>
          <a:noFill/>
          <a:ln w="5080">
            <a:solidFill>
              <a:srgbClr val="B8C4D3"/>
            </a:solidFill>
            <a:prstDash val="solid"/>
          </a:ln>
        </p:spPr>
      </p:sp>
      <p:sp>
        <p:nvSpPr>
          <p:cNvPr id="66" name="Shape 64"/>
          <p:cNvSpPr/>
          <p:nvPr/>
        </p:nvSpPr>
        <p:spPr>
          <a:xfrm>
            <a:off x="4617720" y="3589020"/>
            <a:ext cx="1874520" cy="0"/>
          </a:xfrm>
          <a:prstGeom prst="line">
            <a:avLst/>
          </a:prstGeom>
          <a:noFill/>
          <a:ln w="5080">
            <a:solidFill>
              <a:srgbClr val="B8C4D3"/>
            </a:solidFill>
            <a:prstDash val="solid"/>
          </a:ln>
        </p:spPr>
      </p:sp>
      <p:sp>
        <p:nvSpPr>
          <p:cNvPr id="67" name="Shape 65"/>
          <p:cNvSpPr/>
          <p:nvPr/>
        </p:nvSpPr>
        <p:spPr>
          <a:xfrm>
            <a:off x="5672138" y="2651760"/>
            <a:ext cx="0" cy="1874520"/>
          </a:xfrm>
          <a:prstGeom prst="line">
            <a:avLst/>
          </a:prstGeom>
          <a:noFill/>
          <a:ln w="5080">
            <a:solidFill>
              <a:srgbClr val="B8C4D3"/>
            </a:solidFill>
            <a:prstDash val="solid"/>
          </a:ln>
        </p:spPr>
      </p:sp>
      <p:sp>
        <p:nvSpPr>
          <p:cNvPr id="68" name="Shape 66"/>
          <p:cNvSpPr/>
          <p:nvPr/>
        </p:nvSpPr>
        <p:spPr>
          <a:xfrm>
            <a:off x="4617720" y="3706177"/>
            <a:ext cx="1874520" cy="0"/>
          </a:xfrm>
          <a:prstGeom prst="line">
            <a:avLst/>
          </a:prstGeom>
          <a:noFill/>
          <a:ln w="5080">
            <a:solidFill>
              <a:srgbClr val="B8C4D3"/>
            </a:solidFill>
            <a:prstDash val="solid"/>
          </a:ln>
        </p:spPr>
      </p:sp>
      <p:sp>
        <p:nvSpPr>
          <p:cNvPr id="69" name="Shape 67"/>
          <p:cNvSpPr/>
          <p:nvPr/>
        </p:nvSpPr>
        <p:spPr>
          <a:xfrm>
            <a:off x="5789295" y="2651760"/>
            <a:ext cx="0" cy="1874520"/>
          </a:xfrm>
          <a:prstGeom prst="line">
            <a:avLst/>
          </a:prstGeom>
          <a:noFill/>
          <a:ln w="5080">
            <a:solidFill>
              <a:srgbClr val="B8C4D3"/>
            </a:solidFill>
            <a:prstDash val="solid"/>
          </a:ln>
        </p:spPr>
      </p:sp>
      <p:sp>
        <p:nvSpPr>
          <p:cNvPr id="70" name="Shape 68"/>
          <p:cNvSpPr/>
          <p:nvPr/>
        </p:nvSpPr>
        <p:spPr>
          <a:xfrm>
            <a:off x="4617720" y="3823335"/>
            <a:ext cx="1874520" cy="0"/>
          </a:xfrm>
          <a:prstGeom prst="line">
            <a:avLst/>
          </a:prstGeom>
          <a:noFill/>
          <a:ln w="5080">
            <a:solidFill>
              <a:srgbClr val="B8C4D3"/>
            </a:solidFill>
            <a:prstDash val="solid"/>
          </a:ln>
        </p:spPr>
      </p:sp>
      <p:sp>
        <p:nvSpPr>
          <p:cNvPr id="71" name="Shape 69"/>
          <p:cNvSpPr/>
          <p:nvPr/>
        </p:nvSpPr>
        <p:spPr>
          <a:xfrm>
            <a:off x="5906453" y="2651760"/>
            <a:ext cx="0" cy="1874520"/>
          </a:xfrm>
          <a:prstGeom prst="line">
            <a:avLst/>
          </a:prstGeom>
          <a:noFill/>
          <a:ln w="5080">
            <a:solidFill>
              <a:srgbClr val="B8C4D3"/>
            </a:solidFill>
            <a:prstDash val="solid"/>
          </a:ln>
        </p:spPr>
      </p:sp>
      <p:sp>
        <p:nvSpPr>
          <p:cNvPr id="72" name="Shape 70"/>
          <p:cNvSpPr/>
          <p:nvPr/>
        </p:nvSpPr>
        <p:spPr>
          <a:xfrm>
            <a:off x="4617720" y="3940492"/>
            <a:ext cx="1874520" cy="0"/>
          </a:xfrm>
          <a:prstGeom prst="line">
            <a:avLst/>
          </a:prstGeom>
          <a:noFill/>
          <a:ln w="5080">
            <a:solidFill>
              <a:srgbClr val="B8C4D3"/>
            </a:solidFill>
            <a:prstDash val="solid"/>
          </a:ln>
        </p:spPr>
      </p:sp>
      <p:sp>
        <p:nvSpPr>
          <p:cNvPr id="73" name="Shape 71"/>
          <p:cNvSpPr/>
          <p:nvPr/>
        </p:nvSpPr>
        <p:spPr>
          <a:xfrm>
            <a:off x="6023610" y="2651760"/>
            <a:ext cx="0" cy="1874520"/>
          </a:xfrm>
          <a:prstGeom prst="line">
            <a:avLst/>
          </a:prstGeom>
          <a:noFill/>
          <a:ln w="5080">
            <a:solidFill>
              <a:srgbClr val="B8C4D3"/>
            </a:solidFill>
            <a:prstDash val="solid"/>
          </a:ln>
        </p:spPr>
      </p:sp>
      <p:sp>
        <p:nvSpPr>
          <p:cNvPr id="74" name="Shape 72"/>
          <p:cNvSpPr/>
          <p:nvPr/>
        </p:nvSpPr>
        <p:spPr>
          <a:xfrm>
            <a:off x="4617720" y="4057650"/>
            <a:ext cx="1874520" cy="0"/>
          </a:xfrm>
          <a:prstGeom prst="line">
            <a:avLst/>
          </a:prstGeom>
          <a:noFill/>
          <a:ln w="5080">
            <a:solidFill>
              <a:srgbClr val="B8C4D3"/>
            </a:solidFill>
            <a:prstDash val="solid"/>
          </a:ln>
        </p:spPr>
      </p:sp>
      <p:sp>
        <p:nvSpPr>
          <p:cNvPr id="75" name="Shape 73"/>
          <p:cNvSpPr/>
          <p:nvPr/>
        </p:nvSpPr>
        <p:spPr>
          <a:xfrm>
            <a:off x="6140767" y="2651760"/>
            <a:ext cx="0" cy="1874520"/>
          </a:xfrm>
          <a:prstGeom prst="line">
            <a:avLst/>
          </a:prstGeom>
          <a:noFill/>
          <a:ln w="5080">
            <a:solidFill>
              <a:srgbClr val="B8C4D3"/>
            </a:solidFill>
            <a:prstDash val="solid"/>
          </a:ln>
        </p:spPr>
      </p:sp>
      <p:sp>
        <p:nvSpPr>
          <p:cNvPr id="76" name="Shape 74"/>
          <p:cNvSpPr/>
          <p:nvPr/>
        </p:nvSpPr>
        <p:spPr>
          <a:xfrm>
            <a:off x="4617720" y="4174808"/>
            <a:ext cx="1874520" cy="0"/>
          </a:xfrm>
          <a:prstGeom prst="line">
            <a:avLst/>
          </a:prstGeom>
          <a:noFill/>
          <a:ln w="5080">
            <a:solidFill>
              <a:srgbClr val="B8C4D3"/>
            </a:solidFill>
            <a:prstDash val="solid"/>
          </a:ln>
        </p:spPr>
      </p:sp>
      <p:sp>
        <p:nvSpPr>
          <p:cNvPr id="77" name="Shape 75"/>
          <p:cNvSpPr/>
          <p:nvPr/>
        </p:nvSpPr>
        <p:spPr>
          <a:xfrm>
            <a:off x="6257925" y="2651760"/>
            <a:ext cx="0" cy="1874520"/>
          </a:xfrm>
          <a:prstGeom prst="line">
            <a:avLst/>
          </a:prstGeom>
          <a:noFill/>
          <a:ln w="5080">
            <a:solidFill>
              <a:srgbClr val="B8C4D3"/>
            </a:solidFill>
            <a:prstDash val="solid"/>
          </a:ln>
        </p:spPr>
      </p:sp>
      <p:sp>
        <p:nvSpPr>
          <p:cNvPr id="78" name="Shape 76"/>
          <p:cNvSpPr/>
          <p:nvPr/>
        </p:nvSpPr>
        <p:spPr>
          <a:xfrm>
            <a:off x="4617720" y="4291965"/>
            <a:ext cx="1874520" cy="0"/>
          </a:xfrm>
          <a:prstGeom prst="line">
            <a:avLst/>
          </a:prstGeom>
          <a:noFill/>
          <a:ln w="5080">
            <a:solidFill>
              <a:srgbClr val="B8C4D3"/>
            </a:solidFill>
            <a:prstDash val="solid"/>
          </a:ln>
        </p:spPr>
      </p:sp>
      <p:sp>
        <p:nvSpPr>
          <p:cNvPr id="79" name="Shape 77"/>
          <p:cNvSpPr/>
          <p:nvPr/>
        </p:nvSpPr>
        <p:spPr>
          <a:xfrm>
            <a:off x="6375083" y="2651760"/>
            <a:ext cx="0" cy="1874520"/>
          </a:xfrm>
          <a:prstGeom prst="line">
            <a:avLst/>
          </a:prstGeom>
          <a:noFill/>
          <a:ln w="5080">
            <a:solidFill>
              <a:srgbClr val="B8C4D3"/>
            </a:solidFill>
            <a:prstDash val="solid"/>
          </a:ln>
        </p:spPr>
      </p:sp>
      <p:sp>
        <p:nvSpPr>
          <p:cNvPr id="80" name="Shape 78"/>
          <p:cNvSpPr/>
          <p:nvPr/>
        </p:nvSpPr>
        <p:spPr>
          <a:xfrm>
            <a:off x="4617720" y="4409122"/>
            <a:ext cx="1874520" cy="0"/>
          </a:xfrm>
          <a:prstGeom prst="line">
            <a:avLst/>
          </a:prstGeom>
          <a:noFill/>
          <a:ln w="5080">
            <a:solidFill>
              <a:srgbClr val="B8C4D3"/>
            </a:solidFill>
            <a:prstDash val="solid"/>
          </a:ln>
        </p:spPr>
      </p:sp>
      <p:sp>
        <p:nvSpPr>
          <p:cNvPr id="81" name="Shape 79"/>
          <p:cNvSpPr/>
          <p:nvPr/>
        </p:nvSpPr>
        <p:spPr>
          <a:xfrm>
            <a:off x="5437822" y="3471863"/>
            <a:ext cx="117157" cy="117157"/>
          </a:xfrm>
          <a:prstGeom prst="rect">
            <a:avLst/>
          </a:prstGeom>
          <a:solidFill>
            <a:srgbClr val="E07A2F"/>
          </a:solidFill>
          <a:ln w="12700">
            <a:solidFill>
              <a:srgbClr val="E07A2F"/>
            </a:solidFill>
            <a:prstDash val="solid"/>
          </a:ln>
        </p:spPr>
      </p:sp>
      <p:sp>
        <p:nvSpPr>
          <p:cNvPr id="82" name="Text 80"/>
          <p:cNvSpPr txBox="1"/>
          <p:nvPr/>
        </p:nvSpPr>
        <p:spPr>
          <a:xfrm>
            <a:off x="4343400" y="2148840"/>
            <a:ext cx="2423160" cy="256032"/>
          </a:xfrm>
          <a:prstGeom prst="rect">
            <a:avLst/>
          </a:prstGeom>
          <a:noFill/>
          <a:ln/>
        </p:spPr>
        <p:txBody>
          <a:bodyPr wrap="square" lIns="0" tIns="0" rIns="0" bIns="0" rtlCol="0" anchor="ctr"/>
          <a:lstStyle/>
          <a:p>
            <a:pPr algn="ctr" indent="0" marL="0">
              <a:buNone/>
            </a:pPr>
            <a:r>
              <a:rPr lang="en-US" sz="950" b="1" dirty="0">
                <a:solidFill>
                  <a:srgbClr val="E07A2F"/>
                </a:solidFill>
                <a:latin typeface="Calibri" pitchFamily="34" charset="0"/>
                <a:ea typeface="Calibri" pitchFamily="34" charset="-122"/>
                <a:cs typeface="Calibri" pitchFamily="34" charset="-120"/>
              </a:rPr>
              <a:t>TIME operator · ⅛ L = 16 × 16 cells of 80 m</a:t>
            </a:r>
            <a:endParaRPr lang="en-US" sz="950" dirty="0"/>
          </a:p>
        </p:txBody>
      </p:sp>
      <p:sp>
        <p:nvSpPr>
          <p:cNvPr id="83" name="Text 81"/>
          <p:cNvSpPr txBox="1"/>
          <p:nvPr/>
        </p:nvSpPr>
        <p:spPr>
          <a:xfrm>
            <a:off x="4251960" y="4572000"/>
            <a:ext cx="2606040" cy="64008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Time-axial self-attention: the cell attends only to itself across all dated frames (stacked sheets), each tagged with its timecode.</a:t>
            </a:r>
            <a:endParaRPr lang="en-US" sz="850" dirty="0"/>
          </a:p>
        </p:txBody>
      </p:sp>
      <p:sp>
        <p:nvSpPr>
          <p:cNvPr id="84" name="Shape 82"/>
          <p:cNvSpPr/>
          <p:nvPr/>
        </p:nvSpPr>
        <p:spPr>
          <a:xfrm>
            <a:off x="5501831" y="3407855"/>
            <a:ext cx="117157" cy="117157"/>
          </a:xfrm>
          <a:prstGeom prst="rect">
            <a:avLst/>
          </a:prstGeom>
          <a:solidFill>
            <a:srgbClr val="E07A2F">
              <a:alpha val="50000"/>
            </a:srgbClr>
          </a:solidFill>
          <a:ln w="9525">
            <a:solidFill>
              <a:srgbClr val="E07A2F"/>
            </a:solidFill>
            <a:prstDash val="solid"/>
          </a:ln>
        </p:spPr>
      </p:sp>
      <p:sp>
        <p:nvSpPr>
          <p:cNvPr id="85" name="Shape 83"/>
          <p:cNvSpPr/>
          <p:nvPr/>
        </p:nvSpPr>
        <p:spPr>
          <a:xfrm>
            <a:off x="5565838" y="3343847"/>
            <a:ext cx="117157" cy="117157"/>
          </a:xfrm>
          <a:prstGeom prst="rect">
            <a:avLst/>
          </a:prstGeom>
          <a:solidFill>
            <a:srgbClr val="E07A2F">
              <a:alpha val="50000"/>
            </a:srgbClr>
          </a:solidFill>
          <a:ln w="9525">
            <a:solidFill>
              <a:srgbClr val="E07A2F"/>
            </a:solidFill>
            <a:prstDash val="solid"/>
          </a:ln>
        </p:spPr>
      </p:sp>
      <p:sp>
        <p:nvSpPr>
          <p:cNvPr id="86" name="Shape 84"/>
          <p:cNvSpPr/>
          <p:nvPr/>
        </p:nvSpPr>
        <p:spPr>
          <a:xfrm>
            <a:off x="5629846" y="3279839"/>
            <a:ext cx="117157" cy="117157"/>
          </a:xfrm>
          <a:prstGeom prst="rect">
            <a:avLst/>
          </a:prstGeom>
          <a:solidFill>
            <a:srgbClr val="E07A2F">
              <a:alpha val="50000"/>
            </a:srgbClr>
          </a:solidFill>
          <a:ln w="9525">
            <a:solidFill>
              <a:srgbClr val="E07A2F"/>
            </a:solidFill>
            <a:prstDash val="solid"/>
          </a:ln>
        </p:spPr>
      </p:sp>
      <p:sp>
        <p:nvSpPr>
          <p:cNvPr id="87" name="Shape 85"/>
          <p:cNvSpPr/>
          <p:nvPr/>
        </p:nvSpPr>
        <p:spPr>
          <a:xfrm flipH="1">
            <a:off x="5496401" y="3338417"/>
            <a:ext cx="192024" cy="192024"/>
          </a:xfrm>
          <a:prstGeom prst="line">
            <a:avLst/>
          </a:prstGeom>
          <a:noFill/>
          <a:ln w="19050">
            <a:solidFill>
              <a:srgbClr val="E07A2F"/>
            </a:solidFill>
            <a:prstDash val="solid"/>
            <a:headEnd type="triangle"/>
            <a:tailEnd type="triangle"/>
          </a:ln>
        </p:spPr>
      </p:sp>
      <p:sp>
        <p:nvSpPr>
          <p:cNvPr id="88" name="Shape 86"/>
          <p:cNvSpPr/>
          <p:nvPr/>
        </p:nvSpPr>
        <p:spPr>
          <a:xfrm>
            <a:off x="8412480" y="2651760"/>
            <a:ext cx="1874520" cy="1874520"/>
          </a:xfrm>
          <a:prstGeom prst="rect">
            <a:avLst/>
          </a:prstGeom>
          <a:solidFill>
            <a:srgbClr val="FFFFFF"/>
          </a:solidFill>
          <a:ln w="9525">
            <a:solidFill>
              <a:srgbClr val="B8C4D3"/>
            </a:solidFill>
            <a:prstDash val="solid"/>
          </a:ln>
        </p:spPr>
      </p:sp>
      <p:sp>
        <p:nvSpPr>
          <p:cNvPr id="89" name="Shape 87"/>
          <p:cNvSpPr/>
          <p:nvPr/>
        </p:nvSpPr>
        <p:spPr>
          <a:xfrm>
            <a:off x="8441769" y="2651760"/>
            <a:ext cx="0" cy="1874520"/>
          </a:xfrm>
          <a:prstGeom prst="line">
            <a:avLst/>
          </a:prstGeom>
          <a:noFill/>
          <a:ln w="3175">
            <a:solidFill>
              <a:srgbClr val="B8C4D3"/>
            </a:solidFill>
            <a:prstDash val="solid"/>
          </a:ln>
        </p:spPr>
      </p:sp>
      <p:sp>
        <p:nvSpPr>
          <p:cNvPr id="90" name="Shape 88"/>
          <p:cNvSpPr/>
          <p:nvPr/>
        </p:nvSpPr>
        <p:spPr>
          <a:xfrm>
            <a:off x="8412480" y="2681049"/>
            <a:ext cx="1874520" cy="0"/>
          </a:xfrm>
          <a:prstGeom prst="line">
            <a:avLst/>
          </a:prstGeom>
          <a:noFill/>
          <a:ln w="3175">
            <a:solidFill>
              <a:srgbClr val="B8C4D3"/>
            </a:solidFill>
            <a:prstDash val="solid"/>
          </a:ln>
        </p:spPr>
      </p:sp>
      <p:sp>
        <p:nvSpPr>
          <p:cNvPr id="91" name="Shape 89"/>
          <p:cNvSpPr/>
          <p:nvPr/>
        </p:nvSpPr>
        <p:spPr>
          <a:xfrm>
            <a:off x="8471059" y="2651760"/>
            <a:ext cx="0" cy="1874520"/>
          </a:xfrm>
          <a:prstGeom prst="line">
            <a:avLst/>
          </a:prstGeom>
          <a:noFill/>
          <a:ln w="3175">
            <a:solidFill>
              <a:srgbClr val="B8C4D3"/>
            </a:solidFill>
            <a:prstDash val="solid"/>
          </a:ln>
        </p:spPr>
      </p:sp>
      <p:sp>
        <p:nvSpPr>
          <p:cNvPr id="92" name="Shape 90"/>
          <p:cNvSpPr/>
          <p:nvPr/>
        </p:nvSpPr>
        <p:spPr>
          <a:xfrm>
            <a:off x="8412480" y="2710339"/>
            <a:ext cx="1874520" cy="0"/>
          </a:xfrm>
          <a:prstGeom prst="line">
            <a:avLst/>
          </a:prstGeom>
          <a:noFill/>
          <a:ln w="3175">
            <a:solidFill>
              <a:srgbClr val="B8C4D3"/>
            </a:solidFill>
            <a:prstDash val="solid"/>
          </a:ln>
        </p:spPr>
      </p:sp>
      <p:sp>
        <p:nvSpPr>
          <p:cNvPr id="93" name="Shape 91"/>
          <p:cNvSpPr/>
          <p:nvPr/>
        </p:nvSpPr>
        <p:spPr>
          <a:xfrm>
            <a:off x="8500348" y="2651760"/>
            <a:ext cx="0" cy="1874520"/>
          </a:xfrm>
          <a:prstGeom prst="line">
            <a:avLst/>
          </a:prstGeom>
          <a:noFill/>
          <a:ln w="3175">
            <a:solidFill>
              <a:srgbClr val="B8C4D3"/>
            </a:solidFill>
            <a:prstDash val="solid"/>
          </a:ln>
        </p:spPr>
      </p:sp>
      <p:sp>
        <p:nvSpPr>
          <p:cNvPr id="94" name="Shape 92"/>
          <p:cNvSpPr/>
          <p:nvPr/>
        </p:nvSpPr>
        <p:spPr>
          <a:xfrm>
            <a:off x="8412480" y="2739628"/>
            <a:ext cx="1874520" cy="0"/>
          </a:xfrm>
          <a:prstGeom prst="line">
            <a:avLst/>
          </a:prstGeom>
          <a:noFill/>
          <a:ln w="3175">
            <a:solidFill>
              <a:srgbClr val="B8C4D3"/>
            </a:solidFill>
            <a:prstDash val="solid"/>
          </a:ln>
        </p:spPr>
      </p:sp>
      <p:sp>
        <p:nvSpPr>
          <p:cNvPr id="95" name="Shape 93"/>
          <p:cNvSpPr/>
          <p:nvPr/>
        </p:nvSpPr>
        <p:spPr>
          <a:xfrm>
            <a:off x="8529638" y="2651760"/>
            <a:ext cx="0" cy="1874520"/>
          </a:xfrm>
          <a:prstGeom prst="line">
            <a:avLst/>
          </a:prstGeom>
          <a:noFill/>
          <a:ln w="3175">
            <a:solidFill>
              <a:srgbClr val="B8C4D3"/>
            </a:solidFill>
            <a:prstDash val="solid"/>
          </a:ln>
        </p:spPr>
      </p:sp>
      <p:sp>
        <p:nvSpPr>
          <p:cNvPr id="96" name="Shape 94"/>
          <p:cNvSpPr/>
          <p:nvPr/>
        </p:nvSpPr>
        <p:spPr>
          <a:xfrm>
            <a:off x="8412480" y="2768917"/>
            <a:ext cx="1874520" cy="0"/>
          </a:xfrm>
          <a:prstGeom prst="line">
            <a:avLst/>
          </a:prstGeom>
          <a:noFill/>
          <a:ln w="3175">
            <a:solidFill>
              <a:srgbClr val="B8C4D3"/>
            </a:solidFill>
            <a:prstDash val="solid"/>
          </a:ln>
        </p:spPr>
      </p:sp>
      <p:sp>
        <p:nvSpPr>
          <p:cNvPr id="97" name="Shape 95"/>
          <p:cNvSpPr/>
          <p:nvPr/>
        </p:nvSpPr>
        <p:spPr>
          <a:xfrm>
            <a:off x="8558927" y="2651760"/>
            <a:ext cx="0" cy="1874520"/>
          </a:xfrm>
          <a:prstGeom prst="line">
            <a:avLst/>
          </a:prstGeom>
          <a:noFill/>
          <a:ln w="3175">
            <a:solidFill>
              <a:srgbClr val="B8C4D3"/>
            </a:solidFill>
            <a:prstDash val="solid"/>
          </a:ln>
        </p:spPr>
      </p:sp>
      <p:sp>
        <p:nvSpPr>
          <p:cNvPr id="98" name="Shape 96"/>
          <p:cNvSpPr/>
          <p:nvPr/>
        </p:nvSpPr>
        <p:spPr>
          <a:xfrm>
            <a:off x="8412480" y="2798207"/>
            <a:ext cx="1874520" cy="0"/>
          </a:xfrm>
          <a:prstGeom prst="line">
            <a:avLst/>
          </a:prstGeom>
          <a:noFill/>
          <a:ln w="3175">
            <a:solidFill>
              <a:srgbClr val="B8C4D3"/>
            </a:solidFill>
            <a:prstDash val="solid"/>
          </a:ln>
        </p:spPr>
      </p:sp>
      <p:sp>
        <p:nvSpPr>
          <p:cNvPr id="99" name="Shape 97"/>
          <p:cNvSpPr/>
          <p:nvPr/>
        </p:nvSpPr>
        <p:spPr>
          <a:xfrm>
            <a:off x="8588216" y="2651760"/>
            <a:ext cx="0" cy="1874520"/>
          </a:xfrm>
          <a:prstGeom prst="line">
            <a:avLst/>
          </a:prstGeom>
          <a:noFill/>
          <a:ln w="3175">
            <a:solidFill>
              <a:srgbClr val="B8C4D3"/>
            </a:solidFill>
            <a:prstDash val="solid"/>
          </a:ln>
        </p:spPr>
      </p:sp>
      <p:sp>
        <p:nvSpPr>
          <p:cNvPr id="100" name="Shape 98"/>
          <p:cNvSpPr/>
          <p:nvPr/>
        </p:nvSpPr>
        <p:spPr>
          <a:xfrm>
            <a:off x="8412480" y="2827496"/>
            <a:ext cx="1874520" cy="0"/>
          </a:xfrm>
          <a:prstGeom prst="line">
            <a:avLst/>
          </a:prstGeom>
          <a:noFill/>
          <a:ln w="3175">
            <a:solidFill>
              <a:srgbClr val="B8C4D3"/>
            </a:solidFill>
            <a:prstDash val="solid"/>
          </a:ln>
        </p:spPr>
      </p:sp>
      <p:sp>
        <p:nvSpPr>
          <p:cNvPr id="101" name="Shape 99"/>
          <p:cNvSpPr/>
          <p:nvPr/>
        </p:nvSpPr>
        <p:spPr>
          <a:xfrm>
            <a:off x="8617506" y="2651760"/>
            <a:ext cx="0" cy="1874520"/>
          </a:xfrm>
          <a:prstGeom prst="line">
            <a:avLst/>
          </a:prstGeom>
          <a:noFill/>
          <a:ln w="3175">
            <a:solidFill>
              <a:srgbClr val="B8C4D3"/>
            </a:solidFill>
            <a:prstDash val="solid"/>
          </a:ln>
        </p:spPr>
      </p:sp>
      <p:sp>
        <p:nvSpPr>
          <p:cNvPr id="102" name="Shape 100"/>
          <p:cNvSpPr/>
          <p:nvPr/>
        </p:nvSpPr>
        <p:spPr>
          <a:xfrm>
            <a:off x="8412480" y="2856786"/>
            <a:ext cx="1874520" cy="0"/>
          </a:xfrm>
          <a:prstGeom prst="line">
            <a:avLst/>
          </a:prstGeom>
          <a:noFill/>
          <a:ln w="3175">
            <a:solidFill>
              <a:srgbClr val="B8C4D3"/>
            </a:solidFill>
            <a:prstDash val="solid"/>
          </a:ln>
        </p:spPr>
      </p:sp>
      <p:sp>
        <p:nvSpPr>
          <p:cNvPr id="103" name="Shape 101"/>
          <p:cNvSpPr/>
          <p:nvPr/>
        </p:nvSpPr>
        <p:spPr>
          <a:xfrm>
            <a:off x="8646795" y="2651760"/>
            <a:ext cx="0" cy="1874520"/>
          </a:xfrm>
          <a:prstGeom prst="line">
            <a:avLst/>
          </a:prstGeom>
          <a:noFill/>
          <a:ln w="3175">
            <a:solidFill>
              <a:srgbClr val="B8C4D3"/>
            </a:solidFill>
            <a:prstDash val="solid"/>
          </a:ln>
        </p:spPr>
      </p:sp>
      <p:sp>
        <p:nvSpPr>
          <p:cNvPr id="104" name="Shape 102"/>
          <p:cNvSpPr/>
          <p:nvPr/>
        </p:nvSpPr>
        <p:spPr>
          <a:xfrm>
            <a:off x="8412480" y="2886075"/>
            <a:ext cx="1874520" cy="0"/>
          </a:xfrm>
          <a:prstGeom prst="line">
            <a:avLst/>
          </a:prstGeom>
          <a:noFill/>
          <a:ln w="3175">
            <a:solidFill>
              <a:srgbClr val="B8C4D3"/>
            </a:solidFill>
            <a:prstDash val="solid"/>
          </a:ln>
        </p:spPr>
      </p:sp>
      <p:sp>
        <p:nvSpPr>
          <p:cNvPr id="105" name="Shape 103"/>
          <p:cNvSpPr/>
          <p:nvPr/>
        </p:nvSpPr>
        <p:spPr>
          <a:xfrm>
            <a:off x="8676084" y="2651760"/>
            <a:ext cx="0" cy="1874520"/>
          </a:xfrm>
          <a:prstGeom prst="line">
            <a:avLst/>
          </a:prstGeom>
          <a:noFill/>
          <a:ln w="3175">
            <a:solidFill>
              <a:srgbClr val="B8C4D3"/>
            </a:solidFill>
            <a:prstDash val="solid"/>
          </a:ln>
        </p:spPr>
      </p:sp>
      <p:sp>
        <p:nvSpPr>
          <p:cNvPr id="106" name="Shape 104"/>
          <p:cNvSpPr/>
          <p:nvPr/>
        </p:nvSpPr>
        <p:spPr>
          <a:xfrm>
            <a:off x="8412480" y="2915364"/>
            <a:ext cx="1874520" cy="0"/>
          </a:xfrm>
          <a:prstGeom prst="line">
            <a:avLst/>
          </a:prstGeom>
          <a:noFill/>
          <a:ln w="3175">
            <a:solidFill>
              <a:srgbClr val="B8C4D3"/>
            </a:solidFill>
            <a:prstDash val="solid"/>
          </a:ln>
        </p:spPr>
      </p:sp>
      <p:sp>
        <p:nvSpPr>
          <p:cNvPr id="107" name="Shape 105"/>
          <p:cNvSpPr/>
          <p:nvPr/>
        </p:nvSpPr>
        <p:spPr>
          <a:xfrm>
            <a:off x="8705374" y="2651760"/>
            <a:ext cx="0" cy="1874520"/>
          </a:xfrm>
          <a:prstGeom prst="line">
            <a:avLst/>
          </a:prstGeom>
          <a:noFill/>
          <a:ln w="3175">
            <a:solidFill>
              <a:srgbClr val="B8C4D3"/>
            </a:solidFill>
            <a:prstDash val="solid"/>
          </a:ln>
        </p:spPr>
      </p:sp>
      <p:sp>
        <p:nvSpPr>
          <p:cNvPr id="108" name="Shape 106"/>
          <p:cNvSpPr/>
          <p:nvPr/>
        </p:nvSpPr>
        <p:spPr>
          <a:xfrm>
            <a:off x="8412480" y="2944654"/>
            <a:ext cx="1874520" cy="0"/>
          </a:xfrm>
          <a:prstGeom prst="line">
            <a:avLst/>
          </a:prstGeom>
          <a:noFill/>
          <a:ln w="3175">
            <a:solidFill>
              <a:srgbClr val="B8C4D3"/>
            </a:solidFill>
            <a:prstDash val="solid"/>
          </a:ln>
        </p:spPr>
      </p:sp>
      <p:sp>
        <p:nvSpPr>
          <p:cNvPr id="109" name="Shape 107"/>
          <p:cNvSpPr/>
          <p:nvPr/>
        </p:nvSpPr>
        <p:spPr>
          <a:xfrm>
            <a:off x="8734663" y="2651760"/>
            <a:ext cx="0" cy="1874520"/>
          </a:xfrm>
          <a:prstGeom prst="line">
            <a:avLst/>
          </a:prstGeom>
          <a:noFill/>
          <a:ln w="3175">
            <a:solidFill>
              <a:srgbClr val="B8C4D3"/>
            </a:solidFill>
            <a:prstDash val="solid"/>
          </a:ln>
        </p:spPr>
      </p:sp>
      <p:sp>
        <p:nvSpPr>
          <p:cNvPr id="110" name="Shape 108"/>
          <p:cNvSpPr/>
          <p:nvPr/>
        </p:nvSpPr>
        <p:spPr>
          <a:xfrm>
            <a:off x="8412480" y="2973943"/>
            <a:ext cx="1874520" cy="0"/>
          </a:xfrm>
          <a:prstGeom prst="line">
            <a:avLst/>
          </a:prstGeom>
          <a:noFill/>
          <a:ln w="3175">
            <a:solidFill>
              <a:srgbClr val="B8C4D3"/>
            </a:solidFill>
            <a:prstDash val="solid"/>
          </a:ln>
        </p:spPr>
      </p:sp>
      <p:sp>
        <p:nvSpPr>
          <p:cNvPr id="111" name="Shape 109"/>
          <p:cNvSpPr/>
          <p:nvPr/>
        </p:nvSpPr>
        <p:spPr>
          <a:xfrm>
            <a:off x="8763953" y="2651760"/>
            <a:ext cx="0" cy="1874520"/>
          </a:xfrm>
          <a:prstGeom prst="line">
            <a:avLst/>
          </a:prstGeom>
          <a:noFill/>
          <a:ln w="3175">
            <a:solidFill>
              <a:srgbClr val="B8C4D3"/>
            </a:solidFill>
            <a:prstDash val="solid"/>
          </a:ln>
        </p:spPr>
      </p:sp>
      <p:sp>
        <p:nvSpPr>
          <p:cNvPr id="112" name="Shape 110"/>
          <p:cNvSpPr/>
          <p:nvPr/>
        </p:nvSpPr>
        <p:spPr>
          <a:xfrm>
            <a:off x="8412480" y="3003233"/>
            <a:ext cx="1874520" cy="0"/>
          </a:xfrm>
          <a:prstGeom prst="line">
            <a:avLst/>
          </a:prstGeom>
          <a:noFill/>
          <a:ln w="3175">
            <a:solidFill>
              <a:srgbClr val="B8C4D3"/>
            </a:solidFill>
            <a:prstDash val="solid"/>
          </a:ln>
        </p:spPr>
      </p:sp>
      <p:sp>
        <p:nvSpPr>
          <p:cNvPr id="113" name="Shape 111"/>
          <p:cNvSpPr/>
          <p:nvPr/>
        </p:nvSpPr>
        <p:spPr>
          <a:xfrm>
            <a:off x="8793242" y="2651760"/>
            <a:ext cx="0" cy="1874520"/>
          </a:xfrm>
          <a:prstGeom prst="line">
            <a:avLst/>
          </a:prstGeom>
          <a:noFill/>
          <a:ln w="3175">
            <a:solidFill>
              <a:srgbClr val="B8C4D3"/>
            </a:solidFill>
            <a:prstDash val="solid"/>
          </a:ln>
        </p:spPr>
      </p:sp>
      <p:sp>
        <p:nvSpPr>
          <p:cNvPr id="114" name="Shape 112"/>
          <p:cNvSpPr/>
          <p:nvPr/>
        </p:nvSpPr>
        <p:spPr>
          <a:xfrm>
            <a:off x="8412480" y="3032522"/>
            <a:ext cx="1874520" cy="0"/>
          </a:xfrm>
          <a:prstGeom prst="line">
            <a:avLst/>
          </a:prstGeom>
          <a:noFill/>
          <a:ln w="3175">
            <a:solidFill>
              <a:srgbClr val="B8C4D3"/>
            </a:solidFill>
            <a:prstDash val="solid"/>
          </a:ln>
        </p:spPr>
      </p:sp>
      <p:sp>
        <p:nvSpPr>
          <p:cNvPr id="115" name="Shape 113"/>
          <p:cNvSpPr/>
          <p:nvPr/>
        </p:nvSpPr>
        <p:spPr>
          <a:xfrm>
            <a:off x="8822531" y="2651760"/>
            <a:ext cx="0" cy="1874520"/>
          </a:xfrm>
          <a:prstGeom prst="line">
            <a:avLst/>
          </a:prstGeom>
          <a:noFill/>
          <a:ln w="3175">
            <a:solidFill>
              <a:srgbClr val="B8C4D3"/>
            </a:solidFill>
            <a:prstDash val="solid"/>
          </a:ln>
        </p:spPr>
      </p:sp>
      <p:sp>
        <p:nvSpPr>
          <p:cNvPr id="116" name="Shape 114"/>
          <p:cNvSpPr/>
          <p:nvPr/>
        </p:nvSpPr>
        <p:spPr>
          <a:xfrm>
            <a:off x="8412480" y="3061811"/>
            <a:ext cx="1874520" cy="0"/>
          </a:xfrm>
          <a:prstGeom prst="line">
            <a:avLst/>
          </a:prstGeom>
          <a:noFill/>
          <a:ln w="3175">
            <a:solidFill>
              <a:srgbClr val="B8C4D3"/>
            </a:solidFill>
            <a:prstDash val="solid"/>
          </a:ln>
        </p:spPr>
      </p:sp>
      <p:sp>
        <p:nvSpPr>
          <p:cNvPr id="117" name="Shape 115"/>
          <p:cNvSpPr/>
          <p:nvPr/>
        </p:nvSpPr>
        <p:spPr>
          <a:xfrm>
            <a:off x="8851821" y="2651760"/>
            <a:ext cx="0" cy="1874520"/>
          </a:xfrm>
          <a:prstGeom prst="line">
            <a:avLst/>
          </a:prstGeom>
          <a:noFill/>
          <a:ln w="3175">
            <a:solidFill>
              <a:srgbClr val="B8C4D3"/>
            </a:solidFill>
            <a:prstDash val="solid"/>
          </a:ln>
        </p:spPr>
      </p:sp>
      <p:sp>
        <p:nvSpPr>
          <p:cNvPr id="118" name="Shape 116"/>
          <p:cNvSpPr/>
          <p:nvPr/>
        </p:nvSpPr>
        <p:spPr>
          <a:xfrm>
            <a:off x="8412480" y="3091101"/>
            <a:ext cx="1874520" cy="0"/>
          </a:xfrm>
          <a:prstGeom prst="line">
            <a:avLst/>
          </a:prstGeom>
          <a:noFill/>
          <a:ln w="3175">
            <a:solidFill>
              <a:srgbClr val="B8C4D3"/>
            </a:solidFill>
            <a:prstDash val="solid"/>
          </a:ln>
        </p:spPr>
      </p:sp>
      <p:sp>
        <p:nvSpPr>
          <p:cNvPr id="119" name="Shape 117"/>
          <p:cNvSpPr/>
          <p:nvPr/>
        </p:nvSpPr>
        <p:spPr>
          <a:xfrm>
            <a:off x="8881110" y="2651760"/>
            <a:ext cx="0" cy="1874520"/>
          </a:xfrm>
          <a:prstGeom prst="line">
            <a:avLst/>
          </a:prstGeom>
          <a:noFill/>
          <a:ln w="3175">
            <a:solidFill>
              <a:srgbClr val="B8C4D3"/>
            </a:solidFill>
            <a:prstDash val="solid"/>
          </a:ln>
        </p:spPr>
      </p:sp>
      <p:sp>
        <p:nvSpPr>
          <p:cNvPr id="120" name="Shape 118"/>
          <p:cNvSpPr/>
          <p:nvPr/>
        </p:nvSpPr>
        <p:spPr>
          <a:xfrm>
            <a:off x="8412480" y="3120390"/>
            <a:ext cx="1874520" cy="0"/>
          </a:xfrm>
          <a:prstGeom prst="line">
            <a:avLst/>
          </a:prstGeom>
          <a:noFill/>
          <a:ln w="3175">
            <a:solidFill>
              <a:srgbClr val="B8C4D3"/>
            </a:solidFill>
            <a:prstDash val="solid"/>
          </a:ln>
        </p:spPr>
      </p:sp>
      <p:sp>
        <p:nvSpPr>
          <p:cNvPr id="121" name="Shape 119"/>
          <p:cNvSpPr/>
          <p:nvPr/>
        </p:nvSpPr>
        <p:spPr>
          <a:xfrm>
            <a:off x="8910399" y="2651760"/>
            <a:ext cx="0" cy="1874520"/>
          </a:xfrm>
          <a:prstGeom prst="line">
            <a:avLst/>
          </a:prstGeom>
          <a:noFill/>
          <a:ln w="3175">
            <a:solidFill>
              <a:srgbClr val="B8C4D3"/>
            </a:solidFill>
            <a:prstDash val="solid"/>
          </a:ln>
        </p:spPr>
      </p:sp>
      <p:sp>
        <p:nvSpPr>
          <p:cNvPr id="122" name="Shape 120"/>
          <p:cNvSpPr/>
          <p:nvPr/>
        </p:nvSpPr>
        <p:spPr>
          <a:xfrm>
            <a:off x="8412480" y="3149679"/>
            <a:ext cx="1874520" cy="0"/>
          </a:xfrm>
          <a:prstGeom prst="line">
            <a:avLst/>
          </a:prstGeom>
          <a:noFill/>
          <a:ln w="3175">
            <a:solidFill>
              <a:srgbClr val="B8C4D3"/>
            </a:solidFill>
            <a:prstDash val="solid"/>
          </a:ln>
        </p:spPr>
      </p:sp>
      <p:sp>
        <p:nvSpPr>
          <p:cNvPr id="123" name="Shape 121"/>
          <p:cNvSpPr/>
          <p:nvPr/>
        </p:nvSpPr>
        <p:spPr>
          <a:xfrm>
            <a:off x="8939689" y="2651760"/>
            <a:ext cx="0" cy="1874520"/>
          </a:xfrm>
          <a:prstGeom prst="line">
            <a:avLst/>
          </a:prstGeom>
          <a:noFill/>
          <a:ln w="3175">
            <a:solidFill>
              <a:srgbClr val="B8C4D3"/>
            </a:solidFill>
            <a:prstDash val="solid"/>
          </a:ln>
        </p:spPr>
      </p:sp>
      <p:sp>
        <p:nvSpPr>
          <p:cNvPr id="124" name="Shape 122"/>
          <p:cNvSpPr/>
          <p:nvPr/>
        </p:nvSpPr>
        <p:spPr>
          <a:xfrm>
            <a:off x="8412480" y="3178969"/>
            <a:ext cx="1874520" cy="0"/>
          </a:xfrm>
          <a:prstGeom prst="line">
            <a:avLst/>
          </a:prstGeom>
          <a:noFill/>
          <a:ln w="3175">
            <a:solidFill>
              <a:srgbClr val="B8C4D3"/>
            </a:solidFill>
            <a:prstDash val="solid"/>
          </a:ln>
        </p:spPr>
      </p:sp>
      <p:sp>
        <p:nvSpPr>
          <p:cNvPr id="125" name="Shape 123"/>
          <p:cNvSpPr/>
          <p:nvPr/>
        </p:nvSpPr>
        <p:spPr>
          <a:xfrm>
            <a:off x="8968978" y="2651760"/>
            <a:ext cx="0" cy="1874520"/>
          </a:xfrm>
          <a:prstGeom prst="line">
            <a:avLst/>
          </a:prstGeom>
          <a:noFill/>
          <a:ln w="3175">
            <a:solidFill>
              <a:srgbClr val="B8C4D3"/>
            </a:solidFill>
            <a:prstDash val="solid"/>
          </a:ln>
        </p:spPr>
      </p:sp>
      <p:sp>
        <p:nvSpPr>
          <p:cNvPr id="126" name="Shape 124"/>
          <p:cNvSpPr/>
          <p:nvPr/>
        </p:nvSpPr>
        <p:spPr>
          <a:xfrm>
            <a:off x="8412480" y="3208258"/>
            <a:ext cx="1874520" cy="0"/>
          </a:xfrm>
          <a:prstGeom prst="line">
            <a:avLst/>
          </a:prstGeom>
          <a:noFill/>
          <a:ln w="3175">
            <a:solidFill>
              <a:srgbClr val="B8C4D3"/>
            </a:solidFill>
            <a:prstDash val="solid"/>
          </a:ln>
        </p:spPr>
      </p:sp>
      <p:sp>
        <p:nvSpPr>
          <p:cNvPr id="127" name="Shape 125"/>
          <p:cNvSpPr/>
          <p:nvPr/>
        </p:nvSpPr>
        <p:spPr>
          <a:xfrm>
            <a:off x="8998268" y="2651760"/>
            <a:ext cx="0" cy="1874520"/>
          </a:xfrm>
          <a:prstGeom prst="line">
            <a:avLst/>
          </a:prstGeom>
          <a:noFill/>
          <a:ln w="3175">
            <a:solidFill>
              <a:srgbClr val="B8C4D3"/>
            </a:solidFill>
            <a:prstDash val="solid"/>
          </a:ln>
        </p:spPr>
      </p:sp>
      <p:sp>
        <p:nvSpPr>
          <p:cNvPr id="128" name="Shape 126"/>
          <p:cNvSpPr/>
          <p:nvPr/>
        </p:nvSpPr>
        <p:spPr>
          <a:xfrm>
            <a:off x="8412480" y="3237548"/>
            <a:ext cx="1874520" cy="0"/>
          </a:xfrm>
          <a:prstGeom prst="line">
            <a:avLst/>
          </a:prstGeom>
          <a:noFill/>
          <a:ln w="3175">
            <a:solidFill>
              <a:srgbClr val="B8C4D3"/>
            </a:solidFill>
            <a:prstDash val="solid"/>
          </a:ln>
        </p:spPr>
      </p:sp>
      <p:sp>
        <p:nvSpPr>
          <p:cNvPr id="129" name="Shape 127"/>
          <p:cNvSpPr/>
          <p:nvPr/>
        </p:nvSpPr>
        <p:spPr>
          <a:xfrm>
            <a:off x="9027557" y="2651760"/>
            <a:ext cx="0" cy="1874520"/>
          </a:xfrm>
          <a:prstGeom prst="line">
            <a:avLst/>
          </a:prstGeom>
          <a:noFill/>
          <a:ln w="3175">
            <a:solidFill>
              <a:srgbClr val="B8C4D3"/>
            </a:solidFill>
            <a:prstDash val="solid"/>
          </a:ln>
        </p:spPr>
      </p:sp>
      <p:sp>
        <p:nvSpPr>
          <p:cNvPr id="130" name="Shape 128"/>
          <p:cNvSpPr/>
          <p:nvPr/>
        </p:nvSpPr>
        <p:spPr>
          <a:xfrm>
            <a:off x="8412480" y="3266837"/>
            <a:ext cx="1874520" cy="0"/>
          </a:xfrm>
          <a:prstGeom prst="line">
            <a:avLst/>
          </a:prstGeom>
          <a:noFill/>
          <a:ln w="3175">
            <a:solidFill>
              <a:srgbClr val="B8C4D3"/>
            </a:solidFill>
            <a:prstDash val="solid"/>
          </a:ln>
        </p:spPr>
      </p:sp>
      <p:sp>
        <p:nvSpPr>
          <p:cNvPr id="131" name="Shape 129"/>
          <p:cNvSpPr/>
          <p:nvPr/>
        </p:nvSpPr>
        <p:spPr>
          <a:xfrm>
            <a:off x="9056846" y="2651760"/>
            <a:ext cx="0" cy="1874520"/>
          </a:xfrm>
          <a:prstGeom prst="line">
            <a:avLst/>
          </a:prstGeom>
          <a:noFill/>
          <a:ln w="3175">
            <a:solidFill>
              <a:srgbClr val="B8C4D3"/>
            </a:solidFill>
            <a:prstDash val="solid"/>
          </a:ln>
        </p:spPr>
      </p:sp>
      <p:sp>
        <p:nvSpPr>
          <p:cNvPr id="132" name="Shape 130"/>
          <p:cNvSpPr/>
          <p:nvPr/>
        </p:nvSpPr>
        <p:spPr>
          <a:xfrm>
            <a:off x="8412480" y="3296126"/>
            <a:ext cx="1874520" cy="0"/>
          </a:xfrm>
          <a:prstGeom prst="line">
            <a:avLst/>
          </a:prstGeom>
          <a:noFill/>
          <a:ln w="3175">
            <a:solidFill>
              <a:srgbClr val="B8C4D3"/>
            </a:solidFill>
            <a:prstDash val="solid"/>
          </a:ln>
        </p:spPr>
      </p:sp>
      <p:sp>
        <p:nvSpPr>
          <p:cNvPr id="133" name="Shape 131"/>
          <p:cNvSpPr/>
          <p:nvPr/>
        </p:nvSpPr>
        <p:spPr>
          <a:xfrm>
            <a:off x="9086136" y="2651760"/>
            <a:ext cx="0" cy="1874520"/>
          </a:xfrm>
          <a:prstGeom prst="line">
            <a:avLst/>
          </a:prstGeom>
          <a:noFill/>
          <a:ln w="3175">
            <a:solidFill>
              <a:srgbClr val="B8C4D3"/>
            </a:solidFill>
            <a:prstDash val="solid"/>
          </a:ln>
        </p:spPr>
      </p:sp>
      <p:sp>
        <p:nvSpPr>
          <p:cNvPr id="134" name="Shape 132"/>
          <p:cNvSpPr/>
          <p:nvPr/>
        </p:nvSpPr>
        <p:spPr>
          <a:xfrm>
            <a:off x="8412480" y="3325416"/>
            <a:ext cx="1874520" cy="0"/>
          </a:xfrm>
          <a:prstGeom prst="line">
            <a:avLst/>
          </a:prstGeom>
          <a:noFill/>
          <a:ln w="3175">
            <a:solidFill>
              <a:srgbClr val="B8C4D3"/>
            </a:solidFill>
            <a:prstDash val="solid"/>
          </a:ln>
        </p:spPr>
      </p:sp>
      <p:sp>
        <p:nvSpPr>
          <p:cNvPr id="135" name="Shape 133"/>
          <p:cNvSpPr/>
          <p:nvPr/>
        </p:nvSpPr>
        <p:spPr>
          <a:xfrm>
            <a:off x="9115425" y="2651760"/>
            <a:ext cx="0" cy="1874520"/>
          </a:xfrm>
          <a:prstGeom prst="line">
            <a:avLst/>
          </a:prstGeom>
          <a:noFill/>
          <a:ln w="3175">
            <a:solidFill>
              <a:srgbClr val="B8C4D3"/>
            </a:solidFill>
            <a:prstDash val="solid"/>
          </a:ln>
        </p:spPr>
      </p:sp>
      <p:sp>
        <p:nvSpPr>
          <p:cNvPr id="136" name="Shape 134"/>
          <p:cNvSpPr/>
          <p:nvPr/>
        </p:nvSpPr>
        <p:spPr>
          <a:xfrm>
            <a:off x="8412480" y="3354705"/>
            <a:ext cx="1874520" cy="0"/>
          </a:xfrm>
          <a:prstGeom prst="line">
            <a:avLst/>
          </a:prstGeom>
          <a:noFill/>
          <a:ln w="3175">
            <a:solidFill>
              <a:srgbClr val="B8C4D3"/>
            </a:solidFill>
            <a:prstDash val="solid"/>
          </a:ln>
        </p:spPr>
      </p:sp>
      <p:sp>
        <p:nvSpPr>
          <p:cNvPr id="137" name="Shape 135"/>
          <p:cNvSpPr/>
          <p:nvPr/>
        </p:nvSpPr>
        <p:spPr>
          <a:xfrm>
            <a:off x="9144714" y="2651760"/>
            <a:ext cx="0" cy="1874520"/>
          </a:xfrm>
          <a:prstGeom prst="line">
            <a:avLst/>
          </a:prstGeom>
          <a:noFill/>
          <a:ln w="3175">
            <a:solidFill>
              <a:srgbClr val="B8C4D3"/>
            </a:solidFill>
            <a:prstDash val="solid"/>
          </a:ln>
        </p:spPr>
      </p:sp>
      <p:sp>
        <p:nvSpPr>
          <p:cNvPr id="138" name="Shape 136"/>
          <p:cNvSpPr/>
          <p:nvPr/>
        </p:nvSpPr>
        <p:spPr>
          <a:xfrm>
            <a:off x="8412480" y="3383994"/>
            <a:ext cx="1874520" cy="0"/>
          </a:xfrm>
          <a:prstGeom prst="line">
            <a:avLst/>
          </a:prstGeom>
          <a:noFill/>
          <a:ln w="3175">
            <a:solidFill>
              <a:srgbClr val="B8C4D3"/>
            </a:solidFill>
            <a:prstDash val="solid"/>
          </a:ln>
        </p:spPr>
      </p:sp>
      <p:sp>
        <p:nvSpPr>
          <p:cNvPr id="139" name="Shape 137"/>
          <p:cNvSpPr/>
          <p:nvPr/>
        </p:nvSpPr>
        <p:spPr>
          <a:xfrm>
            <a:off x="9174004" y="2651760"/>
            <a:ext cx="0" cy="1874520"/>
          </a:xfrm>
          <a:prstGeom prst="line">
            <a:avLst/>
          </a:prstGeom>
          <a:noFill/>
          <a:ln w="3175">
            <a:solidFill>
              <a:srgbClr val="B8C4D3"/>
            </a:solidFill>
            <a:prstDash val="solid"/>
          </a:ln>
        </p:spPr>
      </p:sp>
      <p:sp>
        <p:nvSpPr>
          <p:cNvPr id="140" name="Shape 138"/>
          <p:cNvSpPr/>
          <p:nvPr/>
        </p:nvSpPr>
        <p:spPr>
          <a:xfrm>
            <a:off x="8412480" y="3413284"/>
            <a:ext cx="1874520" cy="0"/>
          </a:xfrm>
          <a:prstGeom prst="line">
            <a:avLst/>
          </a:prstGeom>
          <a:noFill/>
          <a:ln w="3175">
            <a:solidFill>
              <a:srgbClr val="B8C4D3"/>
            </a:solidFill>
            <a:prstDash val="solid"/>
          </a:ln>
        </p:spPr>
      </p:sp>
      <p:sp>
        <p:nvSpPr>
          <p:cNvPr id="141" name="Shape 139"/>
          <p:cNvSpPr/>
          <p:nvPr/>
        </p:nvSpPr>
        <p:spPr>
          <a:xfrm>
            <a:off x="9203293" y="2651760"/>
            <a:ext cx="0" cy="1874520"/>
          </a:xfrm>
          <a:prstGeom prst="line">
            <a:avLst/>
          </a:prstGeom>
          <a:noFill/>
          <a:ln w="3175">
            <a:solidFill>
              <a:srgbClr val="B8C4D3"/>
            </a:solidFill>
            <a:prstDash val="solid"/>
          </a:ln>
        </p:spPr>
      </p:sp>
      <p:sp>
        <p:nvSpPr>
          <p:cNvPr id="142" name="Shape 140"/>
          <p:cNvSpPr/>
          <p:nvPr/>
        </p:nvSpPr>
        <p:spPr>
          <a:xfrm>
            <a:off x="8412480" y="3442573"/>
            <a:ext cx="1874520" cy="0"/>
          </a:xfrm>
          <a:prstGeom prst="line">
            <a:avLst/>
          </a:prstGeom>
          <a:noFill/>
          <a:ln w="3175">
            <a:solidFill>
              <a:srgbClr val="B8C4D3"/>
            </a:solidFill>
            <a:prstDash val="solid"/>
          </a:ln>
        </p:spPr>
      </p:sp>
      <p:sp>
        <p:nvSpPr>
          <p:cNvPr id="143" name="Shape 141"/>
          <p:cNvSpPr/>
          <p:nvPr/>
        </p:nvSpPr>
        <p:spPr>
          <a:xfrm>
            <a:off x="9232582" y="2651760"/>
            <a:ext cx="0" cy="1874520"/>
          </a:xfrm>
          <a:prstGeom prst="line">
            <a:avLst/>
          </a:prstGeom>
          <a:noFill/>
          <a:ln w="3175">
            <a:solidFill>
              <a:srgbClr val="B8C4D3"/>
            </a:solidFill>
            <a:prstDash val="solid"/>
          </a:ln>
        </p:spPr>
      </p:sp>
      <p:sp>
        <p:nvSpPr>
          <p:cNvPr id="144" name="Shape 142"/>
          <p:cNvSpPr/>
          <p:nvPr/>
        </p:nvSpPr>
        <p:spPr>
          <a:xfrm>
            <a:off x="8412480" y="3471863"/>
            <a:ext cx="1874520" cy="0"/>
          </a:xfrm>
          <a:prstGeom prst="line">
            <a:avLst/>
          </a:prstGeom>
          <a:noFill/>
          <a:ln w="3175">
            <a:solidFill>
              <a:srgbClr val="B8C4D3"/>
            </a:solidFill>
            <a:prstDash val="solid"/>
          </a:ln>
        </p:spPr>
      </p:sp>
      <p:sp>
        <p:nvSpPr>
          <p:cNvPr id="145" name="Shape 143"/>
          <p:cNvSpPr/>
          <p:nvPr/>
        </p:nvSpPr>
        <p:spPr>
          <a:xfrm>
            <a:off x="9261872" y="2651760"/>
            <a:ext cx="0" cy="1874520"/>
          </a:xfrm>
          <a:prstGeom prst="line">
            <a:avLst/>
          </a:prstGeom>
          <a:noFill/>
          <a:ln w="3175">
            <a:solidFill>
              <a:srgbClr val="B8C4D3"/>
            </a:solidFill>
            <a:prstDash val="solid"/>
          </a:ln>
        </p:spPr>
      </p:sp>
      <p:sp>
        <p:nvSpPr>
          <p:cNvPr id="146" name="Shape 144"/>
          <p:cNvSpPr/>
          <p:nvPr/>
        </p:nvSpPr>
        <p:spPr>
          <a:xfrm>
            <a:off x="8412480" y="3501152"/>
            <a:ext cx="1874520" cy="0"/>
          </a:xfrm>
          <a:prstGeom prst="line">
            <a:avLst/>
          </a:prstGeom>
          <a:noFill/>
          <a:ln w="3175">
            <a:solidFill>
              <a:srgbClr val="B8C4D3"/>
            </a:solidFill>
            <a:prstDash val="solid"/>
          </a:ln>
        </p:spPr>
      </p:sp>
      <p:sp>
        <p:nvSpPr>
          <p:cNvPr id="147" name="Shape 145"/>
          <p:cNvSpPr/>
          <p:nvPr/>
        </p:nvSpPr>
        <p:spPr>
          <a:xfrm>
            <a:off x="9291161" y="2651760"/>
            <a:ext cx="0" cy="1874520"/>
          </a:xfrm>
          <a:prstGeom prst="line">
            <a:avLst/>
          </a:prstGeom>
          <a:noFill/>
          <a:ln w="3175">
            <a:solidFill>
              <a:srgbClr val="B8C4D3"/>
            </a:solidFill>
            <a:prstDash val="solid"/>
          </a:ln>
        </p:spPr>
      </p:sp>
      <p:sp>
        <p:nvSpPr>
          <p:cNvPr id="148" name="Shape 146"/>
          <p:cNvSpPr/>
          <p:nvPr/>
        </p:nvSpPr>
        <p:spPr>
          <a:xfrm>
            <a:off x="8412480" y="3530441"/>
            <a:ext cx="1874520" cy="0"/>
          </a:xfrm>
          <a:prstGeom prst="line">
            <a:avLst/>
          </a:prstGeom>
          <a:noFill/>
          <a:ln w="3175">
            <a:solidFill>
              <a:srgbClr val="B8C4D3"/>
            </a:solidFill>
            <a:prstDash val="solid"/>
          </a:ln>
        </p:spPr>
      </p:sp>
      <p:sp>
        <p:nvSpPr>
          <p:cNvPr id="149" name="Shape 147"/>
          <p:cNvSpPr/>
          <p:nvPr/>
        </p:nvSpPr>
        <p:spPr>
          <a:xfrm>
            <a:off x="9320451" y="2651760"/>
            <a:ext cx="0" cy="1874520"/>
          </a:xfrm>
          <a:prstGeom prst="line">
            <a:avLst/>
          </a:prstGeom>
          <a:noFill/>
          <a:ln w="3175">
            <a:solidFill>
              <a:srgbClr val="B8C4D3"/>
            </a:solidFill>
            <a:prstDash val="solid"/>
          </a:ln>
        </p:spPr>
      </p:sp>
      <p:sp>
        <p:nvSpPr>
          <p:cNvPr id="150" name="Shape 148"/>
          <p:cNvSpPr/>
          <p:nvPr/>
        </p:nvSpPr>
        <p:spPr>
          <a:xfrm>
            <a:off x="8412480" y="3559731"/>
            <a:ext cx="1874520" cy="0"/>
          </a:xfrm>
          <a:prstGeom prst="line">
            <a:avLst/>
          </a:prstGeom>
          <a:noFill/>
          <a:ln w="3175">
            <a:solidFill>
              <a:srgbClr val="B8C4D3"/>
            </a:solidFill>
            <a:prstDash val="solid"/>
          </a:ln>
        </p:spPr>
      </p:sp>
      <p:sp>
        <p:nvSpPr>
          <p:cNvPr id="151" name="Shape 149"/>
          <p:cNvSpPr/>
          <p:nvPr/>
        </p:nvSpPr>
        <p:spPr>
          <a:xfrm>
            <a:off x="9349740" y="2651760"/>
            <a:ext cx="0" cy="1874520"/>
          </a:xfrm>
          <a:prstGeom prst="line">
            <a:avLst/>
          </a:prstGeom>
          <a:noFill/>
          <a:ln w="3175">
            <a:solidFill>
              <a:srgbClr val="B8C4D3"/>
            </a:solidFill>
            <a:prstDash val="solid"/>
          </a:ln>
        </p:spPr>
      </p:sp>
      <p:sp>
        <p:nvSpPr>
          <p:cNvPr id="152" name="Shape 150"/>
          <p:cNvSpPr/>
          <p:nvPr/>
        </p:nvSpPr>
        <p:spPr>
          <a:xfrm>
            <a:off x="8412480" y="3589020"/>
            <a:ext cx="1874520" cy="0"/>
          </a:xfrm>
          <a:prstGeom prst="line">
            <a:avLst/>
          </a:prstGeom>
          <a:noFill/>
          <a:ln w="3175">
            <a:solidFill>
              <a:srgbClr val="B8C4D3"/>
            </a:solidFill>
            <a:prstDash val="solid"/>
          </a:ln>
        </p:spPr>
      </p:sp>
      <p:sp>
        <p:nvSpPr>
          <p:cNvPr id="153" name="Shape 151"/>
          <p:cNvSpPr/>
          <p:nvPr/>
        </p:nvSpPr>
        <p:spPr>
          <a:xfrm>
            <a:off x="9379029" y="2651760"/>
            <a:ext cx="0" cy="1874520"/>
          </a:xfrm>
          <a:prstGeom prst="line">
            <a:avLst/>
          </a:prstGeom>
          <a:noFill/>
          <a:ln w="3175">
            <a:solidFill>
              <a:srgbClr val="B8C4D3"/>
            </a:solidFill>
            <a:prstDash val="solid"/>
          </a:ln>
        </p:spPr>
      </p:sp>
      <p:sp>
        <p:nvSpPr>
          <p:cNvPr id="154" name="Shape 152"/>
          <p:cNvSpPr/>
          <p:nvPr/>
        </p:nvSpPr>
        <p:spPr>
          <a:xfrm>
            <a:off x="8412480" y="3618309"/>
            <a:ext cx="1874520" cy="0"/>
          </a:xfrm>
          <a:prstGeom prst="line">
            <a:avLst/>
          </a:prstGeom>
          <a:noFill/>
          <a:ln w="3175">
            <a:solidFill>
              <a:srgbClr val="B8C4D3"/>
            </a:solidFill>
            <a:prstDash val="solid"/>
          </a:ln>
        </p:spPr>
      </p:sp>
      <p:sp>
        <p:nvSpPr>
          <p:cNvPr id="155" name="Shape 153"/>
          <p:cNvSpPr/>
          <p:nvPr/>
        </p:nvSpPr>
        <p:spPr>
          <a:xfrm>
            <a:off x="9408319" y="2651760"/>
            <a:ext cx="0" cy="1874520"/>
          </a:xfrm>
          <a:prstGeom prst="line">
            <a:avLst/>
          </a:prstGeom>
          <a:noFill/>
          <a:ln w="3175">
            <a:solidFill>
              <a:srgbClr val="B8C4D3"/>
            </a:solidFill>
            <a:prstDash val="solid"/>
          </a:ln>
        </p:spPr>
      </p:sp>
      <p:sp>
        <p:nvSpPr>
          <p:cNvPr id="156" name="Shape 154"/>
          <p:cNvSpPr/>
          <p:nvPr/>
        </p:nvSpPr>
        <p:spPr>
          <a:xfrm>
            <a:off x="8412480" y="3647599"/>
            <a:ext cx="1874520" cy="0"/>
          </a:xfrm>
          <a:prstGeom prst="line">
            <a:avLst/>
          </a:prstGeom>
          <a:noFill/>
          <a:ln w="3175">
            <a:solidFill>
              <a:srgbClr val="B8C4D3"/>
            </a:solidFill>
            <a:prstDash val="solid"/>
          </a:ln>
        </p:spPr>
      </p:sp>
      <p:sp>
        <p:nvSpPr>
          <p:cNvPr id="157" name="Shape 155"/>
          <p:cNvSpPr/>
          <p:nvPr/>
        </p:nvSpPr>
        <p:spPr>
          <a:xfrm>
            <a:off x="9437608" y="2651760"/>
            <a:ext cx="0" cy="1874520"/>
          </a:xfrm>
          <a:prstGeom prst="line">
            <a:avLst/>
          </a:prstGeom>
          <a:noFill/>
          <a:ln w="3175">
            <a:solidFill>
              <a:srgbClr val="B8C4D3"/>
            </a:solidFill>
            <a:prstDash val="solid"/>
          </a:ln>
        </p:spPr>
      </p:sp>
      <p:sp>
        <p:nvSpPr>
          <p:cNvPr id="158" name="Shape 156"/>
          <p:cNvSpPr/>
          <p:nvPr/>
        </p:nvSpPr>
        <p:spPr>
          <a:xfrm>
            <a:off x="8412480" y="3676888"/>
            <a:ext cx="1874520" cy="0"/>
          </a:xfrm>
          <a:prstGeom prst="line">
            <a:avLst/>
          </a:prstGeom>
          <a:noFill/>
          <a:ln w="3175">
            <a:solidFill>
              <a:srgbClr val="B8C4D3"/>
            </a:solidFill>
            <a:prstDash val="solid"/>
          </a:ln>
        </p:spPr>
      </p:sp>
      <p:sp>
        <p:nvSpPr>
          <p:cNvPr id="159" name="Shape 157"/>
          <p:cNvSpPr/>
          <p:nvPr/>
        </p:nvSpPr>
        <p:spPr>
          <a:xfrm>
            <a:off x="9466897" y="2651760"/>
            <a:ext cx="0" cy="1874520"/>
          </a:xfrm>
          <a:prstGeom prst="line">
            <a:avLst/>
          </a:prstGeom>
          <a:noFill/>
          <a:ln w="3175">
            <a:solidFill>
              <a:srgbClr val="B8C4D3"/>
            </a:solidFill>
            <a:prstDash val="solid"/>
          </a:ln>
        </p:spPr>
      </p:sp>
      <p:sp>
        <p:nvSpPr>
          <p:cNvPr id="160" name="Shape 158"/>
          <p:cNvSpPr/>
          <p:nvPr/>
        </p:nvSpPr>
        <p:spPr>
          <a:xfrm>
            <a:off x="8412480" y="3706177"/>
            <a:ext cx="1874520" cy="0"/>
          </a:xfrm>
          <a:prstGeom prst="line">
            <a:avLst/>
          </a:prstGeom>
          <a:noFill/>
          <a:ln w="3175">
            <a:solidFill>
              <a:srgbClr val="B8C4D3"/>
            </a:solidFill>
            <a:prstDash val="solid"/>
          </a:ln>
        </p:spPr>
      </p:sp>
      <p:sp>
        <p:nvSpPr>
          <p:cNvPr id="161" name="Shape 159"/>
          <p:cNvSpPr/>
          <p:nvPr/>
        </p:nvSpPr>
        <p:spPr>
          <a:xfrm>
            <a:off x="9496187" y="2651760"/>
            <a:ext cx="0" cy="1874520"/>
          </a:xfrm>
          <a:prstGeom prst="line">
            <a:avLst/>
          </a:prstGeom>
          <a:noFill/>
          <a:ln w="3175">
            <a:solidFill>
              <a:srgbClr val="B8C4D3"/>
            </a:solidFill>
            <a:prstDash val="solid"/>
          </a:ln>
        </p:spPr>
      </p:sp>
      <p:sp>
        <p:nvSpPr>
          <p:cNvPr id="162" name="Shape 160"/>
          <p:cNvSpPr/>
          <p:nvPr/>
        </p:nvSpPr>
        <p:spPr>
          <a:xfrm>
            <a:off x="8412480" y="3735467"/>
            <a:ext cx="1874520" cy="0"/>
          </a:xfrm>
          <a:prstGeom prst="line">
            <a:avLst/>
          </a:prstGeom>
          <a:noFill/>
          <a:ln w="3175">
            <a:solidFill>
              <a:srgbClr val="B8C4D3"/>
            </a:solidFill>
            <a:prstDash val="solid"/>
          </a:ln>
        </p:spPr>
      </p:sp>
      <p:sp>
        <p:nvSpPr>
          <p:cNvPr id="163" name="Shape 161"/>
          <p:cNvSpPr/>
          <p:nvPr/>
        </p:nvSpPr>
        <p:spPr>
          <a:xfrm>
            <a:off x="9525476" y="2651760"/>
            <a:ext cx="0" cy="1874520"/>
          </a:xfrm>
          <a:prstGeom prst="line">
            <a:avLst/>
          </a:prstGeom>
          <a:noFill/>
          <a:ln w="3175">
            <a:solidFill>
              <a:srgbClr val="B8C4D3"/>
            </a:solidFill>
            <a:prstDash val="solid"/>
          </a:ln>
        </p:spPr>
      </p:sp>
      <p:sp>
        <p:nvSpPr>
          <p:cNvPr id="164" name="Shape 162"/>
          <p:cNvSpPr/>
          <p:nvPr/>
        </p:nvSpPr>
        <p:spPr>
          <a:xfrm>
            <a:off x="8412480" y="3764756"/>
            <a:ext cx="1874520" cy="0"/>
          </a:xfrm>
          <a:prstGeom prst="line">
            <a:avLst/>
          </a:prstGeom>
          <a:noFill/>
          <a:ln w="3175">
            <a:solidFill>
              <a:srgbClr val="B8C4D3"/>
            </a:solidFill>
            <a:prstDash val="solid"/>
          </a:ln>
        </p:spPr>
      </p:sp>
      <p:sp>
        <p:nvSpPr>
          <p:cNvPr id="165" name="Shape 163"/>
          <p:cNvSpPr/>
          <p:nvPr/>
        </p:nvSpPr>
        <p:spPr>
          <a:xfrm>
            <a:off x="9554766" y="2651760"/>
            <a:ext cx="0" cy="1874520"/>
          </a:xfrm>
          <a:prstGeom prst="line">
            <a:avLst/>
          </a:prstGeom>
          <a:noFill/>
          <a:ln w="3175">
            <a:solidFill>
              <a:srgbClr val="B8C4D3"/>
            </a:solidFill>
            <a:prstDash val="solid"/>
          </a:ln>
        </p:spPr>
      </p:sp>
      <p:sp>
        <p:nvSpPr>
          <p:cNvPr id="166" name="Shape 164"/>
          <p:cNvSpPr/>
          <p:nvPr/>
        </p:nvSpPr>
        <p:spPr>
          <a:xfrm>
            <a:off x="8412480" y="3794046"/>
            <a:ext cx="1874520" cy="0"/>
          </a:xfrm>
          <a:prstGeom prst="line">
            <a:avLst/>
          </a:prstGeom>
          <a:noFill/>
          <a:ln w="3175">
            <a:solidFill>
              <a:srgbClr val="B8C4D3"/>
            </a:solidFill>
            <a:prstDash val="solid"/>
          </a:ln>
        </p:spPr>
      </p:sp>
      <p:sp>
        <p:nvSpPr>
          <p:cNvPr id="167" name="Shape 165"/>
          <p:cNvSpPr/>
          <p:nvPr/>
        </p:nvSpPr>
        <p:spPr>
          <a:xfrm>
            <a:off x="9584055" y="2651760"/>
            <a:ext cx="0" cy="1874520"/>
          </a:xfrm>
          <a:prstGeom prst="line">
            <a:avLst/>
          </a:prstGeom>
          <a:noFill/>
          <a:ln w="3175">
            <a:solidFill>
              <a:srgbClr val="B8C4D3"/>
            </a:solidFill>
            <a:prstDash val="solid"/>
          </a:ln>
        </p:spPr>
      </p:sp>
      <p:sp>
        <p:nvSpPr>
          <p:cNvPr id="168" name="Shape 166"/>
          <p:cNvSpPr/>
          <p:nvPr/>
        </p:nvSpPr>
        <p:spPr>
          <a:xfrm>
            <a:off x="8412480" y="3823335"/>
            <a:ext cx="1874520" cy="0"/>
          </a:xfrm>
          <a:prstGeom prst="line">
            <a:avLst/>
          </a:prstGeom>
          <a:noFill/>
          <a:ln w="3175">
            <a:solidFill>
              <a:srgbClr val="B8C4D3"/>
            </a:solidFill>
            <a:prstDash val="solid"/>
          </a:ln>
        </p:spPr>
      </p:sp>
      <p:sp>
        <p:nvSpPr>
          <p:cNvPr id="169" name="Shape 167"/>
          <p:cNvSpPr/>
          <p:nvPr/>
        </p:nvSpPr>
        <p:spPr>
          <a:xfrm>
            <a:off x="9613344" y="2651760"/>
            <a:ext cx="0" cy="1874520"/>
          </a:xfrm>
          <a:prstGeom prst="line">
            <a:avLst/>
          </a:prstGeom>
          <a:noFill/>
          <a:ln w="3175">
            <a:solidFill>
              <a:srgbClr val="B8C4D3"/>
            </a:solidFill>
            <a:prstDash val="solid"/>
          </a:ln>
        </p:spPr>
      </p:sp>
      <p:sp>
        <p:nvSpPr>
          <p:cNvPr id="170" name="Shape 168"/>
          <p:cNvSpPr/>
          <p:nvPr/>
        </p:nvSpPr>
        <p:spPr>
          <a:xfrm>
            <a:off x="8412480" y="3852624"/>
            <a:ext cx="1874520" cy="0"/>
          </a:xfrm>
          <a:prstGeom prst="line">
            <a:avLst/>
          </a:prstGeom>
          <a:noFill/>
          <a:ln w="3175">
            <a:solidFill>
              <a:srgbClr val="B8C4D3"/>
            </a:solidFill>
            <a:prstDash val="solid"/>
          </a:ln>
        </p:spPr>
      </p:sp>
      <p:sp>
        <p:nvSpPr>
          <p:cNvPr id="171" name="Shape 169"/>
          <p:cNvSpPr/>
          <p:nvPr/>
        </p:nvSpPr>
        <p:spPr>
          <a:xfrm>
            <a:off x="9642634" y="2651760"/>
            <a:ext cx="0" cy="1874520"/>
          </a:xfrm>
          <a:prstGeom prst="line">
            <a:avLst/>
          </a:prstGeom>
          <a:noFill/>
          <a:ln w="3175">
            <a:solidFill>
              <a:srgbClr val="B8C4D3"/>
            </a:solidFill>
            <a:prstDash val="solid"/>
          </a:ln>
        </p:spPr>
      </p:sp>
      <p:sp>
        <p:nvSpPr>
          <p:cNvPr id="172" name="Shape 170"/>
          <p:cNvSpPr/>
          <p:nvPr/>
        </p:nvSpPr>
        <p:spPr>
          <a:xfrm>
            <a:off x="8412480" y="3881914"/>
            <a:ext cx="1874520" cy="0"/>
          </a:xfrm>
          <a:prstGeom prst="line">
            <a:avLst/>
          </a:prstGeom>
          <a:noFill/>
          <a:ln w="3175">
            <a:solidFill>
              <a:srgbClr val="B8C4D3"/>
            </a:solidFill>
            <a:prstDash val="solid"/>
          </a:ln>
        </p:spPr>
      </p:sp>
      <p:sp>
        <p:nvSpPr>
          <p:cNvPr id="173" name="Shape 171"/>
          <p:cNvSpPr/>
          <p:nvPr/>
        </p:nvSpPr>
        <p:spPr>
          <a:xfrm>
            <a:off x="9671923" y="2651760"/>
            <a:ext cx="0" cy="1874520"/>
          </a:xfrm>
          <a:prstGeom prst="line">
            <a:avLst/>
          </a:prstGeom>
          <a:noFill/>
          <a:ln w="3175">
            <a:solidFill>
              <a:srgbClr val="B8C4D3"/>
            </a:solidFill>
            <a:prstDash val="solid"/>
          </a:ln>
        </p:spPr>
      </p:sp>
      <p:sp>
        <p:nvSpPr>
          <p:cNvPr id="174" name="Shape 172"/>
          <p:cNvSpPr/>
          <p:nvPr/>
        </p:nvSpPr>
        <p:spPr>
          <a:xfrm>
            <a:off x="8412480" y="3911203"/>
            <a:ext cx="1874520" cy="0"/>
          </a:xfrm>
          <a:prstGeom prst="line">
            <a:avLst/>
          </a:prstGeom>
          <a:noFill/>
          <a:ln w="3175">
            <a:solidFill>
              <a:srgbClr val="B8C4D3"/>
            </a:solidFill>
            <a:prstDash val="solid"/>
          </a:ln>
        </p:spPr>
      </p:sp>
      <p:sp>
        <p:nvSpPr>
          <p:cNvPr id="175" name="Shape 173"/>
          <p:cNvSpPr/>
          <p:nvPr/>
        </p:nvSpPr>
        <p:spPr>
          <a:xfrm>
            <a:off x="9701213" y="2651760"/>
            <a:ext cx="0" cy="1874520"/>
          </a:xfrm>
          <a:prstGeom prst="line">
            <a:avLst/>
          </a:prstGeom>
          <a:noFill/>
          <a:ln w="3175">
            <a:solidFill>
              <a:srgbClr val="B8C4D3"/>
            </a:solidFill>
            <a:prstDash val="solid"/>
          </a:ln>
        </p:spPr>
      </p:sp>
      <p:sp>
        <p:nvSpPr>
          <p:cNvPr id="176" name="Shape 174"/>
          <p:cNvSpPr/>
          <p:nvPr/>
        </p:nvSpPr>
        <p:spPr>
          <a:xfrm>
            <a:off x="8412480" y="3940492"/>
            <a:ext cx="1874520" cy="0"/>
          </a:xfrm>
          <a:prstGeom prst="line">
            <a:avLst/>
          </a:prstGeom>
          <a:noFill/>
          <a:ln w="3175">
            <a:solidFill>
              <a:srgbClr val="B8C4D3"/>
            </a:solidFill>
            <a:prstDash val="solid"/>
          </a:ln>
        </p:spPr>
      </p:sp>
      <p:sp>
        <p:nvSpPr>
          <p:cNvPr id="177" name="Shape 175"/>
          <p:cNvSpPr/>
          <p:nvPr/>
        </p:nvSpPr>
        <p:spPr>
          <a:xfrm>
            <a:off x="9730502" y="2651760"/>
            <a:ext cx="0" cy="1874520"/>
          </a:xfrm>
          <a:prstGeom prst="line">
            <a:avLst/>
          </a:prstGeom>
          <a:noFill/>
          <a:ln w="3175">
            <a:solidFill>
              <a:srgbClr val="B8C4D3"/>
            </a:solidFill>
            <a:prstDash val="solid"/>
          </a:ln>
        </p:spPr>
      </p:sp>
      <p:sp>
        <p:nvSpPr>
          <p:cNvPr id="178" name="Shape 176"/>
          <p:cNvSpPr/>
          <p:nvPr/>
        </p:nvSpPr>
        <p:spPr>
          <a:xfrm>
            <a:off x="8412480" y="3969782"/>
            <a:ext cx="1874520" cy="0"/>
          </a:xfrm>
          <a:prstGeom prst="line">
            <a:avLst/>
          </a:prstGeom>
          <a:noFill/>
          <a:ln w="3175">
            <a:solidFill>
              <a:srgbClr val="B8C4D3"/>
            </a:solidFill>
            <a:prstDash val="solid"/>
          </a:ln>
        </p:spPr>
      </p:sp>
      <p:sp>
        <p:nvSpPr>
          <p:cNvPr id="179" name="Shape 177"/>
          <p:cNvSpPr/>
          <p:nvPr/>
        </p:nvSpPr>
        <p:spPr>
          <a:xfrm>
            <a:off x="9759791" y="2651760"/>
            <a:ext cx="0" cy="1874520"/>
          </a:xfrm>
          <a:prstGeom prst="line">
            <a:avLst/>
          </a:prstGeom>
          <a:noFill/>
          <a:ln w="3175">
            <a:solidFill>
              <a:srgbClr val="B8C4D3"/>
            </a:solidFill>
            <a:prstDash val="solid"/>
          </a:ln>
        </p:spPr>
      </p:sp>
      <p:sp>
        <p:nvSpPr>
          <p:cNvPr id="180" name="Shape 178"/>
          <p:cNvSpPr/>
          <p:nvPr/>
        </p:nvSpPr>
        <p:spPr>
          <a:xfrm>
            <a:off x="8412480" y="3999071"/>
            <a:ext cx="1874520" cy="0"/>
          </a:xfrm>
          <a:prstGeom prst="line">
            <a:avLst/>
          </a:prstGeom>
          <a:noFill/>
          <a:ln w="3175">
            <a:solidFill>
              <a:srgbClr val="B8C4D3"/>
            </a:solidFill>
            <a:prstDash val="solid"/>
          </a:ln>
        </p:spPr>
      </p:sp>
      <p:sp>
        <p:nvSpPr>
          <p:cNvPr id="181" name="Shape 179"/>
          <p:cNvSpPr/>
          <p:nvPr/>
        </p:nvSpPr>
        <p:spPr>
          <a:xfrm>
            <a:off x="9789081" y="2651760"/>
            <a:ext cx="0" cy="1874520"/>
          </a:xfrm>
          <a:prstGeom prst="line">
            <a:avLst/>
          </a:prstGeom>
          <a:noFill/>
          <a:ln w="3175">
            <a:solidFill>
              <a:srgbClr val="B8C4D3"/>
            </a:solidFill>
            <a:prstDash val="solid"/>
          </a:ln>
        </p:spPr>
      </p:sp>
      <p:sp>
        <p:nvSpPr>
          <p:cNvPr id="182" name="Shape 180"/>
          <p:cNvSpPr/>
          <p:nvPr/>
        </p:nvSpPr>
        <p:spPr>
          <a:xfrm>
            <a:off x="8412480" y="4028361"/>
            <a:ext cx="1874520" cy="0"/>
          </a:xfrm>
          <a:prstGeom prst="line">
            <a:avLst/>
          </a:prstGeom>
          <a:noFill/>
          <a:ln w="3175">
            <a:solidFill>
              <a:srgbClr val="B8C4D3"/>
            </a:solidFill>
            <a:prstDash val="solid"/>
          </a:ln>
        </p:spPr>
      </p:sp>
      <p:sp>
        <p:nvSpPr>
          <p:cNvPr id="183" name="Shape 181"/>
          <p:cNvSpPr/>
          <p:nvPr/>
        </p:nvSpPr>
        <p:spPr>
          <a:xfrm>
            <a:off x="9818370" y="2651760"/>
            <a:ext cx="0" cy="1874520"/>
          </a:xfrm>
          <a:prstGeom prst="line">
            <a:avLst/>
          </a:prstGeom>
          <a:noFill/>
          <a:ln w="3175">
            <a:solidFill>
              <a:srgbClr val="B8C4D3"/>
            </a:solidFill>
            <a:prstDash val="solid"/>
          </a:ln>
        </p:spPr>
      </p:sp>
      <p:sp>
        <p:nvSpPr>
          <p:cNvPr id="184" name="Shape 182"/>
          <p:cNvSpPr/>
          <p:nvPr/>
        </p:nvSpPr>
        <p:spPr>
          <a:xfrm>
            <a:off x="8412480" y="4057650"/>
            <a:ext cx="1874520" cy="0"/>
          </a:xfrm>
          <a:prstGeom prst="line">
            <a:avLst/>
          </a:prstGeom>
          <a:noFill/>
          <a:ln w="3175">
            <a:solidFill>
              <a:srgbClr val="B8C4D3"/>
            </a:solidFill>
            <a:prstDash val="solid"/>
          </a:ln>
        </p:spPr>
      </p:sp>
      <p:sp>
        <p:nvSpPr>
          <p:cNvPr id="185" name="Shape 183"/>
          <p:cNvSpPr/>
          <p:nvPr/>
        </p:nvSpPr>
        <p:spPr>
          <a:xfrm>
            <a:off x="9847659" y="2651760"/>
            <a:ext cx="0" cy="1874520"/>
          </a:xfrm>
          <a:prstGeom prst="line">
            <a:avLst/>
          </a:prstGeom>
          <a:noFill/>
          <a:ln w="3175">
            <a:solidFill>
              <a:srgbClr val="B8C4D3"/>
            </a:solidFill>
            <a:prstDash val="solid"/>
          </a:ln>
        </p:spPr>
      </p:sp>
      <p:sp>
        <p:nvSpPr>
          <p:cNvPr id="186" name="Shape 184"/>
          <p:cNvSpPr/>
          <p:nvPr/>
        </p:nvSpPr>
        <p:spPr>
          <a:xfrm>
            <a:off x="8412480" y="4086939"/>
            <a:ext cx="1874520" cy="0"/>
          </a:xfrm>
          <a:prstGeom prst="line">
            <a:avLst/>
          </a:prstGeom>
          <a:noFill/>
          <a:ln w="3175">
            <a:solidFill>
              <a:srgbClr val="B8C4D3"/>
            </a:solidFill>
            <a:prstDash val="solid"/>
          </a:ln>
        </p:spPr>
      </p:sp>
      <p:sp>
        <p:nvSpPr>
          <p:cNvPr id="187" name="Shape 185"/>
          <p:cNvSpPr/>
          <p:nvPr/>
        </p:nvSpPr>
        <p:spPr>
          <a:xfrm>
            <a:off x="9876949" y="2651760"/>
            <a:ext cx="0" cy="1874520"/>
          </a:xfrm>
          <a:prstGeom prst="line">
            <a:avLst/>
          </a:prstGeom>
          <a:noFill/>
          <a:ln w="3175">
            <a:solidFill>
              <a:srgbClr val="B8C4D3"/>
            </a:solidFill>
            <a:prstDash val="solid"/>
          </a:ln>
        </p:spPr>
      </p:sp>
      <p:sp>
        <p:nvSpPr>
          <p:cNvPr id="188" name="Shape 186"/>
          <p:cNvSpPr/>
          <p:nvPr/>
        </p:nvSpPr>
        <p:spPr>
          <a:xfrm>
            <a:off x="8412480" y="4116229"/>
            <a:ext cx="1874520" cy="0"/>
          </a:xfrm>
          <a:prstGeom prst="line">
            <a:avLst/>
          </a:prstGeom>
          <a:noFill/>
          <a:ln w="3175">
            <a:solidFill>
              <a:srgbClr val="B8C4D3"/>
            </a:solidFill>
            <a:prstDash val="solid"/>
          </a:ln>
        </p:spPr>
      </p:sp>
      <p:sp>
        <p:nvSpPr>
          <p:cNvPr id="189" name="Shape 187"/>
          <p:cNvSpPr/>
          <p:nvPr/>
        </p:nvSpPr>
        <p:spPr>
          <a:xfrm>
            <a:off x="9906238" y="2651760"/>
            <a:ext cx="0" cy="1874520"/>
          </a:xfrm>
          <a:prstGeom prst="line">
            <a:avLst/>
          </a:prstGeom>
          <a:noFill/>
          <a:ln w="3175">
            <a:solidFill>
              <a:srgbClr val="B8C4D3"/>
            </a:solidFill>
            <a:prstDash val="solid"/>
          </a:ln>
        </p:spPr>
      </p:sp>
      <p:sp>
        <p:nvSpPr>
          <p:cNvPr id="190" name="Shape 188"/>
          <p:cNvSpPr/>
          <p:nvPr/>
        </p:nvSpPr>
        <p:spPr>
          <a:xfrm>
            <a:off x="8412480" y="4145518"/>
            <a:ext cx="1874520" cy="0"/>
          </a:xfrm>
          <a:prstGeom prst="line">
            <a:avLst/>
          </a:prstGeom>
          <a:noFill/>
          <a:ln w="3175">
            <a:solidFill>
              <a:srgbClr val="B8C4D3"/>
            </a:solidFill>
            <a:prstDash val="solid"/>
          </a:ln>
        </p:spPr>
      </p:sp>
      <p:sp>
        <p:nvSpPr>
          <p:cNvPr id="191" name="Shape 189"/>
          <p:cNvSpPr/>
          <p:nvPr/>
        </p:nvSpPr>
        <p:spPr>
          <a:xfrm>
            <a:off x="9935528" y="2651760"/>
            <a:ext cx="0" cy="1874520"/>
          </a:xfrm>
          <a:prstGeom prst="line">
            <a:avLst/>
          </a:prstGeom>
          <a:noFill/>
          <a:ln w="3175">
            <a:solidFill>
              <a:srgbClr val="B8C4D3"/>
            </a:solidFill>
            <a:prstDash val="solid"/>
          </a:ln>
        </p:spPr>
      </p:sp>
      <p:sp>
        <p:nvSpPr>
          <p:cNvPr id="192" name="Shape 190"/>
          <p:cNvSpPr/>
          <p:nvPr/>
        </p:nvSpPr>
        <p:spPr>
          <a:xfrm>
            <a:off x="8412480" y="4174808"/>
            <a:ext cx="1874520" cy="0"/>
          </a:xfrm>
          <a:prstGeom prst="line">
            <a:avLst/>
          </a:prstGeom>
          <a:noFill/>
          <a:ln w="3175">
            <a:solidFill>
              <a:srgbClr val="B8C4D3"/>
            </a:solidFill>
            <a:prstDash val="solid"/>
          </a:ln>
        </p:spPr>
      </p:sp>
      <p:sp>
        <p:nvSpPr>
          <p:cNvPr id="193" name="Shape 191"/>
          <p:cNvSpPr/>
          <p:nvPr/>
        </p:nvSpPr>
        <p:spPr>
          <a:xfrm>
            <a:off x="9964817" y="2651760"/>
            <a:ext cx="0" cy="1874520"/>
          </a:xfrm>
          <a:prstGeom prst="line">
            <a:avLst/>
          </a:prstGeom>
          <a:noFill/>
          <a:ln w="3175">
            <a:solidFill>
              <a:srgbClr val="B8C4D3"/>
            </a:solidFill>
            <a:prstDash val="solid"/>
          </a:ln>
        </p:spPr>
      </p:sp>
      <p:sp>
        <p:nvSpPr>
          <p:cNvPr id="194" name="Shape 192"/>
          <p:cNvSpPr/>
          <p:nvPr/>
        </p:nvSpPr>
        <p:spPr>
          <a:xfrm>
            <a:off x="8412480" y="4204097"/>
            <a:ext cx="1874520" cy="0"/>
          </a:xfrm>
          <a:prstGeom prst="line">
            <a:avLst/>
          </a:prstGeom>
          <a:noFill/>
          <a:ln w="3175">
            <a:solidFill>
              <a:srgbClr val="B8C4D3"/>
            </a:solidFill>
            <a:prstDash val="solid"/>
          </a:ln>
        </p:spPr>
      </p:sp>
      <p:sp>
        <p:nvSpPr>
          <p:cNvPr id="195" name="Shape 193"/>
          <p:cNvSpPr/>
          <p:nvPr/>
        </p:nvSpPr>
        <p:spPr>
          <a:xfrm>
            <a:off x="9994106" y="2651760"/>
            <a:ext cx="0" cy="1874520"/>
          </a:xfrm>
          <a:prstGeom prst="line">
            <a:avLst/>
          </a:prstGeom>
          <a:noFill/>
          <a:ln w="3175">
            <a:solidFill>
              <a:srgbClr val="B8C4D3"/>
            </a:solidFill>
            <a:prstDash val="solid"/>
          </a:ln>
        </p:spPr>
      </p:sp>
      <p:sp>
        <p:nvSpPr>
          <p:cNvPr id="196" name="Shape 194"/>
          <p:cNvSpPr/>
          <p:nvPr/>
        </p:nvSpPr>
        <p:spPr>
          <a:xfrm>
            <a:off x="8412480" y="4233386"/>
            <a:ext cx="1874520" cy="0"/>
          </a:xfrm>
          <a:prstGeom prst="line">
            <a:avLst/>
          </a:prstGeom>
          <a:noFill/>
          <a:ln w="3175">
            <a:solidFill>
              <a:srgbClr val="B8C4D3"/>
            </a:solidFill>
            <a:prstDash val="solid"/>
          </a:ln>
        </p:spPr>
      </p:sp>
      <p:sp>
        <p:nvSpPr>
          <p:cNvPr id="197" name="Shape 195"/>
          <p:cNvSpPr/>
          <p:nvPr/>
        </p:nvSpPr>
        <p:spPr>
          <a:xfrm>
            <a:off x="10023396" y="2651760"/>
            <a:ext cx="0" cy="1874520"/>
          </a:xfrm>
          <a:prstGeom prst="line">
            <a:avLst/>
          </a:prstGeom>
          <a:noFill/>
          <a:ln w="3175">
            <a:solidFill>
              <a:srgbClr val="B8C4D3"/>
            </a:solidFill>
            <a:prstDash val="solid"/>
          </a:ln>
        </p:spPr>
      </p:sp>
      <p:sp>
        <p:nvSpPr>
          <p:cNvPr id="198" name="Shape 196"/>
          <p:cNvSpPr/>
          <p:nvPr/>
        </p:nvSpPr>
        <p:spPr>
          <a:xfrm>
            <a:off x="8412480" y="4262676"/>
            <a:ext cx="1874520" cy="0"/>
          </a:xfrm>
          <a:prstGeom prst="line">
            <a:avLst/>
          </a:prstGeom>
          <a:noFill/>
          <a:ln w="3175">
            <a:solidFill>
              <a:srgbClr val="B8C4D3"/>
            </a:solidFill>
            <a:prstDash val="solid"/>
          </a:ln>
        </p:spPr>
      </p:sp>
      <p:sp>
        <p:nvSpPr>
          <p:cNvPr id="199" name="Shape 197"/>
          <p:cNvSpPr/>
          <p:nvPr/>
        </p:nvSpPr>
        <p:spPr>
          <a:xfrm>
            <a:off x="10052685" y="2651760"/>
            <a:ext cx="0" cy="1874520"/>
          </a:xfrm>
          <a:prstGeom prst="line">
            <a:avLst/>
          </a:prstGeom>
          <a:noFill/>
          <a:ln w="3175">
            <a:solidFill>
              <a:srgbClr val="B8C4D3"/>
            </a:solidFill>
            <a:prstDash val="solid"/>
          </a:ln>
        </p:spPr>
      </p:sp>
      <p:sp>
        <p:nvSpPr>
          <p:cNvPr id="200" name="Shape 198"/>
          <p:cNvSpPr/>
          <p:nvPr/>
        </p:nvSpPr>
        <p:spPr>
          <a:xfrm>
            <a:off x="8412480" y="4291965"/>
            <a:ext cx="1874520" cy="0"/>
          </a:xfrm>
          <a:prstGeom prst="line">
            <a:avLst/>
          </a:prstGeom>
          <a:noFill/>
          <a:ln w="3175">
            <a:solidFill>
              <a:srgbClr val="B8C4D3"/>
            </a:solidFill>
            <a:prstDash val="solid"/>
          </a:ln>
        </p:spPr>
      </p:sp>
      <p:sp>
        <p:nvSpPr>
          <p:cNvPr id="201" name="Shape 199"/>
          <p:cNvSpPr/>
          <p:nvPr/>
        </p:nvSpPr>
        <p:spPr>
          <a:xfrm>
            <a:off x="10081974" y="2651760"/>
            <a:ext cx="0" cy="1874520"/>
          </a:xfrm>
          <a:prstGeom prst="line">
            <a:avLst/>
          </a:prstGeom>
          <a:noFill/>
          <a:ln w="3175">
            <a:solidFill>
              <a:srgbClr val="B8C4D3"/>
            </a:solidFill>
            <a:prstDash val="solid"/>
          </a:ln>
        </p:spPr>
      </p:sp>
      <p:sp>
        <p:nvSpPr>
          <p:cNvPr id="202" name="Shape 200"/>
          <p:cNvSpPr/>
          <p:nvPr/>
        </p:nvSpPr>
        <p:spPr>
          <a:xfrm>
            <a:off x="8412480" y="4321254"/>
            <a:ext cx="1874520" cy="0"/>
          </a:xfrm>
          <a:prstGeom prst="line">
            <a:avLst/>
          </a:prstGeom>
          <a:noFill/>
          <a:ln w="3175">
            <a:solidFill>
              <a:srgbClr val="B8C4D3"/>
            </a:solidFill>
            <a:prstDash val="solid"/>
          </a:ln>
        </p:spPr>
      </p:sp>
      <p:sp>
        <p:nvSpPr>
          <p:cNvPr id="203" name="Shape 201"/>
          <p:cNvSpPr/>
          <p:nvPr/>
        </p:nvSpPr>
        <p:spPr>
          <a:xfrm>
            <a:off x="10111264" y="2651760"/>
            <a:ext cx="0" cy="1874520"/>
          </a:xfrm>
          <a:prstGeom prst="line">
            <a:avLst/>
          </a:prstGeom>
          <a:noFill/>
          <a:ln w="3175">
            <a:solidFill>
              <a:srgbClr val="B8C4D3"/>
            </a:solidFill>
            <a:prstDash val="solid"/>
          </a:ln>
        </p:spPr>
      </p:sp>
      <p:sp>
        <p:nvSpPr>
          <p:cNvPr id="204" name="Shape 202"/>
          <p:cNvSpPr/>
          <p:nvPr/>
        </p:nvSpPr>
        <p:spPr>
          <a:xfrm>
            <a:off x="8412480" y="4350544"/>
            <a:ext cx="1874520" cy="0"/>
          </a:xfrm>
          <a:prstGeom prst="line">
            <a:avLst/>
          </a:prstGeom>
          <a:noFill/>
          <a:ln w="3175">
            <a:solidFill>
              <a:srgbClr val="B8C4D3"/>
            </a:solidFill>
            <a:prstDash val="solid"/>
          </a:ln>
        </p:spPr>
      </p:sp>
      <p:sp>
        <p:nvSpPr>
          <p:cNvPr id="205" name="Shape 203"/>
          <p:cNvSpPr/>
          <p:nvPr/>
        </p:nvSpPr>
        <p:spPr>
          <a:xfrm>
            <a:off x="10140553" y="2651760"/>
            <a:ext cx="0" cy="1874520"/>
          </a:xfrm>
          <a:prstGeom prst="line">
            <a:avLst/>
          </a:prstGeom>
          <a:noFill/>
          <a:ln w="3175">
            <a:solidFill>
              <a:srgbClr val="B8C4D3"/>
            </a:solidFill>
            <a:prstDash val="solid"/>
          </a:ln>
        </p:spPr>
      </p:sp>
      <p:sp>
        <p:nvSpPr>
          <p:cNvPr id="206" name="Shape 204"/>
          <p:cNvSpPr/>
          <p:nvPr/>
        </p:nvSpPr>
        <p:spPr>
          <a:xfrm>
            <a:off x="8412480" y="4379833"/>
            <a:ext cx="1874520" cy="0"/>
          </a:xfrm>
          <a:prstGeom prst="line">
            <a:avLst/>
          </a:prstGeom>
          <a:noFill/>
          <a:ln w="3175">
            <a:solidFill>
              <a:srgbClr val="B8C4D3"/>
            </a:solidFill>
            <a:prstDash val="solid"/>
          </a:ln>
        </p:spPr>
      </p:sp>
      <p:sp>
        <p:nvSpPr>
          <p:cNvPr id="207" name="Shape 205"/>
          <p:cNvSpPr/>
          <p:nvPr/>
        </p:nvSpPr>
        <p:spPr>
          <a:xfrm>
            <a:off x="10169843" y="2651760"/>
            <a:ext cx="0" cy="1874520"/>
          </a:xfrm>
          <a:prstGeom prst="line">
            <a:avLst/>
          </a:prstGeom>
          <a:noFill/>
          <a:ln w="3175">
            <a:solidFill>
              <a:srgbClr val="B8C4D3"/>
            </a:solidFill>
            <a:prstDash val="solid"/>
          </a:ln>
        </p:spPr>
      </p:sp>
      <p:sp>
        <p:nvSpPr>
          <p:cNvPr id="208" name="Shape 206"/>
          <p:cNvSpPr/>
          <p:nvPr/>
        </p:nvSpPr>
        <p:spPr>
          <a:xfrm>
            <a:off x="8412480" y="4409122"/>
            <a:ext cx="1874520" cy="0"/>
          </a:xfrm>
          <a:prstGeom prst="line">
            <a:avLst/>
          </a:prstGeom>
          <a:noFill/>
          <a:ln w="3175">
            <a:solidFill>
              <a:srgbClr val="B8C4D3"/>
            </a:solidFill>
            <a:prstDash val="solid"/>
          </a:ln>
        </p:spPr>
      </p:sp>
      <p:sp>
        <p:nvSpPr>
          <p:cNvPr id="209" name="Shape 207"/>
          <p:cNvSpPr/>
          <p:nvPr/>
        </p:nvSpPr>
        <p:spPr>
          <a:xfrm>
            <a:off x="10199132" y="2651760"/>
            <a:ext cx="0" cy="1874520"/>
          </a:xfrm>
          <a:prstGeom prst="line">
            <a:avLst/>
          </a:prstGeom>
          <a:noFill/>
          <a:ln w="3175">
            <a:solidFill>
              <a:srgbClr val="B8C4D3"/>
            </a:solidFill>
            <a:prstDash val="solid"/>
          </a:ln>
        </p:spPr>
      </p:sp>
      <p:sp>
        <p:nvSpPr>
          <p:cNvPr id="210" name="Shape 208"/>
          <p:cNvSpPr/>
          <p:nvPr/>
        </p:nvSpPr>
        <p:spPr>
          <a:xfrm>
            <a:off x="8412480" y="4438412"/>
            <a:ext cx="1874520" cy="0"/>
          </a:xfrm>
          <a:prstGeom prst="line">
            <a:avLst/>
          </a:prstGeom>
          <a:noFill/>
          <a:ln w="3175">
            <a:solidFill>
              <a:srgbClr val="B8C4D3"/>
            </a:solidFill>
            <a:prstDash val="solid"/>
          </a:ln>
        </p:spPr>
      </p:sp>
      <p:sp>
        <p:nvSpPr>
          <p:cNvPr id="211" name="Shape 209"/>
          <p:cNvSpPr/>
          <p:nvPr/>
        </p:nvSpPr>
        <p:spPr>
          <a:xfrm>
            <a:off x="10228421" y="2651760"/>
            <a:ext cx="0" cy="1874520"/>
          </a:xfrm>
          <a:prstGeom prst="line">
            <a:avLst/>
          </a:prstGeom>
          <a:noFill/>
          <a:ln w="3175">
            <a:solidFill>
              <a:srgbClr val="B8C4D3"/>
            </a:solidFill>
            <a:prstDash val="solid"/>
          </a:ln>
        </p:spPr>
      </p:sp>
      <p:sp>
        <p:nvSpPr>
          <p:cNvPr id="212" name="Shape 210"/>
          <p:cNvSpPr/>
          <p:nvPr/>
        </p:nvSpPr>
        <p:spPr>
          <a:xfrm>
            <a:off x="8412480" y="4467701"/>
            <a:ext cx="1874520" cy="0"/>
          </a:xfrm>
          <a:prstGeom prst="line">
            <a:avLst/>
          </a:prstGeom>
          <a:noFill/>
          <a:ln w="3175">
            <a:solidFill>
              <a:srgbClr val="B8C4D3"/>
            </a:solidFill>
            <a:prstDash val="solid"/>
          </a:ln>
        </p:spPr>
      </p:sp>
      <p:sp>
        <p:nvSpPr>
          <p:cNvPr id="213" name="Shape 211"/>
          <p:cNvSpPr/>
          <p:nvPr/>
        </p:nvSpPr>
        <p:spPr>
          <a:xfrm>
            <a:off x="10257711" y="2651760"/>
            <a:ext cx="0" cy="1874520"/>
          </a:xfrm>
          <a:prstGeom prst="line">
            <a:avLst/>
          </a:prstGeom>
          <a:noFill/>
          <a:ln w="3175">
            <a:solidFill>
              <a:srgbClr val="B8C4D3"/>
            </a:solidFill>
            <a:prstDash val="solid"/>
          </a:ln>
        </p:spPr>
      </p:sp>
      <p:sp>
        <p:nvSpPr>
          <p:cNvPr id="214" name="Shape 212"/>
          <p:cNvSpPr/>
          <p:nvPr/>
        </p:nvSpPr>
        <p:spPr>
          <a:xfrm>
            <a:off x="8412480" y="4496991"/>
            <a:ext cx="1874520" cy="0"/>
          </a:xfrm>
          <a:prstGeom prst="line">
            <a:avLst/>
          </a:prstGeom>
          <a:noFill/>
          <a:ln w="3175">
            <a:solidFill>
              <a:srgbClr val="B8C4D3"/>
            </a:solidFill>
            <a:prstDash val="solid"/>
          </a:ln>
        </p:spPr>
      </p:sp>
      <p:sp>
        <p:nvSpPr>
          <p:cNvPr id="215" name="Shape 213"/>
          <p:cNvSpPr/>
          <p:nvPr/>
        </p:nvSpPr>
        <p:spPr>
          <a:xfrm>
            <a:off x="9291161" y="3530441"/>
            <a:ext cx="87868" cy="87868"/>
          </a:xfrm>
          <a:prstGeom prst="rect">
            <a:avLst/>
          </a:prstGeom>
          <a:solidFill>
            <a:srgbClr val="1F7A4D">
              <a:alpha val="45000"/>
            </a:srgbClr>
          </a:solidFill>
          <a:ln w="12700">
            <a:solidFill>
              <a:srgbClr val="1F7A4D"/>
            </a:solidFill>
            <a:prstDash val="solid"/>
          </a:ln>
        </p:spPr>
      </p:sp>
      <p:sp>
        <p:nvSpPr>
          <p:cNvPr id="216" name="Shape 214"/>
          <p:cNvSpPr/>
          <p:nvPr/>
        </p:nvSpPr>
        <p:spPr>
          <a:xfrm>
            <a:off x="9320451" y="3559731"/>
            <a:ext cx="29289" cy="29289"/>
          </a:xfrm>
          <a:prstGeom prst="rect">
            <a:avLst/>
          </a:prstGeom>
          <a:solidFill>
            <a:srgbClr val="1F7A4D"/>
          </a:solidFill>
          <a:ln w="12700">
            <a:solidFill>
              <a:srgbClr val="1F7A4D"/>
            </a:solidFill>
            <a:prstDash val="solid"/>
          </a:ln>
        </p:spPr>
      </p:sp>
      <p:sp>
        <p:nvSpPr>
          <p:cNvPr id="217" name="Text 215"/>
          <p:cNvSpPr txBox="1"/>
          <p:nvPr/>
        </p:nvSpPr>
        <p:spPr>
          <a:xfrm>
            <a:off x="8138160" y="2340864"/>
            <a:ext cx="2423160" cy="256032"/>
          </a:xfrm>
          <a:prstGeom prst="rect">
            <a:avLst/>
          </a:prstGeom>
          <a:noFill/>
          <a:ln/>
        </p:spPr>
        <p:txBody>
          <a:bodyPr wrap="square" lIns="0" tIns="0" rIns="0" bIns="0" rtlCol="0" anchor="ctr"/>
          <a:lstStyle/>
          <a:p>
            <a:pPr algn="ctr" indent="0" marL="0">
              <a:buNone/>
            </a:pPr>
            <a:r>
              <a:rPr lang="en-US" sz="950" b="1" dirty="0">
                <a:solidFill>
                  <a:srgbClr val="1F7A4D"/>
                </a:solidFill>
                <a:latin typeface="Calibri" pitchFamily="34" charset="0"/>
                <a:ea typeface="Calibri" pitchFamily="34" charset="-122"/>
                <a:cs typeface="Calibri" pitchFamily="34" charset="-120"/>
              </a:rPr>
              <a:t>PRECISION operator · ½ L = 64 × 64 cells of 20 m</a:t>
            </a:r>
            <a:endParaRPr lang="en-US" sz="950" dirty="0"/>
          </a:p>
        </p:txBody>
      </p:sp>
      <p:sp>
        <p:nvSpPr>
          <p:cNvPr id="218" name="Text 216"/>
          <p:cNvSpPr txBox="1"/>
          <p:nvPr/>
        </p:nvSpPr>
        <p:spPr>
          <a:xfrm>
            <a:off x="8046720" y="4572000"/>
            <a:ext cx="2606040" cy="64008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3 × 3 convolutions: the cell sees only its immediate neighbours (60 m), but at the finest grain the block carries.</a:t>
            </a:r>
            <a:endParaRPr lang="en-US" sz="850" dirty="0"/>
          </a:p>
        </p:txBody>
      </p:sp>
      <p:sp>
        <p:nvSpPr>
          <p:cNvPr id="219" name="Shape 217"/>
          <p:cNvSpPr/>
          <p:nvPr/>
        </p:nvSpPr>
        <p:spPr>
          <a:xfrm>
            <a:off x="10424160" y="3177540"/>
            <a:ext cx="822960" cy="822960"/>
          </a:xfrm>
          <a:prstGeom prst="ellipse">
            <a:avLst/>
          </a:prstGeom>
          <a:solidFill>
            <a:srgbClr val="FFFFFF"/>
          </a:solidFill>
          <a:ln w="12700">
            <a:solidFill>
              <a:srgbClr val="1F7A4D"/>
            </a:solidFill>
            <a:prstDash val="solid"/>
          </a:ln>
        </p:spPr>
      </p:sp>
      <p:sp>
        <p:nvSpPr>
          <p:cNvPr id="220" name="Shape 218"/>
          <p:cNvSpPr/>
          <p:nvPr/>
        </p:nvSpPr>
        <p:spPr>
          <a:xfrm>
            <a:off x="9395460" y="3570275"/>
            <a:ext cx="1028700" cy="0"/>
          </a:xfrm>
          <a:prstGeom prst="line">
            <a:avLst/>
          </a:prstGeom>
          <a:noFill/>
          <a:ln w="9525">
            <a:solidFill>
              <a:srgbClr val="1F7A4D"/>
            </a:solidFill>
            <a:prstDash val="dash"/>
          </a:ln>
        </p:spPr>
      </p:sp>
      <p:sp>
        <p:nvSpPr>
          <p:cNvPr id="221" name="Shape 219"/>
          <p:cNvSpPr/>
          <p:nvPr/>
        </p:nvSpPr>
        <p:spPr>
          <a:xfrm>
            <a:off x="10561320" y="3314700"/>
            <a:ext cx="182880" cy="182880"/>
          </a:xfrm>
          <a:prstGeom prst="rect">
            <a:avLst/>
          </a:prstGeom>
          <a:solidFill>
            <a:srgbClr val="1F7A4D">
              <a:alpha val="40000"/>
            </a:srgbClr>
          </a:solidFill>
          <a:ln w="6350">
            <a:solidFill>
              <a:srgbClr val="FFFFFF"/>
            </a:solidFill>
            <a:prstDash val="solid"/>
          </a:ln>
        </p:spPr>
      </p:sp>
      <p:sp>
        <p:nvSpPr>
          <p:cNvPr id="222" name="Shape 220"/>
          <p:cNvSpPr/>
          <p:nvPr/>
        </p:nvSpPr>
        <p:spPr>
          <a:xfrm>
            <a:off x="10744200" y="3314700"/>
            <a:ext cx="182880" cy="182880"/>
          </a:xfrm>
          <a:prstGeom prst="rect">
            <a:avLst/>
          </a:prstGeom>
          <a:solidFill>
            <a:srgbClr val="1F7A4D">
              <a:alpha val="40000"/>
            </a:srgbClr>
          </a:solidFill>
          <a:ln w="6350">
            <a:solidFill>
              <a:srgbClr val="FFFFFF"/>
            </a:solidFill>
            <a:prstDash val="solid"/>
          </a:ln>
        </p:spPr>
      </p:sp>
      <p:sp>
        <p:nvSpPr>
          <p:cNvPr id="223" name="Shape 221"/>
          <p:cNvSpPr/>
          <p:nvPr/>
        </p:nvSpPr>
        <p:spPr>
          <a:xfrm>
            <a:off x="10927080" y="3314700"/>
            <a:ext cx="182880" cy="182880"/>
          </a:xfrm>
          <a:prstGeom prst="rect">
            <a:avLst/>
          </a:prstGeom>
          <a:solidFill>
            <a:srgbClr val="1F7A4D">
              <a:alpha val="40000"/>
            </a:srgbClr>
          </a:solidFill>
          <a:ln w="6350">
            <a:solidFill>
              <a:srgbClr val="FFFFFF"/>
            </a:solidFill>
            <a:prstDash val="solid"/>
          </a:ln>
        </p:spPr>
      </p:sp>
      <p:sp>
        <p:nvSpPr>
          <p:cNvPr id="224" name="Shape 222"/>
          <p:cNvSpPr/>
          <p:nvPr/>
        </p:nvSpPr>
        <p:spPr>
          <a:xfrm>
            <a:off x="10561320" y="3497580"/>
            <a:ext cx="182880" cy="182880"/>
          </a:xfrm>
          <a:prstGeom prst="rect">
            <a:avLst/>
          </a:prstGeom>
          <a:solidFill>
            <a:srgbClr val="1F7A4D">
              <a:alpha val="40000"/>
            </a:srgbClr>
          </a:solidFill>
          <a:ln w="6350">
            <a:solidFill>
              <a:srgbClr val="FFFFFF"/>
            </a:solidFill>
            <a:prstDash val="solid"/>
          </a:ln>
        </p:spPr>
      </p:sp>
      <p:sp>
        <p:nvSpPr>
          <p:cNvPr id="225" name="Shape 223"/>
          <p:cNvSpPr/>
          <p:nvPr/>
        </p:nvSpPr>
        <p:spPr>
          <a:xfrm>
            <a:off x="10744200" y="3497580"/>
            <a:ext cx="182880" cy="182880"/>
          </a:xfrm>
          <a:prstGeom prst="rect">
            <a:avLst/>
          </a:prstGeom>
          <a:solidFill>
            <a:srgbClr val="1F7A4D"/>
          </a:solidFill>
          <a:ln w="6350">
            <a:solidFill>
              <a:srgbClr val="FFFFFF"/>
            </a:solidFill>
            <a:prstDash val="solid"/>
          </a:ln>
        </p:spPr>
      </p:sp>
      <p:sp>
        <p:nvSpPr>
          <p:cNvPr id="226" name="Shape 224"/>
          <p:cNvSpPr/>
          <p:nvPr/>
        </p:nvSpPr>
        <p:spPr>
          <a:xfrm>
            <a:off x="10927080" y="3497580"/>
            <a:ext cx="182880" cy="182880"/>
          </a:xfrm>
          <a:prstGeom prst="rect">
            <a:avLst/>
          </a:prstGeom>
          <a:solidFill>
            <a:srgbClr val="1F7A4D">
              <a:alpha val="40000"/>
            </a:srgbClr>
          </a:solidFill>
          <a:ln w="6350">
            <a:solidFill>
              <a:srgbClr val="FFFFFF"/>
            </a:solidFill>
            <a:prstDash val="solid"/>
          </a:ln>
        </p:spPr>
      </p:sp>
      <p:sp>
        <p:nvSpPr>
          <p:cNvPr id="227" name="Shape 225"/>
          <p:cNvSpPr/>
          <p:nvPr/>
        </p:nvSpPr>
        <p:spPr>
          <a:xfrm>
            <a:off x="10561320" y="3680460"/>
            <a:ext cx="182880" cy="182880"/>
          </a:xfrm>
          <a:prstGeom prst="rect">
            <a:avLst/>
          </a:prstGeom>
          <a:solidFill>
            <a:srgbClr val="1F7A4D">
              <a:alpha val="40000"/>
            </a:srgbClr>
          </a:solidFill>
          <a:ln w="6350">
            <a:solidFill>
              <a:srgbClr val="FFFFFF"/>
            </a:solidFill>
            <a:prstDash val="solid"/>
          </a:ln>
        </p:spPr>
      </p:sp>
      <p:sp>
        <p:nvSpPr>
          <p:cNvPr id="228" name="Shape 226"/>
          <p:cNvSpPr/>
          <p:nvPr/>
        </p:nvSpPr>
        <p:spPr>
          <a:xfrm>
            <a:off x="10744200" y="3680460"/>
            <a:ext cx="182880" cy="182880"/>
          </a:xfrm>
          <a:prstGeom prst="rect">
            <a:avLst/>
          </a:prstGeom>
          <a:solidFill>
            <a:srgbClr val="1F7A4D">
              <a:alpha val="40000"/>
            </a:srgbClr>
          </a:solidFill>
          <a:ln w="6350">
            <a:solidFill>
              <a:srgbClr val="FFFFFF"/>
            </a:solidFill>
            <a:prstDash val="solid"/>
          </a:ln>
        </p:spPr>
      </p:sp>
      <p:sp>
        <p:nvSpPr>
          <p:cNvPr id="229" name="Shape 227"/>
          <p:cNvSpPr/>
          <p:nvPr/>
        </p:nvSpPr>
        <p:spPr>
          <a:xfrm>
            <a:off x="10927080" y="3680460"/>
            <a:ext cx="182880" cy="182880"/>
          </a:xfrm>
          <a:prstGeom prst="rect">
            <a:avLst/>
          </a:prstGeom>
          <a:solidFill>
            <a:srgbClr val="1F7A4D">
              <a:alpha val="40000"/>
            </a:srgbClr>
          </a:solidFill>
          <a:ln w="6350">
            <a:solidFill>
              <a:srgbClr val="FFFFFF"/>
            </a:solidFill>
            <a:prstDash val="solid"/>
          </a:ln>
        </p:spPr>
      </p:sp>
      <p:sp>
        <p:nvSpPr>
          <p:cNvPr id="230" name="Text 228"/>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Three views of one place, computed simultaneously. </a:t>
            </a:r>
            <a:pPr indent="0" marL="0">
              <a:buNone/>
            </a:pPr>
            <a:r>
              <a:rPr lang="en-US" sz="1000" dirty="0">
                <a:solidFill>
                  <a:srgbClr val="1B2430"/>
                </a:solidFill>
                <a:latin typeface="Calibri" pitchFamily="34" charset="0"/>
                <a:ea typeface="Calibri" pitchFamily="34" charset="-122"/>
                <a:cs typeface="Calibri" pitchFamily="34" charset="-120"/>
              </a:rPr>
              <a:t>Space knows the whole frame coarsely, time knows the whole year at one spot, precision knows the fine local texture — none of them alone is the stencil; the exchange in step 3 is.</a:t>
            </a:r>
            <a:endParaRPr lang="en-US" sz="1000" dirty="0"/>
          </a:p>
        </p:txBody>
      </p:sp>
      <p:sp>
        <p:nvSpPr>
          <p:cNvPr id="231" name="Text 22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STP, step 3 of 4 — the pyramid exchange between blocks</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End of block k: each of the three maps is resampled to all three resolutions and summed into block k+1's inputs — repeat for N blocks</a:t>
            </a:r>
            <a:endParaRPr lang="en-US" sz="1250" dirty="0"/>
          </a:p>
        </p:txBody>
      </p:sp>
      <p:sp>
        <p:nvSpPr>
          <p:cNvPr id="4" name="Shape 2"/>
          <p:cNvSpPr/>
          <p:nvPr/>
        </p:nvSpPr>
        <p:spPr>
          <a:xfrm>
            <a:off x="548640" y="1371600"/>
            <a:ext cx="2008022" cy="566928"/>
          </a:xfrm>
          <a:prstGeom prst="roundRect">
            <a:avLst>
              <a:gd name="adj" fmla="val 9677"/>
            </a:avLst>
          </a:prstGeom>
          <a:solidFill>
            <a:srgbClr val="F4F6F9"/>
          </a:solidFill>
          <a:ln w="9525">
            <a:solidFill>
              <a:srgbClr val="B8C4D3"/>
            </a:solidFill>
            <a:prstDash val="solid"/>
          </a:ln>
        </p:spPr>
      </p:sp>
      <p:sp>
        <p:nvSpPr>
          <p:cNvPr id="5" name="Text 3"/>
          <p:cNvSpPr txBox="1"/>
          <p:nvPr/>
        </p:nvSpPr>
        <p:spPr>
          <a:xfrm>
            <a:off x="640080"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many sources, native resolutions, dated frames</a:t>
            </a:r>
            <a:endParaRPr lang="en-US" sz="1050" dirty="0"/>
          </a:p>
        </p:txBody>
      </p:sp>
      <p:sp>
        <p:nvSpPr>
          <p:cNvPr id="6" name="Shape 4"/>
          <p:cNvSpPr/>
          <p:nvPr/>
        </p:nvSpPr>
        <p:spPr>
          <a:xfrm>
            <a:off x="2593238" y="1563624"/>
            <a:ext cx="182880" cy="182880"/>
          </a:xfrm>
          <a:prstGeom prst="rightArrow">
            <a:avLst/>
          </a:prstGeom>
          <a:solidFill>
            <a:srgbClr val="B8C4D3"/>
          </a:solidFill>
          <a:ln w="12700">
            <a:solidFill>
              <a:srgbClr val="333333"/>
            </a:solidFill>
            <a:prstDash val="solid"/>
          </a:ln>
        </p:spPr>
      </p:sp>
      <p:sp>
        <p:nvSpPr>
          <p:cNvPr id="7" name="Shape 5"/>
          <p:cNvSpPr/>
          <p:nvPr/>
        </p:nvSpPr>
        <p:spPr>
          <a:xfrm>
            <a:off x="2812694" y="1371600"/>
            <a:ext cx="2008022" cy="566928"/>
          </a:xfrm>
          <a:prstGeom prst="roundRect">
            <a:avLst>
              <a:gd name="adj" fmla="val 9677"/>
            </a:avLst>
          </a:prstGeom>
          <a:solidFill>
            <a:srgbClr val="F4F6F9"/>
          </a:solidFill>
          <a:ln w="9525">
            <a:solidFill>
              <a:srgbClr val="B8C4D3"/>
            </a:solidFill>
            <a:prstDash val="solid"/>
          </a:ln>
        </p:spPr>
      </p:sp>
      <p:sp>
        <p:nvSpPr>
          <p:cNvPr id="8" name="Text 6"/>
          <p:cNvSpPr txBox="1"/>
          <p:nvPr/>
        </p:nvSpPr>
        <p:spPr>
          <a:xfrm>
            <a:off x="2904134"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 projectors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 ½ L feature maps (64 px @ 20 m)</a:t>
            </a:r>
            <a:endParaRPr lang="en-US" sz="1050" dirty="0"/>
          </a:p>
        </p:txBody>
      </p:sp>
      <p:sp>
        <p:nvSpPr>
          <p:cNvPr id="9" name="Shape 7"/>
          <p:cNvSpPr/>
          <p:nvPr/>
        </p:nvSpPr>
        <p:spPr>
          <a:xfrm>
            <a:off x="4857293" y="1563624"/>
            <a:ext cx="182880" cy="182880"/>
          </a:xfrm>
          <a:prstGeom prst="rightArrow">
            <a:avLst/>
          </a:prstGeom>
          <a:solidFill>
            <a:srgbClr val="B8C4D3"/>
          </a:solidFill>
          <a:ln w="12700">
            <a:solidFill>
              <a:srgbClr val="333333"/>
            </a:solidFill>
            <a:prstDash val="solid"/>
          </a:ln>
        </p:spPr>
      </p:sp>
      <p:sp>
        <p:nvSpPr>
          <p:cNvPr id="10" name="Shape 8"/>
          <p:cNvSpPr/>
          <p:nvPr/>
        </p:nvSpPr>
        <p:spPr>
          <a:xfrm>
            <a:off x="5076749" y="1371600"/>
            <a:ext cx="2008022" cy="566928"/>
          </a:xfrm>
          <a:prstGeom prst="roundRect">
            <a:avLst>
              <a:gd name="adj" fmla="val 9677"/>
            </a:avLst>
          </a:prstGeom>
          <a:solidFill>
            <a:srgbClr val="F4F6F9"/>
          </a:solidFill>
          <a:ln w="9525">
            <a:solidFill>
              <a:srgbClr val="B8C4D3"/>
            </a:solidFill>
            <a:prstDash val="solid"/>
          </a:ln>
        </p:spPr>
      </p:sp>
      <p:sp>
        <p:nvSpPr>
          <p:cNvPr id="11" name="Text 9"/>
          <p:cNvSpPr txBox="1"/>
          <p:nvPr/>
        </p:nvSpPr>
        <p:spPr>
          <a:xfrm>
            <a:off x="5168189"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STP block</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space ⅟₁₆ L · time ⅛ L · precision ½ L</a:t>
            </a:r>
            <a:endParaRPr lang="en-US" sz="1050" dirty="0"/>
          </a:p>
        </p:txBody>
      </p:sp>
      <p:sp>
        <p:nvSpPr>
          <p:cNvPr id="12" name="Shape 10"/>
          <p:cNvSpPr/>
          <p:nvPr/>
        </p:nvSpPr>
        <p:spPr>
          <a:xfrm>
            <a:off x="7121347" y="1563624"/>
            <a:ext cx="182880" cy="182880"/>
          </a:xfrm>
          <a:prstGeom prst="rightArrow">
            <a:avLst/>
          </a:prstGeom>
          <a:solidFill>
            <a:srgbClr val="B8C4D3"/>
          </a:solidFill>
          <a:ln w="12700">
            <a:solidFill>
              <a:srgbClr val="333333"/>
            </a:solidFill>
            <a:prstDash val="solid"/>
          </a:ln>
        </p:spPr>
      </p:sp>
      <p:sp>
        <p:nvSpPr>
          <p:cNvPr id="13" name="Shape 11"/>
          <p:cNvSpPr/>
          <p:nvPr/>
        </p:nvSpPr>
        <p:spPr>
          <a:xfrm>
            <a:off x="7340803" y="1371600"/>
            <a:ext cx="2008022" cy="566928"/>
          </a:xfrm>
          <a:prstGeom prst="roundRect">
            <a:avLst>
              <a:gd name="adj" fmla="val 9677"/>
            </a:avLst>
          </a:prstGeom>
          <a:solidFill>
            <a:srgbClr val="0B1F3A"/>
          </a:solidFill>
          <a:ln w="9525">
            <a:solidFill>
              <a:srgbClr val="0B1F3A"/>
            </a:solidFill>
            <a:prstDash val="solid"/>
          </a:ln>
        </p:spPr>
      </p:sp>
      <p:sp>
        <p:nvSpPr>
          <p:cNvPr id="14" name="Text 12"/>
          <p:cNvSpPr txBox="1"/>
          <p:nvPr/>
        </p:nvSpPr>
        <p:spPr>
          <a:xfrm>
            <a:off x="7432243" y="1371600"/>
            <a:ext cx="1825142"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Pyramid exchange</a:t>
            </a:r>
            <a:endParaRPr lang="en-US" sz="1050" dirty="0"/>
          </a:p>
          <a:p>
            <a:pPr indent="0" marL="0">
              <a:buNone/>
            </a:pPr>
            <a:r>
              <a:rPr lang="en-US" sz="800" dirty="0">
                <a:solidFill>
                  <a:srgbClr val="CADCFC"/>
                </a:solidFill>
                <a:latin typeface="Calibri" pitchFamily="34" charset="0"/>
                <a:ea typeface="Calibri" pitchFamily="34" charset="-122"/>
                <a:cs typeface="Calibri" pitchFamily="34" charset="-120"/>
              </a:rPr>
              <a:t>every operator → every operator, × N</a:t>
            </a:r>
            <a:endParaRPr lang="en-US" sz="1050" dirty="0"/>
          </a:p>
        </p:txBody>
      </p:sp>
      <p:sp>
        <p:nvSpPr>
          <p:cNvPr id="15" name="Shape 13"/>
          <p:cNvSpPr/>
          <p:nvPr/>
        </p:nvSpPr>
        <p:spPr>
          <a:xfrm>
            <a:off x="9385402" y="1563624"/>
            <a:ext cx="182880" cy="182880"/>
          </a:xfrm>
          <a:prstGeom prst="rightArrow">
            <a:avLst/>
          </a:prstGeom>
          <a:solidFill>
            <a:srgbClr val="B8C4D3"/>
          </a:solidFill>
          <a:ln w="12700">
            <a:solidFill>
              <a:srgbClr val="333333"/>
            </a:solidFill>
            <a:prstDash val="solid"/>
          </a:ln>
        </p:spPr>
      </p:sp>
      <p:sp>
        <p:nvSpPr>
          <p:cNvPr id="16" name="Shape 14"/>
          <p:cNvSpPr/>
          <p:nvPr/>
        </p:nvSpPr>
        <p:spPr>
          <a:xfrm>
            <a:off x="9604858" y="1371600"/>
            <a:ext cx="2008022" cy="566928"/>
          </a:xfrm>
          <a:prstGeom prst="roundRect">
            <a:avLst>
              <a:gd name="adj" fmla="val 9677"/>
            </a:avLst>
          </a:prstGeom>
          <a:solidFill>
            <a:srgbClr val="F4F6F9"/>
          </a:solidFill>
          <a:ln w="9525">
            <a:solidFill>
              <a:srgbClr val="B8C4D3"/>
            </a:solidFill>
            <a:prstDash val="solid"/>
          </a:ln>
        </p:spPr>
      </p:sp>
      <p:sp>
        <p:nvSpPr>
          <p:cNvPr id="17" name="Text 15"/>
          <p:cNvSpPr txBox="1"/>
          <p:nvPr/>
        </p:nvSpPr>
        <p:spPr>
          <a:xfrm>
            <a:off x="9696298"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Output head</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 L (10 m), 64-D unit vector</a:t>
            </a:r>
            <a:endParaRPr lang="en-US" sz="1050" dirty="0"/>
          </a:p>
        </p:txBody>
      </p:sp>
      <p:sp>
        <p:nvSpPr>
          <p:cNvPr id="18" name="Text 16"/>
          <p:cNvSpPr txBox="1"/>
          <p:nvPr/>
        </p:nvSpPr>
        <p:spPr>
          <a:xfrm>
            <a:off x="548640" y="6172200"/>
            <a:ext cx="11064240" cy="256032"/>
          </a:xfrm>
          <a:prstGeom prst="rect">
            <a:avLst/>
          </a:prstGeom>
          <a:noFill/>
          <a:ln/>
        </p:spPr>
        <p:txBody>
          <a:bodyPr wrap="square" lIns="0" tIns="0" rIns="0" bIns="0" rtlCol="0" anchor="ctr"/>
          <a:lstStyle/>
          <a:p>
            <a:pPr indent="0" marL="0">
              <a:buNone/>
            </a:pPr>
            <a:r>
              <a:rPr lang="en-US" sz="900" i="1" dirty="0">
                <a:solidFill>
                  <a:srgbClr val="6B7A8F"/>
                </a:solidFill>
                <a:latin typeface="Calibri" pitchFamily="34" charset="0"/>
                <a:ea typeface="Calibri" pitchFamily="34" charset="-122"/>
                <a:cs typeface="Calibri" pitchFamily="34" charset="-120"/>
              </a:rPr>
              <a:t>L = side length of the square input frame in pixels. L = 128 px @ 10 m (1.28 km) is the paper's own frame (supplement S2.1, S8.2); the real depth is N = 15 blocks, we draw 4. Frame counts per year are typical values, not from the paper.</a:t>
            </a:r>
            <a:endParaRPr lang="en-US" sz="900" dirty="0"/>
          </a:p>
        </p:txBody>
      </p:sp>
      <p:sp>
        <p:nvSpPr>
          <p:cNvPr id="19" name="Shape 17"/>
          <p:cNvSpPr/>
          <p:nvPr/>
        </p:nvSpPr>
        <p:spPr>
          <a:xfrm>
            <a:off x="1463040" y="2171700"/>
            <a:ext cx="960120" cy="960120"/>
          </a:xfrm>
          <a:prstGeom prst="rect">
            <a:avLst/>
          </a:prstGeom>
          <a:solidFill>
            <a:srgbClr val="FFFFFF"/>
          </a:solidFill>
          <a:ln w="15875">
            <a:solidFill>
              <a:srgbClr val="2E86AB"/>
            </a:solidFill>
            <a:prstDash val="solid"/>
          </a:ln>
        </p:spPr>
      </p:sp>
      <p:sp>
        <p:nvSpPr>
          <p:cNvPr id="20" name="Shape 18"/>
          <p:cNvSpPr/>
          <p:nvPr/>
        </p:nvSpPr>
        <p:spPr>
          <a:xfrm>
            <a:off x="1583055" y="2171700"/>
            <a:ext cx="0" cy="960120"/>
          </a:xfrm>
          <a:prstGeom prst="line">
            <a:avLst/>
          </a:prstGeom>
          <a:noFill/>
          <a:ln w="7620">
            <a:solidFill>
              <a:srgbClr val="B8C4D3"/>
            </a:solidFill>
            <a:prstDash val="solid"/>
          </a:ln>
        </p:spPr>
      </p:sp>
      <p:sp>
        <p:nvSpPr>
          <p:cNvPr id="21" name="Shape 19"/>
          <p:cNvSpPr/>
          <p:nvPr/>
        </p:nvSpPr>
        <p:spPr>
          <a:xfrm>
            <a:off x="1463040" y="2291715"/>
            <a:ext cx="960120" cy="0"/>
          </a:xfrm>
          <a:prstGeom prst="line">
            <a:avLst/>
          </a:prstGeom>
          <a:noFill/>
          <a:ln w="7620">
            <a:solidFill>
              <a:srgbClr val="B8C4D3"/>
            </a:solidFill>
            <a:prstDash val="solid"/>
          </a:ln>
        </p:spPr>
      </p:sp>
      <p:sp>
        <p:nvSpPr>
          <p:cNvPr id="22" name="Shape 20"/>
          <p:cNvSpPr/>
          <p:nvPr/>
        </p:nvSpPr>
        <p:spPr>
          <a:xfrm>
            <a:off x="1703070" y="2171700"/>
            <a:ext cx="0" cy="960120"/>
          </a:xfrm>
          <a:prstGeom prst="line">
            <a:avLst/>
          </a:prstGeom>
          <a:noFill/>
          <a:ln w="7620">
            <a:solidFill>
              <a:srgbClr val="B8C4D3"/>
            </a:solidFill>
            <a:prstDash val="solid"/>
          </a:ln>
        </p:spPr>
      </p:sp>
      <p:sp>
        <p:nvSpPr>
          <p:cNvPr id="23" name="Shape 21"/>
          <p:cNvSpPr/>
          <p:nvPr/>
        </p:nvSpPr>
        <p:spPr>
          <a:xfrm>
            <a:off x="1463040" y="2411730"/>
            <a:ext cx="960120" cy="0"/>
          </a:xfrm>
          <a:prstGeom prst="line">
            <a:avLst/>
          </a:prstGeom>
          <a:noFill/>
          <a:ln w="7620">
            <a:solidFill>
              <a:srgbClr val="B8C4D3"/>
            </a:solidFill>
            <a:prstDash val="solid"/>
          </a:ln>
        </p:spPr>
      </p:sp>
      <p:sp>
        <p:nvSpPr>
          <p:cNvPr id="24" name="Shape 22"/>
          <p:cNvSpPr/>
          <p:nvPr/>
        </p:nvSpPr>
        <p:spPr>
          <a:xfrm>
            <a:off x="1823085" y="2171700"/>
            <a:ext cx="0" cy="960120"/>
          </a:xfrm>
          <a:prstGeom prst="line">
            <a:avLst/>
          </a:prstGeom>
          <a:noFill/>
          <a:ln w="7620">
            <a:solidFill>
              <a:srgbClr val="B8C4D3"/>
            </a:solidFill>
            <a:prstDash val="solid"/>
          </a:ln>
        </p:spPr>
      </p:sp>
      <p:sp>
        <p:nvSpPr>
          <p:cNvPr id="25" name="Shape 23"/>
          <p:cNvSpPr/>
          <p:nvPr/>
        </p:nvSpPr>
        <p:spPr>
          <a:xfrm>
            <a:off x="1463040" y="2531745"/>
            <a:ext cx="960120" cy="0"/>
          </a:xfrm>
          <a:prstGeom prst="line">
            <a:avLst/>
          </a:prstGeom>
          <a:noFill/>
          <a:ln w="7620">
            <a:solidFill>
              <a:srgbClr val="B8C4D3"/>
            </a:solidFill>
            <a:prstDash val="solid"/>
          </a:ln>
        </p:spPr>
      </p:sp>
      <p:sp>
        <p:nvSpPr>
          <p:cNvPr id="26" name="Shape 24"/>
          <p:cNvSpPr/>
          <p:nvPr/>
        </p:nvSpPr>
        <p:spPr>
          <a:xfrm>
            <a:off x="1943100" y="2171700"/>
            <a:ext cx="0" cy="960120"/>
          </a:xfrm>
          <a:prstGeom prst="line">
            <a:avLst/>
          </a:prstGeom>
          <a:noFill/>
          <a:ln w="7620">
            <a:solidFill>
              <a:srgbClr val="B8C4D3"/>
            </a:solidFill>
            <a:prstDash val="solid"/>
          </a:ln>
        </p:spPr>
      </p:sp>
      <p:sp>
        <p:nvSpPr>
          <p:cNvPr id="27" name="Shape 25"/>
          <p:cNvSpPr/>
          <p:nvPr/>
        </p:nvSpPr>
        <p:spPr>
          <a:xfrm>
            <a:off x="1463040" y="2651760"/>
            <a:ext cx="960120" cy="0"/>
          </a:xfrm>
          <a:prstGeom prst="line">
            <a:avLst/>
          </a:prstGeom>
          <a:noFill/>
          <a:ln w="7620">
            <a:solidFill>
              <a:srgbClr val="B8C4D3"/>
            </a:solidFill>
            <a:prstDash val="solid"/>
          </a:ln>
        </p:spPr>
      </p:sp>
      <p:sp>
        <p:nvSpPr>
          <p:cNvPr id="28" name="Shape 26"/>
          <p:cNvSpPr/>
          <p:nvPr/>
        </p:nvSpPr>
        <p:spPr>
          <a:xfrm>
            <a:off x="2063115" y="2171700"/>
            <a:ext cx="0" cy="960120"/>
          </a:xfrm>
          <a:prstGeom prst="line">
            <a:avLst/>
          </a:prstGeom>
          <a:noFill/>
          <a:ln w="7620">
            <a:solidFill>
              <a:srgbClr val="B8C4D3"/>
            </a:solidFill>
            <a:prstDash val="solid"/>
          </a:ln>
        </p:spPr>
      </p:sp>
      <p:sp>
        <p:nvSpPr>
          <p:cNvPr id="29" name="Shape 27"/>
          <p:cNvSpPr/>
          <p:nvPr/>
        </p:nvSpPr>
        <p:spPr>
          <a:xfrm>
            <a:off x="1463040" y="2771775"/>
            <a:ext cx="960120" cy="0"/>
          </a:xfrm>
          <a:prstGeom prst="line">
            <a:avLst/>
          </a:prstGeom>
          <a:noFill/>
          <a:ln w="7620">
            <a:solidFill>
              <a:srgbClr val="B8C4D3"/>
            </a:solidFill>
            <a:prstDash val="solid"/>
          </a:ln>
        </p:spPr>
      </p:sp>
      <p:sp>
        <p:nvSpPr>
          <p:cNvPr id="30" name="Shape 28"/>
          <p:cNvSpPr/>
          <p:nvPr/>
        </p:nvSpPr>
        <p:spPr>
          <a:xfrm>
            <a:off x="2183130" y="2171700"/>
            <a:ext cx="0" cy="960120"/>
          </a:xfrm>
          <a:prstGeom prst="line">
            <a:avLst/>
          </a:prstGeom>
          <a:noFill/>
          <a:ln w="7620">
            <a:solidFill>
              <a:srgbClr val="B8C4D3"/>
            </a:solidFill>
            <a:prstDash val="solid"/>
          </a:ln>
        </p:spPr>
      </p:sp>
      <p:sp>
        <p:nvSpPr>
          <p:cNvPr id="31" name="Shape 29"/>
          <p:cNvSpPr/>
          <p:nvPr/>
        </p:nvSpPr>
        <p:spPr>
          <a:xfrm>
            <a:off x="1463040" y="2891790"/>
            <a:ext cx="960120" cy="0"/>
          </a:xfrm>
          <a:prstGeom prst="line">
            <a:avLst/>
          </a:prstGeom>
          <a:noFill/>
          <a:ln w="7620">
            <a:solidFill>
              <a:srgbClr val="B8C4D3"/>
            </a:solidFill>
            <a:prstDash val="solid"/>
          </a:ln>
        </p:spPr>
      </p:sp>
      <p:sp>
        <p:nvSpPr>
          <p:cNvPr id="32" name="Shape 30"/>
          <p:cNvSpPr/>
          <p:nvPr/>
        </p:nvSpPr>
        <p:spPr>
          <a:xfrm>
            <a:off x="2303145" y="2171700"/>
            <a:ext cx="0" cy="960120"/>
          </a:xfrm>
          <a:prstGeom prst="line">
            <a:avLst/>
          </a:prstGeom>
          <a:noFill/>
          <a:ln w="7620">
            <a:solidFill>
              <a:srgbClr val="B8C4D3"/>
            </a:solidFill>
            <a:prstDash val="solid"/>
          </a:ln>
        </p:spPr>
      </p:sp>
      <p:sp>
        <p:nvSpPr>
          <p:cNvPr id="33" name="Shape 31"/>
          <p:cNvSpPr/>
          <p:nvPr/>
        </p:nvSpPr>
        <p:spPr>
          <a:xfrm>
            <a:off x="1463040" y="3011805"/>
            <a:ext cx="960120" cy="0"/>
          </a:xfrm>
          <a:prstGeom prst="line">
            <a:avLst/>
          </a:prstGeom>
          <a:noFill/>
          <a:ln w="7620">
            <a:solidFill>
              <a:srgbClr val="B8C4D3"/>
            </a:solidFill>
            <a:prstDash val="solid"/>
          </a:ln>
        </p:spPr>
      </p:sp>
      <p:sp>
        <p:nvSpPr>
          <p:cNvPr id="34" name="Shape 32"/>
          <p:cNvSpPr/>
          <p:nvPr/>
        </p:nvSpPr>
        <p:spPr>
          <a:xfrm>
            <a:off x="1823085" y="2531745"/>
            <a:ext cx="120015" cy="120015"/>
          </a:xfrm>
          <a:prstGeom prst="rect">
            <a:avLst/>
          </a:prstGeom>
          <a:solidFill>
            <a:srgbClr val="2E86AB"/>
          </a:solidFill>
          <a:ln w="12700">
            <a:solidFill>
              <a:srgbClr val="2E86AB"/>
            </a:solidFill>
            <a:prstDash val="solid"/>
          </a:ln>
        </p:spPr>
      </p:sp>
      <p:sp>
        <p:nvSpPr>
          <p:cNvPr id="35" name="Text 33"/>
          <p:cNvSpPr txBox="1"/>
          <p:nvPr/>
        </p:nvSpPr>
        <p:spPr>
          <a:xfrm>
            <a:off x="1188720" y="1860804"/>
            <a:ext cx="1508760" cy="256032"/>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block k · outputs</a:t>
            </a:r>
            <a:endParaRPr lang="en-US" sz="950" dirty="0"/>
          </a:p>
        </p:txBody>
      </p:sp>
      <p:sp>
        <p:nvSpPr>
          <p:cNvPr id="36" name="Shape 34"/>
          <p:cNvSpPr/>
          <p:nvPr/>
        </p:nvSpPr>
        <p:spPr>
          <a:xfrm>
            <a:off x="1463040" y="3314700"/>
            <a:ext cx="960120" cy="960120"/>
          </a:xfrm>
          <a:prstGeom prst="rect">
            <a:avLst/>
          </a:prstGeom>
          <a:solidFill>
            <a:srgbClr val="FFFFFF"/>
          </a:solidFill>
          <a:ln w="15875">
            <a:solidFill>
              <a:srgbClr val="E07A2F"/>
            </a:solidFill>
            <a:prstDash val="solid"/>
          </a:ln>
        </p:spPr>
      </p:sp>
      <p:sp>
        <p:nvSpPr>
          <p:cNvPr id="37" name="Shape 35"/>
          <p:cNvSpPr/>
          <p:nvPr/>
        </p:nvSpPr>
        <p:spPr>
          <a:xfrm>
            <a:off x="1523048" y="3314700"/>
            <a:ext cx="0" cy="960120"/>
          </a:xfrm>
          <a:prstGeom prst="line">
            <a:avLst/>
          </a:prstGeom>
          <a:noFill/>
          <a:ln w="5080">
            <a:solidFill>
              <a:srgbClr val="B8C4D3"/>
            </a:solidFill>
            <a:prstDash val="solid"/>
          </a:ln>
        </p:spPr>
      </p:sp>
      <p:sp>
        <p:nvSpPr>
          <p:cNvPr id="38" name="Shape 36"/>
          <p:cNvSpPr/>
          <p:nvPr/>
        </p:nvSpPr>
        <p:spPr>
          <a:xfrm>
            <a:off x="1463040" y="3374707"/>
            <a:ext cx="960120" cy="0"/>
          </a:xfrm>
          <a:prstGeom prst="line">
            <a:avLst/>
          </a:prstGeom>
          <a:noFill/>
          <a:ln w="5080">
            <a:solidFill>
              <a:srgbClr val="B8C4D3"/>
            </a:solidFill>
            <a:prstDash val="solid"/>
          </a:ln>
        </p:spPr>
      </p:sp>
      <p:sp>
        <p:nvSpPr>
          <p:cNvPr id="39" name="Shape 37"/>
          <p:cNvSpPr/>
          <p:nvPr/>
        </p:nvSpPr>
        <p:spPr>
          <a:xfrm>
            <a:off x="1583055" y="3314700"/>
            <a:ext cx="0" cy="960120"/>
          </a:xfrm>
          <a:prstGeom prst="line">
            <a:avLst/>
          </a:prstGeom>
          <a:noFill/>
          <a:ln w="5080">
            <a:solidFill>
              <a:srgbClr val="B8C4D3"/>
            </a:solidFill>
            <a:prstDash val="solid"/>
          </a:ln>
        </p:spPr>
      </p:sp>
      <p:sp>
        <p:nvSpPr>
          <p:cNvPr id="40" name="Shape 38"/>
          <p:cNvSpPr/>
          <p:nvPr/>
        </p:nvSpPr>
        <p:spPr>
          <a:xfrm>
            <a:off x="1463040" y="3434715"/>
            <a:ext cx="960120" cy="0"/>
          </a:xfrm>
          <a:prstGeom prst="line">
            <a:avLst/>
          </a:prstGeom>
          <a:noFill/>
          <a:ln w="5080">
            <a:solidFill>
              <a:srgbClr val="B8C4D3"/>
            </a:solidFill>
            <a:prstDash val="solid"/>
          </a:ln>
        </p:spPr>
      </p:sp>
      <p:sp>
        <p:nvSpPr>
          <p:cNvPr id="41" name="Shape 39"/>
          <p:cNvSpPr/>
          <p:nvPr/>
        </p:nvSpPr>
        <p:spPr>
          <a:xfrm>
            <a:off x="1643063" y="3314700"/>
            <a:ext cx="0" cy="960120"/>
          </a:xfrm>
          <a:prstGeom prst="line">
            <a:avLst/>
          </a:prstGeom>
          <a:noFill/>
          <a:ln w="5080">
            <a:solidFill>
              <a:srgbClr val="B8C4D3"/>
            </a:solidFill>
            <a:prstDash val="solid"/>
          </a:ln>
        </p:spPr>
      </p:sp>
      <p:sp>
        <p:nvSpPr>
          <p:cNvPr id="42" name="Shape 40"/>
          <p:cNvSpPr/>
          <p:nvPr/>
        </p:nvSpPr>
        <p:spPr>
          <a:xfrm>
            <a:off x="1463040" y="3494722"/>
            <a:ext cx="960120" cy="0"/>
          </a:xfrm>
          <a:prstGeom prst="line">
            <a:avLst/>
          </a:prstGeom>
          <a:noFill/>
          <a:ln w="5080">
            <a:solidFill>
              <a:srgbClr val="B8C4D3"/>
            </a:solidFill>
            <a:prstDash val="solid"/>
          </a:ln>
        </p:spPr>
      </p:sp>
      <p:sp>
        <p:nvSpPr>
          <p:cNvPr id="43" name="Shape 41"/>
          <p:cNvSpPr/>
          <p:nvPr/>
        </p:nvSpPr>
        <p:spPr>
          <a:xfrm>
            <a:off x="1703070" y="3314700"/>
            <a:ext cx="0" cy="960120"/>
          </a:xfrm>
          <a:prstGeom prst="line">
            <a:avLst/>
          </a:prstGeom>
          <a:noFill/>
          <a:ln w="5080">
            <a:solidFill>
              <a:srgbClr val="B8C4D3"/>
            </a:solidFill>
            <a:prstDash val="solid"/>
          </a:ln>
        </p:spPr>
      </p:sp>
      <p:sp>
        <p:nvSpPr>
          <p:cNvPr id="44" name="Shape 42"/>
          <p:cNvSpPr/>
          <p:nvPr/>
        </p:nvSpPr>
        <p:spPr>
          <a:xfrm>
            <a:off x="1463040" y="3554730"/>
            <a:ext cx="960120" cy="0"/>
          </a:xfrm>
          <a:prstGeom prst="line">
            <a:avLst/>
          </a:prstGeom>
          <a:noFill/>
          <a:ln w="5080">
            <a:solidFill>
              <a:srgbClr val="B8C4D3"/>
            </a:solidFill>
            <a:prstDash val="solid"/>
          </a:ln>
        </p:spPr>
      </p:sp>
      <p:sp>
        <p:nvSpPr>
          <p:cNvPr id="45" name="Shape 43"/>
          <p:cNvSpPr/>
          <p:nvPr/>
        </p:nvSpPr>
        <p:spPr>
          <a:xfrm>
            <a:off x="1763078" y="3314700"/>
            <a:ext cx="0" cy="960120"/>
          </a:xfrm>
          <a:prstGeom prst="line">
            <a:avLst/>
          </a:prstGeom>
          <a:noFill/>
          <a:ln w="5080">
            <a:solidFill>
              <a:srgbClr val="B8C4D3"/>
            </a:solidFill>
            <a:prstDash val="solid"/>
          </a:ln>
        </p:spPr>
      </p:sp>
      <p:sp>
        <p:nvSpPr>
          <p:cNvPr id="46" name="Shape 44"/>
          <p:cNvSpPr/>
          <p:nvPr/>
        </p:nvSpPr>
        <p:spPr>
          <a:xfrm>
            <a:off x="1463040" y="3614737"/>
            <a:ext cx="960120" cy="0"/>
          </a:xfrm>
          <a:prstGeom prst="line">
            <a:avLst/>
          </a:prstGeom>
          <a:noFill/>
          <a:ln w="5080">
            <a:solidFill>
              <a:srgbClr val="B8C4D3"/>
            </a:solidFill>
            <a:prstDash val="solid"/>
          </a:ln>
        </p:spPr>
      </p:sp>
      <p:sp>
        <p:nvSpPr>
          <p:cNvPr id="47" name="Shape 45"/>
          <p:cNvSpPr/>
          <p:nvPr/>
        </p:nvSpPr>
        <p:spPr>
          <a:xfrm>
            <a:off x="1823085" y="3314700"/>
            <a:ext cx="0" cy="960120"/>
          </a:xfrm>
          <a:prstGeom prst="line">
            <a:avLst/>
          </a:prstGeom>
          <a:noFill/>
          <a:ln w="5080">
            <a:solidFill>
              <a:srgbClr val="B8C4D3"/>
            </a:solidFill>
            <a:prstDash val="solid"/>
          </a:ln>
        </p:spPr>
      </p:sp>
      <p:sp>
        <p:nvSpPr>
          <p:cNvPr id="48" name="Shape 46"/>
          <p:cNvSpPr/>
          <p:nvPr/>
        </p:nvSpPr>
        <p:spPr>
          <a:xfrm>
            <a:off x="1463040" y="3674745"/>
            <a:ext cx="960120" cy="0"/>
          </a:xfrm>
          <a:prstGeom prst="line">
            <a:avLst/>
          </a:prstGeom>
          <a:noFill/>
          <a:ln w="5080">
            <a:solidFill>
              <a:srgbClr val="B8C4D3"/>
            </a:solidFill>
            <a:prstDash val="solid"/>
          </a:ln>
        </p:spPr>
      </p:sp>
      <p:sp>
        <p:nvSpPr>
          <p:cNvPr id="49" name="Shape 47"/>
          <p:cNvSpPr/>
          <p:nvPr/>
        </p:nvSpPr>
        <p:spPr>
          <a:xfrm>
            <a:off x="1883093" y="3314700"/>
            <a:ext cx="0" cy="960120"/>
          </a:xfrm>
          <a:prstGeom prst="line">
            <a:avLst/>
          </a:prstGeom>
          <a:noFill/>
          <a:ln w="5080">
            <a:solidFill>
              <a:srgbClr val="B8C4D3"/>
            </a:solidFill>
            <a:prstDash val="solid"/>
          </a:ln>
        </p:spPr>
      </p:sp>
      <p:sp>
        <p:nvSpPr>
          <p:cNvPr id="50" name="Shape 48"/>
          <p:cNvSpPr/>
          <p:nvPr/>
        </p:nvSpPr>
        <p:spPr>
          <a:xfrm>
            <a:off x="1463040" y="3734752"/>
            <a:ext cx="960120" cy="0"/>
          </a:xfrm>
          <a:prstGeom prst="line">
            <a:avLst/>
          </a:prstGeom>
          <a:noFill/>
          <a:ln w="5080">
            <a:solidFill>
              <a:srgbClr val="B8C4D3"/>
            </a:solidFill>
            <a:prstDash val="solid"/>
          </a:ln>
        </p:spPr>
      </p:sp>
      <p:sp>
        <p:nvSpPr>
          <p:cNvPr id="51" name="Shape 49"/>
          <p:cNvSpPr/>
          <p:nvPr/>
        </p:nvSpPr>
        <p:spPr>
          <a:xfrm>
            <a:off x="1943100" y="3314700"/>
            <a:ext cx="0" cy="960120"/>
          </a:xfrm>
          <a:prstGeom prst="line">
            <a:avLst/>
          </a:prstGeom>
          <a:noFill/>
          <a:ln w="5080">
            <a:solidFill>
              <a:srgbClr val="B8C4D3"/>
            </a:solidFill>
            <a:prstDash val="solid"/>
          </a:ln>
        </p:spPr>
      </p:sp>
      <p:sp>
        <p:nvSpPr>
          <p:cNvPr id="52" name="Shape 50"/>
          <p:cNvSpPr/>
          <p:nvPr/>
        </p:nvSpPr>
        <p:spPr>
          <a:xfrm>
            <a:off x="1463040" y="3794760"/>
            <a:ext cx="960120" cy="0"/>
          </a:xfrm>
          <a:prstGeom prst="line">
            <a:avLst/>
          </a:prstGeom>
          <a:noFill/>
          <a:ln w="5080">
            <a:solidFill>
              <a:srgbClr val="B8C4D3"/>
            </a:solidFill>
            <a:prstDash val="solid"/>
          </a:ln>
        </p:spPr>
      </p:sp>
      <p:sp>
        <p:nvSpPr>
          <p:cNvPr id="53" name="Shape 51"/>
          <p:cNvSpPr/>
          <p:nvPr/>
        </p:nvSpPr>
        <p:spPr>
          <a:xfrm>
            <a:off x="2003108" y="3314700"/>
            <a:ext cx="0" cy="960120"/>
          </a:xfrm>
          <a:prstGeom prst="line">
            <a:avLst/>
          </a:prstGeom>
          <a:noFill/>
          <a:ln w="5080">
            <a:solidFill>
              <a:srgbClr val="B8C4D3"/>
            </a:solidFill>
            <a:prstDash val="solid"/>
          </a:ln>
        </p:spPr>
      </p:sp>
      <p:sp>
        <p:nvSpPr>
          <p:cNvPr id="54" name="Shape 52"/>
          <p:cNvSpPr/>
          <p:nvPr/>
        </p:nvSpPr>
        <p:spPr>
          <a:xfrm>
            <a:off x="1463040" y="3854767"/>
            <a:ext cx="960120" cy="0"/>
          </a:xfrm>
          <a:prstGeom prst="line">
            <a:avLst/>
          </a:prstGeom>
          <a:noFill/>
          <a:ln w="5080">
            <a:solidFill>
              <a:srgbClr val="B8C4D3"/>
            </a:solidFill>
            <a:prstDash val="solid"/>
          </a:ln>
        </p:spPr>
      </p:sp>
      <p:sp>
        <p:nvSpPr>
          <p:cNvPr id="55" name="Shape 53"/>
          <p:cNvSpPr/>
          <p:nvPr/>
        </p:nvSpPr>
        <p:spPr>
          <a:xfrm>
            <a:off x="2063115" y="3314700"/>
            <a:ext cx="0" cy="960120"/>
          </a:xfrm>
          <a:prstGeom prst="line">
            <a:avLst/>
          </a:prstGeom>
          <a:noFill/>
          <a:ln w="5080">
            <a:solidFill>
              <a:srgbClr val="B8C4D3"/>
            </a:solidFill>
            <a:prstDash val="solid"/>
          </a:ln>
        </p:spPr>
      </p:sp>
      <p:sp>
        <p:nvSpPr>
          <p:cNvPr id="56" name="Shape 54"/>
          <p:cNvSpPr/>
          <p:nvPr/>
        </p:nvSpPr>
        <p:spPr>
          <a:xfrm>
            <a:off x="1463040" y="3914775"/>
            <a:ext cx="960120" cy="0"/>
          </a:xfrm>
          <a:prstGeom prst="line">
            <a:avLst/>
          </a:prstGeom>
          <a:noFill/>
          <a:ln w="5080">
            <a:solidFill>
              <a:srgbClr val="B8C4D3"/>
            </a:solidFill>
            <a:prstDash val="solid"/>
          </a:ln>
        </p:spPr>
      </p:sp>
      <p:sp>
        <p:nvSpPr>
          <p:cNvPr id="57" name="Shape 55"/>
          <p:cNvSpPr/>
          <p:nvPr/>
        </p:nvSpPr>
        <p:spPr>
          <a:xfrm>
            <a:off x="2123123" y="3314700"/>
            <a:ext cx="0" cy="960120"/>
          </a:xfrm>
          <a:prstGeom prst="line">
            <a:avLst/>
          </a:prstGeom>
          <a:noFill/>
          <a:ln w="5080">
            <a:solidFill>
              <a:srgbClr val="B8C4D3"/>
            </a:solidFill>
            <a:prstDash val="solid"/>
          </a:ln>
        </p:spPr>
      </p:sp>
      <p:sp>
        <p:nvSpPr>
          <p:cNvPr id="58" name="Shape 56"/>
          <p:cNvSpPr/>
          <p:nvPr/>
        </p:nvSpPr>
        <p:spPr>
          <a:xfrm>
            <a:off x="1463040" y="3974783"/>
            <a:ext cx="960120" cy="0"/>
          </a:xfrm>
          <a:prstGeom prst="line">
            <a:avLst/>
          </a:prstGeom>
          <a:noFill/>
          <a:ln w="5080">
            <a:solidFill>
              <a:srgbClr val="B8C4D3"/>
            </a:solidFill>
            <a:prstDash val="solid"/>
          </a:ln>
        </p:spPr>
      </p:sp>
      <p:sp>
        <p:nvSpPr>
          <p:cNvPr id="59" name="Shape 57"/>
          <p:cNvSpPr/>
          <p:nvPr/>
        </p:nvSpPr>
        <p:spPr>
          <a:xfrm>
            <a:off x="2183130" y="3314700"/>
            <a:ext cx="0" cy="960120"/>
          </a:xfrm>
          <a:prstGeom prst="line">
            <a:avLst/>
          </a:prstGeom>
          <a:noFill/>
          <a:ln w="5080">
            <a:solidFill>
              <a:srgbClr val="B8C4D3"/>
            </a:solidFill>
            <a:prstDash val="solid"/>
          </a:ln>
        </p:spPr>
      </p:sp>
      <p:sp>
        <p:nvSpPr>
          <p:cNvPr id="60" name="Shape 58"/>
          <p:cNvSpPr/>
          <p:nvPr/>
        </p:nvSpPr>
        <p:spPr>
          <a:xfrm>
            <a:off x="1463040" y="4034790"/>
            <a:ext cx="960120" cy="0"/>
          </a:xfrm>
          <a:prstGeom prst="line">
            <a:avLst/>
          </a:prstGeom>
          <a:noFill/>
          <a:ln w="5080">
            <a:solidFill>
              <a:srgbClr val="B8C4D3"/>
            </a:solidFill>
            <a:prstDash val="solid"/>
          </a:ln>
        </p:spPr>
      </p:sp>
      <p:sp>
        <p:nvSpPr>
          <p:cNvPr id="61" name="Shape 59"/>
          <p:cNvSpPr/>
          <p:nvPr/>
        </p:nvSpPr>
        <p:spPr>
          <a:xfrm>
            <a:off x="2243138" y="3314700"/>
            <a:ext cx="0" cy="960120"/>
          </a:xfrm>
          <a:prstGeom prst="line">
            <a:avLst/>
          </a:prstGeom>
          <a:noFill/>
          <a:ln w="5080">
            <a:solidFill>
              <a:srgbClr val="B8C4D3"/>
            </a:solidFill>
            <a:prstDash val="solid"/>
          </a:ln>
        </p:spPr>
      </p:sp>
      <p:sp>
        <p:nvSpPr>
          <p:cNvPr id="62" name="Shape 60"/>
          <p:cNvSpPr/>
          <p:nvPr/>
        </p:nvSpPr>
        <p:spPr>
          <a:xfrm>
            <a:off x="1463040" y="4094797"/>
            <a:ext cx="960120" cy="0"/>
          </a:xfrm>
          <a:prstGeom prst="line">
            <a:avLst/>
          </a:prstGeom>
          <a:noFill/>
          <a:ln w="5080">
            <a:solidFill>
              <a:srgbClr val="B8C4D3"/>
            </a:solidFill>
            <a:prstDash val="solid"/>
          </a:ln>
        </p:spPr>
      </p:sp>
      <p:sp>
        <p:nvSpPr>
          <p:cNvPr id="63" name="Shape 61"/>
          <p:cNvSpPr/>
          <p:nvPr/>
        </p:nvSpPr>
        <p:spPr>
          <a:xfrm>
            <a:off x="2303145" y="3314700"/>
            <a:ext cx="0" cy="960120"/>
          </a:xfrm>
          <a:prstGeom prst="line">
            <a:avLst/>
          </a:prstGeom>
          <a:noFill/>
          <a:ln w="5080">
            <a:solidFill>
              <a:srgbClr val="B8C4D3"/>
            </a:solidFill>
            <a:prstDash val="solid"/>
          </a:ln>
        </p:spPr>
      </p:sp>
      <p:sp>
        <p:nvSpPr>
          <p:cNvPr id="64" name="Shape 62"/>
          <p:cNvSpPr/>
          <p:nvPr/>
        </p:nvSpPr>
        <p:spPr>
          <a:xfrm>
            <a:off x="1463040" y="4154805"/>
            <a:ext cx="960120" cy="0"/>
          </a:xfrm>
          <a:prstGeom prst="line">
            <a:avLst/>
          </a:prstGeom>
          <a:noFill/>
          <a:ln w="5080">
            <a:solidFill>
              <a:srgbClr val="B8C4D3"/>
            </a:solidFill>
            <a:prstDash val="solid"/>
          </a:ln>
        </p:spPr>
      </p:sp>
      <p:sp>
        <p:nvSpPr>
          <p:cNvPr id="65" name="Shape 63"/>
          <p:cNvSpPr/>
          <p:nvPr/>
        </p:nvSpPr>
        <p:spPr>
          <a:xfrm>
            <a:off x="2363153" y="3314700"/>
            <a:ext cx="0" cy="960120"/>
          </a:xfrm>
          <a:prstGeom prst="line">
            <a:avLst/>
          </a:prstGeom>
          <a:noFill/>
          <a:ln w="5080">
            <a:solidFill>
              <a:srgbClr val="B8C4D3"/>
            </a:solidFill>
            <a:prstDash val="solid"/>
          </a:ln>
        </p:spPr>
      </p:sp>
      <p:sp>
        <p:nvSpPr>
          <p:cNvPr id="66" name="Shape 64"/>
          <p:cNvSpPr/>
          <p:nvPr/>
        </p:nvSpPr>
        <p:spPr>
          <a:xfrm>
            <a:off x="1463040" y="4214813"/>
            <a:ext cx="960120" cy="0"/>
          </a:xfrm>
          <a:prstGeom prst="line">
            <a:avLst/>
          </a:prstGeom>
          <a:noFill/>
          <a:ln w="5080">
            <a:solidFill>
              <a:srgbClr val="B8C4D3"/>
            </a:solidFill>
            <a:prstDash val="solid"/>
          </a:ln>
        </p:spPr>
      </p:sp>
      <p:sp>
        <p:nvSpPr>
          <p:cNvPr id="67" name="Shape 65"/>
          <p:cNvSpPr/>
          <p:nvPr/>
        </p:nvSpPr>
        <p:spPr>
          <a:xfrm>
            <a:off x="2003108" y="3674745"/>
            <a:ext cx="60008" cy="60008"/>
          </a:xfrm>
          <a:prstGeom prst="rect">
            <a:avLst/>
          </a:prstGeom>
          <a:solidFill>
            <a:srgbClr val="E07A2F"/>
          </a:solidFill>
          <a:ln w="12700">
            <a:solidFill>
              <a:srgbClr val="E07A2F"/>
            </a:solidFill>
            <a:prstDash val="solid"/>
          </a:ln>
        </p:spPr>
      </p:sp>
      <p:sp>
        <p:nvSpPr>
          <p:cNvPr id="68" name="Shape 66"/>
          <p:cNvSpPr/>
          <p:nvPr/>
        </p:nvSpPr>
        <p:spPr>
          <a:xfrm>
            <a:off x="1463040" y="4457700"/>
            <a:ext cx="960120" cy="960120"/>
          </a:xfrm>
          <a:prstGeom prst="rect">
            <a:avLst/>
          </a:prstGeom>
          <a:solidFill>
            <a:srgbClr val="FFFFFF"/>
          </a:solidFill>
          <a:ln w="15875">
            <a:solidFill>
              <a:srgbClr val="1F7A4D"/>
            </a:solidFill>
            <a:prstDash val="solid"/>
          </a:ln>
        </p:spPr>
      </p:sp>
      <p:sp>
        <p:nvSpPr>
          <p:cNvPr id="69" name="Shape 67"/>
          <p:cNvSpPr/>
          <p:nvPr/>
        </p:nvSpPr>
        <p:spPr>
          <a:xfrm>
            <a:off x="1478042" y="4457700"/>
            <a:ext cx="0" cy="960120"/>
          </a:xfrm>
          <a:prstGeom prst="line">
            <a:avLst/>
          </a:prstGeom>
          <a:noFill/>
          <a:ln w="3175">
            <a:solidFill>
              <a:srgbClr val="B8C4D3"/>
            </a:solidFill>
            <a:prstDash val="solid"/>
          </a:ln>
        </p:spPr>
      </p:sp>
      <p:sp>
        <p:nvSpPr>
          <p:cNvPr id="70" name="Shape 68"/>
          <p:cNvSpPr/>
          <p:nvPr/>
        </p:nvSpPr>
        <p:spPr>
          <a:xfrm>
            <a:off x="1463040" y="4472702"/>
            <a:ext cx="960120" cy="0"/>
          </a:xfrm>
          <a:prstGeom prst="line">
            <a:avLst/>
          </a:prstGeom>
          <a:noFill/>
          <a:ln w="3175">
            <a:solidFill>
              <a:srgbClr val="B8C4D3"/>
            </a:solidFill>
            <a:prstDash val="solid"/>
          </a:ln>
        </p:spPr>
      </p:sp>
      <p:sp>
        <p:nvSpPr>
          <p:cNvPr id="71" name="Shape 69"/>
          <p:cNvSpPr/>
          <p:nvPr/>
        </p:nvSpPr>
        <p:spPr>
          <a:xfrm>
            <a:off x="1493044" y="4457700"/>
            <a:ext cx="0" cy="960120"/>
          </a:xfrm>
          <a:prstGeom prst="line">
            <a:avLst/>
          </a:prstGeom>
          <a:noFill/>
          <a:ln w="3175">
            <a:solidFill>
              <a:srgbClr val="B8C4D3"/>
            </a:solidFill>
            <a:prstDash val="solid"/>
          </a:ln>
        </p:spPr>
      </p:sp>
      <p:sp>
        <p:nvSpPr>
          <p:cNvPr id="72" name="Shape 70"/>
          <p:cNvSpPr/>
          <p:nvPr/>
        </p:nvSpPr>
        <p:spPr>
          <a:xfrm>
            <a:off x="1463040" y="4487704"/>
            <a:ext cx="960120" cy="0"/>
          </a:xfrm>
          <a:prstGeom prst="line">
            <a:avLst/>
          </a:prstGeom>
          <a:noFill/>
          <a:ln w="3175">
            <a:solidFill>
              <a:srgbClr val="B8C4D3"/>
            </a:solidFill>
            <a:prstDash val="solid"/>
          </a:ln>
        </p:spPr>
      </p:sp>
      <p:sp>
        <p:nvSpPr>
          <p:cNvPr id="73" name="Shape 71"/>
          <p:cNvSpPr/>
          <p:nvPr/>
        </p:nvSpPr>
        <p:spPr>
          <a:xfrm>
            <a:off x="1508046" y="4457700"/>
            <a:ext cx="0" cy="960120"/>
          </a:xfrm>
          <a:prstGeom prst="line">
            <a:avLst/>
          </a:prstGeom>
          <a:noFill/>
          <a:ln w="3175">
            <a:solidFill>
              <a:srgbClr val="B8C4D3"/>
            </a:solidFill>
            <a:prstDash val="solid"/>
          </a:ln>
        </p:spPr>
      </p:sp>
      <p:sp>
        <p:nvSpPr>
          <p:cNvPr id="74" name="Shape 72"/>
          <p:cNvSpPr/>
          <p:nvPr/>
        </p:nvSpPr>
        <p:spPr>
          <a:xfrm>
            <a:off x="1463040" y="4502706"/>
            <a:ext cx="960120" cy="0"/>
          </a:xfrm>
          <a:prstGeom prst="line">
            <a:avLst/>
          </a:prstGeom>
          <a:noFill/>
          <a:ln w="3175">
            <a:solidFill>
              <a:srgbClr val="B8C4D3"/>
            </a:solidFill>
            <a:prstDash val="solid"/>
          </a:ln>
        </p:spPr>
      </p:sp>
      <p:sp>
        <p:nvSpPr>
          <p:cNvPr id="75" name="Shape 73"/>
          <p:cNvSpPr/>
          <p:nvPr/>
        </p:nvSpPr>
        <p:spPr>
          <a:xfrm>
            <a:off x="1523048" y="4457700"/>
            <a:ext cx="0" cy="960120"/>
          </a:xfrm>
          <a:prstGeom prst="line">
            <a:avLst/>
          </a:prstGeom>
          <a:noFill/>
          <a:ln w="3175">
            <a:solidFill>
              <a:srgbClr val="B8C4D3"/>
            </a:solidFill>
            <a:prstDash val="solid"/>
          </a:ln>
        </p:spPr>
      </p:sp>
      <p:sp>
        <p:nvSpPr>
          <p:cNvPr id="76" name="Shape 74"/>
          <p:cNvSpPr/>
          <p:nvPr/>
        </p:nvSpPr>
        <p:spPr>
          <a:xfrm>
            <a:off x="1463040" y="4517707"/>
            <a:ext cx="960120" cy="0"/>
          </a:xfrm>
          <a:prstGeom prst="line">
            <a:avLst/>
          </a:prstGeom>
          <a:noFill/>
          <a:ln w="3175">
            <a:solidFill>
              <a:srgbClr val="B8C4D3"/>
            </a:solidFill>
            <a:prstDash val="solid"/>
          </a:ln>
        </p:spPr>
      </p:sp>
      <p:sp>
        <p:nvSpPr>
          <p:cNvPr id="77" name="Shape 75"/>
          <p:cNvSpPr/>
          <p:nvPr/>
        </p:nvSpPr>
        <p:spPr>
          <a:xfrm>
            <a:off x="1538049" y="4457700"/>
            <a:ext cx="0" cy="960120"/>
          </a:xfrm>
          <a:prstGeom prst="line">
            <a:avLst/>
          </a:prstGeom>
          <a:noFill/>
          <a:ln w="3175">
            <a:solidFill>
              <a:srgbClr val="B8C4D3"/>
            </a:solidFill>
            <a:prstDash val="solid"/>
          </a:ln>
        </p:spPr>
      </p:sp>
      <p:sp>
        <p:nvSpPr>
          <p:cNvPr id="78" name="Shape 76"/>
          <p:cNvSpPr/>
          <p:nvPr/>
        </p:nvSpPr>
        <p:spPr>
          <a:xfrm>
            <a:off x="1463040" y="4532709"/>
            <a:ext cx="960120" cy="0"/>
          </a:xfrm>
          <a:prstGeom prst="line">
            <a:avLst/>
          </a:prstGeom>
          <a:noFill/>
          <a:ln w="3175">
            <a:solidFill>
              <a:srgbClr val="B8C4D3"/>
            </a:solidFill>
            <a:prstDash val="solid"/>
          </a:ln>
        </p:spPr>
      </p:sp>
      <p:sp>
        <p:nvSpPr>
          <p:cNvPr id="79" name="Shape 77"/>
          <p:cNvSpPr/>
          <p:nvPr/>
        </p:nvSpPr>
        <p:spPr>
          <a:xfrm>
            <a:off x="1553051" y="4457700"/>
            <a:ext cx="0" cy="960120"/>
          </a:xfrm>
          <a:prstGeom prst="line">
            <a:avLst/>
          </a:prstGeom>
          <a:noFill/>
          <a:ln w="3175">
            <a:solidFill>
              <a:srgbClr val="B8C4D3"/>
            </a:solidFill>
            <a:prstDash val="solid"/>
          </a:ln>
        </p:spPr>
      </p:sp>
      <p:sp>
        <p:nvSpPr>
          <p:cNvPr id="80" name="Shape 78"/>
          <p:cNvSpPr/>
          <p:nvPr/>
        </p:nvSpPr>
        <p:spPr>
          <a:xfrm>
            <a:off x="1463040" y="4547711"/>
            <a:ext cx="960120" cy="0"/>
          </a:xfrm>
          <a:prstGeom prst="line">
            <a:avLst/>
          </a:prstGeom>
          <a:noFill/>
          <a:ln w="3175">
            <a:solidFill>
              <a:srgbClr val="B8C4D3"/>
            </a:solidFill>
            <a:prstDash val="solid"/>
          </a:ln>
        </p:spPr>
      </p:sp>
      <p:sp>
        <p:nvSpPr>
          <p:cNvPr id="81" name="Shape 79"/>
          <p:cNvSpPr/>
          <p:nvPr/>
        </p:nvSpPr>
        <p:spPr>
          <a:xfrm>
            <a:off x="1568053" y="4457700"/>
            <a:ext cx="0" cy="960120"/>
          </a:xfrm>
          <a:prstGeom prst="line">
            <a:avLst/>
          </a:prstGeom>
          <a:noFill/>
          <a:ln w="3175">
            <a:solidFill>
              <a:srgbClr val="B8C4D3"/>
            </a:solidFill>
            <a:prstDash val="solid"/>
          </a:ln>
        </p:spPr>
      </p:sp>
      <p:sp>
        <p:nvSpPr>
          <p:cNvPr id="82" name="Shape 80"/>
          <p:cNvSpPr/>
          <p:nvPr/>
        </p:nvSpPr>
        <p:spPr>
          <a:xfrm>
            <a:off x="1463040" y="4562713"/>
            <a:ext cx="960120" cy="0"/>
          </a:xfrm>
          <a:prstGeom prst="line">
            <a:avLst/>
          </a:prstGeom>
          <a:noFill/>
          <a:ln w="3175">
            <a:solidFill>
              <a:srgbClr val="B8C4D3"/>
            </a:solidFill>
            <a:prstDash val="solid"/>
          </a:ln>
        </p:spPr>
      </p:sp>
      <p:sp>
        <p:nvSpPr>
          <p:cNvPr id="83" name="Shape 81"/>
          <p:cNvSpPr/>
          <p:nvPr/>
        </p:nvSpPr>
        <p:spPr>
          <a:xfrm>
            <a:off x="1583055" y="4457700"/>
            <a:ext cx="0" cy="960120"/>
          </a:xfrm>
          <a:prstGeom prst="line">
            <a:avLst/>
          </a:prstGeom>
          <a:noFill/>
          <a:ln w="3175">
            <a:solidFill>
              <a:srgbClr val="B8C4D3"/>
            </a:solidFill>
            <a:prstDash val="solid"/>
          </a:ln>
        </p:spPr>
      </p:sp>
      <p:sp>
        <p:nvSpPr>
          <p:cNvPr id="84" name="Shape 82"/>
          <p:cNvSpPr/>
          <p:nvPr/>
        </p:nvSpPr>
        <p:spPr>
          <a:xfrm>
            <a:off x="1463040" y="4577715"/>
            <a:ext cx="960120" cy="0"/>
          </a:xfrm>
          <a:prstGeom prst="line">
            <a:avLst/>
          </a:prstGeom>
          <a:noFill/>
          <a:ln w="3175">
            <a:solidFill>
              <a:srgbClr val="B8C4D3"/>
            </a:solidFill>
            <a:prstDash val="solid"/>
          </a:ln>
        </p:spPr>
      </p:sp>
      <p:sp>
        <p:nvSpPr>
          <p:cNvPr id="85" name="Shape 83"/>
          <p:cNvSpPr/>
          <p:nvPr/>
        </p:nvSpPr>
        <p:spPr>
          <a:xfrm>
            <a:off x="1598057" y="4457700"/>
            <a:ext cx="0" cy="960120"/>
          </a:xfrm>
          <a:prstGeom prst="line">
            <a:avLst/>
          </a:prstGeom>
          <a:noFill/>
          <a:ln w="3175">
            <a:solidFill>
              <a:srgbClr val="B8C4D3"/>
            </a:solidFill>
            <a:prstDash val="solid"/>
          </a:ln>
        </p:spPr>
      </p:sp>
      <p:sp>
        <p:nvSpPr>
          <p:cNvPr id="86" name="Shape 84"/>
          <p:cNvSpPr/>
          <p:nvPr/>
        </p:nvSpPr>
        <p:spPr>
          <a:xfrm>
            <a:off x="1463040" y="4592717"/>
            <a:ext cx="960120" cy="0"/>
          </a:xfrm>
          <a:prstGeom prst="line">
            <a:avLst/>
          </a:prstGeom>
          <a:noFill/>
          <a:ln w="3175">
            <a:solidFill>
              <a:srgbClr val="B8C4D3"/>
            </a:solidFill>
            <a:prstDash val="solid"/>
          </a:ln>
        </p:spPr>
      </p:sp>
      <p:sp>
        <p:nvSpPr>
          <p:cNvPr id="87" name="Shape 85"/>
          <p:cNvSpPr/>
          <p:nvPr/>
        </p:nvSpPr>
        <p:spPr>
          <a:xfrm>
            <a:off x="1613059" y="4457700"/>
            <a:ext cx="0" cy="960120"/>
          </a:xfrm>
          <a:prstGeom prst="line">
            <a:avLst/>
          </a:prstGeom>
          <a:noFill/>
          <a:ln w="3175">
            <a:solidFill>
              <a:srgbClr val="B8C4D3"/>
            </a:solidFill>
            <a:prstDash val="solid"/>
          </a:ln>
        </p:spPr>
      </p:sp>
      <p:sp>
        <p:nvSpPr>
          <p:cNvPr id="88" name="Shape 86"/>
          <p:cNvSpPr/>
          <p:nvPr/>
        </p:nvSpPr>
        <p:spPr>
          <a:xfrm>
            <a:off x="1463040" y="4607719"/>
            <a:ext cx="960120" cy="0"/>
          </a:xfrm>
          <a:prstGeom prst="line">
            <a:avLst/>
          </a:prstGeom>
          <a:noFill/>
          <a:ln w="3175">
            <a:solidFill>
              <a:srgbClr val="B8C4D3"/>
            </a:solidFill>
            <a:prstDash val="solid"/>
          </a:ln>
        </p:spPr>
      </p:sp>
      <p:sp>
        <p:nvSpPr>
          <p:cNvPr id="89" name="Shape 87"/>
          <p:cNvSpPr/>
          <p:nvPr/>
        </p:nvSpPr>
        <p:spPr>
          <a:xfrm>
            <a:off x="1628061" y="4457700"/>
            <a:ext cx="0" cy="960120"/>
          </a:xfrm>
          <a:prstGeom prst="line">
            <a:avLst/>
          </a:prstGeom>
          <a:noFill/>
          <a:ln w="3175">
            <a:solidFill>
              <a:srgbClr val="B8C4D3"/>
            </a:solidFill>
            <a:prstDash val="solid"/>
          </a:ln>
        </p:spPr>
      </p:sp>
      <p:sp>
        <p:nvSpPr>
          <p:cNvPr id="90" name="Shape 88"/>
          <p:cNvSpPr/>
          <p:nvPr/>
        </p:nvSpPr>
        <p:spPr>
          <a:xfrm>
            <a:off x="1463040" y="4622721"/>
            <a:ext cx="960120" cy="0"/>
          </a:xfrm>
          <a:prstGeom prst="line">
            <a:avLst/>
          </a:prstGeom>
          <a:noFill/>
          <a:ln w="3175">
            <a:solidFill>
              <a:srgbClr val="B8C4D3"/>
            </a:solidFill>
            <a:prstDash val="solid"/>
          </a:ln>
        </p:spPr>
      </p:sp>
      <p:sp>
        <p:nvSpPr>
          <p:cNvPr id="91" name="Shape 89"/>
          <p:cNvSpPr/>
          <p:nvPr/>
        </p:nvSpPr>
        <p:spPr>
          <a:xfrm>
            <a:off x="1643063" y="4457700"/>
            <a:ext cx="0" cy="960120"/>
          </a:xfrm>
          <a:prstGeom prst="line">
            <a:avLst/>
          </a:prstGeom>
          <a:noFill/>
          <a:ln w="3175">
            <a:solidFill>
              <a:srgbClr val="B8C4D3"/>
            </a:solidFill>
            <a:prstDash val="solid"/>
          </a:ln>
        </p:spPr>
      </p:sp>
      <p:sp>
        <p:nvSpPr>
          <p:cNvPr id="92" name="Shape 90"/>
          <p:cNvSpPr/>
          <p:nvPr/>
        </p:nvSpPr>
        <p:spPr>
          <a:xfrm>
            <a:off x="1463040" y="4637722"/>
            <a:ext cx="960120" cy="0"/>
          </a:xfrm>
          <a:prstGeom prst="line">
            <a:avLst/>
          </a:prstGeom>
          <a:noFill/>
          <a:ln w="3175">
            <a:solidFill>
              <a:srgbClr val="B8C4D3"/>
            </a:solidFill>
            <a:prstDash val="solid"/>
          </a:ln>
        </p:spPr>
      </p:sp>
      <p:sp>
        <p:nvSpPr>
          <p:cNvPr id="93" name="Shape 91"/>
          <p:cNvSpPr/>
          <p:nvPr/>
        </p:nvSpPr>
        <p:spPr>
          <a:xfrm>
            <a:off x="1658064" y="4457700"/>
            <a:ext cx="0" cy="960120"/>
          </a:xfrm>
          <a:prstGeom prst="line">
            <a:avLst/>
          </a:prstGeom>
          <a:noFill/>
          <a:ln w="3175">
            <a:solidFill>
              <a:srgbClr val="B8C4D3"/>
            </a:solidFill>
            <a:prstDash val="solid"/>
          </a:ln>
        </p:spPr>
      </p:sp>
      <p:sp>
        <p:nvSpPr>
          <p:cNvPr id="94" name="Shape 92"/>
          <p:cNvSpPr/>
          <p:nvPr/>
        </p:nvSpPr>
        <p:spPr>
          <a:xfrm>
            <a:off x="1463040" y="4652724"/>
            <a:ext cx="960120" cy="0"/>
          </a:xfrm>
          <a:prstGeom prst="line">
            <a:avLst/>
          </a:prstGeom>
          <a:noFill/>
          <a:ln w="3175">
            <a:solidFill>
              <a:srgbClr val="B8C4D3"/>
            </a:solidFill>
            <a:prstDash val="solid"/>
          </a:ln>
        </p:spPr>
      </p:sp>
      <p:sp>
        <p:nvSpPr>
          <p:cNvPr id="95" name="Shape 93"/>
          <p:cNvSpPr/>
          <p:nvPr/>
        </p:nvSpPr>
        <p:spPr>
          <a:xfrm>
            <a:off x="1673066" y="4457700"/>
            <a:ext cx="0" cy="960120"/>
          </a:xfrm>
          <a:prstGeom prst="line">
            <a:avLst/>
          </a:prstGeom>
          <a:noFill/>
          <a:ln w="3175">
            <a:solidFill>
              <a:srgbClr val="B8C4D3"/>
            </a:solidFill>
            <a:prstDash val="solid"/>
          </a:ln>
        </p:spPr>
      </p:sp>
      <p:sp>
        <p:nvSpPr>
          <p:cNvPr id="96" name="Shape 94"/>
          <p:cNvSpPr/>
          <p:nvPr/>
        </p:nvSpPr>
        <p:spPr>
          <a:xfrm>
            <a:off x="1463040" y="4667726"/>
            <a:ext cx="960120" cy="0"/>
          </a:xfrm>
          <a:prstGeom prst="line">
            <a:avLst/>
          </a:prstGeom>
          <a:noFill/>
          <a:ln w="3175">
            <a:solidFill>
              <a:srgbClr val="B8C4D3"/>
            </a:solidFill>
            <a:prstDash val="solid"/>
          </a:ln>
        </p:spPr>
      </p:sp>
      <p:sp>
        <p:nvSpPr>
          <p:cNvPr id="97" name="Shape 95"/>
          <p:cNvSpPr/>
          <p:nvPr/>
        </p:nvSpPr>
        <p:spPr>
          <a:xfrm>
            <a:off x="1688068" y="4457700"/>
            <a:ext cx="0" cy="960120"/>
          </a:xfrm>
          <a:prstGeom prst="line">
            <a:avLst/>
          </a:prstGeom>
          <a:noFill/>
          <a:ln w="3175">
            <a:solidFill>
              <a:srgbClr val="B8C4D3"/>
            </a:solidFill>
            <a:prstDash val="solid"/>
          </a:ln>
        </p:spPr>
      </p:sp>
      <p:sp>
        <p:nvSpPr>
          <p:cNvPr id="98" name="Shape 96"/>
          <p:cNvSpPr/>
          <p:nvPr/>
        </p:nvSpPr>
        <p:spPr>
          <a:xfrm>
            <a:off x="1463040" y="4682728"/>
            <a:ext cx="960120" cy="0"/>
          </a:xfrm>
          <a:prstGeom prst="line">
            <a:avLst/>
          </a:prstGeom>
          <a:noFill/>
          <a:ln w="3175">
            <a:solidFill>
              <a:srgbClr val="B8C4D3"/>
            </a:solidFill>
            <a:prstDash val="solid"/>
          </a:ln>
        </p:spPr>
      </p:sp>
      <p:sp>
        <p:nvSpPr>
          <p:cNvPr id="99" name="Shape 97"/>
          <p:cNvSpPr/>
          <p:nvPr/>
        </p:nvSpPr>
        <p:spPr>
          <a:xfrm>
            <a:off x="1703070" y="4457700"/>
            <a:ext cx="0" cy="960120"/>
          </a:xfrm>
          <a:prstGeom prst="line">
            <a:avLst/>
          </a:prstGeom>
          <a:noFill/>
          <a:ln w="3175">
            <a:solidFill>
              <a:srgbClr val="B8C4D3"/>
            </a:solidFill>
            <a:prstDash val="solid"/>
          </a:ln>
        </p:spPr>
      </p:sp>
      <p:sp>
        <p:nvSpPr>
          <p:cNvPr id="100" name="Shape 98"/>
          <p:cNvSpPr/>
          <p:nvPr/>
        </p:nvSpPr>
        <p:spPr>
          <a:xfrm>
            <a:off x="1463040" y="4697730"/>
            <a:ext cx="960120" cy="0"/>
          </a:xfrm>
          <a:prstGeom prst="line">
            <a:avLst/>
          </a:prstGeom>
          <a:noFill/>
          <a:ln w="3175">
            <a:solidFill>
              <a:srgbClr val="B8C4D3"/>
            </a:solidFill>
            <a:prstDash val="solid"/>
          </a:ln>
        </p:spPr>
      </p:sp>
      <p:sp>
        <p:nvSpPr>
          <p:cNvPr id="101" name="Shape 99"/>
          <p:cNvSpPr/>
          <p:nvPr/>
        </p:nvSpPr>
        <p:spPr>
          <a:xfrm>
            <a:off x="1718072" y="4457700"/>
            <a:ext cx="0" cy="960120"/>
          </a:xfrm>
          <a:prstGeom prst="line">
            <a:avLst/>
          </a:prstGeom>
          <a:noFill/>
          <a:ln w="3175">
            <a:solidFill>
              <a:srgbClr val="B8C4D3"/>
            </a:solidFill>
            <a:prstDash val="solid"/>
          </a:ln>
        </p:spPr>
      </p:sp>
      <p:sp>
        <p:nvSpPr>
          <p:cNvPr id="102" name="Shape 100"/>
          <p:cNvSpPr/>
          <p:nvPr/>
        </p:nvSpPr>
        <p:spPr>
          <a:xfrm>
            <a:off x="1463040" y="4712732"/>
            <a:ext cx="960120" cy="0"/>
          </a:xfrm>
          <a:prstGeom prst="line">
            <a:avLst/>
          </a:prstGeom>
          <a:noFill/>
          <a:ln w="3175">
            <a:solidFill>
              <a:srgbClr val="B8C4D3"/>
            </a:solidFill>
            <a:prstDash val="solid"/>
          </a:ln>
        </p:spPr>
      </p:sp>
      <p:sp>
        <p:nvSpPr>
          <p:cNvPr id="103" name="Shape 101"/>
          <p:cNvSpPr/>
          <p:nvPr/>
        </p:nvSpPr>
        <p:spPr>
          <a:xfrm>
            <a:off x="1733074" y="4457700"/>
            <a:ext cx="0" cy="960120"/>
          </a:xfrm>
          <a:prstGeom prst="line">
            <a:avLst/>
          </a:prstGeom>
          <a:noFill/>
          <a:ln w="3175">
            <a:solidFill>
              <a:srgbClr val="B8C4D3"/>
            </a:solidFill>
            <a:prstDash val="solid"/>
          </a:ln>
        </p:spPr>
      </p:sp>
      <p:sp>
        <p:nvSpPr>
          <p:cNvPr id="104" name="Shape 102"/>
          <p:cNvSpPr/>
          <p:nvPr/>
        </p:nvSpPr>
        <p:spPr>
          <a:xfrm>
            <a:off x="1463040" y="4727734"/>
            <a:ext cx="960120" cy="0"/>
          </a:xfrm>
          <a:prstGeom prst="line">
            <a:avLst/>
          </a:prstGeom>
          <a:noFill/>
          <a:ln w="3175">
            <a:solidFill>
              <a:srgbClr val="B8C4D3"/>
            </a:solidFill>
            <a:prstDash val="solid"/>
          </a:ln>
        </p:spPr>
      </p:sp>
      <p:sp>
        <p:nvSpPr>
          <p:cNvPr id="105" name="Shape 103"/>
          <p:cNvSpPr/>
          <p:nvPr/>
        </p:nvSpPr>
        <p:spPr>
          <a:xfrm>
            <a:off x="1748076" y="4457700"/>
            <a:ext cx="0" cy="960120"/>
          </a:xfrm>
          <a:prstGeom prst="line">
            <a:avLst/>
          </a:prstGeom>
          <a:noFill/>
          <a:ln w="3175">
            <a:solidFill>
              <a:srgbClr val="B8C4D3"/>
            </a:solidFill>
            <a:prstDash val="solid"/>
          </a:ln>
        </p:spPr>
      </p:sp>
      <p:sp>
        <p:nvSpPr>
          <p:cNvPr id="106" name="Shape 104"/>
          <p:cNvSpPr/>
          <p:nvPr/>
        </p:nvSpPr>
        <p:spPr>
          <a:xfrm>
            <a:off x="1463040" y="4742736"/>
            <a:ext cx="960120" cy="0"/>
          </a:xfrm>
          <a:prstGeom prst="line">
            <a:avLst/>
          </a:prstGeom>
          <a:noFill/>
          <a:ln w="3175">
            <a:solidFill>
              <a:srgbClr val="B8C4D3"/>
            </a:solidFill>
            <a:prstDash val="solid"/>
          </a:ln>
        </p:spPr>
      </p:sp>
      <p:sp>
        <p:nvSpPr>
          <p:cNvPr id="107" name="Shape 105"/>
          <p:cNvSpPr/>
          <p:nvPr/>
        </p:nvSpPr>
        <p:spPr>
          <a:xfrm>
            <a:off x="1763078" y="4457700"/>
            <a:ext cx="0" cy="960120"/>
          </a:xfrm>
          <a:prstGeom prst="line">
            <a:avLst/>
          </a:prstGeom>
          <a:noFill/>
          <a:ln w="3175">
            <a:solidFill>
              <a:srgbClr val="B8C4D3"/>
            </a:solidFill>
            <a:prstDash val="solid"/>
          </a:ln>
        </p:spPr>
      </p:sp>
      <p:sp>
        <p:nvSpPr>
          <p:cNvPr id="108" name="Shape 106"/>
          <p:cNvSpPr/>
          <p:nvPr/>
        </p:nvSpPr>
        <p:spPr>
          <a:xfrm>
            <a:off x="1463040" y="4757737"/>
            <a:ext cx="960120" cy="0"/>
          </a:xfrm>
          <a:prstGeom prst="line">
            <a:avLst/>
          </a:prstGeom>
          <a:noFill/>
          <a:ln w="3175">
            <a:solidFill>
              <a:srgbClr val="B8C4D3"/>
            </a:solidFill>
            <a:prstDash val="solid"/>
          </a:ln>
        </p:spPr>
      </p:sp>
      <p:sp>
        <p:nvSpPr>
          <p:cNvPr id="109" name="Shape 107"/>
          <p:cNvSpPr/>
          <p:nvPr/>
        </p:nvSpPr>
        <p:spPr>
          <a:xfrm>
            <a:off x="1778079" y="4457700"/>
            <a:ext cx="0" cy="960120"/>
          </a:xfrm>
          <a:prstGeom prst="line">
            <a:avLst/>
          </a:prstGeom>
          <a:noFill/>
          <a:ln w="3175">
            <a:solidFill>
              <a:srgbClr val="B8C4D3"/>
            </a:solidFill>
            <a:prstDash val="solid"/>
          </a:ln>
        </p:spPr>
      </p:sp>
      <p:sp>
        <p:nvSpPr>
          <p:cNvPr id="110" name="Shape 108"/>
          <p:cNvSpPr/>
          <p:nvPr/>
        </p:nvSpPr>
        <p:spPr>
          <a:xfrm>
            <a:off x="1463040" y="4772739"/>
            <a:ext cx="960120" cy="0"/>
          </a:xfrm>
          <a:prstGeom prst="line">
            <a:avLst/>
          </a:prstGeom>
          <a:noFill/>
          <a:ln w="3175">
            <a:solidFill>
              <a:srgbClr val="B8C4D3"/>
            </a:solidFill>
            <a:prstDash val="solid"/>
          </a:ln>
        </p:spPr>
      </p:sp>
      <p:sp>
        <p:nvSpPr>
          <p:cNvPr id="111" name="Shape 109"/>
          <p:cNvSpPr/>
          <p:nvPr/>
        </p:nvSpPr>
        <p:spPr>
          <a:xfrm>
            <a:off x="1793081" y="4457700"/>
            <a:ext cx="0" cy="960120"/>
          </a:xfrm>
          <a:prstGeom prst="line">
            <a:avLst/>
          </a:prstGeom>
          <a:noFill/>
          <a:ln w="3175">
            <a:solidFill>
              <a:srgbClr val="B8C4D3"/>
            </a:solidFill>
            <a:prstDash val="solid"/>
          </a:ln>
        </p:spPr>
      </p:sp>
      <p:sp>
        <p:nvSpPr>
          <p:cNvPr id="112" name="Shape 110"/>
          <p:cNvSpPr/>
          <p:nvPr/>
        </p:nvSpPr>
        <p:spPr>
          <a:xfrm>
            <a:off x="1463040" y="4787741"/>
            <a:ext cx="960120" cy="0"/>
          </a:xfrm>
          <a:prstGeom prst="line">
            <a:avLst/>
          </a:prstGeom>
          <a:noFill/>
          <a:ln w="3175">
            <a:solidFill>
              <a:srgbClr val="B8C4D3"/>
            </a:solidFill>
            <a:prstDash val="solid"/>
          </a:ln>
        </p:spPr>
      </p:sp>
      <p:sp>
        <p:nvSpPr>
          <p:cNvPr id="113" name="Shape 111"/>
          <p:cNvSpPr/>
          <p:nvPr/>
        </p:nvSpPr>
        <p:spPr>
          <a:xfrm>
            <a:off x="1808083" y="4457700"/>
            <a:ext cx="0" cy="960120"/>
          </a:xfrm>
          <a:prstGeom prst="line">
            <a:avLst/>
          </a:prstGeom>
          <a:noFill/>
          <a:ln w="3175">
            <a:solidFill>
              <a:srgbClr val="B8C4D3"/>
            </a:solidFill>
            <a:prstDash val="solid"/>
          </a:ln>
        </p:spPr>
      </p:sp>
      <p:sp>
        <p:nvSpPr>
          <p:cNvPr id="114" name="Shape 112"/>
          <p:cNvSpPr/>
          <p:nvPr/>
        </p:nvSpPr>
        <p:spPr>
          <a:xfrm>
            <a:off x="1463040" y="4802743"/>
            <a:ext cx="960120" cy="0"/>
          </a:xfrm>
          <a:prstGeom prst="line">
            <a:avLst/>
          </a:prstGeom>
          <a:noFill/>
          <a:ln w="3175">
            <a:solidFill>
              <a:srgbClr val="B8C4D3"/>
            </a:solidFill>
            <a:prstDash val="solid"/>
          </a:ln>
        </p:spPr>
      </p:sp>
      <p:sp>
        <p:nvSpPr>
          <p:cNvPr id="115" name="Shape 113"/>
          <p:cNvSpPr/>
          <p:nvPr/>
        </p:nvSpPr>
        <p:spPr>
          <a:xfrm>
            <a:off x="1823085" y="4457700"/>
            <a:ext cx="0" cy="960120"/>
          </a:xfrm>
          <a:prstGeom prst="line">
            <a:avLst/>
          </a:prstGeom>
          <a:noFill/>
          <a:ln w="3175">
            <a:solidFill>
              <a:srgbClr val="B8C4D3"/>
            </a:solidFill>
            <a:prstDash val="solid"/>
          </a:ln>
        </p:spPr>
      </p:sp>
      <p:sp>
        <p:nvSpPr>
          <p:cNvPr id="116" name="Shape 114"/>
          <p:cNvSpPr/>
          <p:nvPr/>
        </p:nvSpPr>
        <p:spPr>
          <a:xfrm>
            <a:off x="1463040" y="4817745"/>
            <a:ext cx="960120" cy="0"/>
          </a:xfrm>
          <a:prstGeom prst="line">
            <a:avLst/>
          </a:prstGeom>
          <a:noFill/>
          <a:ln w="3175">
            <a:solidFill>
              <a:srgbClr val="B8C4D3"/>
            </a:solidFill>
            <a:prstDash val="solid"/>
          </a:ln>
        </p:spPr>
      </p:sp>
      <p:sp>
        <p:nvSpPr>
          <p:cNvPr id="117" name="Shape 115"/>
          <p:cNvSpPr/>
          <p:nvPr/>
        </p:nvSpPr>
        <p:spPr>
          <a:xfrm>
            <a:off x="1838087" y="4457700"/>
            <a:ext cx="0" cy="960120"/>
          </a:xfrm>
          <a:prstGeom prst="line">
            <a:avLst/>
          </a:prstGeom>
          <a:noFill/>
          <a:ln w="3175">
            <a:solidFill>
              <a:srgbClr val="B8C4D3"/>
            </a:solidFill>
            <a:prstDash val="solid"/>
          </a:ln>
        </p:spPr>
      </p:sp>
      <p:sp>
        <p:nvSpPr>
          <p:cNvPr id="118" name="Shape 116"/>
          <p:cNvSpPr/>
          <p:nvPr/>
        </p:nvSpPr>
        <p:spPr>
          <a:xfrm>
            <a:off x="1463040" y="4832747"/>
            <a:ext cx="960120" cy="0"/>
          </a:xfrm>
          <a:prstGeom prst="line">
            <a:avLst/>
          </a:prstGeom>
          <a:noFill/>
          <a:ln w="3175">
            <a:solidFill>
              <a:srgbClr val="B8C4D3"/>
            </a:solidFill>
            <a:prstDash val="solid"/>
          </a:ln>
        </p:spPr>
      </p:sp>
      <p:sp>
        <p:nvSpPr>
          <p:cNvPr id="119" name="Shape 117"/>
          <p:cNvSpPr/>
          <p:nvPr/>
        </p:nvSpPr>
        <p:spPr>
          <a:xfrm>
            <a:off x="1853089" y="4457700"/>
            <a:ext cx="0" cy="960120"/>
          </a:xfrm>
          <a:prstGeom prst="line">
            <a:avLst/>
          </a:prstGeom>
          <a:noFill/>
          <a:ln w="3175">
            <a:solidFill>
              <a:srgbClr val="B8C4D3"/>
            </a:solidFill>
            <a:prstDash val="solid"/>
          </a:ln>
        </p:spPr>
      </p:sp>
      <p:sp>
        <p:nvSpPr>
          <p:cNvPr id="120" name="Shape 118"/>
          <p:cNvSpPr/>
          <p:nvPr/>
        </p:nvSpPr>
        <p:spPr>
          <a:xfrm>
            <a:off x="1463040" y="4847749"/>
            <a:ext cx="960120" cy="0"/>
          </a:xfrm>
          <a:prstGeom prst="line">
            <a:avLst/>
          </a:prstGeom>
          <a:noFill/>
          <a:ln w="3175">
            <a:solidFill>
              <a:srgbClr val="B8C4D3"/>
            </a:solidFill>
            <a:prstDash val="solid"/>
          </a:ln>
        </p:spPr>
      </p:sp>
      <p:sp>
        <p:nvSpPr>
          <p:cNvPr id="121" name="Shape 119"/>
          <p:cNvSpPr/>
          <p:nvPr/>
        </p:nvSpPr>
        <p:spPr>
          <a:xfrm>
            <a:off x="1868091" y="4457700"/>
            <a:ext cx="0" cy="960120"/>
          </a:xfrm>
          <a:prstGeom prst="line">
            <a:avLst/>
          </a:prstGeom>
          <a:noFill/>
          <a:ln w="3175">
            <a:solidFill>
              <a:srgbClr val="B8C4D3"/>
            </a:solidFill>
            <a:prstDash val="solid"/>
          </a:ln>
        </p:spPr>
      </p:sp>
      <p:sp>
        <p:nvSpPr>
          <p:cNvPr id="122" name="Shape 120"/>
          <p:cNvSpPr/>
          <p:nvPr/>
        </p:nvSpPr>
        <p:spPr>
          <a:xfrm>
            <a:off x="1463040" y="4862751"/>
            <a:ext cx="960120" cy="0"/>
          </a:xfrm>
          <a:prstGeom prst="line">
            <a:avLst/>
          </a:prstGeom>
          <a:noFill/>
          <a:ln w="3175">
            <a:solidFill>
              <a:srgbClr val="B8C4D3"/>
            </a:solidFill>
            <a:prstDash val="solid"/>
          </a:ln>
        </p:spPr>
      </p:sp>
      <p:sp>
        <p:nvSpPr>
          <p:cNvPr id="123" name="Shape 121"/>
          <p:cNvSpPr/>
          <p:nvPr/>
        </p:nvSpPr>
        <p:spPr>
          <a:xfrm>
            <a:off x="1883093" y="4457700"/>
            <a:ext cx="0" cy="960120"/>
          </a:xfrm>
          <a:prstGeom prst="line">
            <a:avLst/>
          </a:prstGeom>
          <a:noFill/>
          <a:ln w="3175">
            <a:solidFill>
              <a:srgbClr val="B8C4D3"/>
            </a:solidFill>
            <a:prstDash val="solid"/>
          </a:ln>
        </p:spPr>
      </p:sp>
      <p:sp>
        <p:nvSpPr>
          <p:cNvPr id="124" name="Shape 122"/>
          <p:cNvSpPr/>
          <p:nvPr/>
        </p:nvSpPr>
        <p:spPr>
          <a:xfrm>
            <a:off x="1463040" y="4877752"/>
            <a:ext cx="960120" cy="0"/>
          </a:xfrm>
          <a:prstGeom prst="line">
            <a:avLst/>
          </a:prstGeom>
          <a:noFill/>
          <a:ln w="3175">
            <a:solidFill>
              <a:srgbClr val="B8C4D3"/>
            </a:solidFill>
            <a:prstDash val="solid"/>
          </a:ln>
        </p:spPr>
      </p:sp>
      <p:sp>
        <p:nvSpPr>
          <p:cNvPr id="125" name="Shape 123"/>
          <p:cNvSpPr/>
          <p:nvPr/>
        </p:nvSpPr>
        <p:spPr>
          <a:xfrm>
            <a:off x="1898094" y="4457700"/>
            <a:ext cx="0" cy="960120"/>
          </a:xfrm>
          <a:prstGeom prst="line">
            <a:avLst/>
          </a:prstGeom>
          <a:noFill/>
          <a:ln w="3175">
            <a:solidFill>
              <a:srgbClr val="B8C4D3"/>
            </a:solidFill>
            <a:prstDash val="solid"/>
          </a:ln>
        </p:spPr>
      </p:sp>
      <p:sp>
        <p:nvSpPr>
          <p:cNvPr id="126" name="Shape 124"/>
          <p:cNvSpPr/>
          <p:nvPr/>
        </p:nvSpPr>
        <p:spPr>
          <a:xfrm>
            <a:off x="1463040" y="4892754"/>
            <a:ext cx="960120" cy="0"/>
          </a:xfrm>
          <a:prstGeom prst="line">
            <a:avLst/>
          </a:prstGeom>
          <a:noFill/>
          <a:ln w="3175">
            <a:solidFill>
              <a:srgbClr val="B8C4D3"/>
            </a:solidFill>
            <a:prstDash val="solid"/>
          </a:ln>
        </p:spPr>
      </p:sp>
      <p:sp>
        <p:nvSpPr>
          <p:cNvPr id="127" name="Shape 125"/>
          <p:cNvSpPr/>
          <p:nvPr/>
        </p:nvSpPr>
        <p:spPr>
          <a:xfrm>
            <a:off x="1913096" y="4457700"/>
            <a:ext cx="0" cy="960120"/>
          </a:xfrm>
          <a:prstGeom prst="line">
            <a:avLst/>
          </a:prstGeom>
          <a:noFill/>
          <a:ln w="3175">
            <a:solidFill>
              <a:srgbClr val="B8C4D3"/>
            </a:solidFill>
            <a:prstDash val="solid"/>
          </a:ln>
        </p:spPr>
      </p:sp>
      <p:sp>
        <p:nvSpPr>
          <p:cNvPr id="128" name="Shape 126"/>
          <p:cNvSpPr/>
          <p:nvPr/>
        </p:nvSpPr>
        <p:spPr>
          <a:xfrm>
            <a:off x="1463040" y="4907756"/>
            <a:ext cx="960120" cy="0"/>
          </a:xfrm>
          <a:prstGeom prst="line">
            <a:avLst/>
          </a:prstGeom>
          <a:noFill/>
          <a:ln w="3175">
            <a:solidFill>
              <a:srgbClr val="B8C4D3"/>
            </a:solidFill>
            <a:prstDash val="solid"/>
          </a:ln>
        </p:spPr>
      </p:sp>
      <p:sp>
        <p:nvSpPr>
          <p:cNvPr id="129" name="Shape 127"/>
          <p:cNvSpPr/>
          <p:nvPr/>
        </p:nvSpPr>
        <p:spPr>
          <a:xfrm>
            <a:off x="1928098" y="4457700"/>
            <a:ext cx="0" cy="960120"/>
          </a:xfrm>
          <a:prstGeom prst="line">
            <a:avLst/>
          </a:prstGeom>
          <a:noFill/>
          <a:ln w="3175">
            <a:solidFill>
              <a:srgbClr val="B8C4D3"/>
            </a:solidFill>
            <a:prstDash val="solid"/>
          </a:ln>
        </p:spPr>
      </p:sp>
      <p:sp>
        <p:nvSpPr>
          <p:cNvPr id="130" name="Shape 128"/>
          <p:cNvSpPr/>
          <p:nvPr/>
        </p:nvSpPr>
        <p:spPr>
          <a:xfrm>
            <a:off x="1463040" y="4922758"/>
            <a:ext cx="960120" cy="0"/>
          </a:xfrm>
          <a:prstGeom prst="line">
            <a:avLst/>
          </a:prstGeom>
          <a:noFill/>
          <a:ln w="3175">
            <a:solidFill>
              <a:srgbClr val="B8C4D3"/>
            </a:solidFill>
            <a:prstDash val="solid"/>
          </a:ln>
        </p:spPr>
      </p:sp>
      <p:sp>
        <p:nvSpPr>
          <p:cNvPr id="131" name="Shape 129"/>
          <p:cNvSpPr/>
          <p:nvPr/>
        </p:nvSpPr>
        <p:spPr>
          <a:xfrm>
            <a:off x="1943100" y="4457700"/>
            <a:ext cx="0" cy="960120"/>
          </a:xfrm>
          <a:prstGeom prst="line">
            <a:avLst/>
          </a:prstGeom>
          <a:noFill/>
          <a:ln w="3175">
            <a:solidFill>
              <a:srgbClr val="B8C4D3"/>
            </a:solidFill>
            <a:prstDash val="solid"/>
          </a:ln>
        </p:spPr>
      </p:sp>
      <p:sp>
        <p:nvSpPr>
          <p:cNvPr id="132" name="Shape 130"/>
          <p:cNvSpPr/>
          <p:nvPr/>
        </p:nvSpPr>
        <p:spPr>
          <a:xfrm>
            <a:off x="1463040" y="4937760"/>
            <a:ext cx="960120" cy="0"/>
          </a:xfrm>
          <a:prstGeom prst="line">
            <a:avLst/>
          </a:prstGeom>
          <a:noFill/>
          <a:ln w="3175">
            <a:solidFill>
              <a:srgbClr val="B8C4D3"/>
            </a:solidFill>
            <a:prstDash val="solid"/>
          </a:ln>
        </p:spPr>
      </p:sp>
      <p:sp>
        <p:nvSpPr>
          <p:cNvPr id="133" name="Shape 131"/>
          <p:cNvSpPr/>
          <p:nvPr/>
        </p:nvSpPr>
        <p:spPr>
          <a:xfrm>
            <a:off x="1958102" y="4457700"/>
            <a:ext cx="0" cy="960120"/>
          </a:xfrm>
          <a:prstGeom prst="line">
            <a:avLst/>
          </a:prstGeom>
          <a:noFill/>
          <a:ln w="3175">
            <a:solidFill>
              <a:srgbClr val="B8C4D3"/>
            </a:solidFill>
            <a:prstDash val="solid"/>
          </a:ln>
        </p:spPr>
      </p:sp>
      <p:sp>
        <p:nvSpPr>
          <p:cNvPr id="134" name="Shape 132"/>
          <p:cNvSpPr/>
          <p:nvPr/>
        </p:nvSpPr>
        <p:spPr>
          <a:xfrm>
            <a:off x="1463040" y="4952762"/>
            <a:ext cx="960120" cy="0"/>
          </a:xfrm>
          <a:prstGeom prst="line">
            <a:avLst/>
          </a:prstGeom>
          <a:noFill/>
          <a:ln w="3175">
            <a:solidFill>
              <a:srgbClr val="B8C4D3"/>
            </a:solidFill>
            <a:prstDash val="solid"/>
          </a:ln>
        </p:spPr>
      </p:sp>
      <p:sp>
        <p:nvSpPr>
          <p:cNvPr id="135" name="Shape 133"/>
          <p:cNvSpPr/>
          <p:nvPr/>
        </p:nvSpPr>
        <p:spPr>
          <a:xfrm>
            <a:off x="1973104" y="4457700"/>
            <a:ext cx="0" cy="960120"/>
          </a:xfrm>
          <a:prstGeom prst="line">
            <a:avLst/>
          </a:prstGeom>
          <a:noFill/>
          <a:ln w="3175">
            <a:solidFill>
              <a:srgbClr val="B8C4D3"/>
            </a:solidFill>
            <a:prstDash val="solid"/>
          </a:ln>
        </p:spPr>
      </p:sp>
      <p:sp>
        <p:nvSpPr>
          <p:cNvPr id="136" name="Shape 134"/>
          <p:cNvSpPr/>
          <p:nvPr/>
        </p:nvSpPr>
        <p:spPr>
          <a:xfrm>
            <a:off x="1463040" y="4967764"/>
            <a:ext cx="960120" cy="0"/>
          </a:xfrm>
          <a:prstGeom prst="line">
            <a:avLst/>
          </a:prstGeom>
          <a:noFill/>
          <a:ln w="3175">
            <a:solidFill>
              <a:srgbClr val="B8C4D3"/>
            </a:solidFill>
            <a:prstDash val="solid"/>
          </a:ln>
        </p:spPr>
      </p:sp>
      <p:sp>
        <p:nvSpPr>
          <p:cNvPr id="137" name="Shape 135"/>
          <p:cNvSpPr/>
          <p:nvPr/>
        </p:nvSpPr>
        <p:spPr>
          <a:xfrm>
            <a:off x="1988106" y="4457700"/>
            <a:ext cx="0" cy="960120"/>
          </a:xfrm>
          <a:prstGeom prst="line">
            <a:avLst/>
          </a:prstGeom>
          <a:noFill/>
          <a:ln w="3175">
            <a:solidFill>
              <a:srgbClr val="B8C4D3"/>
            </a:solidFill>
            <a:prstDash val="solid"/>
          </a:ln>
        </p:spPr>
      </p:sp>
      <p:sp>
        <p:nvSpPr>
          <p:cNvPr id="138" name="Shape 136"/>
          <p:cNvSpPr/>
          <p:nvPr/>
        </p:nvSpPr>
        <p:spPr>
          <a:xfrm>
            <a:off x="1463040" y="4982766"/>
            <a:ext cx="960120" cy="0"/>
          </a:xfrm>
          <a:prstGeom prst="line">
            <a:avLst/>
          </a:prstGeom>
          <a:noFill/>
          <a:ln w="3175">
            <a:solidFill>
              <a:srgbClr val="B8C4D3"/>
            </a:solidFill>
            <a:prstDash val="solid"/>
          </a:ln>
        </p:spPr>
      </p:sp>
      <p:sp>
        <p:nvSpPr>
          <p:cNvPr id="139" name="Shape 137"/>
          <p:cNvSpPr/>
          <p:nvPr/>
        </p:nvSpPr>
        <p:spPr>
          <a:xfrm>
            <a:off x="2003108" y="4457700"/>
            <a:ext cx="0" cy="960120"/>
          </a:xfrm>
          <a:prstGeom prst="line">
            <a:avLst/>
          </a:prstGeom>
          <a:noFill/>
          <a:ln w="3175">
            <a:solidFill>
              <a:srgbClr val="B8C4D3"/>
            </a:solidFill>
            <a:prstDash val="solid"/>
          </a:ln>
        </p:spPr>
      </p:sp>
      <p:sp>
        <p:nvSpPr>
          <p:cNvPr id="140" name="Shape 138"/>
          <p:cNvSpPr/>
          <p:nvPr/>
        </p:nvSpPr>
        <p:spPr>
          <a:xfrm>
            <a:off x="1463040" y="4997767"/>
            <a:ext cx="960120" cy="0"/>
          </a:xfrm>
          <a:prstGeom prst="line">
            <a:avLst/>
          </a:prstGeom>
          <a:noFill/>
          <a:ln w="3175">
            <a:solidFill>
              <a:srgbClr val="B8C4D3"/>
            </a:solidFill>
            <a:prstDash val="solid"/>
          </a:ln>
        </p:spPr>
      </p:sp>
      <p:sp>
        <p:nvSpPr>
          <p:cNvPr id="141" name="Shape 139"/>
          <p:cNvSpPr/>
          <p:nvPr/>
        </p:nvSpPr>
        <p:spPr>
          <a:xfrm>
            <a:off x="2018109" y="4457700"/>
            <a:ext cx="0" cy="960120"/>
          </a:xfrm>
          <a:prstGeom prst="line">
            <a:avLst/>
          </a:prstGeom>
          <a:noFill/>
          <a:ln w="3175">
            <a:solidFill>
              <a:srgbClr val="B8C4D3"/>
            </a:solidFill>
            <a:prstDash val="solid"/>
          </a:ln>
        </p:spPr>
      </p:sp>
      <p:sp>
        <p:nvSpPr>
          <p:cNvPr id="142" name="Shape 140"/>
          <p:cNvSpPr/>
          <p:nvPr/>
        </p:nvSpPr>
        <p:spPr>
          <a:xfrm>
            <a:off x="1463040" y="5012769"/>
            <a:ext cx="960120" cy="0"/>
          </a:xfrm>
          <a:prstGeom prst="line">
            <a:avLst/>
          </a:prstGeom>
          <a:noFill/>
          <a:ln w="3175">
            <a:solidFill>
              <a:srgbClr val="B8C4D3"/>
            </a:solidFill>
            <a:prstDash val="solid"/>
          </a:ln>
        </p:spPr>
      </p:sp>
      <p:sp>
        <p:nvSpPr>
          <p:cNvPr id="143" name="Shape 141"/>
          <p:cNvSpPr/>
          <p:nvPr/>
        </p:nvSpPr>
        <p:spPr>
          <a:xfrm>
            <a:off x="2033111" y="4457700"/>
            <a:ext cx="0" cy="960120"/>
          </a:xfrm>
          <a:prstGeom prst="line">
            <a:avLst/>
          </a:prstGeom>
          <a:noFill/>
          <a:ln w="3175">
            <a:solidFill>
              <a:srgbClr val="B8C4D3"/>
            </a:solidFill>
            <a:prstDash val="solid"/>
          </a:ln>
        </p:spPr>
      </p:sp>
      <p:sp>
        <p:nvSpPr>
          <p:cNvPr id="144" name="Shape 142"/>
          <p:cNvSpPr/>
          <p:nvPr/>
        </p:nvSpPr>
        <p:spPr>
          <a:xfrm>
            <a:off x="1463040" y="5027771"/>
            <a:ext cx="960120" cy="0"/>
          </a:xfrm>
          <a:prstGeom prst="line">
            <a:avLst/>
          </a:prstGeom>
          <a:noFill/>
          <a:ln w="3175">
            <a:solidFill>
              <a:srgbClr val="B8C4D3"/>
            </a:solidFill>
            <a:prstDash val="solid"/>
          </a:ln>
        </p:spPr>
      </p:sp>
      <p:sp>
        <p:nvSpPr>
          <p:cNvPr id="145" name="Shape 143"/>
          <p:cNvSpPr/>
          <p:nvPr/>
        </p:nvSpPr>
        <p:spPr>
          <a:xfrm>
            <a:off x="2048113" y="4457700"/>
            <a:ext cx="0" cy="960120"/>
          </a:xfrm>
          <a:prstGeom prst="line">
            <a:avLst/>
          </a:prstGeom>
          <a:noFill/>
          <a:ln w="3175">
            <a:solidFill>
              <a:srgbClr val="B8C4D3"/>
            </a:solidFill>
            <a:prstDash val="solid"/>
          </a:ln>
        </p:spPr>
      </p:sp>
      <p:sp>
        <p:nvSpPr>
          <p:cNvPr id="146" name="Shape 144"/>
          <p:cNvSpPr/>
          <p:nvPr/>
        </p:nvSpPr>
        <p:spPr>
          <a:xfrm>
            <a:off x="1463040" y="5042773"/>
            <a:ext cx="960120" cy="0"/>
          </a:xfrm>
          <a:prstGeom prst="line">
            <a:avLst/>
          </a:prstGeom>
          <a:noFill/>
          <a:ln w="3175">
            <a:solidFill>
              <a:srgbClr val="B8C4D3"/>
            </a:solidFill>
            <a:prstDash val="solid"/>
          </a:ln>
        </p:spPr>
      </p:sp>
      <p:sp>
        <p:nvSpPr>
          <p:cNvPr id="147" name="Shape 145"/>
          <p:cNvSpPr/>
          <p:nvPr/>
        </p:nvSpPr>
        <p:spPr>
          <a:xfrm>
            <a:off x="2063115" y="4457700"/>
            <a:ext cx="0" cy="960120"/>
          </a:xfrm>
          <a:prstGeom prst="line">
            <a:avLst/>
          </a:prstGeom>
          <a:noFill/>
          <a:ln w="3175">
            <a:solidFill>
              <a:srgbClr val="B8C4D3"/>
            </a:solidFill>
            <a:prstDash val="solid"/>
          </a:ln>
        </p:spPr>
      </p:sp>
      <p:sp>
        <p:nvSpPr>
          <p:cNvPr id="148" name="Shape 146"/>
          <p:cNvSpPr/>
          <p:nvPr/>
        </p:nvSpPr>
        <p:spPr>
          <a:xfrm>
            <a:off x="1463040" y="5057775"/>
            <a:ext cx="960120" cy="0"/>
          </a:xfrm>
          <a:prstGeom prst="line">
            <a:avLst/>
          </a:prstGeom>
          <a:noFill/>
          <a:ln w="3175">
            <a:solidFill>
              <a:srgbClr val="B8C4D3"/>
            </a:solidFill>
            <a:prstDash val="solid"/>
          </a:ln>
        </p:spPr>
      </p:sp>
      <p:sp>
        <p:nvSpPr>
          <p:cNvPr id="149" name="Shape 147"/>
          <p:cNvSpPr/>
          <p:nvPr/>
        </p:nvSpPr>
        <p:spPr>
          <a:xfrm>
            <a:off x="2078117" y="4457700"/>
            <a:ext cx="0" cy="960120"/>
          </a:xfrm>
          <a:prstGeom prst="line">
            <a:avLst/>
          </a:prstGeom>
          <a:noFill/>
          <a:ln w="3175">
            <a:solidFill>
              <a:srgbClr val="B8C4D3"/>
            </a:solidFill>
            <a:prstDash val="solid"/>
          </a:ln>
        </p:spPr>
      </p:sp>
      <p:sp>
        <p:nvSpPr>
          <p:cNvPr id="150" name="Shape 148"/>
          <p:cNvSpPr/>
          <p:nvPr/>
        </p:nvSpPr>
        <p:spPr>
          <a:xfrm>
            <a:off x="1463040" y="5072777"/>
            <a:ext cx="960120" cy="0"/>
          </a:xfrm>
          <a:prstGeom prst="line">
            <a:avLst/>
          </a:prstGeom>
          <a:noFill/>
          <a:ln w="3175">
            <a:solidFill>
              <a:srgbClr val="B8C4D3"/>
            </a:solidFill>
            <a:prstDash val="solid"/>
          </a:ln>
        </p:spPr>
      </p:sp>
      <p:sp>
        <p:nvSpPr>
          <p:cNvPr id="151" name="Shape 149"/>
          <p:cNvSpPr/>
          <p:nvPr/>
        </p:nvSpPr>
        <p:spPr>
          <a:xfrm>
            <a:off x="2093119" y="4457700"/>
            <a:ext cx="0" cy="960120"/>
          </a:xfrm>
          <a:prstGeom prst="line">
            <a:avLst/>
          </a:prstGeom>
          <a:noFill/>
          <a:ln w="3175">
            <a:solidFill>
              <a:srgbClr val="B8C4D3"/>
            </a:solidFill>
            <a:prstDash val="solid"/>
          </a:ln>
        </p:spPr>
      </p:sp>
      <p:sp>
        <p:nvSpPr>
          <p:cNvPr id="152" name="Shape 150"/>
          <p:cNvSpPr/>
          <p:nvPr/>
        </p:nvSpPr>
        <p:spPr>
          <a:xfrm>
            <a:off x="1463040" y="5087779"/>
            <a:ext cx="960120" cy="0"/>
          </a:xfrm>
          <a:prstGeom prst="line">
            <a:avLst/>
          </a:prstGeom>
          <a:noFill/>
          <a:ln w="3175">
            <a:solidFill>
              <a:srgbClr val="B8C4D3"/>
            </a:solidFill>
            <a:prstDash val="solid"/>
          </a:ln>
        </p:spPr>
      </p:sp>
      <p:sp>
        <p:nvSpPr>
          <p:cNvPr id="153" name="Shape 151"/>
          <p:cNvSpPr/>
          <p:nvPr/>
        </p:nvSpPr>
        <p:spPr>
          <a:xfrm>
            <a:off x="2108121" y="4457700"/>
            <a:ext cx="0" cy="960120"/>
          </a:xfrm>
          <a:prstGeom prst="line">
            <a:avLst/>
          </a:prstGeom>
          <a:noFill/>
          <a:ln w="3175">
            <a:solidFill>
              <a:srgbClr val="B8C4D3"/>
            </a:solidFill>
            <a:prstDash val="solid"/>
          </a:ln>
        </p:spPr>
      </p:sp>
      <p:sp>
        <p:nvSpPr>
          <p:cNvPr id="154" name="Shape 152"/>
          <p:cNvSpPr/>
          <p:nvPr/>
        </p:nvSpPr>
        <p:spPr>
          <a:xfrm>
            <a:off x="1463040" y="5102781"/>
            <a:ext cx="960120" cy="0"/>
          </a:xfrm>
          <a:prstGeom prst="line">
            <a:avLst/>
          </a:prstGeom>
          <a:noFill/>
          <a:ln w="3175">
            <a:solidFill>
              <a:srgbClr val="B8C4D3"/>
            </a:solidFill>
            <a:prstDash val="solid"/>
          </a:ln>
        </p:spPr>
      </p:sp>
      <p:sp>
        <p:nvSpPr>
          <p:cNvPr id="155" name="Shape 153"/>
          <p:cNvSpPr/>
          <p:nvPr/>
        </p:nvSpPr>
        <p:spPr>
          <a:xfrm>
            <a:off x="2123123" y="4457700"/>
            <a:ext cx="0" cy="960120"/>
          </a:xfrm>
          <a:prstGeom prst="line">
            <a:avLst/>
          </a:prstGeom>
          <a:noFill/>
          <a:ln w="3175">
            <a:solidFill>
              <a:srgbClr val="B8C4D3"/>
            </a:solidFill>
            <a:prstDash val="solid"/>
          </a:ln>
        </p:spPr>
      </p:sp>
      <p:sp>
        <p:nvSpPr>
          <p:cNvPr id="156" name="Shape 154"/>
          <p:cNvSpPr/>
          <p:nvPr/>
        </p:nvSpPr>
        <p:spPr>
          <a:xfrm>
            <a:off x="1463040" y="5117782"/>
            <a:ext cx="960120" cy="0"/>
          </a:xfrm>
          <a:prstGeom prst="line">
            <a:avLst/>
          </a:prstGeom>
          <a:noFill/>
          <a:ln w="3175">
            <a:solidFill>
              <a:srgbClr val="B8C4D3"/>
            </a:solidFill>
            <a:prstDash val="solid"/>
          </a:ln>
        </p:spPr>
      </p:sp>
      <p:sp>
        <p:nvSpPr>
          <p:cNvPr id="157" name="Shape 155"/>
          <p:cNvSpPr/>
          <p:nvPr/>
        </p:nvSpPr>
        <p:spPr>
          <a:xfrm>
            <a:off x="2138124" y="4457700"/>
            <a:ext cx="0" cy="960120"/>
          </a:xfrm>
          <a:prstGeom prst="line">
            <a:avLst/>
          </a:prstGeom>
          <a:noFill/>
          <a:ln w="3175">
            <a:solidFill>
              <a:srgbClr val="B8C4D3"/>
            </a:solidFill>
            <a:prstDash val="solid"/>
          </a:ln>
        </p:spPr>
      </p:sp>
      <p:sp>
        <p:nvSpPr>
          <p:cNvPr id="158" name="Shape 156"/>
          <p:cNvSpPr/>
          <p:nvPr/>
        </p:nvSpPr>
        <p:spPr>
          <a:xfrm>
            <a:off x="1463040" y="5132784"/>
            <a:ext cx="960120" cy="0"/>
          </a:xfrm>
          <a:prstGeom prst="line">
            <a:avLst/>
          </a:prstGeom>
          <a:noFill/>
          <a:ln w="3175">
            <a:solidFill>
              <a:srgbClr val="B8C4D3"/>
            </a:solidFill>
            <a:prstDash val="solid"/>
          </a:ln>
        </p:spPr>
      </p:sp>
      <p:sp>
        <p:nvSpPr>
          <p:cNvPr id="159" name="Shape 157"/>
          <p:cNvSpPr/>
          <p:nvPr/>
        </p:nvSpPr>
        <p:spPr>
          <a:xfrm>
            <a:off x="2153126" y="4457700"/>
            <a:ext cx="0" cy="960120"/>
          </a:xfrm>
          <a:prstGeom prst="line">
            <a:avLst/>
          </a:prstGeom>
          <a:noFill/>
          <a:ln w="3175">
            <a:solidFill>
              <a:srgbClr val="B8C4D3"/>
            </a:solidFill>
            <a:prstDash val="solid"/>
          </a:ln>
        </p:spPr>
      </p:sp>
      <p:sp>
        <p:nvSpPr>
          <p:cNvPr id="160" name="Shape 158"/>
          <p:cNvSpPr/>
          <p:nvPr/>
        </p:nvSpPr>
        <p:spPr>
          <a:xfrm>
            <a:off x="1463040" y="5147786"/>
            <a:ext cx="960120" cy="0"/>
          </a:xfrm>
          <a:prstGeom prst="line">
            <a:avLst/>
          </a:prstGeom>
          <a:noFill/>
          <a:ln w="3175">
            <a:solidFill>
              <a:srgbClr val="B8C4D3"/>
            </a:solidFill>
            <a:prstDash val="solid"/>
          </a:ln>
        </p:spPr>
      </p:sp>
      <p:sp>
        <p:nvSpPr>
          <p:cNvPr id="161" name="Shape 159"/>
          <p:cNvSpPr/>
          <p:nvPr/>
        </p:nvSpPr>
        <p:spPr>
          <a:xfrm>
            <a:off x="2168128" y="4457700"/>
            <a:ext cx="0" cy="960120"/>
          </a:xfrm>
          <a:prstGeom prst="line">
            <a:avLst/>
          </a:prstGeom>
          <a:noFill/>
          <a:ln w="3175">
            <a:solidFill>
              <a:srgbClr val="B8C4D3"/>
            </a:solidFill>
            <a:prstDash val="solid"/>
          </a:ln>
        </p:spPr>
      </p:sp>
      <p:sp>
        <p:nvSpPr>
          <p:cNvPr id="162" name="Shape 160"/>
          <p:cNvSpPr/>
          <p:nvPr/>
        </p:nvSpPr>
        <p:spPr>
          <a:xfrm>
            <a:off x="1463040" y="5162788"/>
            <a:ext cx="960120" cy="0"/>
          </a:xfrm>
          <a:prstGeom prst="line">
            <a:avLst/>
          </a:prstGeom>
          <a:noFill/>
          <a:ln w="3175">
            <a:solidFill>
              <a:srgbClr val="B8C4D3"/>
            </a:solidFill>
            <a:prstDash val="solid"/>
          </a:ln>
        </p:spPr>
      </p:sp>
      <p:sp>
        <p:nvSpPr>
          <p:cNvPr id="163" name="Shape 161"/>
          <p:cNvSpPr/>
          <p:nvPr/>
        </p:nvSpPr>
        <p:spPr>
          <a:xfrm>
            <a:off x="2183130" y="4457700"/>
            <a:ext cx="0" cy="960120"/>
          </a:xfrm>
          <a:prstGeom prst="line">
            <a:avLst/>
          </a:prstGeom>
          <a:noFill/>
          <a:ln w="3175">
            <a:solidFill>
              <a:srgbClr val="B8C4D3"/>
            </a:solidFill>
            <a:prstDash val="solid"/>
          </a:ln>
        </p:spPr>
      </p:sp>
      <p:sp>
        <p:nvSpPr>
          <p:cNvPr id="164" name="Shape 162"/>
          <p:cNvSpPr/>
          <p:nvPr/>
        </p:nvSpPr>
        <p:spPr>
          <a:xfrm>
            <a:off x="1463040" y="5177790"/>
            <a:ext cx="960120" cy="0"/>
          </a:xfrm>
          <a:prstGeom prst="line">
            <a:avLst/>
          </a:prstGeom>
          <a:noFill/>
          <a:ln w="3175">
            <a:solidFill>
              <a:srgbClr val="B8C4D3"/>
            </a:solidFill>
            <a:prstDash val="solid"/>
          </a:ln>
        </p:spPr>
      </p:sp>
      <p:sp>
        <p:nvSpPr>
          <p:cNvPr id="165" name="Shape 163"/>
          <p:cNvSpPr/>
          <p:nvPr/>
        </p:nvSpPr>
        <p:spPr>
          <a:xfrm>
            <a:off x="2198132" y="4457700"/>
            <a:ext cx="0" cy="960120"/>
          </a:xfrm>
          <a:prstGeom prst="line">
            <a:avLst/>
          </a:prstGeom>
          <a:noFill/>
          <a:ln w="3175">
            <a:solidFill>
              <a:srgbClr val="B8C4D3"/>
            </a:solidFill>
            <a:prstDash val="solid"/>
          </a:ln>
        </p:spPr>
      </p:sp>
      <p:sp>
        <p:nvSpPr>
          <p:cNvPr id="166" name="Shape 164"/>
          <p:cNvSpPr/>
          <p:nvPr/>
        </p:nvSpPr>
        <p:spPr>
          <a:xfrm>
            <a:off x="1463040" y="5192792"/>
            <a:ext cx="960120" cy="0"/>
          </a:xfrm>
          <a:prstGeom prst="line">
            <a:avLst/>
          </a:prstGeom>
          <a:noFill/>
          <a:ln w="3175">
            <a:solidFill>
              <a:srgbClr val="B8C4D3"/>
            </a:solidFill>
            <a:prstDash val="solid"/>
          </a:ln>
        </p:spPr>
      </p:sp>
      <p:sp>
        <p:nvSpPr>
          <p:cNvPr id="167" name="Shape 165"/>
          <p:cNvSpPr/>
          <p:nvPr/>
        </p:nvSpPr>
        <p:spPr>
          <a:xfrm>
            <a:off x="2213134" y="4457700"/>
            <a:ext cx="0" cy="960120"/>
          </a:xfrm>
          <a:prstGeom prst="line">
            <a:avLst/>
          </a:prstGeom>
          <a:noFill/>
          <a:ln w="3175">
            <a:solidFill>
              <a:srgbClr val="B8C4D3"/>
            </a:solidFill>
            <a:prstDash val="solid"/>
          </a:ln>
        </p:spPr>
      </p:sp>
      <p:sp>
        <p:nvSpPr>
          <p:cNvPr id="168" name="Shape 166"/>
          <p:cNvSpPr/>
          <p:nvPr/>
        </p:nvSpPr>
        <p:spPr>
          <a:xfrm>
            <a:off x="1463040" y="5207794"/>
            <a:ext cx="960120" cy="0"/>
          </a:xfrm>
          <a:prstGeom prst="line">
            <a:avLst/>
          </a:prstGeom>
          <a:noFill/>
          <a:ln w="3175">
            <a:solidFill>
              <a:srgbClr val="B8C4D3"/>
            </a:solidFill>
            <a:prstDash val="solid"/>
          </a:ln>
        </p:spPr>
      </p:sp>
      <p:sp>
        <p:nvSpPr>
          <p:cNvPr id="169" name="Shape 167"/>
          <p:cNvSpPr/>
          <p:nvPr/>
        </p:nvSpPr>
        <p:spPr>
          <a:xfrm>
            <a:off x="2228136" y="4457700"/>
            <a:ext cx="0" cy="960120"/>
          </a:xfrm>
          <a:prstGeom prst="line">
            <a:avLst/>
          </a:prstGeom>
          <a:noFill/>
          <a:ln w="3175">
            <a:solidFill>
              <a:srgbClr val="B8C4D3"/>
            </a:solidFill>
            <a:prstDash val="solid"/>
          </a:ln>
        </p:spPr>
      </p:sp>
      <p:sp>
        <p:nvSpPr>
          <p:cNvPr id="170" name="Shape 168"/>
          <p:cNvSpPr/>
          <p:nvPr/>
        </p:nvSpPr>
        <p:spPr>
          <a:xfrm>
            <a:off x="1463040" y="5222796"/>
            <a:ext cx="960120" cy="0"/>
          </a:xfrm>
          <a:prstGeom prst="line">
            <a:avLst/>
          </a:prstGeom>
          <a:noFill/>
          <a:ln w="3175">
            <a:solidFill>
              <a:srgbClr val="B8C4D3"/>
            </a:solidFill>
            <a:prstDash val="solid"/>
          </a:ln>
        </p:spPr>
      </p:sp>
      <p:sp>
        <p:nvSpPr>
          <p:cNvPr id="171" name="Shape 169"/>
          <p:cNvSpPr/>
          <p:nvPr/>
        </p:nvSpPr>
        <p:spPr>
          <a:xfrm>
            <a:off x="2243138" y="4457700"/>
            <a:ext cx="0" cy="960120"/>
          </a:xfrm>
          <a:prstGeom prst="line">
            <a:avLst/>
          </a:prstGeom>
          <a:noFill/>
          <a:ln w="3175">
            <a:solidFill>
              <a:srgbClr val="B8C4D3"/>
            </a:solidFill>
            <a:prstDash val="solid"/>
          </a:ln>
        </p:spPr>
      </p:sp>
      <p:sp>
        <p:nvSpPr>
          <p:cNvPr id="172" name="Shape 170"/>
          <p:cNvSpPr/>
          <p:nvPr/>
        </p:nvSpPr>
        <p:spPr>
          <a:xfrm>
            <a:off x="1463040" y="5237797"/>
            <a:ext cx="960120" cy="0"/>
          </a:xfrm>
          <a:prstGeom prst="line">
            <a:avLst/>
          </a:prstGeom>
          <a:noFill/>
          <a:ln w="3175">
            <a:solidFill>
              <a:srgbClr val="B8C4D3"/>
            </a:solidFill>
            <a:prstDash val="solid"/>
          </a:ln>
        </p:spPr>
      </p:sp>
      <p:sp>
        <p:nvSpPr>
          <p:cNvPr id="173" name="Shape 171"/>
          <p:cNvSpPr/>
          <p:nvPr/>
        </p:nvSpPr>
        <p:spPr>
          <a:xfrm>
            <a:off x="2258139" y="4457700"/>
            <a:ext cx="0" cy="960120"/>
          </a:xfrm>
          <a:prstGeom prst="line">
            <a:avLst/>
          </a:prstGeom>
          <a:noFill/>
          <a:ln w="3175">
            <a:solidFill>
              <a:srgbClr val="B8C4D3"/>
            </a:solidFill>
            <a:prstDash val="solid"/>
          </a:ln>
        </p:spPr>
      </p:sp>
      <p:sp>
        <p:nvSpPr>
          <p:cNvPr id="174" name="Shape 172"/>
          <p:cNvSpPr/>
          <p:nvPr/>
        </p:nvSpPr>
        <p:spPr>
          <a:xfrm>
            <a:off x="1463040" y="5252799"/>
            <a:ext cx="960120" cy="0"/>
          </a:xfrm>
          <a:prstGeom prst="line">
            <a:avLst/>
          </a:prstGeom>
          <a:noFill/>
          <a:ln w="3175">
            <a:solidFill>
              <a:srgbClr val="B8C4D3"/>
            </a:solidFill>
            <a:prstDash val="solid"/>
          </a:ln>
        </p:spPr>
      </p:sp>
      <p:sp>
        <p:nvSpPr>
          <p:cNvPr id="175" name="Shape 173"/>
          <p:cNvSpPr/>
          <p:nvPr/>
        </p:nvSpPr>
        <p:spPr>
          <a:xfrm>
            <a:off x="2273141" y="4457700"/>
            <a:ext cx="0" cy="960120"/>
          </a:xfrm>
          <a:prstGeom prst="line">
            <a:avLst/>
          </a:prstGeom>
          <a:noFill/>
          <a:ln w="3175">
            <a:solidFill>
              <a:srgbClr val="B8C4D3"/>
            </a:solidFill>
            <a:prstDash val="solid"/>
          </a:ln>
        </p:spPr>
      </p:sp>
      <p:sp>
        <p:nvSpPr>
          <p:cNvPr id="176" name="Shape 174"/>
          <p:cNvSpPr/>
          <p:nvPr/>
        </p:nvSpPr>
        <p:spPr>
          <a:xfrm>
            <a:off x="1463040" y="5267801"/>
            <a:ext cx="960120" cy="0"/>
          </a:xfrm>
          <a:prstGeom prst="line">
            <a:avLst/>
          </a:prstGeom>
          <a:noFill/>
          <a:ln w="3175">
            <a:solidFill>
              <a:srgbClr val="B8C4D3"/>
            </a:solidFill>
            <a:prstDash val="solid"/>
          </a:ln>
        </p:spPr>
      </p:sp>
      <p:sp>
        <p:nvSpPr>
          <p:cNvPr id="177" name="Shape 175"/>
          <p:cNvSpPr/>
          <p:nvPr/>
        </p:nvSpPr>
        <p:spPr>
          <a:xfrm>
            <a:off x="2288143" y="4457700"/>
            <a:ext cx="0" cy="960120"/>
          </a:xfrm>
          <a:prstGeom prst="line">
            <a:avLst/>
          </a:prstGeom>
          <a:noFill/>
          <a:ln w="3175">
            <a:solidFill>
              <a:srgbClr val="B8C4D3"/>
            </a:solidFill>
            <a:prstDash val="solid"/>
          </a:ln>
        </p:spPr>
      </p:sp>
      <p:sp>
        <p:nvSpPr>
          <p:cNvPr id="178" name="Shape 176"/>
          <p:cNvSpPr/>
          <p:nvPr/>
        </p:nvSpPr>
        <p:spPr>
          <a:xfrm>
            <a:off x="1463040" y="5282803"/>
            <a:ext cx="960120" cy="0"/>
          </a:xfrm>
          <a:prstGeom prst="line">
            <a:avLst/>
          </a:prstGeom>
          <a:noFill/>
          <a:ln w="3175">
            <a:solidFill>
              <a:srgbClr val="B8C4D3"/>
            </a:solidFill>
            <a:prstDash val="solid"/>
          </a:ln>
        </p:spPr>
      </p:sp>
      <p:sp>
        <p:nvSpPr>
          <p:cNvPr id="179" name="Shape 177"/>
          <p:cNvSpPr/>
          <p:nvPr/>
        </p:nvSpPr>
        <p:spPr>
          <a:xfrm>
            <a:off x="2303145" y="4457700"/>
            <a:ext cx="0" cy="960120"/>
          </a:xfrm>
          <a:prstGeom prst="line">
            <a:avLst/>
          </a:prstGeom>
          <a:noFill/>
          <a:ln w="3175">
            <a:solidFill>
              <a:srgbClr val="B8C4D3"/>
            </a:solidFill>
            <a:prstDash val="solid"/>
          </a:ln>
        </p:spPr>
      </p:sp>
      <p:sp>
        <p:nvSpPr>
          <p:cNvPr id="180" name="Shape 178"/>
          <p:cNvSpPr/>
          <p:nvPr/>
        </p:nvSpPr>
        <p:spPr>
          <a:xfrm>
            <a:off x="1463040" y="5297805"/>
            <a:ext cx="960120" cy="0"/>
          </a:xfrm>
          <a:prstGeom prst="line">
            <a:avLst/>
          </a:prstGeom>
          <a:noFill/>
          <a:ln w="3175">
            <a:solidFill>
              <a:srgbClr val="B8C4D3"/>
            </a:solidFill>
            <a:prstDash val="solid"/>
          </a:ln>
        </p:spPr>
      </p:sp>
      <p:sp>
        <p:nvSpPr>
          <p:cNvPr id="181" name="Shape 179"/>
          <p:cNvSpPr/>
          <p:nvPr/>
        </p:nvSpPr>
        <p:spPr>
          <a:xfrm>
            <a:off x="2318147" y="4457700"/>
            <a:ext cx="0" cy="960120"/>
          </a:xfrm>
          <a:prstGeom prst="line">
            <a:avLst/>
          </a:prstGeom>
          <a:noFill/>
          <a:ln w="3175">
            <a:solidFill>
              <a:srgbClr val="B8C4D3"/>
            </a:solidFill>
            <a:prstDash val="solid"/>
          </a:ln>
        </p:spPr>
      </p:sp>
      <p:sp>
        <p:nvSpPr>
          <p:cNvPr id="182" name="Shape 180"/>
          <p:cNvSpPr/>
          <p:nvPr/>
        </p:nvSpPr>
        <p:spPr>
          <a:xfrm>
            <a:off x="1463040" y="5312807"/>
            <a:ext cx="960120" cy="0"/>
          </a:xfrm>
          <a:prstGeom prst="line">
            <a:avLst/>
          </a:prstGeom>
          <a:noFill/>
          <a:ln w="3175">
            <a:solidFill>
              <a:srgbClr val="B8C4D3"/>
            </a:solidFill>
            <a:prstDash val="solid"/>
          </a:ln>
        </p:spPr>
      </p:sp>
      <p:sp>
        <p:nvSpPr>
          <p:cNvPr id="183" name="Shape 181"/>
          <p:cNvSpPr/>
          <p:nvPr/>
        </p:nvSpPr>
        <p:spPr>
          <a:xfrm>
            <a:off x="2333149" y="4457700"/>
            <a:ext cx="0" cy="960120"/>
          </a:xfrm>
          <a:prstGeom prst="line">
            <a:avLst/>
          </a:prstGeom>
          <a:noFill/>
          <a:ln w="3175">
            <a:solidFill>
              <a:srgbClr val="B8C4D3"/>
            </a:solidFill>
            <a:prstDash val="solid"/>
          </a:ln>
        </p:spPr>
      </p:sp>
      <p:sp>
        <p:nvSpPr>
          <p:cNvPr id="184" name="Shape 182"/>
          <p:cNvSpPr/>
          <p:nvPr/>
        </p:nvSpPr>
        <p:spPr>
          <a:xfrm>
            <a:off x="1463040" y="5327809"/>
            <a:ext cx="960120" cy="0"/>
          </a:xfrm>
          <a:prstGeom prst="line">
            <a:avLst/>
          </a:prstGeom>
          <a:noFill/>
          <a:ln w="3175">
            <a:solidFill>
              <a:srgbClr val="B8C4D3"/>
            </a:solidFill>
            <a:prstDash val="solid"/>
          </a:ln>
        </p:spPr>
      </p:sp>
      <p:sp>
        <p:nvSpPr>
          <p:cNvPr id="185" name="Shape 183"/>
          <p:cNvSpPr/>
          <p:nvPr/>
        </p:nvSpPr>
        <p:spPr>
          <a:xfrm>
            <a:off x="2348151" y="4457700"/>
            <a:ext cx="0" cy="960120"/>
          </a:xfrm>
          <a:prstGeom prst="line">
            <a:avLst/>
          </a:prstGeom>
          <a:noFill/>
          <a:ln w="3175">
            <a:solidFill>
              <a:srgbClr val="B8C4D3"/>
            </a:solidFill>
            <a:prstDash val="solid"/>
          </a:ln>
        </p:spPr>
      </p:sp>
      <p:sp>
        <p:nvSpPr>
          <p:cNvPr id="186" name="Shape 184"/>
          <p:cNvSpPr/>
          <p:nvPr/>
        </p:nvSpPr>
        <p:spPr>
          <a:xfrm>
            <a:off x="1463040" y="5342811"/>
            <a:ext cx="960120" cy="0"/>
          </a:xfrm>
          <a:prstGeom prst="line">
            <a:avLst/>
          </a:prstGeom>
          <a:noFill/>
          <a:ln w="3175">
            <a:solidFill>
              <a:srgbClr val="B8C4D3"/>
            </a:solidFill>
            <a:prstDash val="solid"/>
          </a:ln>
        </p:spPr>
      </p:sp>
      <p:sp>
        <p:nvSpPr>
          <p:cNvPr id="187" name="Shape 185"/>
          <p:cNvSpPr/>
          <p:nvPr/>
        </p:nvSpPr>
        <p:spPr>
          <a:xfrm>
            <a:off x="2363153" y="4457700"/>
            <a:ext cx="0" cy="960120"/>
          </a:xfrm>
          <a:prstGeom prst="line">
            <a:avLst/>
          </a:prstGeom>
          <a:noFill/>
          <a:ln w="3175">
            <a:solidFill>
              <a:srgbClr val="B8C4D3"/>
            </a:solidFill>
            <a:prstDash val="solid"/>
          </a:ln>
        </p:spPr>
      </p:sp>
      <p:sp>
        <p:nvSpPr>
          <p:cNvPr id="188" name="Shape 186"/>
          <p:cNvSpPr/>
          <p:nvPr/>
        </p:nvSpPr>
        <p:spPr>
          <a:xfrm>
            <a:off x="1463040" y="5357812"/>
            <a:ext cx="960120" cy="0"/>
          </a:xfrm>
          <a:prstGeom prst="line">
            <a:avLst/>
          </a:prstGeom>
          <a:noFill/>
          <a:ln w="3175">
            <a:solidFill>
              <a:srgbClr val="B8C4D3"/>
            </a:solidFill>
            <a:prstDash val="solid"/>
          </a:ln>
        </p:spPr>
      </p:sp>
      <p:sp>
        <p:nvSpPr>
          <p:cNvPr id="189" name="Shape 187"/>
          <p:cNvSpPr/>
          <p:nvPr/>
        </p:nvSpPr>
        <p:spPr>
          <a:xfrm>
            <a:off x="2378154" y="4457700"/>
            <a:ext cx="0" cy="960120"/>
          </a:xfrm>
          <a:prstGeom prst="line">
            <a:avLst/>
          </a:prstGeom>
          <a:noFill/>
          <a:ln w="3175">
            <a:solidFill>
              <a:srgbClr val="B8C4D3"/>
            </a:solidFill>
            <a:prstDash val="solid"/>
          </a:ln>
        </p:spPr>
      </p:sp>
      <p:sp>
        <p:nvSpPr>
          <p:cNvPr id="190" name="Shape 188"/>
          <p:cNvSpPr/>
          <p:nvPr/>
        </p:nvSpPr>
        <p:spPr>
          <a:xfrm>
            <a:off x="1463040" y="5372814"/>
            <a:ext cx="960120" cy="0"/>
          </a:xfrm>
          <a:prstGeom prst="line">
            <a:avLst/>
          </a:prstGeom>
          <a:noFill/>
          <a:ln w="3175">
            <a:solidFill>
              <a:srgbClr val="B8C4D3"/>
            </a:solidFill>
            <a:prstDash val="solid"/>
          </a:ln>
        </p:spPr>
      </p:sp>
      <p:sp>
        <p:nvSpPr>
          <p:cNvPr id="191" name="Shape 189"/>
          <p:cNvSpPr/>
          <p:nvPr/>
        </p:nvSpPr>
        <p:spPr>
          <a:xfrm>
            <a:off x="2393156" y="4457700"/>
            <a:ext cx="0" cy="960120"/>
          </a:xfrm>
          <a:prstGeom prst="line">
            <a:avLst/>
          </a:prstGeom>
          <a:noFill/>
          <a:ln w="3175">
            <a:solidFill>
              <a:srgbClr val="B8C4D3"/>
            </a:solidFill>
            <a:prstDash val="solid"/>
          </a:ln>
        </p:spPr>
      </p:sp>
      <p:sp>
        <p:nvSpPr>
          <p:cNvPr id="192" name="Shape 190"/>
          <p:cNvSpPr/>
          <p:nvPr/>
        </p:nvSpPr>
        <p:spPr>
          <a:xfrm>
            <a:off x="1463040" y="5387816"/>
            <a:ext cx="960120" cy="0"/>
          </a:xfrm>
          <a:prstGeom prst="line">
            <a:avLst/>
          </a:prstGeom>
          <a:noFill/>
          <a:ln w="3175">
            <a:solidFill>
              <a:srgbClr val="B8C4D3"/>
            </a:solidFill>
            <a:prstDash val="solid"/>
          </a:ln>
        </p:spPr>
      </p:sp>
      <p:sp>
        <p:nvSpPr>
          <p:cNvPr id="193" name="Shape 191"/>
          <p:cNvSpPr/>
          <p:nvPr/>
        </p:nvSpPr>
        <p:spPr>
          <a:xfrm>
            <a:off x="2408158" y="4457700"/>
            <a:ext cx="0" cy="960120"/>
          </a:xfrm>
          <a:prstGeom prst="line">
            <a:avLst/>
          </a:prstGeom>
          <a:noFill/>
          <a:ln w="3175">
            <a:solidFill>
              <a:srgbClr val="B8C4D3"/>
            </a:solidFill>
            <a:prstDash val="solid"/>
          </a:ln>
        </p:spPr>
      </p:sp>
      <p:sp>
        <p:nvSpPr>
          <p:cNvPr id="194" name="Shape 192"/>
          <p:cNvSpPr/>
          <p:nvPr/>
        </p:nvSpPr>
        <p:spPr>
          <a:xfrm>
            <a:off x="1463040" y="5402818"/>
            <a:ext cx="960120" cy="0"/>
          </a:xfrm>
          <a:prstGeom prst="line">
            <a:avLst/>
          </a:prstGeom>
          <a:noFill/>
          <a:ln w="3175">
            <a:solidFill>
              <a:srgbClr val="B8C4D3"/>
            </a:solidFill>
            <a:prstDash val="solid"/>
          </a:ln>
        </p:spPr>
      </p:sp>
      <p:sp>
        <p:nvSpPr>
          <p:cNvPr id="195" name="Shape 193"/>
          <p:cNvSpPr/>
          <p:nvPr/>
        </p:nvSpPr>
        <p:spPr>
          <a:xfrm>
            <a:off x="1763078" y="5057775"/>
            <a:ext cx="45006" cy="45006"/>
          </a:xfrm>
          <a:prstGeom prst="rect">
            <a:avLst/>
          </a:prstGeom>
          <a:solidFill>
            <a:srgbClr val="1F7A4D"/>
          </a:solidFill>
          <a:ln w="12700">
            <a:solidFill>
              <a:srgbClr val="1F7A4D"/>
            </a:solidFill>
            <a:prstDash val="solid"/>
          </a:ln>
        </p:spPr>
      </p:sp>
      <p:sp>
        <p:nvSpPr>
          <p:cNvPr id="196" name="Text 194"/>
          <p:cNvSpPr txBox="1"/>
          <p:nvPr/>
        </p:nvSpPr>
        <p:spPr>
          <a:xfrm>
            <a:off x="274320" y="2468880"/>
            <a:ext cx="1143000" cy="274320"/>
          </a:xfrm>
          <a:prstGeom prst="rect">
            <a:avLst/>
          </a:prstGeom>
          <a:noFill/>
          <a:ln/>
        </p:spPr>
        <p:txBody>
          <a:bodyPr wrap="square" lIns="0" tIns="0" rIns="0" bIns="0" rtlCol="0" anchor="ctr"/>
          <a:lstStyle/>
          <a:p>
            <a:pPr algn="r" indent="0" marL="0">
              <a:buNone/>
            </a:pPr>
            <a:r>
              <a:rPr lang="en-US" sz="900" b="1" dirty="0">
                <a:solidFill>
                  <a:srgbClr val="2E86AB"/>
                </a:solidFill>
                <a:latin typeface="Calibri" pitchFamily="34" charset="0"/>
                <a:ea typeface="Calibri" pitchFamily="34" charset="-122"/>
                <a:cs typeface="Calibri" pitchFamily="34" charset="-120"/>
              </a:rPr>
              <a:t>space ⅟₁₆ L</a:t>
            </a:r>
            <a:endParaRPr lang="en-US" sz="900" dirty="0"/>
          </a:p>
        </p:txBody>
      </p:sp>
      <p:sp>
        <p:nvSpPr>
          <p:cNvPr id="197" name="Text 195"/>
          <p:cNvSpPr txBox="1"/>
          <p:nvPr/>
        </p:nvSpPr>
        <p:spPr>
          <a:xfrm>
            <a:off x="274320" y="3611880"/>
            <a:ext cx="1143000" cy="274320"/>
          </a:xfrm>
          <a:prstGeom prst="rect">
            <a:avLst/>
          </a:prstGeom>
          <a:noFill/>
          <a:ln/>
        </p:spPr>
        <p:txBody>
          <a:bodyPr wrap="square" lIns="0" tIns="0" rIns="0" bIns="0" rtlCol="0" anchor="ctr"/>
          <a:lstStyle/>
          <a:p>
            <a:pPr algn="r" indent="0" marL="0">
              <a:buNone/>
            </a:pPr>
            <a:r>
              <a:rPr lang="en-US" sz="900" b="1" dirty="0">
                <a:solidFill>
                  <a:srgbClr val="E07A2F"/>
                </a:solidFill>
                <a:latin typeface="Calibri" pitchFamily="34" charset="0"/>
                <a:ea typeface="Calibri" pitchFamily="34" charset="-122"/>
                <a:cs typeface="Calibri" pitchFamily="34" charset="-120"/>
              </a:rPr>
              <a:t>time ⅛ L</a:t>
            </a:r>
            <a:endParaRPr lang="en-US" sz="900" dirty="0"/>
          </a:p>
        </p:txBody>
      </p:sp>
      <p:sp>
        <p:nvSpPr>
          <p:cNvPr id="198" name="Text 196"/>
          <p:cNvSpPr txBox="1"/>
          <p:nvPr/>
        </p:nvSpPr>
        <p:spPr>
          <a:xfrm>
            <a:off x="274320" y="4754880"/>
            <a:ext cx="1143000" cy="274320"/>
          </a:xfrm>
          <a:prstGeom prst="rect">
            <a:avLst/>
          </a:prstGeom>
          <a:noFill/>
          <a:ln/>
        </p:spPr>
        <p:txBody>
          <a:bodyPr wrap="square" lIns="0" tIns="0" rIns="0" bIns="0" rtlCol="0" anchor="ctr"/>
          <a:lstStyle/>
          <a:p>
            <a:pPr algn="r" indent="0" marL="0">
              <a:buNone/>
            </a:pPr>
            <a:r>
              <a:rPr lang="en-US" sz="900" b="1" dirty="0">
                <a:solidFill>
                  <a:srgbClr val="1F7A4D"/>
                </a:solidFill>
                <a:latin typeface="Calibri" pitchFamily="34" charset="0"/>
                <a:ea typeface="Calibri" pitchFamily="34" charset="-122"/>
                <a:cs typeface="Calibri" pitchFamily="34" charset="-120"/>
              </a:rPr>
              <a:t>precision ½ L</a:t>
            </a:r>
            <a:endParaRPr lang="en-US" sz="900" dirty="0"/>
          </a:p>
        </p:txBody>
      </p:sp>
      <p:sp>
        <p:nvSpPr>
          <p:cNvPr id="199" name="Shape 197"/>
          <p:cNvSpPr/>
          <p:nvPr/>
        </p:nvSpPr>
        <p:spPr>
          <a:xfrm>
            <a:off x="8778240" y="2171700"/>
            <a:ext cx="960120" cy="960120"/>
          </a:xfrm>
          <a:prstGeom prst="rect">
            <a:avLst/>
          </a:prstGeom>
          <a:solidFill>
            <a:srgbClr val="FFFFFF"/>
          </a:solidFill>
          <a:ln w="15875">
            <a:solidFill>
              <a:srgbClr val="2E86AB"/>
            </a:solidFill>
            <a:prstDash val="solid"/>
          </a:ln>
        </p:spPr>
      </p:sp>
      <p:sp>
        <p:nvSpPr>
          <p:cNvPr id="200" name="Shape 198"/>
          <p:cNvSpPr/>
          <p:nvPr/>
        </p:nvSpPr>
        <p:spPr>
          <a:xfrm>
            <a:off x="8898255" y="2171700"/>
            <a:ext cx="0" cy="960120"/>
          </a:xfrm>
          <a:prstGeom prst="line">
            <a:avLst/>
          </a:prstGeom>
          <a:noFill/>
          <a:ln w="7620">
            <a:solidFill>
              <a:srgbClr val="B8C4D3"/>
            </a:solidFill>
            <a:prstDash val="solid"/>
          </a:ln>
        </p:spPr>
      </p:sp>
      <p:sp>
        <p:nvSpPr>
          <p:cNvPr id="201" name="Shape 199"/>
          <p:cNvSpPr/>
          <p:nvPr/>
        </p:nvSpPr>
        <p:spPr>
          <a:xfrm>
            <a:off x="8778240" y="2291715"/>
            <a:ext cx="960120" cy="0"/>
          </a:xfrm>
          <a:prstGeom prst="line">
            <a:avLst/>
          </a:prstGeom>
          <a:noFill/>
          <a:ln w="7620">
            <a:solidFill>
              <a:srgbClr val="B8C4D3"/>
            </a:solidFill>
            <a:prstDash val="solid"/>
          </a:ln>
        </p:spPr>
      </p:sp>
      <p:sp>
        <p:nvSpPr>
          <p:cNvPr id="202" name="Shape 200"/>
          <p:cNvSpPr/>
          <p:nvPr/>
        </p:nvSpPr>
        <p:spPr>
          <a:xfrm>
            <a:off x="9018270" y="2171700"/>
            <a:ext cx="0" cy="960120"/>
          </a:xfrm>
          <a:prstGeom prst="line">
            <a:avLst/>
          </a:prstGeom>
          <a:noFill/>
          <a:ln w="7620">
            <a:solidFill>
              <a:srgbClr val="B8C4D3"/>
            </a:solidFill>
            <a:prstDash val="solid"/>
          </a:ln>
        </p:spPr>
      </p:sp>
      <p:sp>
        <p:nvSpPr>
          <p:cNvPr id="203" name="Shape 201"/>
          <p:cNvSpPr/>
          <p:nvPr/>
        </p:nvSpPr>
        <p:spPr>
          <a:xfrm>
            <a:off x="8778240" y="2411730"/>
            <a:ext cx="960120" cy="0"/>
          </a:xfrm>
          <a:prstGeom prst="line">
            <a:avLst/>
          </a:prstGeom>
          <a:noFill/>
          <a:ln w="7620">
            <a:solidFill>
              <a:srgbClr val="B8C4D3"/>
            </a:solidFill>
            <a:prstDash val="solid"/>
          </a:ln>
        </p:spPr>
      </p:sp>
      <p:sp>
        <p:nvSpPr>
          <p:cNvPr id="204" name="Shape 202"/>
          <p:cNvSpPr/>
          <p:nvPr/>
        </p:nvSpPr>
        <p:spPr>
          <a:xfrm>
            <a:off x="9138285" y="2171700"/>
            <a:ext cx="0" cy="960120"/>
          </a:xfrm>
          <a:prstGeom prst="line">
            <a:avLst/>
          </a:prstGeom>
          <a:noFill/>
          <a:ln w="7620">
            <a:solidFill>
              <a:srgbClr val="B8C4D3"/>
            </a:solidFill>
            <a:prstDash val="solid"/>
          </a:ln>
        </p:spPr>
      </p:sp>
      <p:sp>
        <p:nvSpPr>
          <p:cNvPr id="205" name="Shape 203"/>
          <p:cNvSpPr/>
          <p:nvPr/>
        </p:nvSpPr>
        <p:spPr>
          <a:xfrm>
            <a:off x="8778240" y="2531745"/>
            <a:ext cx="960120" cy="0"/>
          </a:xfrm>
          <a:prstGeom prst="line">
            <a:avLst/>
          </a:prstGeom>
          <a:noFill/>
          <a:ln w="7620">
            <a:solidFill>
              <a:srgbClr val="B8C4D3"/>
            </a:solidFill>
            <a:prstDash val="solid"/>
          </a:ln>
        </p:spPr>
      </p:sp>
      <p:sp>
        <p:nvSpPr>
          <p:cNvPr id="206" name="Shape 204"/>
          <p:cNvSpPr/>
          <p:nvPr/>
        </p:nvSpPr>
        <p:spPr>
          <a:xfrm>
            <a:off x="9258300" y="2171700"/>
            <a:ext cx="0" cy="960120"/>
          </a:xfrm>
          <a:prstGeom prst="line">
            <a:avLst/>
          </a:prstGeom>
          <a:noFill/>
          <a:ln w="7620">
            <a:solidFill>
              <a:srgbClr val="B8C4D3"/>
            </a:solidFill>
            <a:prstDash val="solid"/>
          </a:ln>
        </p:spPr>
      </p:sp>
      <p:sp>
        <p:nvSpPr>
          <p:cNvPr id="207" name="Shape 205"/>
          <p:cNvSpPr/>
          <p:nvPr/>
        </p:nvSpPr>
        <p:spPr>
          <a:xfrm>
            <a:off x="8778240" y="2651760"/>
            <a:ext cx="960120" cy="0"/>
          </a:xfrm>
          <a:prstGeom prst="line">
            <a:avLst/>
          </a:prstGeom>
          <a:noFill/>
          <a:ln w="7620">
            <a:solidFill>
              <a:srgbClr val="B8C4D3"/>
            </a:solidFill>
            <a:prstDash val="solid"/>
          </a:ln>
        </p:spPr>
      </p:sp>
      <p:sp>
        <p:nvSpPr>
          <p:cNvPr id="208" name="Shape 206"/>
          <p:cNvSpPr/>
          <p:nvPr/>
        </p:nvSpPr>
        <p:spPr>
          <a:xfrm>
            <a:off x="9378315" y="2171700"/>
            <a:ext cx="0" cy="960120"/>
          </a:xfrm>
          <a:prstGeom prst="line">
            <a:avLst/>
          </a:prstGeom>
          <a:noFill/>
          <a:ln w="7620">
            <a:solidFill>
              <a:srgbClr val="B8C4D3"/>
            </a:solidFill>
            <a:prstDash val="solid"/>
          </a:ln>
        </p:spPr>
      </p:sp>
      <p:sp>
        <p:nvSpPr>
          <p:cNvPr id="209" name="Shape 207"/>
          <p:cNvSpPr/>
          <p:nvPr/>
        </p:nvSpPr>
        <p:spPr>
          <a:xfrm>
            <a:off x="8778240" y="2771775"/>
            <a:ext cx="960120" cy="0"/>
          </a:xfrm>
          <a:prstGeom prst="line">
            <a:avLst/>
          </a:prstGeom>
          <a:noFill/>
          <a:ln w="7620">
            <a:solidFill>
              <a:srgbClr val="B8C4D3"/>
            </a:solidFill>
            <a:prstDash val="solid"/>
          </a:ln>
        </p:spPr>
      </p:sp>
      <p:sp>
        <p:nvSpPr>
          <p:cNvPr id="210" name="Shape 208"/>
          <p:cNvSpPr/>
          <p:nvPr/>
        </p:nvSpPr>
        <p:spPr>
          <a:xfrm>
            <a:off x="9498330" y="2171700"/>
            <a:ext cx="0" cy="960120"/>
          </a:xfrm>
          <a:prstGeom prst="line">
            <a:avLst/>
          </a:prstGeom>
          <a:noFill/>
          <a:ln w="7620">
            <a:solidFill>
              <a:srgbClr val="B8C4D3"/>
            </a:solidFill>
            <a:prstDash val="solid"/>
          </a:ln>
        </p:spPr>
      </p:sp>
      <p:sp>
        <p:nvSpPr>
          <p:cNvPr id="211" name="Shape 209"/>
          <p:cNvSpPr/>
          <p:nvPr/>
        </p:nvSpPr>
        <p:spPr>
          <a:xfrm>
            <a:off x="8778240" y="2891790"/>
            <a:ext cx="960120" cy="0"/>
          </a:xfrm>
          <a:prstGeom prst="line">
            <a:avLst/>
          </a:prstGeom>
          <a:noFill/>
          <a:ln w="7620">
            <a:solidFill>
              <a:srgbClr val="B8C4D3"/>
            </a:solidFill>
            <a:prstDash val="solid"/>
          </a:ln>
        </p:spPr>
      </p:sp>
      <p:sp>
        <p:nvSpPr>
          <p:cNvPr id="212" name="Shape 210"/>
          <p:cNvSpPr/>
          <p:nvPr/>
        </p:nvSpPr>
        <p:spPr>
          <a:xfrm>
            <a:off x="9618345" y="2171700"/>
            <a:ext cx="0" cy="960120"/>
          </a:xfrm>
          <a:prstGeom prst="line">
            <a:avLst/>
          </a:prstGeom>
          <a:noFill/>
          <a:ln w="7620">
            <a:solidFill>
              <a:srgbClr val="B8C4D3"/>
            </a:solidFill>
            <a:prstDash val="solid"/>
          </a:ln>
        </p:spPr>
      </p:sp>
      <p:sp>
        <p:nvSpPr>
          <p:cNvPr id="213" name="Shape 211"/>
          <p:cNvSpPr/>
          <p:nvPr/>
        </p:nvSpPr>
        <p:spPr>
          <a:xfrm>
            <a:off x="8778240" y="3011805"/>
            <a:ext cx="960120" cy="0"/>
          </a:xfrm>
          <a:prstGeom prst="line">
            <a:avLst/>
          </a:prstGeom>
          <a:noFill/>
          <a:ln w="7620">
            <a:solidFill>
              <a:srgbClr val="B8C4D3"/>
            </a:solidFill>
            <a:prstDash val="solid"/>
          </a:ln>
        </p:spPr>
      </p:sp>
      <p:sp>
        <p:nvSpPr>
          <p:cNvPr id="214" name="Shape 212"/>
          <p:cNvSpPr/>
          <p:nvPr/>
        </p:nvSpPr>
        <p:spPr>
          <a:xfrm>
            <a:off x="9138285" y="2531745"/>
            <a:ext cx="120015" cy="120015"/>
          </a:xfrm>
          <a:prstGeom prst="rect">
            <a:avLst/>
          </a:prstGeom>
          <a:solidFill>
            <a:srgbClr val="2E86AB"/>
          </a:solidFill>
          <a:ln w="12700">
            <a:solidFill>
              <a:srgbClr val="2E86AB"/>
            </a:solidFill>
            <a:prstDash val="solid"/>
          </a:ln>
        </p:spPr>
      </p:sp>
      <p:sp>
        <p:nvSpPr>
          <p:cNvPr id="215" name="Shape 213"/>
          <p:cNvSpPr/>
          <p:nvPr/>
        </p:nvSpPr>
        <p:spPr>
          <a:xfrm>
            <a:off x="9258300" y="2531745"/>
            <a:ext cx="120015" cy="120015"/>
          </a:xfrm>
          <a:prstGeom prst="rect">
            <a:avLst/>
          </a:prstGeom>
          <a:solidFill>
            <a:srgbClr val="E07A2F">
              <a:alpha val="65000"/>
            </a:srgbClr>
          </a:solidFill>
          <a:ln w="12700">
            <a:solidFill>
              <a:srgbClr val="E07A2F"/>
            </a:solidFill>
            <a:prstDash val="solid"/>
          </a:ln>
        </p:spPr>
      </p:sp>
      <p:sp>
        <p:nvSpPr>
          <p:cNvPr id="216" name="Shape 214"/>
          <p:cNvSpPr/>
          <p:nvPr/>
        </p:nvSpPr>
        <p:spPr>
          <a:xfrm>
            <a:off x="9018270" y="2771775"/>
            <a:ext cx="120015" cy="120015"/>
          </a:xfrm>
          <a:prstGeom prst="rect">
            <a:avLst/>
          </a:prstGeom>
          <a:solidFill>
            <a:srgbClr val="1F7A4D">
              <a:alpha val="65000"/>
            </a:srgbClr>
          </a:solidFill>
          <a:ln w="12700">
            <a:solidFill>
              <a:srgbClr val="1F7A4D"/>
            </a:solidFill>
            <a:prstDash val="solid"/>
          </a:ln>
        </p:spPr>
      </p:sp>
      <p:sp>
        <p:nvSpPr>
          <p:cNvPr id="217" name="Text 215"/>
          <p:cNvSpPr txBox="1"/>
          <p:nvPr/>
        </p:nvSpPr>
        <p:spPr>
          <a:xfrm>
            <a:off x="8503920" y="1860804"/>
            <a:ext cx="1508760" cy="256032"/>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block k+1 · inputs</a:t>
            </a:r>
            <a:endParaRPr lang="en-US" sz="950" dirty="0"/>
          </a:p>
        </p:txBody>
      </p:sp>
      <p:sp>
        <p:nvSpPr>
          <p:cNvPr id="218" name="Shape 216"/>
          <p:cNvSpPr/>
          <p:nvPr/>
        </p:nvSpPr>
        <p:spPr>
          <a:xfrm>
            <a:off x="8778240" y="3314700"/>
            <a:ext cx="960120" cy="960120"/>
          </a:xfrm>
          <a:prstGeom prst="rect">
            <a:avLst/>
          </a:prstGeom>
          <a:solidFill>
            <a:srgbClr val="FFFFFF"/>
          </a:solidFill>
          <a:ln w="15875">
            <a:solidFill>
              <a:srgbClr val="E07A2F"/>
            </a:solidFill>
            <a:prstDash val="solid"/>
          </a:ln>
        </p:spPr>
      </p:sp>
      <p:sp>
        <p:nvSpPr>
          <p:cNvPr id="219" name="Shape 217"/>
          <p:cNvSpPr/>
          <p:nvPr/>
        </p:nvSpPr>
        <p:spPr>
          <a:xfrm>
            <a:off x="8838248" y="3314700"/>
            <a:ext cx="0" cy="960120"/>
          </a:xfrm>
          <a:prstGeom prst="line">
            <a:avLst/>
          </a:prstGeom>
          <a:noFill/>
          <a:ln w="5080">
            <a:solidFill>
              <a:srgbClr val="B8C4D3"/>
            </a:solidFill>
            <a:prstDash val="solid"/>
          </a:ln>
        </p:spPr>
      </p:sp>
      <p:sp>
        <p:nvSpPr>
          <p:cNvPr id="220" name="Shape 218"/>
          <p:cNvSpPr/>
          <p:nvPr/>
        </p:nvSpPr>
        <p:spPr>
          <a:xfrm>
            <a:off x="8778240" y="3374707"/>
            <a:ext cx="960120" cy="0"/>
          </a:xfrm>
          <a:prstGeom prst="line">
            <a:avLst/>
          </a:prstGeom>
          <a:noFill/>
          <a:ln w="5080">
            <a:solidFill>
              <a:srgbClr val="B8C4D3"/>
            </a:solidFill>
            <a:prstDash val="solid"/>
          </a:ln>
        </p:spPr>
      </p:sp>
      <p:sp>
        <p:nvSpPr>
          <p:cNvPr id="221" name="Shape 219"/>
          <p:cNvSpPr/>
          <p:nvPr/>
        </p:nvSpPr>
        <p:spPr>
          <a:xfrm>
            <a:off x="8898255" y="3314700"/>
            <a:ext cx="0" cy="960120"/>
          </a:xfrm>
          <a:prstGeom prst="line">
            <a:avLst/>
          </a:prstGeom>
          <a:noFill/>
          <a:ln w="5080">
            <a:solidFill>
              <a:srgbClr val="B8C4D3"/>
            </a:solidFill>
            <a:prstDash val="solid"/>
          </a:ln>
        </p:spPr>
      </p:sp>
      <p:sp>
        <p:nvSpPr>
          <p:cNvPr id="222" name="Shape 220"/>
          <p:cNvSpPr/>
          <p:nvPr/>
        </p:nvSpPr>
        <p:spPr>
          <a:xfrm>
            <a:off x="8778240" y="3434715"/>
            <a:ext cx="960120" cy="0"/>
          </a:xfrm>
          <a:prstGeom prst="line">
            <a:avLst/>
          </a:prstGeom>
          <a:noFill/>
          <a:ln w="5080">
            <a:solidFill>
              <a:srgbClr val="B8C4D3"/>
            </a:solidFill>
            <a:prstDash val="solid"/>
          </a:ln>
        </p:spPr>
      </p:sp>
      <p:sp>
        <p:nvSpPr>
          <p:cNvPr id="223" name="Shape 221"/>
          <p:cNvSpPr/>
          <p:nvPr/>
        </p:nvSpPr>
        <p:spPr>
          <a:xfrm>
            <a:off x="8958263" y="3314700"/>
            <a:ext cx="0" cy="960120"/>
          </a:xfrm>
          <a:prstGeom prst="line">
            <a:avLst/>
          </a:prstGeom>
          <a:noFill/>
          <a:ln w="5080">
            <a:solidFill>
              <a:srgbClr val="B8C4D3"/>
            </a:solidFill>
            <a:prstDash val="solid"/>
          </a:ln>
        </p:spPr>
      </p:sp>
      <p:sp>
        <p:nvSpPr>
          <p:cNvPr id="224" name="Shape 222"/>
          <p:cNvSpPr/>
          <p:nvPr/>
        </p:nvSpPr>
        <p:spPr>
          <a:xfrm>
            <a:off x="8778240" y="3494722"/>
            <a:ext cx="960120" cy="0"/>
          </a:xfrm>
          <a:prstGeom prst="line">
            <a:avLst/>
          </a:prstGeom>
          <a:noFill/>
          <a:ln w="5080">
            <a:solidFill>
              <a:srgbClr val="B8C4D3"/>
            </a:solidFill>
            <a:prstDash val="solid"/>
          </a:ln>
        </p:spPr>
      </p:sp>
      <p:sp>
        <p:nvSpPr>
          <p:cNvPr id="225" name="Shape 223"/>
          <p:cNvSpPr/>
          <p:nvPr/>
        </p:nvSpPr>
        <p:spPr>
          <a:xfrm>
            <a:off x="9018270" y="3314700"/>
            <a:ext cx="0" cy="960120"/>
          </a:xfrm>
          <a:prstGeom prst="line">
            <a:avLst/>
          </a:prstGeom>
          <a:noFill/>
          <a:ln w="5080">
            <a:solidFill>
              <a:srgbClr val="B8C4D3"/>
            </a:solidFill>
            <a:prstDash val="solid"/>
          </a:ln>
        </p:spPr>
      </p:sp>
      <p:sp>
        <p:nvSpPr>
          <p:cNvPr id="226" name="Shape 224"/>
          <p:cNvSpPr/>
          <p:nvPr/>
        </p:nvSpPr>
        <p:spPr>
          <a:xfrm>
            <a:off x="8778240" y="3554730"/>
            <a:ext cx="960120" cy="0"/>
          </a:xfrm>
          <a:prstGeom prst="line">
            <a:avLst/>
          </a:prstGeom>
          <a:noFill/>
          <a:ln w="5080">
            <a:solidFill>
              <a:srgbClr val="B8C4D3"/>
            </a:solidFill>
            <a:prstDash val="solid"/>
          </a:ln>
        </p:spPr>
      </p:sp>
      <p:sp>
        <p:nvSpPr>
          <p:cNvPr id="227" name="Shape 225"/>
          <p:cNvSpPr/>
          <p:nvPr/>
        </p:nvSpPr>
        <p:spPr>
          <a:xfrm>
            <a:off x="9078278" y="3314700"/>
            <a:ext cx="0" cy="960120"/>
          </a:xfrm>
          <a:prstGeom prst="line">
            <a:avLst/>
          </a:prstGeom>
          <a:noFill/>
          <a:ln w="5080">
            <a:solidFill>
              <a:srgbClr val="B8C4D3"/>
            </a:solidFill>
            <a:prstDash val="solid"/>
          </a:ln>
        </p:spPr>
      </p:sp>
      <p:sp>
        <p:nvSpPr>
          <p:cNvPr id="228" name="Shape 226"/>
          <p:cNvSpPr/>
          <p:nvPr/>
        </p:nvSpPr>
        <p:spPr>
          <a:xfrm>
            <a:off x="8778240" y="3614737"/>
            <a:ext cx="960120" cy="0"/>
          </a:xfrm>
          <a:prstGeom prst="line">
            <a:avLst/>
          </a:prstGeom>
          <a:noFill/>
          <a:ln w="5080">
            <a:solidFill>
              <a:srgbClr val="B8C4D3"/>
            </a:solidFill>
            <a:prstDash val="solid"/>
          </a:ln>
        </p:spPr>
      </p:sp>
      <p:sp>
        <p:nvSpPr>
          <p:cNvPr id="229" name="Shape 227"/>
          <p:cNvSpPr/>
          <p:nvPr/>
        </p:nvSpPr>
        <p:spPr>
          <a:xfrm>
            <a:off x="9138285" y="3314700"/>
            <a:ext cx="0" cy="960120"/>
          </a:xfrm>
          <a:prstGeom prst="line">
            <a:avLst/>
          </a:prstGeom>
          <a:noFill/>
          <a:ln w="5080">
            <a:solidFill>
              <a:srgbClr val="B8C4D3"/>
            </a:solidFill>
            <a:prstDash val="solid"/>
          </a:ln>
        </p:spPr>
      </p:sp>
      <p:sp>
        <p:nvSpPr>
          <p:cNvPr id="230" name="Shape 228"/>
          <p:cNvSpPr/>
          <p:nvPr/>
        </p:nvSpPr>
        <p:spPr>
          <a:xfrm>
            <a:off x="8778240" y="3674745"/>
            <a:ext cx="960120" cy="0"/>
          </a:xfrm>
          <a:prstGeom prst="line">
            <a:avLst/>
          </a:prstGeom>
          <a:noFill/>
          <a:ln w="5080">
            <a:solidFill>
              <a:srgbClr val="B8C4D3"/>
            </a:solidFill>
            <a:prstDash val="solid"/>
          </a:ln>
        </p:spPr>
      </p:sp>
      <p:sp>
        <p:nvSpPr>
          <p:cNvPr id="231" name="Shape 229"/>
          <p:cNvSpPr/>
          <p:nvPr/>
        </p:nvSpPr>
        <p:spPr>
          <a:xfrm>
            <a:off x="9198293" y="3314700"/>
            <a:ext cx="0" cy="960120"/>
          </a:xfrm>
          <a:prstGeom prst="line">
            <a:avLst/>
          </a:prstGeom>
          <a:noFill/>
          <a:ln w="5080">
            <a:solidFill>
              <a:srgbClr val="B8C4D3"/>
            </a:solidFill>
            <a:prstDash val="solid"/>
          </a:ln>
        </p:spPr>
      </p:sp>
      <p:sp>
        <p:nvSpPr>
          <p:cNvPr id="232" name="Shape 230"/>
          <p:cNvSpPr/>
          <p:nvPr/>
        </p:nvSpPr>
        <p:spPr>
          <a:xfrm>
            <a:off x="8778240" y="3734752"/>
            <a:ext cx="960120" cy="0"/>
          </a:xfrm>
          <a:prstGeom prst="line">
            <a:avLst/>
          </a:prstGeom>
          <a:noFill/>
          <a:ln w="5080">
            <a:solidFill>
              <a:srgbClr val="B8C4D3"/>
            </a:solidFill>
            <a:prstDash val="solid"/>
          </a:ln>
        </p:spPr>
      </p:sp>
      <p:sp>
        <p:nvSpPr>
          <p:cNvPr id="233" name="Shape 231"/>
          <p:cNvSpPr/>
          <p:nvPr/>
        </p:nvSpPr>
        <p:spPr>
          <a:xfrm>
            <a:off x="9258300" y="3314700"/>
            <a:ext cx="0" cy="960120"/>
          </a:xfrm>
          <a:prstGeom prst="line">
            <a:avLst/>
          </a:prstGeom>
          <a:noFill/>
          <a:ln w="5080">
            <a:solidFill>
              <a:srgbClr val="B8C4D3"/>
            </a:solidFill>
            <a:prstDash val="solid"/>
          </a:ln>
        </p:spPr>
      </p:sp>
      <p:sp>
        <p:nvSpPr>
          <p:cNvPr id="234" name="Shape 232"/>
          <p:cNvSpPr/>
          <p:nvPr/>
        </p:nvSpPr>
        <p:spPr>
          <a:xfrm>
            <a:off x="8778240" y="3794760"/>
            <a:ext cx="960120" cy="0"/>
          </a:xfrm>
          <a:prstGeom prst="line">
            <a:avLst/>
          </a:prstGeom>
          <a:noFill/>
          <a:ln w="5080">
            <a:solidFill>
              <a:srgbClr val="B8C4D3"/>
            </a:solidFill>
            <a:prstDash val="solid"/>
          </a:ln>
        </p:spPr>
      </p:sp>
      <p:sp>
        <p:nvSpPr>
          <p:cNvPr id="235" name="Shape 233"/>
          <p:cNvSpPr/>
          <p:nvPr/>
        </p:nvSpPr>
        <p:spPr>
          <a:xfrm>
            <a:off x="9318307" y="3314700"/>
            <a:ext cx="0" cy="960120"/>
          </a:xfrm>
          <a:prstGeom prst="line">
            <a:avLst/>
          </a:prstGeom>
          <a:noFill/>
          <a:ln w="5080">
            <a:solidFill>
              <a:srgbClr val="B8C4D3"/>
            </a:solidFill>
            <a:prstDash val="solid"/>
          </a:ln>
        </p:spPr>
      </p:sp>
      <p:sp>
        <p:nvSpPr>
          <p:cNvPr id="236" name="Shape 234"/>
          <p:cNvSpPr/>
          <p:nvPr/>
        </p:nvSpPr>
        <p:spPr>
          <a:xfrm>
            <a:off x="8778240" y="3854767"/>
            <a:ext cx="960120" cy="0"/>
          </a:xfrm>
          <a:prstGeom prst="line">
            <a:avLst/>
          </a:prstGeom>
          <a:noFill/>
          <a:ln w="5080">
            <a:solidFill>
              <a:srgbClr val="B8C4D3"/>
            </a:solidFill>
            <a:prstDash val="solid"/>
          </a:ln>
        </p:spPr>
      </p:sp>
      <p:sp>
        <p:nvSpPr>
          <p:cNvPr id="237" name="Shape 235"/>
          <p:cNvSpPr/>
          <p:nvPr/>
        </p:nvSpPr>
        <p:spPr>
          <a:xfrm>
            <a:off x="9378315" y="3314700"/>
            <a:ext cx="0" cy="960120"/>
          </a:xfrm>
          <a:prstGeom prst="line">
            <a:avLst/>
          </a:prstGeom>
          <a:noFill/>
          <a:ln w="5080">
            <a:solidFill>
              <a:srgbClr val="B8C4D3"/>
            </a:solidFill>
            <a:prstDash val="solid"/>
          </a:ln>
        </p:spPr>
      </p:sp>
      <p:sp>
        <p:nvSpPr>
          <p:cNvPr id="238" name="Shape 236"/>
          <p:cNvSpPr/>
          <p:nvPr/>
        </p:nvSpPr>
        <p:spPr>
          <a:xfrm>
            <a:off x="8778240" y="3914775"/>
            <a:ext cx="960120" cy="0"/>
          </a:xfrm>
          <a:prstGeom prst="line">
            <a:avLst/>
          </a:prstGeom>
          <a:noFill/>
          <a:ln w="5080">
            <a:solidFill>
              <a:srgbClr val="B8C4D3"/>
            </a:solidFill>
            <a:prstDash val="solid"/>
          </a:ln>
        </p:spPr>
      </p:sp>
      <p:sp>
        <p:nvSpPr>
          <p:cNvPr id="239" name="Shape 237"/>
          <p:cNvSpPr/>
          <p:nvPr/>
        </p:nvSpPr>
        <p:spPr>
          <a:xfrm>
            <a:off x="9438323" y="3314700"/>
            <a:ext cx="0" cy="960120"/>
          </a:xfrm>
          <a:prstGeom prst="line">
            <a:avLst/>
          </a:prstGeom>
          <a:noFill/>
          <a:ln w="5080">
            <a:solidFill>
              <a:srgbClr val="B8C4D3"/>
            </a:solidFill>
            <a:prstDash val="solid"/>
          </a:ln>
        </p:spPr>
      </p:sp>
      <p:sp>
        <p:nvSpPr>
          <p:cNvPr id="240" name="Shape 238"/>
          <p:cNvSpPr/>
          <p:nvPr/>
        </p:nvSpPr>
        <p:spPr>
          <a:xfrm>
            <a:off x="8778240" y="3974783"/>
            <a:ext cx="960120" cy="0"/>
          </a:xfrm>
          <a:prstGeom prst="line">
            <a:avLst/>
          </a:prstGeom>
          <a:noFill/>
          <a:ln w="5080">
            <a:solidFill>
              <a:srgbClr val="B8C4D3"/>
            </a:solidFill>
            <a:prstDash val="solid"/>
          </a:ln>
        </p:spPr>
      </p:sp>
      <p:sp>
        <p:nvSpPr>
          <p:cNvPr id="241" name="Shape 239"/>
          <p:cNvSpPr/>
          <p:nvPr/>
        </p:nvSpPr>
        <p:spPr>
          <a:xfrm>
            <a:off x="9498330" y="3314700"/>
            <a:ext cx="0" cy="960120"/>
          </a:xfrm>
          <a:prstGeom prst="line">
            <a:avLst/>
          </a:prstGeom>
          <a:noFill/>
          <a:ln w="5080">
            <a:solidFill>
              <a:srgbClr val="B8C4D3"/>
            </a:solidFill>
            <a:prstDash val="solid"/>
          </a:ln>
        </p:spPr>
      </p:sp>
      <p:sp>
        <p:nvSpPr>
          <p:cNvPr id="242" name="Shape 240"/>
          <p:cNvSpPr/>
          <p:nvPr/>
        </p:nvSpPr>
        <p:spPr>
          <a:xfrm>
            <a:off x="8778240" y="4034790"/>
            <a:ext cx="960120" cy="0"/>
          </a:xfrm>
          <a:prstGeom prst="line">
            <a:avLst/>
          </a:prstGeom>
          <a:noFill/>
          <a:ln w="5080">
            <a:solidFill>
              <a:srgbClr val="B8C4D3"/>
            </a:solidFill>
            <a:prstDash val="solid"/>
          </a:ln>
        </p:spPr>
      </p:sp>
      <p:sp>
        <p:nvSpPr>
          <p:cNvPr id="243" name="Shape 241"/>
          <p:cNvSpPr/>
          <p:nvPr/>
        </p:nvSpPr>
        <p:spPr>
          <a:xfrm>
            <a:off x="9558338" y="3314700"/>
            <a:ext cx="0" cy="960120"/>
          </a:xfrm>
          <a:prstGeom prst="line">
            <a:avLst/>
          </a:prstGeom>
          <a:noFill/>
          <a:ln w="5080">
            <a:solidFill>
              <a:srgbClr val="B8C4D3"/>
            </a:solidFill>
            <a:prstDash val="solid"/>
          </a:ln>
        </p:spPr>
      </p:sp>
      <p:sp>
        <p:nvSpPr>
          <p:cNvPr id="244" name="Shape 242"/>
          <p:cNvSpPr/>
          <p:nvPr/>
        </p:nvSpPr>
        <p:spPr>
          <a:xfrm>
            <a:off x="8778240" y="4094797"/>
            <a:ext cx="960120" cy="0"/>
          </a:xfrm>
          <a:prstGeom prst="line">
            <a:avLst/>
          </a:prstGeom>
          <a:noFill/>
          <a:ln w="5080">
            <a:solidFill>
              <a:srgbClr val="B8C4D3"/>
            </a:solidFill>
            <a:prstDash val="solid"/>
          </a:ln>
        </p:spPr>
      </p:sp>
      <p:sp>
        <p:nvSpPr>
          <p:cNvPr id="245" name="Shape 243"/>
          <p:cNvSpPr/>
          <p:nvPr/>
        </p:nvSpPr>
        <p:spPr>
          <a:xfrm>
            <a:off x="9618345" y="3314700"/>
            <a:ext cx="0" cy="960120"/>
          </a:xfrm>
          <a:prstGeom prst="line">
            <a:avLst/>
          </a:prstGeom>
          <a:noFill/>
          <a:ln w="5080">
            <a:solidFill>
              <a:srgbClr val="B8C4D3"/>
            </a:solidFill>
            <a:prstDash val="solid"/>
          </a:ln>
        </p:spPr>
      </p:sp>
      <p:sp>
        <p:nvSpPr>
          <p:cNvPr id="246" name="Shape 244"/>
          <p:cNvSpPr/>
          <p:nvPr/>
        </p:nvSpPr>
        <p:spPr>
          <a:xfrm>
            <a:off x="8778240" y="4154805"/>
            <a:ext cx="960120" cy="0"/>
          </a:xfrm>
          <a:prstGeom prst="line">
            <a:avLst/>
          </a:prstGeom>
          <a:noFill/>
          <a:ln w="5080">
            <a:solidFill>
              <a:srgbClr val="B8C4D3"/>
            </a:solidFill>
            <a:prstDash val="solid"/>
          </a:ln>
        </p:spPr>
      </p:sp>
      <p:sp>
        <p:nvSpPr>
          <p:cNvPr id="247" name="Shape 245"/>
          <p:cNvSpPr/>
          <p:nvPr/>
        </p:nvSpPr>
        <p:spPr>
          <a:xfrm>
            <a:off x="9678353" y="3314700"/>
            <a:ext cx="0" cy="960120"/>
          </a:xfrm>
          <a:prstGeom prst="line">
            <a:avLst/>
          </a:prstGeom>
          <a:noFill/>
          <a:ln w="5080">
            <a:solidFill>
              <a:srgbClr val="B8C4D3"/>
            </a:solidFill>
            <a:prstDash val="solid"/>
          </a:ln>
        </p:spPr>
      </p:sp>
      <p:sp>
        <p:nvSpPr>
          <p:cNvPr id="248" name="Shape 246"/>
          <p:cNvSpPr/>
          <p:nvPr/>
        </p:nvSpPr>
        <p:spPr>
          <a:xfrm>
            <a:off x="8778240" y="4214813"/>
            <a:ext cx="960120" cy="0"/>
          </a:xfrm>
          <a:prstGeom prst="line">
            <a:avLst/>
          </a:prstGeom>
          <a:noFill/>
          <a:ln w="5080">
            <a:solidFill>
              <a:srgbClr val="B8C4D3"/>
            </a:solidFill>
            <a:prstDash val="solid"/>
          </a:ln>
        </p:spPr>
      </p:sp>
      <p:sp>
        <p:nvSpPr>
          <p:cNvPr id="249" name="Shape 247"/>
          <p:cNvSpPr/>
          <p:nvPr/>
        </p:nvSpPr>
        <p:spPr>
          <a:xfrm>
            <a:off x="9138285" y="3674745"/>
            <a:ext cx="120015" cy="120015"/>
          </a:xfrm>
          <a:prstGeom prst="rect">
            <a:avLst/>
          </a:prstGeom>
          <a:solidFill>
            <a:srgbClr val="2E86AB">
              <a:alpha val="55000"/>
            </a:srgbClr>
          </a:solidFill>
          <a:ln w="12700">
            <a:solidFill>
              <a:srgbClr val="2E86AB"/>
            </a:solidFill>
            <a:prstDash val="solid"/>
          </a:ln>
        </p:spPr>
      </p:sp>
      <p:sp>
        <p:nvSpPr>
          <p:cNvPr id="250" name="Shape 248"/>
          <p:cNvSpPr/>
          <p:nvPr/>
        </p:nvSpPr>
        <p:spPr>
          <a:xfrm>
            <a:off x="9318307" y="3674745"/>
            <a:ext cx="60008" cy="60008"/>
          </a:xfrm>
          <a:prstGeom prst="rect">
            <a:avLst/>
          </a:prstGeom>
          <a:solidFill>
            <a:srgbClr val="E07A2F"/>
          </a:solidFill>
          <a:ln w="12700">
            <a:solidFill>
              <a:srgbClr val="E07A2F"/>
            </a:solidFill>
            <a:prstDash val="solid"/>
          </a:ln>
        </p:spPr>
      </p:sp>
      <p:sp>
        <p:nvSpPr>
          <p:cNvPr id="251" name="Shape 249"/>
          <p:cNvSpPr/>
          <p:nvPr/>
        </p:nvSpPr>
        <p:spPr>
          <a:xfrm>
            <a:off x="9078278" y="3914775"/>
            <a:ext cx="60008" cy="60008"/>
          </a:xfrm>
          <a:prstGeom prst="rect">
            <a:avLst/>
          </a:prstGeom>
          <a:solidFill>
            <a:srgbClr val="1F7A4D">
              <a:alpha val="65000"/>
            </a:srgbClr>
          </a:solidFill>
          <a:ln w="12700">
            <a:solidFill>
              <a:srgbClr val="1F7A4D"/>
            </a:solidFill>
            <a:prstDash val="solid"/>
          </a:ln>
        </p:spPr>
      </p:sp>
      <p:sp>
        <p:nvSpPr>
          <p:cNvPr id="252" name="Shape 250"/>
          <p:cNvSpPr/>
          <p:nvPr/>
        </p:nvSpPr>
        <p:spPr>
          <a:xfrm>
            <a:off x="8778240" y="4457700"/>
            <a:ext cx="960120" cy="960120"/>
          </a:xfrm>
          <a:prstGeom prst="rect">
            <a:avLst/>
          </a:prstGeom>
          <a:solidFill>
            <a:srgbClr val="FFFFFF"/>
          </a:solidFill>
          <a:ln w="15875">
            <a:solidFill>
              <a:srgbClr val="1F7A4D"/>
            </a:solidFill>
            <a:prstDash val="solid"/>
          </a:ln>
        </p:spPr>
      </p:sp>
      <p:sp>
        <p:nvSpPr>
          <p:cNvPr id="253" name="Shape 251"/>
          <p:cNvSpPr/>
          <p:nvPr/>
        </p:nvSpPr>
        <p:spPr>
          <a:xfrm>
            <a:off x="8793242" y="4457700"/>
            <a:ext cx="0" cy="960120"/>
          </a:xfrm>
          <a:prstGeom prst="line">
            <a:avLst/>
          </a:prstGeom>
          <a:noFill/>
          <a:ln w="3175">
            <a:solidFill>
              <a:srgbClr val="B8C4D3"/>
            </a:solidFill>
            <a:prstDash val="solid"/>
          </a:ln>
        </p:spPr>
      </p:sp>
      <p:sp>
        <p:nvSpPr>
          <p:cNvPr id="254" name="Shape 252"/>
          <p:cNvSpPr/>
          <p:nvPr/>
        </p:nvSpPr>
        <p:spPr>
          <a:xfrm>
            <a:off x="8778240" y="4472702"/>
            <a:ext cx="960120" cy="0"/>
          </a:xfrm>
          <a:prstGeom prst="line">
            <a:avLst/>
          </a:prstGeom>
          <a:noFill/>
          <a:ln w="3175">
            <a:solidFill>
              <a:srgbClr val="B8C4D3"/>
            </a:solidFill>
            <a:prstDash val="solid"/>
          </a:ln>
        </p:spPr>
      </p:sp>
      <p:sp>
        <p:nvSpPr>
          <p:cNvPr id="255" name="Shape 253"/>
          <p:cNvSpPr/>
          <p:nvPr/>
        </p:nvSpPr>
        <p:spPr>
          <a:xfrm>
            <a:off x="8808244" y="4457700"/>
            <a:ext cx="0" cy="960120"/>
          </a:xfrm>
          <a:prstGeom prst="line">
            <a:avLst/>
          </a:prstGeom>
          <a:noFill/>
          <a:ln w="3175">
            <a:solidFill>
              <a:srgbClr val="B8C4D3"/>
            </a:solidFill>
            <a:prstDash val="solid"/>
          </a:ln>
        </p:spPr>
      </p:sp>
      <p:sp>
        <p:nvSpPr>
          <p:cNvPr id="256" name="Shape 254"/>
          <p:cNvSpPr/>
          <p:nvPr/>
        </p:nvSpPr>
        <p:spPr>
          <a:xfrm>
            <a:off x="8778240" y="4487704"/>
            <a:ext cx="960120" cy="0"/>
          </a:xfrm>
          <a:prstGeom prst="line">
            <a:avLst/>
          </a:prstGeom>
          <a:noFill/>
          <a:ln w="3175">
            <a:solidFill>
              <a:srgbClr val="B8C4D3"/>
            </a:solidFill>
            <a:prstDash val="solid"/>
          </a:ln>
        </p:spPr>
      </p:sp>
      <p:sp>
        <p:nvSpPr>
          <p:cNvPr id="257" name="Shape 255"/>
          <p:cNvSpPr/>
          <p:nvPr/>
        </p:nvSpPr>
        <p:spPr>
          <a:xfrm>
            <a:off x="8823246" y="4457700"/>
            <a:ext cx="0" cy="960120"/>
          </a:xfrm>
          <a:prstGeom prst="line">
            <a:avLst/>
          </a:prstGeom>
          <a:noFill/>
          <a:ln w="3175">
            <a:solidFill>
              <a:srgbClr val="B8C4D3"/>
            </a:solidFill>
            <a:prstDash val="solid"/>
          </a:ln>
        </p:spPr>
      </p:sp>
      <p:sp>
        <p:nvSpPr>
          <p:cNvPr id="258" name="Shape 256"/>
          <p:cNvSpPr/>
          <p:nvPr/>
        </p:nvSpPr>
        <p:spPr>
          <a:xfrm>
            <a:off x="8778240" y="4502706"/>
            <a:ext cx="960120" cy="0"/>
          </a:xfrm>
          <a:prstGeom prst="line">
            <a:avLst/>
          </a:prstGeom>
          <a:noFill/>
          <a:ln w="3175">
            <a:solidFill>
              <a:srgbClr val="B8C4D3"/>
            </a:solidFill>
            <a:prstDash val="solid"/>
          </a:ln>
        </p:spPr>
      </p:sp>
      <p:sp>
        <p:nvSpPr>
          <p:cNvPr id="259" name="Shape 257"/>
          <p:cNvSpPr/>
          <p:nvPr/>
        </p:nvSpPr>
        <p:spPr>
          <a:xfrm>
            <a:off x="8838248" y="4457700"/>
            <a:ext cx="0" cy="960120"/>
          </a:xfrm>
          <a:prstGeom prst="line">
            <a:avLst/>
          </a:prstGeom>
          <a:noFill/>
          <a:ln w="3175">
            <a:solidFill>
              <a:srgbClr val="B8C4D3"/>
            </a:solidFill>
            <a:prstDash val="solid"/>
          </a:ln>
        </p:spPr>
      </p:sp>
      <p:sp>
        <p:nvSpPr>
          <p:cNvPr id="260" name="Shape 258"/>
          <p:cNvSpPr/>
          <p:nvPr/>
        </p:nvSpPr>
        <p:spPr>
          <a:xfrm>
            <a:off x="8778240" y="4517707"/>
            <a:ext cx="960120" cy="0"/>
          </a:xfrm>
          <a:prstGeom prst="line">
            <a:avLst/>
          </a:prstGeom>
          <a:noFill/>
          <a:ln w="3175">
            <a:solidFill>
              <a:srgbClr val="B8C4D3"/>
            </a:solidFill>
            <a:prstDash val="solid"/>
          </a:ln>
        </p:spPr>
      </p:sp>
      <p:sp>
        <p:nvSpPr>
          <p:cNvPr id="261" name="Shape 259"/>
          <p:cNvSpPr/>
          <p:nvPr/>
        </p:nvSpPr>
        <p:spPr>
          <a:xfrm>
            <a:off x="8853249" y="4457700"/>
            <a:ext cx="0" cy="960120"/>
          </a:xfrm>
          <a:prstGeom prst="line">
            <a:avLst/>
          </a:prstGeom>
          <a:noFill/>
          <a:ln w="3175">
            <a:solidFill>
              <a:srgbClr val="B8C4D3"/>
            </a:solidFill>
            <a:prstDash val="solid"/>
          </a:ln>
        </p:spPr>
      </p:sp>
      <p:sp>
        <p:nvSpPr>
          <p:cNvPr id="262" name="Shape 260"/>
          <p:cNvSpPr/>
          <p:nvPr/>
        </p:nvSpPr>
        <p:spPr>
          <a:xfrm>
            <a:off x="8778240" y="4532709"/>
            <a:ext cx="960120" cy="0"/>
          </a:xfrm>
          <a:prstGeom prst="line">
            <a:avLst/>
          </a:prstGeom>
          <a:noFill/>
          <a:ln w="3175">
            <a:solidFill>
              <a:srgbClr val="B8C4D3"/>
            </a:solidFill>
            <a:prstDash val="solid"/>
          </a:ln>
        </p:spPr>
      </p:sp>
      <p:sp>
        <p:nvSpPr>
          <p:cNvPr id="263" name="Shape 261"/>
          <p:cNvSpPr/>
          <p:nvPr/>
        </p:nvSpPr>
        <p:spPr>
          <a:xfrm>
            <a:off x="8868251" y="4457700"/>
            <a:ext cx="0" cy="960120"/>
          </a:xfrm>
          <a:prstGeom prst="line">
            <a:avLst/>
          </a:prstGeom>
          <a:noFill/>
          <a:ln w="3175">
            <a:solidFill>
              <a:srgbClr val="B8C4D3"/>
            </a:solidFill>
            <a:prstDash val="solid"/>
          </a:ln>
        </p:spPr>
      </p:sp>
      <p:sp>
        <p:nvSpPr>
          <p:cNvPr id="264" name="Shape 262"/>
          <p:cNvSpPr/>
          <p:nvPr/>
        </p:nvSpPr>
        <p:spPr>
          <a:xfrm>
            <a:off x="8778240" y="4547711"/>
            <a:ext cx="960120" cy="0"/>
          </a:xfrm>
          <a:prstGeom prst="line">
            <a:avLst/>
          </a:prstGeom>
          <a:noFill/>
          <a:ln w="3175">
            <a:solidFill>
              <a:srgbClr val="B8C4D3"/>
            </a:solidFill>
            <a:prstDash val="solid"/>
          </a:ln>
        </p:spPr>
      </p:sp>
      <p:sp>
        <p:nvSpPr>
          <p:cNvPr id="265" name="Shape 263"/>
          <p:cNvSpPr/>
          <p:nvPr/>
        </p:nvSpPr>
        <p:spPr>
          <a:xfrm>
            <a:off x="8883253" y="4457700"/>
            <a:ext cx="0" cy="960120"/>
          </a:xfrm>
          <a:prstGeom prst="line">
            <a:avLst/>
          </a:prstGeom>
          <a:noFill/>
          <a:ln w="3175">
            <a:solidFill>
              <a:srgbClr val="B8C4D3"/>
            </a:solidFill>
            <a:prstDash val="solid"/>
          </a:ln>
        </p:spPr>
      </p:sp>
      <p:sp>
        <p:nvSpPr>
          <p:cNvPr id="266" name="Shape 264"/>
          <p:cNvSpPr/>
          <p:nvPr/>
        </p:nvSpPr>
        <p:spPr>
          <a:xfrm>
            <a:off x="8778240" y="4562713"/>
            <a:ext cx="960120" cy="0"/>
          </a:xfrm>
          <a:prstGeom prst="line">
            <a:avLst/>
          </a:prstGeom>
          <a:noFill/>
          <a:ln w="3175">
            <a:solidFill>
              <a:srgbClr val="B8C4D3"/>
            </a:solidFill>
            <a:prstDash val="solid"/>
          </a:ln>
        </p:spPr>
      </p:sp>
      <p:sp>
        <p:nvSpPr>
          <p:cNvPr id="267" name="Shape 265"/>
          <p:cNvSpPr/>
          <p:nvPr/>
        </p:nvSpPr>
        <p:spPr>
          <a:xfrm>
            <a:off x="8898255" y="4457700"/>
            <a:ext cx="0" cy="960120"/>
          </a:xfrm>
          <a:prstGeom prst="line">
            <a:avLst/>
          </a:prstGeom>
          <a:noFill/>
          <a:ln w="3175">
            <a:solidFill>
              <a:srgbClr val="B8C4D3"/>
            </a:solidFill>
            <a:prstDash val="solid"/>
          </a:ln>
        </p:spPr>
      </p:sp>
      <p:sp>
        <p:nvSpPr>
          <p:cNvPr id="268" name="Shape 266"/>
          <p:cNvSpPr/>
          <p:nvPr/>
        </p:nvSpPr>
        <p:spPr>
          <a:xfrm>
            <a:off x="8778240" y="4577715"/>
            <a:ext cx="960120" cy="0"/>
          </a:xfrm>
          <a:prstGeom prst="line">
            <a:avLst/>
          </a:prstGeom>
          <a:noFill/>
          <a:ln w="3175">
            <a:solidFill>
              <a:srgbClr val="B8C4D3"/>
            </a:solidFill>
            <a:prstDash val="solid"/>
          </a:ln>
        </p:spPr>
      </p:sp>
      <p:sp>
        <p:nvSpPr>
          <p:cNvPr id="269" name="Shape 267"/>
          <p:cNvSpPr/>
          <p:nvPr/>
        </p:nvSpPr>
        <p:spPr>
          <a:xfrm>
            <a:off x="8913257" y="4457700"/>
            <a:ext cx="0" cy="960120"/>
          </a:xfrm>
          <a:prstGeom prst="line">
            <a:avLst/>
          </a:prstGeom>
          <a:noFill/>
          <a:ln w="3175">
            <a:solidFill>
              <a:srgbClr val="B8C4D3"/>
            </a:solidFill>
            <a:prstDash val="solid"/>
          </a:ln>
        </p:spPr>
      </p:sp>
      <p:sp>
        <p:nvSpPr>
          <p:cNvPr id="270" name="Shape 268"/>
          <p:cNvSpPr/>
          <p:nvPr/>
        </p:nvSpPr>
        <p:spPr>
          <a:xfrm>
            <a:off x="8778240" y="4592717"/>
            <a:ext cx="960120" cy="0"/>
          </a:xfrm>
          <a:prstGeom prst="line">
            <a:avLst/>
          </a:prstGeom>
          <a:noFill/>
          <a:ln w="3175">
            <a:solidFill>
              <a:srgbClr val="B8C4D3"/>
            </a:solidFill>
            <a:prstDash val="solid"/>
          </a:ln>
        </p:spPr>
      </p:sp>
      <p:sp>
        <p:nvSpPr>
          <p:cNvPr id="271" name="Shape 269"/>
          <p:cNvSpPr/>
          <p:nvPr/>
        </p:nvSpPr>
        <p:spPr>
          <a:xfrm>
            <a:off x="8928259" y="4457700"/>
            <a:ext cx="0" cy="960120"/>
          </a:xfrm>
          <a:prstGeom prst="line">
            <a:avLst/>
          </a:prstGeom>
          <a:noFill/>
          <a:ln w="3175">
            <a:solidFill>
              <a:srgbClr val="B8C4D3"/>
            </a:solidFill>
            <a:prstDash val="solid"/>
          </a:ln>
        </p:spPr>
      </p:sp>
      <p:sp>
        <p:nvSpPr>
          <p:cNvPr id="272" name="Shape 270"/>
          <p:cNvSpPr/>
          <p:nvPr/>
        </p:nvSpPr>
        <p:spPr>
          <a:xfrm>
            <a:off x="8778240" y="4607719"/>
            <a:ext cx="960120" cy="0"/>
          </a:xfrm>
          <a:prstGeom prst="line">
            <a:avLst/>
          </a:prstGeom>
          <a:noFill/>
          <a:ln w="3175">
            <a:solidFill>
              <a:srgbClr val="B8C4D3"/>
            </a:solidFill>
            <a:prstDash val="solid"/>
          </a:ln>
        </p:spPr>
      </p:sp>
      <p:sp>
        <p:nvSpPr>
          <p:cNvPr id="273" name="Shape 271"/>
          <p:cNvSpPr/>
          <p:nvPr/>
        </p:nvSpPr>
        <p:spPr>
          <a:xfrm>
            <a:off x="8943261" y="4457700"/>
            <a:ext cx="0" cy="960120"/>
          </a:xfrm>
          <a:prstGeom prst="line">
            <a:avLst/>
          </a:prstGeom>
          <a:noFill/>
          <a:ln w="3175">
            <a:solidFill>
              <a:srgbClr val="B8C4D3"/>
            </a:solidFill>
            <a:prstDash val="solid"/>
          </a:ln>
        </p:spPr>
      </p:sp>
      <p:sp>
        <p:nvSpPr>
          <p:cNvPr id="274" name="Shape 272"/>
          <p:cNvSpPr/>
          <p:nvPr/>
        </p:nvSpPr>
        <p:spPr>
          <a:xfrm>
            <a:off x="8778240" y="4622721"/>
            <a:ext cx="960120" cy="0"/>
          </a:xfrm>
          <a:prstGeom prst="line">
            <a:avLst/>
          </a:prstGeom>
          <a:noFill/>
          <a:ln w="3175">
            <a:solidFill>
              <a:srgbClr val="B8C4D3"/>
            </a:solidFill>
            <a:prstDash val="solid"/>
          </a:ln>
        </p:spPr>
      </p:sp>
      <p:sp>
        <p:nvSpPr>
          <p:cNvPr id="275" name="Shape 273"/>
          <p:cNvSpPr/>
          <p:nvPr/>
        </p:nvSpPr>
        <p:spPr>
          <a:xfrm>
            <a:off x="8958263" y="4457700"/>
            <a:ext cx="0" cy="960120"/>
          </a:xfrm>
          <a:prstGeom prst="line">
            <a:avLst/>
          </a:prstGeom>
          <a:noFill/>
          <a:ln w="3175">
            <a:solidFill>
              <a:srgbClr val="B8C4D3"/>
            </a:solidFill>
            <a:prstDash val="solid"/>
          </a:ln>
        </p:spPr>
      </p:sp>
      <p:sp>
        <p:nvSpPr>
          <p:cNvPr id="276" name="Shape 274"/>
          <p:cNvSpPr/>
          <p:nvPr/>
        </p:nvSpPr>
        <p:spPr>
          <a:xfrm>
            <a:off x="8778240" y="4637722"/>
            <a:ext cx="960120" cy="0"/>
          </a:xfrm>
          <a:prstGeom prst="line">
            <a:avLst/>
          </a:prstGeom>
          <a:noFill/>
          <a:ln w="3175">
            <a:solidFill>
              <a:srgbClr val="B8C4D3"/>
            </a:solidFill>
            <a:prstDash val="solid"/>
          </a:ln>
        </p:spPr>
      </p:sp>
      <p:sp>
        <p:nvSpPr>
          <p:cNvPr id="277" name="Shape 275"/>
          <p:cNvSpPr/>
          <p:nvPr/>
        </p:nvSpPr>
        <p:spPr>
          <a:xfrm>
            <a:off x="8973264" y="4457700"/>
            <a:ext cx="0" cy="960120"/>
          </a:xfrm>
          <a:prstGeom prst="line">
            <a:avLst/>
          </a:prstGeom>
          <a:noFill/>
          <a:ln w="3175">
            <a:solidFill>
              <a:srgbClr val="B8C4D3"/>
            </a:solidFill>
            <a:prstDash val="solid"/>
          </a:ln>
        </p:spPr>
      </p:sp>
      <p:sp>
        <p:nvSpPr>
          <p:cNvPr id="278" name="Shape 276"/>
          <p:cNvSpPr/>
          <p:nvPr/>
        </p:nvSpPr>
        <p:spPr>
          <a:xfrm>
            <a:off x="8778240" y="4652724"/>
            <a:ext cx="960120" cy="0"/>
          </a:xfrm>
          <a:prstGeom prst="line">
            <a:avLst/>
          </a:prstGeom>
          <a:noFill/>
          <a:ln w="3175">
            <a:solidFill>
              <a:srgbClr val="B8C4D3"/>
            </a:solidFill>
            <a:prstDash val="solid"/>
          </a:ln>
        </p:spPr>
      </p:sp>
      <p:sp>
        <p:nvSpPr>
          <p:cNvPr id="279" name="Shape 277"/>
          <p:cNvSpPr/>
          <p:nvPr/>
        </p:nvSpPr>
        <p:spPr>
          <a:xfrm>
            <a:off x="8988266" y="4457700"/>
            <a:ext cx="0" cy="960120"/>
          </a:xfrm>
          <a:prstGeom prst="line">
            <a:avLst/>
          </a:prstGeom>
          <a:noFill/>
          <a:ln w="3175">
            <a:solidFill>
              <a:srgbClr val="B8C4D3"/>
            </a:solidFill>
            <a:prstDash val="solid"/>
          </a:ln>
        </p:spPr>
      </p:sp>
      <p:sp>
        <p:nvSpPr>
          <p:cNvPr id="280" name="Shape 278"/>
          <p:cNvSpPr/>
          <p:nvPr/>
        </p:nvSpPr>
        <p:spPr>
          <a:xfrm>
            <a:off x="8778240" y="4667726"/>
            <a:ext cx="960120" cy="0"/>
          </a:xfrm>
          <a:prstGeom prst="line">
            <a:avLst/>
          </a:prstGeom>
          <a:noFill/>
          <a:ln w="3175">
            <a:solidFill>
              <a:srgbClr val="B8C4D3"/>
            </a:solidFill>
            <a:prstDash val="solid"/>
          </a:ln>
        </p:spPr>
      </p:sp>
      <p:sp>
        <p:nvSpPr>
          <p:cNvPr id="281" name="Shape 279"/>
          <p:cNvSpPr/>
          <p:nvPr/>
        </p:nvSpPr>
        <p:spPr>
          <a:xfrm>
            <a:off x="9003268" y="4457700"/>
            <a:ext cx="0" cy="960120"/>
          </a:xfrm>
          <a:prstGeom prst="line">
            <a:avLst/>
          </a:prstGeom>
          <a:noFill/>
          <a:ln w="3175">
            <a:solidFill>
              <a:srgbClr val="B8C4D3"/>
            </a:solidFill>
            <a:prstDash val="solid"/>
          </a:ln>
        </p:spPr>
      </p:sp>
      <p:sp>
        <p:nvSpPr>
          <p:cNvPr id="282" name="Shape 280"/>
          <p:cNvSpPr/>
          <p:nvPr/>
        </p:nvSpPr>
        <p:spPr>
          <a:xfrm>
            <a:off x="8778240" y="4682728"/>
            <a:ext cx="960120" cy="0"/>
          </a:xfrm>
          <a:prstGeom prst="line">
            <a:avLst/>
          </a:prstGeom>
          <a:noFill/>
          <a:ln w="3175">
            <a:solidFill>
              <a:srgbClr val="B8C4D3"/>
            </a:solidFill>
            <a:prstDash val="solid"/>
          </a:ln>
        </p:spPr>
      </p:sp>
      <p:sp>
        <p:nvSpPr>
          <p:cNvPr id="283" name="Shape 281"/>
          <p:cNvSpPr/>
          <p:nvPr/>
        </p:nvSpPr>
        <p:spPr>
          <a:xfrm>
            <a:off x="9018270" y="4457700"/>
            <a:ext cx="0" cy="960120"/>
          </a:xfrm>
          <a:prstGeom prst="line">
            <a:avLst/>
          </a:prstGeom>
          <a:noFill/>
          <a:ln w="3175">
            <a:solidFill>
              <a:srgbClr val="B8C4D3"/>
            </a:solidFill>
            <a:prstDash val="solid"/>
          </a:ln>
        </p:spPr>
      </p:sp>
      <p:sp>
        <p:nvSpPr>
          <p:cNvPr id="284" name="Shape 282"/>
          <p:cNvSpPr/>
          <p:nvPr/>
        </p:nvSpPr>
        <p:spPr>
          <a:xfrm>
            <a:off x="8778240" y="4697730"/>
            <a:ext cx="960120" cy="0"/>
          </a:xfrm>
          <a:prstGeom prst="line">
            <a:avLst/>
          </a:prstGeom>
          <a:noFill/>
          <a:ln w="3175">
            <a:solidFill>
              <a:srgbClr val="B8C4D3"/>
            </a:solidFill>
            <a:prstDash val="solid"/>
          </a:ln>
        </p:spPr>
      </p:sp>
      <p:sp>
        <p:nvSpPr>
          <p:cNvPr id="285" name="Shape 283"/>
          <p:cNvSpPr/>
          <p:nvPr/>
        </p:nvSpPr>
        <p:spPr>
          <a:xfrm>
            <a:off x="9033272" y="4457700"/>
            <a:ext cx="0" cy="960120"/>
          </a:xfrm>
          <a:prstGeom prst="line">
            <a:avLst/>
          </a:prstGeom>
          <a:noFill/>
          <a:ln w="3175">
            <a:solidFill>
              <a:srgbClr val="B8C4D3"/>
            </a:solidFill>
            <a:prstDash val="solid"/>
          </a:ln>
        </p:spPr>
      </p:sp>
      <p:sp>
        <p:nvSpPr>
          <p:cNvPr id="286" name="Shape 284"/>
          <p:cNvSpPr/>
          <p:nvPr/>
        </p:nvSpPr>
        <p:spPr>
          <a:xfrm>
            <a:off x="8778240" y="4712732"/>
            <a:ext cx="960120" cy="0"/>
          </a:xfrm>
          <a:prstGeom prst="line">
            <a:avLst/>
          </a:prstGeom>
          <a:noFill/>
          <a:ln w="3175">
            <a:solidFill>
              <a:srgbClr val="B8C4D3"/>
            </a:solidFill>
            <a:prstDash val="solid"/>
          </a:ln>
        </p:spPr>
      </p:sp>
      <p:sp>
        <p:nvSpPr>
          <p:cNvPr id="287" name="Shape 285"/>
          <p:cNvSpPr/>
          <p:nvPr/>
        </p:nvSpPr>
        <p:spPr>
          <a:xfrm>
            <a:off x="9048274" y="4457700"/>
            <a:ext cx="0" cy="960120"/>
          </a:xfrm>
          <a:prstGeom prst="line">
            <a:avLst/>
          </a:prstGeom>
          <a:noFill/>
          <a:ln w="3175">
            <a:solidFill>
              <a:srgbClr val="B8C4D3"/>
            </a:solidFill>
            <a:prstDash val="solid"/>
          </a:ln>
        </p:spPr>
      </p:sp>
      <p:sp>
        <p:nvSpPr>
          <p:cNvPr id="288" name="Shape 286"/>
          <p:cNvSpPr/>
          <p:nvPr/>
        </p:nvSpPr>
        <p:spPr>
          <a:xfrm>
            <a:off x="8778240" y="4727734"/>
            <a:ext cx="960120" cy="0"/>
          </a:xfrm>
          <a:prstGeom prst="line">
            <a:avLst/>
          </a:prstGeom>
          <a:noFill/>
          <a:ln w="3175">
            <a:solidFill>
              <a:srgbClr val="B8C4D3"/>
            </a:solidFill>
            <a:prstDash val="solid"/>
          </a:ln>
        </p:spPr>
      </p:sp>
      <p:sp>
        <p:nvSpPr>
          <p:cNvPr id="289" name="Shape 287"/>
          <p:cNvSpPr/>
          <p:nvPr/>
        </p:nvSpPr>
        <p:spPr>
          <a:xfrm>
            <a:off x="9063276" y="4457700"/>
            <a:ext cx="0" cy="960120"/>
          </a:xfrm>
          <a:prstGeom prst="line">
            <a:avLst/>
          </a:prstGeom>
          <a:noFill/>
          <a:ln w="3175">
            <a:solidFill>
              <a:srgbClr val="B8C4D3"/>
            </a:solidFill>
            <a:prstDash val="solid"/>
          </a:ln>
        </p:spPr>
      </p:sp>
      <p:sp>
        <p:nvSpPr>
          <p:cNvPr id="290" name="Shape 288"/>
          <p:cNvSpPr/>
          <p:nvPr/>
        </p:nvSpPr>
        <p:spPr>
          <a:xfrm>
            <a:off x="8778240" y="4742736"/>
            <a:ext cx="960120" cy="0"/>
          </a:xfrm>
          <a:prstGeom prst="line">
            <a:avLst/>
          </a:prstGeom>
          <a:noFill/>
          <a:ln w="3175">
            <a:solidFill>
              <a:srgbClr val="B8C4D3"/>
            </a:solidFill>
            <a:prstDash val="solid"/>
          </a:ln>
        </p:spPr>
      </p:sp>
      <p:sp>
        <p:nvSpPr>
          <p:cNvPr id="291" name="Shape 289"/>
          <p:cNvSpPr/>
          <p:nvPr/>
        </p:nvSpPr>
        <p:spPr>
          <a:xfrm>
            <a:off x="9078278" y="4457700"/>
            <a:ext cx="0" cy="960120"/>
          </a:xfrm>
          <a:prstGeom prst="line">
            <a:avLst/>
          </a:prstGeom>
          <a:noFill/>
          <a:ln w="3175">
            <a:solidFill>
              <a:srgbClr val="B8C4D3"/>
            </a:solidFill>
            <a:prstDash val="solid"/>
          </a:ln>
        </p:spPr>
      </p:sp>
      <p:sp>
        <p:nvSpPr>
          <p:cNvPr id="292" name="Shape 290"/>
          <p:cNvSpPr/>
          <p:nvPr/>
        </p:nvSpPr>
        <p:spPr>
          <a:xfrm>
            <a:off x="8778240" y="4757737"/>
            <a:ext cx="960120" cy="0"/>
          </a:xfrm>
          <a:prstGeom prst="line">
            <a:avLst/>
          </a:prstGeom>
          <a:noFill/>
          <a:ln w="3175">
            <a:solidFill>
              <a:srgbClr val="B8C4D3"/>
            </a:solidFill>
            <a:prstDash val="solid"/>
          </a:ln>
        </p:spPr>
      </p:sp>
      <p:sp>
        <p:nvSpPr>
          <p:cNvPr id="293" name="Shape 291"/>
          <p:cNvSpPr/>
          <p:nvPr/>
        </p:nvSpPr>
        <p:spPr>
          <a:xfrm>
            <a:off x="9093279" y="4457700"/>
            <a:ext cx="0" cy="960120"/>
          </a:xfrm>
          <a:prstGeom prst="line">
            <a:avLst/>
          </a:prstGeom>
          <a:noFill/>
          <a:ln w="3175">
            <a:solidFill>
              <a:srgbClr val="B8C4D3"/>
            </a:solidFill>
            <a:prstDash val="solid"/>
          </a:ln>
        </p:spPr>
      </p:sp>
      <p:sp>
        <p:nvSpPr>
          <p:cNvPr id="294" name="Shape 292"/>
          <p:cNvSpPr/>
          <p:nvPr/>
        </p:nvSpPr>
        <p:spPr>
          <a:xfrm>
            <a:off x="8778240" y="4772739"/>
            <a:ext cx="960120" cy="0"/>
          </a:xfrm>
          <a:prstGeom prst="line">
            <a:avLst/>
          </a:prstGeom>
          <a:noFill/>
          <a:ln w="3175">
            <a:solidFill>
              <a:srgbClr val="B8C4D3"/>
            </a:solidFill>
            <a:prstDash val="solid"/>
          </a:ln>
        </p:spPr>
      </p:sp>
      <p:sp>
        <p:nvSpPr>
          <p:cNvPr id="295" name="Shape 293"/>
          <p:cNvSpPr/>
          <p:nvPr/>
        </p:nvSpPr>
        <p:spPr>
          <a:xfrm>
            <a:off x="9108281" y="4457700"/>
            <a:ext cx="0" cy="960120"/>
          </a:xfrm>
          <a:prstGeom prst="line">
            <a:avLst/>
          </a:prstGeom>
          <a:noFill/>
          <a:ln w="3175">
            <a:solidFill>
              <a:srgbClr val="B8C4D3"/>
            </a:solidFill>
            <a:prstDash val="solid"/>
          </a:ln>
        </p:spPr>
      </p:sp>
      <p:sp>
        <p:nvSpPr>
          <p:cNvPr id="296" name="Shape 294"/>
          <p:cNvSpPr/>
          <p:nvPr/>
        </p:nvSpPr>
        <p:spPr>
          <a:xfrm>
            <a:off x="8778240" y="4787741"/>
            <a:ext cx="960120" cy="0"/>
          </a:xfrm>
          <a:prstGeom prst="line">
            <a:avLst/>
          </a:prstGeom>
          <a:noFill/>
          <a:ln w="3175">
            <a:solidFill>
              <a:srgbClr val="B8C4D3"/>
            </a:solidFill>
            <a:prstDash val="solid"/>
          </a:ln>
        </p:spPr>
      </p:sp>
      <p:sp>
        <p:nvSpPr>
          <p:cNvPr id="297" name="Shape 295"/>
          <p:cNvSpPr/>
          <p:nvPr/>
        </p:nvSpPr>
        <p:spPr>
          <a:xfrm>
            <a:off x="9123283" y="4457700"/>
            <a:ext cx="0" cy="960120"/>
          </a:xfrm>
          <a:prstGeom prst="line">
            <a:avLst/>
          </a:prstGeom>
          <a:noFill/>
          <a:ln w="3175">
            <a:solidFill>
              <a:srgbClr val="B8C4D3"/>
            </a:solidFill>
            <a:prstDash val="solid"/>
          </a:ln>
        </p:spPr>
      </p:sp>
      <p:sp>
        <p:nvSpPr>
          <p:cNvPr id="298" name="Shape 296"/>
          <p:cNvSpPr/>
          <p:nvPr/>
        </p:nvSpPr>
        <p:spPr>
          <a:xfrm>
            <a:off x="8778240" y="4802743"/>
            <a:ext cx="960120" cy="0"/>
          </a:xfrm>
          <a:prstGeom prst="line">
            <a:avLst/>
          </a:prstGeom>
          <a:noFill/>
          <a:ln w="3175">
            <a:solidFill>
              <a:srgbClr val="B8C4D3"/>
            </a:solidFill>
            <a:prstDash val="solid"/>
          </a:ln>
        </p:spPr>
      </p:sp>
      <p:sp>
        <p:nvSpPr>
          <p:cNvPr id="299" name="Shape 297"/>
          <p:cNvSpPr/>
          <p:nvPr/>
        </p:nvSpPr>
        <p:spPr>
          <a:xfrm>
            <a:off x="9138285" y="4457700"/>
            <a:ext cx="0" cy="960120"/>
          </a:xfrm>
          <a:prstGeom prst="line">
            <a:avLst/>
          </a:prstGeom>
          <a:noFill/>
          <a:ln w="3175">
            <a:solidFill>
              <a:srgbClr val="B8C4D3"/>
            </a:solidFill>
            <a:prstDash val="solid"/>
          </a:ln>
        </p:spPr>
      </p:sp>
      <p:sp>
        <p:nvSpPr>
          <p:cNvPr id="300" name="Shape 298"/>
          <p:cNvSpPr/>
          <p:nvPr/>
        </p:nvSpPr>
        <p:spPr>
          <a:xfrm>
            <a:off x="8778240" y="4817745"/>
            <a:ext cx="960120" cy="0"/>
          </a:xfrm>
          <a:prstGeom prst="line">
            <a:avLst/>
          </a:prstGeom>
          <a:noFill/>
          <a:ln w="3175">
            <a:solidFill>
              <a:srgbClr val="B8C4D3"/>
            </a:solidFill>
            <a:prstDash val="solid"/>
          </a:ln>
        </p:spPr>
      </p:sp>
      <p:sp>
        <p:nvSpPr>
          <p:cNvPr id="301" name="Shape 299"/>
          <p:cNvSpPr/>
          <p:nvPr/>
        </p:nvSpPr>
        <p:spPr>
          <a:xfrm>
            <a:off x="9153287" y="4457700"/>
            <a:ext cx="0" cy="960120"/>
          </a:xfrm>
          <a:prstGeom prst="line">
            <a:avLst/>
          </a:prstGeom>
          <a:noFill/>
          <a:ln w="3175">
            <a:solidFill>
              <a:srgbClr val="B8C4D3"/>
            </a:solidFill>
            <a:prstDash val="solid"/>
          </a:ln>
        </p:spPr>
      </p:sp>
      <p:sp>
        <p:nvSpPr>
          <p:cNvPr id="302" name="Shape 300"/>
          <p:cNvSpPr/>
          <p:nvPr/>
        </p:nvSpPr>
        <p:spPr>
          <a:xfrm>
            <a:off x="8778240" y="4832747"/>
            <a:ext cx="960120" cy="0"/>
          </a:xfrm>
          <a:prstGeom prst="line">
            <a:avLst/>
          </a:prstGeom>
          <a:noFill/>
          <a:ln w="3175">
            <a:solidFill>
              <a:srgbClr val="B8C4D3"/>
            </a:solidFill>
            <a:prstDash val="solid"/>
          </a:ln>
        </p:spPr>
      </p:sp>
      <p:sp>
        <p:nvSpPr>
          <p:cNvPr id="303" name="Shape 301"/>
          <p:cNvSpPr/>
          <p:nvPr/>
        </p:nvSpPr>
        <p:spPr>
          <a:xfrm>
            <a:off x="9168289" y="4457700"/>
            <a:ext cx="0" cy="960120"/>
          </a:xfrm>
          <a:prstGeom prst="line">
            <a:avLst/>
          </a:prstGeom>
          <a:noFill/>
          <a:ln w="3175">
            <a:solidFill>
              <a:srgbClr val="B8C4D3"/>
            </a:solidFill>
            <a:prstDash val="solid"/>
          </a:ln>
        </p:spPr>
      </p:sp>
      <p:sp>
        <p:nvSpPr>
          <p:cNvPr id="304" name="Shape 302"/>
          <p:cNvSpPr/>
          <p:nvPr/>
        </p:nvSpPr>
        <p:spPr>
          <a:xfrm>
            <a:off x="8778240" y="4847749"/>
            <a:ext cx="960120" cy="0"/>
          </a:xfrm>
          <a:prstGeom prst="line">
            <a:avLst/>
          </a:prstGeom>
          <a:noFill/>
          <a:ln w="3175">
            <a:solidFill>
              <a:srgbClr val="B8C4D3"/>
            </a:solidFill>
            <a:prstDash val="solid"/>
          </a:ln>
        </p:spPr>
      </p:sp>
      <p:sp>
        <p:nvSpPr>
          <p:cNvPr id="305" name="Shape 303"/>
          <p:cNvSpPr/>
          <p:nvPr/>
        </p:nvSpPr>
        <p:spPr>
          <a:xfrm>
            <a:off x="9183291" y="4457700"/>
            <a:ext cx="0" cy="960120"/>
          </a:xfrm>
          <a:prstGeom prst="line">
            <a:avLst/>
          </a:prstGeom>
          <a:noFill/>
          <a:ln w="3175">
            <a:solidFill>
              <a:srgbClr val="B8C4D3"/>
            </a:solidFill>
            <a:prstDash val="solid"/>
          </a:ln>
        </p:spPr>
      </p:sp>
      <p:sp>
        <p:nvSpPr>
          <p:cNvPr id="306" name="Shape 304"/>
          <p:cNvSpPr/>
          <p:nvPr/>
        </p:nvSpPr>
        <p:spPr>
          <a:xfrm>
            <a:off x="8778240" y="4862751"/>
            <a:ext cx="960120" cy="0"/>
          </a:xfrm>
          <a:prstGeom prst="line">
            <a:avLst/>
          </a:prstGeom>
          <a:noFill/>
          <a:ln w="3175">
            <a:solidFill>
              <a:srgbClr val="B8C4D3"/>
            </a:solidFill>
            <a:prstDash val="solid"/>
          </a:ln>
        </p:spPr>
      </p:sp>
      <p:sp>
        <p:nvSpPr>
          <p:cNvPr id="307" name="Shape 305"/>
          <p:cNvSpPr/>
          <p:nvPr/>
        </p:nvSpPr>
        <p:spPr>
          <a:xfrm>
            <a:off x="9198293" y="4457700"/>
            <a:ext cx="0" cy="960120"/>
          </a:xfrm>
          <a:prstGeom prst="line">
            <a:avLst/>
          </a:prstGeom>
          <a:noFill/>
          <a:ln w="3175">
            <a:solidFill>
              <a:srgbClr val="B8C4D3"/>
            </a:solidFill>
            <a:prstDash val="solid"/>
          </a:ln>
        </p:spPr>
      </p:sp>
      <p:sp>
        <p:nvSpPr>
          <p:cNvPr id="308" name="Shape 306"/>
          <p:cNvSpPr/>
          <p:nvPr/>
        </p:nvSpPr>
        <p:spPr>
          <a:xfrm>
            <a:off x="8778240" y="4877752"/>
            <a:ext cx="960120" cy="0"/>
          </a:xfrm>
          <a:prstGeom prst="line">
            <a:avLst/>
          </a:prstGeom>
          <a:noFill/>
          <a:ln w="3175">
            <a:solidFill>
              <a:srgbClr val="B8C4D3"/>
            </a:solidFill>
            <a:prstDash val="solid"/>
          </a:ln>
        </p:spPr>
      </p:sp>
      <p:sp>
        <p:nvSpPr>
          <p:cNvPr id="309" name="Shape 307"/>
          <p:cNvSpPr/>
          <p:nvPr/>
        </p:nvSpPr>
        <p:spPr>
          <a:xfrm>
            <a:off x="9213294" y="4457700"/>
            <a:ext cx="0" cy="960120"/>
          </a:xfrm>
          <a:prstGeom prst="line">
            <a:avLst/>
          </a:prstGeom>
          <a:noFill/>
          <a:ln w="3175">
            <a:solidFill>
              <a:srgbClr val="B8C4D3"/>
            </a:solidFill>
            <a:prstDash val="solid"/>
          </a:ln>
        </p:spPr>
      </p:sp>
      <p:sp>
        <p:nvSpPr>
          <p:cNvPr id="310" name="Shape 308"/>
          <p:cNvSpPr/>
          <p:nvPr/>
        </p:nvSpPr>
        <p:spPr>
          <a:xfrm>
            <a:off x="8778240" y="4892754"/>
            <a:ext cx="960120" cy="0"/>
          </a:xfrm>
          <a:prstGeom prst="line">
            <a:avLst/>
          </a:prstGeom>
          <a:noFill/>
          <a:ln w="3175">
            <a:solidFill>
              <a:srgbClr val="B8C4D3"/>
            </a:solidFill>
            <a:prstDash val="solid"/>
          </a:ln>
        </p:spPr>
      </p:sp>
      <p:sp>
        <p:nvSpPr>
          <p:cNvPr id="311" name="Shape 309"/>
          <p:cNvSpPr/>
          <p:nvPr/>
        </p:nvSpPr>
        <p:spPr>
          <a:xfrm>
            <a:off x="9228296" y="4457700"/>
            <a:ext cx="0" cy="960120"/>
          </a:xfrm>
          <a:prstGeom prst="line">
            <a:avLst/>
          </a:prstGeom>
          <a:noFill/>
          <a:ln w="3175">
            <a:solidFill>
              <a:srgbClr val="B8C4D3"/>
            </a:solidFill>
            <a:prstDash val="solid"/>
          </a:ln>
        </p:spPr>
      </p:sp>
      <p:sp>
        <p:nvSpPr>
          <p:cNvPr id="312" name="Shape 310"/>
          <p:cNvSpPr/>
          <p:nvPr/>
        </p:nvSpPr>
        <p:spPr>
          <a:xfrm>
            <a:off x="8778240" y="4907756"/>
            <a:ext cx="960120" cy="0"/>
          </a:xfrm>
          <a:prstGeom prst="line">
            <a:avLst/>
          </a:prstGeom>
          <a:noFill/>
          <a:ln w="3175">
            <a:solidFill>
              <a:srgbClr val="B8C4D3"/>
            </a:solidFill>
            <a:prstDash val="solid"/>
          </a:ln>
        </p:spPr>
      </p:sp>
      <p:sp>
        <p:nvSpPr>
          <p:cNvPr id="313" name="Shape 311"/>
          <p:cNvSpPr/>
          <p:nvPr/>
        </p:nvSpPr>
        <p:spPr>
          <a:xfrm>
            <a:off x="9243298" y="4457700"/>
            <a:ext cx="0" cy="960120"/>
          </a:xfrm>
          <a:prstGeom prst="line">
            <a:avLst/>
          </a:prstGeom>
          <a:noFill/>
          <a:ln w="3175">
            <a:solidFill>
              <a:srgbClr val="B8C4D3"/>
            </a:solidFill>
            <a:prstDash val="solid"/>
          </a:ln>
        </p:spPr>
      </p:sp>
      <p:sp>
        <p:nvSpPr>
          <p:cNvPr id="314" name="Shape 312"/>
          <p:cNvSpPr/>
          <p:nvPr/>
        </p:nvSpPr>
        <p:spPr>
          <a:xfrm>
            <a:off x="8778240" y="4922758"/>
            <a:ext cx="960120" cy="0"/>
          </a:xfrm>
          <a:prstGeom prst="line">
            <a:avLst/>
          </a:prstGeom>
          <a:noFill/>
          <a:ln w="3175">
            <a:solidFill>
              <a:srgbClr val="B8C4D3"/>
            </a:solidFill>
            <a:prstDash val="solid"/>
          </a:ln>
        </p:spPr>
      </p:sp>
      <p:sp>
        <p:nvSpPr>
          <p:cNvPr id="315" name="Shape 313"/>
          <p:cNvSpPr/>
          <p:nvPr/>
        </p:nvSpPr>
        <p:spPr>
          <a:xfrm>
            <a:off x="9258300" y="4457700"/>
            <a:ext cx="0" cy="960120"/>
          </a:xfrm>
          <a:prstGeom prst="line">
            <a:avLst/>
          </a:prstGeom>
          <a:noFill/>
          <a:ln w="3175">
            <a:solidFill>
              <a:srgbClr val="B8C4D3"/>
            </a:solidFill>
            <a:prstDash val="solid"/>
          </a:ln>
        </p:spPr>
      </p:sp>
      <p:sp>
        <p:nvSpPr>
          <p:cNvPr id="316" name="Shape 314"/>
          <p:cNvSpPr/>
          <p:nvPr/>
        </p:nvSpPr>
        <p:spPr>
          <a:xfrm>
            <a:off x="8778240" y="4937760"/>
            <a:ext cx="960120" cy="0"/>
          </a:xfrm>
          <a:prstGeom prst="line">
            <a:avLst/>
          </a:prstGeom>
          <a:noFill/>
          <a:ln w="3175">
            <a:solidFill>
              <a:srgbClr val="B8C4D3"/>
            </a:solidFill>
            <a:prstDash val="solid"/>
          </a:ln>
        </p:spPr>
      </p:sp>
      <p:sp>
        <p:nvSpPr>
          <p:cNvPr id="317" name="Shape 315"/>
          <p:cNvSpPr/>
          <p:nvPr/>
        </p:nvSpPr>
        <p:spPr>
          <a:xfrm>
            <a:off x="9273302" y="4457700"/>
            <a:ext cx="0" cy="960120"/>
          </a:xfrm>
          <a:prstGeom prst="line">
            <a:avLst/>
          </a:prstGeom>
          <a:noFill/>
          <a:ln w="3175">
            <a:solidFill>
              <a:srgbClr val="B8C4D3"/>
            </a:solidFill>
            <a:prstDash val="solid"/>
          </a:ln>
        </p:spPr>
      </p:sp>
      <p:sp>
        <p:nvSpPr>
          <p:cNvPr id="318" name="Shape 316"/>
          <p:cNvSpPr/>
          <p:nvPr/>
        </p:nvSpPr>
        <p:spPr>
          <a:xfrm>
            <a:off x="8778240" y="4952762"/>
            <a:ext cx="960120" cy="0"/>
          </a:xfrm>
          <a:prstGeom prst="line">
            <a:avLst/>
          </a:prstGeom>
          <a:noFill/>
          <a:ln w="3175">
            <a:solidFill>
              <a:srgbClr val="B8C4D3"/>
            </a:solidFill>
            <a:prstDash val="solid"/>
          </a:ln>
        </p:spPr>
      </p:sp>
      <p:sp>
        <p:nvSpPr>
          <p:cNvPr id="319" name="Shape 317"/>
          <p:cNvSpPr/>
          <p:nvPr/>
        </p:nvSpPr>
        <p:spPr>
          <a:xfrm>
            <a:off x="9288304" y="4457700"/>
            <a:ext cx="0" cy="960120"/>
          </a:xfrm>
          <a:prstGeom prst="line">
            <a:avLst/>
          </a:prstGeom>
          <a:noFill/>
          <a:ln w="3175">
            <a:solidFill>
              <a:srgbClr val="B8C4D3"/>
            </a:solidFill>
            <a:prstDash val="solid"/>
          </a:ln>
        </p:spPr>
      </p:sp>
      <p:sp>
        <p:nvSpPr>
          <p:cNvPr id="320" name="Shape 318"/>
          <p:cNvSpPr/>
          <p:nvPr/>
        </p:nvSpPr>
        <p:spPr>
          <a:xfrm>
            <a:off x="8778240" y="4967764"/>
            <a:ext cx="960120" cy="0"/>
          </a:xfrm>
          <a:prstGeom prst="line">
            <a:avLst/>
          </a:prstGeom>
          <a:noFill/>
          <a:ln w="3175">
            <a:solidFill>
              <a:srgbClr val="B8C4D3"/>
            </a:solidFill>
            <a:prstDash val="solid"/>
          </a:ln>
        </p:spPr>
      </p:sp>
      <p:sp>
        <p:nvSpPr>
          <p:cNvPr id="321" name="Shape 319"/>
          <p:cNvSpPr/>
          <p:nvPr/>
        </p:nvSpPr>
        <p:spPr>
          <a:xfrm>
            <a:off x="9303306" y="4457700"/>
            <a:ext cx="0" cy="960120"/>
          </a:xfrm>
          <a:prstGeom prst="line">
            <a:avLst/>
          </a:prstGeom>
          <a:noFill/>
          <a:ln w="3175">
            <a:solidFill>
              <a:srgbClr val="B8C4D3"/>
            </a:solidFill>
            <a:prstDash val="solid"/>
          </a:ln>
        </p:spPr>
      </p:sp>
      <p:sp>
        <p:nvSpPr>
          <p:cNvPr id="322" name="Shape 320"/>
          <p:cNvSpPr/>
          <p:nvPr/>
        </p:nvSpPr>
        <p:spPr>
          <a:xfrm>
            <a:off x="8778240" y="4982766"/>
            <a:ext cx="960120" cy="0"/>
          </a:xfrm>
          <a:prstGeom prst="line">
            <a:avLst/>
          </a:prstGeom>
          <a:noFill/>
          <a:ln w="3175">
            <a:solidFill>
              <a:srgbClr val="B8C4D3"/>
            </a:solidFill>
            <a:prstDash val="solid"/>
          </a:ln>
        </p:spPr>
      </p:sp>
      <p:sp>
        <p:nvSpPr>
          <p:cNvPr id="323" name="Shape 321"/>
          <p:cNvSpPr/>
          <p:nvPr/>
        </p:nvSpPr>
        <p:spPr>
          <a:xfrm>
            <a:off x="9318307" y="4457700"/>
            <a:ext cx="0" cy="960120"/>
          </a:xfrm>
          <a:prstGeom prst="line">
            <a:avLst/>
          </a:prstGeom>
          <a:noFill/>
          <a:ln w="3175">
            <a:solidFill>
              <a:srgbClr val="B8C4D3"/>
            </a:solidFill>
            <a:prstDash val="solid"/>
          </a:ln>
        </p:spPr>
      </p:sp>
      <p:sp>
        <p:nvSpPr>
          <p:cNvPr id="324" name="Shape 322"/>
          <p:cNvSpPr/>
          <p:nvPr/>
        </p:nvSpPr>
        <p:spPr>
          <a:xfrm>
            <a:off x="8778240" y="4997767"/>
            <a:ext cx="960120" cy="0"/>
          </a:xfrm>
          <a:prstGeom prst="line">
            <a:avLst/>
          </a:prstGeom>
          <a:noFill/>
          <a:ln w="3175">
            <a:solidFill>
              <a:srgbClr val="B8C4D3"/>
            </a:solidFill>
            <a:prstDash val="solid"/>
          </a:ln>
        </p:spPr>
      </p:sp>
      <p:sp>
        <p:nvSpPr>
          <p:cNvPr id="325" name="Shape 323"/>
          <p:cNvSpPr/>
          <p:nvPr/>
        </p:nvSpPr>
        <p:spPr>
          <a:xfrm>
            <a:off x="9333309" y="4457700"/>
            <a:ext cx="0" cy="960120"/>
          </a:xfrm>
          <a:prstGeom prst="line">
            <a:avLst/>
          </a:prstGeom>
          <a:noFill/>
          <a:ln w="3175">
            <a:solidFill>
              <a:srgbClr val="B8C4D3"/>
            </a:solidFill>
            <a:prstDash val="solid"/>
          </a:ln>
        </p:spPr>
      </p:sp>
      <p:sp>
        <p:nvSpPr>
          <p:cNvPr id="326" name="Shape 324"/>
          <p:cNvSpPr/>
          <p:nvPr/>
        </p:nvSpPr>
        <p:spPr>
          <a:xfrm>
            <a:off x="8778240" y="5012769"/>
            <a:ext cx="960120" cy="0"/>
          </a:xfrm>
          <a:prstGeom prst="line">
            <a:avLst/>
          </a:prstGeom>
          <a:noFill/>
          <a:ln w="3175">
            <a:solidFill>
              <a:srgbClr val="B8C4D3"/>
            </a:solidFill>
            <a:prstDash val="solid"/>
          </a:ln>
        </p:spPr>
      </p:sp>
      <p:sp>
        <p:nvSpPr>
          <p:cNvPr id="327" name="Shape 325"/>
          <p:cNvSpPr/>
          <p:nvPr/>
        </p:nvSpPr>
        <p:spPr>
          <a:xfrm>
            <a:off x="9348311" y="4457700"/>
            <a:ext cx="0" cy="960120"/>
          </a:xfrm>
          <a:prstGeom prst="line">
            <a:avLst/>
          </a:prstGeom>
          <a:noFill/>
          <a:ln w="3175">
            <a:solidFill>
              <a:srgbClr val="B8C4D3"/>
            </a:solidFill>
            <a:prstDash val="solid"/>
          </a:ln>
        </p:spPr>
      </p:sp>
      <p:sp>
        <p:nvSpPr>
          <p:cNvPr id="328" name="Shape 326"/>
          <p:cNvSpPr/>
          <p:nvPr/>
        </p:nvSpPr>
        <p:spPr>
          <a:xfrm>
            <a:off x="8778240" y="5027771"/>
            <a:ext cx="960120" cy="0"/>
          </a:xfrm>
          <a:prstGeom prst="line">
            <a:avLst/>
          </a:prstGeom>
          <a:noFill/>
          <a:ln w="3175">
            <a:solidFill>
              <a:srgbClr val="B8C4D3"/>
            </a:solidFill>
            <a:prstDash val="solid"/>
          </a:ln>
        </p:spPr>
      </p:sp>
      <p:sp>
        <p:nvSpPr>
          <p:cNvPr id="329" name="Shape 327"/>
          <p:cNvSpPr/>
          <p:nvPr/>
        </p:nvSpPr>
        <p:spPr>
          <a:xfrm>
            <a:off x="9363313" y="4457700"/>
            <a:ext cx="0" cy="960120"/>
          </a:xfrm>
          <a:prstGeom prst="line">
            <a:avLst/>
          </a:prstGeom>
          <a:noFill/>
          <a:ln w="3175">
            <a:solidFill>
              <a:srgbClr val="B8C4D3"/>
            </a:solidFill>
            <a:prstDash val="solid"/>
          </a:ln>
        </p:spPr>
      </p:sp>
      <p:sp>
        <p:nvSpPr>
          <p:cNvPr id="330" name="Shape 328"/>
          <p:cNvSpPr/>
          <p:nvPr/>
        </p:nvSpPr>
        <p:spPr>
          <a:xfrm>
            <a:off x="8778240" y="5042773"/>
            <a:ext cx="960120" cy="0"/>
          </a:xfrm>
          <a:prstGeom prst="line">
            <a:avLst/>
          </a:prstGeom>
          <a:noFill/>
          <a:ln w="3175">
            <a:solidFill>
              <a:srgbClr val="B8C4D3"/>
            </a:solidFill>
            <a:prstDash val="solid"/>
          </a:ln>
        </p:spPr>
      </p:sp>
      <p:sp>
        <p:nvSpPr>
          <p:cNvPr id="331" name="Shape 329"/>
          <p:cNvSpPr/>
          <p:nvPr/>
        </p:nvSpPr>
        <p:spPr>
          <a:xfrm>
            <a:off x="9378315" y="4457700"/>
            <a:ext cx="0" cy="960120"/>
          </a:xfrm>
          <a:prstGeom prst="line">
            <a:avLst/>
          </a:prstGeom>
          <a:noFill/>
          <a:ln w="3175">
            <a:solidFill>
              <a:srgbClr val="B8C4D3"/>
            </a:solidFill>
            <a:prstDash val="solid"/>
          </a:ln>
        </p:spPr>
      </p:sp>
      <p:sp>
        <p:nvSpPr>
          <p:cNvPr id="332" name="Shape 330"/>
          <p:cNvSpPr/>
          <p:nvPr/>
        </p:nvSpPr>
        <p:spPr>
          <a:xfrm>
            <a:off x="8778240" y="5057775"/>
            <a:ext cx="960120" cy="0"/>
          </a:xfrm>
          <a:prstGeom prst="line">
            <a:avLst/>
          </a:prstGeom>
          <a:noFill/>
          <a:ln w="3175">
            <a:solidFill>
              <a:srgbClr val="B8C4D3"/>
            </a:solidFill>
            <a:prstDash val="solid"/>
          </a:ln>
        </p:spPr>
      </p:sp>
      <p:sp>
        <p:nvSpPr>
          <p:cNvPr id="333" name="Shape 331"/>
          <p:cNvSpPr/>
          <p:nvPr/>
        </p:nvSpPr>
        <p:spPr>
          <a:xfrm>
            <a:off x="9393317" y="4457700"/>
            <a:ext cx="0" cy="960120"/>
          </a:xfrm>
          <a:prstGeom prst="line">
            <a:avLst/>
          </a:prstGeom>
          <a:noFill/>
          <a:ln w="3175">
            <a:solidFill>
              <a:srgbClr val="B8C4D3"/>
            </a:solidFill>
            <a:prstDash val="solid"/>
          </a:ln>
        </p:spPr>
      </p:sp>
      <p:sp>
        <p:nvSpPr>
          <p:cNvPr id="334" name="Shape 332"/>
          <p:cNvSpPr/>
          <p:nvPr/>
        </p:nvSpPr>
        <p:spPr>
          <a:xfrm>
            <a:off x="8778240" y="5072777"/>
            <a:ext cx="960120" cy="0"/>
          </a:xfrm>
          <a:prstGeom prst="line">
            <a:avLst/>
          </a:prstGeom>
          <a:noFill/>
          <a:ln w="3175">
            <a:solidFill>
              <a:srgbClr val="B8C4D3"/>
            </a:solidFill>
            <a:prstDash val="solid"/>
          </a:ln>
        </p:spPr>
      </p:sp>
      <p:sp>
        <p:nvSpPr>
          <p:cNvPr id="335" name="Shape 333"/>
          <p:cNvSpPr/>
          <p:nvPr/>
        </p:nvSpPr>
        <p:spPr>
          <a:xfrm>
            <a:off x="9408319" y="4457700"/>
            <a:ext cx="0" cy="960120"/>
          </a:xfrm>
          <a:prstGeom prst="line">
            <a:avLst/>
          </a:prstGeom>
          <a:noFill/>
          <a:ln w="3175">
            <a:solidFill>
              <a:srgbClr val="B8C4D3"/>
            </a:solidFill>
            <a:prstDash val="solid"/>
          </a:ln>
        </p:spPr>
      </p:sp>
      <p:sp>
        <p:nvSpPr>
          <p:cNvPr id="336" name="Shape 334"/>
          <p:cNvSpPr/>
          <p:nvPr/>
        </p:nvSpPr>
        <p:spPr>
          <a:xfrm>
            <a:off x="8778240" y="5087779"/>
            <a:ext cx="960120" cy="0"/>
          </a:xfrm>
          <a:prstGeom prst="line">
            <a:avLst/>
          </a:prstGeom>
          <a:noFill/>
          <a:ln w="3175">
            <a:solidFill>
              <a:srgbClr val="B8C4D3"/>
            </a:solidFill>
            <a:prstDash val="solid"/>
          </a:ln>
        </p:spPr>
      </p:sp>
      <p:sp>
        <p:nvSpPr>
          <p:cNvPr id="337" name="Shape 335"/>
          <p:cNvSpPr/>
          <p:nvPr/>
        </p:nvSpPr>
        <p:spPr>
          <a:xfrm>
            <a:off x="9423321" y="4457700"/>
            <a:ext cx="0" cy="960120"/>
          </a:xfrm>
          <a:prstGeom prst="line">
            <a:avLst/>
          </a:prstGeom>
          <a:noFill/>
          <a:ln w="3175">
            <a:solidFill>
              <a:srgbClr val="B8C4D3"/>
            </a:solidFill>
            <a:prstDash val="solid"/>
          </a:ln>
        </p:spPr>
      </p:sp>
      <p:sp>
        <p:nvSpPr>
          <p:cNvPr id="338" name="Shape 336"/>
          <p:cNvSpPr/>
          <p:nvPr/>
        </p:nvSpPr>
        <p:spPr>
          <a:xfrm>
            <a:off x="8778240" y="5102781"/>
            <a:ext cx="960120" cy="0"/>
          </a:xfrm>
          <a:prstGeom prst="line">
            <a:avLst/>
          </a:prstGeom>
          <a:noFill/>
          <a:ln w="3175">
            <a:solidFill>
              <a:srgbClr val="B8C4D3"/>
            </a:solidFill>
            <a:prstDash val="solid"/>
          </a:ln>
        </p:spPr>
      </p:sp>
      <p:sp>
        <p:nvSpPr>
          <p:cNvPr id="339" name="Shape 337"/>
          <p:cNvSpPr/>
          <p:nvPr/>
        </p:nvSpPr>
        <p:spPr>
          <a:xfrm>
            <a:off x="9438323" y="4457700"/>
            <a:ext cx="0" cy="960120"/>
          </a:xfrm>
          <a:prstGeom prst="line">
            <a:avLst/>
          </a:prstGeom>
          <a:noFill/>
          <a:ln w="3175">
            <a:solidFill>
              <a:srgbClr val="B8C4D3"/>
            </a:solidFill>
            <a:prstDash val="solid"/>
          </a:ln>
        </p:spPr>
      </p:sp>
      <p:sp>
        <p:nvSpPr>
          <p:cNvPr id="340" name="Shape 338"/>
          <p:cNvSpPr/>
          <p:nvPr/>
        </p:nvSpPr>
        <p:spPr>
          <a:xfrm>
            <a:off x="8778240" y="5117782"/>
            <a:ext cx="960120" cy="0"/>
          </a:xfrm>
          <a:prstGeom prst="line">
            <a:avLst/>
          </a:prstGeom>
          <a:noFill/>
          <a:ln w="3175">
            <a:solidFill>
              <a:srgbClr val="B8C4D3"/>
            </a:solidFill>
            <a:prstDash val="solid"/>
          </a:ln>
        </p:spPr>
      </p:sp>
      <p:sp>
        <p:nvSpPr>
          <p:cNvPr id="341" name="Shape 339"/>
          <p:cNvSpPr/>
          <p:nvPr/>
        </p:nvSpPr>
        <p:spPr>
          <a:xfrm>
            <a:off x="9453324" y="4457700"/>
            <a:ext cx="0" cy="960120"/>
          </a:xfrm>
          <a:prstGeom prst="line">
            <a:avLst/>
          </a:prstGeom>
          <a:noFill/>
          <a:ln w="3175">
            <a:solidFill>
              <a:srgbClr val="B8C4D3"/>
            </a:solidFill>
            <a:prstDash val="solid"/>
          </a:ln>
        </p:spPr>
      </p:sp>
      <p:sp>
        <p:nvSpPr>
          <p:cNvPr id="342" name="Shape 340"/>
          <p:cNvSpPr/>
          <p:nvPr/>
        </p:nvSpPr>
        <p:spPr>
          <a:xfrm>
            <a:off x="8778240" y="5132784"/>
            <a:ext cx="960120" cy="0"/>
          </a:xfrm>
          <a:prstGeom prst="line">
            <a:avLst/>
          </a:prstGeom>
          <a:noFill/>
          <a:ln w="3175">
            <a:solidFill>
              <a:srgbClr val="B8C4D3"/>
            </a:solidFill>
            <a:prstDash val="solid"/>
          </a:ln>
        </p:spPr>
      </p:sp>
      <p:sp>
        <p:nvSpPr>
          <p:cNvPr id="343" name="Shape 341"/>
          <p:cNvSpPr/>
          <p:nvPr/>
        </p:nvSpPr>
        <p:spPr>
          <a:xfrm>
            <a:off x="9468326" y="4457700"/>
            <a:ext cx="0" cy="960120"/>
          </a:xfrm>
          <a:prstGeom prst="line">
            <a:avLst/>
          </a:prstGeom>
          <a:noFill/>
          <a:ln w="3175">
            <a:solidFill>
              <a:srgbClr val="B8C4D3"/>
            </a:solidFill>
            <a:prstDash val="solid"/>
          </a:ln>
        </p:spPr>
      </p:sp>
      <p:sp>
        <p:nvSpPr>
          <p:cNvPr id="344" name="Shape 342"/>
          <p:cNvSpPr/>
          <p:nvPr/>
        </p:nvSpPr>
        <p:spPr>
          <a:xfrm>
            <a:off x="8778240" y="5147786"/>
            <a:ext cx="960120" cy="0"/>
          </a:xfrm>
          <a:prstGeom prst="line">
            <a:avLst/>
          </a:prstGeom>
          <a:noFill/>
          <a:ln w="3175">
            <a:solidFill>
              <a:srgbClr val="B8C4D3"/>
            </a:solidFill>
            <a:prstDash val="solid"/>
          </a:ln>
        </p:spPr>
      </p:sp>
      <p:sp>
        <p:nvSpPr>
          <p:cNvPr id="345" name="Shape 343"/>
          <p:cNvSpPr/>
          <p:nvPr/>
        </p:nvSpPr>
        <p:spPr>
          <a:xfrm>
            <a:off x="9483328" y="4457700"/>
            <a:ext cx="0" cy="960120"/>
          </a:xfrm>
          <a:prstGeom prst="line">
            <a:avLst/>
          </a:prstGeom>
          <a:noFill/>
          <a:ln w="3175">
            <a:solidFill>
              <a:srgbClr val="B8C4D3"/>
            </a:solidFill>
            <a:prstDash val="solid"/>
          </a:ln>
        </p:spPr>
      </p:sp>
      <p:sp>
        <p:nvSpPr>
          <p:cNvPr id="346" name="Shape 344"/>
          <p:cNvSpPr/>
          <p:nvPr/>
        </p:nvSpPr>
        <p:spPr>
          <a:xfrm>
            <a:off x="8778240" y="5162788"/>
            <a:ext cx="960120" cy="0"/>
          </a:xfrm>
          <a:prstGeom prst="line">
            <a:avLst/>
          </a:prstGeom>
          <a:noFill/>
          <a:ln w="3175">
            <a:solidFill>
              <a:srgbClr val="B8C4D3"/>
            </a:solidFill>
            <a:prstDash val="solid"/>
          </a:ln>
        </p:spPr>
      </p:sp>
      <p:sp>
        <p:nvSpPr>
          <p:cNvPr id="347" name="Shape 345"/>
          <p:cNvSpPr/>
          <p:nvPr/>
        </p:nvSpPr>
        <p:spPr>
          <a:xfrm>
            <a:off x="9498330" y="4457700"/>
            <a:ext cx="0" cy="960120"/>
          </a:xfrm>
          <a:prstGeom prst="line">
            <a:avLst/>
          </a:prstGeom>
          <a:noFill/>
          <a:ln w="3175">
            <a:solidFill>
              <a:srgbClr val="B8C4D3"/>
            </a:solidFill>
            <a:prstDash val="solid"/>
          </a:ln>
        </p:spPr>
      </p:sp>
      <p:sp>
        <p:nvSpPr>
          <p:cNvPr id="348" name="Shape 346"/>
          <p:cNvSpPr/>
          <p:nvPr/>
        </p:nvSpPr>
        <p:spPr>
          <a:xfrm>
            <a:off x="8778240" y="5177790"/>
            <a:ext cx="960120" cy="0"/>
          </a:xfrm>
          <a:prstGeom prst="line">
            <a:avLst/>
          </a:prstGeom>
          <a:noFill/>
          <a:ln w="3175">
            <a:solidFill>
              <a:srgbClr val="B8C4D3"/>
            </a:solidFill>
            <a:prstDash val="solid"/>
          </a:ln>
        </p:spPr>
      </p:sp>
      <p:sp>
        <p:nvSpPr>
          <p:cNvPr id="349" name="Shape 347"/>
          <p:cNvSpPr/>
          <p:nvPr/>
        </p:nvSpPr>
        <p:spPr>
          <a:xfrm>
            <a:off x="9513332" y="4457700"/>
            <a:ext cx="0" cy="960120"/>
          </a:xfrm>
          <a:prstGeom prst="line">
            <a:avLst/>
          </a:prstGeom>
          <a:noFill/>
          <a:ln w="3175">
            <a:solidFill>
              <a:srgbClr val="B8C4D3"/>
            </a:solidFill>
            <a:prstDash val="solid"/>
          </a:ln>
        </p:spPr>
      </p:sp>
      <p:sp>
        <p:nvSpPr>
          <p:cNvPr id="350" name="Shape 348"/>
          <p:cNvSpPr/>
          <p:nvPr/>
        </p:nvSpPr>
        <p:spPr>
          <a:xfrm>
            <a:off x="8778240" y="5192792"/>
            <a:ext cx="960120" cy="0"/>
          </a:xfrm>
          <a:prstGeom prst="line">
            <a:avLst/>
          </a:prstGeom>
          <a:noFill/>
          <a:ln w="3175">
            <a:solidFill>
              <a:srgbClr val="B8C4D3"/>
            </a:solidFill>
            <a:prstDash val="solid"/>
          </a:ln>
        </p:spPr>
      </p:sp>
      <p:sp>
        <p:nvSpPr>
          <p:cNvPr id="351" name="Shape 349"/>
          <p:cNvSpPr/>
          <p:nvPr/>
        </p:nvSpPr>
        <p:spPr>
          <a:xfrm>
            <a:off x="9528334" y="4457700"/>
            <a:ext cx="0" cy="960120"/>
          </a:xfrm>
          <a:prstGeom prst="line">
            <a:avLst/>
          </a:prstGeom>
          <a:noFill/>
          <a:ln w="3175">
            <a:solidFill>
              <a:srgbClr val="B8C4D3"/>
            </a:solidFill>
            <a:prstDash val="solid"/>
          </a:ln>
        </p:spPr>
      </p:sp>
      <p:sp>
        <p:nvSpPr>
          <p:cNvPr id="352" name="Shape 350"/>
          <p:cNvSpPr/>
          <p:nvPr/>
        </p:nvSpPr>
        <p:spPr>
          <a:xfrm>
            <a:off x="8778240" y="5207794"/>
            <a:ext cx="960120" cy="0"/>
          </a:xfrm>
          <a:prstGeom prst="line">
            <a:avLst/>
          </a:prstGeom>
          <a:noFill/>
          <a:ln w="3175">
            <a:solidFill>
              <a:srgbClr val="B8C4D3"/>
            </a:solidFill>
            <a:prstDash val="solid"/>
          </a:ln>
        </p:spPr>
      </p:sp>
      <p:sp>
        <p:nvSpPr>
          <p:cNvPr id="353" name="Shape 351"/>
          <p:cNvSpPr/>
          <p:nvPr/>
        </p:nvSpPr>
        <p:spPr>
          <a:xfrm>
            <a:off x="9543336" y="4457700"/>
            <a:ext cx="0" cy="960120"/>
          </a:xfrm>
          <a:prstGeom prst="line">
            <a:avLst/>
          </a:prstGeom>
          <a:noFill/>
          <a:ln w="3175">
            <a:solidFill>
              <a:srgbClr val="B8C4D3"/>
            </a:solidFill>
            <a:prstDash val="solid"/>
          </a:ln>
        </p:spPr>
      </p:sp>
      <p:sp>
        <p:nvSpPr>
          <p:cNvPr id="354" name="Shape 352"/>
          <p:cNvSpPr/>
          <p:nvPr/>
        </p:nvSpPr>
        <p:spPr>
          <a:xfrm>
            <a:off x="8778240" y="5222796"/>
            <a:ext cx="960120" cy="0"/>
          </a:xfrm>
          <a:prstGeom prst="line">
            <a:avLst/>
          </a:prstGeom>
          <a:noFill/>
          <a:ln w="3175">
            <a:solidFill>
              <a:srgbClr val="B8C4D3"/>
            </a:solidFill>
            <a:prstDash val="solid"/>
          </a:ln>
        </p:spPr>
      </p:sp>
      <p:sp>
        <p:nvSpPr>
          <p:cNvPr id="355" name="Shape 353"/>
          <p:cNvSpPr/>
          <p:nvPr/>
        </p:nvSpPr>
        <p:spPr>
          <a:xfrm>
            <a:off x="9558338" y="4457700"/>
            <a:ext cx="0" cy="960120"/>
          </a:xfrm>
          <a:prstGeom prst="line">
            <a:avLst/>
          </a:prstGeom>
          <a:noFill/>
          <a:ln w="3175">
            <a:solidFill>
              <a:srgbClr val="B8C4D3"/>
            </a:solidFill>
            <a:prstDash val="solid"/>
          </a:ln>
        </p:spPr>
      </p:sp>
      <p:sp>
        <p:nvSpPr>
          <p:cNvPr id="356" name="Shape 354"/>
          <p:cNvSpPr/>
          <p:nvPr/>
        </p:nvSpPr>
        <p:spPr>
          <a:xfrm>
            <a:off x="8778240" y="5237797"/>
            <a:ext cx="960120" cy="0"/>
          </a:xfrm>
          <a:prstGeom prst="line">
            <a:avLst/>
          </a:prstGeom>
          <a:noFill/>
          <a:ln w="3175">
            <a:solidFill>
              <a:srgbClr val="B8C4D3"/>
            </a:solidFill>
            <a:prstDash val="solid"/>
          </a:ln>
        </p:spPr>
      </p:sp>
      <p:sp>
        <p:nvSpPr>
          <p:cNvPr id="357" name="Shape 355"/>
          <p:cNvSpPr/>
          <p:nvPr/>
        </p:nvSpPr>
        <p:spPr>
          <a:xfrm>
            <a:off x="9573339" y="4457700"/>
            <a:ext cx="0" cy="960120"/>
          </a:xfrm>
          <a:prstGeom prst="line">
            <a:avLst/>
          </a:prstGeom>
          <a:noFill/>
          <a:ln w="3175">
            <a:solidFill>
              <a:srgbClr val="B8C4D3"/>
            </a:solidFill>
            <a:prstDash val="solid"/>
          </a:ln>
        </p:spPr>
      </p:sp>
      <p:sp>
        <p:nvSpPr>
          <p:cNvPr id="358" name="Shape 356"/>
          <p:cNvSpPr/>
          <p:nvPr/>
        </p:nvSpPr>
        <p:spPr>
          <a:xfrm>
            <a:off x="8778240" y="5252799"/>
            <a:ext cx="960120" cy="0"/>
          </a:xfrm>
          <a:prstGeom prst="line">
            <a:avLst/>
          </a:prstGeom>
          <a:noFill/>
          <a:ln w="3175">
            <a:solidFill>
              <a:srgbClr val="B8C4D3"/>
            </a:solidFill>
            <a:prstDash val="solid"/>
          </a:ln>
        </p:spPr>
      </p:sp>
      <p:sp>
        <p:nvSpPr>
          <p:cNvPr id="359" name="Shape 357"/>
          <p:cNvSpPr/>
          <p:nvPr/>
        </p:nvSpPr>
        <p:spPr>
          <a:xfrm>
            <a:off x="9588341" y="4457700"/>
            <a:ext cx="0" cy="960120"/>
          </a:xfrm>
          <a:prstGeom prst="line">
            <a:avLst/>
          </a:prstGeom>
          <a:noFill/>
          <a:ln w="3175">
            <a:solidFill>
              <a:srgbClr val="B8C4D3"/>
            </a:solidFill>
            <a:prstDash val="solid"/>
          </a:ln>
        </p:spPr>
      </p:sp>
      <p:sp>
        <p:nvSpPr>
          <p:cNvPr id="360" name="Shape 358"/>
          <p:cNvSpPr/>
          <p:nvPr/>
        </p:nvSpPr>
        <p:spPr>
          <a:xfrm>
            <a:off x="8778240" y="5267801"/>
            <a:ext cx="960120" cy="0"/>
          </a:xfrm>
          <a:prstGeom prst="line">
            <a:avLst/>
          </a:prstGeom>
          <a:noFill/>
          <a:ln w="3175">
            <a:solidFill>
              <a:srgbClr val="B8C4D3"/>
            </a:solidFill>
            <a:prstDash val="solid"/>
          </a:ln>
        </p:spPr>
      </p:sp>
      <p:sp>
        <p:nvSpPr>
          <p:cNvPr id="361" name="Shape 359"/>
          <p:cNvSpPr/>
          <p:nvPr/>
        </p:nvSpPr>
        <p:spPr>
          <a:xfrm>
            <a:off x="9603343" y="4457700"/>
            <a:ext cx="0" cy="960120"/>
          </a:xfrm>
          <a:prstGeom prst="line">
            <a:avLst/>
          </a:prstGeom>
          <a:noFill/>
          <a:ln w="3175">
            <a:solidFill>
              <a:srgbClr val="B8C4D3"/>
            </a:solidFill>
            <a:prstDash val="solid"/>
          </a:ln>
        </p:spPr>
      </p:sp>
      <p:sp>
        <p:nvSpPr>
          <p:cNvPr id="362" name="Shape 360"/>
          <p:cNvSpPr/>
          <p:nvPr/>
        </p:nvSpPr>
        <p:spPr>
          <a:xfrm>
            <a:off x="8778240" y="5282803"/>
            <a:ext cx="960120" cy="0"/>
          </a:xfrm>
          <a:prstGeom prst="line">
            <a:avLst/>
          </a:prstGeom>
          <a:noFill/>
          <a:ln w="3175">
            <a:solidFill>
              <a:srgbClr val="B8C4D3"/>
            </a:solidFill>
            <a:prstDash val="solid"/>
          </a:ln>
        </p:spPr>
      </p:sp>
      <p:sp>
        <p:nvSpPr>
          <p:cNvPr id="363" name="Shape 361"/>
          <p:cNvSpPr/>
          <p:nvPr/>
        </p:nvSpPr>
        <p:spPr>
          <a:xfrm>
            <a:off x="9618345" y="4457700"/>
            <a:ext cx="0" cy="960120"/>
          </a:xfrm>
          <a:prstGeom prst="line">
            <a:avLst/>
          </a:prstGeom>
          <a:noFill/>
          <a:ln w="3175">
            <a:solidFill>
              <a:srgbClr val="B8C4D3"/>
            </a:solidFill>
            <a:prstDash val="solid"/>
          </a:ln>
        </p:spPr>
      </p:sp>
      <p:sp>
        <p:nvSpPr>
          <p:cNvPr id="364" name="Shape 362"/>
          <p:cNvSpPr/>
          <p:nvPr/>
        </p:nvSpPr>
        <p:spPr>
          <a:xfrm>
            <a:off x="8778240" y="5297805"/>
            <a:ext cx="960120" cy="0"/>
          </a:xfrm>
          <a:prstGeom prst="line">
            <a:avLst/>
          </a:prstGeom>
          <a:noFill/>
          <a:ln w="3175">
            <a:solidFill>
              <a:srgbClr val="B8C4D3"/>
            </a:solidFill>
            <a:prstDash val="solid"/>
          </a:ln>
        </p:spPr>
      </p:sp>
      <p:sp>
        <p:nvSpPr>
          <p:cNvPr id="365" name="Shape 363"/>
          <p:cNvSpPr/>
          <p:nvPr/>
        </p:nvSpPr>
        <p:spPr>
          <a:xfrm>
            <a:off x="9633347" y="4457700"/>
            <a:ext cx="0" cy="960120"/>
          </a:xfrm>
          <a:prstGeom prst="line">
            <a:avLst/>
          </a:prstGeom>
          <a:noFill/>
          <a:ln w="3175">
            <a:solidFill>
              <a:srgbClr val="B8C4D3"/>
            </a:solidFill>
            <a:prstDash val="solid"/>
          </a:ln>
        </p:spPr>
      </p:sp>
      <p:sp>
        <p:nvSpPr>
          <p:cNvPr id="366" name="Shape 364"/>
          <p:cNvSpPr/>
          <p:nvPr/>
        </p:nvSpPr>
        <p:spPr>
          <a:xfrm>
            <a:off x="8778240" y="5312807"/>
            <a:ext cx="960120" cy="0"/>
          </a:xfrm>
          <a:prstGeom prst="line">
            <a:avLst/>
          </a:prstGeom>
          <a:noFill/>
          <a:ln w="3175">
            <a:solidFill>
              <a:srgbClr val="B8C4D3"/>
            </a:solidFill>
            <a:prstDash val="solid"/>
          </a:ln>
        </p:spPr>
      </p:sp>
      <p:sp>
        <p:nvSpPr>
          <p:cNvPr id="367" name="Shape 365"/>
          <p:cNvSpPr/>
          <p:nvPr/>
        </p:nvSpPr>
        <p:spPr>
          <a:xfrm>
            <a:off x="9648349" y="4457700"/>
            <a:ext cx="0" cy="960120"/>
          </a:xfrm>
          <a:prstGeom prst="line">
            <a:avLst/>
          </a:prstGeom>
          <a:noFill/>
          <a:ln w="3175">
            <a:solidFill>
              <a:srgbClr val="B8C4D3"/>
            </a:solidFill>
            <a:prstDash val="solid"/>
          </a:ln>
        </p:spPr>
      </p:sp>
      <p:sp>
        <p:nvSpPr>
          <p:cNvPr id="368" name="Shape 366"/>
          <p:cNvSpPr/>
          <p:nvPr/>
        </p:nvSpPr>
        <p:spPr>
          <a:xfrm>
            <a:off x="8778240" y="5327809"/>
            <a:ext cx="960120" cy="0"/>
          </a:xfrm>
          <a:prstGeom prst="line">
            <a:avLst/>
          </a:prstGeom>
          <a:noFill/>
          <a:ln w="3175">
            <a:solidFill>
              <a:srgbClr val="B8C4D3"/>
            </a:solidFill>
            <a:prstDash val="solid"/>
          </a:ln>
        </p:spPr>
      </p:sp>
      <p:sp>
        <p:nvSpPr>
          <p:cNvPr id="369" name="Shape 367"/>
          <p:cNvSpPr/>
          <p:nvPr/>
        </p:nvSpPr>
        <p:spPr>
          <a:xfrm>
            <a:off x="9663351" y="4457700"/>
            <a:ext cx="0" cy="960120"/>
          </a:xfrm>
          <a:prstGeom prst="line">
            <a:avLst/>
          </a:prstGeom>
          <a:noFill/>
          <a:ln w="3175">
            <a:solidFill>
              <a:srgbClr val="B8C4D3"/>
            </a:solidFill>
            <a:prstDash val="solid"/>
          </a:ln>
        </p:spPr>
      </p:sp>
      <p:sp>
        <p:nvSpPr>
          <p:cNvPr id="370" name="Shape 368"/>
          <p:cNvSpPr/>
          <p:nvPr/>
        </p:nvSpPr>
        <p:spPr>
          <a:xfrm>
            <a:off x="8778240" y="5342811"/>
            <a:ext cx="960120" cy="0"/>
          </a:xfrm>
          <a:prstGeom prst="line">
            <a:avLst/>
          </a:prstGeom>
          <a:noFill/>
          <a:ln w="3175">
            <a:solidFill>
              <a:srgbClr val="B8C4D3"/>
            </a:solidFill>
            <a:prstDash val="solid"/>
          </a:ln>
        </p:spPr>
      </p:sp>
      <p:sp>
        <p:nvSpPr>
          <p:cNvPr id="371" name="Shape 369"/>
          <p:cNvSpPr/>
          <p:nvPr/>
        </p:nvSpPr>
        <p:spPr>
          <a:xfrm>
            <a:off x="9678353" y="4457700"/>
            <a:ext cx="0" cy="960120"/>
          </a:xfrm>
          <a:prstGeom prst="line">
            <a:avLst/>
          </a:prstGeom>
          <a:noFill/>
          <a:ln w="3175">
            <a:solidFill>
              <a:srgbClr val="B8C4D3"/>
            </a:solidFill>
            <a:prstDash val="solid"/>
          </a:ln>
        </p:spPr>
      </p:sp>
      <p:sp>
        <p:nvSpPr>
          <p:cNvPr id="372" name="Shape 370"/>
          <p:cNvSpPr/>
          <p:nvPr/>
        </p:nvSpPr>
        <p:spPr>
          <a:xfrm>
            <a:off x="8778240" y="5357812"/>
            <a:ext cx="960120" cy="0"/>
          </a:xfrm>
          <a:prstGeom prst="line">
            <a:avLst/>
          </a:prstGeom>
          <a:noFill/>
          <a:ln w="3175">
            <a:solidFill>
              <a:srgbClr val="B8C4D3"/>
            </a:solidFill>
            <a:prstDash val="solid"/>
          </a:ln>
        </p:spPr>
      </p:sp>
      <p:sp>
        <p:nvSpPr>
          <p:cNvPr id="373" name="Shape 371"/>
          <p:cNvSpPr/>
          <p:nvPr/>
        </p:nvSpPr>
        <p:spPr>
          <a:xfrm>
            <a:off x="9693354" y="4457700"/>
            <a:ext cx="0" cy="960120"/>
          </a:xfrm>
          <a:prstGeom prst="line">
            <a:avLst/>
          </a:prstGeom>
          <a:noFill/>
          <a:ln w="3175">
            <a:solidFill>
              <a:srgbClr val="B8C4D3"/>
            </a:solidFill>
            <a:prstDash val="solid"/>
          </a:ln>
        </p:spPr>
      </p:sp>
      <p:sp>
        <p:nvSpPr>
          <p:cNvPr id="374" name="Shape 372"/>
          <p:cNvSpPr/>
          <p:nvPr/>
        </p:nvSpPr>
        <p:spPr>
          <a:xfrm>
            <a:off x="8778240" y="5372814"/>
            <a:ext cx="960120" cy="0"/>
          </a:xfrm>
          <a:prstGeom prst="line">
            <a:avLst/>
          </a:prstGeom>
          <a:noFill/>
          <a:ln w="3175">
            <a:solidFill>
              <a:srgbClr val="B8C4D3"/>
            </a:solidFill>
            <a:prstDash val="solid"/>
          </a:ln>
        </p:spPr>
      </p:sp>
      <p:sp>
        <p:nvSpPr>
          <p:cNvPr id="375" name="Shape 373"/>
          <p:cNvSpPr/>
          <p:nvPr/>
        </p:nvSpPr>
        <p:spPr>
          <a:xfrm>
            <a:off x="9708356" y="4457700"/>
            <a:ext cx="0" cy="960120"/>
          </a:xfrm>
          <a:prstGeom prst="line">
            <a:avLst/>
          </a:prstGeom>
          <a:noFill/>
          <a:ln w="3175">
            <a:solidFill>
              <a:srgbClr val="B8C4D3"/>
            </a:solidFill>
            <a:prstDash val="solid"/>
          </a:ln>
        </p:spPr>
      </p:sp>
      <p:sp>
        <p:nvSpPr>
          <p:cNvPr id="376" name="Shape 374"/>
          <p:cNvSpPr/>
          <p:nvPr/>
        </p:nvSpPr>
        <p:spPr>
          <a:xfrm>
            <a:off x="8778240" y="5387816"/>
            <a:ext cx="960120" cy="0"/>
          </a:xfrm>
          <a:prstGeom prst="line">
            <a:avLst/>
          </a:prstGeom>
          <a:noFill/>
          <a:ln w="3175">
            <a:solidFill>
              <a:srgbClr val="B8C4D3"/>
            </a:solidFill>
            <a:prstDash val="solid"/>
          </a:ln>
        </p:spPr>
      </p:sp>
      <p:sp>
        <p:nvSpPr>
          <p:cNvPr id="377" name="Shape 375"/>
          <p:cNvSpPr/>
          <p:nvPr/>
        </p:nvSpPr>
        <p:spPr>
          <a:xfrm>
            <a:off x="9723358" y="4457700"/>
            <a:ext cx="0" cy="960120"/>
          </a:xfrm>
          <a:prstGeom prst="line">
            <a:avLst/>
          </a:prstGeom>
          <a:noFill/>
          <a:ln w="3175">
            <a:solidFill>
              <a:srgbClr val="B8C4D3"/>
            </a:solidFill>
            <a:prstDash val="solid"/>
          </a:ln>
        </p:spPr>
      </p:sp>
      <p:sp>
        <p:nvSpPr>
          <p:cNvPr id="378" name="Shape 376"/>
          <p:cNvSpPr/>
          <p:nvPr/>
        </p:nvSpPr>
        <p:spPr>
          <a:xfrm>
            <a:off x="8778240" y="5402818"/>
            <a:ext cx="960120" cy="0"/>
          </a:xfrm>
          <a:prstGeom prst="line">
            <a:avLst/>
          </a:prstGeom>
          <a:noFill/>
          <a:ln w="3175">
            <a:solidFill>
              <a:srgbClr val="B8C4D3"/>
            </a:solidFill>
            <a:prstDash val="solid"/>
          </a:ln>
        </p:spPr>
      </p:sp>
      <p:sp>
        <p:nvSpPr>
          <p:cNvPr id="379" name="Shape 377"/>
          <p:cNvSpPr/>
          <p:nvPr/>
        </p:nvSpPr>
        <p:spPr>
          <a:xfrm>
            <a:off x="9138285" y="4817745"/>
            <a:ext cx="120015" cy="120015"/>
          </a:xfrm>
          <a:prstGeom prst="rect">
            <a:avLst/>
          </a:prstGeom>
          <a:solidFill>
            <a:srgbClr val="2E86AB">
              <a:alpha val="35000"/>
            </a:srgbClr>
          </a:solidFill>
          <a:ln w="12700">
            <a:solidFill>
              <a:srgbClr val="2E86AB"/>
            </a:solidFill>
            <a:prstDash val="solid"/>
          </a:ln>
        </p:spPr>
      </p:sp>
      <p:sp>
        <p:nvSpPr>
          <p:cNvPr id="380" name="Shape 378"/>
          <p:cNvSpPr/>
          <p:nvPr/>
        </p:nvSpPr>
        <p:spPr>
          <a:xfrm>
            <a:off x="9318307" y="4817745"/>
            <a:ext cx="60008" cy="60008"/>
          </a:xfrm>
          <a:prstGeom prst="rect">
            <a:avLst/>
          </a:prstGeom>
          <a:solidFill>
            <a:srgbClr val="E07A2F">
              <a:alpha val="55000"/>
            </a:srgbClr>
          </a:solidFill>
          <a:ln w="12700">
            <a:solidFill>
              <a:srgbClr val="E07A2F"/>
            </a:solidFill>
            <a:prstDash val="solid"/>
          </a:ln>
        </p:spPr>
      </p:sp>
      <p:sp>
        <p:nvSpPr>
          <p:cNvPr id="381" name="Shape 379"/>
          <p:cNvSpPr/>
          <p:nvPr/>
        </p:nvSpPr>
        <p:spPr>
          <a:xfrm>
            <a:off x="9078278" y="5057775"/>
            <a:ext cx="45006" cy="45006"/>
          </a:xfrm>
          <a:prstGeom prst="rect">
            <a:avLst/>
          </a:prstGeom>
          <a:solidFill>
            <a:srgbClr val="1F7A4D"/>
          </a:solidFill>
          <a:ln w="12700">
            <a:solidFill>
              <a:srgbClr val="1F7A4D"/>
            </a:solidFill>
            <a:prstDash val="solid"/>
          </a:ln>
        </p:spPr>
      </p:sp>
      <p:sp>
        <p:nvSpPr>
          <p:cNvPr id="382" name="Shape 380"/>
          <p:cNvSpPr/>
          <p:nvPr/>
        </p:nvSpPr>
        <p:spPr>
          <a:xfrm>
            <a:off x="5669280" y="2377440"/>
            <a:ext cx="1371600" cy="3017520"/>
          </a:xfrm>
          <a:prstGeom prst="roundRect">
            <a:avLst>
              <a:gd name="adj" fmla="val 5333"/>
            </a:avLst>
          </a:prstGeom>
          <a:solidFill>
            <a:srgbClr val="F4F6F9"/>
          </a:solidFill>
          <a:ln w="9525">
            <a:solidFill>
              <a:srgbClr val="B8C4D3"/>
            </a:solidFill>
            <a:prstDash val="solid"/>
          </a:ln>
        </p:spPr>
      </p:sp>
      <p:sp>
        <p:nvSpPr>
          <p:cNvPr id="383" name="Text 381"/>
          <p:cNvSpPr txBox="1"/>
          <p:nvPr/>
        </p:nvSpPr>
        <p:spPr>
          <a:xfrm>
            <a:off x="5742432" y="2423160"/>
            <a:ext cx="1225296" cy="2926080"/>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learned Laplacian-pyramid rescaling</a:t>
            </a:r>
            <a:endParaRPr lang="en-US" sz="950" dirty="0"/>
          </a:p>
          <a:p>
            <a:pPr algn="ctr" indent="0" marL="0">
              <a:buNone/>
            </a:pPr>
            <a:r>
              <a:rPr lang="en-US" sz="850" dirty="0">
                <a:solidFill>
                  <a:srgbClr val="1B2430"/>
                </a:solidFill>
                <a:latin typeface="Calibri" pitchFamily="34" charset="0"/>
                <a:ea typeface="Calibri" pitchFamily="34" charset="-122"/>
                <a:cs typeface="Calibri" pitchFamily="34" charset="-120"/>
              </a:rPr>
              <a:t>↑ up-sample coarse → fine</a:t>
            </a:r>
            <a:endParaRPr lang="en-US" sz="950" dirty="0"/>
          </a:p>
          <a:p>
            <a:pPr algn="ctr" indent="0" marL="0">
              <a:buNone/>
            </a:pPr>
            <a:r>
              <a:rPr lang="en-US" sz="850" dirty="0">
                <a:solidFill>
                  <a:srgbClr val="1B2430"/>
                </a:solidFill>
                <a:latin typeface="Calibri" pitchFamily="34" charset="0"/>
                <a:ea typeface="Calibri" pitchFamily="34" charset="-122"/>
                <a:cs typeface="Calibri" pitchFamily="34" charset="-120"/>
              </a:rPr>
              <a:t>↓ down-sample fine → coarse</a:t>
            </a:r>
            <a:endParaRPr lang="en-US" sz="950" dirty="0"/>
          </a:p>
          <a:p>
            <a:pPr algn="ctr" indent="0" marL="0">
              <a:buNone/>
            </a:pPr>
            <a:r>
              <a:rPr lang="en-US" sz="850" dirty="0">
                <a:solidFill>
                  <a:srgbClr val="1B2430"/>
                </a:solidFill>
                <a:latin typeface="Calibri" pitchFamily="34" charset="0"/>
                <a:ea typeface="Calibri" pitchFamily="34" charset="-122"/>
                <a:cs typeface="Calibri" pitchFamily="34" charset="-120"/>
              </a:rPr>
              <a:t>= keep (same level)</a:t>
            </a:r>
            <a:endParaRPr lang="en-US" sz="950" dirty="0"/>
          </a:p>
          <a:p>
            <a:pPr algn="ctr" indent="0" marL="0">
              <a:buNone/>
            </a:pPr>
            <a:r>
              <a:rPr lang="en-US" sz="850" dirty="0">
                <a:solidFill>
                  <a:srgbClr val="1B2430"/>
                </a:solidFill>
                <a:latin typeface="Calibri" pitchFamily="34" charset="0"/>
                <a:ea typeface="Calibri" pitchFamily="34" charset="-122"/>
                <a:cs typeface="Calibri" pitchFamily="34" charset="-120"/>
              </a:rPr>
              <a:t>then sum per level</a:t>
            </a:r>
            <a:endParaRPr lang="en-US" sz="950" dirty="0"/>
          </a:p>
        </p:txBody>
      </p:sp>
      <p:sp>
        <p:nvSpPr>
          <p:cNvPr id="384" name="Shape 382"/>
          <p:cNvSpPr/>
          <p:nvPr/>
        </p:nvSpPr>
        <p:spPr>
          <a:xfrm>
            <a:off x="2468880" y="2606040"/>
            <a:ext cx="3154680" cy="0"/>
          </a:xfrm>
          <a:prstGeom prst="line">
            <a:avLst/>
          </a:prstGeom>
          <a:noFill/>
          <a:ln w="12700">
            <a:solidFill>
              <a:srgbClr val="2E86AB">
                <a:alpha val="70000"/>
              </a:srgbClr>
            </a:solidFill>
            <a:prstDash val="solid"/>
          </a:ln>
        </p:spPr>
      </p:sp>
      <p:sp>
        <p:nvSpPr>
          <p:cNvPr id="385" name="Shape 383"/>
          <p:cNvSpPr/>
          <p:nvPr/>
        </p:nvSpPr>
        <p:spPr>
          <a:xfrm>
            <a:off x="7086600" y="2606040"/>
            <a:ext cx="1645920" cy="0"/>
          </a:xfrm>
          <a:prstGeom prst="line">
            <a:avLst/>
          </a:prstGeom>
          <a:noFill/>
          <a:ln w="12700">
            <a:solidFill>
              <a:srgbClr val="2E86AB">
                <a:alpha val="70000"/>
              </a:srgbClr>
            </a:solidFill>
            <a:prstDash val="solid"/>
            <a:tailEnd type="triangle"/>
          </a:ln>
        </p:spPr>
      </p:sp>
      <p:sp>
        <p:nvSpPr>
          <p:cNvPr id="386" name="Shape 384"/>
          <p:cNvSpPr/>
          <p:nvPr/>
        </p:nvSpPr>
        <p:spPr>
          <a:xfrm>
            <a:off x="2468880" y="2606040"/>
            <a:ext cx="3154680" cy="1143000"/>
          </a:xfrm>
          <a:prstGeom prst="line">
            <a:avLst/>
          </a:prstGeom>
          <a:noFill/>
          <a:ln w="12700">
            <a:solidFill>
              <a:srgbClr val="2E86AB">
                <a:alpha val="70000"/>
              </a:srgbClr>
            </a:solidFill>
            <a:prstDash val="solid"/>
          </a:ln>
        </p:spPr>
      </p:sp>
      <p:sp>
        <p:nvSpPr>
          <p:cNvPr id="387" name="Shape 385"/>
          <p:cNvSpPr/>
          <p:nvPr/>
        </p:nvSpPr>
        <p:spPr>
          <a:xfrm>
            <a:off x="7086600" y="2606040"/>
            <a:ext cx="1645920" cy="1143000"/>
          </a:xfrm>
          <a:prstGeom prst="line">
            <a:avLst/>
          </a:prstGeom>
          <a:noFill/>
          <a:ln w="12700">
            <a:solidFill>
              <a:srgbClr val="2E86AB">
                <a:alpha val="70000"/>
              </a:srgbClr>
            </a:solidFill>
            <a:prstDash val="solid"/>
            <a:tailEnd type="triangle"/>
          </a:ln>
        </p:spPr>
      </p:sp>
      <p:sp>
        <p:nvSpPr>
          <p:cNvPr id="388" name="Shape 386"/>
          <p:cNvSpPr/>
          <p:nvPr/>
        </p:nvSpPr>
        <p:spPr>
          <a:xfrm>
            <a:off x="2468880" y="2606040"/>
            <a:ext cx="3154680" cy="2286000"/>
          </a:xfrm>
          <a:prstGeom prst="line">
            <a:avLst/>
          </a:prstGeom>
          <a:noFill/>
          <a:ln w="12700">
            <a:solidFill>
              <a:srgbClr val="2E86AB">
                <a:alpha val="70000"/>
              </a:srgbClr>
            </a:solidFill>
            <a:prstDash val="solid"/>
          </a:ln>
        </p:spPr>
      </p:sp>
      <p:sp>
        <p:nvSpPr>
          <p:cNvPr id="389" name="Shape 387"/>
          <p:cNvSpPr/>
          <p:nvPr/>
        </p:nvSpPr>
        <p:spPr>
          <a:xfrm>
            <a:off x="7086600" y="2606040"/>
            <a:ext cx="1645920" cy="2286000"/>
          </a:xfrm>
          <a:prstGeom prst="line">
            <a:avLst/>
          </a:prstGeom>
          <a:noFill/>
          <a:ln w="12700">
            <a:solidFill>
              <a:srgbClr val="2E86AB">
                <a:alpha val="70000"/>
              </a:srgbClr>
            </a:solidFill>
            <a:prstDash val="solid"/>
            <a:tailEnd type="triangle"/>
          </a:ln>
        </p:spPr>
      </p:sp>
      <p:sp>
        <p:nvSpPr>
          <p:cNvPr id="390" name="Shape 388"/>
          <p:cNvSpPr/>
          <p:nvPr/>
        </p:nvSpPr>
        <p:spPr>
          <a:xfrm flipV="1">
            <a:off x="2468880" y="2606040"/>
            <a:ext cx="3154680" cy="1143000"/>
          </a:xfrm>
          <a:prstGeom prst="line">
            <a:avLst/>
          </a:prstGeom>
          <a:noFill/>
          <a:ln w="12700">
            <a:solidFill>
              <a:srgbClr val="E07A2F">
                <a:alpha val="70000"/>
              </a:srgbClr>
            </a:solidFill>
            <a:prstDash val="solid"/>
          </a:ln>
        </p:spPr>
      </p:sp>
      <p:sp>
        <p:nvSpPr>
          <p:cNvPr id="391" name="Shape 389"/>
          <p:cNvSpPr/>
          <p:nvPr/>
        </p:nvSpPr>
        <p:spPr>
          <a:xfrm flipV="1">
            <a:off x="7086600" y="2606040"/>
            <a:ext cx="1645920" cy="1143000"/>
          </a:xfrm>
          <a:prstGeom prst="line">
            <a:avLst/>
          </a:prstGeom>
          <a:noFill/>
          <a:ln w="12700">
            <a:solidFill>
              <a:srgbClr val="E07A2F">
                <a:alpha val="70000"/>
              </a:srgbClr>
            </a:solidFill>
            <a:prstDash val="solid"/>
            <a:tailEnd type="triangle"/>
          </a:ln>
        </p:spPr>
      </p:sp>
      <p:sp>
        <p:nvSpPr>
          <p:cNvPr id="392" name="Shape 390"/>
          <p:cNvSpPr/>
          <p:nvPr/>
        </p:nvSpPr>
        <p:spPr>
          <a:xfrm>
            <a:off x="2468880" y="3749040"/>
            <a:ext cx="3154680" cy="0"/>
          </a:xfrm>
          <a:prstGeom prst="line">
            <a:avLst/>
          </a:prstGeom>
          <a:noFill/>
          <a:ln w="12700">
            <a:solidFill>
              <a:srgbClr val="E07A2F">
                <a:alpha val="70000"/>
              </a:srgbClr>
            </a:solidFill>
            <a:prstDash val="solid"/>
          </a:ln>
        </p:spPr>
      </p:sp>
      <p:sp>
        <p:nvSpPr>
          <p:cNvPr id="393" name="Shape 391"/>
          <p:cNvSpPr/>
          <p:nvPr/>
        </p:nvSpPr>
        <p:spPr>
          <a:xfrm>
            <a:off x="7086600" y="3749040"/>
            <a:ext cx="1645920" cy="0"/>
          </a:xfrm>
          <a:prstGeom prst="line">
            <a:avLst/>
          </a:prstGeom>
          <a:noFill/>
          <a:ln w="12700">
            <a:solidFill>
              <a:srgbClr val="E07A2F">
                <a:alpha val="70000"/>
              </a:srgbClr>
            </a:solidFill>
            <a:prstDash val="solid"/>
            <a:tailEnd type="triangle"/>
          </a:ln>
        </p:spPr>
      </p:sp>
      <p:sp>
        <p:nvSpPr>
          <p:cNvPr id="394" name="Shape 392"/>
          <p:cNvSpPr/>
          <p:nvPr/>
        </p:nvSpPr>
        <p:spPr>
          <a:xfrm>
            <a:off x="2468880" y="3749040"/>
            <a:ext cx="3154680" cy="1143000"/>
          </a:xfrm>
          <a:prstGeom prst="line">
            <a:avLst/>
          </a:prstGeom>
          <a:noFill/>
          <a:ln w="12700">
            <a:solidFill>
              <a:srgbClr val="E07A2F">
                <a:alpha val="70000"/>
              </a:srgbClr>
            </a:solidFill>
            <a:prstDash val="solid"/>
          </a:ln>
        </p:spPr>
      </p:sp>
      <p:sp>
        <p:nvSpPr>
          <p:cNvPr id="395" name="Shape 393"/>
          <p:cNvSpPr/>
          <p:nvPr/>
        </p:nvSpPr>
        <p:spPr>
          <a:xfrm>
            <a:off x="7086600" y="3749040"/>
            <a:ext cx="1645920" cy="1143000"/>
          </a:xfrm>
          <a:prstGeom prst="line">
            <a:avLst/>
          </a:prstGeom>
          <a:noFill/>
          <a:ln w="12700">
            <a:solidFill>
              <a:srgbClr val="E07A2F">
                <a:alpha val="70000"/>
              </a:srgbClr>
            </a:solidFill>
            <a:prstDash val="solid"/>
            <a:tailEnd type="triangle"/>
          </a:ln>
        </p:spPr>
      </p:sp>
      <p:sp>
        <p:nvSpPr>
          <p:cNvPr id="396" name="Shape 394"/>
          <p:cNvSpPr/>
          <p:nvPr/>
        </p:nvSpPr>
        <p:spPr>
          <a:xfrm flipV="1">
            <a:off x="2468880" y="2606040"/>
            <a:ext cx="3154680" cy="2286000"/>
          </a:xfrm>
          <a:prstGeom prst="line">
            <a:avLst/>
          </a:prstGeom>
          <a:noFill/>
          <a:ln w="12700">
            <a:solidFill>
              <a:srgbClr val="1F7A4D">
                <a:alpha val="70000"/>
              </a:srgbClr>
            </a:solidFill>
            <a:prstDash val="solid"/>
          </a:ln>
        </p:spPr>
      </p:sp>
      <p:sp>
        <p:nvSpPr>
          <p:cNvPr id="397" name="Shape 395"/>
          <p:cNvSpPr/>
          <p:nvPr/>
        </p:nvSpPr>
        <p:spPr>
          <a:xfrm flipV="1">
            <a:off x="7086600" y="2606040"/>
            <a:ext cx="1645920" cy="2286000"/>
          </a:xfrm>
          <a:prstGeom prst="line">
            <a:avLst/>
          </a:prstGeom>
          <a:noFill/>
          <a:ln w="12700">
            <a:solidFill>
              <a:srgbClr val="1F7A4D">
                <a:alpha val="70000"/>
              </a:srgbClr>
            </a:solidFill>
            <a:prstDash val="solid"/>
            <a:tailEnd type="triangle"/>
          </a:ln>
        </p:spPr>
      </p:sp>
      <p:sp>
        <p:nvSpPr>
          <p:cNvPr id="398" name="Shape 396"/>
          <p:cNvSpPr/>
          <p:nvPr/>
        </p:nvSpPr>
        <p:spPr>
          <a:xfrm flipV="1">
            <a:off x="2468880" y="3749040"/>
            <a:ext cx="3154680" cy="1143000"/>
          </a:xfrm>
          <a:prstGeom prst="line">
            <a:avLst/>
          </a:prstGeom>
          <a:noFill/>
          <a:ln w="12700">
            <a:solidFill>
              <a:srgbClr val="1F7A4D">
                <a:alpha val="70000"/>
              </a:srgbClr>
            </a:solidFill>
            <a:prstDash val="solid"/>
          </a:ln>
        </p:spPr>
      </p:sp>
      <p:sp>
        <p:nvSpPr>
          <p:cNvPr id="399" name="Shape 397"/>
          <p:cNvSpPr/>
          <p:nvPr/>
        </p:nvSpPr>
        <p:spPr>
          <a:xfrm flipV="1">
            <a:off x="7086600" y="3749040"/>
            <a:ext cx="1645920" cy="1143000"/>
          </a:xfrm>
          <a:prstGeom prst="line">
            <a:avLst/>
          </a:prstGeom>
          <a:noFill/>
          <a:ln w="12700">
            <a:solidFill>
              <a:srgbClr val="1F7A4D">
                <a:alpha val="70000"/>
              </a:srgbClr>
            </a:solidFill>
            <a:prstDash val="solid"/>
            <a:tailEnd type="triangle"/>
          </a:ln>
        </p:spPr>
      </p:sp>
      <p:sp>
        <p:nvSpPr>
          <p:cNvPr id="400" name="Shape 398"/>
          <p:cNvSpPr/>
          <p:nvPr/>
        </p:nvSpPr>
        <p:spPr>
          <a:xfrm>
            <a:off x="2468880" y="4892040"/>
            <a:ext cx="3154680" cy="0"/>
          </a:xfrm>
          <a:prstGeom prst="line">
            <a:avLst/>
          </a:prstGeom>
          <a:noFill/>
          <a:ln w="12700">
            <a:solidFill>
              <a:srgbClr val="1F7A4D">
                <a:alpha val="70000"/>
              </a:srgbClr>
            </a:solidFill>
            <a:prstDash val="solid"/>
          </a:ln>
        </p:spPr>
      </p:sp>
      <p:sp>
        <p:nvSpPr>
          <p:cNvPr id="401" name="Shape 399"/>
          <p:cNvSpPr/>
          <p:nvPr/>
        </p:nvSpPr>
        <p:spPr>
          <a:xfrm>
            <a:off x="7086600" y="4892040"/>
            <a:ext cx="1645920" cy="0"/>
          </a:xfrm>
          <a:prstGeom prst="line">
            <a:avLst/>
          </a:prstGeom>
          <a:noFill/>
          <a:ln w="12700">
            <a:solidFill>
              <a:srgbClr val="1F7A4D">
                <a:alpha val="70000"/>
              </a:srgbClr>
            </a:solidFill>
            <a:prstDash val="solid"/>
            <a:tailEnd type="triangle"/>
          </a:ln>
        </p:spPr>
      </p:sp>
      <p:sp>
        <p:nvSpPr>
          <p:cNvPr id="402" name="Text 400"/>
          <p:cNvSpPr txBox="1"/>
          <p:nvPr/>
        </p:nvSpPr>
        <p:spPr>
          <a:xfrm>
            <a:off x="548640" y="5596128"/>
            <a:ext cx="11064240" cy="566928"/>
          </a:xfrm>
          <a:prstGeom prst="rect">
            <a:avLst/>
          </a:prstGeom>
          <a:noFill/>
          <a:ln/>
        </p:spPr>
        <p:txBody>
          <a:bodyPr wrap="square" lIns="0" tIns="0" rIns="0" bIns="0" rtlCol="0" anchor="t"/>
          <a:lstStyle/>
          <a:p>
            <a:pPr indent="0" marL="0">
              <a:buNone/>
            </a:pPr>
            <a:r>
              <a:rPr lang="en-US" sz="950" b="1" dirty="0">
                <a:solidFill>
                  <a:srgbClr val="0B1F3A"/>
                </a:solidFill>
                <a:latin typeface="Calibri" pitchFamily="34" charset="0"/>
                <a:ea typeface="Calibri" pitchFamily="34" charset="-122"/>
                <a:cs typeface="Calibri" pitchFamily="34" charset="-120"/>
              </a:rPr>
              <a:t>Follow the colours. </a:t>
            </a:r>
            <a:pPr indent="0" marL="0">
              <a:buNone/>
            </a:pPr>
            <a:r>
              <a:rPr lang="en-US" sz="950" dirty="0">
                <a:solidFill>
                  <a:srgbClr val="1B2430"/>
                </a:solidFill>
                <a:latin typeface="Calibri" pitchFamily="34" charset="0"/>
                <a:ea typeface="Calibri" pitchFamily="34" charset="-122"/>
                <a:cs typeface="Calibri" pitchFamily="34" charset="-120"/>
              </a:rPr>
              <a:t>The blue 160 m space cell arrives in the fine map as an 8 × 8 block of 20 m cells; the green 3 × 3 precision patch (60 m) arrives in the coarse map as a fraction of one 160 m cell; the orange time cell lands as 2 × 2 / 4 × 4. After the sum, every operator in block k+1 starts from all three views. Repeat N times — the receptive field of the fine path grows to the whole frame while it keeps 20 m grain.</a:t>
            </a:r>
            <a:endParaRPr lang="en-US" sz="950" dirty="0"/>
          </a:p>
        </p:txBody>
      </p:sp>
      <p:sp>
        <p:nvSpPr>
          <p:cNvPr id="403" name="Text 401"/>
          <p:cNvSpPr txBox="1"/>
          <p:nvPr/>
        </p:nvSpPr>
        <p:spPr>
          <a:xfrm>
            <a:off x="9829800" y="4782312"/>
            <a:ext cx="1463040" cy="228600"/>
          </a:xfrm>
          <a:prstGeom prst="rect">
            <a:avLst/>
          </a:prstGeom>
          <a:noFill/>
          <a:ln/>
        </p:spPr>
        <p:txBody>
          <a:bodyPr wrap="square" lIns="0" tIns="0" rIns="0" bIns="0" rtlCol="0" anchor="ctr"/>
          <a:lstStyle/>
          <a:p>
            <a:pPr algn="ctr" indent="0" marL="0">
              <a:buNone/>
            </a:pPr>
            <a:r>
              <a:rPr lang="en-US" sz="900" b="1" dirty="0">
                <a:solidFill>
                  <a:srgbClr val="6B7A8F"/>
                </a:solidFill>
                <a:latin typeface="Calibri" pitchFamily="34" charset="0"/>
                <a:ea typeface="Calibri" pitchFamily="34" charset="-122"/>
                <a:cs typeface="Calibri" pitchFamily="34" charset="-120"/>
              </a:rPr>
              <a:t>× 15 blocks (we draw 4)</a:t>
            </a:r>
            <a:endParaRPr lang="en-US" sz="900" dirty="0"/>
          </a:p>
        </p:txBody>
      </p:sp>
      <p:sp>
        <p:nvSpPr>
          <p:cNvPr id="404" name="Text 40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STP, step 4 of 4 — back to 10 m, 64-D per pixel</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After block N: the ½ L maps are resampled to the precision resolution and then to L; each output pixel is a unit vector on S⁶³</a:t>
            </a:r>
            <a:endParaRPr lang="en-US" sz="1250" dirty="0"/>
          </a:p>
        </p:txBody>
      </p:sp>
      <p:sp>
        <p:nvSpPr>
          <p:cNvPr id="4" name="Shape 2"/>
          <p:cNvSpPr/>
          <p:nvPr/>
        </p:nvSpPr>
        <p:spPr>
          <a:xfrm>
            <a:off x="548640" y="1371600"/>
            <a:ext cx="2008022" cy="566928"/>
          </a:xfrm>
          <a:prstGeom prst="roundRect">
            <a:avLst>
              <a:gd name="adj" fmla="val 9677"/>
            </a:avLst>
          </a:prstGeom>
          <a:solidFill>
            <a:srgbClr val="F4F6F9"/>
          </a:solidFill>
          <a:ln w="9525">
            <a:solidFill>
              <a:srgbClr val="B8C4D3"/>
            </a:solidFill>
            <a:prstDash val="solid"/>
          </a:ln>
        </p:spPr>
      </p:sp>
      <p:sp>
        <p:nvSpPr>
          <p:cNvPr id="5" name="Text 3"/>
          <p:cNvSpPr txBox="1"/>
          <p:nvPr/>
        </p:nvSpPr>
        <p:spPr>
          <a:xfrm>
            <a:off x="640080"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many sources, native resolutions, dated frames</a:t>
            </a:r>
            <a:endParaRPr lang="en-US" sz="1050" dirty="0"/>
          </a:p>
        </p:txBody>
      </p:sp>
      <p:sp>
        <p:nvSpPr>
          <p:cNvPr id="6" name="Shape 4"/>
          <p:cNvSpPr/>
          <p:nvPr/>
        </p:nvSpPr>
        <p:spPr>
          <a:xfrm>
            <a:off x="2593238" y="1563624"/>
            <a:ext cx="182880" cy="182880"/>
          </a:xfrm>
          <a:prstGeom prst="rightArrow">
            <a:avLst/>
          </a:prstGeom>
          <a:solidFill>
            <a:srgbClr val="B8C4D3"/>
          </a:solidFill>
          <a:ln w="12700">
            <a:solidFill>
              <a:srgbClr val="333333"/>
            </a:solidFill>
            <a:prstDash val="solid"/>
          </a:ln>
        </p:spPr>
      </p:sp>
      <p:sp>
        <p:nvSpPr>
          <p:cNvPr id="7" name="Shape 5"/>
          <p:cNvSpPr/>
          <p:nvPr/>
        </p:nvSpPr>
        <p:spPr>
          <a:xfrm>
            <a:off x="2812694" y="1371600"/>
            <a:ext cx="2008022" cy="566928"/>
          </a:xfrm>
          <a:prstGeom prst="roundRect">
            <a:avLst>
              <a:gd name="adj" fmla="val 9677"/>
            </a:avLst>
          </a:prstGeom>
          <a:solidFill>
            <a:srgbClr val="F4F6F9"/>
          </a:solidFill>
          <a:ln w="9525">
            <a:solidFill>
              <a:srgbClr val="B8C4D3"/>
            </a:solidFill>
            <a:prstDash val="solid"/>
          </a:ln>
        </p:spPr>
      </p:sp>
      <p:sp>
        <p:nvSpPr>
          <p:cNvPr id="8" name="Text 6"/>
          <p:cNvSpPr txBox="1"/>
          <p:nvPr/>
        </p:nvSpPr>
        <p:spPr>
          <a:xfrm>
            <a:off x="2904134"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Input projectors</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 ½ L feature maps (64 px @ 20 m)</a:t>
            </a:r>
            <a:endParaRPr lang="en-US" sz="1050" dirty="0"/>
          </a:p>
        </p:txBody>
      </p:sp>
      <p:sp>
        <p:nvSpPr>
          <p:cNvPr id="9" name="Shape 7"/>
          <p:cNvSpPr/>
          <p:nvPr/>
        </p:nvSpPr>
        <p:spPr>
          <a:xfrm>
            <a:off x="4857293" y="1563624"/>
            <a:ext cx="182880" cy="182880"/>
          </a:xfrm>
          <a:prstGeom prst="rightArrow">
            <a:avLst/>
          </a:prstGeom>
          <a:solidFill>
            <a:srgbClr val="B8C4D3"/>
          </a:solidFill>
          <a:ln w="12700">
            <a:solidFill>
              <a:srgbClr val="333333"/>
            </a:solidFill>
            <a:prstDash val="solid"/>
          </a:ln>
        </p:spPr>
      </p:sp>
      <p:sp>
        <p:nvSpPr>
          <p:cNvPr id="10" name="Shape 8"/>
          <p:cNvSpPr/>
          <p:nvPr/>
        </p:nvSpPr>
        <p:spPr>
          <a:xfrm>
            <a:off x="5076749" y="1371600"/>
            <a:ext cx="2008022" cy="566928"/>
          </a:xfrm>
          <a:prstGeom prst="roundRect">
            <a:avLst>
              <a:gd name="adj" fmla="val 9677"/>
            </a:avLst>
          </a:prstGeom>
          <a:solidFill>
            <a:srgbClr val="F4F6F9"/>
          </a:solidFill>
          <a:ln w="9525">
            <a:solidFill>
              <a:srgbClr val="B8C4D3"/>
            </a:solidFill>
            <a:prstDash val="solid"/>
          </a:ln>
        </p:spPr>
      </p:sp>
      <p:sp>
        <p:nvSpPr>
          <p:cNvPr id="11" name="Text 9"/>
          <p:cNvSpPr txBox="1"/>
          <p:nvPr/>
        </p:nvSpPr>
        <p:spPr>
          <a:xfrm>
            <a:off x="5168189"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STP block</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space ⅟₁₆ L · time ⅛ L · precision ½ L</a:t>
            </a:r>
            <a:endParaRPr lang="en-US" sz="1050" dirty="0"/>
          </a:p>
        </p:txBody>
      </p:sp>
      <p:sp>
        <p:nvSpPr>
          <p:cNvPr id="12" name="Shape 10"/>
          <p:cNvSpPr/>
          <p:nvPr/>
        </p:nvSpPr>
        <p:spPr>
          <a:xfrm>
            <a:off x="7121347" y="1563624"/>
            <a:ext cx="182880" cy="182880"/>
          </a:xfrm>
          <a:prstGeom prst="rightArrow">
            <a:avLst/>
          </a:prstGeom>
          <a:solidFill>
            <a:srgbClr val="B8C4D3"/>
          </a:solidFill>
          <a:ln w="12700">
            <a:solidFill>
              <a:srgbClr val="333333"/>
            </a:solidFill>
            <a:prstDash val="solid"/>
          </a:ln>
        </p:spPr>
      </p:sp>
      <p:sp>
        <p:nvSpPr>
          <p:cNvPr id="13" name="Shape 11"/>
          <p:cNvSpPr/>
          <p:nvPr/>
        </p:nvSpPr>
        <p:spPr>
          <a:xfrm>
            <a:off x="7340803" y="1371600"/>
            <a:ext cx="2008022" cy="566928"/>
          </a:xfrm>
          <a:prstGeom prst="roundRect">
            <a:avLst>
              <a:gd name="adj" fmla="val 9677"/>
            </a:avLst>
          </a:prstGeom>
          <a:solidFill>
            <a:srgbClr val="F4F6F9"/>
          </a:solidFill>
          <a:ln w="9525">
            <a:solidFill>
              <a:srgbClr val="B8C4D3"/>
            </a:solidFill>
            <a:prstDash val="solid"/>
          </a:ln>
        </p:spPr>
      </p:sp>
      <p:sp>
        <p:nvSpPr>
          <p:cNvPr id="14" name="Text 12"/>
          <p:cNvSpPr txBox="1"/>
          <p:nvPr/>
        </p:nvSpPr>
        <p:spPr>
          <a:xfrm>
            <a:off x="7432243" y="1371600"/>
            <a:ext cx="1825142" cy="56692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Pyramid exchange</a:t>
            </a:r>
            <a:endParaRPr lang="en-US" sz="1050" dirty="0"/>
          </a:p>
          <a:p>
            <a:pPr indent="0" marL="0">
              <a:buNone/>
            </a:pPr>
            <a:r>
              <a:rPr lang="en-US" sz="800" dirty="0">
                <a:solidFill>
                  <a:srgbClr val="6B7A8F"/>
                </a:solidFill>
                <a:latin typeface="Calibri" pitchFamily="34" charset="0"/>
                <a:ea typeface="Calibri" pitchFamily="34" charset="-122"/>
                <a:cs typeface="Calibri" pitchFamily="34" charset="-120"/>
              </a:rPr>
              <a:t>every operator → every operator, × N</a:t>
            </a:r>
            <a:endParaRPr lang="en-US" sz="1050" dirty="0"/>
          </a:p>
        </p:txBody>
      </p:sp>
      <p:sp>
        <p:nvSpPr>
          <p:cNvPr id="15" name="Shape 13"/>
          <p:cNvSpPr/>
          <p:nvPr/>
        </p:nvSpPr>
        <p:spPr>
          <a:xfrm>
            <a:off x="9385402" y="1563624"/>
            <a:ext cx="182880" cy="182880"/>
          </a:xfrm>
          <a:prstGeom prst="rightArrow">
            <a:avLst/>
          </a:prstGeom>
          <a:solidFill>
            <a:srgbClr val="B8C4D3"/>
          </a:solidFill>
          <a:ln w="12700">
            <a:solidFill>
              <a:srgbClr val="333333"/>
            </a:solidFill>
            <a:prstDash val="solid"/>
          </a:ln>
        </p:spPr>
      </p:sp>
      <p:sp>
        <p:nvSpPr>
          <p:cNvPr id="16" name="Shape 14"/>
          <p:cNvSpPr/>
          <p:nvPr/>
        </p:nvSpPr>
        <p:spPr>
          <a:xfrm>
            <a:off x="9604858" y="1371600"/>
            <a:ext cx="2008022" cy="566928"/>
          </a:xfrm>
          <a:prstGeom prst="roundRect">
            <a:avLst>
              <a:gd name="adj" fmla="val 9677"/>
            </a:avLst>
          </a:prstGeom>
          <a:solidFill>
            <a:srgbClr val="0B1F3A"/>
          </a:solidFill>
          <a:ln w="9525">
            <a:solidFill>
              <a:srgbClr val="0B1F3A"/>
            </a:solidFill>
            <a:prstDash val="solid"/>
          </a:ln>
        </p:spPr>
      </p:sp>
      <p:sp>
        <p:nvSpPr>
          <p:cNvPr id="17" name="Text 15"/>
          <p:cNvSpPr txBox="1"/>
          <p:nvPr/>
        </p:nvSpPr>
        <p:spPr>
          <a:xfrm>
            <a:off x="9696298" y="1371600"/>
            <a:ext cx="1825142" cy="56692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Output head</a:t>
            </a:r>
            <a:endParaRPr lang="en-US" sz="1050" dirty="0"/>
          </a:p>
          <a:p>
            <a:pPr indent="0" marL="0">
              <a:buNone/>
            </a:pPr>
            <a:r>
              <a:rPr lang="en-US" sz="800" dirty="0">
                <a:solidFill>
                  <a:srgbClr val="CADCFC"/>
                </a:solidFill>
                <a:latin typeface="Calibri" pitchFamily="34" charset="0"/>
                <a:ea typeface="Calibri" pitchFamily="34" charset="-122"/>
                <a:cs typeface="Calibri" pitchFamily="34" charset="-120"/>
              </a:rPr>
              <a:t>→ L (10 m), 64-D unit vector</a:t>
            </a:r>
            <a:endParaRPr lang="en-US" sz="1050" dirty="0"/>
          </a:p>
        </p:txBody>
      </p:sp>
      <p:sp>
        <p:nvSpPr>
          <p:cNvPr id="18" name="Text 16"/>
          <p:cNvSpPr txBox="1"/>
          <p:nvPr/>
        </p:nvSpPr>
        <p:spPr>
          <a:xfrm>
            <a:off x="548640" y="6172200"/>
            <a:ext cx="11064240" cy="256032"/>
          </a:xfrm>
          <a:prstGeom prst="rect">
            <a:avLst/>
          </a:prstGeom>
          <a:noFill/>
          <a:ln/>
        </p:spPr>
        <p:txBody>
          <a:bodyPr wrap="square" lIns="0" tIns="0" rIns="0" bIns="0" rtlCol="0" anchor="ctr"/>
          <a:lstStyle/>
          <a:p>
            <a:pPr indent="0" marL="0">
              <a:buNone/>
            </a:pPr>
            <a:r>
              <a:rPr lang="en-US" sz="900" i="1" dirty="0">
                <a:solidFill>
                  <a:srgbClr val="6B7A8F"/>
                </a:solidFill>
                <a:latin typeface="Calibri" pitchFamily="34" charset="0"/>
                <a:ea typeface="Calibri" pitchFamily="34" charset="-122"/>
                <a:cs typeface="Calibri" pitchFamily="34" charset="-120"/>
              </a:rPr>
              <a:t>L = side length of the square input frame in pixels. L = 128 px @ 10 m (1.28 km) is the paper's own frame (supplement S2.1, S8.2); the real depth is N = 15 blocks, we draw 4. Frame counts per year are typical values, not from the paper.</a:t>
            </a:r>
            <a:endParaRPr lang="en-US" sz="900" dirty="0"/>
          </a:p>
        </p:txBody>
      </p:sp>
      <p:sp>
        <p:nvSpPr>
          <p:cNvPr id="19" name="Shape 17"/>
          <p:cNvSpPr/>
          <p:nvPr/>
        </p:nvSpPr>
        <p:spPr>
          <a:xfrm>
            <a:off x="731520" y="2240280"/>
            <a:ext cx="960120" cy="960120"/>
          </a:xfrm>
          <a:prstGeom prst="rect">
            <a:avLst/>
          </a:prstGeom>
          <a:solidFill>
            <a:srgbClr val="FFFFFF"/>
          </a:solidFill>
          <a:ln w="15875">
            <a:solidFill>
              <a:srgbClr val="2E86AB"/>
            </a:solidFill>
            <a:prstDash val="solid"/>
          </a:ln>
        </p:spPr>
      </p:sp>
      <p:sp>
        <p:nvSpPr>
          <p:cNvPr id="20" name="Shape 18"/>
          <p:cNvSpPr/>
          <p:nvPr/>
        </p:nvSpPr>
        <p:spPr>
          <a:xfrm>
            <a:off x="851535" y="2240280"/>
            <a:ext cx="0" cy="960120"/>
          </a:xfrm>
          <a:prstGeom prst="line">
            <a:avLst/>
          </a:prstGeom>
          <a:noFill/>
          <a:ln w="7620">
            <a:solidFill>
              <a:srgbClr val="B8C4D3"/>
            </a:solidFill>
            <a:prstDash val="solid"/>
          </a:ln>
        </p:spPr>
      </p:sp>
      <p:sp>
        <p:nvSpPr>
          <p:cNvPr id="21" name="Shape 19"/>
          <p:cNvSpPr/>
          <p:nvPr/>
        </p:nvSpPr>
        <p:spPr>
          <a:xfrm>
            <a:off x="731520" y="2360295"/>
            <a:ext cx="960120" cy="0"/>
          </a:xfrm>
          <a:prstGeom prst="line">
            <a:avLst/>
          </a:prstGeom>
          <a:noFill/>
          <a:ln w="7620">
            <a:solidFill>
              <a:srgbClr val="B8C4D3"/>
            </a:solidFill>
            <a:prstDash val="solid"/>
          </a:ln>
        </p:spPr>
      </p:sp>
      <p:sp>
        <p:nvSpPr>
          <p:cNvPr id="22" name="Shape 20"/>
          <p:cNvSpPr/>
          <p:nvPr/>
        </p:nvSpPr>
        <p:spPr>
          <a:xfrm>
            <a:off x="971550" y="2240280"/>
            <a:ext cx="0" cy="960120"/>
          </a:xfrm>
          <a:prstGeom prst="line">
            <a:avLst/>
          </a:prstGeom>
          <a:noFill/>
          <a:ln w="7620">
            <a:solidFill>
              <a:srgbClr val="B8C4D3"/>
            </a:solidFill>
            <a:prstDash val="solid"/>
          </a:ln>
        </p:spPr>
      </p:sp>
      <p:sp>
        <p:nvSpPr>
          <p:cNvPr id="23" name="Shape 21"/>
          <p:cNvSpPr/>
          <p:nvPr/>
        </p:nvSpPr>
        <p:spPr>
          <a:xfrm>
            <a:off x="731520" y="2480310"/>
            <a:ext cx="960120" cy="0"/>
          </a:xfrm>
          <a:prstGeom prst="line">
            <a:avLst/>
          </a:prstGeom>
          <a:noFill/>
          <a:ln w="7620">
            <a:solidFill>
              <a:srgbClr val="B8C4D3"/>
            </a:solidFill>
            <a:prstDash val="solid"/>
          </a:ln>
        </p:spPr>
      </p:sp>
      <p:sp>
        <p:nvSpPr>
          <p:cNvPr id="24" name="Shape 22"/>
          <p:cNvSpPr/>
          <p:nvPr/>
        </p:nvSpPr>
        <p:spPr>
          <a:xfrm>
            <a:off x="1091565" y="2240280"/>
            <a:ext cx="0" cy="960120"/>
          </a:xfrm>
          <a:prstGeom prst="line">
            <a:avLst/>
          </a:prstGeom>
          <a:noFill/>
          <a:ln w="7620">
            <a:solidFill>
              <a:srgbClr val="B8C4D3"/>
            </a:solidFill>
            <a:prstDash val="solid"/>
          </a:ln>
        </p:spPr>
      </p:sp>
      <p:sp>
        <p:nvSpPr>
          <p:cNvPr id="25" name="Shape 23"/>
          <p:cNvSpPr/>
          <p:nvPr/>
        </p:nvSpPr>
        <p:spPr>
          <a:xfrm>
            <a:off x="731520" y="2600325"/>
            <a:ext cx="960120" cy="0"/>
          </a:xfrm>
          <a:prstGeom prst="line">
            <a:avLst/>
          </a:prstGeom>
          <a:noFill/>
          <a:ln w="7620">
            <a:solidFill>
              <a:srgbClr val="B8C4D3"/>
            </a:solidFill>
            <a:prstDash val="solid"/>
          </a:ln>
        </p:spPr>
      </p:sp>
      <p:sp>
        <p:nvSpPr>
          <p:cNvPr id="26" name="Shape 24"/>
          <p:cNvSpPr/>
          <p:nvPr/>
        </p:nvSpPr>
        <p:spPr>
          <a:xfrm>
            <a:off x="1211580" y="2240280"/>
            <a:ext cx="0" cy="960120"/>
          </a:xfrm>
          <a:prstGeom prst="line">
            <a:avLst/>
          </a:prstGeom>
          <a:noFill/>
          <a:ln w="7620">
            <a:solidFill>
              <a:srgbClr val="B8C4D3"/>
            </a:solidFill>
            <a:prstDash val="solid"/>
          </a:ln>
        </p:spPr>
      </p:sp>
      <p:sp>
        <p:nvSpPr>
          <p:cNvPr id="27" name="Shape 25"/>
          <p:cNvSpPr/>
          <p:nvPr/>
        </p:nvSpPr>
        <p:spPr>
          <a:xfrm>
            <a:off x="731520" y="2720340"/>
            <a:ext cx="960120" cy="0"/>
          </a:xfrm>
          <a:prstGeom prst="line">
            <a:avLst/>
          </a:prstGeom>
          <a:noFill/>
          <a:ln w="7620">
            <a:solidFill>
              <a:srgbClr val="B8C4D3"/>
            </a:solidFill>
            <a:prstDash val="solid"/>
          </a:ln>
        </p:spPr>
      </p:sp>
      <p:sp>
        <p:nvSpPr>
          <p:cNvPr id="28" name="Shape 26"/>
          <p:cNvSpPr/>
          <p:nvPr/>
        </p:nvSpPr>
        <p:spPr>
          <a:xfrm>
            <a:off x="1331595" y="2240280"/>
            <a:ext cx="0" cy="960120"/>
          </a:xfrm>
          <a:prstGeom prst="line">
            <a:avLst/>
          </a:prstGeom>
          <a:noFill/>
          <a:ln w="7620">
            <a:solidFill>
              <a:srgbClr val="B8C4D3"/>
            </a:solidFill>
            <a:prstDash val="solid"/>
          </a:ln>
        </p:spPr>
      </p:sp>
      <p:sp>
        <p:nvSpPr>
          <p:cNvPr id="29" name="Shape 27"/>
          <p:cNvSpPr/>
          <p:nvPr/>
        </p:nvSpPr>
        <p:spPr>
          <a:xfrm>
            <a:off x="731520" y="2840355"/>
            <a:ext cx="960120" cy="0"/>
          </a:xfrm>
          <a:prstGeom prst="line">
            <a:avLst/>
          </a:prstGeom>
          <a:noFill/>
          <a:ln w="7620">
            <a:solidFill>
              <a:srgbClr val="B8C4D3"/>
            </a:solidFill>
            <a:prstDash val="solid"/>
          </a:ln>
        </p:spPr>
      </p:sp>
      <p:sp>
        <p:nvSpPr>
          <p:cNvPr id="30" name="Shape 28"/>
          <p:cNvSpPr/>
          <p:nvPr/>
        </p:nvSpPr>
        <p:spPr>
          <a:xfrm>
            <a:off x="1451610" y="2240280"/>
            <a:ext cx="0" cy="960120"/>
          </a:xfrm>
          <a:prstGeom prst="line">
            <a:avLst/>
          </a:prstGeom>
          <a:noFill/>
          <a:ln w="7620">
            <a:solidFill>
              <a:srgbClr val="B8C4D3"/>
            </a:solidFill>
            <a:prstDash val="solid"/>
          </a:ln>
        </p:spPr>
      </p:sp>
      <p:sp>
        <p:nvSpPr>
          <p:cNvPr id="31" name="Shape 29"/>
          <p:cNvSpPr/>
          <p:nvPr/>
        </p:nvSpPr>
        <p:spPr>
          <a:xfrm>
            <a:off x="731520" y="2960370"/>
            <a:ext cx="960120" cy="0"/>
          </a:xfrm>
          <a:prstGeom prst="line">
            <a:avLst/>
          </a:prstGeom>
          <a:noFill/>
          <a:ln w="7620">
            <a:solidFill>
              <a:srgbClr val="B8C4D3"/>
            </a:solidFill>
            <a:prstDash val="solid"/>
          </a:ln>
        </p:spPr>
      </p:sp>
      <p:sp>
        <p:nvSpPr>
          <p:cNvPr id="32" name="Shape 30"/>
          <p:cNvSpPr/>
          <p:nvPr/>
        </p:nvSpPr>
        <p:spPr>
          <a:xfrm>
            <a:off x="1571625" y="2240280"/>
            <a:ext cx="0" cy="960120"/>
          </a:xfrm>
          <a:prstGeom prst="line">
            <a:avLst/>
          </a:prstGeom>
          <a:noFill/>
          <a:ln w="7620">
            <a:solidFill>
              <a:srgbClr val="B8C4D3"/>
            </a:solidFill>
            <a:prstDash val="solid"/>
          </a:ln>
        </p:spPr>
      </p:sp>
      <p:sp>
        <p:nvSpPr>
          <p:cNvPr id="33" name="Shape 31"/>
          <p:cNvSpPr/>
          <p:nvPr/>
        </p:nvSpPr>
        <p:spPr>
          <a:xfrm>
            <a:off x="731520" y="3080385"/>
            <a:ext cx="960120" cy="0"/>
          </a:xfrm>
          <a:prstGeom prst="line">
            <a:avLst/>
          </a:prstGeom>
          <a:noFill/>
          <a:ln w="7620">
            <a:solidFill>
              <a:srgbClr val="B8C4D3"/>
            </a:solidFill>
            <a:prstDash val="solid"/>
          </a:ln>
        </p:spPr>
      </p:sp>
      <p:sp>
        <p:nvSpPr>
          <p:cNvPr id="34" name="Shape 32"/>
          <p:cNvSpPr/>
          <p:nvPr/>
        </p:nvSpPr>
        <p:spPr>
          <a:xfrm>
            <a:off x="1211580" y="2720340"/>
            <a:ext cx="120015" cy="120015"/>
          </a:xfrm>
          <a:prstGeom prst="rect">
            <a:avLst/>
          </a:prstGeom>
          <a:solidFill>
            <a:srgbClr val="2E86AB"/>
          </a:solidFill>
          <a:ln w="12700">
            <a:solidFill>
              <a:srgbClr val="2E86AB"/>
            </a:solidFill>
            <a:prstDash val="solid"/>
          </a:ln>
        </p:spPr>
      </p:sp>
      <p:sp>
        <p:nvSpPr>
          <p:cNvPr id="35" name="Text 33"/>
          <p:cNvSpPr txBox="1"/>
          <p:nvPr/>
        </p:nvSpPr>
        <p:spPr>
          <a:xfrm>
            <a:off x="457200" y="1929384"/>
            <a:ext cx="1508760" cy="256032"/>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block N · outputs</a:t>
            </a:r>
            <a:endParaRPr lang="en-US" sz="950" dirty="0"/>
          </a:p>
        </p:txBody>
      </p:sp>
      <p:sp>
        <p:nvSpPr>
          <p:cNvPr id="36" name="Shape 34"/>
          <p:cNvSpPr/>
          <p:nvPr/>
        </p:nvSpPr>
        <p:spPr>
          <a:xfrm>
            <a:off x="731520" y="3429000"/>
            <a:ext cx="960120" cy="960120"/>
          </a:xfrm>
          <a:prstGeom prst="rect">
            <a:avLst/>
          </a:prstGeom>
          <a:solidFill>
            <a:srgbClr val="FFFFFF"/>
          </a:solidFill>
          <a:ln w="15875">
            <a:solidFill>
              <a:srgbClr val="E07A2F"/>
            </a:solidFill>
            <a:prstDash val="solid"/>
          </a:ln>
        </p:spPr>
      </p:sp>
      <p:sp>
        <p:nvSpPr>
          <p:cNvPr id="37" name="Shape 35"/>
          <p:cNvSpPr/>
          <p:nvPr/>
        </p:nvSpPr>
        <p:spPr>
          <a:xfrm>
            <a:off x="791528" y="3429000"/>
            <a:ext cx="0" cy="960120"/>
          </a:xfrm>
          <a:prstGeom prst="line">
            <a:avLst/>
          </a:prstGeom>
          <a:noFill/>
          <a:ln w="5080">
            <a:solidFill>
              <a:srgbClr val="B8C4D3"/>
            </a:solidFill>
            <a:prstDash val="solid"/>
          </a:ln>
        </p:spPr>
      </p:sp>
      <p:sp>
        <p:nvSpPr>
          <p:cNvPr id="38" name="Shape 36"/>
          <p:cNvSpPr/>
          <p:nvPr/>
        </p:nvSpPr>
        <p:spPr>
          <a:xfrm>
            <a:off x="731520" y="3489008"/>
            <a:ext cx="960120" cy="0"/>
          </a:xfrm>
          <a:prstGeom prst="line">
            <a:avLst/>
          </a:prstGeom>
          <a:noFill/>
          <a:ln w="5080">
            <a:solidFill>
              <a:srgbClr val="B8C4D3"/>
            </a:solidFill>
            <a:prstDash val="solid"/>
          </a:ln>
        </p:spPr>
      </p:sp>
      <p:sp>
        <p:nvSpPr>
          <p:cNvPr id="39" name="Shape 37"/>
          <p:cNvSpPr/>
          <p:nvPr/>
        </p:nvSpPr>
        <p:spPr>
          <a:xfrm>
            <a:off x="851535" y="3429000"/>
            <a:ext cx="0" cy="960120"/>
          </a:xfrm>
          <a:prstGeom prst="line">
            <a:avLst/>
          </a:prstGeom>
          <a:noFill/>
          <a:ln w="5080">
            <a:solidFill>
              <a:srgbClr val="B8C4D3"/>
            </a:solidFill>
            <a:prstDash val="solid"/>
          </a:ln>
        </p:spPr>
      </p:sp>
      <p:sp>
        <p:nvSpPr>
          <p:cNvPr id="40" name="Shape 38"/>
          <p:cNvSpPr/>
          <p:nvPr/>
        </p:nvSpPr>
        <p:spPr>
          <a:xfrm>
            <a:off x="731520" y="3549015"/>
            <a:ext cx="960120" cy="0"/>
          </a:xfrm>
          <a:prstGeom prst="line">
            <a:avLst/>
          </a:prstGeom>
          <a:noFill/>
          <a:ln w="5080">
            <a:solidFill>
              <a:srgbClr val="B8C4D3"/>
            </a:solidFill>
            <a:prstDash val="solid"/>
          </a:ln>
        </p:spPr>
      </p:sp>
      <p:sp>
        <p:nvSpPr>
          <p:cNvPr id="41" name="Shape 39"/>
          <p:cNvSpPr/>
          <p:nvPr/>
        </p:nvSpPr>
        <p:spPr>
          <a:xfrm>
            <a:off x="911543" y="3429000"/>
            <a:ext cx="0" cy="960120"/>
          </a:xfrm>
          <a:prstGeom prst="line">
            <a:avLst/>
          </a:prstGeom>
          <a:noFill/>
          <a:ln w="5080">
            <a:solidFill>
              <a:srgbClr val="B8C4D3"/>
            </a:solidFill>
            <a:prstDash val="solid"/>
          </a:ln>
        </p:spPr>
      </p:sp>
      <p:sp>
        <p:nvSpPr>
          <p:cNvPr id="42" name="Shape 40"/>
          <p:cNvSpPr/>
          <p:nvPr/>
        </p:nvSpPr>
        <p:spPr>
          <a:xfrm>
            <a:off x="731520" y="3609023"/>
            <a:ext cx="960120" cy="0"/>
          </a:xfrm>
          <a:prstGeom prst="line">
            <a:avLst/>
          </a:prstGeom>
          <a:noFill/>
          <a:ln w="5080">
            <a:solidFill>
              <a:srgbClr val="B8C4D3"/>
            </a:solidFill>
            <a:prstDash val="solid"/>
          </a:ln>
        </p:spPr>
      </p:sp>
      <p:sp>
        <p:nvSpPr>
          <p:cNvPr id="43" name="Shape 41"/>
          <p:cNvSpPr/>
          <p:nvPr/>
        </p:nvSpPr>
        <p:spPr>
          <a:xfrm>
            <a:off x="971550" y="3429000"/>
            <a:ext cx="0" cy="960120"/>
          </a:xfrm>
          <a:prstGeom prst="line">
            <a:avLst/>
          </a:prstGeom>
          <a:noFill/>
          <a:ln w="5080">
            <a:solidFill>
              <a:srgbClr val="B8C4D3"/>
            </a:solidFill>
            <a:prstDash val="solid"/>
          </a:ln>
        </p:spPr>
      </p:sp>
      <p:sp>
        <p:nvSpPr>
          <p:cNvPr id="44" name="Shape 42"/>
          <p:cNvSpPr/>
          <p:nvPr/>
        </p:nvSpPr>
        <p:spPr>
          <a:xfrm>
            <a:off x="731520" y="3669030"/>
            <a:ext cx="960120" cy="0"/>
          </a:xfrm>
          <a:prstGeom prst="line">
            <a:avLst/>
          </a:prstGeom>
          <a:noFill/>
          <a:ln w="5080">
            <a:solidFill>
              <a:srgbClr val="B8C4D3"/>
            </a:solidFill>
            <a:prstDash val="solid"/>
          </a:ln>
        </p:spPr>
      </p:sp>
      <p:sp>
        <p:nvSpPr>
          <p:cNvPr id="45" name="Shape 43"/>
          <p:cNvSpPr/>
          <p:nvPr/>
        </p:nvSpPr>
        <p:spPr>
          <a:xfrm>
            <a:off x="1031558" y="3429000"/>
            <a:ext cx="0" cy="960120"/>
          </a:xfrm>
          <a:prstGeom prst="line">
            <a:avLst/>
          </a:prstGeom>
          <a:noFill/>
          <a:ln w="5080">
            <a:solidFill>
              <a:srgbClr val="B8C4D3"/>
            </a:solidFill>
            <a:prstDash val="solid"/>
          </a:ln>
        </p:spPr>
      </p:sp>
      <p:sp>
        <p:nvSpPr>
          <p:cNvPr id="46" name="Shape 44"/>
          <p:cNvSpPr/>
          <p:nvPr/>
        </p:nvSpPr>
        <p:spPr>
          <a:xfrm>
            <a:off x="731520" y="3729038"/>
            <a:ext cx="960120" cy="0"/>
          </a:xfrm>
          <a:prstGeom prst="line">
            <a:avLst/>
          </a:prstGeom>
          <a:noFill/>
          <a:ln w="5080">
            <a:solidFill>
              <a:srgbClr val="B8C4D3"/>
            </a:solidFill>
            <a:prstDash val="solid"/>
          </a:ln>
        </p:spPr>
      </p:sp>
      <p:sp>
        <p:nvSpPr>
          <p:cNvPr id="47" name="Shape 45"/>
          <p:cNvSpPr/>
          <p:nvPr/>
        </p:nvSpPr>
        <p:spPr>
          <a:xfrm>
            <a:off x="1091565" y="3429000"/>
            <a:ext cx="0" cy="960120"/>
          </a:xfrm>
          <a:prstGeom prst="line">
            <a:avLst/>
          </a:prstGeom>
          <a:noFill/>
          <a:ln w="5080">
            <a:solidFill>
              <a:srgbClr val="B8C4D3"/>
            </a:solidFill>
            <a:prstDash val="solid"/>
          </a:ln>
        </p:spPr>
      </p:sp>
      <p:sp>
        <p:nvSpPr>
          <p:cNvPr id="48" name="Shape 46"/>
          <p:cNvSpPr/>
          <p:nvPr/>
        </p:nvSpPr>
        <p:spPr>
          <a:xfrm>
            <a:off x="731520" y="3789045"/>
            <a:ext cx="960120" cy="0"/>
          </a:xfrm>
          <a:prstGeom prst="line">
            <a:avLst/>
          </a:prstGeom>
          <a:noFill/>
          <a:ln w="5080">
            <a:solidFill>
              <a:srgbClr val="B8C4D3"/>
            </a:solidFill>
            <a:prstDash val="solid"/>
          </a:ln>
        </p:spPr>
      </p:sp>
      <p:sp>
        <p:nvSpPr>
          <p:cNvPr id="49" name="Shape 47"/>
          <p:cNvSpPr/>
          <p:nvPr/>
        </p:nvSpPr>
        <p:spPr>
          <a:xfrm>
            <a:off x="1151573" y="3429000"/>
            <a:ext cx="0" cy="960120"/>
          </a:xfrm>
          <a:prstGeom prst="line">
            <a:avLst/>
          </a:prstGeom>
          <a:noFill/>
          <a:ln w="5080">
            <a:solidFill>
              <a:srgbClr val="B8C4D3"/>
            </a:solidFill>
            <a:prstDash val="solid"/>
          </a:ln>
        </p:spPr>
      </p:sp>
      <p:sp>
        <p:nvSpPr>
          <p:cNvPr id="50" name="Shape 48"/>
          <p:cNvSpPr/>
          <p:nvPr/>
        </p:nvSpPr>
        <p:spPr>
          <a:xfrm>
            <a:off x="731520" y="3849052"/>
            <a:ext cx="960120" cy="0"/>
          </a:xfrm>
          <a:prstGeom prst="line">
            <a:avLst/>
          </a:prstGeom>
          <a:noFill/>
          <a:ln w="5080">
            <a:solidFill>
              <a:srgbClr val="B8C4D3"/>
            </a:solidFill>
            <a:prstDash val="solid"/>
          </a:ln>
        </p:spPr>
      </p:sp>
      <p:sp>
        <p:nvSpPr>
          <p:cNvPr id="51" name="Shape 49"/>
          <p:cNvSpPr/>
          <p:nvPr/>
        </p:nvSpPr>
        <p:spPr>
          <a:xfrm>
            <a:off x="1211580" y="3429000"/>
            <a:ext cx="0" cy="960120"/>
          </a:xfrm>
          <a:prstGeom prst="line">
            <a:avLst/>
          </a:prstGeom>
          <a:noFill/>
          <a:ln w="5080">
            <a:solidFill>
              <a:srgbClr val="B8C4D3"/>
            </a:solidFill>
            <a:prstDash val="solid"/>
          </a:ln>
        </p:spPr>
      </p:sp>
      <p:sp>
        <p:nvSpPr>
          <p:cNvPr id="52" name="Shape 50"/>
          <p:cNvSpPr/>
          <p:nvPr/>
        </p:nvSpPr>
        <p:spPr>
          <a:xfrm>
            <a:off x="731520" y="3909060"/>
            <a:ext cx="960120" cy="0"/>
          </a:xfrm>
          <a:prstGeom prst="line">
            <a:avLst/>
          </a:prstGeom>
          <a:noFill/>
          <a:ln w="5080">
            <a:solidFill>
              <a:srgbClr val="B8C4D3"/>
            </a:solidFill>
            <a:prstDash val="solid"/>
          </a:ln>
        </p:spPr>
      </p:sp>
      <p:sp>
        <p:nvSpPr>
          <p:cNvPr id="53" name="Shape 51"/>
          <p:cNvSpPr/>
          <p:nvPr/>
        </p:nvSpPr>
        <p:spPr>
          <a:xfrm>
            <a:off x="1271588" y="3429000"/>
            <a:ext cx="0" cy="960120"/>
          </a:xfrm>
          <a:prstGeom prst="line">
            <a:avLst/>
          </a:prstGeom>
          <a:noFill/>
          <a:ln w="5080">
            <a:solidFill>
              <a:srgbClr val="B8C4D3"/>
            </a:solidFill>
            <a:prstDash val="solid"/>
          </a:ln>
        </p:spPr>
      </p:sp>
      <p:sp>
        <p:nvSpPr>
          <p:cNvPr id="54" name="Shape 52"/>
          <p:cNvSpPr/>
          <p:nvPr/>
        </p:nvSpPr>
        <p:spPr>
          <a:xfrm>
            <a:off x="731520" y="3969068"/>
            <a:ext cx="960120" cy="0"/>
          </a:xfrm>
          <a:prstGeom prst="line">
            <a:avLst/>
          </a:prstGeom>
          <a:noFill/>
          <a:ln w="5080">
            <a:solidFill>
              <a:srgbClr val="B8C4D3"/>
            </a:solidFill>
            <a:prstDash val="solid"/>
          </a:ln>
        </p:spPr>
      </p:sp>
      <p:sp>
        <p:nvSpPr>
          <p:cNvPr id="55" name="Shape 53"/>
          <p:cNvSpPr/>
          <p:nvPr/>
        </p:nvSpPr>
        <p:spPr>
          <a:xfrm>
            <a:off x="1331595" y="3429000"/>
            <a:ext cx="0" cy="960120"/>
          </a:xfrm>
          <a:prstGeom prst="line">
            <a:avLst/>
          </a:prstGeom>
          <a:noFill/>
          <a:ln w="5080">
            <a:solidFill>
              <a:srgbClr val="B8C4D3"/>
            </a:solidFill>
            <a:prstDash val="solid"/>
          </a:ln>
        </p:spPr>
      </p:sp>
      <p:sp>
        <p:nvSpPr>
          <p:cNvPr id="56" name="Shape 54"/>
          <p:cNvSpPr/>
          <p:nvPr/>
        </p:nvSpPr>
        <p:spPr>
          <a:xfrm>
            <a:off x="731520" y="4029075"/>
            <a:ext cx="960120" cy="0"/>
          </a:xfrm>
          <a:prstGeom prst="line">
            <a:avLst/>
          </a:prstGeom>
          <a:noFill/>
          <a:ln w="5080">
            <a:solidFill>
              <a:srgbClr val="B8C4D3"/>
            </a:solidFill>
            <a:prstDash val="solid"/>
          </a:ln>
        </p:spPr>
      </p:sp>
      <p:sp>
        <p:nvSpPr>
          <p:cNvPr id="57" name="Shape 55"/>
          <p:cNvSpPr/>
          <p:nvPr/>
        </p:nvSpPr>
        <p:spPr>
          <a:xfrm>
            <a:off x="1391603" y="3429000"/>
            <a:ext cx="0" cy="960120"/>
          </a:xfrm>
          <a:prstGeom prst="line">
            <a:avLst/>
          </a:prstGeom>
          <a:noFill/>
          <a:ln w="5080">
            <a:solidFill>
              <a:srgbClr val="B8C4D3"/>
            </a:solidFill>
            <a:prstDash val="solid"/>
          </a:ln>
        </p:spPr>
      </p:sp>
      <p:sp>
        <p:nvSpPr>
          <p:cNvPr id="58" name="Shape 56"/>
          <p:cNvSpPr/>
          <p:nvPr/>
        </p:nvSpPr>
        <p:spPr>
          <a:xfrm>
            <a:off x="731520" y="4089083"/>
            <a:ext cx="960120" cy="0"/>
          </a:xfrm>
          <a:prstGeom prst="line">
            <a:avLst/>
          </a:prstGeom>
          <a:noFill/>
          <a:ln w="5080">
            <a:solidFill>
              <a:srgbClr val="B8C4D3"/>
            </a:solidFill>
            <a:prstDash val="solid"/>
          </a:ln>
        </p:spPr>
      </p:sp>
      <p:sp>
        <p:nvSpPr>
          <p:cNvPr id="59" name="Shape 57"/>
          <p:cNvSpPr/>
          <p:nvPr/>
        </p:nvSpPr>
        <p:spPr>
          <a:xfrm>
            <a:off x="1451610" y="3429000"/>
            <a:ext cx="0" cy="960120"/>
          </a:xfrm>
          <a:prstGeom prst="line">
            <a:avLst/>
          </a:prstGeom>
          <a:noFill/>
          <a:ln w="5080">
            <a:solidFill>
              <a:srgbClr val="B8C4D3"/>
            </a:solidFill>
            <a:prstDash val="solid"/>
          </a:ln>
        </p:spPr>
      </p:sp>
      <p:sp>
        <p:nvSpPr>
          <p:cNvPr id="60" name="Shape 58"/>
          <p:cNvSpPr/>
          <p:nvPr/>
        </p:nvSpPr>
        <p:spPr>
          <a:xfrm>
            <a:off x="731520" y="4149090"/>
            <a:ext cx="960120" cy="0"/>
          </a:xfrm>
          <a:prstGeom prst="line">
            <a:avLst/>
          </a:prstGeom>
          <a:noFill/>
          <a:ln w="5080">
            <a:solidFill>
              <a:srgbClr val="B8C4D3"/>
            </a:solidFill>
            <a:prstDash val="solid"/>
          </a:ln>
        </p:spPr>
      </p:sp>
      <p:sp>
        <p:nvSpPr>
          <p:cNvPr id="61" name="Shape 59"/>
          <p:cNvSpPr/>
          <p:nvPr/>
        </p:nvSpPr>
        <p:spPr>
          <a:xfrm>
            <a:off x="1511618" y="3429000"/>
            <a:ext cx="0" cy="960120"/>
          </a:xfrm>
          <a:prstGeom prst="line">
            <a:avLst/>
          </a:prstGeom>
          <a:noFill/>
          <a:ln w="5080">
            <a:solidFill>
              <a:srgbClr val="B8C4D3"/>
            </a:solidFill>
            <a:prstDash val="solid"/>
          </a:ln>
        </p:spPr>
      </p:sp>
      <p:sp>
        <p:nvSpPr>
          <p:cNvPr id="62" name="Shape 60"/>
          <p:cNvSpPr/>
          <p:nvPr/>
        </p:nvSpPr>
        <p:spPr>
          <a:xfrm>
            <a:off x="731520" y="4209098"/>
            <a:ext cx="960120" cy="0"/>
          </a:xfrm>
          <a:prstGeom prst="line">
            <a:avLst/>
          </a:prstGeom>
          <a:noFill/>
          <a:ln w="5080">
            <a:solidFill>
              <a:srgbClr val="B8C4D3"/>
            </a:solidFill>
            <a:prstDash val="solid"/>
          </a:ln>
        </p:spPr>
      </p:sp>
      <p:sp>
        <p:nvSpPr>
          <p:cNvPr id="63" name="Shape 61"/>
          <p:cNvSpPr/>
          <p:nvPr/>
        </p:nvSpPr>
        <p:spPr>
          <a:xfrm>
            <a:off x="1571625" y="3429000"/>
            <a:ext cx="0" cy="960120"/>
          </a:xfrm>
          <a:prstGeom prst="line">
            <a:avLst/>
          </a:prstGeom>
          <a:noFill/>
          <a:ln w="5080">
            <a:solidFill>
              <a:srgbClr val="B8C4D3"/>
            </a:solidFill>
            <a:prstDash val="solid"/>
          </a:ln>
        </p:spPr>
      </p:sp>
      <p:sp>
        <p:nvSpPr>
          <p:cNvPr id="64" name="Shape 62"/>
          <p:cNvSpPr/>
          <p:nvPr/>
        </p:nvSpPr>
        <p:spPr>
          <a:xfrm>
            <a:off x="731520" y="4269105"/>
            <a:ext cx="960120" cy="0"/>
          </a:xfrm>
          <a:prstGeom prst="line">
            <a:avLst/>
          </a:prstGeom>
          <a:noFill/>
          <a:ln w="5080">
            <a:solidFill>
              <a:srgbClr val="B8C4D3"/>
            </a:solidFill>
            <a:prstDash val="solid"/>
          </a:ln>
        </p:spPr>
      </p:sp>
      <p:sp>
        <p:nvSpPr>
          <p:cNvPr id="65" name="Shape 63"/>
          <p:cNvSpPr/>
          <p:nvPr/>
        </p:nvSpPr>
        <p:spPr>
          <a:xfrm>
            <a:off x="1631633" y="3429000"/>
            <a:ext cx="0" cy="960120"/>
          </a:xfrm>
          <a:prstGeom prst="line">
            <a:avLst/>
          </a:prstGeom>
          <a:noFill/>
          <a:ln w="5080">
            <a:solidFill>
              <a:srgbClr val="B8C4D3"/>
            </a:solidFill>
            <a:prstDash val="solid"/>
          </a:ln>
        </p:spPr>
      </p:sp>
      <p:sp>
        <p:nvSpPr>
          <p:cNvPr id="66" name="Shape 64"/>
          <p:cNvSpPr/>
          <p:nvPr/>
        </p:nvSpPr>
        <p:spPr>
          <a:xfrm>
            <a:off x="731520" y="4329113"/>
            <a:ext cx="960120" cy="0"/>
          </a:xfrm>
          <a:prstGeom prst="line">
            <a:avLst/>
          </a:prstGeom>
          <a:noFill/>
          <a:ln w="5080">
            <a:solidFill>
              <a:srgbClr val="B8C4D3"/>
            </a:solidFill>
            <a:prstDash val="solid"/>
          </a:ln>
        </p:spPr>
      </p:sp>
      <p:sp>
        <p:nvSpPr>
          <p:cNvPr id="67" name="Shape 65"/>
          <p:cNvSpPr/>
          <p:nvPr/>
        </p:nvSpPr>
        <p:spPr>
          <a:xfrm>
            <a:off x="1211580" y="3909060"/>
            <a:ext cx="60008" cy="60008"/>
          </a:xfrm>
          <a:prstGeom prst="rect">
            <a:avLst/>
          </a:prstGeom>
          <a:solidFill>
            <a:srgbClr val="E07A2F"/>
          </a:solidFill>
          <a:ln w="12700">
            <a:solidFill>
              <a:srgbClr val="E07A2F"/>
            </a:solidFill>
            <a:prstDash val="solid"/>
          </a:ln>
        </p:spPr>
      </p:sp>
      <p:sp>
        <p:nvSpPr>
          <p:cNvPr id="68" name="Shape 66"/>
          <p:cNvSpPr/>
          <p:nvPr/>
        </p:nvSpPr>
        <p:spPr>
          <a:xfrm>
            <a:off x="731520" y="4617720"/>
            <a:ext cx="960120" cy="960120"/>
          </a:xfrm>
          <a:prstGeom prst="rect">
            <a:avLst/>
          </a:prstGeom>
          <a:solidFill>
            <a:srgbClr val="FFFFFF"/>
          </a:solidFill>
          <a:ln w="15875">
            <a:solidFill>
              <a:srgbClr val="1F7A4D"/>
            </a:solidFill>
            <a:prstDash val="solid"/>
          </a:ln>
        </p:spPr>
      </p:sp>
      <p:sp>
        <p:nvSpPr>
          <p:cNvPr id="69" name="Shape 67"/>
          <p:cNvSpPr/>
          <p:nvPr/>
        </p:nvSpPr>
        <p:spPr>
          <a:xfrm>
            <a:off x="746522" y="4617720"/>
            <a:ext cx="0" cy="960120"/>
          </a:xfrm>
          <a:prstGeom prst="line">
            <a:avLst/>
          </a:prstGeom>
          <a:noFill/>
          <a:ln w="3175">
            <a:solidFill>
              <a:srgbClr val="B8C4D3"/>
            </a:solidFill>
            <a:prstDash val="solid"/>
          </a:ln>
        </p:spPr>
      </p:sp>
      <p:sp>
        <p:nvSpPr>
          <p:cNvPr id="70" name="Shape 68"/>
          <p:cNvSpPr/>
          <p:nvPr/>
        </p:nvSpPr>
        <p:spPr>
          <a:xfrm>
            <a:off x="731520" y="4632722"/>
            <a:ext cx="960120" cy="0"/>
          </a:xfrm>
          <a:prstGeom prst="line">
            <a:avLst/>
          </a:prstGeom>
          <a:noFill/>
          <a:ln w="3175">
            <a:solidFill>
              <a:srgbClr val="B8C4D3"/>
            </a:solidFill>
            <a:prstDash val="solid"/>
          </a:ln>
        </p:spPr>
      </p:sp>
      <p:sp>
        <p:nvSpPr>
          <p:cNvPr id="71" name="Shape 69"/>
          <p:cNvSpPr/>
          <p:nvPr/>
        </p:nvSpPr>
        <p:spPr>
          <a:xfrm>
            <a:off x="761524" y="4617720"/>
            <a:ext cx="0" cy="960120"/>
          </a:xfrm>
          <a:prstGeom prst="line">
            <a:avLst/>
          </a:prstGeom>
          <a:noFill/>
          <a:ln w="3175">
            <a:solidFill>
              <a:srgbClr val="B8C4D3"/>
            </a:solidFill>
            <a:prstDash val="solid"/>
          </a:ln>
        </p:spPr>
      </p:sp>
      <p:sp>
        <p:nvSpPr>
          <p:cNvPr id="72" name="Shape 70"/>
          <p:cNvSpPr/>
          <p:nvPr/>
        </p:nvSpPr>
        <p:spPr>
          <a:xfrm>
            <a:off x="731520" y="4647724"/>
            <a:ext cx="960120" cy="0"/>
          </a:xfrm>
          <a:prstGeom prst="line">
            <a:avLst/>
          </a:prstGeom>
          <a:noFill/>
          <a:ln w="3175">
            <a:solidFill>
              <a:srgbClr val="B8C4D3"/>
            </a:solidFill>
            <a:prstDash val="solid"/>
          </a:ln>
        </p:spPr>
      </p:sp>
      <p:sp>
        <p:nvSpPr>
          <p:cNvPr id="73" name="Shape 71"/>
          <p:cNvSpPr/>
          <p:nvPr/>
        </p:nvSpPr>
        <p:spPr>
          <a:xfrm>
            <a:off x="776526" y="4617720"/>
            <a:ext cx="0" cy="960120"/>
          </a:xfrm>
          <a:prstGeom prst="line">
            <a:avLst/>
          </a:prstGeom>
          <a:noFill/>
          <a:ln w="3175">
            <a:solidFill>
              <a:srgbClr val="B8C4D3"/>
            </a:solidFill>
            <a:prstDash val="solid"/>
          </a:ln>
        </p:spPr>
      </p:sp>
      <p:sp>
        <p:nvSpPr>
          <p:cNvPr id="74" name="Shape 72"/>
          <p:cNvSpPr/>
          <p:nvPr/>
        </p:nvSpPr>
        <p:spPr>
          <a:xfrm>
            <a:off x="731520" y="4662726"/>
            <a:ext cx="960120" cy="0"/>
          </a:xfrm>
          <a:prstGeom prst="line">
            <a:avLst/>
          </a:prstGeom>
          <a:noFill/>
          <a:ln w="3175">
            <a:solidFill>
              <a:srgbClr val="B8C4D3"/>
            </a:solidFill>
            <a:prstDash val="solid"/>
          </a:ln>
        </p:spPr>
      </p:sp>
      <p:sp>
        <p:nvSpPr>
          <p:cNvPr id="75" name="Shape 73"/>
          <p:cNvSpPr/>
          <p:nvPr/>
        </p:nvSpPr>
        <p:spPr>
          <a:xfrm>
            <a:off x="791528" y="4617720"/>
            <a:ext cx="0" cy="960120"/>
          </a:xfrm>
          <a:prstGeom prst="line">
            <a:avLst/>
          </a:prstGeom>
          <a:noFill/>
          <a:ln w="3175">
            <a:solidFill>
              <a:srgbClr val="B8C4D3"/>
            </a:solidFill>
            <a:prstDash val="solid"/>
          </a:ln>
        </p:spPr>
      </p:sp>
      <p:sp>
        <p:nvSpPr>
          <p:cNvPr id="76" name="Shape 74"/>
          <p:cNvSpPr/>
          <p:nvPr/>
        </p:nvSpPr>
        <p:spPr>
          <a:xfrm>
            <a:off x="731520" y="4677728"/>
            <a:ext cx="960120" cy="0"/>
          </a:xfrm>
          <a:prstGeom prst="line">
            <a:avLst/>
          </a:prstGeom>
          <a:noFill/>
          <a:ln w="3175">
            <a:solidFill>
              <a:srgbClr val="B8C4D3"/>
            </a:solidFill>
            <a:prstDash val="solid"/>
          </a:ln>
        </p:spPr>
      </p:sp>
      <p:sp>
        <p:nvSpPr>
          <p:cNvPr id="77" name="Shape 75"/>
          <p:cNvSpPr/>
          <p:nvPr/>
        </p:nvSpPr>
        <p:spPr>
          <a:xfrm>
            <a:off x="806529" y="4617720"/>
            <a:ext cx="0" cy="960120"/>
          </a:xfrm>
          <a:prstGeom prst="line">
            <a:avLst/>
          </a:prstGeom>
          <a:noFill/>
          <a:ln w="3175">
            <a:solidFill>
              <a:srgbClr val="B8C4D3"/>
            </a:solidFill>
            <a:prstDash val="solid"/>
          </a:ln>
        </p:spPr>
      </p:sp>
      <p:sp>
        <p:nvSpPr>
          <p:cNvPr id="78" name="Shape 76"/>
          <p:cNvSpPr/>
          <p:nvPr/>
        </p:nvSpPr>
        <p:spPr>
          <a:xfrm>
            <a:off x="731520" y="4692729"/>
            <a:ext cx="960120" cy="0"/>
          </a:xfrm>
          <a:prstGeom prst="line">
            <a:avLst/>
          </a:prstGeom>
          <a:noFill/>
          <a:ln w="3175">
            <a:solidFill>
              <a:srgbClr val="B8C4D3"/>
            </a:solidFill>
            <a:prstDash val="solid"/>
          </a:ln>
        </p:spPr>
      </p:sp>
      <p:sp>
        <p:nvSpPr>
          <p:cNvPr id="79" name="Shape 77"/>
          <p:cNvSpPr/>
          <p:nvPr/>
        </p:nvSpPr>
        <p:spPr>
          <a:xfrm>
            <a:off x="821531" y="4617720"/>
            <a:ext cx="0" cy="960120"/>
          </a:xfrm>
          <a:prstGeom prst="line">
            <a:avLst/>
          </a:prstGeom>
          <a:noFill/>
          <a:ln w="3175">
            <a:solidFill>
              <a:srgbClr val="B8C4D3"/>
            </a:solidFill>
            <a:prstDash val="solid"/>
          </a:ln>
        </p:spPr>
      </p:sp>
      <p:sp>
        <p:nvSpPr>
          <p:cNvPr id="80" name="Shape 78"/>
          <p:cNvSpPr/>
          <p:nvPr/>
        </p:nvSpPr>
        <p:spPr>
          <a:xfrm>
            <a:off x="731520" y="4707731"/>
            <a:ext cx="960120" cy="0"/>
          </a:xfrm>
          <a:prstGeom prst="line">
            <a:avLst/>
          </a:prstGeom>
          <a:noFill/>
          <a:ln w="3175">
            <a:solidFill>
              <a:srgbClr val="B8C4D3"/>
            </a:solidFill>
            <a:prstDash val="solid"/>
          </a:ln>
        </p:spPr>
      </p:sp>
      <p:sp>
        <p:nvSpPr>
          <p:cNvPr id="81" name="Shape 79"/>
          <p:cNvSpPr/>
          <p:nvPr/>
        </p:nvSpPr>
        <p:spPr>
          <a:xfrm>
            <a:off x="836533" y="4617720"/>
            <a:ext cx="0" cy="960120"/>
          </a:xfrm>
          <a:prstGeom prst="line">
            <a:avLst/>
          </a:prstGeom>
          <a:noFill/>
          <a:ln w="3175">
            <a:solidFill>
              <a:srgbClr val="B8C4D3"/>
            </a:solidFill>
            <a:prstDash val="solid"/>
          </a:ln>
        </p:spPr>
      </p:sp>
      <p:sp>
        <p:nvSpPr>
          <p:cNvPr id="82" name="Shape 80"/>
          <p:cNvSpPr/>
          <p:nvPr/>
        </p:nvSpPr>
        <p:spPr>
          <a:xfrm>
            <a:off x="731520" y="4722733"/>
            <a:ext cx="960120" cy="0"/>
          </a:xfrm>
          <a:prstGeom prst="line">
            <a:avLst/>
          </a:prstGeom>
          <a:noFill/>
          <a:ln w="3175">
            <a:solidFill>
              <a:srgbClr val="B8C4D3"/>
            </a:solidFill>
            <a:prstDash val="solid"/>
          </a:ln>
        </p:spPr>
      </p:sp>
      <p:sp>
        <p:nvSpPr>
          <p:cNvPr id="83" name="Shape 81"/>
          <p:cNvSpPr/>
          <p:nvPr/>
        </p:nvSpPr>
        <p:spPr>
          <a:xfrm>
            <a:off x="851535" y="4617720"/>
            <a:ext cx="0" cy="960120"/>
          </a:xfrm>
          <a:prstGeom prst="line">
            <a:avLst/>
          </a:prstGeom>
          <a:noFill/>
          <a:ln w="3175">
            <a:solidFill>
              <a:srgbClr val="B8C4D3"/>
            </a:solidFill>
            <a:prstDash val="solid"/>
          </a:ln>
        </p:spPr>
      </p:sp>
      <p:sp>
        <p:nvSpPr>
          <p:cNvPr id="84" name="Shape 82"/>
          <p:cNvSpPr/>
          <p:nvPr/>
        </p:nvSpPr>
        <p:spPr>
          <a:xfrm>
            <a:off x="731520" y="4737735"/>
            <a:ext cx="960120" cy="0"/>
          </a:xfrm>
          <a:prstGeom prst="line">
            <a:avLst/>
          </a:prstGeom>
          <a:noFill/>
          <a:ln w="3175">
            <a:solidFill>
              <a:srgbClr val="B8C4D3"/>
            </a:solidFill>
            <a:prstDash val="solid"/>
          </a:ln>
        </p:spPr>
      </p:sp>
      <p:sp>
        <p:nvSpPr>
          <p:cNvPr id="85" name="Shape 83"/>
          <p:cNvSpPr/>
          <p:nvPr/>
        </p:nvSpPr>
        <p:spPr>
          <a:xfrm>
            <a:off x="866537" y="4617720"/>
            <a:ext cx="0" cy="960120"/>
          </a:xfrm>
          <a:prstGeom prst="line">
            <a:avLst/>
          </a:prstGeom>
          <a:noFill/>
          <a:ln w="3175">
            <a:solidFill>
              <a:srgbClr val="B8C4D3"/>
            </a:solidFill>
            <a:prstDash val="solid"/>
          </a:ln>
        </p:spPr>
      </p:sp>
      <p:sp>
        <p:nvSpPr>
          <p:cNvPr id="86" name="Shape 84"/>
          <p:cNvSpPr/>
          <p:nvPr/>
        </p:nvSpPr>
        <p:spPr>
          <a:xfrm>
            <a:off x="731520" y="4752737"/>
            <a:ext cx="960120" cy="0"/>
          </a:xfrm>
          <a:prstGeom prst="line">
            <a:avLst/>
          </a:prstGeom>
          <a:noFill/>
          <a:ln w="3175">
            <a:solidFill>
              <a:srgbClr val="B8C4D3"/>
            </a:solidFill>
            <a:prstDash val="solid"/>
          </a:ln>
        </p:spPr>
      </p:sp>
      <p:sp>
        <p:nvSpPr>
          <p:cNvPr id="87" name="Shape 85"/>
          <p:cNvSpPr/>
          <p:nvPr/>
        </p:nvSpPr>
        <p:spPr>
          <a:xfrm>
            <a:off x="881539" y="4617720"/>
            <a:ext cx="0" cy="960120"/>
          </a:xfrm>
          <a:prstGeom prst="line">
            <a:avLst/>
          </a:prstGeom>
          <a:noFill/>
          <a:ln w="3175">
            <a:solidFill>
              <a:srgbClr val="B8C4D3"/>
            </a:solidFill>
            <a:prstDash val="solid"/>
          </a:ln>
        </p:spPr>
      </p:sp>
      <p:sp>
        <p:nvSpPr>
          <p:cNvPr id="88" name="Shape 86"/>
          <p:cNvSpPr/>
          <p:nvPr/>
        </p:nvSpPr>
        <p:spPr>
          <a:xfrm>
            <a:off x="731520" y="4767739"/>
            <a:ext cx="960120" cy="0"/>
          </a:xfrm>
          <a:prstGeom prst="line">
            <a:avLst/>
          </a:prstGeom>
          <a:noFill/>
          <a:ln w="3175">
            <a:solidFill>
              <a:srgbClr val="B8C4D3"/>
            </a:solidFill>
            <a:prstDash val="solid"/>
          </a:ln>
        </p:spPr>
      </p:sp>
      <p:sp>
        <p:nvSpPr>
          <p:cNvPr id="89" name="Shape 87"/>
          <p:cNvSpPr/>
          <p:nvPr/>
        </p:nvSpPr>
        <p:spPr>
          <a:xfrm>
            <a:off x="896541" y="4617720"/>
            <a:ext cx="0" cy="960120"/>
          </a:xfrm>
          <a:prstGeom prst="line">
            <a:avLst/>
          </a:prstGeom>
          <a:noFill/>
          <a:ln w="3175">
            <a:solidFill>
              <a:srgbClr val="B8C4D3"/>
            </a:solidFill>
            <a:prstDash val="solid"/>
          </a:ln>
        </p:spPr>
      </p:sp>
      <p:sp>
        <p:nvSpPr>
          <p:cNvPr id="90" name="Shape 88"/>
          <p:cNvSpPr/>
          <p:nvPr/>
        </p:nvSpPr>
        <p:spPr>
          <a:xfrm>
            <a:off x="731520" y="4782741"/>
            <a:ext cx="960120" cy="0"/>
          </a:xfrm>
          <a:prstGeom prst="line">
            <a:avLst/>
          </a:prstGeom>
          <a:noFill/>
          <a:ln w="3175">
            <a:solidFill>
              <a:srgbClr val="B8C4D3"/>
            </a:solidFill>
            <a:prstDash val="solid"/>
          </a:ln>
        </p:spPr>
      </p:sp>
      <p:sp>
        <p:nvSpPr>
          <p:cNvPr id="91" name="Shape 89"/>
          <p:cNvSpPr/>
          <p:nvPr/>
        </p:nvSpPr>
        <p:spPr>
          <a:xfrm>
            <a:off x="911543" y="4617720"/>
            <a:ext cx="0" cy="960120"/>
          </a:xfrm>
          <a:prstGeom prst="line">
            <a:avLst/>
          </a:prstGeom>
          <a:noFill/>
          <a:ln w="3175">
            <a:solidFill>
              <a:srgbClr val="B8C4D3"/>
            </a:solidFill>
            <a:prstDash val="solid"/>
          </a:ln>
        </p:spPr>
      </p:sp>
      <p:sp>
        <p:nvSpPr>
          <p:cNvPr id="92" name="Shape 90"/>
          <p:cNvSpPr/>
          <p:nvPr/>
        </p:nvSpPr>
        <p:spPr>
          <a:xfrm>
            <a:off x="731520" y="4797743"/>
            <a:ext cx="960120" cy="0"/>
          </a:xfrm>
          <a:prstGeom prst="line">
            <a:avLst/>
          </a:prstGeom>
          <a:noFill/>
          <a:ln w="3175">
            <a:solidFill>
              <a:srgbClr val="B8C4D3"/>
            </a:solidFill>
            <a:prstDash val="solid"/>
          </a:ln>
        </p:spPr>
      </p:sp>
      <p:sp>
        <p:nvSpPr>
          <p:cNvPr id="93" name="Shape 91"/>
          <p:cNvSpPr/>
          <p:nvPr/>
        </p:nvSpPr>
        <p:spPr>
          <a:xfrm>
            <a:off x="926544" y="4617720"/>
            <a:ext cx="0" cy="960120"/>
          </a:xfrm>
          <a:prstGeom prst="line">
            <a:avLst/>
          </a:prstGeom>
          <a:noFill/>
          <a:ln w="3175">
            <a:solidFill>
              <a:srgbClr val="B8C4D3"/>
            </a:solidFill>
            <a:prstDash val="solid"/>
          </a:ln>
        </p:spPr>
      </p:sp>
      <p:sp>
        <p:nvSpPr>
          <p:cNvPr id="94" name="Shape 92"/>
          <p:cNvSpPr/>
          <p:nvPr/>
        </p:nvSpPr>
        <p:spPr>
          <a:xfrm>
            <a:off x="731520" y="4812744"/>
            <a:ext cx="960120" cy="0"/>
          </a:xfrm>
          <a:prstGeom prst="line">
            <a:avLst/>
          </a:prstGeom>
          <a:noFill/>
          <a:ln w="3175">
            <a:solidFill>
              <a:srgbClr val="B8C4D3"/>
            </a:solidFill>
            <a:prstDash val="solid"/>
          </a:ln>
        </p:spPr>
      </p:sp>
      <p:sp>
        <p:nvSpPr>
          <p:cNvPr id="95" name="Shape 93"/>
          <p:cNvSpPr/>
          <p:nvPr/>
        </p:nvSpPr>
        <p:spPr>
          <a:xfrm>
            <a:off x="941546" y="4617720"/>
            <a:ext cx="0" cy="960120"/>
          </a:xfrm>
          <a:prstGeom prst="line">
            <a:avLst/>
          </a:prstGeom>
          <a:noFill/>
          <a:ln w="3175">
            <a:solidFill>
              <a:srgbClr val="B8C4D3"/>
            </a:solidFill>
            <a:prstDash val="solid"/>
          </a:ln>
        </p:spPr>
      </p:sp>
      <p:sp>
        <p:nvSpPr>
          <p:cNvPr id="96" name="Shape 94"/>
          <p:cNvSpPr/>
          <p:nvPr/>
        </p:nvSpPr>
        <p:spPr>
          <a:xfrm>
            <a:off x="731520" y="4827746"/>
            <a:ext cx="960120" cy="0"/>
          </a:xfrm>
          <a:prstGeom prst="line">
            <a:avLst/>
          </a:prstGeom>
          <a:noFill/>
          <a:ln w="3175">
            <a:solidFill>
              <a:srgbClr val="B8C4D3"/>
            </a:solidFill>
            <a:prstDash val="solid"/>
          </a:ln>
        </p:spPr>
      </p:sp>
      <p:sp>
        <p:nvSpPr>
          <p:cNvPr id="97" name="Shape 95"/>
          <p:cNvSpPr/>
          <p:nvPr/>
        </p:nvSpPr>
        <p:spPr>
          <a:xfrm>
            <a:off x="956548" y="4617720"/>
            <a:ext cx="0" cy="960120"/>
          </a:xfrm>
          <a:prstGeom prst="line">
            <a:avLst/>
          </a:prstGeom>
          <a:noFill/>
          <a:ln w="3175">
            <a:solidFill>
              <a:srgbClr val="B8C4D3"/>
            </a:solidFill>
            <a:prstDash val="solid"/>
          </a:ln>
        </p:spPr>
      </p:sp>
      <p:sp>
        <p:nvSpPr>
          <p:cNvPr id="98" name="Shape 96"/>
          <p:cNvSpPr/>
          <p:nvPr/>
        </p:nvSpPr>
        <p:spPr>
          <a:xfrm>
            <a:off x="731520" y="4842748"/>
            <a:ext cx="960120" cy="0"/>
          </a:xfrm>
          <a:prstGeom prst="line">
            <a:avLst/>
          </a:prstGeom>
          <a:noFill/>
          <a:ln w="3175">
            <a:solidFill>
              <a:srgbClr val="B8C4D3"/>
            </a:solidFill>
            <a:prstDash val="solid"/>
          </a:ln>
        </p:spPr>
      </p:sp>
      <p:sp>
        <p:nvSpPr>
          <p:cNvPr id="99" name="Shape 97"/>
          <p:cNvSpPr/>
          <p:nvPr/>
        </p:nvSpPr>
        <p:spPr>
          <a:xfrm>
            <a:off x="971550" y="4617720"/>
            <a:ext cx="0" cy="960120"/>
          </a:xfrm>
          <a:prstGeom prst="line">
            <a:avLst/>
          </a:prstGeom>
          <a:noFill/>
          <a:ln w="3175">
            <a:solidFill>
              <a:srgbClr val="B8C4D3"/>
            </a:solidFill>
            <a:prstDash val="solid"/>
          </a:ln>
        </p:spPr>
      </p:sp>
      <p:sp>
        <p:nvSpPr>
          <p:cNvPr id="100" name="Shape 98"/>
          <p:cNvSpPr/>
          <p:nvPr/>
        </p:nvSpPr>
        <p:spPr>
          <a:xfrm>
            <a:off x="731520" y="4857750"/>
            <a:ext cx="960120" cy="0"/>
          </a:xfrm>
          <a:prstGeom prst="line">
            <a:avLst/>
          </a:prstGeom>
          <a:noFill/>
          <a:ln w="3175">
            <a:solidFill>
              <a:srgbClr val="B8C4D3"/>
            </a:solidFill>
            <a:prstDash val="solid"/>
          </a:ln>
        </p:spPr>
      </p:sp>
      <p:sp>
        <p:nvSpPr>
          <p:cNvPr id="101" name="Shape 99"/>
          <p:cNvSpPr/>
          <p:nvPr/>
        </p:nvSpPr>
        <p:spPr>
          <a:xfrm>
            <a:off x="986552" y="4617720"/>
            <a:ext cx="0" cy="960120"/>
          </a:xfrm>
          <a:prstGeom prst="line">
            <a:avLst/>
          </a:prstGeom>
          <a:noFill/>
          <a:ln w="3175">
            <a:solidFill>
              <a:srgbClr val="B8C4D3"/>
            </a:solidFill>
            <a:prstDash val="solid"/>
          </a:ln>
        </p:spPr>
      </p:sp>
      <p:sp>
        <p:nvSpPr>
          <p:cNvPr id="102" name="Shape 100"/>
          <p:cNvSpPr/>
          <p:nvPr/>
        </p:nvSpPr>
        <p:spPr>
          <a:xfrm>
            <a:off x="731520" y="4872752"/>
            <a:ext cx="960120" cy="0"/>
          </a:xfrm>
          <a:prstGeom prst="line">
            <a:avLst/>
          </a:prstGeom>
          <a:noFill/>
          <a:ln w="3175">
            <a:solidFill>
              <a:srgbClr val="B8C4D3"/>
            </a:solidFill>
            <a:prstDash val="solid"/>
          </a:ln>
        </p:spPr>
      </p:sp>
      <p:sp>
        <p:nvSpPr>
          <p:cNvPr id="103" name="Shape 101"/>
          <p:cNvSpPr/>
          <p:nvPr/>
        </p:nvSpPr>
        <p:spPr>
          <a:xfrm>
            <a:off x="1001554" y="4617720"/>
            <a:ext cx="0" cy="960120"/>
          </a:xfrm>
          <a:prstGeom prst="line">
            <a:avLst/>
          </a:prstGeom>
          <a:noFill/>
          <a:ln w="3175">
            <a:solidFill>
              <a:srgbClr val="B8C4D3"/>
            </a:solidFill>
            <a:prstDash val="solid"/>
          </a:ln>
        </p:spPr>
      </p:sp>
      <p:sp>
        <p:nvSpPr>
          <p:cNvPr id="104" name="Shape 102"/>
          <p:cNvSpPr/>
          <p:nvPr/>
        </p:nvSpPr>
        <p:spPr>
          <a:xfrm>
            <a:off x="731520" y="4887754"/>
            <a:ext cx="960120" cy="0"/>
          </a:xfrm>
          <a:prstGeom prst="line">
            <a:avLst/>
          </a:prstGeom>
          <a:noFill/>
          <a:ln w="3175">
            <a:solidFill>
              <a:srgbClr val="B8C4D3"/>
            </a:solidFill>
            <a:prstDash val="solid"/>
          </a:ln>
        </p:spPr>
      </p:sp>
      <p:sp>
        <p:nvSpPr>
          <p:cNvPr id="105" name="Shape 103"/>
          <p:cNvSpPr/>
          <p:nvPr/>
        </p:nvSpPr>
        <p:spPr>
          <a:xfrm>
            <a:off x="1016556" y="4617720"/>
            <a:ext cx="0" cy="960120"/>
          </a:xfrm>
          <a:prstGeom prst="line">
            <a:avLst/>
          </a:prstGeom>
          <a:noFill/>
          <a:ln w="3175">
            <a:solidFill>
              <a:srgbClr val="B8C4D3"/>
            </a:solidFill>
            <a:prstDash val="solid"/>
          </a:ln>
        </p:spPr>
      </p:sp>
      <p:sp>
        <p:nvSpPr>
          <p:cNvPr id="106" name="Shape 104"/>
          <p:cNvSpPr/>
          <p:nvPr/>
        </p:nvSpPr>
        <p:spPr>
          <a:xfrm>
            <a:off x="731520" y="4902756"/>
            <a:ext cx="960120" cy="0"/>
          </a:xfrm>
          <a:prstGeom prst="line">
            <a:avLst/>
          </a:prstGeom>
          <a:noFill/>
          <a:ln w="3175">
            <a:solidFill>
              <a:srgbClr val="B8C4D3"/>
            </a:solidFill>
            <a:prstDash val="solid"/>
          </a:ln>
        </p:spPr>
      </p:sp>
      <p:sp>
        <p:nvSpPr>
          <p:cNvPr id="107" name="Shape 105"/>
          <p:cNvSpPr/>
          <p:nvPr/>
        </p:nvSpPr>
        <p:spPr>
          <a:xfrm>
            <a:off x="1031558" y="4617720"/>
            <a:ext cx="0" cy="960120"/>
          </a:xfrm>
          <a:prstGeom prst="line">
            <a:avLst/>
          </a:prstGeom>
          <a:noFill/>
          <a:ln w="3175">
            <a:solidFill>
              <a:srgbClr val="B8C4D3"/>
            </a:solidFill>
            <a:prstDash val="solid"/>
          </a:ln>
        </p:spPr>
      </p:sp>
      <p:sp>
        <p:nvSpPr>
          <p:cNvPr id="108" name="Shape 106"/>
          <p:cNvSpPr/>
          <p:nvPr/>
        </p:nvSpPr>
        <p:spPr>
          <a:xfrm>
            <a:off x="731520" y="4917758"/>
            <a:ext cx="960120" cy="0"/>
          </a:xfrm>
          <a:prstGeom prst="line">
            <a:avLst/>
          </a:prstGeom>
          <a:noFill/>
          <a:ln w="3175">
            <a:solidFill>
              <a:srgbClr val="B8C4D3"/>
            </a:solidFill>
            <a:prstDash val="solid"/>
          </a:ln>
        </p:spPr>
      </p:sp>
      <p:sp>
        <p:nvSpPr>
          <p:cNvPr id="109" name="Shape 107"/>
          <p:cNvSpPr/>
          <p:nvPr/>
        </p:nvSpPr>
        <p:spPr>
          <a:xfrm>
            <a:off x="1046559" y="4617720"/>
            <a:ext cx="0" cy="960120"/>
          </a:xfrm>
          <a:prstGeom prst="line">
            <a:avLst/>
          </a:prstGeom>
          <a:noFill/>
          <a:ln w="3175">
            <a:solidFill>
              <a:srgbClr val="B8C4D3"/>
            </a:solidFill>
            <a:prstDash val="solid"/>
          </a:ln>
        </p:spPr>
      </p:sp>
      <p:sp>
        <p:nvSpPr>
          <p:cNvPr id="110" name="Shape 108"/>
          <p:cNvSpPr/>
          <p:nvPr/>
        </p:nvSpPr>
        <p:spPr>
          <a:xfrm>
            <a:off x="731520" y="4932759"/>
            <a:ext cx="960120" cy="0"/>
          </a:xfrm>
          <a:prstGeom prst="line">
            <a:avLst/>
          </a:prstGeom>
          <a:noFill/>
          <a:ln w="3175">
            <a:solidFill>
              <a:srgbClr val="B8C4D3"/>
            </a:solidFill>
            <a:prstDash val="solid"/>
          </a:ln>
        </p:spPr>
      </p:sp>
      <p:sp>
        <p:nvSpPr>
          <p:cNvPr id="111" name="Shape 109"/>
          <p:cNvSpPr/>
          <p:nvPr/>
        </p:nvSpPr>
        <p:spPr>
          <a:xfrm>
            <a:off x="1061561" y="4617720"/>
            <a:ext cx="0" cy="960120"/>
          </a:xfrm>
          <a:prstGeom prst="line">
            <a:avLst/>
          </a:prstGeom>
          <a:noFill/>
          <a:ln w="3175">
            <a:solidFill>
              <a:srgbClr val="B8C4D3"/>
            </a:solidFill>
            <a:prstDash val="solid"/>
          </a:ln>
        </p:spPr>
      </p:sp>
      <p:sp>
        <p:nvSpPr>
          <p:cNvPr id="112" name="Shape 110"/>
          <p:cNvSpPr/>
          <p:nvPr/>
        </p:nvSpPr>
        <p:spPr>
          <a:xfrm>
            <a:off x="731520" y="4947761"/>
            <a:ext cx="960120" cy="0"/>
          </a:xfrm>
          <a:prstGeom prst="line">
            <a:avLst/>
          </a:prstGeom>
          <a:noFill/>
          <a:ln w="3175">
            <a:solidFill>
              <a:srgbClr val="B8C4D3"/>
            </a:solidFill>
            <a:prstDash val="solid"/>
          </a:ln>
        </p:spPr>
      </p:sp>
      <p:sp>
        <p:nvSpPr>
          <p:cNvPr id="113" name="Shape 111"/>
          <p:cNvSpPr/>
          <p:nvPr/>
        </p:nvSpPr>
        <p:spPr>
          <a:xfrm>
            <a:off x="1076563" y="4617720"/>
            <a:ext cx="0" cy="960120"/>
          </a:xfrm>
          <a:prstGeom prst="line">
            <a:avLst/>
          </a:prstGeom>
          <a:noFill/>
          <a:ln w="3175">
            <a:solidFill>
              <a:srgbClr val="B8C4D3"/>
            </a:solidFill>
            <a:prstDash val="solid"/>
          </a:ln>
        </p:spPr>
      </p:sp>
      <p:sp>
        <p:nvSpPr>
          <p:cNvPr id="114" name="Shape 112"/>
          <p:cNvSpPr/>
          <p:nvPr/>
        </p:nvSpPr>
        <p:spPr>
          <a:xfrm>
            <a:off x="731520" y="4962763"/>
            <a:ext cx="960120" cy="0"/>
          </a:xfrm>
          <a:prstGeom prst="line">
            <a:avLst/>
          </a:prstGeom>
          <a:noFill/>
          <a:ln w="3175">
            <a:solidFill>
              <a:srgbClr val="B8C4D3"/>
            </a:solidFill>
            <a:prstDash val="solid"/>
          </a:ln>
        </p:spPr>
      </p:sp>
      <p:sp>
        <p:nvSpPr>
          <p:cNvPr id="115" name="Shape 113"/>
          <p:cNvSpPr/>
          <p:nvPr/>
        </p:nvSpPr>
        <p:spPr>
          <a:xfrm>
            <a:off x="1091565" y="4617720"/>
            <a:ext cx="0" cy="960120"/>
          </a:xfrm>
          <a:prstGeom prst="line">
            <a:avLst/>
          </a:prstGeom>
          <a:noFill/>
          <a:ln w="3175">
            <a:solidFill>
              <a:srgbClr val="B8C4D3"/>
            </a:solidFill>
            <a:prstDash val="solid"/>
          </a:ln>
        </p:spPr>
      </p:sp>
      <p:sp>
        <p:nvSpPr>
          <p:cNvPr id="116" name="Shape 114"/>
          <p:cNvSpPr/>
          <p:nvPr/>
        </p:nvSpPr>
        <p:spPr>
          <a:xfrm>
            <a:off x="731520" y="4977765"/>
            <a:ext cx="960120" cy="0"/>
          </a:xfrm>
          <a:prstGeom prst="line">
            <a:avLst/>
          </a:prstGeom>
          <a:noFill/>
          <a:ln w="3175">
            <a:solidFill>
              <a:srgbClr val="B8C4D3"/>
            </a:solidFill>
            <a:prstDash val="solid"/>
          </a:ln>
        </p:spPr>
      </p:sp>
      <p:sp>
        <p:nvSpPr>
          <p:cNvPr id="117" name="Shape 115"/>
          <p:cNvSpPr/>
          <p:nvPr/>
        </p:nvSpPr>
        <p:spPr>
          <a:xfrm>
            <a:off x="1106567" y="4617720"/>
            <a:ext cx="0" cy="960120"/>
          </a:xfrm>
          <a:prstGeom prst="line">
            <a:avLst/>
          </a:prstGeom>
          <a:noFill/>
          <a:ln w="3175">
            <a:solidFill>
              <a:srgbClr val="B8C4D3"/>
            </a:solidFill>
            <a:prstDash val="solid"/>
          </a:ln>
        </p:spPr>
      </p:sp>
      <p:sp>
        <p:nvSpPr>
          <p:cNvPr id="118" name="Shape 116"/>
          <p:cNvSpPr/>
          <p:nvPr/>
        </p:nvSpPr>
        <p:spPr>
          <a:xfrm>
            <a:off x="731520" y="4992767"/>
            <a:ext cx="960120" cy="0"/>
          </a:xfrm>
          <a:prstGeom prst="line">
            <a:avLst/>
          </a:prstGeom>
          <a:noFill/>
          <a:ln w="3175">
            <a:solidFill>
              <a:srgbClr val="B8C4D3"/>
            </a:solidFill>
            <a:prstDash val="solid"/>
          </a:ln>
        </p:spPr>
      </p:sp>
      <p:sp>
        <p:nvSpPr>
          <p:cNvPr id="119" name="Shape 117"/>
          <p:cNvSpPr/>
          <p:nvPr/>
        </p:nvSpPr>
        <p:spPr>
          <a:xfrm>
            <a:off x="1121569" y="4617720"/>
            <a:ext cx="0" cy="960120"/>
          </a:xfrm>
          <a:prstGeom prst="line">
            <a:avLst/>
          </a:prstGeom>
          <a:noFill/>
          <a:ln w="3175">
            <a:solidFill>
              <a:srgbClr val="B8C4D3"/>
            </a:solidFill>
            <a:prstDash val="solid"/>
          </a:ln>
        </p:spPr>
      </p:sp>
      <p:sp>
        <p:nvSpPr>
          <p:cNvPr id="120" name="Shape 118"/>
          <p:cNvSpPr/>
          <p:nvPr/>
        </p:nvSpPr>
        <p:spPr>
          <a:xfrm>
            <a:off x="731520" y="5007769"/>
            <a:ext cx="960120" cy="0"/>
          </a:xfrm>
          <a:prstGeom prst="line">
            <a:avLst/>
          </a:prstGeom>
          <a:noFill/>
          <a:ln w="3175">
            <a:solidFill>
              <a:srgbClr val="B8C4D3"/>
            </a:solidFill>
            <a:prstDash val="solid"/>
          </a:ln>
        </p:spPr>
      </p:sp>
      <p:sp>
        <p:nvSpPr>
          <p:cNvPr id="121" name="Shape 119"/>
          <p:cNvSpPr/>
          <p:nvPr/>
        </p:nvSpPr>
        <p:spPr>
          <a:xfrm>
            <a:off x="1136571" y="4617720"/>
            <a:ext cx="0" cy="960120"/>
          </a:xfrm>
          <a:prstGeom prst="line">
            <a:avLst/>
          </a:prstGeom>
          <a:noFill/>
          <a:ln w="3175">
            <a:solidFill>
              <a:srgbClr val="B8C4D3"/>
            </a:solidFill>
            <a:prstDash val="solid"/>
          </a:ln>
        </p:spPr>
      </p:sp>
      <p:sp>
        <p:nvSpPr>
          <p:cNvPr id="122" name="Shape 120"/>
          <p:cNvSpPr/>
          <p:nvPr/>
        </p:nvSpPr>
        <p:spPr>
          <a:xfrm>
            <a:off x="731520" y="5022771"/>
            <a:ext cx="960120" cy="0"/>
          </a:xfrm>
          <a:prstGeom prst="line">
            <a:avLst/>
          </a:prstGeom>
          <a:noFill/>
          <a:ln w="3175">
            <a:solidFill>
              <a:srgbClr val="B8C4D3"/>
            </a:solidFill>
            <a:prstDash val="solid"/>
          </a:ln>
        </p:spPr>
      </p:sp>
      <p:sp>
        <p:nvSpPr>
          <p:cNvPr id="123" name="Shape 121"/>
          <p:cNvSpPr/>
          <p:nvPr/>
        </p:nvSpPr>
        <p:spPr>
          <a:xfrm>
            <a:off x="1151573" y="4617720"/>
            <a:ext cx="0" cy="960120"/>
          </a:xfrm>
          <a:prstGeom prst="line">
            <a:avLst/>
          </a:prstGeom>
          <a:noFill/>
          <a:ln w="3175">
            <a:solidFill>
              <a:srgbClr val="B8C4D3"/>
            </a:solidFill>
            <a:prstDash val="solid"/>
          </a:ln>
        </p:spPr>
      </p:sp>
      <p:sp>
        <p:nvSpPr>
          <p:cNvPr id="124" name="Shape 122"/>
          <p:cNvSpPr/>
          <p:nvPr/>
        </p:nvSpPr>
        <p:spPr>
          <a:xfrm>
            <a:off x="731520" y="5037773"/>
            <a:ext cx="960120" cy="0"/>
          </a:xfrm>
          <a:prstGeom prst="line">
            <a:avLst/>
          </a:prstGeom>
          <a:noFill/>
          <a:ln w="3175">
            <a:solidFill>
              <a:srgbClr val="B8C4D3"/>
            </a:solidFill>
            <a:prstDash val="solid"/>
          </a:ln>
        </p:spPr>
      </p:sp>
      <p:sp>
        <p:nvSpPr>
          <p:cNvPr id="125" name="Shape 123"/>
          <p:cNvSpPr/>
          <p:nvPr/>
        </p:nvSpPr>
        <p:spPr>
          <a:xfrm>
            <a:off x="1166574" y="4617720"/>
            <a:ext cx="0" cy="960120"/>
          </a:xfrm>
          <a:prstGeom prst="line">
            <a:avLst/>
          </a:prstGeom>
          <a:noFill/>
          <a:ln w="3175">
            <a:solidFill>
              <a:srgbClr val="B8C4D3"/>
            </a:solidFill>
            <a:prstDash val="solid"/>
          </a:ln>
        </p:spPr>
      </p:sp>
      <p:sp>
        <p:nvSpPr>
          <p:cNvPr id="126" name="Shape 124"/>
          <p:cNvSpPr/>
          <p:nvPr/>
        </p:nvSpPr>
        <p:spPr>
          <a:xfrm>
            <a:off x="731520" y="5052774"/>
            <a:ext cx="960120" cy="0"/>
          </a:xfrm>
          <a:prstGeom prst="line">
            <a:avLst/>
          </a:prstGeom>
          <a:noFill/>
          <a:ln w="3175">
            <a:solidFill>
              <a:srgbClr val="B8C4D3"/>
            </a:solidFill>
            <a:prstDash val="solid"/>
          </a:ln>
        </p:spPr>
      </p:sp>
      <p:sp>
        <p:nvSpPr>
          <p:cNvPr id="127" name="Shape 125"/>
          <p:cNvSpPr/>
          <p:nvPr/>
        </p:nvSpPr>
        <p:spPr>
          <a:xfrm>
            <a:off x="1181576" y="4617720"/>
            <a:ext cx="0" cy="960120"/>
          </a:xfrm>
          <a:prstGeom prst="line">
            <a:avLst/>
          </a:prstGeom>
          <a:noFill/>
          <a:ln w="3175">
            <a:solidFill>
              <a:srgbClr val="B8C4D3"/>
            </a:solidFill>
            <a:prstDash val="solid"/>
          </a:ln>
        </p:spPr>
      </p:sp>
      <p:sp>
        <p:nvSpPr>
          <p:cNvPr id="128" name="Shape 126"/>
          <p:cNvSpPr/>
          <p:nvPr/>
        </p:nvSpPr>
        <p:spPr>
          <a:xfrm>
            <a:off x="731520" y="5067776"/>
            <a:ext cx="960120" cy="0"/>
          </a:xfrm>
          <a:prstGeom prst="line">
            <a:avLst/>
          </a:prstGeom>
          <a:noFill/>
          <a:ln w="3175">
            <a:solidFill>
              <a:srgbClr val="B8C4D3"/>
            </a:solidFill>
            <a:prstDash val="solid"/>
          </a:ln>
        </p:spPr>
      </p:sp>
      <p:sp>
        <p:nvSpPr>
          <p:cNvPr id="129" name="Shape 127"/>
          <p:cNvSpPr/>
          <p:nvPr/>
        </p:nvSpPr>
        <p:spPr>
          <a:xfrm>
            <a:off x="1196578" y="4617720"/>
            <a:ext cx="0" cy="960120"/>
          </a:xfrm>
          <a:prstGeom prst="line">
            <a:avLst/>
          </a:prstGeom>
          <a:noFill/>
          <a:ln w="3175">
            <a:solidFill>
              <a:srgbClr val="B8C4D3"/>
            </a:solidFill>
            <a:prstDash val="solid"/>
          </a:ln>
        </p:spPr>
      </p:sp>
      <p:sp>
        <p:nvSpPr>
          <p:cNvPr id="130" name="Shape 128"/>
          <p:cNvSpPr/>
          <p:nvPr/>
        </p:nvSpPr>
        <p:spPr>
          <a:xfrm>
            <a:off x="731520" y="5082778"/>
            <a:ext cx="960120" cy="0"/>
          </a:xfrm>
          <a:prstGeom prst="line">
            <a:avLst/>
          </a:prstGeom>
          <a:noFill/>
          <a:ln w="3175">
            <a:solidFill>
              <a:srgbClr val="B8C4D3"/>
            </a:solidFill>
            <a:prstDash val="solid"/>
          </a:ln>
        </p:spPr>
      </p:sp>
      <p:sp>
        <p:nvSpPr>
          <p:cNvPr id="131" name="Shape 129"/>
          <p:cNvSpPr/>
          <p:nvPr/>
        </p:nvSpPr>
        <p:spPr>
          <a:xfrm>
            <a:off x="1211580" y="4617720"/>
            <a:ext cx="0" cy="960120"/>
          </a:xfrm>
          <a:prstGeom prst="line">
            <a:avLst/>
          </a:prstGeom>
          <a:noFill/>
          <a:ln w="3175">
            <a:solidFill>
              <a:srgbClr val="B8C4D3"/>
            </a:solidFill>
            <a:prstDash val="solid"/>
          </a:ln>
        </p:spPr>
      </p:sp>
      <p:sp>
        <p:nvSpPr>
          <p:cNvPr id="132" name="Shape 130"/>
          <p:cNvSpPr/>
          <p:nvPr/>
        </p:nvSpPr>
        <p:spPr>
          <a:xfrm>
            <a:off x="731520" y="5097780"/>
            <a:ext cx="960120" cy="0"/>
          </a:xfrm>
          <a:prstGeom prst="line">
            <a:avLst/>
          </a:prstGeom>
          <a:noFill/>
          <a:ln w="3175">
            <a:solidFill>
              <a:srgbClr val="B8C4D3"/>
            </a:solidFill>
            <a:prstDash val="solid"/>
          </a:ln>
        </p:spPr>
      </p:sp>
      <p:sp>
        <p:nvSpPr>
          <p:cNvPr id="133" name="Shape 131"/>
          <p:cNvSpPr/>
          <p:nvPr/>
        </p:nvSpPr>
        <p:spPr>
          <a:xfrm>
            <a:off x="1226582" y="4617720"/>
            <a:ext cx="0" cy="960120"/>
          </a:xfrm>
          <a:prstGeom prst="line">
            <a:avLst/>
          </a:prstGeom>
          <a:noFill/>
          <a:ln w="3175">
            <a:solidFill>
              <a:srgbClr val="B8C4D3"/>
            </a:solidFill>
            <a:prstDash val="solid"/>
          </a:ln>
        </p:spPr>
      </p:sp>
      <p:sp>
        <p:nvSpPr>
          <p:cNvPr id="134" name="Shape 132"/>
          <p:cNvSpPr/>
          <p:nvPr/>
        </p:nvSpPr>
        <p:spPr>
          <a:xfrm>
            <a:off x="731520" y="5112782"/>
            <a:ext cx="960120" cy="0"/>
          </a:xfrm>
          <a:prstGeom prst="line">
            <a:avLst/>
          </a:prstGeom>
          <a:noFill/>
          <a:ln w="3175">
            <a:solidFill>
              <a:srgbClr val="B8C4D3"/>
            </a:solidFill>
            <a:prstDash val="solid"/>
          </a:ln>
        </p:spPr>
      </p:sp>
      <p:sp>
        <p:nvSpPr>
          <p:cNvPr id="135" name="Shape 133"/>
          <p:cNvSpPr/>
          <p:nvPr/>
        </p:nvSpPr>
        <p:spPr>
          <a:xfrm>
            <a:off x="1241584" y="4617720"/>
            <a:ext cx="0" cy="960120"/>
          </a:xfrm>
          <a:prstGeom prst="line">
            <a:avLst/>
          </a:prstGeom>
          <a:noFill/>
          <a:ln w="3175">
            <a:solidFill>
              <a:srgbClr val="B8C4D3"/>
            </a:solidFill>
            <a:prstDash val="solid"/>
          </a:ln>
        </p:spPr>
      </p:sp>
      <p:sp>
        <p:nvSpPr>
          <p:cNvPr id="136" name="Shape 134"/>
          <p:cNvSpPr/>
          <p:nvPr/>
        </p:nvSpPr>
        <p:spPr>
          <a:xfrm>
            <a:off x="731520" y="5127784"/>
            <a:ext cx="960120" cy="0"/>
          </a:xfrm>
          <a:prstGeom prst="line">
            <a:avLst/>
          </a:prstGeom>
          <a:noFill/>
          <a:ln w="3175">
            <a:solidFill>
              <a:srgbClr val="B8C4D3"/>
            </a:solidFill>
            <a:prstDash val="solid"/>
          </a:ln>
        </p:spPr>
      </p:sp>
      <p:sp>
        <p:nvSpPr>
          <p:cNvPr id="137" name="Shape 135"/>
          <p:cNvSpPr/>
          <p:nvPr/>
        </p:nvSpPr>
        <p:spPr>
          <a:xfrm>
            <a:off x="1256586" y="4617720"/>
            <a:ext cx="0" cy="960120"/>
          </a:xfrm>
          <a:prstGeom prst="line">
            <a:avLst/>
          </a:prstGeom>
          <a:noFill/>
          <a:ln w="3175">
            <a:solidFill>
              <a:srgbClr val="B8C4D3"/>
            </a:solidFill>
            <a:prstDash val="solid"/>
          </a:ln>
        </p:spPr>
      </p:sp>
      <p:sp>
        <p:nvSpPr>
          <p:cNvPr id="138" name="Shape 136"/>
          <p:cNvSpPr/>
          <p:nvPr/>
        </p:nvSpPr>
        <p:spPr>
          <a:xfrm>
            <a:off x="731520" y="5142786"/>
            <a:ext cx="960120" cy="0"/>
          </a:xfrm>
          <a:prstGeom prst="line">
            <a:avLst/>
          </a:prstGeom>
          <a:noFill/>
          <a:ln w="3175">
            <a:solidFill>
              <a:srgbClr val="B8C4D3"/>
            </a:solidFill>
            <a:prstDash val="solid"/>
          </a:ln>
        </p:spPr>
      </p:sp>
      <p:sp>
        <p:nvSpPr>
          <p:cNvPr id="139" name="Shape 137"/>
          <p:cNvSpPr/>
          <p:nvPr/>
        </p:nvSpPr>
        <p:spPr>
          <a:xfrm>
            <a:off x="1271588" y="4617720"/>
            <a:ext cx="0" cy="960120"/>
          </a:xfrm>
          <a:prstGeom prst="line">
            <a:avLst/>
          </a:prstGeom>
          <a:noFill/>
          <a:ln w="3175">
            <a:solidFill>
              <a:srgbClr val="B8C4D3"/>
            </a:solidFill>
            <a:prstDash val="solid"/>
          </a:ln>
        </p:spPr>
      </p:sp>
      <p:sp>
        <p:nvSpPr>
          <p:cNvPr id="140" name="Shape 138"/>
          <p:cNvSpPr/>
          <p:nvPr/>
        </p:nvSpPr>
        <p:spPr>
          <a:xfrm>
            <a:off x="731520" y="5157788"/>
            <a:ext cx="960120" cy="0"/>
          </a:xfrm>
          <a:prstGeom prst="line">
            <a:avLst/>
          </a:prstGeom>
          <a:noFill/>
          <a:ln w="3175">
            <a:solidFill>
              <a:srgbClr val="B8C4D3"/>
            </a:solidFill>
            <a:prstDash val="solid"/>
          </a:ln>
        </p:spPr>
      </p:sp>
      <p:sp>
        <p:nvSpPr>
          <p:cNvPr id="141" name="Shape 139"/>
          <p:cNvSpPr/>
          <p:nvPr/>
        </p:nvSpPr>
        <p:spPr>
          <a:xfrm>
            <a:off x="1286589" y="4617720"/>
            <a:ext cx="0" cy="960120"/>
          </a:xfrm>
          <a:prstGeom prst="line">
            <a:avLst/>
          </a:prstGeom>
          <a:noFill/>
          <a:ln w="3175">
            <a:solidFill>
              <a:srgbClr val="B8C4D3"/>
            </a:solidFill>
            <a:prstDash val="solid"/>
          </a:ln>
        </p:spPr>
      </p:sp>
      <p:sp>
        <p:nvSpPr>
          <p:cNvPr id="142" name="Shape 140"/>
          <p:cNvSpPr/>
          <p:nvPr/>
        </p:nvSpPr>
        <p:spPr>
          <a:xfrm>
            <a:off x="731520" y="5172789"/>
            <a:ext cx="960120" cy="0"/>
          </a:xfrm>
          <a:prstGeom prst="line">
            <a:avLst/>
          </a:prstGeom>
          <a:noFill/>
          <a:ln w="3175">
            <a:solidFill>
              <a:srgbClr val="B8C4D3"/>
            </a:solidFill>
            <a:prstDash val="solid"/>
          </a:ln>
        </p:spPr>
      </p:sp>
      <p:sp>
        <p:nvSpPr>
          <p:cNvPr id="143" name="Shape 141"/>
          <p:cNvSpPr/>
          <p:nvPr/>
        </p:nvSpPr>
        <p:spPr>
          <a:xfrm>
            <a:off x="1301591" y="4617720"/>
            <a:ext cx="0" cy="960120"/>
          </a:xfrm>
          <a:prstGeom prst="line">
            <a:avLst/>
          </a:prstGeom>
          <a:noFill/>
          <a:ln w="3175">
            <a:solidFill>
              <a:srgbClr val="B8C4D3"/>
            </a:solidFill>
            <a:prstDash val="solid"/>
          </a:ln>
        </p:spPr>
      </p:sp>
      <p:sp>
        <p:nvSpPr>
          <p:cNvPr id="144" name="Shape 142"/>
          <p:cNvSpPr/>
          <p:nvPr/>
        </p:nvSpPr>
        <p:spPr>
          <a:xfrm>
            <a:off x="731520" y="5187791"/>
            <a:ext cx="960120" cy="0"/>
          </a:xfrm>
          <a:prstGeom prst="line">
            <a:avLst/>
          </a:prstGeom>
          <a:noFill/>
          <a:ln w="3175">
            <a:solidFill>
              <a:srgbClr val="B8C4D3"/>
            </a:solidFill>
            <a:prstDash val="solid"/>
          </a:ln>
        </p:spPr>
      </p:sp>
      <p:sp>
        <p:nvSpPr>
          <p:cNvPr id="145" name="Shape 143"/>
          <p:cNvSpPr/>
          <p:nvPr/>
        </p:nvSpPr>
        <p:spPr>
          <a:xfrm>
            <a:off x="1316593" y="4617720"/>
            <a:ext cx="0" cy="960120"/>
          </a:xfrm>
          <a:prstGeom prst="line">
            <a:avLst/>
          </a:prstGeom>
          <a:noFill/>
          <a:ln w="3175">
            <a:solidFill>
              <a:srgbClr val="B8C4D3"/>
            </a:solidFill>
            <a:prstDash val="solid"/>
          </a:ln>
        </p:spPr>
      </p:sp>
      <p:sp>
        <p:nvSpPr>
          <p:cNvPr id="146" name="Shape 144"/>
          <p:cNvSpPr/>
          <p:nvPr/>
        </p:nvSpPr>
        <p:spPr>
          <a:xfrm>
            <a:off x="731520" y="5202793"/>
            <a:ext cx="960120" cy="0"/>
          </a:xfrm>
          <a:prstGeom prst="line">
            <a:avLst/>
          </a:prstGeom>
          <a:noFill/>
          <a:ln w="3175">
            <a:solidFill>
              <a:srgbClr val="B8C4D3"/>
            </a:solidFill>
            <a:prstDash val="solid"/>
          </a:ln>
        </p:spPr>
      </p:sp>
      <p:sp>
        <p:nvSpPr>
          <p:cNvPr id="147" name="Shape 145"/>
          <p:cNvSpPr/>
          <p:nvPr/>
        </p:nvSpPr>
        <p:spPr>
          <a:xfrm>
            <a:off x="1331595" y="4617720"/>
            <a:ext cx="0" cy="960120"/>
          </a:xfrm>
          <a:prstGeom prst="line">
            <a:avLst/>
          </a:prstGeom>
          <a:noFill/>
          <a:ln w="3175">
            <a:solidFill>
              <a:srgbClr val="B8C4D3"/>
            </a:solidFill>
            <a:prstDash val="solid"/>
          </a:ln>
        </p:spPr>
      </p:sp>
      <p:sp>
        <p:nvSpPr>
          <p:cNvPr id="148" name="Shape 146"/>
          <p:cNvSpPr/>
          <p:nvPr/>
        </p:nvSpPr>
        <p:spPr>
          <a:xfrm>
            <a:off x="731520" y="5217795"/>
            <a:ext cx="960120" cy="0"/>
          </a:xfrm>
          <a:prstGeom prst="line">
            <a:avLst/>
          </a:prstGeom>
          <a:noFill/>
          <a:ln w="3175">
            <a:solidFill>
              <a:srgbClr val="B8C4D3"/>
            </a:solidFill>
            <a:prstDash val="solid"/>
          </a:ln>
        </p:spPr>
      </p:sp>
      <p:sp>
        <p:nvSpPr>
          <p:cNvPr id="149" name="Shape 147"/>
          <p:cNvSpPr/>
          <p:nvPr/>
        </p:nvSpPr>
        <p:spPr>
          <a:xfrm>
            <a:off x="1346597" y="4617720"/>
            <a:ext cx="0" cy="960120"/>
          </a:xfrm>
          <a:prstGeom prst="line">
            <a:avLst/>
          </a:prstGeom>
          <a:noFill/>
          <a:ln w="3175">
            <a:solidFill>
              <a:srgbClr val="B8C4D3"/>
            </a:solidFill>
            <a:prstDash val="solid"/>
          </a:ln>
        </p:spPr>
      </p:sp>
      <p:sp>
        <p:nvSpPr>
          <p:cNvPr id="150" name="Shape 148"/>
          <p:cNvSpPr/>
          <p:nvPr/>
        </p:nvSpPr>
        <p:spPr>
          <a:xfrm>
            <a:off x="731520" y="5232797"/>
            <a:ext cx="960120" cy="0"/>
          </a:xfrm>
          <a:prstGeom prst="line">
            <a:avLst/>
          </a:prstGeom>
          <a:noFill/>
          <a:ln w="3175">
            <a:solidFill>
              <a:srgbClr val="B8C4D3"/>
            </a:solidFill>
            <a:prstDash val="solid"/>
          </a:ln>
        </p:spPr>
      </p:sp>
      <p:sp>
        <p:nvSpPr>
          <p:cNvPr id="151" name="Shape 149"/>
          <p:cNvSpPr/>
          <p:nvPr/>
        </p:nvSpPr>
        <p:spPr>
          <a:xfrm>
            <a:off x="1361599" y="4617720"/>
            <a:ext cx="0" cy="960120"/>
          </a:xfrm>
          <a:prstGeom prst="line">
            <a:avLst/>
          </a:prstGeom>
          <a:noFill/>
          <a:ln w="3175">
            <a:solidFill>
              <a:srgbClr val="B8C4D3"/>
            </a:solidFill>
            <a:prstDash val="solid"/>
          </a:ln>
        </p:spPr>
      </p:sp>
      <p:sp>
        <p:nvSpPr>
          <p:cNvPr id="152" name="Shape 150"/>
          <p:cNvSpPr/>
          <p:nvPr/>
        </p:nvSpPr>
        <p:spPr>
          <a:xfrm>
            <a:off x="731520" y="5247799"/>
            <a:ext cx="960120" cy="0"/>
          </a:xfrm>
          <a:prstGeom prst="line">
            <a:avLst/>
          </a:prstGeom>
          <a:noFill/>
          <a:ln w="3175">
            <a:solidFill>
              <a:srgbClr val="B8C4D3"/>
            </a:solidFill>
            <a:prstDash val="solid"/>
          </a:ln>
        </p:spPr>
      </p:sp>
      <p:sp>
        <p:nvSpPr>
          <p:cNvPr id="153" name="Shape 151"/>
          <p:cNvSpPr/>
          <p:nvPr/>
        </p:nvSpPr>
        <p:spPr>
          <a:xfrm>
            <a:off x="1376601" y="4617720"/>
            <a:ext cx="0" cy="960120"/>
          </a:xfrm>
          <a:prstGeom prst="line">
            <a:avLst/>
          </a:prstGeom>
          <a:noFill/>
          <a:ln w="3175">
            <a:solidFill>
              <a:srgbClr val="B8C4D3"/>
            </a:solidFill>
            <a:prstDash val="solid"/>
          </a:ln>
        </p:spPr>
      </p:sp>
      <p:sp>
        <p:nvSpPr>
          <p:cNvPr id="154" name="Shape 152"/>
          <p:cNvSpPr/>
          <p:nvPr/>
        </p:nvSpPr>
        <p:spPr>
          <a:xfrm>
            <a:off x="731520" y="5262801"/>
            <a:ext cx="960120" cy="0"/>
          </a:xfrm>
          <a:prstGeom prst="line">
            <a:avLst/>
          </a:prstGeom>
          <a:noFill/>
          <a:ln w="3175">
            <a:solidFill>
              <a:srgbClr val="B8C4D3"/>
            </a:solidFill>
            <a:prstDash val="solid"/>
          </a:ln>
        </p:spPr>
      </p:sp>
      <p:sp>
        <p:nvSpPr>
          <p:cNvPr id="155" name="Shape 153"/>
          <p:cNvSpPr/>
          <p:nvPr/>
        </p:nvSpPr>
        <p:spPr>
          <a:xfrm>
            <a:off x="1391603" y="4617720"/>
            <a:ext cx="0" cy="960120"/>
          </a:xfrm>
          <a:prstGeom prst="line">
            <a:avLst/>
          </a:prstGeom>
          <a:noFill/>
          <a:ln w="3175">
            <a:solidFill>
              <a:srgbClr val="B8C4D3"/>
            </a:solidFill>
            <a:prstDash val="solid"/>
          </a:ln>
        </p:spPr>
      </p:sp>
      <p:sp>
        <p:nvSpPr>
          <p:cNvPr id="156" name="Shape 154"/>
          <p:cNvSpPr/>
          <p:nvPr/>
        </p:nvSpPr>
        <p:spPr>
          <a:xfrm>
            <a:off x="731520" y="5277803"/>
            <a:ext cx="960120" cy="0"/>
          </a:xfrm>
          <a:prstGeom prst="line">
            <a:avLst/>
          </a:prstGeom>
          <a:noFill/>
          <a:ln w="3175">
            <a:solidFill>
              <a:srgbClr val="B8C4D3"/>
            </a:solidFill>
            <a:prstDash val="solid"/>
          </a:ln>
        </p:spPr>
      </p:sp>
      <p:sp>
        <p:nvSpPr>
          <p:cNvPr id="157" name="Shape 155"/>
          <p:cNvSpPr/>
          <p:nvPr/>
        </p:nvSpPr>
        <p:spPr>
          <a:xfrm>
            <a:off x="1406604" y="4617720"/>
            <a:ext cx="0" cy="960120"/>
          </a:xfrm>
          <a:prstGeom prst="line">
            <a:avLst/>
          </a:prstGeom>
          <a:noFill/>
          <a:ln w="3175">
            <a:solidFill>
              <a:srgbClr val="B8C4D3"/>
            </a:solidFill>
            <a:prstDash val="solid"/>
          </a:ln>
        </p:spPr>
      </p:sp>
      <p:sp>
        <p:nvSpPr>
          <p:cNvPr id="158" name="Shape 156"/>
          <p:cNvSpPr/>
          <p:nvPr/>
        </p:nvSpPr>
        <p:spPr>
          <a:xfrm>
            <a:off x="731520" y="5292804"/>
            <a:ext cx="960120" cy="0"/>
          </a:xfrm>
          <a:prstGeom prst="line">
            <a:avLst/>
          </a:prstGeom>
          <a:noFill/>
          <a:ln w="3175">
            <a:solidFill>
              <a:srgbClr val="B8C4D3"/>
            </a:solidFill>
            <a:prstDash val="solid"/>
          </a:ln>
        </p:spPr>
      </p:sp>
      <p:sp>
        <p:nvSpPr>
          <p:cNvPr id="159" name="Shape 157"/>
          <p:cNvSpPr/>
          <p:nvPr/>
        </p:nvSpPr>
        <p:spPr>
          <a:xfrm>
            <a:off x="1421606" y="4617720"/>
            <a:ext cx="0" cy="960120"/>
          </a:xfrm>
          <a:prstGeom prst="line">
            <a:avLst/>
          </a:prstGeom>
          <a:noFill/>
          <a:ln w="3175">
            <a:solidFill>
              <a:srgbClr val="B8C4D3"/>
            </a:solidFill>
            <a:prstDash val="solid"/>
          </a:ln>
        </p:spPr>
      </p:sp>
      <p:sp>
        <p:nvSpPr>
          <p:cNvPr id="160" name="Shape 158"/>
          <p:cNvSpPr/>
          <p:nvPr/>
        </p:nvSpPr>
        <p:spPr>
          <a:xfrm>
            <a:off x="731520" y="5307806"/>
            <a:ext cx="960120" cy="0"/>
          </a:xfrm>
          <a:prstGeom prst="line">
            <a:avLst/>
          </a:prstGeom>
          <a:noFill/>
          <a:ln w="3175">
            <a:solidFill>
              <a:srgbClr val="B8C4D3"/>
            </a:solidFill>
            <a:prstDash val="solid"/>
          </a:ln>
        </p:spPr>
      </p:sp>
      <p:sp>
        <p:nvSpPr>
          <p:cNvPr id="161" name="Shape 159"/>
          <p:cNvSpPr/>
          <p:nvPr/>
        </p:nvSpPr>
        <p:spPr>
          <a:xfrm>
            <a:off x="1436608" y="4617720"/>
            <a:ext cx="0" cy="960120"/>
          </a:xfrm>
          <a:prstGeom prst="line">
            <a:avLst/>
          </a:prstGeom>
          <a:noFill/>
          <a:ln w="3175">
            <a:solidFill>
              <a:srgbClr val="B8C4D3"/>
            </a:solidFill>
            <a:prstDash val="solid"/>
          </a:ln>
        </p:spPr>
      </p:sp>
      <p:sp>
        <p:nvSpPr>
          <p:cNvPr id="162" name="Shape 160"/>
          <p:cNvSpPr/>
          <p:nvPr/>
        </p:nvSpPr>
        <p:spPr>
          <a:xfrm>
            <a:off x="731520" y="5322808"/>
            <a:ext cx="960120" cy="0"/>
          </a:xfrm>
          <a:prstGeom prst="line">
            <a:avLst/>
          </a:prstGeom>
          <a:noFill/>
          <a:ln w="3175">
            <a:solidFill>
              <a:srgbClr val="B8C4D3"/>
            </a:solidFill>
            <a:prstDash val="solid"/>
          </a:ln>
        </p:spPr>
      </p:sp>
      <p:sp>
        <p:nvSpPr>
          <p:cNvPr id="163" name="Shape 161"/>
          <p:cNvSpPr/>
          <p:nvPr/>
        </p:nvSpPr>
        <p:spPr>
          <a:xfrm>
            <a:off x="1451610" y="4617720"/>
            <a:ext cx="0" cy="960120"/>
          </a:xfrm>
          <a:prstGeom prst="line">
            <a:avLst/>
          </a:prstGeom>
          <a:noFill/>
          <a:ln w="3175">
            <a:solidFill>
              <a:srgbClr val="B8C4D3"/>
            </a:solidFill>
            <a:prstDash val="solid"/>
          </a:ln>
        </p:spPr>
      </p:sp>
      <p:sp>
        <p:nvSpPr>
          <p:cNvPr id="164" name="Shape 162"/>
          <p:cNvSpPr/>
          <p:nvPr/>
        </p:nvSpPr>
        <p:spPr>
          <a:xfrm>
            <a:off x="731520" y="5337810"/>
            <a:ext cx="960120" cy="0"/>
          </a:xfrm>
          <a:prstGeom prst="line">
            <a:avLst/>
          </a:prstGeom>
          <a:noFill/>
          <a:ln w="3175">
            <a:solidFill>
              <a:srgbClr val="B8C4D3"/>
            </a:solidFill>
            <a:prstDash val="solid"/>
          </a:ln>
        </p:spPr>
      </p:sp>
      <p:sp>
        <p:nvSpPr>
          <p:cNvPr id="165" name="Shape 163"/>
          <p:cNvSpPr/>
          <p:nvPr/>
        </p:nvSpPr>
        <p:spPr>
          <a:xfrm>
            <a:off x="1466612" y="4617720"/>
            <a:ext cx="0" cy="960120"/>
          </a:xfrm>
          <a:prstGeom prst="line">
            <a:avLst/>
          </a:prstGeom>
          <a:noFill/>
          <a:ln w="3175">
            <a:solidFill>
              <a:srgbClr val="B8C4D3"/>
            </a:solidFill>
            <a:prstDash val="solid"/>
          </a:ln>
        </p:spPr>
      </p:sp>
      <p:sp>
        <p:nvSpPr>
          <p:cNvPr id="166" name="Shape 164"/>
          <p:cNvSpPr/>
          <p:nvPr/>
        </p:nvSpPr>
        <p:spPr>
          <a:xfrm>
            <a:off x="731520" y="5352812"/>
            <a:ext cx="960120" cy="0"/>
          </a:xfrm>
          <a:prstGeom prst="line">
            <a:avLst/>
          </a:prstGeom>
          <a:noFill/>
          <a:ln w="3175">
            <a:solidFill>
              <a:srgbClr val="B8C4D3"/>
            </a:solidFill>
            <a:prstDash val="solid"/>
          </a:ln>
        </p:spPr>
      </p:sp>
      <p:sp>
        <p:nvSpPr>
          <p:cNvPr id="167" name="Shape 165"/>
          <p:cNvSpPr/>
          <p:nvPr/>
        </p:nvSpPr>
        <p:spPr>
          <a:xfrm>
            <a:off x="1481614" y="4617720"/>
            <a:ext cx="0" cy="960120"/>
          </a:xfrm>
          <a:prstGeom prst="line">
            <a:avLst/>
          </a:prstGeom>
          <a:noFill/>
          <a:ln w="3175">
            <a:solidFill>
              <a:srgbClr val="B8C4D3"/>
            </a:solidFill>
            <a:prstDash val="solid"/>
          </a:ln>
        </p:spPr>
      </p:sp>
      <p:sp>
        <p:nvSpPr>
          <p:cNvPr id="168" name="Shape 166"/>
          <p:cNvSpPr/>
          <p:nvPr/>
        </p:nvSpPr>
        <p:spPr>
          <a:xfrm>
            <a:off x="731520" y="5367814"/>
            <a:ext cx="960120" cy="0"/>
          </a:xfrm>
          <a:prstGeom prst="line">
            <a:avLst/>
          </a:prstGeom>
          <a:noFill/>
          <a:ln w="3175">
            <a:solidFill>
              <a:srgbClr val="B8C4D3"/>
            </a:solidFill>
            <a:prstDash val="solid"/>
          </a:ln>
        </p:spPr>
      </p:sp>
      <p:sp>
        <p:nvSpPr>
          <p:cNvPr id="169" name="Shape 167"/>
          <p:cNvSpPr/>
          <p:nvPr/>
        </p:nvSpPr>
        <p:spPr>
          <a:xfrm>
            <a:off x="1496616" y="4617720"/>
            <a:ext cx="0" cy="960120"/>
          </a:xfrm>
          <a:prstGeom prst="line">
            <a:avLst/>
          </a:prstGeom>
          <a:noFill/>
          <a:ln w="3175">
            <a:solidFill>
              <a:srgbClr val="B8C4D3"/>
            </a:solidFill>
            <a:prstDash val="solid"/>
          </a:ln>
        </p:spPr>
      </p:sp>
      <p:sp>
        <p:nvSpPr>
          <p:cNvPr id="170" name="Shape 168"/>
          <p:cNvSpPr/>
          <p:nvPr/>
        </p:nvSpPr>
        <p:spPr>
          <a:xfrm>
            <a:off x="731520" y="5382816"/>
            <a:ext cx="960120" cy="0"/>
          </a:xfrm>
          <a:prstGeom prst="line">
            <a:avLst/>
          </a:prstGeom>
          <a:noFill/>
          <a:ln w="3175">
            <a:solidFill>
              <a:srgbClr val="B8C4D3"/>
            </a:solidFill>
            <a:prstDash val="solid"/>
          </a:ln>
        </p:spPr>
      </p:sp>
      <p:sp>
        <p:nvSpPr>
          <p:cNvPr id="171" name="Shape 169"/>
          <p:cNvSpPr/>
          <p:nvPr/>
        </p:nvSpPr>
        <p:spPr>
          <a:xfrm>
            <a:off x="1511618" y="4617720"/>
            <a:ext cx="0" cy="960120"/>
          </a:xfrm>
          <a:prstGeom prst="line">
            <a:avLst/>
          </a:prstGeom>
          <a:noFill/>
          <a:ln w="3175">
            <a:solidFill>
              <a:srgbClr val="B8C4D3"/>
            </a:solidFill>
            <a:prstDash val="solid"/>
          </a:ln>
        </p:spPr>
      </p:sp>
      <p:sp>
        <p:nvSpPr>
          <p:cNvPr id="172" name="Shape 170"/>
          <p:cNvSpPr/>
          <p:nvPr/>
        </p:nvSpPr>
        <p:spPr>
          <a:xfrm>
            <a:off x="731520" y="5397818"/>
            <a:ext cx="960120" cy="0"/>
          </a:xfrm>
          <a:prstGeom prst="line">
            <a:avLst/>
          </a:prstGeom>
          <a:noFill/>
          <a:ln w="3175">
            <a:solidFill>
              <a:srgbClr val="B8C4D3"/>
            </a:solidFill>
            <a:prstDash val="solid"/>
          </a:ln>
        </p:spPr>
      </p:sp>
      <p:sp>
        <p:nvSpPr>
          <p:cNvPr id="173" name="Shape 171"/>
          <p:cNvSpPr/>
          <p:nvPr/>
        </p:nvSpPr>
        <p:spPr>
          <a:xfrm>
            <a:off x="1526619" y="4617720"/>
            <a:ext cx="0" cy="960120"/>
          </a:xfrm>
          <a:prstGeom prst="line">
            <a:avLst/>
          </a:prstGeom>
          <a:noFill/>
          <a:ln w="3175">
            <a:solidFill>
              <a:srgbClr val="B8C4D3"/>
            </a:solidFill>
            <a:prstDash val="solid"/>
          </a:ln>
        </p:spPr>
      </p:sp>
      <p:sp>
        <p:nvSpPr>
          <p:cNvPr id="174" name="Shape 172"/>
          <p:cNvSpPr/>
          <p:nvPr/>
        </p:nvSpPr>
        <p:spPr>
          <a:xfrm>
            <a:off x="731520" y="5412819"/>
            <a:ext cx="960120" cy="0"/>
          </a:xfrm>
          <a:prstGeom prst="line">
            <a:avLst/>
          </a:prstGeom>
          <a:noFill/>
          <a:ln w="3175">
            <a:solidFill>
              <a:srgbClr val="B8C4D3"/>
            </a:solidFill>
            <a:prstDash val="solid"/>
          </a:ln>
        </p:spPr>
      </p:sp>
      <p:sp>
        <p:nvSpPr>
          <p:cNvPr id="175" name="Shape 173"/>
          <p:cNvSpPr/>
          <p:nvPr/>
        </p:nvSpPr>
        <p:spPr>
          <a:xfrm>
            <a:off x="1541621" y="4617720"/>
            <a:ext cx="0" cy="960120"/>
          </a:xfrm>
          <a:prstGeom prst="line">
            <a:avLst/>
          </a:prstGeom>
          <a:noFill/>
          <a:ln w="3175">
            <a:solidFill>
              <a:srgbClr val="B8C4D3"/>
            </a:solidFill>
            <a:prstDash val="solid"/>
          </a:ln>
        </p:spPr>
      </p:sp>
      <p:sp>
        <p:nvSpPr>
          <p:cNvPr id="176" name="Shape 174"/>
          <p:cNvSpPr/>
          <p:nvPr/>
        </p:nvSpPr>
        <p:spPr>
          <a:xfrm>
            <a:off x="731520" y="5427821"/>
            <a:ext cx="960120" cy="0"/>
          </a:xfrm>
          <a:prstGeom prst="line">
            <a:avLst/>
          </a:prstGeom>
          <a:noFill/>
          <a:ln w="3175">
            <a:solidFill>
              <a:srgbClr val="B8C4D3"/>
            </a:solidFill>
            <a:prstDash val="solid"/>
          </a:ln>
        </p:spPr>
      </p:sp>
      <p:sp>
        <p:nvSpPr>
          <p:cNvPr id="177" name="Shape 175"/>
          <p:cNvSpPr/>
          <p:nvPr/>
        </p:nvSpPr>
        <p:spPr>
          <a:xfrm>
            <a:off x="1556623" y="4617720"/>
            <a:ext cx="0" cy="960120"/>
          </a:xfrm>
          <a:prstGeom prst="line">
            <a:avLst/>
          </a:prstGeom>
          <a:noFill/>
          <a:ln w="3175">
            <a:solidFill>
              <a:srgbClr val="B8C4D3"/>
            </a:solidFill>
            <a:prstDash val="solid"/>
          </a:ln>
        </p:spPr>
      </p:sp>
      <p:sp>
        <p:nvSpPr>
          <p:cNvPr id="178" name="Shape 176"/>
          <p:cNvSpPr/>
          <p:nvPr/>
        </p:nvSpPr>
        <p:spPr>
          <a:xfrm>
            <a:off x="731520" y="5442823"/>
            <a:ext cx="960120" cy="0"/>
          </a:xfrm>
          <a:prstGeom prst="line">
            <a:avLst/>
          </a:prstGeom>
          <a:noFill/>
          <a:ln w="3175">
            <a:solidFill>
              <a:srgbClr val="B8C4D3"/>
            </a:solidFill>
            <a:prstDash val="solid"/>
          </a:ln>
        </p:spPr>
      </p:sp>
      <p:sp>
        <p:nvSpPr>
          <p:cNvPr id="179" name="Shape 177"/>
          <p:cNvSpPr/>
          <p:nvPr/>
        </p:nvSpPr>
        <p:spPr>
          <a:xfrm>
            <a:off x="1571625" y="4617720"/>
            <a:ext cx="0" cy="960120"/>
          </a:xfrm>
          <a:prstGeom prst="line">
            <a:avLst/>
          </a:prstGeom>
          <a:noFill/>
          <a:ln w="3175">
            <a:solidFill>
              <a:srgbClr val="B8C4D3"/>
            </a:solidFill>
            <a:prstDash val="solid"/>
          </a:ln>
        </p:spPr>
      </p:sp>
      <p:sp>
        <p:nvSpPr>
          <p:cNvPr id="180" name="Shape 178"/>
          <p:cNvSpPr/>
          <p:nvPr/>
        </p:nvSpPr>
        <p:spPr>
          <a:xfrm>
            <a:off x="731520" y="5457825"/>
            <a:ext cx="960120" cy="0"/>
          </a:xfrm>
          <a:prstGeom prst="line">
            <a:avLst/>
          </a:prstGeom>
          <a:noFill/>
          <a:ln w="3175">
            <a:solidFill>
              <a:srgbClr val="B8C4D3"/>
            </a:solidFill>
            <a:prstDash val="solid"/>
          </a:ln>
        </p:spPr>
      </p:sp>
      <p:sp>
        <p:nvSpPr>
          <p:cNvPr id="181" name="Shape 179"/>
          <p:cNvSpPr/>
          <p:nvPr/>
        </p:nvSpPr>
        <p:spPr>
          <a:xfrm>
            <a:off x="1586627" y="4617720"/>
            <a:ext cx="0" cy="960120"/>
          </a:xfrm>
          <a:prstGeom prst="line">
            <a:avLst/>
          </a:prstGeom>
          <a:noFill/>
          <a:ln w="3175">
            <a:solidFill>
              <a:srgbClr val="B8C4D3"/>
            </a:solidFill>
            <a:prstDash val="solid"/>
          </a:ln>
        </p:spPr>
      </p:sp>
      <p:sp>
        <p:nvSpPr>
          <p:cNvPr id="182" name="Shape 180"/>
          <p:cNvSpPr/>
          <p:nvPr/>
        </p:nvSpPr>
        <p:spPr>
          <a:xfrm>
            <a:off x="731520" y="5472827"/>
            <a:ext cx="960120" cy="0"/>
          </a:xfrm>
          <a:prstGeom prst="line">
            <a:avLst/>
          </a:prstGeom>
          <a:noFill/>
          <a:ln w="3175">
            <a:solidFill>
              <a:srgbClr val="B8C4D3"/>
            </a:solidFill>
            <a:prstDash val="solid"/>
          </a:ln>
        </p:spPr>
      </p:sp>
      <p:sp>
        <p:nvSpPr>
          <p:cNvPr id="183" name="Shape 181"/>
          <p:cNvSpPr/>
          <p:nvPr/>
        </p:nvSpPr>
        <p:spPr>
          <a:xfrm>
            <a:off x="1601629" y="4617720"/>
            <a:ext cx="0" cy="960120"/>
          </a:xfrm>
          <a:prstGeom prst="line">
            <a:avLst/>
          </a:prstGeom>
          <a:noFill/>
          <a:ln w="3175">
            <a:solidFill>
              <a:srgbClr val="B8C4D3"/>
            </a:solidFill>
            <a:prstDash val="solid"/>
          </a:ln>
        </p:spPr>
      </p:sp>
      <p:sp>
        <p:nvSpPr>
          <p:cNvPr id="184" name="Shape 182"/>
          <p:cNvSpPr/>
          <p:nvPr/>
        </p:nvSpPr>
        <p:spPr>
          <a:xfrm>
            <a:off x="731520" y="5487829"/>
            <a:ext cx="960120" cy="0"/>
          </a:xfrm>
          <a:prstGeom prst="line">
            <a:avLst/>
          </a:prstGeom>
          <a:noFill/>
          <a:ln w="3175">
            <a:solidFill>
              <a:srgbClr val="B8C4D3"/>
            </a:solidFill>
            <a:prstDash val="solid"/>
          </a:ln>
        </p:spPr>
      </p:sp>
      <p:sp>
        <p:nvSpPr>
          <p:cNvPr id="185" name="Shape 183"/>
          <p:cNvSpPr/>
          <p:nvPr/>
        </p:nvSpPr>
        <p:spPr>
          <a:xfrm>
            <a:off x="1616631" y="4617720"/>
            <a:ext cx="0" cy="960120"/>
          </a:xfrm>
          <a:prstGeom prst="line">
            <a:avLst/>
          </a:prstGeom>
          <a:noFill/>
          <a:ln w="3175">
            <a:solidFill>
              <a:srgbClr val="B8C4D3"/>
            </a:solidFill>
            <a:prstDash val="solid"/>
          </a:ln>
        </p:spPr>
      </p:sp>
      <p:sp>
        <p:nvSpPr>
          <p:cNvPr id="186" name="Shape 184"/>
          <p:cNvSpPr/>
          <p:nvPr/>
        </p:nvSpPr>
        <p:spPr>
          <a:xfrm>
            <a:off x="731520" y="5502831"/>
            <a:ext cx="960120" cy="0"/>
          </a:xfrm>
          <a:prstGeom prst="line">
            <a:avLst/>
          </a:prstGeom>
          <a:noFill/>
          <a:ln w="3175">
            <a:solidFill>
              <a:srgbClr val="B8C4D3"/>
            </a:solidFill>
            <a:prstDash val="solid"/>
          </a:ln>
        </p:spPr>
      </p:sp>
      <p:sp>
        <p:nvSpPr>
          <p:cNvPr id="187" name="Shape 185"/>
          <p:cNvSpPr/>
          <p:nvPr/>
        </p:nvSpPr>
        <p:spPr>
          <a:xfrm>
            <a:off x="1631633" y="4617720"/>
            <a:ext cx="0" cy="960120"/>
          </a:xfrm>
          <a:prstGeom prst="line">
            <a:avLst/>
          </a:prstGeom>
          <a:noFill/>
          <a:ln w="3175">
            <a:solidFill>
              <a:srgbClr val="B8C4D3"/>
            </a:solidFill>
            <a:prstDash val="solid"/>
          </a:ln>
        </p:spPr>
      </p:sp>
      <p:sp>
        <p:nvSpPr>
          <p:cNvPr id="188" name="Shape 186"/>
          <p:cNvSpPr/>
          <p:nvPr/>
        </p:nvSpPr>
        <p:spPr>
          <a:xfrm>
            <a:off x="731520" y="5517833"/>
            <a:ext cx="960120" cy="0"/>
          </a:xfrm>
          <a:prstGeom prst="line">
            <a:avLst/>
          </a:prstGeom>
          <a:noFill/>
          <a:ln w="3175">
            <a:solidFill>
              <a:srgbClr val="B8C4D3"/>
            </a:solidFill>
            <a:prstDash val="solid"/>
          </a:ln>
        </p:spPr>
      </p:sp>
      <p:sp>
        <p:nvSpPr>
          <p:cNvPr id="189" name="Shape 187"/>
          <p:cNvSpPr/>
          <p:nvPr/>
        </p:nvSpPr>
        <p:spPr>
          <a:xfrm>
            <a:off x="1646634" y="4617720"/>
            <a:ext cx="0" cy="960120"/>
          </a:xfrm>
          <a:prstGeom prst="line">
            <a:avLst/>
          </a:prstGeom>
          <a:noFill/>
          <a:ln w="3175">
            <a:solidFill>
              <a:srgbClr val="B8C4D3"/>
            </a:solidFill>
            <a:prstDash val="solid"/>
          </a:ln>
        </p:spPr>
      </p:sp>
      <p:sp>
        <p:nvSpPr>
          <p:cNvPr id="190" name="Shape 188"/>
          <p:cNvSpPr/>
          <p:nvPr/>
        </p:nvSpPr>
        <p:spPr>
          <a:xfrm>
            <a:off x="731520" y="5532834"/>
            <a:ext cx="960120" cy="0"/>
          </a:xfrm>
          <a:prstGeom prst="line">
            <a:avLst/>
          </a:prstGeom>
          <a:noFill/>
          <a:ln w="3175">
            <a:solidFill>
              <a:srgbClr val="B8C4D3"/>
            </a:solidFill>
            <a:prstDash val="solid"/>
          </a:ln>
        </p:spPr>
      </p:sp>
      <p:sp>
        <p:nvSpPr>
          <p:cNvPr id="191" name="Shape 189"/>
          <p:cNvSpPr/>
          <p:nvPr/>
        </p:nvSpPr>
        <p:spPr>
          <a:xfrm>
            <a:off x="1661636" y="4617720"/>
            <a:ext cx="0" cy="960120"/>
          </a:xfrm>
          <a:prstGeom prst="line">
            <a:avLst/>
          </a:prstGeom>
          <a:noFill/>
          <a:ln w="3175">
            <a:solidFill>
              <a:srgbClr val="B8C4D3"/>
            </a:solidFill>
            <a:prstDash val="solid"/>
          </a:ln>
        </p:spPr>
      </p:sp>
      <p:sp>
        <p:nvSpPr>
          <p:cNvPr id="192" name="Shape 190"/>
          <p:cNvSpPr/>
          <p:nvPr/>
        </p:nvSpPr>
        <p:spPr>
          <a:xfrm>
            <a:off x="731520" y="5547836"/>
            <a:ext cx="960120" cy="0"/>
          </a:xfrm>
          <a:prstGeom prst="line">
            <a:avLst/>
          </a:prstGeom>
          <a:noFill/>
          <a:ln w="3175">
            <a:solidFill>
              <a:srgbClr val="B8C4D3"/>
            </a:solidFill>
            <a:prstDash val="solid"/>
          </a:ln>
        </p:spPr>
      </p:sp>
      <p:sp>
        <p:nvSpPr>
          <p:cNvPr id="193" name="Shape 191"/>
          <p:cNvSpPr/>
          <p:nvPr/>
        </p:nvSpPr>
        <p:spPr>
          <a:xfrm>
            <a:off x="1676638" y="4617720"/>
            <a:ext cx="0" cy="960120"/>
          </a:xfrm>
          <a:prstGeom prst="line">
            <a:avLst/>
          </a:prstGeom>
          <a:noFill/>
          <a:ln w="3175">
            <a:solidFill>
              <a:srgbClr val="B8C4D3"/>
            </a:solidFill>
            <a:prstDash val="solid"/>
          </a:ln>
        </p:spPr>
      </p:sp>
      <p:sp>
        <p:nvSpPr>
          <p:cNvPr id="194" name="Shape 192"/>
          <p:cNvSpPr/>
          <p:nvPr/>
        </p:nvSpPr>
        <p:spPr>
          <a:xfrm>
            <a:off x="731520" y="5562838"/>
            <a:ext cx="960120" cy="0"/>
          </a:xfrm>
          <a:prstGeom prst="line">
            <a:avLst/>
          </a:prstGeom>
          <a:noFill/>
          <a:ln w="3175">
            <a:solidFill>
              <a:srgbClr val="B8C4D3"/>
            </a:solidFill>
            <a:prstDash val="solid"/>
          </a:ln>
        </p:spPr>
      </p:sp>
      <p:sp>
        <p:nvSpPr>
          <p:cNvPr id="195" name="Shape 193"/>
          <p:cNvSpPr/>
          <p:nvPr/>
        </p:nvSpPr>
        <p:spPr>
          <a:xfrm>
            <a:off x="1211580" y="5097780"/>
            <a:ext cx="15002" cy="15002"/>
          </a:xfrm>
          <a:prstGeom prst="rect">
            <a:avLst/>
          </a:prstGeom>
          <a:solidFill>
            <a:srgbClr val="1F7A4D"/>
          </a:solidFill>
          <a:ln w="12700">
            <a:solidFill>
              <a:srgbClr val="1F7A4D"/>
            </a:solidFill>
            <a:prstDash val="solid"/>
          </a:ln>
        </p:spPr>
      </p:sp>
      <p:sp>
        <p:nvSpPr>
          <p:cNvPr id="196" name="Shape 194"/>
          <p:cNvSpPr/>
          <p:nvPr/>
        </p:nvSpPr>
        <p:spPr>
          <a:xfrm>
            <a:off x="1737360" y="2720340"/>
            <a:ext cx="822960" cy="1074420"/>
          </a:xfrm>
          <a:prstGeom prst="line">
            <a:avLst/>
          </a:prstGeom>
          <a:noFill/>
          <a:ln w="15875">
            <a:solidFill>
              <a:srgbClr val="2E86AB"/>
            </a:solidFill>
            <a:prstDash val="solid"/>
            <a:tailEnd type="triangle"/>
          </a:ln>
        </p:spPr>
      </p:sp>
      <p:sp>
        <p:nvSpPr>
          <p:cNvPr id="197" name="Shape 195"/>
          <p:cNvSpPr/>
          <p:nvPr/>
        </p:nvSpPr>
        <p:spPr>
          <a:xfrm flipV="1">
            <a:off x="1737360" y="3794760"/>
            <a:ext cx="822960" cy="114300"/>
          </a:xfrm>
          <a:prstGeom prst="line">
            <a:avLst/>
          </a:prstGeom>
          <a:noFill/>
          <a:ln w="15875">
            <a:solidFill>
              <a:srgbClr val="E07A2F"/>
            </a:solidFill>
            <a:prstDash val="solid"/>
            <a:tailEnd type="triangle"/>
          </a:ln>
        </p:spPr>
      </p:sp>
      <p:sp>
        <p:nvSpPr>
          <p:cNvPr id="198" name="Shape 196"/>
          <p:cNvSpPr/>
          <p:nvPr/>
        </p:nvSpPr>
        <p:spPr>
          <a:xfrm flipV="1">
            <a:off x="1737360" y="3794760"/>
            <a:ext cx="822960" cy="1303020"/>
          </a:xfrm>
          <a:prstGeom prst="line">
            <a:avLst/>
          </a:prstGeom>
          <a:noFill/>
          <a:ln w="15875">
            <a:solidFill>
              <a:srgbClr val="1F7A4D"/>
            </a:solidFill>
            <a:prstDash val="solid"/>
            <a:tailEnd type="triangle"/>
          </a:ln>
        </p:spPr>
      </p:sp>
      <p:sp>
        <p:nvSpPr>
          <p:cNvPr id="199" name="Shape 197"/>
          <p:cNvSpPr/>
          <p:nvPr/>
        </p:nvSpPr>
        <p:spPr>
          <a:xfrm>
            <a:off x="2606040" y="3108960"/>
            <a:ext cx="1325880" cy="1371600"/>
          </a:xfrm>
          <a:prstGeom prst="roundRect">
            <a:avLst>
              <a:gd name="adj" fmla="val 5517"/>
            </a:avLst>
          </a:prstGeom>
          <a:solidFill>
            <a:srgbClr val="F4F6F9"/>
          </a:solidFill>
          <a:ln w="9525">
            <a:solidFill>
              <a:srgbClr val="B8C4D3"/>
            </a:solidFill>
            <a:prstDash val="solid"/>
          </a:ln>
        </p:spPr>
      </p:sp>
      <p:sp>
        <p:nvSpPr>
          <p:cNvPr id="200" name="Text 198"/>
          <p:cNvSpPr txBox="1"/>
          <p:nvPr/>
        </p:nvSpPr>
        <p:spPr>
          <a:xfrm>
            <a:off x="2651760" y="3154680"/>
            <a:ext cx="1234440" cy="1280160"/>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final learned spatial resampling</a:t>
            </a:r>
            <a:endParaRPr lang="en-US" sz="950" dirty="0"/>
          </a:p>
          <a:p>
            <a:pPr algn="ctr" indent="0" marL="0">
              <a:buNone/>
            </a:pPr>
            <a:r>
              <a:rPr lang="en-US" sz="900" dirty="0">
                <a:solidFill>
                  <a:srgbClr val="1B2430"/>
                </a:solidFill>
                <a:latin typeface="Calibri" pitchFamily="34" charset="0"/>
                <a:ea typeface="Calibri" pitchFamily="34" charset="-122"/>
                <a:cs typeface="Calibri" pitchFamily="34" charset="-120"/>
              </a:rPr>
              <a:t>½ L → L</a:t>
            </a:r>
            <a:endParaRPr lang="en-US" sz="950" dirty="0"/>
          </a:p>
          <a:p>
            <a:pPr algn="ctr" indent="0" marL="0">
              <a:buNone/>
            </a:pPr>
            <a:r>
              <a:rPr lang="en-US" sz="900" dirty="0">
                <a:solidFill>
                  <a:srgbClr val="1B2430"/>
                </a:solidFill>
                <a:latin typeface="Calibri" pitchFamily="34" charset="0"/>
                <a:ea typeface="Calibri" pitchFamily="34" charset="-122"/>
                <a:cs typeface="Calibri" pitchFamily="34" charset="-120"/>
              </a:rPr>
              <a:t>64 px → 128 px</a:t>
            </a:r>
            <a:endParaRPr lang="en-US" sz="950" dirty="0"/>
          </a:p>
          <a:p>
            <a:pPr algn="ctr" indent="0" marL="0">
              <a:buNone/>
            </a:pPr>
            <a:r>
              <a:rPr lang="en-US" sz="900" dirty="0">
                <a:solidFill>
                  <a:srgbClr val="1B2430"/>
                </a:solidFill>
                <a:latin typeface="Calibri" pitchFamily="34" charset="0"/>
                <a:ea typeface="Calibri" pitchFamily="34" charset="-122"/>
                <a:cs typeface="Calibri" pitchFamily="34" charset="-120"/>
              </a:rPr>
              <a:t>20 m → 10 m</a:t>
            </a:r>
            <a:endParaRPr lang="en-US" sz="950" dirty="0"/>
          </a:p>
        </p:txBody>
      </p:sp>
      <p:sp>
        <p:nvSpPr>
          <p:cNvPr id="201" name="Shape 199"/>
          <p:cNvSpPr/>
          <p:nvPr/>
        </p:nvSpPr>
        <p:spPr>
          <a:xfrm>
            <a:off x="4023360" y="3611880"/>
            <a:ext cx="457200" cy="365760"/>
          </a:xfrm>
          <a:prstGeom prst="rightArrow">
            <a:avLst/>
          </a:prstGeom>
          <a:solidFill>
            <a:srgbClr val="B8C4D3"/>
          </a:solidFill>
          <a:ln w="12700">
            <a:solidFill>
              <a:srgbClr val="333333"/>
            </a:solidFill>
            <a:prstDash val="solid"/>
          </a:ln>
        </p:spPr>
      </p:sp>
      <p:sp>
        <p:nvSpPr>
          <p:cNvPr id="202" name="Shape 200"/>
          <p:cNvSpPr/>
          <p:nvPr/>
        </p:nvSpPr>
        <p:spPr>
          <a:xfrm>
            <a:off x="4663440" y="2514600"/>
            <a:ext cx="2377440" cy="2377440"/>
          </a:xfrm>
          <a:prstGeom prst="rect">
            <a:avLst/>
          </a:prstGeom>
          <a:solidFill>
            <a:srgbClr val="EAF2F8"/>
          </a:solidFill>
          <a:ln w="9525">
            <a:solidFill>
              <a:srgbClr val="B8C4D3"/>
            </a:solidFill>
            <a:prstDash val="solid"/>
          </a:ln>
        </p:spPr>
      </p:sp>
      <p:sp>
        <p:nvSpPr>
          <p:cNvPr id="203" name="Shape 201"/>
          <p:cNvSpPr/>
          <p:nvPr/>
        </p:nvSpPr>
        <p:spPr>
          <a:xfrm>
            <a:off x="4737735" y="2514600"/>
            <a:ext cx="0" cy="2377440"/>
          </a:xfrm>
          <a:prstGeom prst="line">
            <a:avLst/>
          </a:prstGeom>
          <a:noFill/>
          <a:ln w="5080">
            <a:solidFill>
              <a:srgbClr val="B8C4D3"/>
            </a:solidFill>
            <a:prstDash val="solid"/>
          </a:ln>
        </p:spPr>
      </p:sp>
      <p:sp>
        <p:nvSpPr>
          <p:cNvPr id="204" name="Shape 202"/>
          <p:cNvSpPr/>
          <p:nvPr/>
        </p:nvSpPr>
        <p:spPr>
          <a:xfrm>
            <a:off x="4663440" y="2588895"/>
            <a:ext cx="2377440" cy="0"/>
          </a:xfrm>
          <a:prstGeom prst="line">
            <a:avLst/>
          </a:prstGeom>
          <a:noFill/>
          <a:ln w="5080">
            <a:solidFill>
              <a:srgbClr val="B8C4D3"/>
            </a:solidFill>
            <a:prstDash val="solid"/>
          </a:ln>
        </p:spPr>
      </p:sp>
      <p:sp>
        <p:nvSpPr>
          <p:cNvPr id="205" name="Shape 203"/>
          <p:cNvSpPr/>
          <p:nvPr/>
        </p:nvSpPr>
        <p:spPr>
          <a:xfrm>
            <a:off x="4812030" y="2514600"/>
            <a:ext cx="0" cy="2377440"/>
          </a:xfrm>
          <a:prstGeom prst="line">
            <a:avLst/>
          </a:prstGeom>
          <a:noFill/>
          <a:ln w="5080">
            <a:solidFill>
              <a:srgbClr val="B8C4D3"/>
            </a:solidFill>
            <a:prstDash val="solid"/>
          </a:ln>
        </p:spPr>
      </p:sp>
      <p:sp>
        <p:nvSpPr>
          <p:cNvPr id="206" name="Shape 204"/>
          <p:cNvSpPr/>
          <p:nvPr/>
        </p:nvSpPr>
        <p:spPr>
          <a:xfrm>
            <a:off x="4663440" y="2663190"/>
            <a:ext cx="2377440" cy="0"/>
          </a:xfrm>
          <a:prstGeom prst="line">
            <a:avLst/>
          </a:prstGeom>
          <a:noFill/>
          <a:ln w="5080">
            <a:solidFill>
              <a:srgbClr val="B8C4D3"/>
            </a:solidFill>
            <a:prstDash val="solid"/>
          </a:ln>
        </p:spPr>
      </p:sp>
      <p:sp>
        <p:nvSpPr>
          <p:cNvPr id="207" name="Shape 205"/>
          <p:cNvSpPr/>
          <p:nvPr/>
        </p:nvSpPr>
        <p:spPr>
          <a:xfrm>
            <a:off x="4886325" y="2514600"/>
            <a:ext cx="0" cy="2377440"/>
          </a:xfrm>
          <a:prstGeom prst="line">
            <a:avLst/>
          </a:prstGeom>
          <a:noFill/>
          <a:ln w="5080">
            <a:solidFill>
              <a:srgbClr val="B8C4D3"/>
            </a:solidFill>
            <a:prstDash val="solid"/>
          </a:ln>
        </p:spPr>
      </p:sp>
      <p:sp>
        <p:nvSpPr>
          <p:cNvPr id="208" name="Shape 206"/>
          <p:cNvSpPr/>
          <p:nvPr/>
        </p:nvSpPr>
        <p:spPr>
          <a:xfrm>
            <a:off x="4663440" y="2737485"/>
            <a:ext cx="2377440" cy="0"/>
          </a:xfrm>
          <a:prstGeom prst="line">
            <a:avLst/>
          </a:prstGeom>
          <a:noFill/>
          <a:ln w="5080">
            <a:solidFill>
              <a:srgbClr val="B8C4D3"/>
            </a:solidFill>
            <a:prstDash val="solid"/>
          </a:ln>
        </p:spPr>
      </p:sp>
      <p:sp>
        <p:nvSpPr>
          <p:cNvPr id="209" name="Shape 207"/>
          <p:cNvSpPr/>
          <p:nvPr/>
        </p:nvSpPr>
        <p:spPr>
          <a:xfrm>
            <a:off x="4960620" y="2514600"/>
            <a:ext cx="0" cy="2377440"/>
          </a:xfrm>
          <a:prstGeom prst="line">
            <a:avLst/>
          </a:prstGeom>
          <a:noFill/>
          <a:ln w="5080">
            <a:solidFill>
              <a:srgbClr val="B8C4D3"/>
            </a:solidFill>
            <a:prstDash val="solid"/>
          </a:ln>
        </p:spPr>
      </p:sp>
      <p:sp>
        <p:nvSpPr>
          <p:cNvPr id="210" name="Shape 208"/>
          <p:cNvSpPr/>
          <p:nvPr/>
        </p:nvSpPr>
        <p:spPr>
          <a:xfrm>
            <a:off x="4663440" y="2811780"/>
            <a:ext cx="2377440" cy="0"/>
          </a:xfrm>
          <a:prstGeom prst="line">
            <a:avLst/>
          </a:prstGeom>
          <a:noFill/>
          <a:ln w="5080">
            <a:solidFill>
              <a:srgbClr val="B8C4D3"/>
            </a:solidFill>
            <a:prstDash val="solid"/>
          </a:ln>
        </p:spPr>
      </p:sp>
      <p:sp>
        <p:nvSpPr>
          <p:cNvPr id="211" name="Shape 209"/>
          <p:cNvSpPr/>
          <p:nvPr/>
        </p:nvSpPr>
        <p:spPr>
          <a:xfrm>
            <a:off x="5034915" y="2514600"/>
            <a:ext cx="0" cy="2377440"/>
          </a:xfrm>
          <a:prstGeom prst="line">
            <a:avLst/>
          </a:prstGeom>
          <a:noFill/>
          <a:ln w="5080">
            <a:solidFill>
              <a:srgbClr val="B8C4D3"/>
            </a:solidFill>
            <a:prstDash val="solid"/>
          </a:ln>
        </p:spPr>
      </p:sp>
      <p:sp>
        <p:nvSpPr>
          <p:cNvPr id="212" name="Shape 210"/>
          <p:cNvSpPr/>
          <p:nvPr/>
        </p:nvSpPr>
        <p:spPr>
          <a:xfrm>
            <a:off x="4663440" y="2886075"/>
            <a:ext cx="2377440" cy="0"/>
          </a:xfrm>
          <a:prstGeom prst="line">
            <a:avLst/>
          </a:prstGeom>
          <a:noFill/>
          <a:ln w="5080">
            <a:solidFill>
              <a:srgbClr val="B8C4D3"/>
            </a:solidFill>
            <a:prstDash val="solid"/>
          </a:ln>
        </p:spPr>
      </p:sp>
      <p:sp>
        <p:nvSpPr>
          <p:cNvPr id="213" name="Shape 211"/>
          <p:cNvSpPr/>
          <p:nvPr/>
        </p:nvSpPr>
        <p:spPr>
          <a:xfrm>
            <a:off x="5109210" y="2514600"/>
            <a:ext cx="0" cy="2377440"/>
          </a:xfrm>
          <a:prstGeom prst="line">
            <a:avLst/>
          </a:prstGeom>
          <a:noFill/>
          <a:ln w="5080">
            <a:solidFill>
              <a:srgbClr val="B8C4D3"/>
            </a:solidFill>
            <a:prstDash val="solid"/>
          </a:ln>
        </p:spPr>
      </p:sp>
      <p:sp>
        <p:nvSpPr>
          <p:cNvPr id="214" name="Shape 212"/>
          <p:cNvSpPr/>
          <p:nvPr/>
        </p:nvSpPr>
        <p:spPr>
          <a:xfrm>
            <a:off x="4663440" y="2960370"/>
            <a:ext cx="2377440" cy="0"/>
          </a:xfrm>
          <a:prstGeom prst="line">
            <a:avLst/>
          </a:prstGeom>
          <a:noFill/>
          <a:ln w="5080">
            <a:solidFill>
              <a:srgbClr val="B8C4D3"/>
            </a:solidFill>
            <a:prstDash val="solid"/>
          </a:ln>
        </p:spPr>
      </p:sp>
      <p:sp>
        <p:nvSpPr>
          <p:cNvPr id="215" name="Shape 213"/>
          <p:cNvSpPr/>
          <p:nvPr/>
        </p:nvSpPr>
        <p:spPr>
          <a:xfrm>
            <a:off x="5183505" y="2514600"/>
            <a:ext cx="0" cy="2377440"/>
          </a:xfrm>
          <a:prstGeom prst="line">
            <a:avLst/>
          </a:prstGeom>
          <a:noFill/>
          <a:ln w="5080">
            <a:solidFill>
              <a:srgbClr val="B8C4D3"/>
            </a:solidFill>
            <a:prstDash val="solid"/>
          </a:ln>
        </p:spPr>
      </p:sp>
      <p:sp>
        <p:nvSpPr>
          <p:cNvPr id="216" name="Shape 214"/>
          <p:cNvSpPr/>
          <p:nvPr/>
        </p:nvSpPr>
        <p:spPr>
          <a:xfrm>
            <a:off x="4663440" y="3034665"/>
            <a:ext cx="2377440" cy="0"/>
          </a:xfrm>
          <a:prstGeom prst="line">
            <a:avLst/>
          </a:prstGeom>
          <a:noFill/>
          <a:ln w="5080">
            <a:solidFill>
              <a:srgbClr val="B8C4D3"/>
            </a:solidFill>
            <a:prstDash val="solid"/>
          </a:ln>
        </p:spPr>
      </p:sp>
      <p:sp>
        <p:nvSpPr>
          <p:cNvPr id="217" name="Shape 215"/>
          <p:cNvSpPr/>
          <p:nvPr/>
        </p:nvSpPr>
        <p:spPr>
          <a:xfrm>
            <a:off x="5257800" y="2514600"/>
            <a:ext cx="0" cy="2377440"/>
          </a:xfrm>
          <a:prstGeom prst="line">
            <a:avLst/>
          </a:prstGeom>
          <a:noFill/>
          <a:ln w="5080">
            <a:solidFill>
              <a:srgbClr val="B8C4D3"/>
            </a:solidFill>
            <a:prstDash val="solid"/>
          </a:ln>
        </p:spPr>
      </p:sp>
      <p:sp>
        <p:nvSpPr>
          <p:cNvPr id="218" name="Shape 216"/>
          <p:cNvSpPr/>
          <p:nvPr/>
        </p:nvSpPr>
        <p:spPr>
          <a:xfrm>
            <a:off x="4663440" y="3108960"/>
            <a:ext cx="2377440" cy="0"/>
          </a:xfrm>
          <a:prstGeom prst="line">
            <a:avLst/>
          </a:prstGeom>
          <a:noFill/>
          <a:ln w="5080">
            <a:solidFill>
              <a:srgbClr val="B8C4D3"/>
            </a:solidFill>
            <a:prstDash val="solid"/>
          </a:ln>
        </p:spPr>
      </p:sp>
      <p:sp>
        <p:nvSpPr>
          <p:cNvPr id="219" name="Shape 217"/>
          <p:cNvSpPr/>
          <p:nvPr/>
        </p:nvSpPr>
        <p:spPr>
          <a:xfrm>
            <a:off x="5332095" y="2514600"/>
            <a:ext cx="0" cy="2377440"/>
          </a:xfrm>
          <a:prstGeom prst="line">
            <a:avLst/>
          </a:prstGeom>
          <a:noFill/>
          <a:ln w="5080">
            <a:solidFill>
              <a:srgbClr val="B8C4D3"/>
            </a:solidFill>
            <a:prstDash val="solid"/>
          </a:ln>
        </p:spPr>
      </p:sp>
      <p:sp>
        <p:nvSpPr>
          <p:cNvPr id="220" name="Shape 218"/>
          <p:cNvSpPr/>
          <p:nvPr/>
        </p:nvSpPr>
        <p:spPr>
          <a:xfrm>
            <a:off x="4663440" y="3183255"/>
            <a:ext cx="2377440" cy="0"/>
          </a:xfrm>
          <a:prstGeom prst="line">
            <a:avLst/>
          </a:prstGeom>
          <a:noFill/>
          <a:ln w="5080">
            <a:solidFill>
              <a:srgbClr val="B8C4D3"/>
            </a:solidFill>
            <a:prstDash val="solid"/>
          </a:ln>
        </p:spPr>
      </p:sp>
      <p:sp>
        <p:nvSpPr>
          <p:cNvPr id="221" name="Shape 219"/>
          <p:cNvSpPr/>
          <p:nvPr/>
        </p:nvSpPr>
        <p:spPr>
          <a:xfrm>
            <a:off x="5406390" y="2514600"/>
            <a:ext cx="0" cy="2377440"/>
          </a:xfrm>
          <a:prstGeom prst="line">
            <a:avLst/>
          </a:prstGeom>
          <a:noFill/>
          <a:ln w="5080">
            <a:solidFill>
              <a:srgbClr val="B8C4D3"/>
            </a:solidFill>
            <a:prstDash val="solid"/>
          </a:ln>
        </p:spPr>
      </p:sp>
      <p:sp>
        <p:nvSpPr>
          <p:cNvPr id="222" name="Shape 220"/>
          <p:cNvSpPr/>
          <p:nvPr/>
        </p:nvSpPr>
        <p:spPr>
          <a:xfrm>
            <a:off x="4663440" y="3257550"/>
            <a:ext cx="2377440" cy="0"/>
          </a:xfrm>
          <a:prstGeom prst="line">
            <a:avLst/>
          </a:prstGeom>
          <a:noFill/>
          <a:ln w="5080">
            <a:solidFill>
              <a:srgbClr val="B8C4D3"/>
            </a:solidFill>
            <a:prstDash val="solid"/>
          </a:ln>
        </p:spPr>
      </p:sp>
      <p:sp>
        <p:nvSpPr>
          <p:cNvPr id="223" name="Shape 221"/>
          <p:cNvSpPr/>
          <p:nvPr/>
        </p:nvSpPr>
        <p:spPr>
          <a:xfrm>
            <a:off x="5480685" y="2514600"/>
            <a:ext cx="0" cy="2377440"/>
          </a:xfrm>
          <a:prstGeom prst="line">
            <a:avLst/>
          </a:prstGeom>
          <a:noFill/>
          <a:ln w="5080">
            <a:solidFill>
              <a:srgbClr val="B8C4D3"/>
            </a:solidFill>
            <a:prstDash val="solid"/>
          </a:ln>
        </p:spPr>
      </p:sp>
      <p:sp>
        <p:nvSpPr>
          <p:cNvPr id="224" name="Shape 222"/>
          <p:cNvSpPr/>
          <p:nvPr/>
        </p:nvSpPr>
        <p:spPr>
          <a:xfrm>
            <a:off x="4663440" y="3331845"/>
            <a:ext cx="2377440" cy="0"/>
          </a:xfrm>
          <a:prstGeom prst="line">
            <a:avLst/>
          </a:prstGeom>
          <a:noFill/>
          <a:ln w="5080">
            <a:solidFill>
              <a:srgbClr val="B8C4D3"/>
            </a:solidFill>
            <a:prstDash val="solid"/>
          </a:ln>
        </p:spPr>
      </p:sp>
      <p:sp>
        <p:nvSpPr>
          <p:cNvPr id="225" name="Shape 223"/>
          <p:cNvSpPr/>
          <p:nvPr/>
        </p:nvSpPr>
        <p:spPr>
          <a:xfrm>
            <a:off x="5554980" y="2514600"/>
            <a:ext cx="0" cy="2377440"/>
          </a:xfrm>
          <a:prstGeom prst="line">
            <a:avLst/>
          </a:prstGeom>
          <a:noFill/>
          <a:ln w="5080">
            <a:solidFill>
              <a:srgbClr val="B8C4D3"/>
            </a:solidFill>
            <a:prstDash val="solid"/>
          </a:ln>
        </p:spPr>
      </p:sp>
      <p:sp>
        <p:nvSpPr>
          <p:cNvPr id="226" name="Shape 224"/>
          <p:cNvSpPr/>
          <p:nvPr/>
        </p:nvSpPr>
        <p:spPr>
          <a:xfrm>
            <a:off x="4663440" y="3406140"/>
            <a:ext cx="2377440" cy="0"/>
          </a:xfrm>
          <a:prstGeom prst="line">
            <a:avLst/>
          </a:prstGeom>
          <a:noFill/>
          <a:ln w="5080">
            <a:solidFill>
              <a:srgbClr val="B8C4D3"/>
            </a:solidFill>
            <a:prstDash val="solid"/>
          </a:ln>
        </p:spPr>
      </p:sp>
      <p:sp>
        <p:nvSpPr>
          <p:cNvPr id="227" name="Shape 225"/>
          <p:cNvSpPr/>
          <p:nvPr/>
        </p:nvSpPr>
        <p:spPr>
          <a:xfrm>
            <a:off x="5629275" y="2514600"/>
            <a:ext cx="0" cy="2377440"/>
          </a:xfrm>
          <a:prstGeom prst="line">
            <a:avLst/>
          </a:prstGeom>
          <a:noFill/>
          <a:ln w="5080">
            <a:solidFill>
              <a:srgbClr val="B8C4D3"/>
            </a:solidFill>
            <a:prstDash val="solid"/>
          </a:ln>
        </p:spPr>
      </p:sp>
      <p:sp>
        <p:nvSpPr>
          <p:cNvPr id="228" name="Shape 226"/>
          <p:cNvSpPr/>
          <p:nvPr/>
        </p:nvSpPr>
        <p:spPr>
          <a:xfrm>
            <a:off x="4663440" y="3480435"/>
            <a:ext cx="2377440" cy="0"/>
          </a:xfrm>
          <a:prstGeom prst="line">
            <a:avLst/>
          </a:prstGeom>
          <a:noFill/>
          <a:ln w="5080">
            <a:solidFill>
              <a:srgbClr val="B8C4D3"/>
            </a:solidFill>
            <a:prstDash val="solid"/>
          </a:ln>
        </p:spPr>
      </p:sp>
      <p:sp>
        <p:nvSpPr>
          <p:cNvPr id="229" name="Shape 227"/>
          <p:cNvSpPr/>
          <p:nvPr/>
        </p:nvSpPr>
        <p:spPr>
          <a:xfrm>
            <a:off x="5703570" y="2514600"/>
            <a:ext cx="0" cy="2377440"/>
          </a:xfrm>
          <a:prstGeom prst="line">
            <a:avLst/>
          </a:prstGeom>
          <a:noFill/>
          <a:ln w="5080">
            <a:solidFill>
              <a:srgbClr val="B8C4D3"/>
            </a:solidFill>
            <a:prstDash val="solid"/>
          </a:ln>
        </p:spPr>
      </p:sp>
      <p:sp>
        <p:nvSpPr>
          <p:cNvPr id="230" name="Shape 228"/>
          <p:cNvSpPr/>
          <p:nvPr/>
        </p:nvSpPr>
        <p:spPr>
          <a:xfrm>
            <a:off x="4663440" y="3554730"/>
            <a:ext cx="2377440" cy="0"/>
          </a:xfrm>
          <a:prstGeom prst="line">
            <a:avLst/>
          </a:prstGeom>
          <a:noFill/>
          <a:ln w="5080">
            <a:solidFill>
              <a:srgbClr val="B8C4D3"/>
            </a:solidFill>
            <a:prstDash val="solid"/>
          </a:ln>
        </p:spPr>
      </p:sp>
      <p:sp>
        <p:nvSpPr>
          <p:cNvPr id="231" name="Shape 229"/>
          <p:cNvSpPr/>
          <p:nvPr/>
        </p:nvSpPr>
        <p:spPr>
          <a:xfrm>
            <a:off x="5777865" y="2514600"/>
            <a:ext cx="0" cy="2377440"/>
          </a:xfrm>
          <a:prstGeom prst="line">
            <a:avLst/>
          </a:prstGeom>
          <a:noFill/>
          <a:ln w="5080">
            <a:solidFill>
              <a:srgbClr val="B8C4D3"/>
            </a:solidFill>
            <a:prstDash val="solid"/>
          </a:ln>
        </p:spPr>
      </p:sp>
      <p:sp>
        <p:nvSpPr>
          <p:cNvPr id="232" name="Shape 230"/>
          <p:cNvSpPr/>
          <p:nvPr/>
        </p:nvSpPr>
        <p:spPr>
          <a:xfrm>
            <a:off x="4663440" y="3629025"/>
            <a:ext cx="2377440" cy="0"/>
          </a:xfrm>
          <a:prstGeom prst="line">
            <a:avLst/>
          </a:prstGeom>
          <a:noFill/>
          <a:ln w="5080">
            <a:solidFill>
              <a:srgbClr val="B8C4D3"/>
            </a:solidFill>
            <a:prstDash val="solid"/>
          </a:ln>
        </p:spPr>
      </p:sp>
      <p:sp>
        <p:nvSpPr>
          <p:cNvPr id="233" name="Shape 231"/>
          <p:cNvSpPr/>
          <p:nvPr/>
        </p:nvSpPr>
        <p:spPr>
          <a:xfrm>
            <a:off x="5852160" y="2514600"/>
            <a:ext cx="0" cy="2377440"/>
          </a:xfrm>
          <a:prstGeom prst="line">
            <a:avLst/>
          </a:prstGeom>
          <a:noFill/>
          <a:ln w="5080">
            <a:solidFill>
              <a:srgbClr val="B8C4D3"/>
            </a:solidFill>
            <a:prstDash val="solid"/>
          </a:ln>
        </p:spPr>
      </p:sp>
      <p:sp>
        <p:nvSpPr>
          <p:cNvPr id="234" name="Shape 232"/>
          <p:cNvSpPr/>
          <p:nvPr/>
        </p:nvSpPr>
        <p:spPr>
          <a:xfrm>
            <a:off x="4663440" y="3703320"/>
            <a:ext cx="2377440" cy="0"/>
          </a:xfrm>
          <a:prstGeom prst="line">
            <a:avLst/>
          </a:prstGeom>
          <a:noFill/>
          <a:ln w="5080">
            <a:solidFill>
              <a:srgbClr val="B8C4D3"/>
            </a:solidFill>
            <a:prstDash val="solid"/>
          </a:ln>
        </p:spPr>
      </p:sp>
      <p:sp>
        <p:nvSpPr>
          <p:cNvPr id="235" name="Shape 233"/>
          <p:cNvSpPr/>
          <p:nvPr/>
        </p:nvSpPr>
        <p:spPr>
          <a:xfrm>
            <a:off x="5926455" y="2514600"/>
            <a:ext cx="0" cy="2377440"/>
          </a:xfrm>
          <a:prstGeom prst="line">
            <a:avLst/>
          </a:prstGeom>
          <a:noFill/>
          <a:ln w="5080">
            <a:solidFill>
              <a:srgbClr val="B8C4D3"/>
            </a:solidFill>
            <a:prstDash val="solid"/>
          </a:ln>
        </p:spPr>
      </p:sp>
      <p:sp>
        <p:nvSpPr>
          <p:cNvPr id="236" name="Shape 234"/>
          <p:cNvSpPr/>
          <p:nvPr/>
        </p:nvSpPr>
        <p:spPr>
          <a:xfrm>
            <a:off x="4663440" y="3777615"/>
            <a:ext cx="2377440" cy="0"/>
          </a:xfrm>
          <a:prstGeom prst="line">
            <a:avLst/>
          </a:prstGeom>
          <a:noFill/>
          <a:ln w="5080">
            <a:solidFill>
              <a:srgbClr val="B8C4D3"/>
            </a:solidFill>
            <a:prstDash val="solid"/>
          </a:ln>
        </p:spPr>
      </p:sp>
      <p:sp>
        <p:nvSpPr>
          <p:cNvPr id="237" name="Shape 235"/>
          <p:cNvSpPr/>
          <p:nvPr/>
        </p:nvSpPr>
        <p:spPr>
          <a:xfrm>
            <a:off x="6000750" y="2514600"/>
            <a:ext cx="0" cy="2377440"/>
          </a:xfrm>
          <a:prstGeom prst="line">
            <a:avLst/>
          </a:prstGeom>
          <a:noFill/>
          <a:ln w="5080">
            <a:solidFill>
              <a:srgbClr val="B8C4D3"/>
            </a:solidFill>
            <a:prstDash val="solid"/>
          </a:ln>
        </p:spPr>
      </p:sp>
      <p:sp>
        <p:nvSpPr>
          <p:cNvPr id="238" name="Shape 236"/>
          <p:cNvSpPr/>
          <p:nvPr/>
        </p:nvSpPr>
        <p:spPr>
          <a:xfrm>
            <a:off x="4663440" y="3851910"/>
            <a:ext cx="2377440" cy="0"/>
          </a:xfrm>
          <a:prstGeom prst="line">
            <a:avLst/>
          </a:prstGeom>
          <a:noFill/>
          <a:ln w="5080">
            <a:solidFill>
              <a:srgbClr val="B8C4D3"/>
            </a:solidFill>
            <a:prstDash val="solid"/>
          </a:ln>
        </p:spPr>
      </p:sp>
      <p:sp>
        <p:nvSpPr>
          <p:cNvPr id="239" name="Shape 237"/>
          <p:cNvSpPr/>
          <p:nvPr/>
        </p:nvSpPr>
        <p:spPr>
          <a:xfrm>
            <a:off x="6075045" y="2514600"/>
            <a:ext cx="0" cy="2377440"/>
          </a:xfrm>
          <a:prstGeom prst="line">
            <a:avLst/>
          </a:prstGeom>
          <a:noFill/>
          <a:ln w="5080">
            <a:solidFill>
              <a:srgbClr val="B8C4D3"/>
            </a:solidFill>
            <a:prstDash val="solid"/>
          </a:ln>
        </p:spPr>
      </p:sp>
      <p:sp>
        <p:nvSpPr>
          <p:cNvPr id="240" name="Shape 238"/>
          <p:cNvSpPr/>
          <p:nvPr/>
        </p:nvSpPr>
        <p:spPr>
          <a:xfrm>
            <a:off x="4663440" y="3926205"/>
            <a:ext cx="2377440" cy="0"/>
          </a:xfrm>
          <a:prstGeom prst="line">
            <a:avLst/>
          </a:prstGeom>
          <a:noFill/>
          <a:ln w="5080">
            <a:solidFill>
              <a:srgbClr val="B8C4D3"/>
            </a:solidFill>
            <a:prstDash val="solid"/>
          </a:ln>
        </p:spPr>
      </p:sp>
      <p:sp>
        <p:nvSpPr>
          <p:cNvPr id="241" name="Shape 239"/>
          <p:cNvSpPr/>
          <p:nvPr/>
        </p:nvSpPr>
        <p:spPr>
          <a:xfrm>
            <a:off x="6149340" y="2514600"/>
            <a:ext cx="0" cy="2377440"/>
          </a:xfrm>
          <a:prstGeom prst="line">
            <a:avLst/>
          </a:prstGeom>
          <a:noFill/>
          <a:ln w="5080">
            <a:solidFill>
              <a:srgbClr val="B8C4D3"/>
            </a:solidFill>
            <a:prstDash val="solid"/>
          </a:ln>
        </p:spPr>
      </p:sp>
      <p:sp>
        <p:nvSpPr>
          <p:cNvPr id="242" name="Shape 240"/>
          <p:cNvSpPr/>
          <p:nvPr/>
        </p:nvSpPr>
        <p:spPr>
          <a:xfrm>
            <a:off x="4663440" y="4000500"/>
            <a:ext cx="2377440" cy="0"/>
          </a:xfrm>
          <a:prstGeom prst="line">
            <a:avLst/>
          </a:prstGeom>
          <a:noFill/>
          <a:ln w="5080">
            <a:solidFill>
              <a:srgbClr val="B8C4D3"/>
            </a:solidFill>
            <a:prstDash val="solid"/>
          </a:ln>
        </p:spPr>
      </p:sp>
      <p:sp>
        <p:nvSpPr>
          <p:cNvPr id="243" name="Shape 241"/>
          <p:cNvSpPr/>
          <p:nvPr/>
        </p:nvSpPr>
        <p:spPr>
          <a:xfrm>
            <a:off x="6223635" y="2514600"/>
            <a:ext cx="0" cy="2377440"/>
          </a:xfrm>
          <a:prstGeom prst="line">
            <a:avLst/>
          </a:prstGeom>
          <a:noFill/>
          <a:ln w="5080">
            <a:solidFill>
              <a:srgbClr val="B8C4D3"/>
            </a:solidFill>
            <a:prstDash val="solid"/>
          </a:ln>
        </p:spPr>
      </p:sp>
      <p:sp>
        <p:nvSpPr>
          <p:cNvPr id="244" name="Shape 242"/>
          <p:cNvSpPr/>
          <p:nvPr/>
        </p:nvSpPr>
        <p:spPr>
          <a:xfrm>
            <a:off x="4663440" y="4074795"/>
            <a:ext cx="2377440" cy="0"/>
          </a:xfrm>
          <a:prstGeom prst="line">
            <a:avLst/>
          </a:prstGeom>
          <a:noFill/>
          <a:ln w="5080">
            <a:solidFill>
              <a:srgbClr val="B8C4D3"/>
            </a:solidFill>
            <a:prstDash val="solid"/>
          </a:ln>
        </p:spPr>
      </p:sp>
      <p:sp>
        <p:nvSpPr>
          <p:cNvPr id="245" name="Shape 243"/>
          <p:cNvSpPr/>
          <p:nvPr/>
        </p:nvSpPr>
        <p:spPr>
          <a:xfrm>
            <a:off x="6297930" y="2514600"/>
            <a:ext cx="0" cy="2377440"/>
          </a:xfrm>
          <a:prstGeom prst="line">
            <a:avLst/>
          </a:prstGeom>
          <a:noFill/>
          <a:ln w="5080">
            <a:solidFill>
              <a:srgbClr val="B8C4D3"/>
            </a:solidFill>
            <a:prstDash val="solid"/>
          </a:ln>
        </p:spPr>
      </p:sp>
      <p:sp>
        <p:nvSpPr>
          <p:cNvPr id="246" name="Shape 244"/>
          <p:cNvSpPr/>
          <p:nvPr/>
        </p:nvSpPr>
        <p:spPr>
          <a:xfrm>
            <a:off x="4663440" y="4149090"/>
            <a:ext cx="2377440" cy="0"/>
          </a:xfrm>
          <a:prstGeom prst="line">
            <a:avLst/>
          </a:prstGeom>
          <a:noFill/>
          <a:ln w="5080">
            <a:solidFill>
              <a:srgbClr val="B8C4D3"/>
            </a:solidFill>
            <a:prstDash val="solid"/>
          </a:ln>
        </p:spPr>
      </p:sp>
      <p:sp>
        <p:nvSpPr>
          <p:cNvPr id="247" name="Shape 245"/>
          <p:cNvSpPr/>
          <p:nvPr/>
        </p:nvSpPr>
        <p:spPr>
          <a:xfrm>
            <a:off x="6372225" y="2514600"/>
            <a:ext cx="0" cy="2377440"/>
          </a:xfrm>
          <a:prstGeom prst="line">
            <a:avLst/>
          </a:prstGeom>
          <a:noFill/>
          <a:ln w="5080">
            <a:solidFill>
              <a:srgbClr val="B8C4D3"/>
            </a:solidFill>
            <a:prstDash val="solid"/>
          </a:ln>
        </p:spPr>
      </p:sp>
      <p:sp>
        <p:nvSpPr>
          <p:cNvPr id="248" name="Shape 246"/>
          <p:cNvSpPr/>
          <p:nvPr/>
        </p:nvSpPr>
        <p:spPr>
          <a:xfrm>
            <a:off x="4663440" y="4223385"/>
            <a:ext cx="2377440" cy="0"/>
          </a:xfrm>
          <a:prstGeom prst="line">
            <a:avLst/>
          </a:prstGeom>
          <a:noFill/>
          <a:ln w="5080">
            <a:solidFill>
              <a:srgbClr val="B8C4D3"/>
            </a:solidFill>
            <a:prstDash val="solid"/>
          </a:ln>
        </p:spPr>
      </p:sp>
      <p:sp>
        <p:nvSpPr>
          <p:cNvPr id="249" name="Shape 247"/>
          <p:cNvSpPr/>
          <p:nvPr/>
        </p:nvSpPr>
        <p:spPr>
          <a:xfrm>
            <a:off x="6446520" y="2514600"/>
            <a:ext cx="0" cy="2377440"/>
          </a:xfrm>
          <a:prstGeom prst="line">
            <a:avLst/>
          </a:prstGeom>
          <a:noFill/>
          <a:ln w="5080">
            <a:solidFill>
              <a:srgbClr val="B8C4D3"/>
            </a:solidFill>
            <a:prstDash val="solid"/>
          </a:ln>
        </p:spPr>
      </p:sp>
      <p:sp>
        <p:nvSpPr>
          <p:cNvPr id="250" name="Shape 248"/>
          <p:cNvSpPr/>
          <p:nvPr/>
        </p:nvSpPr>
        <p:spPr>
          <a:xfrm>
            <a:off x="4663440" y="4297680"/>
            <a:ext cx="2377440" cy="0"/>
          </a:xfrm>
          <a:prstGeom prst="line">
            <a:avLst/>
          </a:prstGeom>
          <a:noFill/>
          <a:ln w="5080">
            <a:solidFill>
              <a:srgbClr val="B8C4D3"/>
            </a:solidFill>
            <a:prstDash val="solid"/>
          </a:ln>
        </p:spPr>
      </p:sp>
      <p:sp>
        <p:nvSpPr>
          <p:cNvPr id="251" name="Shape 249"/>
          <p:cNvSpPr/>
          <p:nvPr/>
        </p:nvSpPr>
        <p:spPr>
          <a:xfrm>
            <a:off x="6520815" y="2514600"/>
            <a:ext cx="0" cy="2377440"/>
          </a:xfrm>
          <a:prstGeom prst="line">
            <a:avLst/>
          </a:prstGeom>
          <a:noFill/>
          <a:ln w="5080">
            <a:solidFill>
              <a:srgbClr val="B8C4D3"/>
            </a:solidFill>
            <a:prstDash val="solid"/>
          </a:ln>
        </p:spPr>
      </p:sp>
      <p:sp>
        <p:nvSpPr>
          <p:cNvPr id="252" name="Shape 250"/>
          <p:cNvSpPr/>
          <p:nvPr/>
        </p:nvSpPr>
        <p:spPr>
          <a:xfrm>
            <a:off x="4663440" y="4371975"/>
            <a:ext cx="2377440" cy="0"/>
          </a:xfrm>
          <a:prstGeom prst="line">
            <a:avLst/>
          </a:prstGeom>
          <a:noFill/>
          <a:ln w="5080">
            <a:solidFill>
              <a:srgbClr val="B8C4D3"/>
            </a:solidFill>
            <a:prstDash val="solid"/>
          </a:ln>
        </p:spPr>
      </p:sp>
      <p:sp>
        <p:nvSpPr>
          <p:cNvPr id="253" name="Shape 251"/>
          <p:cNvSpPr/>
          <p:nvPr/>
        </p:nvSpPr>
        <p:spPr>
          <a:xfrm>
            <a:off x="6595110" y="2514600"/>
            <a:ext cx="0" cy="2377440"/>
          </a:xfrm>
          <a:prstGeom prst="line">
            <a:avLst/>
          </a:prstGeom>
          <a:noFill/>
          <a:ln w="5080">
            <a:solidFill>
              <a:srgbClr val="B8C4D3"/>
            </a:solidFill>
            <a:prstDash val="solid"/>
          </a:ln>
        </p:spPr>
      </p:sp>
      <p:sp>
        <p:nvSpPr>
          <p:cNvPr id="254" name="Shape 252"/>
          <p:cNvSpPr/>
          <p:nvPr/>
        </p:nvSpPr>
        <p:spPr>
          <a:xfrm>
            <a:off x="4663440" y="4446270"/>
            <a:ext cx="2377440" cy="0"/>
          </a:xfrm>
          <a:prstGeom prst="line">
            <a:avLst/>
          </a:prstGeom>
          <a:noFill/>
          <a:ln w="5080">
            <a:solidFill>
              <a:srgbClr val="B8C4D3"/>
            </a:solidFill>
            <a:prstDash val="solid"/>
          </a:ln>
        </p:spPr>
      </p:sp>
      <p:sp>
        <p:nvSpPr>
          <p:cNvPr id="255" name="Shape 253"/>
          <p:cNvSpPr/>
          <p:nvPr/>
        </p:nvSpPr>
        <p:spPr>
          <a:xfrm>
            <a:off x="6669405" y="2514600"/>
            <a:ext cx="0" cy="2377440"/>
          </a:xfrm>
          <a:prstGeom prst="line">
            <a:avLst/>
          </a:prstGeom>
          <a:noFill/>
          <a:ln w="5080">
            <a:solidFill>
              <a:srgbClr val="B8C4D3"/>
            </a:solidFill>
            <a:prstDash val="solid"/>
          </a:ln>
        </p:spPr>
      </p:sp>
      <p:sp>
        <p:nvSpPr>
          <p:cNvPr id="256" name="Shape 254"/>
          <p:cNvSpPr/>
          <p:nvPr/>
        </p:nvSpPr>
        <p:spPr>
          <a:xfrm>
            <a:off x="4663440" y="4520565"/>
            <a:ext cx="2377440" cy="0"/>
          </a:xfrm>
          <a:prstGeom prst="line">
            <a:avLst/>
          </a:prstGeom>
          <a:noFill/>
          <a:ln w="5080">
            <a:solidFill>
              <a:srgbClr val="B8C4D3"/>
            </a:solidFill>
            <a:prstDash val="solid"/>
          </a:ln>
        </p:spPr>
      </p:sp>
      <p:sp>
        <p:nvSpPr>
          <p:cNvPr id="257" name="Shape 255"/>
          <p:cNvSpPr/>
          <p:nvPr/>
        </p:nvSpPr>
        <p:spPr>
          <a:xfrm>
            <a:off x="6743700" y="2514600"/>
            <a:ext cx="0" cy="2377440"/>
          </a:xfrm>
          <a:prstGeom prst="line">
            <a:avLst/>
          </a:prstGeom>
          <a:noFill/>
          <a:ln w="5080">
            <a:solidFill>
              <a:srgbClr val="B8C4D3"/>
            </a:solidFill>
            <a:prstDash val="solid"/>
          </a:ln>
        </p:spPr>
      </p:sp>
      <p:sp>
        <p:nvSpPr>
          <p:cNvPr id="258" name="Shape 256"/>
          <p:cNvSpPr/>
          <p:nvPr/>
        </p:nvSpPr>
        <p:spPr>
          <a:xfrm>
            <a:off x="4663440" y="4594860"/>
            <a:ext cx="2377440" cy="0"/>
          </a:xfrm>
          <a:prstGeom prst="line">
            <a:avLst/>
          </a:prstGeom>
          <a:noFill/>
          <a:ln w="5080">
            <a:solidFill>
              <a:srgbClr val="B8C4D3"/>
            </a:solidFill>
            <a:prstDash val="solid"/>
          </a:ln>
        </p:spPr>
      </p:sp>
      <p:sp>
        <p:nvSpPr>
          <p:cNvPr id="259" name="Shape 257"/>
          <p:cNvSpPr/>
          <p:nvPr/>
        </p:nvSpPr>
        <p:spPr>
          <a:xfrm>
            <a:off x="6817995" y="2514600"/>
            <a:ext cx="0" cy="2377440"/>
          </a:xfrm>
          <a:prstGeom prst="line">
            <a:avLst/>
          </a:prstGeom>
          <a:noFill/>
          <a:ln w="5080">
            <a:solidFill>
              <a:srgbClr val="B8C4D3"/>
            </a:solidFill>
            <a:prstDash val="solid"/>
          </a:ln>
        </p:spPr>
      </p:sp>
      <p:sp>
        <p:nvSpPr>
          <p:cNvPr id="260" name="Shape 258"/>
          <p:cNvSpPr/>
          <p:nvPr/>
        </p:nvSpPr>
        <p:spPr>
          <a:xfrm>
            <a:off x="4663440" y="4669155"/>
            <a:ext cx="2377440" cy="0"/>
          </a:xfrm>
          <a:prstGeom prst="line">
            <a:avLst/>
          </a:prstGeom>
          <a:noFill/>
          <a:ln w="5080">
            <a:solidFill>
              <a:srgbClr val="B8C4D3"/>
            </a:solidFill>
            <a:prstDash val="solid"/>
          </a:ln>
        </p:spPr>
      </p:sp>
      <p:sp>
        <p:nvSpPr>
          <p:cNvPr id="261" name="Shape 259"/>
          <p:cNvSpPr/>
          <p:nvPr/>
        </p:nvSpPr>
        <p:spPr>
          <a:xfrm>
            <a:off x="6892290" y="2514600"/>
            <a:ext cx="0" cy="2377440"/>
          </a:xfrm>
          <a:prstGeom prst="line">
            <a:avLst/>
          </a:prstGeom>
          <a:noFill/>
          <a:ln w="5080">
            <a:solidFill>
              <a:srgbClr val="B8C4D3"/>
            </a:solidFill>
            <a:prstDash val="solid"/>
          </a:ln>
        </p:spPr>
      </p:sp>
      <p:sp>
        <p:nvSpPr>
          <p:cNvPr id="262" name="Shape 260"/>
          <p:cNvSpPr/>
          <p:nvPr/>
        </p:nvSpPr>
        <p:spPr>
          <a:xfrm>
            <a:off x="4663440" y="4743450"/>
            <a:ext cx="2377440" cy="0"/>
          </a:xfrm>
          <a:prstGeom prst="line">
            <a:avLst/>
          </a:prstGeom>
          <a:noFill/>
          <a:ln w="5080">
            <a:solidFill>
              <a:srgbClr val="B8C4D3"/>
            </a:solidFill>
            <a:prstDash val="solid"/>
          </a:ln>
        </p:spPr>
      </p:sp>
      <p:sp>
        <p:nvSpPr>
          <p:cNvPr id="263" name="Shape 261"/>
          <p:cNvSpPr/>
          <p:nvPr/>
        </p:nvSpPr>
        <p:spPr>
          <a:xfrm>
            <a:off x="6966585" y="2514600"/>
            <a:ext cx="0" cy="2377440"/>
          </a:xfrm>
          <a:prstGeom prst="line">
            <a:avLst/>
          </a:prstGeom>
          <a:noFill/>
          <a:ln w="5080">
            <a:solidFill>
              <a:srgbClr val="B8C4D3"/>
            </a:solidFill>
            <a:prstDash val="solid"/>
          </a:ln>
        </p:spPr>
      </p:sp>
      <p:sp>
        <p:nvSpPr>
          <p:cNvPr id="264" name="Shape 262"/>
          <p:cNvSpPr/>
          <p:nvPr/>
        </p:nvSpPr>
        <p:spPr>
          <a:xfrm>
            <a:off x="4663440" y="4817745"/>
            <a:ext cx="2377440" cy="0"/>
          </a:xfrm>
          <a:prstGeom prst="line">
            <a:avLst/>
          </a:prstGeom>
          <a:noFill/>
          <a:ln w="5080">
            <a:solidFill>
              <a:srgbClr val="B8C4D3"/>
            </a:solidFill>
            <a:prstDash val="solid"/>
          </a:ln>
        </p:spPr>
      </p:sp>
      <p:sp>
        <p:nvSpPr>
          <p:cNvPr id="265" name="Shape 263"/>
          <p:cNvSpPr/>
          <p:nvPr/>
        </p:nvSpPr>
        <p:spPr>
          <a:xfrm>
            <a:off x="5554980" y="3406140"/>
            <a:ext cx="594360" cy="594360"/>
          </a:xfrm>
          <a:prstGeom prst="rect">
            <a:avLst/>
          </a:prstGeom>
          <a:solidFill>
            <a:srgbClr val="2E86AB">
              <a:alpha val="20000"/>
            </a:srgbClr>
          </a:solidFill>
          <a:ln w="12700">
            <a:solidFill>
              <a:srgbClr val="2E86AB"/>
            </a:solidFill>
            <a:prstDash val="dash"/>
          </a:ln>
        </p:spPr>
      </p:sp>
      <p:sp>
        <p:nvSpPr>
          <p:cNvPr id="266" name="Shape 264"/>
          <p:cNvSpPr/>
          <p:nvPr/>
        </p:nvSpPr>
        <p:spPr>
          <a:xfrm>
            <a:off x="5703570" y="3554730"/>
            <a:ext cx="297180" cy="297180"/>
          </a:xfrm>
          <a:prstGeom prst="rect">
            <a:avLst/>
          </a:prstGeom>
          <a:solidFill>
            <a:srgbClr val="E07A2F">
              <a:alpha val="35000"/>
            </a:srgbClr>
          </a:solidFill>
          <a:ln w="12700">
            <a:solidFill>
              <a:srgbClr val="E07A2F"/>
            </a:solidFill>
            <a:prstDash val="dash"/>
          </a:ln>
        </p:spPr>
      </p:sp>
      <p:sp>
        <p:nvSpPr>
          <p:cNvPr id="267" name="Shape 265"/>
          <p:cNvSpPr/>
          <p:nvPr/>
        </p:nvSpPr>
        <p:spPr>
          <a:xfrm>
            <a:off x="5777865" y="3629025"/>
            <a:ext cx="148590" cy="148590"/>
          </a:xfrm>
          <a:prstGeom prst="rect">
            <a:avLst/>
          </a:prstGeom>
          <a:solidFill>
            <a:srgbClr val="1F7A4D">
              <a:alpha val="55000"/>
            </a:srgbClr>
          </a:solidFill>
          <a:ln w="12700">
            <a:solidFill>
              <a:srgbClr val="1F7A4D"/>
            </a:solidFill>
            <a:prstDash val="solid"/>
          </a:ln>
        </p:spPr>
      </p:sp>
      <p:sp>
        <p:nvSpPr>
          <p:cNvPr id="268" name="Shape 266"/>
          <p:cNvSpPr/>
          <p:nvPr/>
        </p:nvSpPr>
        <p:spPr>
          <a:xfrm>
            <a:off x="5777865" y="3629025"/>
            <a:ext cx="74295" cy="74295"/>
          </a:xfrm>
          <a:prstGeom prst="rect">
            <a:avLst/>
          </a:prstGeom>
          <a:solidFill>
            <a:srgbClr val="F2C14E"/>
          </a:solidFill>
          <a:ln w="12700">
            <a:solidFill>
              <a:srgbClr val="B58900"/>
            </a:solidFill>
            <a:prstDash val="solid"/>
          </a:ln>
        </p:spPr>
      </p:sp>
      <p:sp>
        <p:nvSpPr>
          <p:cNvPr id="269" name="Text 267"/>
          <p:cNvSpPr txBox="1"/>
          <p:nvPr/>
        </p:nvSpPr>
        <p:spPr>
          <a:xfrm>
            <a:off x="4389120" y="2203704"/>
            <a:ext cx="2926080" cy="256032"/>
          </a:xfrm>
          <a:prstGeom prst="rect">
            <a:avLst/>
          </a:prstGeom>
          <a:noFill/>
          <a:ln/>
        </p:spPr>
        <p:txBody>
          <a:bodyPr wrap="square" lIns="0" tIns="0" rIns="0" bIns="0" rtlCol="0" anchor="ctr"/>
          <a:lstStyle/>
          <a:p>
            <a:pPr algn="ctr" indent="0" marL="0">
              <a:buNone/>
            </a:pPr>
            <a:r>
              <a:rPr lang="en-US" sz="950" b="1" dirty="0">
                <a:solidFill>
                  <a:srgbClr val="0B1F3A"/>
                </a:solidFill>
                <a:latin typeface="Calibri" pitchFamily="34" charset="0"/>
                <a:ea typeface="Calibri" pitchFamily="34" charset="-122"/>
                <a:cs typeface="Calibri" pitchFamily="34" charset="-120"/>
              </a:rPr>
              <a:t>output frame · L = 128 × 128 px @ 10 m (drawn 32 × 32)</a:t>
            </a:r>
            <a:endParaRPr lang="en-US" sz="950" dirty="0"/>
          </a:p>
        </p:txBody>
      </p:sp>
      <p:sp>
        <p:nvSpPr>
          <p:cNvPr id="270" name="Text 268"/>
          <p:cNvSpPr txBox="1"/>
          <p:nvPr/>
        </p:nvSpPr>
        <p:spPr>
          <a:xfrm>
            <a:off x="4297680" y="4937760"/>
            <a:ext cx="3108960" cy="6858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Tinted background = whole frame reaches the pixel through the space path; dashed squares = coarse cells it inherited; green = fine 3×3 texture; yellow = the 10 m output pixel.</a:t>
            </a:r>
            <a:endParaRPr lang="en-US" sz="850" dirty="0"/>
          </a:p>
        </p:txBody>
      </p:sp>
      <p:sp>
        <p:nvSpPr>
          <p:cNvPr id="271" name="Shape 269"/>
          <p:cNvSpPr/>
          <p:nvPr/>
        </p:nvSpPr>
        <p:spPr>
          <a:xfrm>
            <a:off x="7178040" y="3611880"/>
            <a:ext cx="640080" cy="365760"/>
          </a:xfrm>
          <a:prstGeom prst="rightArrow">
            <a:avLst/>
          </a:prstGeom>
          <a:solidFill>
            <a:srgbClr val="B8C4D3"/>
          </a:solidFill>
          <a:ln w="12700">
            <a:solidFill>
              <a:srgbClr val="333333"/>
            </a:solidFill>
            <a:prstDash val="solid"/>
          </a:ln>
        </p:spPr>
      </p:sp>
      <p:sp>
        <p:nvSpPr>
          <p:cNvPr id="272" name="Shape 270"/>
          <p:cNvSpPr/>
          <p:nvPr/>
        </p:nvSpPr>
        <p:spPr>
          <a:xfrm>
            <a:off x="8001000" y="2743200"/>
            <a:ext cx="548640" cy="240030"/>
          </a:xfrm>
          <a:prstGeom prst="rect">
            <a:avLst/>
          </a:prstGeom>
          <a:solidFill>
            <a:srgbClr val="6A4C93"/>
          </a:solidFill>
          <a:ln w="9525">
            <a:solidFill>
              <a:srgbClr val="FFFFFF"/>
            </a:solidFill>
            <a:prstDash val="solid"/>
          </a:ln>
        </p:spPr>
      </p:sp>
      <p:sp>
        <p:nvSpPr>
          <p:cNvPr id="273" name="Shape 271"/>
          <p:cNvSpPr/>
          <p:nvPr/>
        </p:nvSpPr>
        <p:spPr>
          <a:xfrm>
            <a:off x="8001000" y="2983230"/>
            <a:ext cx="548640" cy="240030"/>
          </a:xfrm>
          <a:prstGeom prst="rect">
            <a:avLst/>
          </a:prstGeom>
          <a:solidFill>
            <a:srgbClr val="7B5EA7"/>
          </a:solidFill>
          <a:ln w="9525">
            <a:solidFill>
              <a:srgbClr val="FFFFFF"/>
            </a:solidFill>
            <a:prstDash val="solid"/>
          </a:ln>
        </p:spPr>
      </p:sp>
      <p:sp>
        <p:nvSpPr>
          <p:cNvPr id="274" name="Shape 272"/>
          <p:cNvSpPr/>
          <p:nvPr/>
        </p:nvSpPr>
        <p:spPr>
          <a:xfrm>
            <a:off x="8001000" y="3223260"/>
            <a:ext cx="548640" cy="240030"/>
          </a:xfrm>
          <a:prstGeom prst="rect">
            <a:avLst/>
          </a:prstGeom>
          <a:solidFill>
            <a:srgbClr val="8C70BA"/>
          </a:solidFill>
          <a:ln w="9525">
            <a:solidFill>
              <a:srgbClr val="FFFFFF"/>
            </a:solidFill>
            <a:prstDash val="solid"/>
          </a:ln>
        </p:spPr>
      </p:sp>
      <p:sp>
        <p:nvSpPr>
          <p:cNvPr id="275" name="Shape 273"/>
          <p:cNvSpPr/>
          <p:nvPr/>
        </p:nvSpPr>
        <p:spPr>
          <a:xfrm>
            <a:off x="8001000" y="3463290"/>
            <a:ext cx="548640" cy="240030"/>
          </a:xfrm>
          <a:prstGeom prst="rect">
            <a:avLst/>
          </a:prstGeom>
          <a:solidFill>
            <a:srgbClr val="9D82CD"/>
          </a:solidFill>
          <a:ln w="9525">
            <a:solidFill>
              <a:srgbClr val="FFFFFF"/>
            </a:solidFill>
            <a:prstDash val="solid"/>
          </a:ln>
        </p:spPr>
      </p:sp>
      <p:sp>
        <p:nvSpPr>
          <p:cNvPr id="276" name="Shape 274"/>
          <p:cNvSpPr/>
          <p:nvPr/>
        </p:nvSpPr>
        <p:spPr>
          <a:xfrm>
            <a:off x="8001000" y="3703320"/>
            <a:ext cx="548640" cy="240030"/>
          </a:xfrm>
          <a:prstGeom prst="rect">
            <a:avLst/>
          </a:prstGeom>
          <a:solidFill>
            <a:srgbClr val="8C70BA"/>
          </a:solidFill>
          <a:ln w="9525">
            <a:solidFill>
              <a:srgbClr val="FFFFFF"/>
            </a:solidFill>
            <a:prstDash val="solid"/>
          </a:ln>
        </p:spPr>
      </p:sp>
      <p:sp>
        <p:nvSpPr>
          <p:cNvPr id="277" name="Shape 275"/>
          <p:cNvSpPr/>
          <p:nvPr/>
        </p:nvSpPr>
        <p:spPr>
          <a:xfrm>
            <a:off x="8001000" y="3943350"/>
            <a:ext cx="548640" cy="240030"/>
          </a:xfrm>
          <a:prstGeom prst="rect">
            <a:avLst/>
          </a:prstGeom>
          <a:solidFill>
            <a:srgbClr val="7B5EA7"/>
          </a:solidFill>
          <a:ln w="9525">
            <a:solidFill>
              <a:srgbClr val="FFFFFF"/>
            </a:solidFill>
            <a:prstDash val="solid"/>
          </a:ln>
        </p:spPr>
      </p:sp>
      <p:sp>
        <p:nvSpPr>
          <p:cNvPr id="278" name="Shape 276"/>
          <p:cNvSpPr/>
          <p:nvPr/>
        </p:nvSpPr>
        <p:spPr>
          <a:xfrm>
            <a:off x="8001000" y="4183380"/>
            <a:ext cx="548640" cy="240030"/>
          </a:xfrm>
          <a:prstGeom prst="rect">
            <a:avLst/>
          </a:prstGeom>
          <a:solidFill>
            <a:srgbClr val="6A4C93"/>
          </a:solidFill>
          <a:ln w="9525">
            <a:solidFill>
              <a:srgbClr val="FFFFFF"/>
            </a:solidFill>
            <a:prstDash val="solid"/>
          </a:ln>
        </p:spPr>
      </p:sp>
      <p:sp>
        <p:nvSpPr>
          <p:cNvPr id="279" name="Shape 277"/>
          <p:cNvSpPr/>
          <p:nvPr/>
        </p:nvSpPr>
        <p:spPr>
          <a:xfrm>
            <a:off x="8001000" y="4423410"/>
            <a:ext cx="548640" cy="240030"/>
          </a:xfrm>
          <a:prstGeom prst="rect">
            <a:avLst/>
          </a:prstGeom>
          <a:solidFill>
            <a:srgbClr val="5A3D80"/>
          </a:solidFill>
          <a:ln w="9525">
            <a:solidFill>
              <a:srgbClr val="FFFFFF"/>
            </a:solidFill>
            <a:prstDash val="solid"/>
          </a:ln>
        </p:spPr>
      </p:sp>
      <p:sp>
        <p:nvSpPr>
          <p:cNvPr id="280" name="Text 278"/>
          <p:cNvSpPr txBox="1"/>
          <p:nvPr/>
        </p:nvSpPr>
        <p:spPr>
          <a:xfrm>
            <a:off x="7726680" y="4709160"/>
            <a:ext cx="1097280" cy="27432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64-D</a:t>
            </a:r>
            <a:endParaRPr lang="en-US" sz="1200" dirty="0"/>
          </a:p>
        </p:txBody>
      </p:sp>
      <p:sp>
        <p:nvSpPr>
          <p:cNvPr id="281" name="Text 279"/>
          <p:cNvSpPr txBox="1"/>
          <p:nvPr/>
        </p:nvSpPr>
        <p:spPr>
          <a:xfrm>
            <a:off x="8869680" y="2514600"/>
            <a:ext cx="2743200" cy="3566160"/>
          </a:xfrm>
          <a:prstGeom prst="rect">
            <a:avLst/>
          </a:prstGeom>
          <a:noFill/>
          <a:ln/>
        </p:spPr>
        <p:txBody>
          <a:bodyPr wrap="square" lIns="0" tIns="0" rIns="0" bIns="0" rtlCol="0" anchor="t"/>
          <a:lstStyle/>
          <a:p>
            <a:pPr indent="0" marL="0">
              <a:buNone/>
            </a:pPr>
            <a:r>
              <a:rPr lang="en-US" sz="950" b="1" dirty="0">
                <a:solidFill>
                  <a:srgbClr val="6A4C93"/>
                </a:solidFill>
                <a:latin typeface="Calibri" pitchFamily="34" charset="0"/>
                <a:ea typeface="Calibri" pitchFamily="34" charset="-122"/>
                <a:cs typeface="Calibri" pitchFamily="34" charset="-120"/>
              </a:rPr>
              <a:t>Per 10 m pixel: </a:t>
            </a:r>
            <a:pPr indent="0" marL="0">
              <a:buNone/>
            </a:pPr>
            <a:r>
              <a:rPr lang="en-US" sz="950" dirty="0">
                <a:solidFill>
                  <a:srgbClr val="1B2430"/>
                </a:solidFill>
                <a:latin typeface="Calibri" pitchFamily="34" charset="0"/>
                <a:ea typeface="Calibri" pitchFamily="34" charset="-122"/>
                <a:cs typeface="Calibri" pitchFamily="34" charset="-120"/>
              </a:rPr>
              <a:t>a 64-D vector, normalised to the unit sphere S⁶³ (the batch-uniformity loss spreads embeddings over it), stored as 64 int8 bytes in the released layers.</a:t>
            </a:r>
            <a:endParaRPr lang="en-US" sz="950" dirty="0"/>
          </a:p>
          <a:p>
            <a:pPr indent="0" marL="0">
              <a:buNone/>
            </a:pPr>
            <a:r>
              <a:rPr lang="en-US" sz="500" dirty="0">
                <a:solidFill>
                  <a:srgbClr val="1B2430"/>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E07A2F"/>
                </a:solidFill>
                <a:latin typeface="Calibri" pitchFamily="34" charset="0"/>
                <a:ea typeface="Calibri" pitchFamily="34" charset="-122"/>
                <a:cs typeface="Calibri" pitchFamily="34" charset="-120"/>
              </a:rPr>
              <a:t>Per valid period: </a:t>
            </a:r>
            <a:pPr indent="0" marL="0">
              <a:buNone/>
            </a:pPr>
            <a:r>
              <a:rPr lang="en-US" sz="950" dirty="0">
                <a:solidFill>
                  <a:srgbClr val="1B2430"/>
                </a:solidFill>
                <a:latin typeface="Calibri" pitchFamily="34" charset="0"/>
                <a:ea typeface="Calibri" pitchFamily="34" charset="-122"/>
                <a:cs typeface="Calibri" pitchFamily="34" charset="-120"/>
              </a:rPr>
              <a:t>the pair (t_s, t_e) entered the time operators as timecodes in every block, so this whole frame of vectors is a summary of that window — one calendar year in the public product.</a:t>
            </a:r>
            <a:endParaRPr lang="en-US" sz="950" dirty="0"/>
          </a:p>
          <a:p>
            <a:pPr indent="0" marL="0">
              <a:buNone/>
            </a:pPr>
            <a:r>
              <a:rPr lang="en-US" sz="500" dirty="0">
                <a:solidFill>
                  <a:srgbClr val="1B2430"/>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0B1F3A"/>
                </a:solidFill>
                <a:latin typeface="Calibri" pitchFamily="34" charset="0"/>
                <a:ea typeface="Calibri" pitchFamily="34" charset="-122"/>
                <a:cs typeface="Calibri" pitchFamily="34" charset="-120"/>
              </a:rPr>
              <a:t>So what is the stencil? </a:t>
            </a:r>
            <a:pPr indent="0" marL="0">
              <a:buNone/>
            </a:pPr>
            <a:r>
              <a:rPr lang="en-US" sz="950" dirty="0">
                <a:solidFill>
                  <a:srgbClr val="1B2430"/>
                </a:solidFill>
                <a:latin typeface="Calibri" pitchFamily="34" charset="0"/>
                <a:ea typeface="Calibri" pitchFamily="34" charset="-122"/>
                <a:cs typeface="Calibri" pitchFamily="34" charset="-120"/>
              </a:rPr>
              <a:t>Spatially the whole 1.28 km frame, coarsely (8 × 8 cells of 160 m through the space path) plus a fine local neighbourhood (20 m cells through the precision path); temporally every dated frame in the valid period. The number to remember: an AlphaEarth pixel never sees further than ~640 m in any direction.</a:t>
            </a:r>
            <a:endParaRPr lang="en-US" sz="950" dirty="0"/>
          </a:p>
        </p:txBody>
      </p:sp>
      <p:sp>
        <p:nvSpPr>
          <p:cNvPr id="282" name="Text 28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TESSERA (University of Cambridge)</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Pixel-wise 10 m annual embeddings from S-1 + S-2 time series — fully open (CC0), CVPR 2026</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150" b="1" dirty="0">
                <a:solidFill>
                  <a:srgbClr val="1C7293"/>
                </a:solidFill>
                <a:latin typeface="Calibri" pitchFamily="34" charset="0"/>
                <a:ea typeface="Calibri" pitchFamily="34" charset="-122"/>
                <a:cs typeface="Calibri" pitchFamily="34" charset="-120"/>
              </a:rPr>
              <a:t>Who / when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Cambridge Centre for Earth Observation; arXiv 2506.20380 (Jun 2025), CVPR 2026. Code github.com/ucam-eo/tessera, access via geotessera.</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Inputs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Sentinel-2 L2A (10 bands, 60 m bands dropped, resampled to 10 m) + Sentinel-1 RTC (VV, VH). Two modality-specific branches, fused late.</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Architecture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Per-pixel temporal transformer (4 layers) + GRU pooling per modality; encoder ~46 M params (1.34 B projector used only in training). Barlow Twins self-supervision on ~800 M pixel-series from 3,012 MGRS tiles; ~6,200 GPU-h on MI300X.</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Stencil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Strictly one 10 m pixel — no spatial context at all. One calendar year; 40 valid dates sampled per modality with learnable day-of-year embeddings (irregular cadence tolerated).</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Output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128-D per pixel-year, int8 (QAT). Years 2017–2025, global land (water masked); tile-sampled coverage, gaps on request.</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Availability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Weights (CC0), code (MIT), precomputed embeddings via GeoTessera CDN. Self-run: ~10 h per 110 km tile-year (128-core CPU + A30).</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Results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Frozen + MLP head: PASTIS-R mIoU 50.7, TreeSatAI-TS F1 78.0, canopy height RMSE 12.2 m; holds up until &lt;~20 valid S-2 obs/yr.</a:t>
            </a:r>
            <a:endParaRPr lang="en-US" sz="115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330952" y="2212848"/>
            <a:ext cx="2377440" cy="2377440"/>
          </a:xfrm>
          <a:prstGeom prst="rect">
            <a:avLst/>
          </a:prstGeom>
          <a:solidFill>
            <a:srgbClr val="EEF3F8"/>
          </a:solidFill>
          <a:ln w="9525">
            <a:solidFill>
              <a:srgbClr val="B8C4D3"/>
            </a:solidFill>
            <a:prstDash val="solid"/>
          </a:ln>
        </p:spPr>
      </p:sp>
      <p:sp>
        <p:nvSpPr>
          <p:cNvPr id="9" name="Shape 7"/>
          <p:cNvSpPr/>
          <p:nvPr/>
        </p:nvSpPr>
        <p:spPr>
          <a:xfrm>
            <a:off x="5257800" y="2286000"/>
            <a:ext cx="2377440" cy="2377440"/>
          </a:xfrm>
          <a:prstGeom prst="rect">
            <a:avLst/>
          </a:prstGeom>
          <a:solidFill>
            <a:srgbClr val="FFFFFF"/>
          </a:solidFill>
          <a:ln w="9525">
            <a:solidFill>
              <a:srgbClr val="B8C4D3"/>
            </a:solidFill>
            <a:prstDash val="solid"/>
          </a:ln>
        </p:spPr>
      </p:sp>
      <p:sp>
        <p:nvSpPr>
          <p:cNvPr id="10" name="Shape 8"/>
          <p:cNvSpPr/>
          <p:nvPr/>
        </p:nvSpPr>
        <p:spPr>
          <a:xfrm>
            <a:off x="5521960" y="2286000"/>
            <a:ext cx="0" cy="2377440"/>
          </a:xfrm>
          <a:prstGeom prst="line">
            <a:avLst/>
          </a:prstGeom>
          <a:noFill/>
          <a:ln w="7620">
            <a:solidFill>
              <a:srgbClr val="B8C4D3"/>
            </a:solidFill>
            <a:prstDash val="solid"/>
          </a:ln>
        </p:spPr>
      </p:sp>
      <p:sp>
        <p:nvSpPr>
          <p:cNvPr id="11" name="Shape 9"/>
          <p:cNvSpPr/>
          <p:nvPr/>
        </p:nvSpPr>
        <p:spPr>
          <a:xfrm>
            <a:off x="5257800" y="2550160"/>
            <a:ext cx="2377440" cy="0"/>
          </a:xfrm>
          <a:prstGeom prst="line">
            <a:avLst/>
          </a:prstGeom>
          <a:noFill/>
          <a:ln w="7620">
            <a:solidFill>
              <a:srgbClr val="B8C4D3"/>
            </a:solidFill>
            <a:prstDash val="solid"/>
          </a:ln>
        </p:spPr>
      </p:sp>
      <p:sp>
        <p:nvSpPr>
          <p:cNvPr id="12" name="Shape 10"/>
          <p:cNvSpPr/>
          <p:nvPr/>
        </p:nvSpPr>
        <p:spPr>
          <a:xfrm>
            <a:off x="5786120" y="2286000"/>
            <a:ext cx="0" cy="2377440"/>
          </a:xfrm>
          <a:prstGeom prst="line">
            <a:avLst/>
          </a:prstGeom>
          <a:noFill/>
          <a:ln w="7620">
            <a:solidFill>
              <a:srgbClr val="B8C4D3"/>
            </a:solidFill>
            <a:prstDash val="solid"/>
          </a:ln>
        </p:spPr>
      </p:sp>
      <p:sp>
        <p:nvSpPr>
          <p:cNvPr id="13" name="Shape 11"/>
          <p:cNvSpPr/>
          <p:nvPr/>
        </p:nvSpPr>
        <p:spPr>
          <a:xfrm>
            <a:off x="5257800" y="2814320"/>
            <a:ext cx="2377440" cy="0"/>
          </a:xfrm>
          <a:prstGeom prst="line">
            <a:avLst/>
          </a:prstGeom>
          <a:noFill/>
          <a:ln w="7620">
            <a:solidFill>
              <a:srgbClr val="B8C4D3"/>
            </a:solidFill>
            <a:prstDash val="solid"/>
          </a:ln>
        </p:spPr>
      </p:sp>
      <p:sp>
        <p:nvSpPr>
          <p:cNvPr id="14" name="Shape 12"/>
          <p:cNvSpPr/>
          <p:nvPr/>
        </p:nvSpPr>
        <p:spPr>
          <a:xfrm>
            <a:off x="6050280" y="2286000"/>
            <a:ext cx="0" cy="2377440"/>
          </a:xfrm>
          <a:prstGeom prst="line">
            <a:avLst/>
          </a:prstGeom>
          <a:noFill/>
          <a:ln w="7620">
            <a:solidFill>
              <a:srgbClr val="B8C4D3"/>
            </a:solidFill>
            <a:prstDash val="solid"/>
          </a:ln>
        </p:spPr>
      </p:sp>
      <p:sp>
        <p:nvSpPr>
          <p:cNvPr id="15" name="Shape 13"/>
          <p:cNvSpPr/>
          <p:nvPr/>
        </p:nvSpPr>
        <p:spPr>
          <a:xfrm>
            <a:off x="5257800" y="3078480"/>
            <a:ext cx="2377440" cy="0"/>
          </a:xfrm>
          <a:prstGeom prst="line">
            <a:avLst/>
          </a:prstGeom>
          <a:noFill/>
          <a:ln w="7620">
            <a:solidFill>
              <a:srgbClr val="B8C4D3"/>
            </a:solidFill>
            <a:prstDash val="solid"/>
          </a:ln>
        </p:spPr>
      </p:sp>
      <p:sp>
        <p:nvSpPr>
          <p:cNvPr id="16" name="Shape 14"/>
          <p:cNvSpPr/>
          <p:nvPr/>
        </p:nvSpPr>
        <p:spPr>
          <a:xfrm>
            <a:off x="6314440" y="2286000"/>
            <a:ext cx="0" cy="2377440"/>
          </a:xfrm>
          <a:prstGeom prst="line">
            <a:avLst/>
          </a:prstGeom>
          <a:noFill/>
          <a:ln w="7620">
            <a:solidFill>
              <a:srgbClr val="B8C4D3"/>
            </a:solidFill>
            <a:prstDash val="solid"/>
          </a:ln>
        </p:spPr>
      </p:sp>
      <p:sp>
        <p:nvSpPr>
          <p:cNvPr id="17" name="Shape 15"/>
          <p:cNvSpPr/>
          <p:nvPr/>
        </p:nvSpPr>
        <p:spPr>
          <a:xfrm>
            <a:off x="5257800" y="3342640"/>
            <a:ext cx="2377440" cy="0"/>
          </a:xfrm>
          <a:prstGeom prst="line">
            <a:avLst/>
          </a:prstGeom>
          <a:noFill/>
          <a:ln w="7620">
            <a:solidFill>
              <a:srgbClr val="B8C4D3"/>
            </a:solidFill>
            <a:prstDash val="solid"/>
          </a:ln>
        </p:spPr>
      </p:sp>
      <p:sp>
        <p:nvSpPr>
          <p:cNvPr id="18" name="Shape 16"/>
          <p:cNvSpPr/>
          <p:nvPr/>
        </p:nvSpPr>
        <p:spPr>
          <a:xfrm>
            <a:off x="6578600" y="2286000"/>
            <a:ext cx="0" cy="2377440"/>
          </a:xfrm>
          <a:prstGeom prst="line">
            <a:avLst/>
          </a:prstGeom>
          <a:noFill/>
          <a:ln w="7620">
            <a:solidFill>
              <a:srgbClr val="B8C4D3"/>
            </a:solidFill>
            <a:prstDash val="solid"/>
          </a:ln>
        </p:spPr>
      </p:sp>
      <p:sp>
        <p:nvSpPr>
          <p:cNvPr id="19" name="Shape 17"/>
          <p:cNvSpPr/>
          <p:nvPr/>
        </p:nvSpPr>
        <p:spPr>
          <a:xfrm>
            <a:off x="5257800" y="3606800"/>
            <a:ext cx="2377440" cy="0"/>
          </a:xfrm>
          <a:prstGeom prst="line">
            <a:avLst/>
          </a:prstGeom>
          <a:noFill/>
          <a:ln w="7620">
            <a:solidFill>
              <a:srgbClr val="B8C4D3"/>
            </a:solidFill>
            <a:prstDash val="solid"/>
          </a:ln>
        </p:spPr>
      </p:sp>
      <p:sp>
        <p:nvSpPr>
          <p:cNvPr id="20" name="Shape 18"/>
          <p:cNvSpPr/>
          <p:nvPr/>
        </p:nvSpPr>
        <p:spPr>
          <a:xfrm>
            <a:off x="6842760" y="2286000"/>
            <a:ext cx="0" cy="2377440"/>
          </a:xfrm>
          <a:prstGeom prst="line">
            <a:avLst/>
          </a:prstGeom>
          <a:noFill/>
          <a:ln w="7620">
            <a:solidFill>
              <a:srgbClr val="B8C4D3"/>
            </a:solidFill>
            <a:prstDash val="solid"/>
          </a:ln>
        </p:spPr>
      </p:sp>
      <p:sp>
        <p:nvSpPr>
          <p:cNvPr id="21" name="Shape 19"/>
          <p:cNvSpPr/>
          <p:nvPr/>
        </p:nvSpPr>
        <p:spPr>
          <a:xfrm>
            <a:off x="5257800" y="3870960"/>
            <a:ext cx="2377440" cy="0"/>
          </a:xfrm>
          <a:prstGeom prst="line">
            <a:avLst/>
          </a:prstGeom>
          <a:noFill/>
          <a:ln w="7620">
            <a:solidFill>
              <a:srgbClr val="B8C4D3"/>
            </a:solidFill>
            <a:prstDash val="solid"/>
          </a:ln>
        </p:spPr>
      </p:sp>
      <p:sp>
        <p:nvSpPr>
          <p:cNvPr id="22" name="Shape 20"/>
          <p:cNvSpPr/>
          <p:nvPr/>
        </p:nvSpPr>
        <p:spPr>
          <a:xfrm>
            <a:off x="7106920" y="2286000"/>
            <a:ext cx="0" cy="2377440"/>
          </a:xfrm>
          <a:prstGeom prst="line">
            <a:avLst/>
          </a:prstGeom>
          <a:noFill/>
          <a:ln w="7620">
            <a:solidFill>
              <a:srgbClr val="B8C4D3"/>
            </a:solidFill>
            <a:prstDash val="solid"/>
          </a:ln>
        </p:spPr>
      </p:sp>
      <p:sp>
        <p:nvSpPr>
          <p:cNvPr id="23" name="Shape 21"/>
          <p:cNvSpPr/>
          <p:nvPr/>
        </p:nvSpPr>
        <p:spPr>
          <a:xfrm>
            <a:off x="5257800" y="4135120"/>
            <a:ext cx="2377440" cy="0"/>
          </a:xfrm>
          <a:prstGeom prst="line">
            <a:avLst/>
          </a:prstGeom>
          <a:noFill/>
          <a:ln w="7620">
            <a:solidFill>
              <a:srgbClr val="B8C4D3"/>
            </a:solidFill>
            <a:prstDash val="solid"/>
          </a:ln>
        </p:spPr>
      </p:sp>
      <p:sp>
        <p:nvSpPr>
          <p:cNvPr id="24" name="Shape 22"/>
          <p:cNvSpPr/>
          <p:nvPr/>
        </p:nvSpPr>
        <p:spPr>
          <a:xfrm>
            <a:off x="7371080" y="2286000"/>
            <a:ext cx="0" cy="2377440"/>
          </a:xfrm>
          <a:prstGeom prst="line">
            <a:avLst/>
          </a:prstGeom>
          <a:noFill/>
          <a:ln w="7620">
            <a:solidFill>
              <a:srgbClr val="B8C4D3"/>
            </a:solidFill>
            <a:prstDash val="solid"/>
          </a:ln>
        </p:spPr>
      </p:sp>
      <p:sp>
        <p:nvSpPr>
          <p:cNvPr id="25" name="Shape 23"/>
          <p:cNvSpPr/>
          <p:nvPr/>
        </p:nvSpPr>
        <p:spPr>
          <a:xfrm>
            <a:off x="5257800" y="4399280"/>
            <a:ext cx="2377440" cy="0"/>
          </a:xfrm>
          <a:prstGeom prst="line">
            <a:avLst/>
          </a:prstGeom>
          <a:noFill/>
          <a:ln w="7620">
            <a:solidFill>
              <a:srgbClr val="B8C4D3"/>
            </a:solidFill>
            <a:prstDash val="solid"/>
          </a:ln>
        </p:spPr>
      </p:sp>
      <p:sp>
        <p:nvSpPr>
          <p:cNvPr id="26" name="Shape 24"/>
          <p:cNvSpPr/>
          <p:nvPr/>
        </p:nvSpPr>
        <p:spPr>
          <a:xfrm>
            <a:off x="6314440" y="3342640"/>
            <a:ext cx="264160" cy="264160"/>
          </a:xfrm>
          <a:prstGeom prst="rect">
            <a:avLst/>
          </a:prstGeom>
          <a:solidFill>
            <a:srgbClr val="F2C14E"/>
          </a:solidFill>
          <a:ln w="12700">
            <a:solidFill>
              <a:srgbClr val="B58900"/>
            </a:solidFill>
            <a:prstDash val="solid"/>
          </a:ln>
        </p:spPr>
      </p:sp>
      <p:sp>
        <p:nvSpPr>
          <p:cNvPr id="27" name="Text 25"/>
          <p:cNvSpPr txBox="1"/>
          <p:nvPr/>
        </p:nvSpPr>
        <p:spPr>
          <a:xfrm>
            <a:off x="6080760" y="3154680"/>
            <a:ext cx="1280160" cy="228600"/>
          </a:xfrm>
          <a:prstGeom prst="rect">
            <a:avLst/>
          </a:prstGeom>
          <a:noFill/>
          <a:ln/>
        </p:spPr>
        <p:txBody>
          <a:bodyPr wrap="square" lIns="0" tIns="0" rIns="0" bIns="0" rtlCol="0" anchor="ctr"/>
          <a:lstStyle/>
          <a:p>
            <a:pPr algn="ctr" indent="0" marL="0">
              <a:buNone/>
            </a:pPr>
            <a:r>
              <a:rPr lang="en-US" sz="850" b="1" dirty="0">
                <a:solidFill>
                  <a:srgbClr val="B58900"/>
                </a:solidFill>
                <a:latin typeface="Calibri" pitchFamily="34" charset="0"/>
                <a:ea typeface="Calibri" pitchFamily="34" charset="-122"/>
                <a:cs typeface="Calibri" pitchFamily="34" charset="-120"/>
              </a:rPr>
              <a:t>no neighbours used</a:t>
            </a:r>
            <a:endParaRPr lang="en-US" sz="850" dirty="0"/>
          </a:p>
        </p:txBody>
      </p:sp>
      <p:sp>
        <p:nvSpPr>
          <p:cNvPr id="28" name="Text 26"/>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Output pixel: 10 m × 10 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Receptive field = the same single pixel. Neighbouring pixels never enter.</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Two modality sheets: S-2 (10 bands) and S-1 (2 bands).</a:t>
            </a:r>
            <a:endParaRPr lang="en-US" sz="950" dirty="0"/>
          </a:p>
        </p:txBody>
      </p:sp>
      <p:sp>
        <p:nvSpPr>
          <p:cNvPr id="29" name="Text 27"/>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30" name="Shape 28"/>
          <p:cNvSpPr/>
          <p:nvPr/>
        </p:nvSpPr>
        <p:spPr>
          <a:xfrm>
            <a:off x="8316468" y="2423160"/>
            <a:ext cx="1792224" cy="1446581"/>
          </a:xfrm>
          <a:prstGeom prst="rect">
            <a:avLst/>
          </a:prstGeom>
          <a:solidFill>
            <a:srgbClr val="E07A2F">
              <a:alpha val="18000"/>
            </a:srgbClr>
          </a:solidFill>
          <a:ln w="12700">
            <a:solidFill>
              <a:srgbClr val="E07A2F"/>
            </a:solidFill>
            <a:prstDash val="solid"/>
          </a:ln>
        </p:spPr>
      </p:sp>
      <p:sp>
        <p:nvSpPr>
          <p:cNvPr id="31" name="Text 29"/>
          <p:cNvSpPr txBox="1"/>
          <p:nvPr/>
        </p:nvSpPr>
        <p:spPr>
          <a:xfrm>
            <a:off x="8087868" y="2176272"/>
            <a:ext cx="2249424" cy="237744"/>
          </a:xfrm>
          <a:prstGeom prst="rect">
            <a:avLst/>
          </a:prstGeom>
          <a:noFill/>
          <a:ln/>
        </p:spPr>
        <p:txBody>
          <a:bodyPr wrap="square" lIns="0" tIns="0" rIns="0" bIns="0" rtlCol="0" anchor="b"/>
          <a:lstStyle/>
          <a:p>
            <a:pPr algn="ctr" indent="0" marL="0">
              <a:buNone/>
            </a:pPr>
            <a:r>
              <a:rPr lang="en-US" sz="750" b="1" dirty="0">
                <a:solidFill>
                  <a:srgbClr val="E07A2F"/>
                </a:solidFill>
                <a:latin typeface="Calibri" pitchFamily="34" charset="0"/>
                <a:ea typeface="Calibri" pitchFamily="34" charset="-122"/>
                <a:cs typeface="Calibri" pitchFamily="34" charset="-120"/>
              </a:rPr>
              <a:t>1 calendar year</a:t>
            </a:r>
            <a:endParaRPr lang="en-US" sz="750" dirty="0"/>
          </a:p>
        </p:txBody>
      </p:sp>
      <p:sp>
        <p:nvSpPr>
          <p:cNvPr id="32" name="Shape 30"/>
          <p:cNvSpPr/>
          <p:nvPr/>
        </p:nvSpPr>
        <p:spPr>
          <a:xfrm>
            <a:off x="8092440" y="3760013"/>
            <a:ext cx="2240280" cy="0"/>
          </a:xfrm>
          <a:prstGeom prst="line">
            <a:avLst/>
          </a:prstGeom>
          <a:noFill/>
          <a:ln w="12700">
            <a:solidFill>
              <a:srgbClr val="1B2430"/>
            </a:solidFill>
            <a:prstDash val="solid"/>
            <a:tailEnd type="triangle"/>
          </a:ln>
        </p:spPr>
      </p:sp>
      <p:sp>
        <p:nvSpPr>
          <p:cNvPr id="33" name="Text 31"/>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34" name="Shape 32"/>
          <p:cNvSpPr/>
          <p:nvPr/>
        </p:nvSpPr>
        <p:spPr>
          <a:xfrm>
            <a:off x="8391144" y="3723437"/>
            <a:ext cx="0" cy="73152"/>
          </a:xfrm>
          <a:prstGeom prst="line">
            <a:avLst/>
          </a:prstGeom>
          <a:noFill/>
          <a:ln w="9525">
            <a:solidFill>
              <a:srgbClr val="1B2430"/>
            </a:solidFill>
            <a:prstDash val="solid"/>
          </a:ln>
        </p:spPr>
      </p:sp>
      <p:sp>
        <p:nvSpPr>
          <p:cNvPr id="35" name="Shape 33"/>
          <p:cNvSpPr/>
          <p:nvPr/>
        </p:nvSpPr>
        <p:spPr>
          <a:xfrm>
            <a:off x="8540496" y="3723437"/>
            <a:ext cx="0" cy="73152"/>
          </a:xfrm>
          <a:prstGeom prst="line">
            <a:avLst/>
          </a:prstGeom>
          <a:noFill/>
          <a:ln w="9525">
            <a:solidFill>
              <a:srgbClr val="1B2430"/>
            </a:solidFill>
            <a:prstDash val="solid"/>
          </a:ln>
        </p:spPr>
      </p:sp>
      <p:sp>
        <p:nvSpPr>
          <p:cNvPr id="36" name="Shape 34"/>
          <p:cNvSpPr/>
          <p:nvPr/>
        </p:nvSpPr>
        <p:spPr>
          <a:xfrm>
            <a:off x="8689848" y="3723437"/>
            <a:ext cx="0" cy="73152"/>
          </a:xfrm>
          <a:prstGeom prst="line">
            <a:avLst/>
          </a:prstGeom>
          <a:noFill/>
          <a:ln w="9525">
            <a:solidFill>
              <a:srgbClr val="1B2430"/>
            </a:solidFill>
            <a:prstDash val="solid"/>
          </a:ln>
        </p:spPr>
      </p:sp>
      <p:sp>
        <p:nvSpPr>
          <p:cNvPr id="37" name="Shape 35"/>
          <p:cNvSpPr/>
          <p:nvPr/>
        </p:nvSpPr>
        <p:spPr>
          <a:xfrm>
            <a:off x="8839200" y="3723437"/>
            <a:ext cx="0" cy="73152"/>
          </a:xfrm>
          <a:prstGeom prst="line">
            <a:avLst/>
          </a:prstGeom>
          <a:noFill/>
          <a:ln w="9525">
            <a:solidFill>
              <a:srgbClr val="1B2430"/>
            </a:solidFill>
            <a:prstDash val="solid"/>
          </a:ln>
        </p:spPr>
      </p:sp>
      <p:sp>
        <p:nvSpPr>
          <p:cNvPr id="38" name="Shape 36"/>
          <p:cNvSpPr/>
          <p:nvPr/>
        </p:nvSpPr>
        <p:spPr>
          <a:xfrm>
            <a:off x="8988552" y="3723437"/>
            <a:ext cx="0" cy="73152"/>
          </a:xfrm>
          <a:prstGeom prst="line">
            <a:avLst/>
          </a:prstGeom>
          <a:noFill/>
          <a:ln w="9525">
            <a:solidFill>
              <a:srgbClr val="1B2430"/>
            </a:solidFill>
            <a:prstDash val="solid"/>
          </a:ln>
        </p:spPr>
      </p:sp>
      <p:sp>
        <p:nvSpPr>
          <p:cNvPr id="39" name="Shape 37"/>
          <p:cNvSpPr/>
          <p:nvPr/>
        </p:nvSpPr>
        <p:spPr>
          <a:xfrm>
            <a:off x="9137904" y="3723437"/>
            <a:ext cx="0" cy="73152"/>
          </a:xfrm>
          <a:prstGeom prst="line">
            <a:avLst/>
          </a:prstGeom>
          <a:noFill/>
          <a:ln w="9525">
            <a:solidFill>
              <a:srgbClr val="1B2430"/>
            </a:solidFill>
            <a:prstDash val="solid"/>
          </a:ln>
        </p:spPr>
      </p:sp>
      <p:sp>
        <p:nvSpPr>
          <p:cNvPr id="40" name="Shape 38"/>
          <p:cNvSpPr/>
          <p:nvPr/>
        </p:nvSpPr>
        <p:spPr>
          <a:xfrm>
            <a:off x="9287256" y="3723437"/>
            <a:ext cx="0" cy="73152"/>
          </a:xfrm>
          <a:prstGeom prst="line">
            <a:avLst/>
          </a:prstGeom>
          <a:noFill/>
          <a:ln w="9525">
            <a:solidFill>
              <a:srgbClr val="1B2430"/>
            </a:solidFill>
            <a:prstDash val="solid"/>
          </a:ln>
        </p:spPr>
      </p:sp>
      <p:sp>
        <p:nvSpPr>
          <p:cNvPr id="41" name="Shape 39"/>
          <p:cNvSpPr/>
          <p:nvPr/>
        </p:nvSpPr>
        <p:spPr>
          <a:xfrm>
            <a:off x="9436608" y="3723437"/>
            <a:ext cx="0" cy="73152"/>
          </a:xfrm>
          <a:prstGeom prst="line">
            <a:avLst/>
          </a:prstGeom>
          <a:noFill/>
          <a:ln w="9525">
            <a:solidFill>
              <a:srgbClr val="1B2430"/>
            </a:solidFill>
            <a:prstDash val="solid"/>
          </a:ln>
        </p:spPr>
      </p:sp>
      <p:sp>
        <p:nvSpPr>
          <p:cNvPr id="42" name="Shape 40"/>
          <p:cNvSpPr/>
          <p:nvPr/>
        </p:nvSpPr>
        <p:spPr>
          <a:xfrm>
            <a:off x="9585960" y="3723437"/>
            <a:ext cx="0" cy="73152"/>
          </a:xfrm>
          <a:prstGeom prst="line">
            <a:avLst/>
          </a:prstGeom>
          <a:noFill/>
          <a:ln w="9525">
            <a:solidFill>
              <a:srgbClr val="1B2430"/>
            </a:solidFill>
            <a:prstDash val="solid"/>
          </a:ln>
        </p:spPr>
      </p:sp>
      <p:sp>
        <p:nvSpPr>
          <p:cNvPr id="43" name="Shape 41"/>
          <p:cNvSpPr/>
          <p:nvPr/>
        </p:nvSpPr>
        <p:spPr>
          <a:xfrm>
            <a:off x="9735312" y="3723437"/>
            <a:ext cx="0" cy="73152"/>
          </a:xfrm>
          <a:prstGeom prst="line">
            <a:avLst/>
          </a:prstGeom>
          <a:noFill/>
          <a:ln w="9525">
            <a:solidFill>
              <a:srgbClr val="1B2430"/>
            </a:solidFill>
            <a:prstDash val="solid"/>
          </a:ln>
        </p:spPr>
      </p:sp>
      <p:sp>
        <p:nvSpPr>
          <p:cNvPr id="44" name="Shape 42"/>
          <p:cNvSpPr/>
          <p:nvPr/>
        </p:nvSpPr>
        <p:spPr>
          <a:xfrm>
            <a:off x="9884664" y="3723437"/>
            <a:ext cx="0" cy="73152"/>
          </a:xfrm>
          <a:prstGeom prst="line">
            <a:avLst/>
          </a:prstGeom>
          <a:noFill/>
          <a:ln w="9525">
            <a:solidFill>
              <a:srgbClr val="1B2430"/>
            </a:solidFill>
            <a:prstDash val="solid"/>
          </a:ln>
        </p:spPr>
      </p:sp>
      <p:sp>
        <p:nvSpPr>
          <p:cNvPr id="45" name="Shape 43"/>
          <p:cNvSpPr/>
          <p:nvPr/>
        </p:nvSpPr>
        <p:spPr>
          <a:xfrm>
            <a:off x="10034016" y="3723437"/>
            <a:ext cx="0" cy="73152"/>
          </a:xfrm>
          <a:prstGeom prst="line">
            <a:avLst/>
          </a:prstGeom>
          <a:noFill/>
          <a:ln w="9525">
            <a:solidFill>
              <a:srgbClr val="1B2430"/>
            </a:solidFill>
            <a:prstDash val="solid"/>
          </a:ln>
        </p:spPr>
      </p:sp>
      <p:sp>
        <p:nvSpPr>
          <p:cNvPr id="46" name="Text 44"/>
          <p:cNvSpPr txBox="1"/>
          <p:nvPr/>
        </p:nvSpPr>
        <p:spPr>
          <a:xfrm>
            <a:off x="8362188" y="2745943"/>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S-2: 40 sampled valid dates</a:t>
            </a:r>
            <a:endParaRPr lang="en-US" sz="750" dirty="0"/>
          </a:p>
        </p:txBody>
      </p:sp>
      <p:sp>
        <p:nvSpPr>
          <p:cNvPr id="47" name="Shape 45"/>
          <p:cNvSpPr/>
          <p:nvPr/>
        </p:nvSpPr>
        <p:spPr>
          <a:xfrm>
            <a:off x="8383350" y="2951683"/>
            <a:ext cx="45720" cy="45720"/>
          </a:xfrm>
          <a:prstGeom prst="ellipse">
            <a:avLst/>
          </a:prstGeom>
          <a:solidFill>
            <a:srgbClr val="E07A2F"/>
          </a:solidFill>
          <a:ln w="12700">
            <a:solidFill>
              <a:srgbClr val="333333"/>
            </a:solidFill>
            <a:prstDash val="solid"/>
          </a:ln>
        </p:spPr>
      </p:sp>
      <p:sp>
        <p:nvSpPr>
          <p:cNvPr id="48" name="Shape 46"/>
          <p:cNvSpPr/>
          <p:nvPr/>
        </p:nvSpPr>
        <p:spPr>
          <a:xfrm>
            <a:off x="8430860" y="2951683"/>
            <a:ext cx="45720" cy="45720"/>
          </a:xfrm>
          <a:prstGeom prst="ellipse">
            <a:avLst/>
          </a:prstGeom>
          <a:solidFill>
            <a:srgbClr val="E07A2F"/>
          </a:solidFill>
          <a:ln w="12700">
            <a:solidFill>
              <a:srgbClr val="333333"/>
            </a:solidFill>
            <a:prstDash val="solid"/>
          </a:ln>
        </p:spPr>
      </p:sp>
      <p:sp>
        <p:nvSpPr>
          <p:cNvPr id="49" name="Shape 47"/>
          <p:cNvSpPr/>
          <p:nvPr/>
        </p:nvSpPr>
        <p:spPr>
          <a:xfrm>
            <a:off x="8434401" y="2951683"/>
            <a:ext cx="45720" cy="45720"/>
          </a:xfrm>
          <a:prstGeom prst="ellipse">
            <a:avLst/>
          </a:prstGeom>
          <a:solidFill>
            <a:srgbClr val="E07A2F"/>
          </a:solidFill>
          <a:ln w="12700">
            <a:solidFill>
              <a:srgbClr val="333333"/>
            </a:solidFill>
            <a:prstDash val="solid"/>
          </a:ln>
        </p:spPr>
      </p:sp>
      <p:sp>
        <p:nvSpPr>
          <p:cNvPr id="50" name="Shape 48"/>
          <p:cNvSpPr/>
          <p:nvPr/>
        </p:nvSpPr>
        <p:spPr>
          <a:xfrm>
            <a:off x="8500565" y="2951683"/>
            <a:ext cx="45720" cy="45720"/>
          </a:xfrm>
          <a:prstGeom prst="ellipse">
            <a:avLst/>
          </a:prstGeom>
          <a:solidFill>
            <a:srgbClr val="E07A2F"/>
          </a:solidFill>
          <a:ln w="12700">
            <a:solidFill>
              <a:srgbClr val="333333"/>
            </a:solidFill>
            <a:prstDash val="solid"/>
          </a:ln>
        </p:spPr>
      </p:sp>
      <p:sp>
        <p:nvSpPr>
          <p:cNvPr id="51" name="Shape 49"/>
          <p:cNvSpPr/>
          <p:nvPr/>
        </p:nvSpPr>
        <p:spPr>
          <a:xfrm>
            <a:off x="8510045" y="2951683"/>
            <a:ext cx="45720" cy="45720"/>
          </a:xfrm>
          <a:prstGeom prst="ellipse">
            <a:avLst/>
          </a:prstGeom>
          <a:solidFill>
            <a:srgbClr val="E07A2F"/>
          </a:solidFill>
          <a:ln w="12700">
            <a:solidFill>
              <a:srgbClr val="333333"/>
            </a:solidFill>
            <a:prstDash val="solid"/>
          </a:ln>
        </p:spPr>
      </p:sp>
      <p:sp>
        <p:nvSpPr>
          <p:cNvPr id="52" name="Shape 50"/>
          <p:cNvSpPr/>
          <p:nvPr/>
        </p:nvSpPr>
        <p:spPr>
          <a:xfrm>
            <a:off x="8568880" y="2951683"/>
            <a:ext cx="45720" cy="45720"/>
          </a:xfrm>
          <a:prstGeom prst="ellipse">
            <a:avLst/>
          </a:prstGeom>
          <a:solidFill>
            <a:srgbClr val="E07A2F"/>
          </a:solidFill>
          <a:ln w="12700">
            <a:solidFill>
              <a:srgbClr val="333333"/>
            </a:solidFill>
            <a:prstDash val="solid"/>
          </a:ln>
        </p:spPr>
      </p:sp>
      <p:sp>
        <p:nvSpPr>
          <p:cNvPr id="53" name="Shape 51"/>
          <p:cNvSpPr/>
          <p:nvPr/>
        </p:nvSpPr>
        <p:spPr>
          <a:xfrm>
            <a:off x="8576739" y="2951683"/>
            <a:ext cx="45720" cy="45720"/>
          </a:xfrm>
          <a:prstGeom prst="ellipse">
            <a:avLst/>
          </a:prstGeom>
          <a:solidFill>
            <a:srgbClr val="E07A2F"/>
          </a:solidFill>
          <a:ln w="12700">
            <a:solidFill>
              <a:srgbClr val="333333"/>
            </a:solidFill>
            <a:prstDash val="solid"/>
          </a:ln>
        </p:spPr>
      </p:sp>
      <p:sp>
        <p:nvSpPr>
          <p:cNvPr id="54" name="Shape 52"/>
          <p:cNvSpPr/>
          <p:nvPr/>
        </p:nvSpPr>
        <p:spPr>
          <a:xfrm>
            <a:off x="8598981" y="2951683"/>
            <a:ext cx="45720" cy="45720"/>
          </a:xfrm>
          <a:prstGeom prst="ellipse">
            <a:avLst/>
          </a:prstGeom>
          <a:solidFill>
            <a:srgbClr val="E07A2F"/>
          </a:solidFill>
          <a:ln w="12700">
            <a:solidFill>
              <a:srgbClr val="333333"/>
            </a:solidFill>
            <a:prstDash val="solid"/>
          </a:ln>
        </p:spPr>
      </p:sp>
      <p:sp>
        <p:nvSpPr>
          <p:cNvPr id="55" name="Shape 53"/>
          <p:cNvSpPr/>
          <p:nvPr/>
        </p:nvSpPr>
        <p:spPr>
          <a:xfrm>
            <a:off x="8609398" y="2951683"/>
            <a:ext cx="45720" cy="45720"/>
          </a:xfrm>
          <a:prstGeom prst="ellipse">
            <a:avLst/>
          </a:prstGeom>
          <a:solidFill>
            <a:srgbClr val="E07A2F"/>
          </a:solidFill>
          <a:ln w="12700">
            <a:solidFill>
              <a:srgbClr val="333333"/>
            </a:solidFill>
            <a:prstDash val="solid"/>
          </a:ln>
        </p:spPr>
      </p:sp>
      <p:sp>
        <p:nvSpPr>
          <p:cNvPr id="56" name="Shape 54"/>
          <p:cNvSpPr/>
          <p:nvPr/>
        </p:nvSpPr>
        <p:spPr>
          <a:xfrm>
            <a:off x="8632592" y="2951683"/>
            <a:ext cx="45720" cy="45720"/>
          </a:xfrm>
          <a:prstGeom prst="ellipse">
            <a:avLst/>
          </a:prstGeom>
          <a:solidFill>
            <a:srgbClr val="E07A2F"/>
          </a:solidFill>
          <a:ln w="12700">
            <a:solidFill>
              <a:srgbClr val="333333"/>
            </a:solidFill>
            <a:prstDash val="solid"/>
          </a:ln>
        </p:spPr>
      </p:sp>
      <p:sp>
        <p:nvSpPr>
          <p:cNvPr id="57" name="Shape 55"/>
          <p:cNvSpPr/>
          <p:nvPr/>
        </p:nvSpPr>
        <p:spPr>
          <a:xfrm>
            <a:off x="8710464" y="2951683"/>
            <a:ext cx="45720" cy="45720"/>
          </a:xfrm>
          <a:prstGeom prst="ellipse">
            <a:avLst/>
          </a:prstGeom>
          <a:solidFill>
            <a:srgbClr val="E07A2F"/>
          </a:solidFill>
          <a:ln w="12700">
            <a:solidFill>
              <a:srgbClr val="333333"/>
            </a:solidFill>
            <a:prstDash val="solid"/>
          </a:ln>
        </p:spPr>
      </p:sp>
      <p:sp>
        <p:nvSpPr>
          <p:cNvPr id="58" name="Shape 56"/>
          <p:cNvSpPr/>
          <p:nvPr/>
        </p:nvSpPr>
        <p:spPr>
          <a:xfrm>
            <a:off x="8714920" y="2951683"/>
            <a:ext cx="45720" cy="45720"/>
          </a:xfrm>
          <a:prstGeom prst="ellipse">
            <a:avLst/>
          </a:prstGeom>
          <a:solidFill>
            <a:srgbClr val="E07A2F"/>
          </a:solidFill>
          <a:ln w="12700">
            <a:solidFill>
              <a:srgbClr val="333333"/>
            </a:solidFill>
            <a:prstDash val="solid"/>
          </a:ln>
        </p:spPr>
      </p:sp>
      <p:sp>
        <p:nvSpPr>
          <p:cNvPr id="59" name="Shape 57"/>
          <p:cNvSpPr/>
          <p:nvPr/>
        </p:nvSpPr>
        <p:spPr>
          <a:xfrm>
            <a:off x="8730870" y="2951683"/>
            <a:ext cx="45720" cy="45720"/>
          </a:xfrm>
          <a:prstGeom prst="ellipse">
            <a:avLst/>
          </a:prstGeom>
          <a:solidFill>
            <a:srgbClr val="E07A2F"/>
          </a:solidFill>
          <a:ln w="12700">
            <a:solidFill>
              <a:srgbClr val="333333"/>
            </a:solidFill>
            <a:prstDash val="solid"/>
          </a:ln>
        </p:spPr>
      </p:sp>
      <p:sp>
        <p:nvSpPr>
          <p:cNvPr id="60" name="Shape 58"/>
          <p:cNvSpPr/>
          <p:nvPr/>
        </p:nvSpPr>
        <p:spPr>
          <a:xfrm>
            <a:off x="8796910" y="2951683"/>
            <a:ext cx="45720" cy="45720"/>
          </a:xfrm>
          <a:prstGeom prst="ellipse">
            <a:avLst/>
          </a:prstGeom>
          <a:solidFill>
            <a:srgbClr val="E07A2F"/>
          </a:solidFill>
          <a:ln w="12700">
            <a:solidFill>
              <a:srgbClr val="333333"/>
            </a:solidFill>
            <a:prstDash val="solid"/>
          </a:ln>
        </p:spPr>
      </p:sp>
      <p:sp>
        <p:nvSpPr>
          <p:cNvPr id="61" name="Shape 59"/>
          <p:cNvSpPr/>
          <p:nvPr/>
        </p:nvSpPr>
        <p:spPr>
          <a:xfrm>
            <a:off x="8803387" y="2951683"/>
            <a:ext cx="45720" cy="45720"/>
          </a:xfrm>
          <a:prstGeom prst="ellipse">
            <a:avLst/>
          </a:prstGeom>
          <a:solidFill>
            <a:srgbClr val="E07A2F"/>
          </a:solidFill>
          <a:ln w="12700">
            <a:solidFill>
              <a:srgbClr val="333333"/>
            </a:solidFill>
            <a:prstDash val="solid"/>
          </a:ln>
        </p:spPr>
      </p:sp>
      <p:sp>
        <p:nvSpPr>
          <p:cNvPr id="62" name="Shape 60"/>
          <p:cNvSpPr/>
          <p:nvPr/>
        </p:nvSpPr>
        <p:spPr>
          <a:xfrm>
            <a:off x="8885738" y="2951683"/>
            <a:ext cx="45720" cy="45720"/>
          </a:xfrm>
          <a:prstGeom prst="ellipse">
            <a:avLst/>
          </a:prstGeom>
          <a:solidFill>
            <a:srgbClr val="E07A2F"/>
          </a:solidFill>
          <a:ln w="12700">
            <a:solidFill>
              <a:srgbClr val="333333"/>
            </a:solidFill>
            <a:prstDash val="solid"/>
          </a:ln>
        </p:spPr>
      </p:sp>
      <p:sp>
        <p:nvSpPr>
          <p:cNvPr id="63" name="Shape 61"/>
          <p:cNvSpPr/>
          <p:nvPr/>
        </p:nvSpPr>
        <p:spPr>
          <a:xfrm>
            <a:off x="9029896" y="2951683"/>
            <a:ext cx="45720" cy="45720"/>
          </a:xfrm>
          <a:prstGeom prst="ellipse">
            <a:avLst/>
          </a:prstGeom>
          <a:solidFill>
            <a:srgbClr val="E07A2F"/>
          </a:solidFill>
          <a:ln w="12700">
            <a:solidFill>
              <a:srgbClr val="333333"/>
            </a:solidFill>
            <a:prstDash val="solid"/>
          </a:ln>
        </p:spPr>
      </p:sp>
      <p:sp>
        <p:nvSpPr>
          <p:cNvPr id="64" name="Shape 62"/>
          <p:cNvSpPr/>
          <p:nvPr/>
        </p:nvSpPr>
        <p:spPr>
          <a:xfrm>
            <a:off x="9044978" y="2951683"/>
            <a:ext cx="45720" cy="45720"/>
          </a:xfrm>
          <a:prstGeom prst="ellipse">
            <a:avLst/>
          </a:prstGeom>
          <a:solidFill>
            <a:srgbClr val="E07A2F"/>
          </a:solidFill>
          <a:ln w="12700">
            <a:solidFill>
              <a:srgbClr val="333333"/>
            </a:solidFill>
            <a:prstDash val="solid"/>
          </a:ln>
        </p:spPr>
      </p:sp>
      <p:sp>
        <p:nvSpPr>
          <p:cNvPr id="65" name="Shape 63"/>
          <p:cNvSpPr/>
          <p:nvPr/>
        </p:nvSpPr>
        <p:spPr>
          <a:xfrm>
            <a:off x="9087939" y="2951683"/>
            <a:ext cx="45720" cy="45720"/>
          </a:xfrm>
          <a:prstGeom prst="ellipse">
            <a:avLst/>
          </a:prstGeom>
          <a:solidFill>
            <a:srgbClr val="E07A2F"/>
          </a:solidFill>
          <a:ln w="12700">
            <a:solidFill>
              <a:srgbClr val="333333"/>
            </a:solidFill>
            <a:prstDash val="solid"/>
          </a:ln>
        </p:spPr>
      </p:sp>
      <p:sp>
        <p:nvSpPr>
          <p:cNvPr id="66" name="Shape 64"/>
          <p:cNvSpPr/>
          <p:nvPr/>
        </p:nvSpPr>
        <p:spPr>
          <a:xfrm>
            <a:off x="9089760" y="2951683"/>
            <a:ext cx="45720" cy="45720"/>
          </a:xfrm>
          <a:prstGeom prst="ellipse">
            <a:avLst/>
          </a:prstGeom>
          <a:solidFill>
            <a:srgbClr val="E07A2F"/>
          </a:solidFill>
          <a:ln w="12700">
            <a:solidFill>
              <a:srgbClr val="333333"/>
            </a:solidFill>
            <a:prstDash val="solid"/>
          </a:ln>
        </p:spPr>
      </p:sp>
      <p:sp>
        <p:nvSpPr>
          <p:cNvPr id="67" name="Shape 65"/>
          <p:cNvSpPr/>
          <p:nvPr/>
        </p:nvSpPr>
        <p:spPr>
          <a:xfrm>
            <a:off x="9092319" y="2951683"/>
            <a:ext cx="45720" cy="45720"/>
          </a:xfrm>
          <a:prstGeom prst="ellipse">
            <a:avLst/>
          </a:prstGeom>
          <a:solidFill>
            <a:srgbClr val="E07A2F"/>
          </a:solidFill>
          <a:ln w="12700">
            <a:solidFill>
              <a:srgbClr val="333333"/>
            </a:solidFill>
            <a:prstDash val="solid"/>
          </a:ln>
        </p:spPr>
      </p:sp>
      <p:sp>
        <p:nvSpPr>
          <p:cNvPr id="68" name="Shape 66"/>
          <p:cNvSpPr/>
          <p:nvPr/>
        </p:nvSpPr>
        <p:spPr>
          <a:xfrm>
            <a:off x="9166879" y="2951683"/>
            <a:ext cx="45720" cy="45720"/>
          </a:xfrm>
          <a:prstGeom prst="ellipse">
            <a:avLst/>
          </a:prstGeom>
          <a:solidFill>
            <a:srgbClr val="E07A2F"/>
          </a:solidFill>
          <a:ln w="12700">
            <a:solidFill>
              <a:srgbClr val="333333"/>
            </a:solidFill>
            <a:prstDash val="solid"/>
          </a:ln>
        </p:spPr>
      </p:sp>
      <p:sp>
        <p:nvSpPr>
          <p:cNvPr id="69" name="Shape 67"/>
          <p:cNvSpPr/>
          <p:nvPr/>
        </p:nvSpPr>
        <p:spPr>
          <a:xfrm>
            <a:off x="9172541" y="2951683"/>
            <a:ext cx="45720" cy="45720"/>
          </a:xfrm>
          <a:prstGeom prst="ellipse">
            <a:avLst/>
          </a:prstGeom>
          <a:solidFill>
            <a:srgbClr val="E07A2F"/>
          </a:solidFill>
          <a:ln w="12700">
            <a:solidFill>
              <a:srgbClr val="333333"/>
            </a:solidFill>
            <a:prstDash val="solid"/>
          </a:ln>
        </p:spPr>
      </p:sp>
      <p:sp>
        <p:nvSpPr>
          <p:cNvPr id="70" name="Shape 68"/>
          <p:cNvSpPr/>
          <p:nvPr/>
        </p:nvSpPr>
        <p:spPr>
          <a:xfrm>
            <a:off x="9187123" y="2951683"/>
            <a:ext cx="45720" cy="45720"/>
          </a:xfrm>
          <a:prstGeom prst="ellipse">
            <a:avLst/>
          </a:prstGeom>
          <a:solidFill>
            <a:srgbClr val="E07A2F"/>
          </a:solidFill>
          <a:ln w="12700">
            <a:solidFill>
              <a:srgbClr val="333333"/>
            </a:solidFill>
            <a:prstDash val="solid"/>
          </a:ln>
        </p:spPr>
      </p:sp>
      <p:sp>
        <p:nvSpPr>
          <p:cNvPr id="71" name="Shape 69"/>
          <p:cNvSpPr/>
          <p:nvPr/>
        </p:nvSpPr>
        <p:spPr>
          <a:xfrm>
            <a:off x="9201160" y="2951683"/>
            <a:ext cx="45720" cy="45720"/>
          </a:xfrm>
          <a:prstGeom prst="ellipse">
            <a:avLst/>
          </a:prstGeom>
          <a:solidFill>
            <a:srgbClr val="E07A2F"/>
          </a:solidFill>
          <a:ln w="12700">
            <a:solidFill>
              <a:srgbClr val="333333"/>
            </a:solidFill>
            <a:prstDash val="solid"/>
          </a:ln>
        </p:spPr>
      </p:sp>
      <p:sp>
        <p:nvSpPr>
          <p:cNvPr id="72" name="Shape 70"/>
          <p:cNvSpPr/>
          <p:nvPr/>
        </p:nvSpPr>
        <p:spPr>
          <a:xfrm>
            <a:off x="9274045" y="2951683"/>
            <a:ext cx="45720" cy="45720"/>
          </a:xfrm>
          <a:prstGeom prst="ellipse">
            <a:avLst/>
          </a:prstGeom>
          <a:solidFill>
            <a:srgbClr val="E07A2F"/>
          </a:solidFill>
          <a:ln w="12700">
            <a:solidFill>
              <a:srgbClr val="333333"/>
            </a:solidFill>
            <a:prstDash val="solid"/>
          </a:ln>
        </p:spPr>
      </p:sp>
      <p:sp>
        <p:nvSpPr>
          <p:cNvPr id="73" name="Shape 71"/>
          <p:cNvSpPr/>
          <p:nvPr/>
        </p:nvSpPr>
        <p:spPr>
          <a:xfrm>
            <a:off x="9279892" y="2951683"/>
            <a:ext cx="45720" cy="45720"/>
          </a:xfrm>
          <a:prstGeom prst="ellipse">
            <a:avLst/>
          </a:prstGeom>
          <a:solidFill>
            <a:srgbClr val="E07A2F"/>
          </a:solidFill>
          <a:ln w="12700">
            <a:solidFill>
              <a:srgbClr val="333333"/>
            </a:solidFill>
            <a:prstDash val="solid"/>
          </a:ln>
        </p:spPr>
      </p:sp>
      <p:sp>
        <p:nvSpPr>
          <p:cNvPr id="74" name="Shape 72"/>
          <p:cNvSpPr/>
          <p:nvPr/>
        </p:nvSpPr>
        <p:spPr>
          <a:xfrm>
            <a:off x="9297969" y="2951683"/>
            <a:ext cx="45720" cy="45720"/>
          </a:xfrm>
          <a:prstGeom prst="ellipse">
            <a:avLst/>
          </a:prstGeom>
          <a:solidFill>
            <a:srgbClr val="E07A2F"/>
          </a:solidFill>
          <a:ln w="12700">
            <a:solidFill>
              <a:srgbClr val="333333"/>
            </a:solidFill>
            <a:prstDash val="solid"/>
          </a:ln>
        </p:spPr>
      </p:sp>
      <p:sp>
        <p:nvSpPr>
          <p:cNvPr id="75" name="Shape 73"/>
          <p:cNvSpPr/>
          <p:nvPr/>
        </p:nvSpPr>
        <p:spPr>
          <a:xfrm>
            <a:off x="9298669" y="2951683"/>
            <a:ext cx="45720" cy="45720"/>
          </a:xfrm>
          <a:prstGeom prst="ellipse">
            <a:avLst/>
          </a:prstGeom>
          <a:solidFill>
            <a:srgbClr val="E07A2F"/>
          </a:solidFill>
          <a:ln w="12700">
            <a:solidFill>
              <a:srgbClr val="333333"/>
            </a:solidFill>
            <a:prstDash val="solid"/>
          </a:ln>
        </p:spPr>
      </p:sp>
      <p:sp>
        <p:nvSpPr>
          <p:cNvPr id="76" name="Shape 74"/>
          <p:cNvSpPr/>
          <p:nvPr/>
        </p:nvSpPr>
        <p:spPr>
          <a:xfrm>
            <a:off x="9349981" y="2951683"/>
            <a:ext cx="45720" cy="45720"/>
          </a:xfrm>
          <a:prstGeom prst="ellipse">
            <a:avLst/>
          </a:prstGeom>
          <a:solidFill>
            <a:srgbClr val="E07A2F"/>
          </a:solidFill>
          <a:ln w="12700">
            <a:solidFill>
              <a:srgbClr val="333333"/>
            </a:solidFill>
            <a:prstDash val="solid"/>
          </a:ln>
        </p:spPr>
      </p:sp>
      <p:sp>
        <p:nvSpPr>
          <p:cNvPr id="77" name="Shape 75"/>
          <p:cNvSpPr/>
          <p:nvPr/>
        </p:nvSpPr>
        <p:spPr>
          <a:xfrm>
            <a:off x="9471891" y="2951683"/>
            <a:ext cx="45720" cy="45720"/>
          </a:xfrm>
          <a:prstGeom prst="ellipse">
            <a:avLst/>
          </a:prstGeom>
          <a:solidFill>
            <a:srgbClr val="E07A2F"/>
          </a:solidFill>
          <a:ln w="12700">
            <a:solidFill>
              <a:srgbClr val="333333"/>
            </a:solidFill>
            <a:prstDash val="solid"/>
          </a:ln>
        </p:spPr>
      </p:sp>
      <p:sp>
        <p:nvSpPr>
          <p:cNvPr id="78" name="Shape 76"/>
          <p:cNvSpPr/>
          <p:nvPr/>
        </p:nvSpPr>
        <p:spPr>
          <a:xfrm>
            <a:off x="9497751" y="2951683"/>
            <a:ext cx="45720" cy="45720"/>
          </a:xfrm>
          <a:prstGeom prst="ellipse">
            <a:avLst/>
          </a:prstGeom>
          <a:solidFill>
            <a:srgbClr val="E07A2F"/>
          </a:solidFill>
          <a:ln w="12700">
            <a:solidFill>
              <a:srgbClr val="333333"/>
            </a:solidFill>
            <a:prstDash val="solid"/>
          </a:ln>
        </p:spPr>
      </p:sp>
      <p:sp>
        <p:nvSpPr>
          <p:cNvPr id="79" name="Shape 77"/>
          <p:cNvSpPr/>
          <p:nvPr/>
        </p:nvSpPr>
        <p:spPr>
          <a:xfrm>
            <a:off x="9497920" y="2951683"/>
            <a:ext cx="45720" cy="45720"/>
          </a:xfrm>
          <a:prstGeom prst="ellipse">
            <a:avLst/>
          </a:prstGeom>
          <a:solidFill>
            <a:srgbClr val="E07A2F"/>
          </a:solidFill>
          <a:ln w="12700">
            <a:solidFill>
              <a:srgbClr val="333333"/>
            </a:solidFill>
            <a:prstDash val="solid"/>
          </a:ln>
        </p:spPr>
      </p:sp>
      <p:sp>
        <p:nvSpPr>
          <p:cNvPr id="80" name="Shape 78"/>
          <p:cNvSpPr/>
          <p:nvPr/>
        </p:nvSpPr>
        <p:spPr>
          <a:xfrm>
            <a:off x="9678702" y="2951683"/>
            <a:ext cx="45720" cy="45720"/>
          </a:xfrm>
          <a:prstGeom prst="ellipse">
            <a:avLst/>
          </a:prstGeom>
          <a:solidFill>
            <a:srgbClr val="E07A2F"/>
          </a:solidFill>
          <a:ln w="12700">
            <a:solidFill>
              <a:srgbClr val="333333"/>
            </a:solidFill>
            <a:prstDash val="solid"/>
          </a:ln>
        </p:spPr>
      </p:sp>
      <p:sp>
        <p:nvSpPr>
          <p:cNvPr id="81" name="Shape 79"/>
          <p:cNvSpPr/>
          <p:nvPr/>
        </p:nvSpPr>
        <p:spPr>
          <a:xfrm>
            <a:off x="9693791" y="2951683"/>
            <a:ext cx="45720" cy="45720"/>
          </a:xfrm>
          <a:prstGeom prst="ellipse">
            <a:avLst/>
          </a:prstGeom>
          <a:solidFill>
            <a:srgbClr val="E07A2F"/>
          </a:solidFill>
          <a:ln w="12700">
            <a:solidFill>
              <a:srgbClr val="333333"/>
            </a:solidFill>
            <a:prstDash val="solid"/>
          </a:ln>
        </p:spPr>
      </p:sp>
      <p:sp>
        <p:nvSpPr>
          <p:cNvPr id="82" name="Shape 80"/>
          <p:cNvSpPr/>
          <p:nvPr/>
        </p:nvSpPr>
        <p:spPr>
          <a:xfrm>
            <a:off x="9868741" y="2951683"/>
            <a:ext cx="45720" cy="45720"/>
          </a:xfrm>
          <a:prstGeom prst="ellipse">
            <a:avLst/>
          </a:prstGeom>
          <a:solidFill>
            <a:srgbClr val="E07A2F"/>
          </a:solidFill>
          <a:ln w="12700">
            <a:solidFill>
              <a:srgbClr val="333333"/>
            </a:solidFill>
            <a:prstDash val="solid"/>
          </a:ln>
        </p:spPr>
      </p:sp>
      <p:sp>
        <p:nvSpPr>
          <p:cNvPr id="83" name="Shape 81"/>
          <p:cNvSpPr/>
          <p:nvPr/>
        </p:nvSpPr>
        <p:spPr>
          <a:xfrm>
            <a:off x="9976722" y="2951683"/>
            <a:ext cx="45720" cy="45720"/>
          </a:xfrm>
          <a:prstGeom prst="ellipse">
            <a:avLst/>
          </a:prstGeom>
          <a:solidFill>
            <a:srgbClr val="E07A2F"/>
          </a:solidFill>
          <a:ln w="12700">
            <a:solidFill>
              <a:srgbClr val="333333"/>
            </a:solidFill>
            <a:prstDash val="solid"/>
          </a:ln>
        </p:spPr>
      </p:sp>
      <p:sp>
        <p:nvSpPr>
          <p:cNvPr id="84" name="Shape 82"/>
          <p:cNvSpPr/>
          <p:nvPr/>
        </p:nvSpPr>
        <p:spPr>
          <a:xfrm>
            <a:off x="10006439" y="2951683"/>
            <a:ext cx="45720" cy="45720"/>
          </a:xfrm>
          <a:prstGeom prst="ellipse">
            <a:avLst/>
          </a:prstGeom>
          <a:solidFill>
            <a:srgbClr val="E07A2F"/>
          </a:solidFill>
          <a:ln w="12700">
            <a:solidFill>
              <a:srgbClr val="333333"/>
            </a:solidFill>
            <a:prstDash val="solid"/>
          </a:ln>
        </p:spPr>
      </p:sp>
      <p:sp>
        <p:nvSpPr>
          <p:cNvPr id="85" name="Shape 83"/>
          <p:cNvSpPr/>
          <p:nvPr/>
        </p:nvSpPr>
        <p:spPr>
          <a:xfrm>
            <a:off x="10031861" y="2951683"/>
            <a:ext cx="45720" cy="45720"/>
          </a:xfrm>
          <a:prstGeom prst="ellipse">
            <a:avLst/>
          </a:prstGeom>
          <a:solidFill>
            <a:srgbClr val="E07A2F"/>
          </a:solidFill>
          <a:ln w="12700">
            <a:solidFill>
              <a:srgbClr val="333333"/>
            </a:solidFill>
            <a:prstDash val="solid"/>
          </a:ln>
        </p:spPr>
      </p:sp>
      <p:sp>
        <p:nvSpPr>
          <p:cNvPr id="86" name="Shape 84"/>
          <p:cNvSpPr/>
          <p:nvPr/>
        </p:nvSpPr>
        <p:spPr>
          <a:xfrm>
            <a:off x="10060056" y="2951683"/>
            <a:ext cx="45720" cy="45720"/>
          </a:xfrm>
          <a:prstGeom prst="ellipse">
            <a:avLst/>
          </a:prstGeom>
          <a:solidFill>
            <a:srgbClr val="E07A2F"/>
          </a:solidFill>
          <a:ln w="12700">
            <a:solidFill>
              <a:srgbClr val="333333"/>
            </a:solidFill>
            <a:prstDash val="solid"/>
          </a:ln>
        </p:spPr>
      </p:sp>
      <p:sp>
        <p:nvSpPr>
          <p:cNvPr id="87" name="Text 85"/>
          <p:cNvSpPr txBox="1"/>
          <p:nvPr/>
        </p:nvSpPr>
        <p:spPr>
          <a:xfrm>
            <a:off x="8362188" y="3208630"/>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B85C1E"/>
                </a:solidFill>
                <a:latin typeface="Calibri" pitchFamily="34" charset="0"/>
                <a:ea typeface="Calibri" pitchFamily="34" charset="-122"/>
                <a:cs typeface="Calibri" pitchFamily="34" charset="-120"/>
              </a:rPr>
              <a:t>S-1: 40 sampled valid dates</a:t>
            </a:r>
            <a:endParaRPr lang="en-US" sz="750" dirty="0"/>
          </a:p>
        </p:txBody>
      </p:sp>
      <p:sp>
        <p:nvSpPr>
          <p:cNvPr id="88" name="Shape 86"/>
          <p:cNvSpPr/>
          <p:nvPr/>
        </p:nvSpPr>
        <p:spPr>
          <a:xfrm>
            <a:off x="8386331" y="3414370"/>
            <a:ext cx="45720" cy="45720"/>
          </a:xfrm>
          <a:prstGeom prst="ellipse">
            <a:avLst/>
          </a:prstGeom>
          <a:solidFill>
            <a:srgbClr val="B85C1E"/>
          </a:solidFill>
          <a:ln w="12700">
            <a:solidFill>
              <a:srgbClr val="333333"/>
            </a:solidFill>
            <a:prstDash val="solid"/>
          </a:ln>
        </p:spPr>
      </p:sp>
      <p:sp>
        <p:nvSpPr>
          <p:cNvPr id="89" name="Shape 87"/>
          <p:cNvSpPr/>
          <p:nvPr/>
        </p:nvSpPr>
        <p:spPr>
          <a:xfrm>
            <a:off x="8405199" y="3414370"/>
            <a:ext cx="45720" cy="45720"/>
          </a:xfrm>
          <a:prstGeom prst="ellipse">
            <a:avLst/>
          </a:prstGeom>
          <a:solidFill>
            <a:srgbClr val="B85C1E"/>
          </a:solidFill>
          <a:ln w="12700">
            <a:solidFill>
              <a:srgbClr val="333333"/>
            </a:solidFill>
            <a:prstDash val="solid"/>
          </a:ln>
        </p:spPr>
      </p:sp>
      <p:sp>
        <p:nvSpPr>
          <p:cNvPr id="90" name="Shape 88"/>
          <p:cNvSpPr/>
          <p:nvPr/>
        </p:nvSpPr>
        <p:spPr>
          <a:xfrm>
            <a:off x="8451795" y="3414370"/>
            <a:ext cx="45720" cy="45720"/>
          </a:xfrm>
          <a:prstGeom prst="ellipse">
            <a:avLst/>
          </a:prstGeom>
          <a:solidFill>
            <a:srgbClr val="B85C1E"/>
          </a:solidFill>
          <a:ln w="12700">
            <a:solidFill>
              <a:srgbClr val="333333"/>
            </a:solidFill>
            <a:prstDash val="solid"/>
          </a:ln>
        </p:spPr>
      </p:sp>
      <p:sp>
        <p:nvSpPr>
          <p:cNvPr id="91" name="Shape 89"/>
          <p:cNvSpPr/>
          <p:nvPr/>
        </p:nvSpPr>
        <p:spPr>
          <a:xfrm>
            <a:off x="8452825" y="3414370"/>
            <a:ext cx="45720" cy="45720"/>
          </a:xfrm>
          <a:prstGeom prst="ellipse">
            <a:avLst/>
          </a:prstGeom>
          <a:solidFill>
            <a:srgbClr val="B85C1E"/>
          </a:solidFill>
          <a:ln w="12700">
            <a:solidFill>
              <a:srgbClr val="333333"/>
            </a:solidFill>
            <a:prstDash val="solid"/>
          </a:ln>
        </p:spPr>
      </p:sp>
      <p:sp>
        <p:nvSpPr>
          <p:cNvPr id="92" name="Shape 90"/>
          <p:cNvSpPr/>
          <p:nvPr/>
        </p:nvSpPr>
        <p:spPr>
          <a:xfrm>
            <a:off x="8453677" y="3414370"/>
            <a:ext cx="45720" cy="45720"/>
          </a:xfrm>
          <a:prstGeom prst="ellipse">
            <a:avLst/>
          </a:prstGeom>
          <a:solidFill>
            <a:srgbClr val="B85C1E"/>
          </a:solidFill>
          <a:ln w="12700">
            <a:solidFill>
              <a:srgbClr val="333333"/>
            </a:solidFill>
            <a:prstDash val="solid"/>
          </a:ln>
        </p:spPr>
      </p:sp>
      <p:sp>
        <p:nvSpPr>
          <p:cNvPr id="93" name="Shape 91"/>
          <p:cNvSpPr/>
          <p:nvPr/>
        </p:nvSpPr>
        <p:spPr>
          <a:xfrm>
            <a:off x="8473491" y="3414370"/>
            <a:ext cx="45720" cy="45720"/>
          </a:xfrm>
          <a:prstGeom prst="ellipse">
            <a:avLst/>
          </a:prstGeom>
          <a:solidFill>
            <a:srgbClr val="B85C1E"/>
          </a:solidFill>
          <a:ln w="12700">
            <a:solidFill>
              <a:srgbClr val="333333"/>
            </a:solidFill>
            <a:prstDash val="solid"/>
          </a:ln>
        </p:spPr>
      </p:sp>
      <p:sp>
        <p:nvSpPr>
          <p:cNvPr id="94" name="Shape 92"/>
          <p:cNvSpPr/>
          <p:nvPr/>
        </p:nvSpPr>
        <p:spPr>
          <a:xfrm>
            <a:off x="8474136" y="3414370"/>
            <a:ext cx="45720" cy="45720"/>
          </a:xfrm>
          <a:prstGeom prst="ellipse">
            <a:avLst/>
          </a:prstGeom>
          <a:solidFill>
            <a:srgbClr val="B85C1E"/>
          </a:solidFill>
          <a:ln w="12700">
            <a:solidFill>
              <a:srgbClr val="333333"/>
            </a:solidFill>
            <a:prstDash val="solid"/>
          </a:ln>
        </p:spPr>
      </p:sp>
      <p:sp>
        <p:nvSpPr>
          <p:cNvPr id="95" name="Shape 93"/>
          <p:cNvSpPr/>
          <p:nvPr/>
        </p:nvSpPr>
        <p:spPr>
          <a:xfrm>
            <a:off x="8509938" y="3414370"/>
            <a:ext cx="45720" cy="45720"/>
          </a:xfrm>
          <a:prstGeom prst="ellipse">
            <a:avLst/>
          </a:prstGeom>
          <a:solidFill>
            <a:srgbClr val="B85C1E"/>
          </a:solidFill>
          <a:ln w="12700">
            <a:solidFill>
              <a:srgbClr val="333333"/>
            </a:solidFill>
            <a:prstDash val="solid"/>
          </a:ln>
        </p:spPr>
      </p:sp>
      <p:sp>
        <p:nvSpPr>
          <p:cNvPr id="96" name="Shape 94"/>
          <p:cNvSpPr/>
          <p:nvPr/>
        </p:nvSpPr>
        <p:spPr>
          <a:xfrm>
            <a:off x="8554874" y="3414370"/>
            <a:ext cx="45720" cy="45720"/>
          </a:xfrm>
          <a:prstGeom prst="ellipse">
            <a:avLst/>
          </a:prstGeom>
          <a:solidFill>
            <a:srgbClr val="B85C1E"/>
          </a:solidFill>
          <a:ln w="12700">
            <a:solidFill>
              <a:srgbClr val="333333"/>
            </a:solidFill>
            <a:prstDash val="solid"/>
          </a:ln>
        </p:spPr>
      </p:sp>
      <p:sp>
        <p:nvSpPr>
          <p:cNvPr id="97" name="Shape 95"/>
          <p:cNvSpPr/>
          <p:nvPr/>
        </p:nvSpPr>
        <p:spPr>
          <a:xfrm>
            <a:off x="8660196" y="3414370"/>
            <a:ext cx="45720" cy="45720"/>
          </a:xfrm>
          <a:prstGeom prst="ellipse">
            <a:avLst/>
          </a:prstGeom>
          <a:solidFill>
            <a:srgbClr val="B85C1E"/>
          </a:solidFill>
          <a:ln w="12700">
            <a:solidFill>
              <a:srgbClr val="333333"/>
            </a:solidFill>
            <a:prstDash val="solid"/>
          </a:ln>
        </p:spPr>
      </p:sp>
      <p:sp>
        <p:nvSpPr>
          <p:cNvPr id="98" name="Shape 96"/>
          <p:cNvSpPr/>
          <p:nvPr/>
        </p:nvSpPr>
        <p:spPr>
          <a:xfrm>
            <a:off x="8746980" y="3414370"/>
            <a:ext cx="45720" cy="45720"/>
          </a:xfrm>
          <a:prstGeom prst="ellipse">
            <a:avLst/>
          </a:prstGeom>
          <a:solidFill>
            <a:srgbClr val="B85C1E"/>
          </a:solidFill>
          <a:ln w="12700">
            <a:solidFill>
              <a:srgbClr val="333333"/>
            </a:solidFill>
            <a:prstDash val="solid"/>
          </a:ln>
        </p:spPr>
      </p:sp>
      <p:sp>
        <p:nvSpPr>
          <p:cNvPr id="99" name="Shape 97"/>
          <p:cNvSpPr/>
          <p:nvPr/>
        </p:nvSpPr>
        <p:spPr>
          <a:xfrm>
            <a:off x="8813874" y="3414370"/>
            <a:ext cx="45720" cy="45720"/>
          </a:xfrm>
          <a:prstGeom prst="ellipse">
            <a:avLst/>
          </a:prstGeom>
          <a:solidFill>
            <a:srgbClr val="B85C1E"/>
          </a:solidFill>
          <a:ln w="12700">
            <a:solidFill>
              <a:srgbClr val="333333"/>
            </a:solidFill>
            <a:prstDash val="solid"/>
          </a:ln>
        </p:spPr>
      </p:sp>
      <p:sp>
        <p:nvSpPr>
          <p:cNvPr id="100" name="Shape 98"/>
          <p:cNvSpPr/>
          <p:nvPr/>
        </p:nvSpPr>
        <p:spPr>
          <a:xfrm>
            <a:off x="8825705" y="3414370"/>
            <a:ext cx="45720" cy="45720"/>
          </a:xfrm>
          <a:prstGeom prst="ellipse">
            <a:avLst/>
          </a:prstGeom>
          <a:solidFill>
            <a:srgbClr val="B85C1E"/>
          </a:solidFill>
          <a:ln w="12700">
            <a:solidFill>
              <a:srgbClr val="333333"/>
            </a:solidFill>
            <a:prstDash val="solid"/>
          </a:ln>
        </p:spPr>
      </p:sp>
      <p:sp>
        <p:nvSpPr>
          <p:cNvPr id="101" name="Shape 99"/>
          <p:cNvSpPr/>
          <p:nvPr/>
        </p:nvSpPr>
        <p:spPr>
          <a:xfrm>
            <a:off x="8836338" y="3414370"/>
            <a:ext cx="45720" cy="45720"/>
          </a:xfrm>
          <a:prstGeom prst="ellipse">
            <a:avLst/>
          </a:prstGeom>
          <a:solidFill>
            <a:srgbClr val="B85C1E"/>
          </a:solidFill>
          <a:ln w="12700">
            <a:solidFill>
              <a:srgbClr val="333333"/>
            </a:solidFill>
            <a:prstDash val="solid"/>
          </a:ln>
        </p:spPr>
      </p:sp>
      <p:sp>
        <p:nvSpPr>
          <p:cNvPr id="102" name="Shape 100"/>
          <p:cNvSpPr/>
          <p:nvPr/>
        </p:nvSpPr>
        <p:spPr>
          <a:xfrm>
            <a:off x="8886729" y="3414370"/>
            <a:ext cx="45720" cy="45720"/>
          </a:xfrm>
          <a:prstGeom prst="ellipse">
            <a:avLst/>
          </a:prstGeom>
          <a:solidFill>
            <a:srgbClr val="B85C1E"/>
          </a:solidFill>
          <a:ln w="12700">
            <a:solidFill>
              <a:srgbClr val="333333"/>
            </a:solidFill>
            <a:prstDash val="solid"/>
          </a:ln>
        </p:spPr>
      </p:sp>
      <p:sp>
        <p:nvSpPr>
          <p:cNvPr id="103" name="Shape 101"/>
          <p:cNvSpPr/>
          <p:nvPr/>
        </p:nvSpPr>
        <p:spPr>
          <a:xfrm>
            <a:off x="8998006" y="3414370"/>
            <a:ext cx="45720" cy="45720"/>
          </a:xfrm>
          <a:prstGeom prst="ellipse">
            <a:avLst/>
          </a:prstGeom>
          <a:solidFill>
            <a:srgbClr val="B85C1E"/>
          </a:solidFill>
          <a:ln w="12700">
            <a:solidFill>
              <a:srgbClr val="333333"/>
            </a:solidFill>
            <a:prstDash val="solid"/>
          </a:ln>
        </p:spPr>
      </p:sp>
      <p:sp>
        <p:nvSpPr>
          <p:cNvPr id="104" name="Shape 102"/>
          <p:cNvSpPr/>
          <p:nvPr/>
        </p:nvSpPr>
        <p:spPr>
          <a:xfrm>
            <a:off x="9005811" y="3414370"/>
            <a:ext cx="45720" cy="45720"/>
          </a:xfrm>
          <a:prstGeom prst="ellipse">
            <a:avLst/>
          </a:prstGeom>
          <a:solidFill>
            <a:srgbClr val="B85C1E"/>
          </a:solidFill>
          <a:ln w="12700">
            <a:solidFill>
              <a:srgbClr val="333333"/>
            </a:solidFill>
            <a:prstDash val="solid"/>
          </a:ln>
        </p:spPr>
      </p:sp>
      <p:sp>
        <p:nvSpPr>
          <p:cNvPr id="105" name="Shape 103"/>
          <p:cNvSpPr/>
          <p:nvPr/>
        </p:nvSpPr>
        <p:spPr>
          <a:xfrm>
            <a:off x="9026432" y="3414370"/>
            <a:ext cx="45720" cy="45720"/>
          </a:xfrm>
          <a:prstGeom prst="ellipse">
            <a:avLst/>
          </a:prstGeom>
          <a:solidFill>
            <a:srgbClr val="B85C1E"/>
          </a:solidFill>
          <a:ln w="12700">
            <a:solidFill>
              <a:srgbClr val="333333"/>
            </a:solidFill>
            <a:prstDash val="solid"/>
          </a:ln>
        </p:spPr>
      </p:sp>
      <p:sp>
        <p:nvSpPr>
          <p:cNvPr id="106" name="Shape 104"/>
          <p:cNvSpPr/>
          <p:nvPr/>
        </p:nvSpPr>
        <p:spPr>
          <a:xfrm>
            <a:off x="9040345" y="3414370"/>
            <a:ext cx="45720" cy="45720"/>
          </a:xfrm>
          <a:prstGeom prst="ellipse">
            <a:avLst/>
          </a:prstGeom>
          <a:solidFill>
            <a:srgbClr val="B85C1E"/>
          </a:solidFill>
          <a:ln w="12700">
            <a:solidFill>
              <a:srgbClr val="333333"/>
            </a:solidFill>
            <a:prstDash val="solid"/>
          </a:ln>
        </p:spPr>
      </p:sp>
      <p:sp>
        <p:nvSpPr>
          <p:cNvPr id="107" name="Shape 105"/>
          <p:cNvSpPr/>
          <p:nvPr/>
        </p:nvSpPr>
        <p:spPr>
          <a:xfrm>
            <a:off x="9168984" y="3414370"/>
            <a:ext cx="45720" cy="45720"/>
          </a:xfrm>
          <a:prstGeom prst="ellipse">
            <a:avLst/>
          </a:prstGeom>
          <a:solidFill>
            <a:srgbClr val="B85C1E"/>
          </a:solidFill>
          <a:ln w="12700">
            <a:solidFill>
              <a:srgbClr val="333333"/>
            </a:solidFill>
            <a:prstDash val="solid"/>
          </a:ln>
        </p:spPr>
      </p:sp>
      <p:sp>
        <p:nvSpPr>
          <p:cNvPr id="108" name="Shape 106"/>
          <p:cNvSpPr/>
          <p:nvPr/>
        </p:nvSpPr>
        <p:spPr>
          <a:xfrm>
            <a:off x="9204732" y="3414370"/>
            <a:ext cx="45720" cy="45720"/>
          </a:xfrm>
          <a:prstGeom prst="ellipse">
            <a:avLst/>
          </a:prstGeom>
          <a:solidFill>
            <a:srgbClr val="B85C1E"/>
          </a:solidFill>
          <a:ln w="12700">
            <a:solidFill>
              <a:srgbClr val="333333"/>
            </a:solidFill>
            <a:prstDash val="solid"/>
          </a:ln>
        </p:spPr>
      </p:sp>
      <p:sp>
        <p:nvSpPr>
          <p:cNvPr id="109" name="Shape 107"/>
          <p:cNvSpPr/>
          <p:nvPr/>
        </p:nvSpPr>
        <p:spPr>
          <a:xfrm>
            <a:off x="9208351" y="3414370"/>
            <a:ext cx="45720" cy="45720"/>
          </a:xfrm>
          <a:prstGeom prst="ellipse">
            <a:avLst/>
          </a:prstGeom>
          <a:solidFill>
            <a:srgbClr val="B85C1E"/>
          </a:solidFill>
          <a:ln w="12700">
            <a:solidFill>
              <a:srgbClr val="333333"/>
            </a:solidFill>
            <a:prstDash val="solid"/>
          </a:ln>
        </p:spPr>
      </p:sp>
      <p:sp>
        <p:nvSpPr>
          <p:cNvPr id="110" name="Shape 108"/>
          <p:cNvSpPr/>
          <p:nvPr/>
        </p:nvSpPr>
        <p:spPr>
          <a:xfrm>
            <a:off x="9250882" y="3414370"/>
            <a:ext cx="45720" cy="45720"/>
          </a:xfrm>
          <a:prstGeom prst="ellipse">
            <a:avLst/>
          </a:prstGeom>
          <a:solidFill>
            <a:srgbClr val="B85C1E"/>
          </a:solidFill>
          <a:ln w="12700">
            <a:solidFill>
              <a:srgbClr val="333333"/>
            </a:solidFill>
            <a:prstDash val="solid"/>
          </a:ln>
        </p:spPr>
      </p:sp>
      <p:sp>
        <p:nvSpPr>
          <p:cNvPr id="111" name="Shape 109"/>
          <p:cNvSpPr/>
          <p:nvPr/>
        </p:nvSpPr>
        <p:spPr>
          <a:xfrm>
            <a:off x="9326372" y="3414370"/>
            <a:ext cx="45720" cy="45720"/>
          </a:xfrm>
          <a:prstGeom prst="ellipse">
            <a:avLst/>
          </a:prstGeom>
          <a:solidFill>
            <a:srgbClr val="B85C1E"/>
          </a:solidFill>
          <a:ln w="12700">
            <a:solidFill>
              <a:srgbClr val="333333"/>
            </a:solidFill>
            <a:prstDash val="solid"/>
          </a:ln>
        </p:spPr>
      </p:sp>
      <p:sp>
        <p:nvSpPr>
          <p:cNvPr id="112" name="Shape 110"/>
          <p:cNvSpPr/>
          <p:nvPr/>
        </p:nvSpPr>
        <p:spPr>
          <a:xfrm>
            <a:off x="9327456" y="3414370"/>
            <a:ext cx="45720" cy="45720"/>
          </a:xfrm>
          <a:prstGeom prst="ellipse">
            <a:avLst/>
          </a:prstGeom>
          <a:solidFill>
            <a:srgbClr val="B85C1E"/>
          </a:solidFill>
          <a:ln w="12700">
            <a:solidFill>
              <a:srgbClr val="333333"/>
            </a:solidFill>
            <a:prstDash val="solid"/>
          </a:ln>
        </p:spPr>
      </p:sp>
      <p:sp>
        <p:nvSpPr>
          <p:cNvPr id="113" name="Shape 111"/>
          <p:cNvSpPr/>
          <p:nvPr/>
        </p:nvSpPr>
        <p:spPr>
          <a:xfrm>
            <a:off x="9378223" y="3414370"/>
            <a:ext cx="45720" cy="45720"/>
          </a:xfrm>
          <a:prstGeom prst="ellipse">
            <a:avLst/>
          </a:prstGeom>
          <a:solidFill>
            <a:srgbClr val="B85C1E"/>
          </a:solidFill>
          <a:ln w="12700">
            <a:solidFill>
              <a:srgbClr val="333333"/>
            </a:solidFill>
            <a:prstDash val="solid"/>
          </a:ln>
        </p:spPr>
      </p:sp>
      <p:sp>
        <p:nvSpPr>
          <p:cNvPr id="114" name="Shape 112"/>
          <p:cNvSpPr/>
          <p:nvPr/>
        </p:nvSpPr>
        <p:spPr>
          <a:xfrm>
            <a:off x="9401847" y="3414370"/>
            <a:ext cx="45720" cy="45720"/>
          </a:xfrm>
          <a:prstGeom prst="ellipse">
            <a:avLst/>
          </a:prstGeom>
          <a:solidFill>
            <a:srgbClr val="B85C1E"/>
          </a:solidFill>
          <a:ln w="12700">
            <a:solidFill>
              <a:srgbClr val="333333"/>
            </a:solidFill>
            <a:prstDash val="solid"/>
          </a:ln>
        </p:spPr>
      </p:sp>
      <p:sp>
        <p:nvSpPr>
          <p:cNvPr id="115" name="Shape 113"/>
          <p:cNvSpPr/>
          <p:nvPr/>
        </p:nvSpPr>
        <p:spPr>
          <a:xfrm>
            <a:off x="9501738" y="3414370"/>
            <a:ext cx="45720" cy="45720"/>
          </a:xfrm>
          <a:prstGeom prst="ellipse">
            <a:avLst/>
          </a:prstGeom>
          <a:solidFill>
            <a:srgbClr val="B85C1E"/>
          </a:solidFill>
          <a:ln w="12700">
            <a:solidFill>
              <a:srgbClr val="333333"/>
            </a:solidFill>
            <a:prstDash val="solid"/>
          </a:ln>
        </p:spPr>
      </p:sp>
      <p:sp>
        <p:nvSpPr>
          <p:cNvPr id="116" name="Shape 114"/>
          <p:cNvSpPr/>
          <p:nvPr/>
        </p:nvSpPr>
        <p:spPr>
          <a:xfrm>
            <a:off x="9543955" y="3414370"/>
            <a:ext cx="45720" cy="45720"/>
          </a:xfrm>
          <a:prstGeom prst="ellipse">
            <a:avLst/>
          </a:prstGeom>
          <a:solidFill>
            <a:srgbClr val="B85C1E"/>
          </a:solidFill>
          <a:ln w="12700">
            <a:solidFill>
              <a:srgbClr val="333333"/>
            </a:solidFill>
            <a:prstDash val="solid"/>
          </a:ln>
        </p:spPr>
      </p:sp>
      <p:sp>
        <p:nvSpPr>
          <p:cNvPr id="117" name="Shape 115"/>
          <p:cNvSpPr/>
          <p:nvPr/>
        </p:nvSpPr>
        <p:spPr>
          <a:xfrm>
            <a:off x="9601283" y="3414370"/>
            <a:ext cx="45720" cy="45720"/>
          </a:xfrm>
          <a:prstGeom prst="ellipse">
            <a:avLst/>
          </a:prstGeom>
          <a:solidFill>
            <a:srgbClr val="B85C1E"/>
          </a:solidFill>
          <a:ln w="12700">
            <a:solidFill>
              <a:srgbClr val="333333"/>
            </a:solidFill>
            <a:prstDash val="solid"/>
          </a:ln>
        </p:spPr>
      </p:sp>
      <p:sp>
        <p:nvSpPr>
          <p:cNvPr id="118" name="Shape 116"/>
          <p:cNvSpPr/>
          <p:nvPr/>
        </p:nvSpPr>
        <p:spPr>
          <a:xfrm>
            <a:off x="9620190" y="3414370"/>
            <a:ext cx="45720" cy="45720"/>
          </a:xfrm>
          <a:prstGeom prst="ellipse">
            <a:avLst/>
          </a:prstGeom>
          <a:solidFill>
            <a:srgbClr val="B85C1E"/>
          </a:solidFill>
          <a:ln w="12700">
            <a:solidFill>
              <a:srgbClr val="333333"/>
            </a:solidFill>
            <a:prstDash val="solid"/>
          </a:ln>
        </p:spPr>
      </p:sp>
      <p:sp>
        <p:nvSpPr>
          <p:cNvPr id="119" name="Shape 117"/>
          <p:cNvSpPr/>
          <p:nvPr/>
        </p:nvSpPr>
        <p:spPr>
          <a:xfrm>
            <a:off x="9694805" y="3414370"/>
            <a:ext cx="45720" cy="45720"/>
          </a:xfrm>
          <a:prstGeom prst="ellipse">
            <a:avLst/>
          </a:prstGeom>
          <a:solidFill>
            <a:srgbClr val="B85C1E"/>
          </a:solidFill>
          <a:ln w="12700">
            <a:solidFill>
              <a:srgbClr val="333333"/>
            </a:solidFill>
            <a:prstDash val="solid"/>
          </a:ln>
        </p:spPr>
      </p:sp>
      <p:sp>
        <p:nvSpPr>
          <p:cNvPr id="120" name="Shape 118"/>
          <p:cNvSpPr/>
          <p:nvPr/>
        </p:nvSpPr>
        <p:spPr>
          <a:xfrm>
            <a:off x="9702311" y="3414370"/>
            <a:ext cx="45720" cy="45720"/>
          </a:xfrm>
          <a:prstGeom prst="ellipse">
            <a:avLst/>
          </a:prstGeom>
          <a:solidFill>
            <a:srgbClr val="B85C1E"/>
          </a:solidFill>
          <a:ln w="12700">
            <a:solidFill>
              <a:srgbClr val="333333"/>
            </a:solidFill>
            <a:prstDash val="solid"/>
          </a:ln>
        </p:spPr>
      </p:sp>
      <p:sp>
        <p:nvSpPr>
          <p:cNvPr id="121" name="Shape 119"/>
          <p:cNvSpPr/>
          <p:nvPr/>
        </p:nvSpPr>
        <p:spPr>
          <a:xfrm>
            <a:off x="9859783" y="3414370"/>
            <a:ext cx="45720" cy="45720"/>
          </a:xfrm>
          <a:prstGeom prst="ellipse">
            <a:avLst/>
          </a:prstGeom>
          <a:solidFill>
            <a:srgbClr val="B85C1E"/>
          </a:solidFill>
          <a:ln w="12700">
            <a:solidFill>
              <a:srgbClr val="333333"/>
            </a:solidFill>
            <a:prstDash val="solid"/>
          </a:ln>
        </p:spPr>
      </p:sp>
      <p:sp>
        <p:nvSpPr>
          <p:cNvPr id="122" name="Shape 120"/>
          <p:cNvSpPr/>
          <p:nvPr/>
        </p:nvSpPr>
        <p:spPr>
          <a:xfrm>
            <a:off x="9881587" y="3414370"/>
            <a:ext cx="45720" cy="45720"/>
          </a:xfrm>
          <a:prstGeom prst="ellipse">
            <a:avLst/>
          </a:prstGeom>
          <a:solidFill>
            <a:srgbClr val="B85C1E"/>
          </a:solidFill>
          <a:ln w="12700">
            <a:solidFill>
              <a:srgbClr val="333333"/>
            </a:solidFill>
            <a:prstDash val="solid"/>
          </a:ln>
        </p:spPr>
      </p:sp>
      <p:sp>
        <p:nvSpPr>
          <p:cNvPr id="123" name="Shape 121"/>
          <p:cNvSpPr/>
          <p:nvPr/>
        </p:nvSpPr>
        <p:spPr>
          <a:xfrm>
            <a:off x="9882770" y="3414370"/>
            <a:ext cx="45720" cy="45720"/>
          </a:xfrm>
          <a:prstGeom prst="ellipse">
            <a:avLst/>
          </a:prstGeom>
          <a:solidFill>
            <a:srgbClr val="B85C1E"/>
          </a:solidFill>
          <a:ln w="12700">
            <a:solidFill>
              <a:srgbClr val="333333"/>
            </a:solidFill>
            <a:prstDash val="solid"/>
          </a:ln>
        </p:spPr>
      </p:sp>
      <p:sp>
        <p:nvSpPr>
          <p:cNvPr id="124" name="Shape 122"/>
          <p:cNvSpPr/>
          <p:nvPr/>
        </p:nvSpPr>
        <p:spPr>
          <a:xfrm>
            <a:off x="9886266" y="3414370"/>
            <a:ext cx="45720" cy="45720"/>
          </a:xfrm>
          <a:prstGeom prst="ellipse">
            <a:avLst/>
          </a:prstGeom>
          <a:solidFill>
            <a:srgbClr val="B85C1E"/>
          </a:solidFill>
          <a:ln w="12700">
            <a:solidFill>
              <a:srgbClr val="333333"/>
            </a:solidFill>
            <a:prstDash val="solid"/>
          </a:ln>
        </p:spPr>
      </p:sp>
      <p:sp>
        <p:nvSpPr>
          <p:cNvPr id="125" name="Shape 123"/>
          <p:cNvSpPr/>
          <p:nvPr/>
        </p:nvSpPr>
        <p:spPr>
          <a:xfrm>
            <a:off x="9931809" y="3414370"/>
            <a:ext cx="45720" cy="45720"/>
          </a:xfrm>
          <a:prstGeom prst="ellipse">
            <a:avLst/>
          </a:prstGeom>
          <a:solidFill>
            <a:srgbClr val="B85C1E"/>
          </a:solidFill>
          <a:ln w="12700">
            <a:solidFill>
              <a:srgbClr val="333333"/>
            </a:solidFill>
            <a:prstDash val="solid"/>
          </a:ln>
        </p:spPr>
      </p:sp>
      <p:sp>
        <p:nvSpPr>
          <p:cNvPr id="126" name="Shape 124"/>
          <p:cNvSpPr/>
          <p:nvPr/>
        </p:nvSpPr>
        <p:spPr>
          <a:xfrm>
            <a:off x="9943087" y="3414370"/>
            <a:ext cx="45720" cy="45720"/>
          </a:xfrm>
          <a:prstGeom prst="ellipse">
            <a:avLst/>
          </a:prstGeom>
          <a:solidFill>
            <a:srgbClr val="B85C1E"/>
          </a:solidFill>
          <a:ln w="12700">
            <a:solidFill>
              <a:srgbClr val="333333"/>
            </a:solidFill>
            <a:prstDash val="solid"/>
          </a:ln>
        </p:spPr>
      </p:sp>
      <p:sp>
        <p:nvSpPr>
          <p:cNvPr id="127" name="Shape 125"/>
          <p:cNvSpPr/>
          <p:nvPr/>
        </p:nvSpPr>
        <p:spPr>
          <a:xfrm>
            <a:off x="10040911" y="3414370"/>
            <a:ext cx="45720" cy="45720"/>
          </a:xfrm>
          <a:prstGeom prst="ellipse">
            <a:avLst/>
          </a:prstGeom>
          <a:solidFill>
            <a:srgbClr val="B85C1E"/>
          </a:solidFill>
          <a:ln w="12700">
            <a:solidFill>
              <a:srgbClr val="333333"/>
            </a:solidFill>
            <a:prstDash val="solid"/>
          </a:ln>
        </p:spPr>
      </p:sp>
      <p:sp>
        <p:nvSpPr>
          <p:cNvPr id="128" name="Text 126"/>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Fixed window; dates irregular, encoded by day-of-year.</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Sampling with replacement pads pixel-years with &lt;40 clear observations.</a:t>
            </a:r>
            <a:endParaRPr lang="en-US" sz="950" dirty="0"/>
          </a:p>
        </p:txBody>
      </p:sp>
      <p:sp>
        <p:nvSpPr>
          <p:cNvPr id="129" name="Shape 127"/>
          <p:cNvSpPr/>
          <p:nvPr/>
        </p:nvSpPr>
        <p:spPr>
          <a:xfrm>
            <a:off x="10424160" y="3337560"/>
            <a:ext cx="274320" cy="274320"/>
          </a:xfrm>
          <a:prstGeom prst="rightArrow">
            <a:avLst/>
          </a:prstGeom>
          <a:solidFill>
            <a:srgbClr val="B8C4D3"/>
          </a:solidFill>
          <a:ln w="12700">
            <a:solidFill>
              <a:srgbClr val="B8C4D3"/>
            </a:solidFill>
            <a:prstDash val="solid"/>
          </a:ln>
        </p:spPr>
      </p:sp>
      <p:sp>
        <p:nvSpPr>
          <p:cNvPr id="130" name="Shape 128"/>
          <p:cNvSpPr/>
          <p:nvPr/>
        </p:nvSpPr>
        <p:spPr>
          <a:xfrm>
            <a:off x="7744968" y="3337560"/>
            <a:ext cx="274320" cy="274320"/>
          </a:xfrm>
          <a:prstGeom prst="rightArrow">
            <a:avLst/>
          </a:prstGeom>
          <a:solidFill>
            <a:srgbClr val="B8C4D3"/>
          </a:solidFill>
          <a:ln w="12700">
            <a:solidFill>
              <a:srgbClr val="B8C4D3"/>
            </a:solidFill>
            <a:prstDash val="solid"/>
          </a:ln>
        </p:spPr>
      </p:sp>
      <p:sp>
        <p:nvSpPr>
          <p:cNvPr id="131" name="Text 129"/>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132" name="Shape 130"/>
          <p:cNvSpPr/>
          <p:nvPr/>
        </p:nvSpPr>
        <p:spPr>
          <a:xfrm>
            <a:off x="10698480" y="2606040"/>
            <a:ext cx="685800" cy="217170"/>
          </a:xfrm>
          <a:prstGeom prst="rect">
            <a:avLst/>
          </a:prstGeom>
          <a:solidFill>
            <a:srgbClr val="6A4C93"/>
          </a:solidFill>
          <a:ln w="9525">
            <a:solidFill>
              <a:srgbClr val="FFFFFF"/>
            </a:solidFill>
            <a:prstDash val="solid"/>
          </a:ln>
        </p:spPr>
      </p:sp>
      <p:sp>
        <p:nvSpPr>
          <p:cNvPr id="133" name="Shape 131"/>
          <p:cNvSpPr/>
          <p:nvPr/>
        </p:nvSpPr>
        <p:spPr>
          <a:xfrm>
            <a:off x="10698480" y="2823210"/>
            <a:ext cx="685800" cy="217170"/>
          </a:xfrm>
          <a:prstGeom prst="rect">
            <a:avLst/>
          </a:prstGeom>
          <a:solidFill>
            <a:srgbClr val="7B5EA7"/>
          </a:solidFill>
          <a:ln w="9525">
            <a:solidFill>
              <a:srgbClr val="FFFFFF"/>
            </a:solidFill>
            <a:prstDash val="solid"/>
          </a:ln>
        </p:spPr>
      </p:sp>
      <p:sp>
        <p:nvSpPr>
          <p:cNvPr id="134" name="Shape 132"/>
          <p:cNvSpPr/>
          <p:nvPr/>
        </p:nvSpPr>
        <p:spPr>
          <a:xfrm>
            <a:off x="10698480" y="3040380"/>
            <a:ext cx="685800" cy="217170"/>
          </a:xfrm>
          <a:prstGeom prst="rect">
            <a:avLst/>
          </a:prstGeom>
          <a:solidFill>
            <a:srgbClr val="8C70BA"/>
          </a:solidFill>
          <a:ln w="9525">
            <a:solidFill>
              <a:srgbClr val="FFFFFF"/>
            </a:solidFill>
            <a:prstDash val="solid"/>
          </a:ln>
        </p:spPr>
      </p:sp>
      <p:sp>
        <p:nvSpPr>
          <p:cNvPr id="135" name="Shape 133"/>
          <p:cNvSpPr/>
          <p:nvPr/>
        </p:nvSpPr>
        <p:spPr>
          <a:xfrm>
            <a:off x="10698480" y="3257550"/>
            <a:ext cx="685800" cy="217170"/>
          </a:xfrm>
          <a:prstGeom prst="rect">
            <a:avLst/>
          </a:prstGeom>
          <a:solidFill>
            <a:srgbClr val="9D82CD"/>
          </a:solidFill>
          <a:ln w="9525">
            <a:solidFill>
              <a:srgbClr val="FFFFFF"/>
            </a:solidFill>
            <a:prstDash val="solid"/>
          </a:ln>
        </p:spPr>
      </p:sp>
      <p:sp>
        <p:nvSpPr>
          <p:cNvPr id="136" name="Shape 134"/>
          <p:cNvSpPr/>
          <p:nvPr/>
        </p:nvSpPr>
        <p:spPr>
          <a:xfrm>
            <a:off x="10698480" y="3474720"/>
            <a:ext cx="685800" cy="217170"/>
          </a:xfrm>
          <a:prstGeom prst="rect">
            <a:avLst/>
          </a:prstGeom>
          <a:solidFill>
            <a:srgbClr val="8C70BA"/>
          </a:solidFill>
          <a:ln w="9525">
            <a:solidFill>
              <a:srgbClr val="FFFFFF"/>
            </a:solidFill>
            <a:prstDash val="solid"/>
          </a:ln>
        </p:spPr>
      </p:sp>
      <p:sp>
        <p:nvSpPr>
          <p:cNvPr id="137" name="Shape 135"/>
          <p:cNvSpPr/>
          <p:nvPr/>
        </p:nvSpPr>
        <p:spPr>
          <a:xfrm>
            <a:off x="10698480" y="3691890"/>
            <a:ext cx="685800" cy="217170"/>
          </a:xfrm>
          <a:prstGeom prst="rect">
            <a:avLst/>
          </a:prstGeom>
          <a:solidFill>
            <a:srgbClr val="7B5EA7"/>
          </a:solidFill>
          <a:ln w="9525">
            <a:solidFill>
              <a:srgbClr val="FFFFFF"/>
            </a:solidFill>
            <a:prstDash val="solid"/>
          </a:ln>
        </p:spPr>
      </p:sp>
      <p:sp>
        <p:nvSpPr>
          <p:cNvPr id="138" name="Shape 136"/>
          <p:cNvSpPr/>
          <p:nvPr/>
        </p:nvSpPr>
        <p:spPr>
          <a:xfrm>
            <a:off x="10698480" y="3909060"/>
            <a:ext cx="685800" cy="217170"/>
          </a:xfrm>
          <a:prstGeom prst="rect">
            <a:avLst/>
          </a:prstGeom>
          <a:solidFill>
            <a:srgbClr val="6A4C93"/>
          </a:solidFill>
          <a:ln w="9525">
            <a:solidFill>
              <a:srgbClr val="FFFFFF"/>
            </a:solidFill>
            <a:prstDash val="solid"/>
          </a:ln>
        </p:spPr>
      </p:sp>
      <p:sp>
        <p:nvSpPr>
          <p:cNvPr id="139" name="Shape 137"/>
          <p:cNvSpPr/>
          <p:nvPr/>
        </p:nvSpPr>
        <p:spPr>
          <a:xfrm>
            <a:off x="10698480" y="4126230"/>
            <a:ext cx="685800" cy="217170"/>
          </a:xfrm>
          <a:prstGeom prst="rect">
            <a:avLst/>
          </a:prstGeom>
          <a:solidFill>
            <a:srgbClr val="5A3D80"/>
          </a:solidFill>
          <a:ln w="9525">
            <a:solidFill>
              <a:srgbClr val="FFFFFF"/>
            </a:solidFill>
            <a:prstDash val="solid"/>
          </a:ln>
        </p:spPr>
      </p:sp>
      <p:sp>
        <p:nvSpPr>
          <p:cNvPr id="140" name="Text 138"/>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128-D</a:t>
            </a:r>
            <a:endParaRPr lang="en-US" sz="1200" dirty="0"/>
          </a:p>
        </p:txBody>
      </p:sp>
      <p:sp>
        <p:nvSpPr>
          <p:cNvPr id="141" name="Text 139"/>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10 m pixel per year</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int8</a:t>
            </a:r>
            <a:endParaRPr lang="en-US" sz="850" dirty="0"/>
          </a:p>
        </p:txBody>
      </p:sp>
      <p:sp>
        <p:nvSpPr>
          <p:cNvPr id="142" name="Text 14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OlmoEarth (Ai2)</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Open multimodal space-time ViT family (Nano→Large); embeddings computed on demand, not precomputed</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150" b="1" dirty="0">
                <a:solidFill>
                  <a:srgbClr val="1C7293"/>
                </a:solidFill>
                <a:latin typeface="Calibri" pitchFamily="34" charset="0"/>
                <a:ea typeface="Calibri" pitchFamily="34" charset="-122"/>
                <a:cs typeface="Calibri" pitchFamily="34" charset="-120"/>
              </a:rPr>
              <a:t>Who / when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Allen Institute for AI (+ UW, ASU, UBC). v1 Nov 2025 (arXiv 2511.13655), v1.1 May 2026, v1.2 later 2026. Weights on Hugging Face; custom 'OlmoEarth Artifact License' (no military/extractive use).</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Inputs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Sentinel-1, Sentinel-2, Landsat-8 monthly time series, all resampled to 10 m; static layers (OSM, WorldCover, CDL, SRTM, canopy height, WorldCereal) as inputs/targets.</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Architecture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ViT over space × time × band-group tokens (FlexiViT patches 1–8 px in v1; single-bandset token merging in v1.1, RoPE in v1.2). 'Latent MIM Lite': masked modelling with patch-discrimination + instance-contrastive losses. Sizes: Nano 1.4 M · Tiny 6.2 M · Base 89 M · Large 308 M (encoder).</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Stencil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Tile 2.56 km × 2.56 km = 256 × 256 px @ 10 m; token = 1–8 px patch (≤ 80 m). Up to 12 monthly steps over one year, missing months masked.</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Output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Per-patch, per-timestep tokens (Base 768-D, Large 1024-D) + pooled vector. No standing global product; Studio exports embeddings for any AOI at 10–80 m, 1–12 monthly steps (int8 COGs).</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Results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Best on 15/24 tasks (kNN/linear) and 19/29 (fine-tuned) vs. Prithvi v2, TerraMind, Galileo, DINOv3; matches/exceeds AlphaEarth after fine-tuning on 5 tasks.</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Pretraining data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285 k samples × 2.56 km × 1 yr, stratified over 120 OSM classes (~10 TB) — land/infrastructure-biased.</a:t>
            </a:r>
            <a:endParaRPr lang="en-US" sz="115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404104" y="2139696"/>
            <a:ext cx="2377440" cy="2377440"/>
          </a:xfrm>
          <a:prstGeom prst="rect">
            <a:avLst/>
          </a:prstGeom>
          <a:solidFill>
            <a:srgbClr val="EEF3F8"/>
          </a:solidFill>
          <a:ln w="9525">
            <a:solidFill>
              <a:srgbClr val="B8C4D3"/>
            </a:solidFill>
            <a:prstDash val="solid"/>
          </a:ln>
        </p:spPr>
      </p:sp>
      <p:sp>
        <p:nvSpPr>
          <p:cNvPr id="9" name="Shape 7"/>
          <p:cNvSpPr/>
          <p:nvPr/>
        </p:nvSpPr>
        <p:spPr>
          <a:xfrm>
            <a:off x="5330952" y="2212848"/>
            <a:ext cx="2377440" cy="2377440"/>
          </a:xfrm>
          <a:prstGeom prst="rect">
            <a:avLst/>
          </a:prstGeom>
          <a:solidFill>
            <a:srgbClr val="EEF3F8"/>
          </a:solidFill>
          <a:ln w="9525">
            <a:solidFill>
              <a:srgbClr val="B8C4D3"/>
            </a:solidFill>
            <a:prstDash val="solid"/>
          </a:ln>
        </p:spPr>
      </p:sp>
      <p:sp>
        <p:nvSpPr>
          <p:cNvPr id="10" name="Shape 8"/>
          <p:cNvSpPr/>
          <p:nvPr/>
        </p:nvSpPr>
        <p:spPr>
          <a:xfrm>
            <a:off x="5257800" y="2286000"/>
            <a:ext cx="2377440" cy="2377440"/>
          </a:xfrm>
          <a:prstGeom prst="rect">
            <a:avLst/>
          </a:prstGeom>
          <a:solidFill>
            <a:srgbClr val="FFFFFF"/>
          </a:solidFill>
          <a:ln w="9525">
            <a:solidFill>
              <a:srgbClr val="B8C4D3"/>
            </a:solidFill>
            <a:prstDash val="solid"/>
          </a:ln>
        </p:spPr>
      </p:sp>
      <p:sp>
        <p:nvSpPr>
          <p:cNvPr id="11" name="Shape 9"/>
          <p:cNvSpPr/>
          <p:nvPr/>
        </p:nvSpPr>
        <p:spPr>
          <a:xfrm>
            <a:off x="5406390" y="2286000"/>
            <a:ext cx="0" cy="2377440"/>
          </a:xfrm>
          <a:prstGeom prst="line">
            <a:avLst/>
          </a:prstGeom>
          <a:noFill/>
          <a:ln w="7620">
            <a:solidFill>
              <a:srgbClr val="B8C4D3"/>
            </a:solidFill>
            <a:prstDash val="solid"/>
          </a:ln>
        </p:spPr>
      </p:sp>
      <p:sp>
        <p:nvSpPr>
          <p:cNvPr id="12" name="Shape 10"/>
          <p:cNvSpPr/>
          <p:nvPr/>
        </p:nvSpPr>
        <p:spPr>
          <a:xfrm>
            <a:off x="5257800" y="2434590"/>
            <a:ext cx="2377440" cy="0"/>
          </a:xfrm>
          <a:prstGeom prst="line">
            <a:avLst/>
          </a:prstGeom>
          <a:noFill/>
          <a:ln w="7620">
            <a:solidFill>
              <a:srgbClr val="B8C4D3"/>
            </a:solidFill>
            <a:prstDash val="solid"/>
          </a:ln>
        </p:spPr>
      </p:sp>
      <p:sp>
        <p:nvSpPr>
          <p:cNvPr id="13" name="Shape 11"/>
          <p:cNvSpPr/>
          <p:nvPr/>
        </p:nvSpPr>
        <p:spPr>
          <a:xfrm>
            <a:off x="5554980" y="2286000"/>
            <a:ext cx="0" cy="2377440"/>
          </a:xfrm>
          <a:prstGeom prst="line">
            <a:avLst/>
          </a:prstGeom>
          <a:noFill/>
          <a:ln w="7620">
            <a:solidFill>
              <a:srgbClr val="B8C4D3"/>
            </a:solidFill>
            <a:prstDash val="solid"/>
          </a:ln>
        </p:spPr>
      </p:sp>
      <p:sp>
        <p:nvSpPr>
          <p:cNvPr id="14" name="Shape 12"/>
          <p:cNvSpPr/>
          <p:nvPr/>
        </p:nvSpPr>
        <p:spPr>
          <a:xfrm>
            <a:off x="5257800" y="2583180"/>
            <a:ext cx="2377440" cy="0"/>
          </a:xfrm>
          <a:prstGeom prst="line">
            <a:avLst/>
          </a:prstGeom>
          <a:noFill/>
          <a:ln w="7620">
            <a:solidFill>
              <a:srgbClr val="B8C4D3"/>
            </a:solidFill>
            <a:prstDash val="solid"/>
          </a:ln>
        </p:spPr>
      </p:sp>
      <p:sp>
        <p:nvSpPr>
          <p:cNvPr id="15" name="Shape 13"/>
          <p:cNvSpPr/>
          <p:nvPr/>
        </p:nvSpPr>
        <p:spPr>
          <a:xfrm>
            <a:off x="5703570" y="2286000"/>
            <a:ext cx="0" cy="2377440"/>
          </a:xfrm>
          <a:prstGeom prst="line">
            <a:avLst/>
          </a:prstGeom>
          <a:noFill/>
          <a:ln w="7620">
            <a:solidFill>
              <a:srgbClr val="B8C4D3"/>
            </a:solidFill>
            <a:prstDash val="solid"/>
          </a:ln>
        </p:spPr>
      </p:sp>
      <p:sp>
        <p:nvSpPr>
          <p:cNvPr id="16" name="Shape 14"/>
          <p:cNvSpPr/>
          <p:nvPr/>
        </p:nvSpPr>
        <p:spPr>
          <a:xfrm>
            <a:off x="5257800" y="2731770"/>
            <a:ext cx="2377440" cy="0"/>
          </a:xfrm>
          <a:prstGeom prst="line">
            <a:avLst/>
          </a:prstGeom>
          <a:noFill/>
          <a:ln w="7620">
            <a:solidFill>
              <a:srgbClr val="B8C4D3"/>
            </a:solidFill>
            <a:prstDash val="solid"/>
          </a:ln>
        </p:spPr>
      </p:sp>
      <p:sp>
        <p:nvSpPr>
          <p:cNvPr id="17" name="Shape 15"/>
          <p:cNvSpPr/>
          <p:nvPr/>
        </p:nvSpPr>
        <p:spPr>
          <a:xfrm>
            <a:off x="5852160" y="2286000"/>
            <a:ext cx="0" cy="2377440"/>
          </a:xfrm>
          <a:prstGeom prst="line">
            <a:avLst/>
          </a:prstGeom>
          <a:noFill/>
          <a:ln w="7620">
            <a:solidFill>
              <a:srgbClr val="B8C4D3"/>
            </a:solidFill>
            <a:prstDash val="solid"/>
          </a:ln>
        </p:spPr>
      </p:sp>
      <p:sp>
        <p:nvSpPr>
          <p:cNvPr id="18" name="Shape 16"/>
          <p:cNvSpPr/>
          <p:nvPr/>
        </p:nvSpPr>
        <p:spPr>
          <a:xfrm>
            <a:off x="5257800" y="2880360"/>
            <a:ext cx="2377440" cy="0"/>
          </a:xfrm>
          <a:prstGeom prst="line">
            <a:avLst/>
          </a:prstGeom>
          <a:noFill/>
          <a:ln w="7620">
            <a:solidFill>
              <a:srgbClr val="B8C4D3"/>
            </a:solidFill>
            <a:prstDash val="solid"/>
          </a:ln>
        </p:spPr>
      </p:sp>
      <p:sp>
        <p:nvSpPr>
          <p:cNvPr id="19" name="Shape 17"/>
          <p:cNvSpPr/>
          <p:nvPr/>
        </p:nvSpPr>
        <p:spPr>
          <a:xfrm>
            <a:off x="6000750" y="2286000"/>
            <a:ext cx="0" cy="2377440"/>
          </a:xfrm>
          <a:prstGeom prst="line">
            <a:avLst/>
          </a:prstGeom>
          <a:noFill/>
          <a:ln w="7620">
            <a:solidFill>
              <a:srgbClr val="B8C4D3"/>
            </a:solidFill>
            <a:prstDash val="solid"/>
          </a:ln>
        </p:spPr>
      </p:sp>
      <p:sp>
        <p:nvSpPr>
          <p:cNvPr id="20" name="Shape 18"/>
          <p:cNvSpPr/>
          <p:nvPr/>
        </p:nvSpPr>
        <p:spPr>
          <a:xfrm>
            <a:off x="5257800" y="3028950"/>
            <a:ext cx="2377440" cy="0"/>
          </a:xfrm>
          <a:prstGeom prst="line">
            <a:avLst/>
          </a:prstGeom>
          <a:noFill/>
          <a:ln w="7620">
            <a:solidFill>
              <a:srgbClr val="B8C4D3"/>
            </a:solidFill>
            <a:prstDash val="solid"/>
          </a:ln>
        </p:spPr>
      </p:sp>
      <p:sp>
        <p:nvSpPr>
          <p:cNvPr id="21" name="Shape 19"/>
          <p:cNvSpPr/>
          <p:nvPr/>
        </p:nvSpPr>
        <p:spPr>
          <a:xfrm>
            <a:off x="6149340" y="2286000"/>
            <a:ext cx="0" cy="2377440"/>
          </a:xfrm>
          <a:prstGeom prst="line">
            <a:avLst/>
          </a:prstGeom>
          <a:noFill/>
          <a:ln w="7620">
            <a:solidFill>
              <a:srgbClr val="B8C4D3"/>
            </a:solidFill>
            <a:prstDash val="solid"/>
          </a:ln>
        </p:spPr>
      </p:sp>
      <p:sp>
        <p:nvSpPr>
          <p:cNvPr id="22" name="Shape 20"/>
          <p:cNvSpPr/>
          <p:nvPr/>
        </p:nvSpPr>
        <p:spPr>
          <a:xfrm>
            <a:off x="5257800" y="3177540"/>
            <a:ext cx="2377440" cy="0"/>
          </a:xfrm>
          <a:prstGeom prst="line">
            <a:avLst/>
          </a:prstGeom>
          <a:noFill/>
          <a:ln w="7620">
            <a:solidFill>
              <a:srgbClr val="B8C4D3"/>
            </a:solidFill>
            <a:prstDash val="solid"/>
          </a:ln>
        </p:spPr>
      </p:sp>
      <p:sp>
        <p:nvSpPr>
          <p:cNvPr id="23" name="Shape 21"/>
          <p:cNvSpPr/>
          <p:nvPr/>
        </p:nvSpPr>
        <p:spPr>
          <a:xfrm>
            <a:off x="6297930" y="2286000"/>
            <a:ext cx="0" cy="2377440"/>
          </a:xfrm>
          <a:prstGeom prst="line">
            <a:avLst/>
          </a:prstGeom>
          <a:noFill/>
          <a:ln w="7620">
            <a:solidFill>
              <a:srgbClr val="B8C4D3"/>
            </a:solidFill>
            <a:prstDash val="solid"/>
          </a:ln>
        </p:spPr>
      </p:sp>
      <p:sp>
        <p:nvSpPr>
          <p:cNvPr id="24" name="Shape 22"/>
          <p:cNvSpPr/>
          <p:nvPr/>
        </p:nvSpPr>
        <p:spPr>
          <a:xfrm>
            <a:off x="5257800" y="3326130"/>
            <a:ext cx="2377440" cy="0"/>
          </a:xfrm>
          <a:prstGeom prst="line">
            <a:avLst/>
          </a:prstGeom>
          <a:noFill/>
          <a:ln w="7620">
            <a:solidFill>
              <a:srgbClr val="B8C4D3"/>
            </a:solidFill>
            <a:prstDash val="solid"/>
          </a:ln>
        </p:spPr>
      </p:sp>
      <p:sp>
        <p:nvSpPr>
          <p:cNvPr id="25" name="Shape 23"/>
          <p:cNvSpPr/>
          <p:nvPr/>
        </p:nvSpPr>
        <p:spPr>
          <a:xfrm>
            <a:off x="6446520" y="2286000"/>
            <a:ext cx="0" cy="2377440"/>
          </a:xfrm>
          <a:prstGeom prst="line">
            <a:avLst/>
          </a:prstGeom>
          <a:noFill/>
          <a:ln w="7620">
            <a:solidFill>
              <a:srgbClr val="B8C4D3"/>
            </a:solidFill>
            <a:prstDash val="solid"/>
          </a:ln>
        </p:spPr>
      </p:sp>
      <p:sp>
        <p:nvSpPr>
          <p:cNvPr id="26" name="Shape 24"/>
          <p:cNvSpPr/>
          <p:nvPr/>
        </p:nvSpPr>
        <p:spPr>
          <a:xfrm>
            <a:off x="5257800" y="3474720"/>
            <a:ext cx="2377440" cy="0"/>
          </a:xfrm>
          <a:prstGeom prst="line">
            <a:avLst/>
          </a:prstGeom>
          <a:noFill/>
          <a:ln w="7620">
            <a:solidFill>
              <a:srgbClr val="B8C4D3"/>
            </a:solidFill>
            <a:prstDash val="solid"/>
          </a:ln>
        </p:spPr>
      </p:sp>
      <p:sp>
        <p:nvSpPr>
          <p:cNvPr id="27" name="Shape 25"/>
          <p:cNvSpPr/>
          <p:nvPr/>
        </p:nvSpPr>
        <p:spPr>
          <a:xfrm>
            <a:off x="6595110" y="2286000"/>
            <a:ext cx="0" cy="2377440"/>
          </a:xfrm>
          <a:prstGeom prst="line">
            <a:avLst/>
          </a:prstGeom>
          <a:noFill/>
          <a:ln w="7620">
            <a:solidFill>
              <a:srgbClr val="B8C4D3"/>
            </a:solidFill>
            <a:prstDash val="solid"/>
          </a:ln>
        </p:spPr>
      </p:sp>
      <p:sp>
        <p:nvSpPr>
          <p:cNvPr id="28" name="Shape 26"/>
          <p:cNvSpPr/>
          <p:nvPr/>
        </p:nvSpPr>
        <p:spPr>
          <a:xfrm>
            <a:off x="5257800" y="3623310"/>
            <a:ext cx="2377440" cy="0"/>
          </a:xfrm>
          <a:prstGeom prst="line">
            <a:avLst/>
          </a:prstGeom>
          <a:noFill/>
          <a:ln w="7620">
            <a:solidFill>
              <a:srgbClr val="B8C4D3"/>
            </a:solidFill>
            <a:prstDash val="solid"/>
          </a:ln>
        </p:spPr>
      </p:sp>
      <p:sp>
        <p:nvSpPr>
          <p:cNvPr id="29" name="Shape 27"/>
          <p:cNvSpPr/>
          <p:nvPr/>
        </p:nvSpPr>
        <p:spPr>
          <a:xfrm>
            <a:off x="6743700" y="2286000"/>
            <a:ext cx="0" cy="2377440"/>
          </a:xfrm>
          <a:prstGeom prst="line">
            <a:avLst/>
          </a:prstGeom>
          <a:noFill/>
          <a:ln w="7620">
            <a:solidFill>
              <a:srgbClr val="B8C4D3"/>
            </a:solidFill>
            <a:prstDash val="solid"/>
          </a:ln>
        </p:spPr>
      </p:sp>
      <p:sp>
        <p:nvSpPr>
          <p:cNvPr id="30" name="Shape 28"/>
          <p:cNvSpPr/>
          <p:nvPr/>
        </p:nvSpPr>
        <p:spPr>
          <a:xfrm>
            <a:off x="5257800" y="3771900"/>
            <a:ext cx="2377440" cy="0"/>
          </a:xfrm>
          <a:prstGeom prst="line">
            <a:avLst/>
          </a:prstGeom>
          <a:noFill/>
          <a:ln w="7620">
            <a:solidFill>
              <a:srgbClr val="B8C4D3"/>
            </a:solidFill>
            <a:prstDash val="solid"/>
          </a:ln>
        </p:spPr>
      </p:sp>
      <p:sp>
        <p:nvSpPr>
          <p:cNvPr id="31" name="Shape 29"/>
          <p:cNvSpPr/>
          <p:nvPr/>
        </p:nvSpPr>
        <p:spPr>
          <a:xfrm>
            <a:off x="6892290" y="2286000"/>
            <a:ext cx="0" cy="2377440"/>
          </a:xfrm>
          <a:prstGeom prst="line">
            <a:avLst/>
          </a:prstGeom>
          <a:noFill/>
          <a:ln w="7620">
            <a:solidFill>
              <a:srgbClr val="B8C4D3"/>
            </a:solidFill>
            <a:prstDash val="solid"/>
          </a:ln>
        </p:spPr>
      </p:sp>
      <p:sp>
        <p:nvSpPr>
          <p:cNvPr id="32" name="Shape 30"/>
          <p:cNvSpPr/>
          <p:nvPr/>
        </p:nvSpPr>
        <p:spPr>
          <a:xfrm>
            <a:off x="5257800" y="3920490"/>
            <a:ext cx="2377440" cy="0"/>
          </a:xfrm>
          <a:prstGeom prst="line">
            <a:avLst/>
          </a:prstGeom>
          <a:noFill/>
          <a:ln w="7620">
            <a:solidFill>
              <a:srgbClr val="B8C4D3"/>
            </a:solidFill>
            <a:prstDash val="solid"/>
          </a:ln>
        </p:spPr>
      </p:sp>
      <p:sp>
        <p:nvSpPr>
          <p:cNvPr id="33" name="Shape 31"/>
          <p:cNvSpPr/>
          <p:nvPr/>
        </p:nvSpPr>
        <p:spPr>
          <a:xfrm>
            <a:off x="7040880" y="2286000"/>
            <a:ext cx="0" cy="2377440"/>
          </a:xfrm>
          <a:prstGeom prst="line">
            <a:avLst/>
          </a:prstGeom>
          <a:noFill/>
          <a:ln w="7620">
            <a:solidFill>
              <a:srgbClr val="B8C4D3"/>
            </a:solidFill>
            <a:prstDash val="solid"/>
          </a:ln>
        </p:spPr>
      </p:sp>
      <p:sp>
        <p:nvSpPr>
          <p:cNvPr id="34" name="Shape 32"/>
          <p:cNvSpPr/>
          <p:nvPr/>
        </p:nvSpPr>
        <p:spPr>
          <a:xfrm>
            <a:off x="5257800" y="4069080"/>
            <a:ext cx="2377440" cy="0"/>
          </a:xfrm>
          <a:prstGeom prst="line">
            <a:avLst/>
          </a:prstGeom>
          <a:noFill/>
          <a:ln w="7620">
            <a:solidFill>
              <a:srgbClr val="B8C4D3"/>
            </a:solidFill>
            <a:prstDash val="solid"/>
          </a:ln>
        </p:spPr>
      </p:sp>
      <p:sp>
        <p:nvSpPr>
          <p:cNvPr id="35" name="Shape 33"/>
          <p:cNvSpPr/>
          <p:nvPr/>
        </p:nvSpPr>
        <p:spPr>
          <a:xfrm>
            <a:off x="7189470" y="2286000"/>
            <a:ext cx="0" cy="2377440"/>
          </a:xfrm>
          <a:prstGeom prst="line">
            <a:avLst/>
          </a:prstGeom>
          <a:noFill/>
          <a:ln w="7620">
            <a:solidFill>
              <a:srgbClr val="B8C4D3"/>
            </a:solidFill>
            <a:prstDash val="solid"/>
          </a:ln>
        </p:spPr>
      </p:sp>
      <p:sp>
        <p:nvSpPr>
          <p:cNvPr id="36" name="Shape 34"/>
          <p:cNvSpPr/>
          <p:nvPr/>
        </p:nvSpPr>
        <p:spPr>
          <a:xfrm>
            <a:off x="5257800" y="4217670"/>
            <a:ext cx="2377440" cy="0"/>
          </a:xfrm>
          <a:prstGeom prst="line">
            <a:avLst/>
          </a:prstGeom>
          <a:noFill/>
          <a:ln w="7620">
            <a:solidFill>
              <a:srgbClr val="B8C4D3"/>
            </a:solidFill>
            <a:prstDash val="solid"/>
          </a:ln>
        </p:spPr>
      </p:sp>
      <p:sp>
        <p:nvSpPr>
          <p:cNvPr id="37" name="Shape 35"/>
          <p:cNvSpPr/>
          <p:nvPr/>
        </p:nvSpPr>
        <p:spPr>
          <a:xfrm>
            <a:off x="7338060" y="2286000"/>
            <a:ext cx="0" cy="2377440"/>
          </a:xfrm>
          <a:prstGeom prst="line">
            <a:avLst/>
          </a:prstGeom>
          <a:noFill/>
          <a:ln w="7620">
            <a:solidFill>
              <a:srgbClr val="B8C4D3"/>
            </a:solidFill>
            <a:prstDash val="solid"/>
          </a:ln>
        </p:spPr>
      </p:sp>
      <p:sp>
        <p:nvSpPr>
          <p:cNvPr id="38" name="Shape 36"/>
          <p:cNvSpPr/>
          <p:nvPr/>
        </p:nvSpPr>
        <p:spPr>
          <a:xfrm>
            <a:off x="5257800" y="4366260"/>
            <a:ext cx="2377440" cy="0"/>
          </a:xfrm>
          <a:prstGeom prst="line">
            <a:avLst/>
          </a:prstGeom>
          <a:noFill/>
          <a:ln w="7620">
            <a:solidFill>
              <a:srgbClr val="B8C4D3"/>
            </a:solidFill>
            <a:prstDash val="solid"/>
          </a:ln>
        </p:spPr>
      </p:sp>
      <p:sp>
        <p:nvSpPr>
          <p:cNvPr id="39" name="Shape 37"/>
          <p:cNvSpPr/>
          <p:nvPr/>
        </p:nvSpPr>
        <p:spPr>
          <a:xfrm>
            <a:off x="7486650" y="2286000"/>
            <a:ext cx="0" cy="2377440"/>
          </a:xfrm>
          <a:prstGeom prst="line">
            <a:avLst/>
          </a:prstGeom>
          <a:noFill/>
          <a:ln w="7620">
            <a:solidFill>
              <a:srgbClr val="B8C4D3"/>
            </a:solidFill>
            <a:prstDash val="solid"/>
          </a:ln>
        </p:spPr>
      </p:sp>
      <p:sp>
        <p:nvSpPr>
          <p:cNvPr id="40" name="Shape 38"/>
          <p:cNvSpPr/>
          <p:nvPr/>
        </p:nvSpPr>
        <p:spPr>
          <a:xfrm>
            <a:off x="5257800" y="4514850"/>
            <a:ext cx="2377440" cy="0"/>
          </a:xfrm>
          <a:prstGeom prst="line">
            <a:avLst/>
          </a:prstGeom>
          <a:noFill/>
          <a:ln w="7620">
            <a:solidFill>
              <a:srgbClr val="B8C4D3"/>
            </a:solidFill>
            <a:prstDash val="solid"/>
          </a:ln>
        </p:spPr>
      </p:sp>
      <p:sp>
        <p:nvSpPr>
          <p:cNvPr id="41" name="Shape 39"/>
          <p:cNvSpPr/>
          <p:nvPr/>
        </p:nvSpPr>
        <p:spPr>
          <a:xfrm>
            <a:off x="5257800" y="2286000"/>
            <a:ext cx="2377440" cy="2377440"/>
          </a:xfrm>
          <a:prstGeom prst="rect">
            <a:avLst/>
          </a:prstGeom>
          <a:ln w="28575">
            <a:solidFill>
              <a:srgbClr val="2E86AB"/>
            </a:solidFill>
            <a:prstDash val="solid"/>
          </a:ln>
        </p:spPr>
      </p:sp>
      <p:sp>
        <p:nvSpPr>
          <p:cNvPr id="42" name="Shape 40"/>
          <p:cNvSpPr/>
          <p:nvPr/>
        </p:nvSpPr>
        <p:spPr>
          <a:xfrm>
            <a:off x="6297930" y="3326130"/>
            <a:ext cx="148590" cy="148590"/>
          </a:xfrm>
          <a:prstGeom prst="rect">
            <a:avLst/>
          </a:prstGeom>
          <a:solidFill>
            <a:srgbClr val="2E86AB">
              <a:alpha val="75000"/>
            </a:srgbClr>
          </a:solidFill>
          <a:ln w="15875">
            <a:solidFill>
              <a:srgbClr val="2E86AB"/>
            </a:solidFill>
            <a:prstDash val="solid"/>
          </a:ln>
        </p:spPr>
      </p:sp>
      <p:sp>
        <p:nvSpPr>
          <p:cNvPr id="43" name="Text 41"/>
          <p:cNvSpPr txBox="1"/>
          <p:nvPr/>
        </p:nvSpPr>
        <p:spPr>
          <a:xfrm>
            <a:off x="5303520" y="2304288"/>
            <a:ext cx="109728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tile 2.56 km</a:t>
            </a:r>
            <a:endParaRPr lang="en-US" sz="850" dirty="0"/>
          </a:p>
        </p:txBody>
      </p:sp>
      <p:sp>
        <p:nvSpPr>
          <p:cNvPr id="44" name="Text 42"/>
          <p:cNvSpPr txBox="1"/>
          <p:nvPr/>
        </p:nvSpPr>
        <p:spPr>
          <a:xfrm>
            <a:off x="6675120" y="3337560"/>
            <a:ext cx="109728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token 8 px = 80 m</a:t>
            </a:r>
            <a:endParaRPr lang="en-US" sz="850" dirty="0"/>
          </a:p>
        </p:txBody>
      </p:sp>
      <p:sp>
        <p:nvSpPr>
          <p:cNvPr id="45" name="Text 43"/>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Tile: 256 × 256 px @ 10 m = 2.56 km (drawn 16 × 16 for legibility).</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Token: flexible 1–8 px patch → 10–80 m per token, full attention across the tile.</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Sheets: S-1, S-2, Landsat + static maps.</a:t>
            </a:r>
            <a:endParaRPr lang="en-US" sz="950" dirty="0"/>
          </a:p>
        </p:txBody>
      </p:sp>
      <p:sp>
        <p:nvSpPr>
          <p:cNvPr id="46" name="Text 44"/>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47" name="Shape 45"/>
          <p:cNvSpPr/>
          <p:nvPr/>
        </p:nvSpPr>
        <p:spPr>
          <a:xfrm>
            <a:off x="8316468" y="2423160"/>
            <a:ext cx="1792224" cy="1446581"/>
          </a:xfrm>
          <a:prstGeom prst="rect">
            <a:avLst/>
          </a:prstGeom>
          <a:solidFill>
            <a:srgbClr val="E07A2F">
              <a:alpha val="18000"/>
            </a:srgbClr>
          </a:solidFill>
          <a:ln w="12700">
            <a:solidFill>
              <a:srgbClr val="E07A2F"/>
            </a:solidFill>
            <a:prstDash val="solid"/>
          </a:ln>
        </p:spPr>
      </p:sp>
      <p:sp>
        <p:nvSpPr>
          <p:cNvPr id="48" name="Text 46"/>
          <p:cNvSpPr txBox="1"/>
          <p:nvPr/>
        </p:nvSpPr>
        <p:spPr>
          <a:xfrm>
            <a:off x="8087868" y="2176272"/>
            <a:ext cx="2249424" cy="237744"/>
          </a:xfrm>
          <a:prstGeom prst="rect">
            <a:avLst/>
          </a:prstGeom>
          <a:noFill/>
          <a:ln/>
        </p:spPr>
        <p:txBody>
          <a:bodyPr wrap="square" lIns="0" tIns="0" rIns="0" bIns="0" rtlCol="0" anchor="b"/>
          <a:lstStyle/>
          <a:p>
            <a:pPr algn="ctr" indent="0" marL="0">
              <a:buNone/>
            </a:pPr>
            <a:r>
              <a:rPr lang="en-US" sz="750" b="1" dirty="0">
                <a:solidFill>
                  <a:srgbClr val="E07A2F"/>
                </a:solidFill>
                <a:latin typeface="Calibri" pitchFamily="34" charset="0"/>
                <a:ea typeface="Calibri" pitchFamily="34" charset="-122"/>
                <a:cs typeface="Calibri" pitchFamily="34" charset="-120"/>
              </a:rPr>
              <a:t>1 year window, ≤12 monthly steps</a:t>
            </a:r>
            <a:endParaRPr lang="en-US" sz="750" dirty="0"/>
          </a:p>
        </p:txBody>
      </p:sp>
      <p:sp>
        <p:nvSpPr>
          <p:cNvPr id="49" name="Shape 47"/>
          <p:cNvSpPr/>
          <p:nvPr/>
        </p:nvSpPr>
        <p:spPr>
          <a:xfrm>
            <a:off x="8092440" y="3760013"/>
            <a:ext cx="2240280" cy="0"/>
          </a:xfrm>
          <a:prstGeom prst="line">
            <a:avLst/>
          </a:prstGeom>
          <a:noFill/>
          <a:ln w="12700">
            <a:solidFill>
              <a:srgbClr val="1B2430"/>
            </a:solidFill>
            <a:prstDash val="solid"/>
            <a:tailEnd type="triangle"/>
          </a:ln>
        </p:spPr>
      </p:sp>
      <p:sp>
        <p:nvSpPr>
          <p:cNvPr id="50" name="Text 48"/>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51" name="Shape 49"/>
          <p:cNvSpPr/>
          <p:nvPr/>
        </p:nvSpPr>
        <p:spPr>
          <a:xfrm>
            <a:off x="8391144" y="3723437"/>
            <a:ext cx="0" cy="73152"/>
          </a:xfrm>
          <a:prstGeom prst="line">
            <a:avLst/>
          </a:prstGeom>
          <a:noFill/>
          <a:ln w="9525">
            <a:solidFill>
              <a:srgbClr val="1B2430"/>
            </a:solidFill>
            <a:prstDash val="solid"/>
          </a:ln>
        </p:spPr>
      </p:sp>
      <p:sp>
        <p:nvSpPr>
          <p:cNvPr id="52" name="Shape 50"/>
          <p:cNvSpPr/>
          <p:nvPr/>
        </p:nvSpPr>
        <p:spPr>
          <a:xfrm>
            <a:off x="8540496" y="3723437"/>
            <a:ext cx="0" cy="73152"/>
          </a:xfrm>
          <a:prstGeom prst="line">
            <a:avLst/>
          </a:prstGeom>
          <a:noFill/>
          <a:ln w="9525">
            <a:solidFill>
              <a:srgbClr val="1B2430"/>
            </a:solidFill>
            <a:prstDash val="solid"/>
          </a:ln>
        </p:spPr>
      </p:sp>
      <p:sp>
        <p:nvSpPr>
          <p:cNvPr id="53" name="Shape 51"/>
          <p:cNvSpPr/>
          <p:nvPr/>
        </p:nvSpPr>
        <p:spPr>
          <a:xfrm>
            <a:off x="8689848" y="3723437"/>
            <a:ext cx="0" cy="73152"/>
          </a:xfrm>
          <a:prstGeom prst="line">
            <a:avLst/>
          </a:prstGeom>
          <a:noFill/>
          <a:ln w="9525">
            <a:solidFill>
              <a:srgbClr val="1B2430"/>
            </a:solidFill>
            <a:prstDash val="solid"/>
          </a:ln>
        </p:spPr>
      </p:sp>
      <p:sp>
        <p:nvSpPr>
          <p:cNvPr id="54" name="Shape 52"/>
          <p:cNvSpPr/>
          <p:nvPr/>
        </p:nvSpPr>
        <p:spPr>
          <a:xfrm>
            <a:off x="8839200" y="3723437"/>
            <a:ext cx="0" cy="73152"/>
          </a:xfrm>
          <a:prstGeom prst="line">
            <a:avLst/>
          </a:prstGeom>
          <a:noFill/>
          <a:ln w="9525">
            <a:solidFill>
              <a:srgbClr val="1B2430"/>
            </a:solidFill>
            <a:prstDash val="solid"/>
          </a:ln>
        </p:spPr>
      </p:sp>
      <p:sp>
        <p:nvSpPr>
          <p:cNvPr id="55" name="Shape 53"/>
          <p:cNvSpPr/>
          <p:nvPr/>
        </p:nvSpPr>
        <p:spPr>
          <a:xfrm>
            <a:off x="8988552" y="3723437"/>
            <a:ext cx="0" cy="73152"/>
          </a:xfrm>
          <a:prstGeom prst="line">
            <a:avLst/>
          </a:prstGeom>
          <a:noFill/>
          <a:ln w="9525">
            <a:solidFill>
              <a:srgbClr val="1B2430"/>
            </a:solidFill>
            <a:prstDash val="solid"/>
          </a:ln>
        </p:spPr>
      </p:sp>
      <p:sp>
        <p:nvSpPr>
          <p:cNvPr id="56" name="Shape 54"/>
          <p:cNvSpPr/>
          <p:nvPr/>
        </p:nvSpPr>
        <p:spPr>
          <a:xfrm>
            <a:off x="9137904" y="3723437"/>
            <a:ext cx="0" cy="73152"/>
          </a:xfrm>
          <a:prstGeom prst="line">
            <a:avLst/>
          </a:prstGeom>
          <a:noFill/>
          <a:ln w="9525">
            <a:solidFill>
              <a:srgbClr val="1B2430"/>
            </a:solidFill>
            <a:prstDash val="solid"/>
          </a:ln>
        </p:spPr>
      </p:sp>
      <p:sp>
        <p:nvSpPr>
          <p:cNvPr id="57" name="Shape 55"/>
          <p:cNvSpPr/>
          <p:nvPr/>
        </p:nvSpPr>
        <p:spPr>
          <a:xfrm>
            <a:off x="9287256" y="3723437"/>
            <a:ext cx="0" cy="73152"/>
          </a:xfrm>
          <a:prstGeom prst="line">
            <a:avLst/>
          </a:prstGeom>
          <a:noFill/>
          <a:ln w="9525">
            <a:solidFill>
              <a:srgbClr val="1B2430"/>
            </a:solidFill>
            <a:prstDash val="solid"/>
          </a:ln>
        </p:spPr>
      </p:sp>
      <p:sp>
        <p:nvSpPr>
          <p:cNvPr id="58" name="Shape 56"/>
          <p:cNvSpPr/>
          <p:nvPr/>
        </p:nvSpPr>
        <p:spPr>
          <a:xfrm>
            <a:off x="9436608" y="3723437"/>
            <a:ext cx="0" cy="73152"/>
          </a:xfrm>
          <a:prstGeom prst="line">
            <a:avLst/>
          </a:prstGeom>
          <a:noFill/>
          <a:ln w="9525">
            <a:solidFill>
              <a:srgbClr val="1B2430"/>
            </a:solidFill>
            <a:prstDash val="solid"/>
          </a:ln>
        </p:spPr>
      </p:sp>
      <p:sp>
        <p:nvSpPr>
          <p:cNvPr id="59" name="Shape 57"/>
          <p:cNvSpPr/>
          <p:nvPr/>
        </p:nvSpPr>
        <p:spPr>
          <a:xfrm>
            <a:off x="9585960" y="3723437"/>
            <a:ext cx="0" cy="73152"/>
          </a:xfrm>
          <a:prstGeom prst="line">
            <a:avLst/>
          </a:prstGeom>
          <a:noFill/>
          <a:ln w="9525">
            <a:solidFill>
              <a:srgbClr val="1B2430"/>
            </a:solidFill>
            <a:prstDash val="solid"/>
          </a:ln>
        </p:spPr>
      </p:sp>
      <p:sp>
        <p:nvSpPr>
          <p:cNvPr id="60" name="Shape 58"/>
          <p:cNvSpPr/>
          <p:nvPr/>
        </p:nvSpPr>
        <p:spPr>
          <a:xfrm>
            <a:off x="9735312" y="3723437"/>
            <a:ext cx="0" cy="73152"/>
          </a:xfrm>
          <a:prstGeom prst="line">
            <a:avLst/>
          </a:prstGeom>
          <a:noFill/>
          <a:ln w="9525">
            <a:solidFill>
              <a:srgbClr val="1B2430"/>
            </a:solidFill>
            <a:prstDash val="solid"/>
          </a:ln>
        </p:spPr>
      </p:sp>
      <p:sp>
        <p:nvSpPr>
          <p:cNvPr id="61" name="Shape 59"/>
          <p:cNvSpPr/>
          <p:nvPr/>
        </p:nvSpPr>
        <p:spPr>
          <a:xfrm>
            <a:off x="9884664" y="3723437"/>
            <a:ext cx="0" cy="73152"/>
          </a:xfrm>
          <a:prstGeom prst="line">
            <a:avLst/>
          </a:prstGeom>
          <a:noFill/>
          <a:ln w="9525">
            <a:solidFill>
              <a:srgbClr val="1B2430"/>
            </a:solidFill>
            <a:prstDash val="solid"/>
          </a:ln>
        </p:spPr>
      </p:sp>
      <p:sp>
        <p:nvSpPr>
          <p:cNvPr id="62" name="Shape 60"/>
          <p:cNvSpPr/>
          <p:nvPr/>
        </p:nvSpPr>
        <p:spPr>
          <a:xfrm>
            <a:off x="10034016" y="3723437"/>
            <a:ext cx="0" cy="73152"/>
          </a:xfrm>
          <a:prstGeom prst="line">
            <a:avLst/>
          </a:prstGeom>
          <a:noFill/>
          <a:ln w="9525">
            <a:solidFill>
              <a:srgbClr val="1B2430"/>
            </a:solidFill>
            <a:prstDash val="solid"/>
          </a:ln>
        </p:spPr>
      </p:sp>
      <p:sp>
        <p:nvSpPr>
          <p:cNvPr id="63" name="Text 61"/>
          <p:cNvSpPr txBox="1"/>
          <p:nvPr/>
        </p:nvSpPr>
        <p:spPr>
          <a:xfrm>
            <a:off x="8362188" y="2745943"/>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monthly composites, each its own tokens</a:t>
            </a:r>
            <a:endParaRPr lang="en-US" sz="750" dirty="0"/>
          </a:p>
        </p:txBody>
      </p:sp>
      <p:sp>
        <p:nvSpPr>
          <p:cNvPr id="64" name="Shape 62"/>
          <p:cNvSpPr/>
          <p:nvPr/>
        </p:nvSpPr>
        <p:spPr>
          <a:xfrm>
            <a:off x="8372856" y="2919679"/>
            <a:ext cx="36576" cy="146304"/>
          </a:xfrm>
          <a:prstGeom prst="rect">
            <a:avLst/>
          </a:prstGeom>
          <a:solidFill>
            <a:srgbClr val="E07A2F"/>
          </a:solidFill>
          <a:ln w="12700">
            <a:solidFill>
              <a:srgbClr val="333333"/>
            </a:solidFill>
            <a:prstDash val="solid"/>
          </a:ln>
        </p:spPr>
      </p:sp>
      <p:sp>
        <p:nvSpPr>
          <p:cNvPr id="65" name="Shape 63"/>
          <p:cNvSpPr/>
          <p:nvPr/>
        </p:nvSpPr>
        <p:spPr>
          <a:xfrm>
            <a:off x="8522208" y="2919679"/>
            <a:ext cx="36576" cy="146304"/>
          </a:xfrm>
          <a:prstGeom prst="rect">
            <a:avLst/>
          </a:prstGeom>
          <a:solidFill>
            <a:srgbClr val="E07A2F"/>
          </a:solidFill>
          <a:ln w="12700">
            <a:solidFill>
              <a:srgbClr val="333333"/>
            </a:solidFill>
            <a:prstDash val="solid"/>
          </a:ln>
        </p:spPr>
      </p:sp>
      <p:sp>
        <p:nvSpPr>
          <p:cNvPr id="66" name="Shape 64"/>
          <p:cNvSpPr/>
          <p:nvPr/>
        </p:nvSpPr>
        <p:spPr>
          <a:xfrm>
            <a:off x="8671560" y="2919679"/>
            <a:ext cx="36576" cy="146304"/>
          </a:xfrm>
          <a:prstGeom prst="rect">
            <a:avLst/>
          </a:prstGeom>
          <a:solidFill>
            <a:srgbClr val="E07A2F"/>
          </a:solidFill>
          <a:ln w="12700">
            <a:solidFill>
              <a:srgbClr val="333333"/>
            </a:solidFill>
            <a:prstDash val="solid"/>
          </a:ln>
        </p:spPr>
      </p:sp>
      <p:sp>
        <p:nvSpPr>
          <p:cNvPr id="67" name="Shape 65"/>
          <p:cNvSpPr/>
          <p:nvPr/>
        </p:nvSpPr>
        <p:spPr>
          <a:xfrm>
            <a:off x="8820912" y="2919679"/>
            <a:ext cx="36576" cy="146304"/>
          </a:xfrm>
          <a:prstGeom prst="rect">
            <a:avLst/>
          </a:prstGeom>
          <a:solidFill>
            <a:srgbClr val="E07A2F"/>
          </a:solidFill>
          <a:ln w="12700">
            <a:solidFill>
              <a:srgbClr val="333333"/>
            </a:solidFill>
            <a:prstDash val="solid"/>
          </a:ln>
        </p:spPr>
      </p:sp>
      <p:sp>
        <p:nvSpPr>
          <p:cNvPr id="68" name="Shape 66"/>
          <p:cNvSpPr/>
          <p:nvPr/>
        </p:nvSpPr>
        <p:spPr>
          <a:xfrm>
            <a:off x="8970264" y="2919679"/>
            <a:ext cx="36576" cy="146304"/>
          </a:xfrm>
          <a:prstGeom prst="rect">
            <a:avLst/>
          </a:prstGeom>
          <a:solidFill>
            <a:srgbClr val="E07A2F"/>
          </a:solidFill>
          <a:ln w="12700">
            <a:solidFill>
              <a:srgbClr val="333333"/>
            </a:solidFill>
            <a:prstDash val="solid"/>
          </a:ln>
        </p:spPr>
      </p:sp>
      <p:sp>
        <p:nvSpPr>
          <p:cNvPr id="69" name="Shape 67"/>
          <p:cNvSpPr/>
          <p:nvPr/>
        </p:nvSpPr>
        <p:spPr>
          <a:xfrm>
            <a:off x="9119616" y="2919679"/>
            <a:ext cx="36576" cy="146304"/>
          </a:xfrm>
          <a:prstGeom prst="rect">
            <a:avLst/>
          </a:prstGeom>
          <a:solidFill>
            <a:srgbClr val="E07A2F"/>
          </a:solidFill>
          <a:ln w="12700">
            <a:solidFill>
              <a:srgbClr val="333333"/>
            </a:solidFill>
            <a:prstDash val="solid"/>
          </a:ln>
        </p:spPr>
      </p:sp>
      <p:sp>
        <p:nvSpPr>
          <p:cNvPr id="70" name="Shape 68"/>
          <p:cNvSpPr/>
          <p:nvPr/>
        </p:nvSpPr>
        <p:spPr>
          <a:xfrm>
            <a:off x="9268968" y="2919679"/>
            <a:ext cx="36576" cy="146304"/>
          </a:xfrm>
          <a:prstGeom prst="rect">
            <a:avLst/>
          </a:prstGeom>
          <a:solidFill>
            <a:srgbClr val="E07A2F"/>
          </a:solidFill>
          <a:ln w="12700">
            <a:solidFill>
              <a:srgbClr val="333333"/>
            </a:solidFill>
            <a:prstDash val="solid"/>
          </a:ln>
        </p:spPr>
      </p:sp>
      <p:sp>
        <p:nvSpPr>
          <p:cNvPr id="71" name="Shape 69"/>
          <p:cNvSpPr/>
          <p:nvPr/>
        </p:nvSpPr>
        <p:spPr>
          <a:xfrm>
            <a:off x="9418320" y="2919679"/>
            <a:ext cx="36576" cy="146304"/>
          </a:xfrm>
          <a:prstGeom prst="rect">
            <a:avLst/>
          </a:prstGeom>
          <a:solidFill>
            <a:srgbClr val="E07A2F"/>
          </a:solidFill>
          <a:ln w="12700">
            <a:solidFill>
              <a:srgbClr val="333333"/>
            </a:solidFill>
            <a:prstDash val="solid"/>
          </a:ln>
        </p:spPr>
      </p:sp>
      <p:sp>
        <p:nvSpPr>
          <p:cNvPr id="72" name="Shape 70"/>
          <p:cNvSpPr/>
          <p:nvPr/>
        </p:nvSpPr>
        <p:spPr>
          <a:xfrm>
            <a:off x="9567672" y="2919679"/>
            <a:ext cx="36576" cy="146304"/>
          </a:xfrm>
          <a:prstGeom prst="rect">
            <a:avLst/>
          </a:prstGeom>
          <a:solidFill>
            <a:srgbClr val="E07A2F"/>
          </a:solidFill>
          <a:ln w="12700">
            <a:solidFill>
              <a:srgbClr val="333333"/>
            </a:solidFill>
            <a:prstDash val="solid"/>
          </a:ln>
        </p:spPr>
      </p:sp>
      <p:sp>
        <p:nvSpPr>
          <p:cNvPr id="73" name="Shape 71"/>
          <p:cNvSpPr/>
          <p:nvPr/>
        </p:nvSpPr>
        <p:spPr>
          <a:xfrm>
            <a:off x="9717024" y="2919679"/>
            <a:ext cx="36576" cy="146304"/>
          </a:xfrm>
          <a:prstGeom prst="rect">
            <a:avLst/>
          </a:prstGeom>
          <a:solidFill>
            <a:srgbClr val="E07A2F"/>
          </a:solidFill>
          <a:ln w="12700">
            <a:solidFill>
              <a:srgbClr val="333333"/>
            </a:solidFill>
            <a:prstDash val="solid"/>
          </a:ln>
        </p:spPr>
      </p:sp>
      <p:sp>
        <p:nvSpPr>
          <p:cNvPr id="74" name="Shape 72"/>
          <p:cNvSpPr/>
          <p:nvPr/>
        </p:nvSpPr>
        <p:spPr>
          <a:xfrm>
            <a:off x="9866376" y="2919679"/>
            <a:ext cx="36576" cy="146304"/>
          </a:xfrm>
          <a:prstGeom prst="rect">
            <a:avLst/>
          </a:prstGeom>
          <a:solidFill>
            <a:srgbClr val="E07A2F"/>
          </a:solidFill>
          <a:ln w="12700">
            <a:solidFill>
              <a:srgbClr val="333333"/>
            </a:solidFill>
            <a:prstDash val="solid"/>
          </a:ln>
        </p:spPr>
      </p:sp>
      <p:sp>
        <p:nvSpPr>
          <p:cNvPr id="75" name="Shape 73"/>
          <p:cNvSpPr/>
          <p:nvPr/>
        </p:nvSpPr>
        <p:spPr>
          <a:xfrm>
            <a:off x="10015728" y="2919679"/>
            <a:ext cx="36576" cy="146304"/>
          </a:xfrm>
          <a:prstGeom prst="rect">
            <a:avLst/>
          </a:prstGeom>
          <a:solidFill>
            <a:srgbClr val="E07A2F"/>
          </a:solidFill>
          <a:ln w="12700">
            <a:solidFill>
              <a:srgbClr val="333333"/>
            </a:solidFill>
            <a:prstDash val="solid"/>
          </a:ln>
        </p:spPr>
      </p:sp>
      <p:sp>
        <p:nvSpPr>
          <p:cNvPr id="76" name="Text 74"/>
          <p:cNvSpPr txBox="1"/>
          <p:nvPr/>
        </p:nvSpPr>
        <p:spPr>
          <a:xfrm>
            <a:off x="8362188" y="3208630"/>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B85C1E"/>
                </a:solidFill>
                <a:latin typeface="Calibri" pitchFamily="34" charset="0"/>
                <a:ea typeface="Calibri" pitchFamily="34" charset="-122"/>
                <a:cs typeface="Calibri" pitchFamily="34" charset="-120"/>
              </a:rPr>
              <a:t>static map layers (single sheet)</a:t>
            </a:r>
            <a:endParaRPr lang="en-US" sz="750" dirty="0"/>
          </a:p>
        </p:txBody>
      </p:sp>
      <p:sp>
        <p:nvSpPr>
          <p:cNvPr id="77" name="Shape 75"/>
          <p:cNvSpPr/>
          <p:nvPr/>
        </p:nvSpPr>
        <p:spPr>
          <a:xfrm>
            <a:off x="9171432" y="3396082"/>
            <a:ext cx="82296" cy="82296"/>
          </a:xfrm>
          <a:prstGeom prst="ellipse">
            <a:avLst/>
          </a:prstGeom>
          <a:solidFill>
            <a:srgbClr val="B85C1E"/>
          </a:solidFill>
          <a:ln w="12700">
            <a:solidFill>
              <a:srgbClr val="333333"/>
            </a:solidFill>
            <a:prstDash val="solid"/>
          </a:ln>
        </p:spPr>
      </p:sp>
      <p:sp>
        <p:nvSpPr>
          <p:cNvPr id="78" name="Text 76"/>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Each month is tokenised separately; attention runs across space, time and modality.</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Temporal masking (v1.2) trains the model to fill missing months.</a:t>
            </a:r>
            <a:endParaRPr lang="en-US" sz="950" dirty="0"/>
          </a:p>
        </p:txBody>
      </p:sp>
      <p:sp>
        <p:nvSpPr>
          <p:cNvPr id="79" name="Shape 77"/>
          <p:cNvSpPr/>
          <p:nvPr/>
        </p:nvSpPr>
        <p:spPr>
          <a:xfrm>
            <a:off x="10424160" y="3337560"/>
            <a:ext cx="274320" cy="274320"/>
          </a:xfrm>
          <a:prstGeom prst="rightArrow">
            <a:avLst/>
          </a:prstGeom>
          <a:solidFill>
            <a:srgbClr val="B8C4D3"/>
          </a:solidFill>
          <a:ln w="12700">
            <a:solidFill>
              <a:srgbClr val="B8C4D3"/>
            </a:solidFill>
            <a:prstDash val="solid"/>
          </a:ln>
        </p:spPr>
      </p:sp>
      <p:sp>
        <p:nvSpPr>
          <p:cNvPr id="80" name="Shape 78"/>
          <p:cNvSpPr/>
          <p:nvPr/>
        </p:nvSpPr>
        <p:spPr>
          <a:xfrm>
            <a:off x="7744968" y="3337560"/>
            <a:ext cx="274320" cy="274320"/>
          </a:xfrm>
          <a:prstGeom prst="rightArrow">
            <a:avLst/>
          </a:prstGeom>
          <a:solidFill>
            <a:srgbClr val="B8C4D3"/>
          </a:solidFill>
          <a:ln w="12700">
            <a:solidFill>
              <a:srgbClr val="B8C4D3"/>
            </a:solidFill>
            <a:prstDash val="solid"/>
          </a:ln>
        </p:spPr>
      </p:sp>
      <p:sp>
        <p:nvSpPr>
          <p:cNvPr id="81" name="Text 79"/>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82" name="Shape 80"/>
          <p:cNvSpPr/>
          <p:nvPr/>
        </p:nvSpPr>
        <p:spPr>
          <a:xfrm>
            <a:off x="10698480" y="2606040"/>
            <a:ext cx="685800" cy="217170"/>
          </a:xfrm>
          <a:prstGeom prst="rect">
            <a:avLst/>
          </a:prstGeom>
          <a:solidFill>
            <a:srgbClr val="6A4C93"/>
          </a:solidFill>
          <a:ln w="9525">
            <a:solidFill>
              <a:srgbClr val="FFFFFF"/>
            </a:solidFill>
            <a:prstDash val="solid"/>
          </a:ln>
        </p:spPr>
      </p:sp>
      <p:sp>
        <p:nvSpPr>
          <p:cNvPr id="83" name="Shape 81"/>
          <p:cNvSpPr/>
          <p:nvPr/>
        </p:nvSpPr>
        <p:spPr>
          <a:xfrm>
            <a:off x="10698480" y="2823210"/>
            <a:ext cx="685800" cy="217170"/>
          </a:xfrm>
          <a:prstGeom prst="rect">
            <a:avLst/>
          </a:prstGeom>
          <a:solidFill>
            <a:srgbClr val="7B5EA7"/>
          </a:solidFill>
          <a:ln w="9525">
            <a:solidFill>
              <a:srgbClr val="FFFFFF"/>
            </a:solidFill>
            <a:prstDash val="solid"/>
          </a:ln>
        </p:spPr>
      </p:sp>
      <p:sp>
        <p:nvSpPr>
          <p:cNvPr id="84" name="Shape 82"/>
          <p:cNvSpPr/>
          <p:nvPr/>
        </p:nvSpPr>
        <p:spPr>
          <a:xfrm>
            <a:off x="10698480" y="3040380"/>
            <a:ext cx="685800" cy="217170"/>
          </a:xfrm>
          <a:prstGeom prst="rect">
            <a:avLst/>
          </a:prstGeom>
          <a:solidFill>
            <a:srgbClr val="8C70BA"/>
          </a:solidFill>
          <a:ln w="9525">
            <a:solidFill>
              <a:srgbClr val="FFFFFF"/>
            </a:solidFill>
            <a:prstDash val="solid"/>
          </a:ln>
        </p:spPr>
      </p:sp>
      <p:sp>
        <p:nvSpPr>
          <p:cNvPr id="85" name="Shape 83"/>
          <p:cNvSpPr/>
          <p:nvPr/>
        </p:nvSpPr>
        <p:spPr>
          <a:xfrm>
            <a:off x="10698480" y="3257550"/>
            <a:ext cx="685800" cy="217170"/>
          </a:xfrm>
          <a:prstGeom prst="rect">
            <a:avLst/>
          </a:prstGeom>
          <a:solidFill>
            <a:srgbClr val="9D82CD"/>
          </a:solidFill>
          <a:ln w="9525">
            <a:solidFill>
              <a:srgbClr val="FFFFFF"/>
            </a:solidFill>
            <a:prstDash val="solid"/>
          </a:ln>
        </p:spPr>
      </p:sp>
      <p:sp>
        <p:nvSpPr>
          <p:cNvPr id="86" name="Shape 84"/>
          <p:cNvSpPr/>
          <p:nvPr/>
        </p:nvSpPr>
        <p:spPr>
          <a:xfrm>
            <a:off x="10698480" y="3474720"/>
            <a:ext cx="685800" cy="217170"/>
          </a:xfrm>
          <a:prstGeom prst="rect">
            <a:avLst/>
          </a:prstGeom>
          <a:solidFill>
            <a:srgbClr val="8C70BA"/>
          </a:solidFill>
          <a:ln w="9525">
            <a:solidFill>
              <a:srgbClr val="FFFFFF"/>
            </a:solidFill>
            <a:prstDash val="solid"/>
          </a:ln>
        </p:spPr>
      </p:sp>
      <p:sp>
        <p:nvSpPr>
          <p:cNvPr id="87" name="Shape 85"/>
          <p:cNvSpPr/>
          <p:nvPr/>
        </p:nvSpPr>
        <p:spPr>
          <a:xfrm>
            <a:off x="10698480" y="3691890"/>
            <a:ext cx="685800" cy="217170"/>
          </a:xfrm>
          <a:prstGeom prst="rect">
            <a:avLst/>
          </a:prstGeom>
          <a:solidFill>
            <a:srgbClr val="7B5EA7"/>
          </a:solidFill>
          <a:ln w="9525">
            <a:solidFill>
              <a:srgbClr val="FFFFFF"/>
            </a:solidFill>
            <a:prstDash val="solid"/>
          </a:ln>
        </p:spPr>
      </p:sp>
      <p:sp>
        <p:nvSpPr>
          <p:cNvPr id="88" name="Shape 86"/>
          <p:cNvSpPr/>
          <p:nvPr/>
        </p:nvSpPr>
        <p:spPr>
          <a:xfrm>
            <a:off x="10698480" y="3909060"/>
            <a:ext cx="685800" cy="217170"/>
          </a:xfrm>
          <a:prstGeom prst="rect">
            <a:avLst/>
          </a:prstGeom>
          <a:solidFill>
            <a:srgbClr val="6A4C93"/>
          </a:solidFill>
          <a:ln w="9525">
            <a:solidFill>
              <a:srgbClr val="FFFFFF"/>
            </a:solidFill>
            <a:prstDash val="solid"/>
          </a:ln>
        </p:spPr>
      </p:sp>
      <p:sp>
        <p:nvSpPr>
          <p:cNvPr id="89" name="Shape 87"/>
          <p:cNvSpPr/>
          <p:nvPr/>
        </p:nvSpPr>
        <p:spPr>
          <a:xfrm>
            <a:off x="10698480" y="4126230"/>
            <a:ext cx="685800" cy="217170"/>
          </a:xfrm>
          <a:prstGeom prst="rect">
            <a:avLst/>
          </a:prstGeom>
          <a:solidFill>
            <a:srgbClr val="5A3D80"/>
          </a:solidFill>
          <a:ln w="9525">
            <a:solidFill>
              <a:srgbClr val="FFFFFF"/>
            </a:solidFill>
            <a:prstDash val="solid"/>
          </a:ln>
        </p:spPr>
      </p:sp>
      <p:sp>
        <p:nvSpPr>
          <p:cNvPr id="90" name="Text 88"/>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768-D</a:t>
            </a:r>
            <a:endParaRPr lang="en-US" sz="1200" dirty="0"/>
          </a:p>
        </p:txBody>
      </p:sp>
      <p:sp>
        <p:nvSpPr>
          <p:cNvPr id="91" name="Text 89"/>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patch per month (Base)</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 pooled tile vector</a:t>
            </a:r>
            <a:endParaRPr lang="en-US" sz="850" dirty="0"/>
          </a:p>
        </p:txBody>
      </p:sp>
      <p:sp>
        <p:nvSpPr>
          <p:cNvPr id="92" name="Text 9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TerraMind (IBM Research + ESA Φ-lab)</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Any-to-any generative multimodal EO model; 'Thinking in Modalities' — ICCV 2025</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150" b="1" dirty="0">
                <a:solidFill>
                  <a:srgbClr val="1C7293"/>
                </a:solidFill>
                <a:latin typeface="Calibri" pitchFamily="34" charset="0"/>
                <a:ea typeface="Calibri" pitchFamily="34" charset="-122"/>
                <a:cs typeface="Calibri" pitchFamily="34" charset="-120"/>
              </a:rPr>
              <a:t>Who / when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IBM Research Europe, ESA Φ-lab, ETH Zürich, FZ Jülich, NASA IMPACT, Univ. of Iceland. arXiv 2504.11171 (Apr 2025); TerraMesh dataset 2504.11172. Apache 2.0, weights on Hugging Face (ibm-esa-geospatial), TerraTorch integration. Tiny/Small edge variants Jun–Jul 2025.</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Inputs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Pixel-level: S-2 L2A &amp; L1C, S-1 GRD &amp; RTC, DEM, RGB, NDVI. Token-level: LULC classes, captions, geolocation. All co-registered at 10 m in 224 px tiles.</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Architecture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Dual-scale encoder–decoder: token path (cross-modal correlation) + pixel path (fine detail). Per-modality FSQ-VAE tokenizers (16 k codebook). Objective: masked cross-modal token reconstruction over 500 B tokens from ~9 M TerraMesh samples. Base: 6 d, Large: 10 d on 32 A100s.</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Stencil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Tile 224 × 224 px @ 10 m = 2.24 km; token 16 × 16 px = 160 m → 14 × 14 = 196 tokens per modality. Single co-registered timestamp per sample — no multi-temporal fusion.</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Output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196 tokens per modality of 768-D (Base) / 1024-D (Large), mergeable to one vector; plus generated rasters of missing modalities (TiM). No precomputed embedding archive.</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Results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PANGAEA avg mIoU: Large 59.6, Base 58.4 (≥3 pp over CROMA, DOFA and the other GeoFMs in that table); only GeoFM beating task-specific U-Nets across the benchmark.</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Ocean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TerraMesh is land/ecoregion-stratified; no marine modalities. Open-ocean behaviour untested.</a:t>
            </a:r>
            <a:endParaRPr lang="en-US" sz="115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477256" y="2066544"/>
            <a:ext cx="2377440" cy="2377440"/>
          </a:xfrm>
          <a:prstGeom prst="rect">
            <a:avLst/>
          </a:prstGeom>
          <a:solidFill>
            <a:srgbClr val="EEF3F8"/>
          </a:solidFill>
          <a:ln w="9525">
            <a:solidFill>
              <a:srgbClr val="B8C4D3"/>
            </a:solidFill>
            <a:prstDash val="solid"/>
          </a:ln>
        </p:spPr>
      </p:sp>
      <p:sp>
        <p:nvSpPr>
          <p:cNvPr id="9" name="Shape 7"/>
          <p:cNvSpPr/>
          <p:nvPr/>
        </p:nvSpPr>
        <p:spPr>
          <a:xfrm>
            <a:off x="5404104" y="2139696"/>
            <a:ext cx="2377440" cy="2377440"/>
          </a:xfrm>
          <a:prstGeom prst="rect">
            <a:avLst/>
          </a:prstGeom>
          <a:solidFill>
            <a:srgbClr val="EEF3F8"/>
          </a:solidFill>
          <a:ln w="9525">
            <a:solidFill>
              <a:srgbClr val="B8C4D3"/>
            </a:solidFill>
            <a:prstDash val="solid"/>
          </a:ln>
        </p:spPr>
      </p:sp>
      <p:sp>
        <p:nvSpPr>
          <p:cNvPr id="10" name="Shape 8"/>
          <p:cNvSpPr/>
          <p:nvPr/>
        </p:nvSpPr>
        <p:spPr>
          <a:xfrm>
            <a:off x="5330952" y="2212848"/>
            <a:ext cx="2377440" cy="2377440"/>
          </a:xfrm>
          <a:prstGeom prst="rect">
            <a:avLst/>
          </a:prstGeom>
          <a:solidFill>
            <a:srgbClr val="EEF3F8"/>
          </a:solidFill>
          <a:ln w="9525">
            <a:solidFill>
              <a:srgbClr val="B8C4D3"/>
            </a:solidFill>
            <a:prstDash val="solid"/>
          </a:ln>
        </p:spPr>
      </p:sp>
      <p:sp>
        <p:nvSpPr>
          <p:cNvPr id="11" name="Shape 9"/>
          <p:cNvSpPr/>
          <p:nvPr/>
        </p:nvSpPr>
        <p:spPr>
          <a:xfrm>
            <a:off x="5257800" y="2286000"/>
            <a:ext cx="2377440" cy="2377440"/>
          </a:xfrm>
          <a:prstGeom prst="rect">
            <a:avLst/>
          </a:prstGeom>
          <a:solidFill>
            <a:srgbClr val="FFFFFF"/>
          </a:solidFill>
          <a:ln w="9525">
            <a:solidFill>
              <a:srgbClr val="B8C4D3"/>
            </a:solidFill>
            <a:prstDash val="solid"/>
          </a:ln>
        </p:spPr>
      </p:sp>
      <p:sp>
        <p:nvSpPr>
          <p:cNvPr id="12" name="Shape 10"/>
          <p:cNvSpPr/>
          <p:nvPr/>
        </p:nvSpPr>
        <p:spPr>
          <a:xfrm>
            <a:off x="5427617" y="2286000"/>
            <a:ext cx="0" cy="2377440"/>
          </a:xfrm>
          <a:prstGeom prst="line">
            <a:avLst/>
          </a:prstGeom>
          <a:noFill/>
          <a:ln w="7620">
            <a:solidFill>
              <a:srgbClr val="B8C4D3"/>
            </a:solidFill>
            <a:prstDash val="solid"/>
          </a:ln>
        </p:spPr>
      </p:sp>
      <p:sp>
        <p:nvSpPr>
          <p:cNvPr id="13" name="Shape 11"/>
          <p:cNvSpPr/>
          <p:nvPr/>
        </p:nvSpPr>
        <p:spPr>
          <a:xfrm>
            <a:off x="5257800" y="2455817"/>
            <a:ext cx="2377440" cy="0"/>
          </a:xfrm>
          <a:prstGeom prst="line">
            <a:avLst/>
          </a:prstGeom>
          <a:noFill/>
          <a:ln w="7620">
            <a:solidFill>
              <a:srgbClr val="B8C4D3"/>
            </a:solidFill>
            <a:prstDash val="solid"/>
          </a:ln>
        </p:spPr>
      </p:sp>
      <p:sp>
        <p:nvSpPr>
          <p:cNvPr id="14" name="Shape 12"/>
          <p:cNvSpPr/>
          <p:nvPr/>
        </p:nvSpPr>
        <p:spPr>
          <a:xfrm>
            <a:off x="5597434" y="2286000"/>
            <a:ext cx="0" cy="2377440"/>
          </a:xfrm>
          <a:prstGeom prst="line">
            <a:avLst/>
          </a:prstGeom>
          <a:noFill/>
          <a:ln w="7620">
            <a:solidFill>
              <a:srgbClr val="B8C4D3"/>
            </a:solidFill>
            <a:prstDash val="solid"/>
          </a:ln>
        </p:spPr>
      </p:sp>
      <p:sp>
        <p:nvSpPr>
          <p:cNvPr id="15" name="Shape 13"/>
          <p:cNvSpPr/>
          <p:nvPr/>
        </p:nvSpPr>
        <p:spPr>
          <a:xfrm>
            <a:off x="5257800" y="2625634"/>
            <a:ext cx="2377440" cy="0"/>
          </a:xfrm>
          <a:prstGeom prst="line">
            <a:avLst/>
          </a:prstGeom>
          <a:noFill/>
          <a:ln w="7620">
            <a:solidFill>
              <a:srgbClr val="B8C4D3"/>
            </a:solidFill>
            <a:prstDash val="solid"/>
          </a:ln>
        </p:spPr>
      </p:sp>
      <p:sp>
        <p:nvSpPr>
          <p:cNvPr id="16" name="Shape 14"/>
          <p:cNvSpPr/>
          <p:nvPr/>
        </p:nvSpPr>
        <p:spPr>
          <a:xfrm>
            <a:off x="5767251" y="2286000"/>
            <a:ext cx="0" cy="2377440"/>
          </a:xfrm>
          <a:prstGeom prst="line">
            <a:avLst/>
          </a:prstGeom>
          <a:noFill/>
          <a:ln w="7620">
            <a:solidFill>
              <a:srgbClr val="B8C4D3"/>
            </a:solidFill>
            <a:prstDash val="solid"/>
          </a:ln>
        </p:spPr>
      </p:sp>
      <p:sp>
        <p:nvSpPr>
          <p:cNvPr id="17" name="Shape 15"/>
          <p:cNvSpPr/>
          <p:nvPr/>
        </p:nvSpPr>
        <p:spPr>
          <a:xfrm>
            <a:off x="5257800" y="2795451"/>
            <a:ext cx="2377440" cy="0"/>
          </a:xfrm>
          <a:prstGeom prst="line">
            <a:avLst/>
          </a:prstGeom>
          <a:noFill/>
          <a:ln w="7620">
            <a:solidFill>
              <a:srgbClr val="B8C4D3"/>
            </a:solidFill>
            <a:prstDash val="solid"/>
          </a:ln>
        </p:spPr>
      </p:sp>
      <p:sp>
        <p:nvSpPr>
          <p:cNvPr id="18" name="Shape 16"/>
          <p:cNvSpPr/>
          <p:nvPr/>
        </p:nvSpPr>
        <p:spPr>
          <a:xfrm>
            <a:off x="5937069" y="2286000"/>
            <a:ext cx="0" cy="2377440"/>
          </a:xfrm>
          <a:prstGeom prst="line">
            <a:avLst/>
          </a:prstGeom>
          <a:noFill/>
          <a:ln w="7620">
            <a:solidFill>
              <a:srgbClr val="B8C4D3"/>
            </a:solidFill>
            <a:prstDash val="solid"/>
          </a:ln>
        </p:spPr>
      </p:sp>
      <p:sp>
        <p:nvSpPr>
          <p:cNvPr id="19" name="Shape 17"/>
          <p:cNvSpPr/>
          <p:nvPr/>
        </p:nvSpPr>
        <p:spPr>
          <a:xfrm>
            <a:off x="5257800" y="2965269"/>
            <a:ext cx="2377440" cy="0"/>
          </a:xfrm>
          <a:prstGeom prst="line">
            <a:avLst/>
          </a:prstGeom>
          <a:noFill/>
          <a:ln w="7620">
            <a:solidFill>
              <a:srgbClr val="B8C4D3"/>
            </a:solidFill>
            <a:prstDash val="solid"/>
          </a:ln>
        </p:spPr>
      </p:sp>
      <p:sp>
        <p:nvSpPr>
          <p:cNvPr id="20" name="Shape 18"/>
          <p:cNvSpPr/>
          <p:nvPr/>
        </p:nvSpPr>
        <p:spPr>
          <a:xfrm>
            <a:off x="6106886" y="2286000"/>
            <a:ext cx="0" cy="2377440"/>
          </a:xfrm>
          <a:prstGeom prst="line">
            <a:avLst/>
          </a:prstGeom>
          <a:noFill/>
          <a:ln w="7620">
            <a:solidFill>
              <a:srgbClr val="B8C4D3"/>
            </a:solidFill>
            <a:prstDash val="solid"/>
          </a:ln>
        </p:spPr>
      </p:sp>
      <p:sp>
        <p:nvSpPr>
          <p:cNvPr id="21" name="Shape 19"/>
          <p:cNvSpPr/>
          <p:nvPr/>
        </p:nvSpPr>
        <p:spPr>
          <a:xfrm>
            <a:off x="5257800" y="3135086"/>
            <a:ext cx="2377440" cy="0"/>
          </a:xfrm>
          <a:prstGeom prst="line">
            <a:avLst/>
          </a:prstGeom>
          <a:noFill/>
          <a:ln w="7620">
            <a:solidFill>
              <a:srgbClr val="B8C4D3"/>
            </a:solidFill>
            <a:prstDash val="solid"/>
          </a:ln>
        </p:spPr>
      </p:sp>
      <p:sp>
        <p:nvSpPr>
          <p:cNvPr id="22" name="Shape 20"/>
          <p:cNvSpPr/>
          <p:nvPr/>
        </p:nvSpPr>
        <p:spPr>
          <a:xfrm>
            <a:off x="6276703" y="2286000"/>
            <a:ext cx="0" cy="2377440"/>
          </a:xfrm>
          <a:prstGeom prst="line">
            <a:avLst/>
          </a:prstGeom>
          <a:noFill/>
          <a:ln w="7620">
            <a:solidFill>
              <a:srgbClr val="B8C4D3"/>
            </a:solidFill>
            <a:prstDash val="solid"/>
          </a:ln>
        </p:spPr>
      </p:sp>
      <p:sp>
        <p:nvSpPr>
          <p:cNvPr id="23" name="Shape 21"/>
          <p:cNvSpPr/>
          <p:nvPr/>
        </p:nvSpPr>
        <p:spPr>
          <a:xfrm>
            <a:off x="5257800" y="3304903"/>
            <a:ext cx="2377440" cy="0"/>
          </a:xfrm>
          <a:prstGeom prst="line">
            <a:avLst/>
          </a:prstGeom>
          <a:noFill/>
          <a:ln w="7620">
            <a:solidFill>
              <a:srgbClr val="B8C4D3"/>
            </a:solidFill>
            <a:prstDash val="solid"/>
          </a:ln>
        </p:spPr>
      </p:sp>
      <p:sp>
        <p:nvSpPr>
          <p:cNvPr id="24" name="Shape 22"/>
          <p:cNvSpPr/>
          <p:nvPr/>
        </p:nvSpPr>
        <p:spPr>
          <a:xfrm>
            <a:off x="6446520" y="2286000"/>
            <a:ext cx="0" cy="2377440"/>
          </a:xfrm>
          <a:prstGeom prst="line">
            <a:avLst/>
          </a:prstGeom>
          <a:noFill/>
          <a:ln w="7620">
            <a:solidFill>
              <a:srgbClr val="B8C4D3"/>
            </a:solidFill>
            <a:prstDash val="solid"/>
          </a:ln>
        </p:spPr>
      </p:sp>
      <p:sp>
        <p:nvSpPr>
          <p:cNvPr id="25" name="Shape 23"/>
          <p:cNvSpPr/>
          <p:nvPr/>
        </p:nvSpPr>
        <p:spPr>
          <a:xfrm>
            <a:off x="5257800" y="3474720"/>
            <a:ext cx="2377440" cy="0"/>
          </a:xfrm>
          <a:prstGeom prst="line">
            <a:avLst/>
          </a:prstGeom>
          <a:noFill/>
          <a:ln w="7620">
            <a:solidFill>
              <a:srgbClr val="B8C4D3"/>
            </a:solidFill>
            <a:prstDash val="solid"/>
          </a:ln>
        </p:spPr>
      </p:sp>
      <p:sp>
        <p:nvSpPr>
          <p:cNvPr id="26" name="Shape 24"/>
          <p:cNvSpPr/>
          <p:nvPr/>
        </p:nvSpPr>
        <p:spPr>
          <a:xfrm>
            <a:off x="6616337" y="2286000"/>
            <a:ext cx="0" cy="2377440"/>
          </a:xfrm>
          <a:prstGeom prst="line">
            <a:avLst/>
          </a:prstGeom>
          <a:noFill/>
          <a:ln w="7620">
            <a:solidFill>
              <a:srgbClr val="B8C4D3"/>
            </a:solidFill>
            <a:prstDash val="solid"/>
          </a:ln>
        </p:spPr>
      </p:sp>
      <p:sp>
        <p:nvSpPr>
          <p:cNvPr id="27" name="Shape 25"/>
          <p:cNvSpPr/>
          <p:nvPr/>
        </p:nvSpPr>
        <p:spPr>
          <a:xfrm>
            <a:off x="5257800" y="3644537"/>
            <a:ext cx="2377440" cy="0"/>
          </a:xfrm>
          <a:prstGeom prst="line">
            <a:avLst/>
          </a:prstGeom>
          <a:noFill/>
          <a:ln w="7620">
            <a:solidFill>
              <a:srgbClr val="B8C4D3"/>
            </a:solidFill>
            <a:prstDash val="solid"/>
          </a:ln>
        </p:spPr>
      </p:sp>
      <p:sp>
        <p:nvSpPr>
          <p:cNvPr id="28" name="Shape 26"/>
          <p:cNvSpPr/>
          <p:nvPr/>
        </p:nvSpPr>
        <p:spPr>
          <a:xfrm>
            <a:off x="6786154" y="2286000"/>
            <a:ext cx="0" cy="2377440"/>
          </a:xfrm>
          <a:prstGeom prst="line">
            <a:avLst/>
          </a:prstGeom>
          <a:noFill/>
          <a:ln w="7620">
            <a:solidFill>
              <a:srgbClr val="B8C4D3"/>
            </a:solidFill>
            <a:prstDash val="solid"/>
          </a:ln>
        </p:spPr>
      </p:sp>
      <p:sp>
        <p:nvSpPr>
          <p:cNvPr id="29" name="Shape 27"/>
          <p:cNvSpPr/>
          <p:nvPr/>
        </p:nvSpPr>
        <p:spPr>
          <a:xfrm>
            <a:off x="5257800" y="3814354"/>
            <a:ext cx="2377440" cy="0"/>
          </a:xfrm>
          <a:prstGeom prst="line">
            <a:avLst/>
          </a:prstGeom>
          <a:noFill/>
          <a:ln w="7620">
            <a:solidFill>
              <a:srgbClr val="B8C4D3"/>
            </a:solidFill>
            <a:prstDash val="solid"/>
          </a:ln>
        </p:spPr>
      </p:sp>
      <p:sp>
        <p:nvSpPr>
          <p:cNvPr id="30" name="Shape 28"/>
          <p:cNvSpPr/>
          <p:nvPr/>
        </p:nvSpPr>
        <p:spPr>
          <a:xfrm>
            <a:off x="6955971" y="2286000"/>
            <a:ext cx="0" cy="2377440"/>
          </a:xfrm>
          <a:prstGeom prst="line">
            <a:avLst/>
          </a:prstGeom>
          <a:noFill/>
          <a:ln w="7620">
            <a:solidFill>
              <a:srgbClr val="B8C4D3"/>
            </a:solidFill>
            <a:prstDash val="solid"/>
          </a:ln>
        </p:spPr>
      </p:sp>
      <p:sp>
        <p:nvSpPr>
          <p:cNvPr id="31" name="Shape 29"/>
          <p:cNvSpPr/>
          <p:nvPr/>
        </p:nvSpPr>
        <p:spPr>
          <a:xfrm>
            <a:off x="5257800" y="3984171"/>
            <a:ext cx="2377440" cy="0"/>
          </a:xfrm>
          <a:prstGeom prst="line">
            <a:avLst/>
          </a:prstGeom>
          <a:noFill/>
          <a:ln w="7620">
            <a:solidFill>
              <a:srgbClr val="B8C4D3"/>
            </a:solidFill>
            <a:prstDash val="solid"/>
          </a:ln>
        </p:spPr>
      </p:sp>
      <p:sp>
        <p:nvSpPr>
          <p:cNvPr id="32" name="Shape 30"/>
          <p:cNvSpPr/>
          <p:nvPr/>
        </p:nvSpPr>
        <p:spPr>
          <a:xfrm>
            <a:off x="7125789" y="2286000"/>
            <a:ext cx="0" cy="2377440"/>
          </a:xfrm>
          <a:prstGeom prst="line">
            <a:avLst/>
          </a:prstGeom>
          <a:noFill/>
          <a:ln w="7620">
            <a:solidFill>
              <a:srgbClr val="B8C4D3"/>
            </a:solidFill>
            <a:prstDash val="solid"/>
          </a:ln>
        </p:spPr>
      </p:sp>
      <p:sp>
        <p:nvSpPr>
          <p:cNvPr id="33" name="Shape 31"/>
          <p:cNvSpPr/>
          <p:nvPr/>
        </p:nvSpPr>
        <p:spPr>
          <a:xfrm>
            <a:off x="5257800" y="4153989"/>
            <a:ext cx="2377440" cy="0"/>
          </a:xfrm>
          <a:prstGeom prst="line">
            <a:avLst/>
          </a:prstGeom>
          <a:noFill/>
          <a:ln w="7620">
            <a:solidFill>
              <a:srgbClr val="B8C4D3"/>
            </a:solidFill>
            <a:prstDash val="solid"/>
          </a:ln>
        </p:spPr>
      </p:sp>
      <p:sp>
        <p:nvSpPr>
          <p:cNvPr id="34" name="Shape 32"/>
          <p:cNvSpPr/>
          <p:nvPr/>
        </p:nvSpPr>
        <p:spPr>
          <a:xfrm>
            <a:off x="7295606" y="2286000"/>
            <a:ext cx="0" cy="2377440"/>
          </a:xfrm>
          <a:prstGeom prst="line">
            <a:avLst/>
          </a:prstGeom>
          <a:noFill/>
          <a:ln w="7620">
            <a:solidFill>
              <a:srgbClr val="B8C4D3"/>
            </a:solidFill>
            <a:prstDash val="solid"/>
          </a:ln>
        </p:spPr>
      </p:sp>
      <p:sp>
        <p:nvSpPr>
          <p:cNvPr id="35" name="Shape 33"/>
          <p:cNvSpPr/>
          <p:nvPr/>
        </p:nvSpPr>
        <p:spPr>
          <a:xfrm>
            <a:off x="5257800" y="4323806"/>
            <a:ext cx="2377440" cy="0"/>
          </a:xfrm>
          <a:prstGeom prst="line">
            <a:avLst/>
          </a:prstGeom>
          <a:noFill/>
          <a:ln w="7620">
            <a:solidFill>
              <a:srgbClr val="B8C4D3"/>
            </a:solidFill>
            <a:prstDash val="solid"/>
          </a:ln>
        </p:spPr>
      </p:sp>
      <p:sp>
        <p:nvSpPr>
          <p:cNvPr id="36" name="Shape 34"/>
          <p:cNvSpPr/>
          <p:nvPr/>
        </p:nvSpPr>
        <p:spPr>
          <a:xfrm>
            <a:off x="7465423" y="2286000"/>
            <a:ext cx="0" cy="2377440"/>
          </a:xfrm>
          <a:prstGeom prst="line">
            <a:avLst/>
          </a:prstGeom>
          <a:noFill/>
          <a:ln w="7620">
            <a:solidFill>
              <a:srgbClr val="B8C4D3"/>
            </a:solidFill>
            <a:prstDash val="solid"/>
          </a:ln>
        </p:spPr>
      </p:sp>
      <p:sp>
        <p:nvSpPr>
          <p:cNvPr id="37" name="Shape 35"/>
          <p:cNvSpPr/>
          <p:nvPr/>
        </p:nvSpPr>
        <p:spPr>
          <a:xfrm>
            <a:off x="5257800" y="4493623"/>
            <a:ext cx="2377440" cy="0"/>
          </a:xfrm>
          <a:prstGeom prst="line">
            <a:avLst/>
          </a:prstGeom>
          <a:noFill/>
          <a:ln w="7620">
            <a:solidFill>
              <a:srgbClr val="B8C4D3"/>
            </a:solidFill>
            <a:prstDash val="solid"/>
          </a:ln>
        </p:spPr>
      </p:sp>
      <p:sp>
        <p:nvSpPr>
          <p:cNvPr id="38" name="Shape 36"/>
          <p:cNvSpPr/>
          <p:nvPr/>
        </p:nvSpPr>
        <p:spPr>
          <a:xfrm>
            <a:off x="5257800" y="2286000"/>
            <a:ext cx="2377440" cy="2377440"/>
          </a:xfrm>
          <a:prstGeom prst="rect">
            <a:avLst/>
          </a:prstGeom>
          <a:ln w="28575">
            <a:solidFill>
              <a:srgbClr val="2E86AB"/>
            </a:solidFill>
            <a:prstDash val="solid"/>
          </a:ln>
        </p:spPr>
      </p:sp>
      <p:sp>
        <p:nvSpPr>
          <p:cNvPr id="39" name="Shape 37"/>
          <p:cNvSpPr/>
          <p:nvPr/>
        </p:nvSpPr>
        <p:spPr>
          <a:xfrm>
            <a:off x="6276703" y="3304903"/>
            <a:ext cx="169817" cy="169817"/>
          </a:xfrm>
          <a:prstGeom prst="rect">
            <a:avLst/>
          </a:prstGeom>
          <a:solidFill>
            <a:srgbClr val="2E86AB">
              <a:alpha val="75000"/>
            </a:srgbClr>
          </a:solidFill>
          <a:ln w="15875">
            <a:solidFill>
              <a:srgbClr val="2E86AB"/>
            </a:solidFill>
            <a:prstDash val="solid"/>
          </a:ln>
        </p:spPr>
      </p:sp>
      <p:sp>
        <p:nvSpPr>
          <p:cNvPr id="40" name="Text 38"/>
          <p:cNvSpPr txBox="1"/>
          <p:nvPr/>
        </p:nvSpPr>
        <p:spPr>
          <a:xfrm>
            <a:off x="5303520" y="2304288"/>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224 px = 2.24 km</a:t>
            </a:r>
            <a:endParaRPr lang="en-US" sz="850" dirty="0"/>
          </a:p>
        </p:txBody>
      </p:sp>
      <p:sp>
        <p:nvSpPr>
          <p:cNvPr id="41" name="Text 39"/>
          <p:cNvSpPr txBox="1"/>
          <p:nvPr/>
        </p:nvSpPr>
        <p:spPr>
          <a:xfrm>
            <a:off x="6583680" y="3200400"/>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token 16 px = 160 m</a:t>
            </a:r>
            <a:endParaRPr lang="en-US" sz="850" dirty="0"/>
          </a:p>
        </p:txBody>
      </p:sp>
      <p:sp>
        <p:nvSpPr>
          <p:cNvPr id="42" name="Text 40"/>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Tile: 224 × 224 px @ 10 m = 2.24 km × 2.24 km.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Token: 16 × 16 px = 160 m; 14 × 14 grid per modality.</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Up to ~9 modality sheets, each with its own tokenizer.</a:t>
            </a:r>
            <a:endParaRPr lang="en-US" sz="950" dirty="0"/>
          </a:p>
        </p:txBody>
      </p:sp>
      <p:sp>
        <p:nvSpPr>
          <p:cNvPr id="43" name="Text 41"/>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44" name="Shape 42"/>
          <p:cNvSpPr/>
          <p:nvPr/>
        </p:nvSpPr>
        <p:spPr>
          <a:xfrm>
            <a:off x="8092440" y="3760013"/>
            <a:ext cx="2240280" cy="0"/>
          </a:xfrm>
          <a:prstGeom prst="line">
            <a:avLst/>
          </a:prstGeom>
          <a:noFill/>
          <a:ln w="12700">
            <a:solidFill>
              <a:srgbClr val="1B2430"/>
            </a:solidFill>
            <a:prstDash val="solid"/>
            <a:tailEnd type="triangle"/>
          </a:ln>
        </p:spPr>
      </p:sp>
      <p:sp>
        <p:nvSpPr>
          <p:cNvPr id="45" name="Text 43"/>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46" name="Shape 44"/>
          <p:cNvSpPr/>
          <p:nvPr/>
        </p:nvSpPr>
        <p:spPr>
          <a:xfrm>
            <a:off x="8185785" y="3723437"/>
            <a:ext cx="0" cy="73152"/>
          </a:xfrm>
          <a:prstGeom prst="line">
            <a:avLst/>
          </a:prstGeom>
          <a:noFill/>
          <a:ln w="9525">
            <a:solidFill>
              <a:srgbClr val="1B2430"/>
            </a:solidFill>
            <a:prstDash val="solid"/>
          </a:ln>
        </p:spPr>
      </p:sp>
      <p:sp>
        <p:nvSpPr>
          <p:cNvPr id="47" name="Shape 45"/>
          <p:cNvSpPr/>
          <p:nvPr/>
        </p:nvSpPr>
        <p:spPr>
          <a:xfrm>
            <a:off x="8372475" y="3723437"/>
            <a:ext cx="0" cy="73152"/>
          </a:xfrm>
          <a:prstGeom prst="line">
            <a:avLst/>
          </a:prstGeom>
          <a:noFill/>
          <a:ln w="9525">
            <a:solidFill>
              <a:srgbClr val="1B2430"/>
            </a:solidFill>
            <a:prstDash val="solid"/>
          </a:ln>
        </p:spPr>
      </p:sp>
      <p:sp>
        <p:nvSpPr>
          <p:cNvPr id="48" name="Shape 46"/>
          <p:cNvSpPr/>
          <p:nvPr/>
        </p:nvSpPr>
        <p:spPr>
          <a:xfrm>
            <a:off x="8559165" y="3723437"/>
            <a:ext cx="0" cy="73152"/>
          </a:xfrm>
          <a:prstGeom prst="line">
            <a:avLst/>
          </a:prstGeom>
          <a:noFill/>
          <a:ln w="9525">
            <a:solidFill>
              <a:srgbClr val="1B2430"/>
            </a:solidFill>
            <a:prstDash val="solid"/>
          </a:ln>
        </p:spPr>
      </p:sp>
      <p:sp>
        <p:nvSpPr>
          <p:cNvPr id="49" name="Shape 47"/>
          <p:cNvSpPr/>
          <p:nvPr/>
        </p:nvSpPr>
        <p:spPr>
          <a:xfrm>
            <a:off x="8745855" y="3723437"/>
            <a:ext cx="0" cy="73152"/>
          </a:xfrm>
          <a:prstGeom prst="line">
            <a:avLst/>
          </a:prstGeom>
          <a:noFill/>
          <a:ln w="9525">
            <a:solidFill>
              <a:srgbClr val="1B2430"/>
            </a:solidFill>
            <a:prstDash val="solid"/>
          </a:ln>
        </p:spPr>
      </p:sp>
      <p:sp>
        <p:nvSpPr>
          <p:cNvPr id="50" name="Shape 48"/>
          <p:cNvSpPr/>
          <p:nvPr/>
        </p:nvSpPr>
        <p:spPr>
          <a:xfrm>
            <a:off x="8932545" y="3723437"/>
            <a:ext cx="0" cy="73152"/>
          </a:xfrm>
          <a:prstGeom prst="line">
            <a:avLst/>
          </a:prstGeom>
          <a:noFill/>
          <a:ln w="9525">
            <a:solidFill>
              <a:srgbClr val="1B2430"/>
            </a:solidFill>
            <a:prstDash val="solid"/>
          </a:ln>
        </p:spPr>
      </p:sp>
      <p:sp>
        <p:nvSpPr>
          <p:cNvPr id="51" name="Shape 49"/>
          <p:cNvSpPr/>
          <p:nvPr/>
        </p:nvSpPr>
        <p:spPr>
          <a:xfrm>
            <a:off x="9119235" y="3723437"/>
            <a:ext cx="0" cy="73152"/>
          </a:xfrm>
          <a:prstGeom prst="line">
            <a:avLst/>
          </a:prstGeom>
          <a:noFill/>
          <a:ln w="9525">
            <a:solidFill>
              <a:srgbClr val="1B2430"/>
            </a:solidFill>
            <a:prstDash val="solid"/>
          </a:ln>
        </p:spPr>
      </p:sp>
      <p:sp>
        <p:nvSpPr>
          <p:cNvPr id="52" name="Shape 50"/>
          <p:cNvSpPr/>
          <p:nvPr/>
        </p:nvSpPr>
        <p:spPr>
          <a:xfrm>
            <a:off x="9305925" y="3723437"/>
            <a:ext cx="0" cy="73152"/>
          </a:xfrm>
          <a:prstGeom prst="line">
            <a:avLst/>
          </a:prstGeom>
          <a:noFill/>
          <a:ln w="9525">
            <a:solidFill>
              <a:srgbClr val="1B2430"/>
            </a:solidFill>
            <a:prstDash val="solid"/>
          </a:ln>
        </p:spPr>
      </p:sp>
      <p:sp>
        <p:nvSpPr>
          <p:cNvPr id="53" name="Shape 51"/>
          <p:cNvSpPr/>
          <p:nvPr/>
        </p:nvSpPr>
        <p:spPr>
          <a:xfrm>
            <a:off x="9492615" y="3723437"/>
            <a:ext cx="0" cy="73152"/>
          </a:xfrm>
          <a:prstGeom prst="line">
            <a:avLst/>
          </a:prstGeom>
          <a:noFill/>
          <a:ln w="9525">
            <a:solidFill>
              <a:srgbClr val="1B2430"/>
            </a:solidFill>
            <a:prstDash val="solid"/>
          </a:ln>
        </p:spPr>
      </p:sp>
      <p:sp>
        <p:nvSpPr>
          <p:cNvPr id="54" name="Shape 52"/>
          <p:cNvSpPr/>
          <p:nvPr/>
        </p:nvSpPr>
        <p:spPr>
          <a:xfrm>
            <a:off x="9679305" y="3723437"/>
            <a:ext cx="0" cy="73152"/>
          </a:xfrm>
          <a:prstGeom prst="line">
            <a:avLst/>
          </a:prstGeom>
          <a:noFill/>
          <a:ln w="9525">
            <a:solidFill>
              <a:srgbClr val="1B2430"/>
            </a:solidFill>
            <a:prstDash val="solid"/>
          </a:ln>
        </p:spPr>
      </p:sp>
      <p:sp>
        <p:nvSpPr>
          <p:cNvPr id="55" name="Shape 53"/>
          <p:cNvSpPr/>
          <p:nvPr/>
        </p:nvSpPr>
        <p:spPr>
          <a:xfrm>
            <a:off x="9865995" y="3723437"/>
            <a:ext cx="0" cy="73152"/>
          </a:xfrm>
          <a:prstGeom prst="line">
            <a:avLst/>
          </a:prstGeom>
          <a:noFill/>
          <a:ln w="9525">
            <a:solidFill>
              <a:srgbClr val="1B2430"/>
            </a:solidFill>
            <a:prstDash val="solid"/>
          </a:ln>
        </p:spPr>
      </p:sp>
      <p:sp>
        <p:nvSpPr>
          <p:cNvPr id="56" name="Shape 54"/>
          <p:cNvSpPr/>
          <p:nvPr/>
        </p:nvSpPr>
        <p:spPr>
          <a:xfrm>
            <a:off x="10052685" y="3723437"/>
            <a:ext cx="0" cy="73152"/>
          </a:xfrm>
          <a:prstGeom prst="line">
            <a:avLst/>
          </a:prstGeom>
          <a:noFill/>
          <a:ln w="9525">
            <a:solidFill>
              <a:srgbClr val="1B2430"/>
            </a:solidFill>
            <a:prstDash val="solid"/>
          </a:ln>
        </p:spPr>
      </p:sp>
      <p:sp>
        <p:nvSpPr>
          <p:cNvPr id="57" name="Shape 55"/>
          <p:cNvSpPr/>
          <p:nvPr/>
        </p:nvSpPr>
        <p:spPr>
          <a:xfrm>
            <a:off x="10239375" y="3723437"/>
            <a:ext cx="0" cy="73152"/>
          </a:xfrm>
          <a:prstGeom prst="line">
            <a:avLst/>
          </a:prstGeom>
          <a:noFill/>
          <a:ln w="9525">
            <a:solidFill>
              <a:srgbClr val="1B2430"/>
            </a:solidFill>
            <a:prstDash val="solid"/>
          </a:ln>
        </p:spPr>
      </p:sp>
      <p:sp>
        <p:nvSpPr>
          <p:cNvPr id="58" name="Shape 56"/>
          <p:cNvSpPr/>
          <p:nvPr/>
        </p:nvSpPr>
        <p:spPr>
          <a:xfrm>
            <a:off x="9212580" y="2560320"/>
            <a:ext cx="0" cy="1199693"/>
          </a:xfrm>
          <a:prstGeom prst="line">
            <a:avLst/>
          </a:prstGeom>
          <a:noFill/>
          <a:ln w="28575">
            <a:solidFill>
              <a:srgbClr val="E07A2F"/>
            </a:solidFill>
            <a:prstDash val="solid"/>
          </a:ln>
        </p:spPr>
      </p:sp>
      <p:sp>
        <p:nvSpPr>
          <p:cNvPr id="59" name="Shape 57"/>
          <p:cNvSpPr/>
          <p:nvPr/>
        </p:nvSpPr>
        <p:spPr>
          <a:xfrm>
            <a:off x="9148572" y="3696005"/>
            <a:ext cx="128016" cy="128016"/>
          </a:xfrm>
          <a:prstGeom prst="ellipse">
            <a:avLst/>
          </a:prstGeom>
          <a:solidFill>
            <a:srgbClr val="E07A2F"/>
          </a:solidFill>
          <a:ln w="12700">
            <a:solidFill>
              <a:srgbClr val="333333"/>
            </a:solidFill>
            <a:prstDash val="solid"/>
          </a:ln>
        </p:spPr>
      </p:sp>
      <p:sp>
        <p:nvSpPr>
          <p:cNvPr id="60" name="Text 58"/>
          <p:cNvSpPr txBox="1"/>
          <p:nvPr/>
        </p:nvSpPr>
        <p:spPr>
          <a:xfrm>
            <a:off x="8298180" y="2304288"/>
            <a:ext cx="1828800" cy="228600"/>
          </a:xfrm>
          <a:prstGeom prst="rect">
            <a:avLst/>
          </a:prstGeom>
          <a:noFill/>
          <a:ln/>
        </p:spPr>
        <p:txBody>
          <a:bodyPr wrap="square" lIns="0" tIns="0" rIns="0" bIns="0" rtlCol="0" anchor="ctr"/>
          <a:lstStyle/>
          <a:p>
            <a:pPr algn="ctr" indent="0" marL="0">
              <a:buNone/>
            </a:pPr>
            <a:r>
              <a:rPr lang="en-US" sz="850" b="1" dirty="0">
                <a:solidFill>
                  <a:srgbClr val="E07A2F"/>
                </a:solidFill>
                <a:latin typeface="Calibri" pitchFamily="34" charset="0"/>
                <a:ea typeface="Calibri" pitchFamily="34" charset="-122"/>
                <a:cs typeface="Calibri" pitchFamily="34" charset="-120"/>
              </a:rPr>
              <a:t>one co-registered timestamp</a:t>
            </a:r>
            <a:endParaRPr lang="en-US" sz="850" dirty="0"/>
          </a:p>
        </p:txBody>
      </p:sp>
      <p:sp>
        <p:nvSpPr>
          <p:cNvPr id="61" name="Text 59"/>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All modalities come from the same date and place.</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A sample is a snapshot: every modality is aligned to one acquisition.</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Temporal change is not part of the pretraining stencil.</a:t>
            </a:r>
            <a:endParaRPr lang="en-US" sz="950" dirty="0"/>
          </a:p>
        </p:txBody>
      </p:sp>
      <p:sp>
        <p:nvSpPr>
          <p:cNvPr id="62" name="Shape 60"/>
          <p:cNvSpPr/>
          <p:nvPr/>
        </p:nvSpPr>
        <p:spPr>
          <a:xfrm>
            <a:off x="10424160" y="3337560"/>
            <a:ext cx="274320" cy="274320"/>
          </a:xfrm>
          <a:prstGeom prst="rightArrow">
            <a:avLst/>
          </a:prstGeom>
          <a:solidFill>
            <a:srgbClr val="B8C4D3"/>
          </a:solidFill>
          <a:ln w="12700">
            <a:solidFill>
              <a:srgbClr val="B8C4D3"/>
            </a:solidFill>
            <a:prstDash val="solid"/>
          </a:ln>
        </p:spPr>
      </p:sp>
      <p:sp>
        <p:nvSpPr>
          <p:cNvPr id="63" name="Shape 61"/>
          <p:cNvSpPr/>
          <p:nvPr/>
        </p:nvSpPr>
        <p:spPr>
          <a:xfrm>
            <a:off x="7744968" y="3337560"/>
            <a:ext cx="274320" cy="274320"/>
          </a:xfrm>
          <a:prstGeom prst="rightArrow">
            <a:avLst/>
          </a:prstGeom>
          <a:solidFill>
            <a:srgbClr val="B8C4D3"/>
          </a:solidFill>
          <a:ln w="12700">
            <a:solidFill>
              <a:srgbClr val="B8C4D3"/>
            </a:solidFill>
            <a:prstDash val="solid"/>
          </a:ln>
        </p:spPr>
      </p:sp>
      <p:sp>
        <p:nvSpPr>
          <p:cNvPr id="64" name="Text 62"/>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65" name="Shape 63"/>
          <p:cNvSpPr/>
          <p:nvPr/>
        </p:nvSpPr>
        <p:spPr>
          <a:xfrm>
            <a:off x="10698480" y="2606040"/>
            <a:ext cx="685800" cy="217170"/>
          </a:xfrm>
          <a:prstGeom prst="rect">
            <a:avLst/>
          </a:prstGeom>
          <a:solidFill>
            <a:srgbClr val="6A4C93"/>
          </a:solidFill>
          <a:ln w="9525">
            <a:solidFill>
              <a:srgbClr val="FFFFFF"/>
            </a:solidFill>
            <a:prstDash val="solid"/>
          </a:ln>
        </p:spPr>
      </p:sp>
      <p:sp>
        <p:nvSpPr>
          <p:cNvPr id="66" name="Shape 64"/>
          <p:cNvSpPr/>
          <p:nvPr/>
        </p:nvSpPr>
        <p:spPr>
          <a:xfrm>
            <a:off x="10698480" y="2823210"/>
            <a:ext cx="685800" cy="217170"/>
          </a:xfrm>
          <a:prstGeom prst="rect">
            <a:avLst/>
          </a:prstGeom>
          <a:solidFill>
            <a:srgbClr val="7B5EA7"/>
          </a:solidFill>
          <a:ln w="9525">
            <a:solidFill>
              <a:srgbClr val="FFFFFF"/>
            </a:solidFill>
            <a:prstDash val="solid"/>
          </a:ln>
        </p:spPr>
      </p:sp>
      <p:sp>
        <p:nvSpPr>
          <p:cNvPr id="67" name="Shape 65"/>
          <p:cNvSpPr/>
          <p:nvPr/>
        </p:nvSpPr>
        <p:spPr>
          <a:xfrm>
            <a:off x="10698480" y="3040380"/>
            <a:ext cx="685800" cy="217170"/>
          </a:xfrm>
          <a:prstGeom prst="rect">
            <a:avLst/>
          </a:prstGeom>
          <a:solidFill>
            <a:srgbClr val="8C70BA"/>
          </a:solidFill>
          <a:ln w="9525">
            <a:solidFill>
              <a:srgbClr val="FFFFFF"/>
            </a:solidFill>
            <a:prstDash val="solid"/>
          </a:ln>
        </p:spPr>
      </p:sp>
      <p:sp>
        <p:nvSpPr>
          <p:cNvPr id="68" name="Shape 66"/>
          <p:cNvSpPr/>
          <p:nvPr/>
        </p:nvSpPr>
        <p:spPr>
          <a:xfrm>
            <a:off x="10698480" y="3257550"/>
            <a:ext cx="685800" cy="217170"/>
          </a:xfrm>
          <a:prstGeom prst="rect">
            <a:avLst/>
          </a:prstGeom>
          <a:solidFill>
            <a:srgbClr val="9D82CD"/>
          </a:solidFill>
          <a:ln w="9525">
            <a:solidFill>
              <a:srgbClr val="FFFFFF"/>
            </a:solidFill>
            <a:prstDash val="solid"/>
          </a:ln>
        </p:spPr>
      </p:sp>
      <p:sp>
        <p:nvSpPr>
          <p:cNvPr id="69" name="Shape 67"/>
          <p:cNvSpPr/>
          <p:nvPr/>
        </p:nvSpPr>
        <p:spPr>
          <a:xfrm>
            <a:off x="10698480" y="3474720"/>
            <a:ext cx="685800" cy="217170"/>
          </a:xfrm>
          <a:prstGeom prst="rect">
            <a:avLst/>
          </a:prstGeom>
          <a:solidFill>
            <a:srgbClr val="8C70BA"/>
          </a:solidFill>
          <a:ln w="9525">
            <a:solidFill>
              <a:srgbClr val="FFFFFF"/>
            </a:solidFill>
            <a:prstDash val="solid"/>
          </a:ln>
        </p:spPr>
      </p:sp>
      <p:sp>
        <p:nvSpPr>
          <p:cNvPr id="70" name="Shape 68"/>
          <p:cNvSpPr/>
          <p:nvPr/>
        </p:nvSpPr>
        <p:spPr>
          <a:xfrm>
            <a:off x="10698480" y="3691890"/>
            <a:ext cx="685800" cy="217170"/>
          </a:xfrm>
          <a:prstGeom prst="rect">
            <a:avLst/>
          </a:prstGeom>
          <a:solidFill>
            <a:srgbClr val="7B5EA7"/>
          </a:solidFill>
          <a:ln w="9525">
            <a:solidFill>
              <a:srgbClr val="FFFFFF"/>
            </a:solidFill>
            <a:prstDash val="solid"/>
          </a:ln>
        </p:spPr>
      </p:sp>
      <p:sp>
        <p:nvSpPr>
          <p:cNvPr id="71" name="Shape 69"/>
          <p:cNvSpPr/>
          <p:nvPr/>
        </p:nvSpPr>
        <p:spPr>
          <a:xfrm>
            <a:off x="10698480" y="3909060"/>
            <a:ext cx="685800" cy="217170"/>
          </a:xfrm>
          <a:prstGeom prst="rect">
            <a:avLst/>
          </a:prstGeom>
          <a:solidFill>
            <a:srgbClr val="6A4C93"/>
          </a:solidFill>
          <a:ln w="9525">
            <a:solidFill>
              <a:srgbClr val="FFFFFF"/>
            </a:solidFill>
            <a:prstDash val="solid"/>
          </a:ln>
        </p:spPr>
      </p:sp>
      <p:sp>
        <p:nvSpPr>
          <p:cNvPr id="72" name="Shape 70"/>
          <p:cNvSpPr/>
          <p:nvPr/>
        </p:nvSpPr>
        <p:spPr>
          <a:xfrm>
            <a:off x="10698480" y="4126230"/>
            <a:ext cx="685800" cy="217170"/>
          </a:xfrm>
          <a:prstGeom prst="rect">
            <a:avLst/>
          </a:prstGeom>
          <a:solidFill>
            <a:srgbClr val="5A3D80"/>
          </a:solidFill>
          <a:ln w="9525">
            <a:solidFill>
              <a:srgbClr val="FFFFFF"/>
            </a:solidFill>
            <a:prstDash val="solid"/>
          </a:ln>
        </p:spPr>
      </p:sp>
      <p:sp>
        <p:nvSpPr>
          <p:cNvPr id="73" name="Text 71"/>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768-D</a:t>
            </a:r>
            <a:endParaRPr lang="en-US" sz="1200" dirty="0"/>
          </a:p>
        </p:txBody>
      </p:sp>
      <p:sp>
        <p:nvSpPr>
          <p:cNvPr id="74" name="Text 72"/>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160 m token, per modality (Base; Large 1024-D)</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or merged per tile</a:t>
            </a:r>
            <a:endParaRPr lang="en-US" sz="850" dirty="0"/>
          </a:p>
        </p:txBody>
      </p:sp>
      <p:sp>
        <p:nvSpPr>
          <p:cNvPr id="75" name="Text 7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Prithvi-EO 2.0 (IBM + NASA)</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Multi-temporal HLS masked autoencoder at 30 m; 300 M and 600 M, with temporal-location (TL) variants</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150" b="1" dirty="0">
                <a:solidFill>
                  <a:srgbClr val="1C7293"/>
                </a:solidFill>
                <a:latin typeface="Calibri" pitchFamily="34" charset="0"/>
                <a:ea typeface="Calibri" pitchFamily="34" charset="-122"/>
                <a:cs typeface="Calibri" pitchFamily="34" charset="-120"/>
              </a:rPr>
              <a:t>Who / when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IBM Research + NASA IMPACT, trained at JSC; arXiv 2412.02732 (Dec 2024, v3 Mar 2026). Weights on Hugging Face (ibm-nasa-geospatial); fine-tuning via TerraTorch. Succeeds Prithvi-EO 1.0 (100 M).</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Inputs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HLS v2 (Harmonized Landsat–Sentinel-2) at 30 m, 6 bands (B02–B07: blue, green, red, NIR-narrow, SWIR1, SWIR2). 4.2 M training samples, 2014–2023; sea-only tiles removed with Fmask, Greenland excluded.</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Architecture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ViT-L (300 M: 1024-D, 24 layers) / ViT-H (600 M: 1280-D, 32 layers) masked autoencoder, mask ratio 0.75, 3D sin-cos positions. TL variants add lat/lon + date encodings with metadata dropout.</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Stencil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Tile 224 × 224 px @ 30 m = 6.72 km. Token 16 px = 480 m (300 M) or 14 px = 420 m (600 M); tubelet depth 1, so each of 4 timestamps gets its own token grid. Frames 1–6 months apart (seasonal), not a fixed window; single-frame inference supported.</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Output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4 × 196 (or 4 × 256) tokens of 1024/1280-D. No precomputed embedding product; typical use is full fine-tuning of encoder + light decoder.</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Results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GEO-Bench: 600 M-TL best on average, ~8 % over v1.0 and ahead of six other GFMs incl. DOFA and Scale-MAE (per-set numbers are charts); tasks: floods, burn scars, crops, landslides, PASTIS, Sen4Map.</a:t>
            </a:r>
            <a:endParaRPr lang="en-US" sz="1150" dirty="0"/>
          </a:p>
          <a:p>
            <a:pPr indent="0" marL="0">
              <a:buNone/>
            </a:pPr>
            <a:r>
              <a:rPr lang="en-US" sz="1150" b="1" dirty="0">
                <a:solidFill>
                  <a:srgbClr val="1C7293"/>
                </a:solidFill>
                <a:latin typeface="Calibri" pitchFamily="34" charset="0"/>
                <a:ea typeface="Calibri" pitchFamily="34" charset="-122"/>
                <a:cs typeface="Calibri" pitchFamily="34" charset="-120"/>
              </a:rPr>
              <a:t>In orbit  </a:t>
            </a:r>
            <a:pPr indent="0" marL="0">
              <a:spcAft>
                <a:spcPts val="700"/>
              </a:spcAft>
              <a:buNone/>
            </a:pPr>
            <a:r>
              <a:rPr lang="en-US" sz="1150" dirty="0">
                <a:solidFill>
                  <a:srgbClr val="1B2430"/>
                </a:solidFill>
                <a:latin typeface="Calibri" pitchFamily="34" charset="0"/>
                <a:ea typeface="Calibri" pitchFamily="34" charset="-122"/>
                <a:cs typeface="Calibri" pitchFamily="34" charset="-120"/>
              </a:rPr>
              <a:t>May 2026: deployed on Kanyini satellite and ISS IMAGIN-e for onboard flood/cloud detection (still the 2.0 architecture).</a:t>
            </a:r>
            <a:endParaRPr lang="en-US" sz="115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257800" y="2286000"/>
            <a:ext cx="2377440" cy="2377440"/>
          </a:xfrm>
          <a:prstGeom prst="rect">
            <a:avLst/>
          </a:prstGeom>
          <a:solidFill>
            <a:srgbClr val="FFFFFF"/>
          </a:solidFill>
          <a:ln w="9525">
            <a:solidFill>
              <a:srgbClr val="B8C4D3"/>
            </a:solidFill>
            <a:prstDash val="solid"/>
          </a:ln>
        </p:spPr>
      </p:sp>
      <p:sp>
        <p:nvSpPr>
          <p:cNvPr id="9" name="Shape 7"/>
          <p:cNvSpPr/>
          <p:nvPr/>
        </p:nvSpPr>
        <p:spPr>
          <a:xfrm>
            <a:off x="5427617" y="2286000"/>
            <a:ext cx="0" cy="2377440"/>
          </a:xfrm>
          <a:prstGeom prst="line">
            <a:avLst/>
          </a:prstGeom>
          <a:noFill/>
          <a:ln w="7620">
            <a:solidFill>
              <a:srgbClr val="B8C4D3"/>
            </a:solidFill>
            <a:prstDash val="solid"/>
          </a:ln>
        </p:spPr>
      </p:sp>
      <p:sp>
        <p:nvSpPr>
          <p:cNvPr id="10" name="Shape 8"/>
          <p:cNvSpPr/>
          <p:nvPr/>
        </p:nvSpPr>
        <p:spPr>
          <a:xfrm>
            <a:off x="5257800" y="2455817"/>
            <a:ext cx="2377440" cy="0"/>
          </a:xfrm>
          <a:prstGeom prst="line">
            <a:avLst/>
          </a:prstGeom>
          <a:noFill/>
          <a:ln w="7620">
            <a:solidFill>
              <a:srgbClr val="B8C4D3"/>
            </a:solidFill>
            <a:prstDash val="solid"/>
          </a:ln>
        </p:spPr>
      </p:sp>
      <p:sp>
        <p:nvSpPr>
          <p:cNvPr id="11" name="Shape 9"/>
          <p:cNvSpPr/>
          <p:nvPr/>
        </p:nvSpPr>
        <p:spPr>
          <a:xfrm>
            <a:off x="5597434" y="2286000"/>
            <a:ext cx="0" cy="2377440"/>
          </a:xfrm>
          <a:prstGeom prst="line">
            <a:avLst/>
          </a:prstGeom>
          <a:noFill/>
          <a:ln w="7620">
            <a:solidFill>
              <a:srgbClr val="B8C4D3"/>
            </a:solidFill>
            <a:prstDash val="solid"/>
          </a:ln>
        </p:spPr>
      </p:sp>
      <p:sp>
        <p:nvSpPr>
          <p:cNvPr id="12" name="Shape 10"/>
          <p:cNvSpPr/>
          <p:nvPr/>
        </p:nvSpPr>
        <p:spPr>
          <a:xfrm>
            <a:off x="5257800" y="2625634"/>
            <a:ext cx="2377440" cy="0"/>
          </a:xfrm>
          <a:prstGeom prst="line">
            <a:avLst/>
          </a:prstGeom>
          <a:noFill/>
          <a:ln w="7620">
            <a:solidFill>
              <a:srgbClr val="B8C4D3"/>
            </a:solidFill>
            <a:prstDash val="solid"/>
          </a:ln>
        </p:spPr>
      </p:sp>
      <p:sp>
        <p:nvSpPr>
          <p:cNvPr id="13" name="Shape 11"/>
          <p:cNvSpPr/>
          <p:nvPr/>
        </p:nvSpPr>
        <p:spPr>
          <a:xfrm>
            <a:off x="5767251" y="2286000"/>
            <a:ext cx="0" cy="2377440"/>
          </a:xfrm>
          <a:prstGeom prst="line">
            <a:avLst/>
          </a:prstGeom>
          <a:noFill/>
          <a:ln w="7620">
            <a:solidFill>
              <a:srgbClr val="B8C4D3"/>
            </a:solidFill>
            <a:prstDash val="solid"/>
          </a:ln>
        </p:spPr>
      </p:sp>
      <p:sp>
        <p:nvSpPr>
          <p:cNvPr id="14" name="Shape 12"/>
          <p:cNvSpPr/>
          <p:nvPr/>
        </p:nvSpPr>
        <p:spPr>
          <a:xfrm>
            <a:off x="5257800" y="2795451"/>
            <a:ext cx="2377440" cy="0"/>
          </a:xfrm>
          <a:prstGeom prst="line">
            <a:avLst/>
          </a:prstGeom>
          <a:noFill/>
          <a:ln w="7620">
            <a:solidFill>
              <a:srgbClr val="B8C4D3"/>
            </a:solidFill>
            <a:prstDash val="solid"/>
          </a:ln>
        </p:spPr>
      </p:sp>
      <p:sp>
        <p:nvSpPr>
          <p:cNvPr id="15" name="Shape 13"/>
          <p:cNvSpPr/>
          <p:nvPr/>
        </p:nvSpPr>
        <p:spPr>
          <a:xfrm>
            <a:off x="5937069" y="2286000"/>
            <a:ext cx="0" cy="2377440"/>
          </a:xfrm>
          <a:prstGeom prst="line">
            <a:avLst/>
          </a:prstGeom>
          <a:noFill/>
          <a:ln w="7620">
            <a:solidFill>
              <a:srgbClr val="B8C4D3"/>
            </a:solidFill>
            <a:prstDash val="solid"/>
          </a:ln>
        </p:spPr>
      </p:sp>
      <p:sp>
        <p:nvSpPr>
          <p:cNvPr id="16" name="Shape 14"/>
          <p:cNvSpPr/>
          <p:nvPr/>
        </p:nvSpPr>
        <p:spPr>
          <a:xfrm>
            <a:off x="5257800" y="2965269"/>
            <a:ext cx="2377440" cy="0"/>
          </a:xfrm>
          <a:prstGeom prst="line">
            <a:avLst/>
          </a:prstGeom>
          <a:noFill/>
          <a:ln w="7620">
            <a:solidFill>
              <a:srgbClr val="B8C4D3"/>
            </a:solidFill>
            <a:prstDash val="solid"/>
          </a:ln>
        </p:spPr>
      </p:sp>
      <p:sp>
        <p:nvSpPr>
          <p:cNvPr id="17" name="Shape 15"/>
          <p:cNvSpPr/>
          <p:nvPr/>
        </p:nvSpPr>
        <p:spPr>
          <a:xfrm>
            <a:off x="6106886" y="2286000"/>
            <a:ext cx="0" cy="2377440"/>
          </a:xfrm>
          <a:prstGeom prst="line">
            <a:avLst/>
          </a:prstGeom>
          <a:noFill/>
          <a:ln w="7620">
            <a:solidFill>
              <a:srgbClr val="B8C4D3"/>
            </a:solidFill>
            <a:prstDash val="solid"/>
          </a:ln>
        </p:spPr>
      </p:sp>
      <p:sp>
        <p:nvSpPr>
          <p:cNvPr id="18" name="Shape 16"/>
          <p:cNvSpPr/>
          <p:nvPr/>
        </p:nvSpPr>
        <p:spPr>
          <a:xfrm>
            <a:off x="5257800" y="3135086"/>
            <a:ext cx="2377440" cy="0"/>
          </a:xfrm>
          <a:prstGeom prst="line">
            <a:avLst/>
          </a:prstGeom>
          <a:noFill/>
          <a:ln w="7620">
            <a:solidFill>
              <a:srgbClr val="B8C4D3"/>
            </a:solidFill>
            <a:prstDash val="solid"/>
          </a:ln>
        </p:spPr>
      </p:sp>
      <p:sp>
        <p:nvSpPr>
          <p:cNvPr id="19" name="Shape 17"/>
          <p:cNvSpPr/>
          <p:nvPr/>
        </p:nvSpPr>
        <p:spPr>
          <a:xfrm>
            <a:off x="6276703" y="2286000"/>
            <a:ext cx="0" cy="2377440"/>
          </a:xfrm>
          <a:prstGeom prst="line">
            <a:avLst/>
          </a:prstGeom>
          <a:noFill/>
          <a:ln w="7620">
            <a:solidFill>
              <a:srgbClr val="B8C4D3"/>
            </a:solidFill>
            <a:prstDash val="solid"/>
          </a:ln>
        </p:spPr>
      </p:sp>
      <p:sp>
        <p:nvSpPr>
          <p:cNvPr id="20" name="Shape 18"/>
          <p:cNvSpPr/>
          <p:nvPr/>
        </p:nvSpPr>
        <p:spPr>
          <a:xfrm>
            <a:off x="5257800" y="3304903"/>
            <a:ext cx="2377440" cy="0"/>
          </a:xfrm>
          <a:prstGeom prst="line">
            <a:avLst/>
          </a:prstGeom>
          <a:noFill/>
          <a:ln w="7620">
            <a:solidFill>
              <a:srgbClr val="B8C4D3"/>
            </a:solidFill>
            <a:prstDash val="solid"/>
          </a:ln>
        </p:spPr>
      </p:sp>
      <p:sp>
        <p:nvSpPr>
          <p:cNvPr id="21" name="Shape 19"/>
          <p:cNvSpPr/>
          <p:nvPr/>
        </p:nvSpPr>
        <p:spPr>
          <a:xfrm>
            <a:off x="6446520" y="2286000"/>
            <a:ext cx="0" cy="2377440"/>
          </a:xfrm>
          <a:prstGeom prst="line">
            <a:avLst/>
          </a:prstGeom>
          <a:noFill/>
          <a:ln w="7620">
            <a:solidFill>
              <a:srgbClr val="B8C4D3"/>
            </a:solidFill>
            <a:prstDash val="solid"/>
          </a:ln>
        </p:spPr>
      </p:sp>
      <p:sp>
        <p:nvSpPr>
          <p:cNvPr id="22" name="Shape 20"/>
          <p:cNvSpPr/>
          <p:nvPr/>
        </p:nvSpPr>
        <p:spPr>
          <a:xfrm>
            <a:off x="5257800" y="3474720"/>
            <a:ext cx="2377440" cy="0"/>
          </a:xfrm>
          <a:prstGeom prst="line">
            <a:avLst/>
          </a:prstGeom>
          <a:noFill/>
          <a:ln w="7620">
            <a:solidFill>
              <a:srgbClr val="B8C4D3"/>
            </a:solidFill>
            <a:prstDash val="solid"/>
          </a:ln>
        </p:spPr>
      </p:sp>
      <p:sp>
        <p:nvSpPr>
          <p:cNvPr id="23" name="Shape 21"/>
          <p:cNvSpPr/>
          <p:nvPr/>
        </p:nvSpPr>
        <p:spPr>
          <a:xfrm>
            <a:off x="6616337" y="2286000"/>
            <a:ext cx="0" cy="2377440"/>
          </a:xfrm>
          <a:prstGeom prst="line">
            <a:avLst/>
          </a:prstGeom>
          <a:noFill/>
          <a:ln w="7620">
            <a:solidFill>
              <a:srgbClr val="B8C4D3"/>
            </a:solidFill>
            <a:prstDash val="solid"/>
          </a:ln>
        </p:spPr>
      </p:sp>
      <p:sp>
        <p:nvSpPr>
          <p:cNvPr id="24" name="Shape 22"/>
          <p:cNvSpPr/>
          <p:nvPr/>
        </p:nvSpPr>
        <p:spPr>
          <a:xfrm>
            <a:off x="5257800" y="3644537"/>
            <a:ext cx="2377440" cy="0"/>
          </a:xfrm>
          <a:prstGeom prst="line">
            <a:avLst/>
          </a:prstGeom>
          <a:noFill/>
          <a:ln w="7620">
            <a:solidFill>
              <a:srgbClr val="B8C4D3"/>
            </a:solidFill>
            <a:prstDash val="solid"/>
          </a:ln>
        </p:spPr>
      </p:sp>
      <p:sp>
        <p:nvSpPr>
          <p:cNvPr id="25" name="Shape 23"/>
          <p:cNvSpPr/>
          <p:nvPr/>
        </p:nvSpPr>
        <p:spPr>
          <a:xfrm>
            <a:off x="6786154" y="2286000"/>
            <a:ext cx="0" cy="2377440"/>
          </a:xfrm>
          <a:prstGeom prst="line">
            <a:avLst/>
          </a:prstGeom>
          <a:noFill/>
          <a:ln w="7620">
            <a:solidFill>
              <a:srgbClr val="B8C4D3"/>
            </a:solidFill>
            <a:prstDash val="solid"/>
          </a:ln>
        </p:spPr>
      </p:sp>
      <p:sp>
        <p:nvSpPr>
          <p:cNvPr id="26" name="Shape 24"/>
          <p:cNvSpPr/>
          <p:nvPr/>
        </p:nvSpPr>
        <p:spPr>
          <a:xfrm>
            <a:off x="5257800" y="3814354"/>
            <a:ext cx="2377440" cy="0"/>
          </a:xfrm>
          <a:prstGeom prst="line">
            <a:avLst/>
          </a:prstGeom>
          <a:noFill/>
          <a:ln w="7620">
            <a:solidFill>
              <a:srgbClr val="B8C4D3"/>
            </a:solidFill>
            <a:prstDash val="solid"/>
          </a:ln>
        </p:spPr>
      </p:sp>
      <p:sp>
        <p:nvSpPr>
          <p:cNvPr id="27" name="Shape 25"/>
          <p:cNvSpPr/>
          <p:nvPr/>
        </p:nvSpPr>
        <p:spPr>
          <a:xfrm>
            <a:off x="6955971" y="2286000"/>
            <a:ext cx="0" cy="2377440"/>
          </a:xfrm>
          <a:prstGeom prst="line">
            <a:avLst/>
          </a:prstGeom>
          <a:noFill/>
          <a:ln w="7620">
            <a:solidFill>
              <a:srgbClr val="B8C4D3"/>
            </a:solidFill>
            <a:prstDash val="solid"/>
          </a:ln>
        </p:spPr>
      </p:sp>
      <p:sp>
        <p:nvSpPr>
          <p:cNvPr id="28" name="Shape 26"/>
          <p:cNvSpPr/>
          <p:nvPr/>
        </p:nvSpPr>
        <p:spPr>
          <a:xfrm>
            <a:off x="5257800" y="3984171"/>
            <a:ext cx="2377440" cy="0"/>
          </a:xfrm>
          <a:prstGeom prst="line">
            <a:avLst/>
          </a:prstGeom>
          <a:noFill/>
          <a:ln w="7620">
            <a:solidFill>
              <a:srgbClr val="B8C4D3"/>
            </a:solidFill>
            <a:prstDash val="solid"/>
          </a:ln>
        </p:spPr>
      </p:sp>
      <p:sp>
        <p:nvSpPr>
          <p:cNvPr id="29" name="Shape 27"/>
          <p:cNvSpPr/>
          <p:nvPr/>
        </p:nvSpPr>
        <p:spPr>
          <a:xfrm>
            <a:off x="7125789" y="2286000"/>
            <a:ext cx="0" cy="2377440"/>
          </a:xfrm>
          <a:prstGeom prst="line">
            <a:avLst/>
          </a:prstGeom>
          <a:noFill/>
          <a:ln w="7620">
            <a:solidFill>
              <a:srgbClr val="B8C4D3"/>
            </a:solidFill>
            <a:prstDash val="solid"/>
          </a:ln>
        </p:spPr>
      </p:sp>
      <p:sp>
        <p:nvSpPr>
          <p:cNvPr id="30" name="Shape 28"/>
          <p:cNvSpPr/>
          <p:nvPr/>
        </p:nvSpPr>
        <p:spPr>
          <a:xfrm>
            <a:off x="5257800" y="4153989"/>
            <a:ext cx="2377440" cy="0"/>
          </a:xfrm>
          <a:prstGeom prst="line">
            <a:avLst/>
          </a:prstGeom>
          <a:noFill/>
          <a:ln w="7620">
            <a:solidFill>
              <a:srgbClr val="B8C4D3"/>
            </a:solidFill>
            <a:prstDash val="solid"/>
          </a:ln>
        </p:spPr>
      </p:sp>
      <p:sp>
        <p:nvSpPr>
          <p:cNvPr id="31" name="Shape 29"/>
          <p:cNvSpPr/>
          <p:nvPr/>
        </p:nvSpPr>
        <p:spPr>
          <a:xfrm>
            <a:off x="7295606" y="2286000"/>
            <a:ext cx="0" cy="2377440"/>
          </a:xfrm>
          <a:prstGeom prst="line">
            <a:avLst/>
          </a:prstGeom>
          <a:noFill/>
          <a:ln w="7620">
            <a:solidFill>
              <a:srgbClr val="B8C4D3"/>
            </a:solidFill>
            <a:prstDash val="solid"/>
          </a:ln>
        </p:spPr>
      </p:sp>
      <p:sp>
        <p:nvSpPr>
          <p:cNvPr id="32" name="Shape 30"/>
          <p:cNvSpPr/>
          <p:nvPr/>
        </p:nvSpPr>
        <p:spPr>
          <a:xfrm>
            <a:off x="5257800" y="4323806"/>
            <a:ext cx="2377440" cy="0"/>
          </a:xfrm>
          <a:prstGeom prst="line">
            <a:avLst/>
          </a:prstGeom>
          <a:noFill/>
          <a:ln w="7620">
            <a:solidFill>
              <a:srgbClr val="B8C4D3"/>
            </a:solidFill>
            <a:prstDash val="solid"/>
          </a:ln>
        </p:spPr>
      </p:sp>
      <p:sp>
        <p:nvSpPr>
          <p:cNvPr id="33" name="Shape 31"/>
          <p:cNvSpPr/>
          <p:nvPr/>
        </p:nvSpPr>
        <p:spPr>
          <a:xfrm>
            <a:off x="7465423" y="2286000"/>
            <a:ext cx="0" cy="2377440"/>
          </a:xfrm>
          <a:prstGeom prst="line">
            <a:avLst/>
          </a:prstGeom>
          <a:noFill/>
          <a:ln w="7620">
            <a:solidFill>
              <a:srgbClr val="B8C4D3"/>
            </a:solidFill>
            <a:prstDash val="solid"/>
          </a:ln>
        </p:spPr>
      </p:sp>
      <p:sp>
        <p:nvSpPr>
          <p:cNvPr id="34" name="Shape 32"/>
          <p:cNvSpPr/>
          <p:nvPr/>
        </p:nvSpPr>
        <p:spPr>
          <a:xfrm>
            <a:off x="5257800" y="4493623"/>
            <a:ext cx="2377440" cy="0"/>
          </a:xfrm>
          <a:prstGeom prst="line">
            <a:avLst/>
          </a:prstGeom>
          <a:noFill/>
          <a:ln w="7620">
            <a:solidFill>
              <a:srgbClr val="B8C4D3"/>
            </a:solidFill>
            <a:prstDash val="solid"/>
          </a:ln>
        </p:spPr>
      </p:sp>
      <p:sp>
        <p:nvSpPr>
          <p:cNvPr id="35" name="Shape 33"/>
          <p:cNvSpPr/>
          <p:nvPr/>
        </p:nvSpPr>
        <p:spPr>
          <a:xfrm>
            <a:off x="5257800" y="2286000"/>
            <a:ext cx="2377440" cy="2377440"/>
          </a:xfrm>
          <a:prstGeom prst="rect">
            <a:avLst/>
          </a:prstGeom>
          <a:ln w="28575">
            <a:solidFill>
              <a:srgbClr val="2E86AB"/>
            </a:solidFill>
            <a:prstDash val="solid"/>
          </a:ln>
        </p:spPr>
      </p:sp>
      <p:sp>
        <p:nvSpPr>
          <p:cNvPr id="36" name="Shape 34"/>
          <p:cNvSpPr/>
          <p:nvPr/>
        </p:nvSpPr>
        <p:spPr>
          <a:xfrm>
            <a:off x="6276703" y="3304903"/>
            <a:ext cx="169817" cy="169817"/>
          </a:xfrm>
          <a:prstGeom prst="rect">
            <a:avLst/>
          </a:prstGeom>
          <a:solidFill>
            <a:srgbClr val="2E86AB">
              <a:alpha val="75000"/>
            </a:srgbClr>
          </a:solidFill>
          <a:ln w="15875">
            <a:solidFill>
              <a:srgbClr val="2E86AB"/>
            </a:solidFill>
            <a:prstDash val="solid"/>
          </a:ln>
        </p:spPr>
      </p:sp>
      <p:sp>
        <p:nvSpPr>
          <p:cNvPr id="37" name="Text 35"/>
          <p:cNvSpPr txBox="1"/>
          <p:nvPr/>
        </p:nvSpPr>
        <p:spPr>
          <a:xfrm>
            <a:off x="5303520" y="2304288"/>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224 px = 6.72 km</a:t>
            </a:r>
            <a:endParaRPr lang="en-US" sz="850" dirty="0"/>
          </a:p>
        </p:txBody>
      </p:sp>
      <p:sp>
        <p:nvSpPr>
          <p:cNvPr id="38" name="Text 36"/>
          <p:cNvSpPr txBox="1"/>
          <p:nvPr/>
        </p:nvSpPr>
        <p:spPr>
          <a:xfrm>
            <a:off x="6583680" y="3200400"/>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token 16 px = 480 m</a:t>
            </a:r>
            <a:endParaRPr lang="en-US" sz="850" dirty="0"/>
          </a:p>
        </p:txBody>
      </p:sp>
      <p:sp>
        <p:nvSpPr>
          <p:cNvPr id="39" name="Text 37"/>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Tile: 224 × 224 px @ 30 m = 6.72 km × 6.72 km.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Token: 16 × 16 px = 480 m (300 M) · 14 × 14 px = 420 m (600 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One sheet: 6 HLS bands.</a:t>
            </a:r>
            <a:endParaRPr lang="en-US" sz="950" dirty="0"/>
          </a:p>
        </p:txBody>
      </p:sp>
      <p:sp>
        <p:nvSpPr>
          <p:cNvPr id="40" name="Text 38"/>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41" name="Shape 39"/>
          <p:cNvSpPr/>
          <p:nvPr/>
        </p:nvSpPr>
        <p:spPr>
          <a:xfrm>
            <a:off x="8271662" y="2423160"/>
            <a:ext cx="1881835" cy="1446581"/>
          </a:xfrm>
          <a:prstGeom prst="rect">
            <a:avLst/>
          </a:prstGeom>
          <a:solidFill>
            <a:srgbClr val="E07A2F">
              <a:alpha val="18000"/>
            </a:srgbClr>
          </a:solidFill>
          <a:ln w="12700">
            <a:solidFill>
              <a:srgbClr val="E07A2F"/>
            </a:solidFill>
            <a:prstDash val="dash"/>
          </a:ln>
        </p:spPr>
      </p:sp>
      <p:sp>
        <p:nvSpPr>
          <p:cNvPr id="42" name="Text 40"/>
          <p:cNvSpPr txBox="1"/>
          <p:nvPr/>
        </p:nvSpPr>
        <p:spPr>
          <a:xfrm>
            <a:off x="8043062" y="2176272"/>
            <a:ext cx="2339035" cy="237744"/>
          </a:xfrm>
          <a:prstGeom prst="rect">
            <a:avLst/>
          </a:prstGeom>
          <a:noFill/>
          <a:ln/>
        </p:spPr>
        <p:txBody>
          <a:bodyPr wrap="square" lIns="0" tIns="0" rIns="0" bIns="0" rtlCol="0" anchor="b"/>
          <a:lstStyle/>
          <a:p>
            <a:pPr algn="ctr" indent="0" marL="0">
              <a:buNone/>
            </a:pPr>
            <a:r>
              <a:rPr lang="en-US" sz="750" b="1" dirty="0">
                <a:solidFill>
                  <a:srgbClr val="E07A2F"/>
                </a:solidFill>
                <a:latin typeface="Calibri" pitchFamily="34" charset="0"/>
                <a:ea typeface="Calibri" pitchFamily="34" charset="-122"/>
                <a:cs typeface="Calibri" pitchFamily="34" charset="-120"/>
              </a:rPr>
              <a:t>4 dates, 1–6 months apart (span varies)</a:t>
            </a:r>
            <a:endParaRPr lang="en-US" sz="750" dirty="0"/>
          </a:p>
        </p:txBody>
      </p:sp>
      <p:sp>
        <p:nvSpPr>
          <p:cNvPr id="43" name="Shape 41"/>
          <p:cNvSpPr/>
          <p:nvPr/>
        </p:nvSpPr>
        <p:spPr>
          <a:xfrm>
            <a:off x="8092440" y="3760013"/>
            <a:ext cx="2240280" cy="0"/>
          </a:xfrm>
          <a:prstGeom prst="line">
            <a:avLst/>
          </a:prstGeom>
          <a:noFill/>
          <a:ln w="12700">
            <a:solidFill>
              <a:srgbClr val="1B2430"/>
            </a:solidFill>
            <a:prstDash val="solid"/>
            <a:tailEnd type="triangle"/>
          </a:ln>
        </p:spPr>
      </p:sp>
      <p:sp>
        <p:nvSpPr>
          <p:cNvPr id="44" name="Text 42"/>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45" name="Shape 43"/>
          <p:cNvSpPr/>
          <p:nvPr/>
        </p:nvSpPr>
        <p:spPr>
          <a:xfrm>
            <a:off x="8350072" y="3723437"/>
            <a:ext cx="0" cy="73152"/>
          </a:xfrm>
          <a:prstGeom prst="line">
            <a:avLst/>
          </a:prstGeom>
          <a:noFill/>
          <a:ln w="9525">
            <a:solidFill>
              <a:srgbClr val="1B2430"/>
            </a:solidFill>
            <a:prstDash val="solid"/>
          </a:ln>
        </p:spPr>
      </p:sp>
      <p:sp>
        <p:nvSpPr>
          <p:cNvPr id="46" name="Shape 44"/>
          <p:cNvSpPr/>
          <p:nvPr/>
        </p:nvSpPr>
        <p:spPr>
          <a:xfrm>
            <a:off x="8506892" y="3723437"/>
            <a:ext cx="0" cy="73152"/>
          </a:xfrm>
          <a:prstGeom prst="line">
            <a:avLst/>
          </a:prstGeom>
          <a:noFill/>
          <a:ln w="9525">
            <a:solidFill>
              <a:srgbClr val="1B2430"/>
            </a:solidFill>
            <a:prstDash val="solid"/>
          </a:ln>
        </p:spPr>
      </p:sp>
      <p:sp>
        <p:nvSpPr>
          <p:cNvPr id="47" name="Shape 45"/>
          <p:cNvSpPr/>
          <p:nvPr/>
        </p:nvSpPr>
        <p:spPr>
          <a:xfrm>
            <a:off x="8663711" y="3723437"/>
            <a:ext cx="0" cy="73152"/>
          </a:xfrm>
          <a:prstGeom prst="line">
            <a:avLst/>
          </a:prstGeom>
          <a:noFill/>
          <a:ln w="9525">
            <a:solidFill>
              <a:srgbClr val="1B2430"/>
            </a:solidFill>
            <a:prstDash val="solid"/>
          </a:ln>
        </p:spPr>
      </p:sp>
      <p:sp>
        <p:nvSpPr>
          <p:cNvPr id="48" name="Shape 46"/>
          <p:cNvSpPr/>
          <p:nvPr/>
        </p:nvSpPr>
        <p:spPr>
          <a:xfrm>
            <a:off x="8820531" y="3723437"/>
            <a:ext cx="0" cy="73152"/>
          </a:xfrm>
          <a:prstGeom prst="line">
            <a:avLst/>
          </a:prstGeom>
          <a:noFill/>
          <a:ln w="9525">
            <a:solidFill>
              <a:srgbClr val="1B2430"/>
            </a:solidFill>
            <a:prstDash val="solid"/>
          </a:ln>
        </p:spPr>
      </p:sp>
      <p:sp>
        <p:nvSpPr>
          <p:cNvPr id="49" name="Shape 47"/>
          <p:cNvSpPr/>
          <p:nvPr/>
        </p:nvSpPr>
        <p:spPr>
          <a:xfrm>
            <a:off x="8977351" y="3723437"/>
            <a:ext cx="0" cy="73152"/>
          </a:xfrm>
          <a:prstGeom prst="line">
            <a:avLst/>
          </a:prstGeom>
          <a:noFill/>
          <a:ln w="9525">
            <a:solidFill>
              <a:srgbClr val="1B2430"/>
            </a:solidFill>
            <a:prstDash val="solid"/>
          </a:ln>
        </p:spPr>
      </p:sp>
      <p:sp>
        <p:nvSpPr>
          <p:cNvPr id="50" name="Shape 48"/>
          <p:cNvSpPr/>
          <p:nvPr/>
        </p:nvSpPr>
        <p:spPr>
          <a:xfrm>
            <a:off x="9134170" y="3723437"/>
            <a:ext cx="0" cy="73152"/>
          </a:xfrm>
          <a:prstGeom prst="line">
            <a:avLst/>
          </a:prstGeom>
          <a:noFill/>
          <a:ln w="9525">
            <a:solidFill>
              <a:srgbClr val="1B2430"/>
            </a:solidFill>
            <a:prstDash val="solid"/>
          </a:ln>
        </p:spPr>
      </p:sp>
      <p:sp>
        <p:nvSpPr>
          <p:cNvPr id="51" name="Shape 49"/>
          <p:cNvSpPr/>
          <p:nvPr/>
        </p:nvSpPr>
        <p:spPr>
          <a:xfrm>
            <a:off x="9290990" y="3723437"/>
            <a:ext cx="0" cy="73152"/>
          </a:xfrm>
          <a:prstGeom prst="line">
            <a:avLst/>
          </a:prstGeom>
          <a:noFill/>
          <a:ln w="9525">
            <a:solidFill>
              <a:srgbClr val="1B2430"/>
            </a:solidFill>
            <a:prstDash val="solid"/>
          </a:ln>
        </p:spPr>
      </p:sp>
      <p:sp>
        <p:nvSpPr>
          <p:cNvPr id="52" name="Shape 50"/>
          <p:cNvSpPr/>
          <p:nvPr/>
        </p:nvSpPr>
        <p:spPr>
          <a:xfrm>
            <a:off x="9447809" y="3723437"/>
            <a:ext cx="0" cy="73152"/>
          </a:xfrm>
          <a:prstGeom prst="line">
            <a:avLst/>
          </a:prstGeom>
          <a:noFill/>
          <a:ln w="9525">
            <a:solidFill>
              <a:srgbClr val="1B2430"/>
            </a:solidFill>
            <a:prstDash val="solid"/>
          </a:ln>
        </p:spPr>
      </p:sp>
      <p:sp>
        <p:nvSpPr>
          <p:cNvPr id="53" name="Shape 51"/>
          <p:cNvSpPr/>
          <p:nvPr/>
        </p:nvSpPr>
        <p:spPr>
          <a:xfrm>
            <a:off x="9604629" y="3723437"/>
            <a:ext cx="0" cy="73152"/>
          </a:xfrm>
          <a:prstGeom prst="line">
            <a:avLst/>
          </a:prstGeom>
          <a:noFill/>
          <a:ln w="9525">
            <a:solidFill>
              <a:srgbClr val="1B2430"/>
            </a:solidFill>
            <a:prstDash val="solid"/>
          </a:ln>
        </p:spPr>
      </p:sp>
      <p:sp>
        <p:nvSpPr>
          <p:cNvPr id="54" name="Shape 52"/>
          <p:cNvSpPr/>
          <p:nvPr/>
        </p:nvSpPr>
        <p:spPr>
          <a:xfrm>
            <a:off x="9761449" y="3723437"/>
            <a:ext cx="0" cy="73152"/>
          </a:xfrm>
          <a:prstGeom prst="line">
            <a:avLst/>
          </a:prstGeom>
          <a:noFill/>
          <a:ln w="9525">
            <a:solidFill>
              <a:srgbClr val="1B2430"/>
            </a:solidFill>
            <a:prstDash val="solid"/>
          </a:ln>
        </p:spPr>
      </p:sp>
      <p:sp>
        <p:nvSpPr>
          <p:cNvPr id="55" name="Shape 53"/>
          <p:cNvSpPr/>
          <p:nvPr/>
        </p:nvSpPr>
        <p:spPr>
          <a:xfrm>
            <a:off x="9918268" y="3723437"/>
            <a:ext cx="0" cy="73152"/>
          </a:xfrm>
          <a:prstGeom prst="line">
            <a:avLst/>
          </a:prstGeom>
          <a:noFill/>
          <a:ln w="9525">
            <a:solidFill>
              <a:srgbClr val="1B2430"/>
            </a:solidFill>
            <a:prstDash val="solid"/>
          </a:ln>
        </p:spPr>
      </p:sp>
      <p:sp>
        <p:nvSpPr>
          <p:cNvPr id="56" name="Shape 54"/>
          <p:cNvSpPr/>
          <p:nvPr/>
        </p:nvSpPr>
        <p:spPr>
          <a:xfrm>
            <a:off x="10075088" y="3723437"/>
            <a:ext cx="0" cy="73152"/>
          </a:xfrm>
          <a:prstGeom prst="line">
            <a:avLst/>
          </a:prstGeom>
          <a:noFill/>
          <a:ln w="9525">
            <a:solidFill>
              <a:srgbClr val="1B2430"/>
            </a:solidFill>
            <a:prstDash val="solid"/>
          </a:ln>
        </p:spPr>
      </p:sp>
      <p:sp>
        <p:nvSpPr>
          <p:cNvPr id="57" name="Text 55"/>
          <p:cNvSpPr txBox="1"/>
          <p:nvPr/>
        </p:nvSpPr>
        <p:spPr>
          <a:xfrm>
            <a:off x="8317382" y="2977286"/>
            <a:ext cx="1790395"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4 acquisitions, each its own token grid</a:t>
            </a:r>
            <a:endParaRPr lang="en-US" sz="750" dirty="0"/>
          </a:p>
        </p:txBody>
      </p:sp>
      <p:sp>
        <p:nvSpPr>
          <p:cNvPr id="58" name="Shape 56"/>
          <p:cNvSpPr/>
          <p:nvPr/>
        </p:nvSpPr>
        <p:spPr>
          <a:xfrm>
            <a:off x="8387791" y="3151022"/>
            <a:ext cx="36576" cy="146304"/>
          </a:xfrm>
          <a:prstGeom prst="rect">
            <a:avLst/>
          </a:prstGeom>
          <a:solidFill>
            <a:srgbClr val="E07A2F"/>
          </a:solidFill>
          <a:ln w="12700">
            <a:solidFill>
              <a:srgbClr val="333333"/>
            </a:solidFill>
            <a:prstDash val="solid"/>
          </a:ln>
        </p:spPr>
      </p:sp>
      <p:sp>
        <p:nvSpPr>
          <p:cNvPr id="59" name="Shape 57"/>
          <p:cNvSpPr/>
          <p:nvPr/>
        </p:nvSpPr>
        <p:spPr>
          <a:xfrm>
            <a:off x="8925458" y="3151022"/>
            <a:ext cx="36576" cy="146304"/>
          </a:xfrm>
          <a:prstGeom prst="rect">
            <a:avLst/>
          </a:prstGeom>
          <a:solidFill>
            <a:srgbClr val="E07A2F"/>
          </a:solidFill>
          <a:ln w="12700">
            <a:solidFill>
              <a:srgbClr val="333333"/>
            </a:solidFill>
            <a:prstDash val="solid"/>
          </a:ln>
        </p:spPr>
      </p:sp>
      <p:sp>
        <p:nvSpPr>
          <p:cNvPr id="60" name="Shape 58"/>
          <p:cNvSpPr/>
          <p:nvPr/>
        </p:nvSpPr>
        <p:spPr>
          <a:xfrm>
            <a:off x="9306306" y="3151022"/>
            <a:ext cx="36576" cy="146304"/>
          </a:xfrm>
          <a:prstGeom prst="rect">
            <a:avLst/>
          </a:prstGeom>
          <a:solidFill>
            <a:srgbClr val="E07A2F"/>
          </a:solidFill>
          <a:ln w="12700">
            <a:solidFill>
              <a:srgbClr val="333333"/>
            </a:solidFill>
            <a:prstDash val="solid"/>
          </a:ln>
        </p:spPr>
      </p:sp>
      <p:sp>
        <p:nvSpPr>
          <p:cNvPr id="61" name="Shape 59"/>
          <p:cNvSpPr/>
          <p:nvPr/>
        </p:nvSpPr>
        <p:spPr>
          <a:xfrm>
            <a:off x="10000793" y="3151022"/>
            <a:ext cx="36576" cy="146304"/>
          </a:xfrm>
          <a:prstGeom prst="rect">
            <a:avLst/>
          </a:prstGeom>
          <a:solidFill>
            <a:srgbClr val="E07A2F"/>
          </a:solidFill>
          <a:ln w="12700">
            <a:solidFill>
              <a:srgbClr val="333333"/>
            </a:solidFill>
            <a:prstDash val="solid"/>
          </a:ln>
        </p:spPr>
      </p:sp>
      <p:sp>
        <p:nvSpPr>
          <p:cNvPr id="62" name="Text 60"/>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Time is a stack of 4 snapshots with 3D position codes — not a period summary.</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TL variants inject acquisition date + lat/lon as extra encodings.</a:t>
            </a:r>
            <a:endParaRPr lang="en-US" sz="950" dirty="0"/>
          </a:p>
        </p:txBody>
      </p:sp>
      <p:sp>
        <p:nvSpPr>
          <p:cNvPr id="63" name="Shape 61"/>
          <p:cNvSpPr/>
          <p:nvPr/>
        </p:nvSpPr>
        <p:spPr>
          <a:xfrm>
            <a:off x="10424160" y="3337560"/>
            <a:ext cx="274320" cy="274320"/>
          </a:xfrm>
          <a:prstGeom prst="rightArrow">
            <a:avLst/>
          </a:prstGeom>
          <a:solidFill>
            <a:srgbClr val="B8C4D3"/>
          </a:solidFill>
          <a:ln w="12700">
            <a:solidFill>
              <a:srgbClr val="B8C4D3"/>
            </a:solidFill>
            <a:prstDash val="solid"/>
          </a:ln>
        </p:spPr>
      </p:sp>
      <p:sp>
        <p:nvSpPr>
          <p:cNvPr id="64" name="Shape 62"/>
          <p:cNvSpPr/>
          <p:nvPr/>
        </p:nvSpPr>
        <p:spPr>
          <a:xfrm>
            <a:off x="7744968" y="3337560"/>
            <a:ext cx="274320" cy="274320"/>
          </a:xfrm>
          <a:prstGeom prst="rightArrow">
            <a:avLst/>
          </a:prstGeom>
          <a:solidFill>
            <a:srgbClr val="B8C4D3"/>
          </a:solidFill>
          <a:ln w="12700">
            <a:solidFill>
              <a:srgbClr val="B8C4D3"/>
            </a:solidFill>
            <a:prstDash val="solid"/>
          </a:ln>
        </p:spPr>
      </p:sp>
      <p:sp>
        <p:nvSpPr>
          <p:cNvPr id="65" name="Text 63"/>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66" name="Shape 64"/>
          <p:cNvSpPr/>
          <p:nvPr/>
        </p:nvSpPr>
        <p:spPr>
          <a:xfrm>
            <a:off x="10698480" y="2606040"/>
            <a:ext cx="685800" cy="217170"/>
          </a:xfrm>
          <a:prstGeom prst="rect">
            <a:avLst/>
          </a:prstGeom>
          <a:solidFill>
            <a:srgbClr val="6A4C93"/>
          </a:solidFill>
          <a:ln w="9525">
            <a:solidFill>
              <a:srgbClr val="FFFFFF"/>
            </a:solidFill>
            <a:prstDash val="solid"/>
          </a:ln>
        </p:spPr>
      </p:sp>
      <p:sp>
        <p:nvSpPr>
          <p:cNvPr id="67" name="Shape 65"/>
          <p:cNvSpPr/>
          <p:nvPr/>
        </p:nvSpPr>
        <p:spPr>
          <a:xfrm>
            <a:off x="10698480" y="2823210"/>
            <a:ext cx="685800" cy="217170"/>
          </a:xfrm>
          <a:prstGeom prst="rect">
            <a:avLst/>
          </a:prstGeom>
          <a:solidFill>
            <a:srgbClr val="7B5EA7"/>
          </a:solidFill>
          <a:ln w="9525">
            <a:solidFill>
              <a:srgbClr val="FFFFFF"/>
            </a:solidFill>
            <a:prstDash val="solid"/>
          </a:ln>
        </p:spPr>
      </p:sp>
      <p:sp>
        <p:nvSpPr>
          <p:cNvPr id="68" name="Shape 66"/>
          <p:cNvSpPr/>
          <p:nvPr/>
        </p:nvSpPr>
        <p:spPr>
          <a:xfrm>
            <a:off x="10698480" y="3040380"/>
            <a:ext cx="685800" cy="217170"/>
          </a:xfrm>
          <a:prstGeom prst="rect">
            <a:avLst/>
          </a:prstGeom>
          <a:solidFill>
            <a:srgbClr val="8C70BA"/>
          </a:solidFill>
          <a:ln w="9525">
            <a:solidFill>
              <a:srgbClr val="FFFFFF"/>
            </a:solidFill>
            <a:prstDash val="solid"/>
          </a:ln>
        </p:spPr>
      </p:sp>
      <p:sp>
        <p:nvSpPr>
          <p:cNvPr id="69" name="Shape 67"/>
          <p:cNvSpPr/>
          <p:nvPr/>
        </p:nvSpPr>
        <p:spPr>
          <a:xfrm>
            <a:off x="10698480" y="3257550"/>
            <a:ext cx="685800" cy="217170"/>
          </a:xfrm>
          <a:prstGeom prst="rect">
            <a:avLst/>
          </a:prstGeom>
          <a:solidFill>
            <a:srgbClr val="9D82CD"/>
          </a:solidFill>
          <a:ln w="9525">
            <a:solidFill>
              <a:srgbClr val="FFFFFF"/>
            </a:solidFill>
            <a:prstDash val="solid"/>
          </a:ln>
        </p:spPr>
      </p:sp>
      <p:sp>
        <p:nvSpPr>
          <p:cNvPr id="70" name="Shape 68"/>
          <p:cNvSpPr/>
          <p:nvPr/>
        </p:nvSpPr>
        <p:spPr>
          <a:xfrm>
            <a:off x="10698480" y="3474720"/>
            <a:ext cx="685800" cy="217170"/>
          </a:xfrm>
          <a:prstGeom prst="rect">
            <a:avLst/>
          </a:prstGeom>
          <a:solidFill>
            <a:srgbClr val="8C70BA"/>
          </a:solidFill>
          <a:ln w="9525">
            <a:solidFill>
              <a:srgbClr val="FFFFFF"/>
            </a:solidFill>
            <a:prstDash val="solid"/>
          </a:ln>
        </p:spPr>
      </p:sp>
      <p:sp>
        <p:nvSpPr>
          <p:cNvPr id="71" name="Shape 69"/>
          <p:cNvSpPr/>
          <p:nvPr/>
        </p:nvSpPr>
        <p:spPr>
          <a:xfrm>
            <a:off x="10698480" y="3691890"/>
            <a:ext cx="685800" cy="217170"/>
          </a:xfrm>
          <a:prstGeom prst="rect">
            <a:avLst/>
          </a:prstGeom>
          <a:solidFill>
            <a:srgbClr val="7B5EA7"/>
          </a:solidFill>
          <a:ln w="9525">
            <a:solidFill>
              <a:srgbClr val="FFFFFF"/>
            </a:solidFill>
            <a:prstDash val="solid"/>
          </a:ln>
        </p:spPr>
      </p:sp>
      <p:sp>
        <p:nvSpPr>
          <p:cNvPr id="72" name="Shape 70"/>
          <p:cNvSpPr/>
          <p:nvPr/>
        </p:nvSpPr>
        <p:spPr>
          <a:xfrm>
            <a:off x="10698480" y="3909060"/>
            <a:ext cx="685800" cy="217170"/>
          </a:xfrm>
          <a:prstGeom prst="rect">
            <a:avLst/>
          </a:prstGeom>
          <a:solidFill>
            <a:srgbClr val="6A4C93"/>
          </a:solidFill>
          <a:ln w="9525">
            <a:solidFill>
              <a:srgbClr val="FFFFFF"/>
            </a:solidFill>
            <a:prstDash val="solid"/>
          </a:ln>
        </p:spPr>
      </p:sp>
      <p:sp>
        <p:nvSpPr>
          <p:cNvPr id="73" name="Shape 71"/>
          <p:cNvSpPr/>
          <p:nvPr/>
        </p:nvSpPr>
        <p:spPr>
          <a:xfrm>
            <a:off x="10698480" y="4126230"/>
            <a:ext cx="685800" cy="217170"/>
          </a:xfrm>
          <a:prstGeom prst="rect">
            <a:avLst/>
          </a:prstGeom>
          <a:solidFill>
            <a:srgbClr val="5A3D80"/>
          </a:solidFill>
          <a:ln w="9525">
            <a:solidFill>
              <a:srgbClr val="FFFFFF"/>
            </a:solidFill>
            <a:prstDash val="solid"/>
          </a:ln>
        </p:spPr>
      </p:sp>
      <p:sp>
        <p:nvSpPr>
          <p:cNvPr id="74" name="Text 72"/>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1024-D</a:t>
            </a:r>
            <a:endParaRPr lang="en-US" sz="1200" dirty="0"/>
          </a:p>
        </p:txBody>
      </p:sp>
      <p:sp>
        <p:nvSpPr>
          <p:cNvPr id="75" name="Text 73"/>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480 m token, per date</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300 M: 1024-D · 600 M: 1280-D</a:t>
            </a:r>
            <a:endParaRPr lang="en-US" sz="850" dirty="0"/>
          </a:p>
        </p:txBody>
      </p:sp>
      <p:sp>
        <p:nvSpPr>
          <p:cNvPr id="76" name="Text 7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Granite-Geospatial-Ocean (IBM · STFC · PML · Exeter)</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The Prithvi-EO recipe moved onto Sentinel-3 ocean colour + SST — github.com/ibm-granite/geospatial</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050" b="1" dirty="0">
                <a:solidFill>
                  <a:srgbClr val="1C7293"/>
                </a:solidFill>
                <a:latin typeface="Calibri" pitchFamily="34" charset="0"/>
                <a:ea typeface="Calibri" pitchFamily="34" charset="-122"/>
                <a:cs typeface="Calibri" pitchFamily="34" charset="-120"/>
              </a:rPr>
              <a:t>Who / when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IBM Research Europe (UK), STFC Hartree Centre, Plymouth Marine Lab, Univ. of Exeter (UK HNCDI). Released 6 Oct 2025; arXiv 2509.21273 'A Sentinel-3 foundation model for ocean colour'. Apache 2.0; weights on Hugging Face, code + TerraTorch notebook at github.com/ibm-granite/geospatial.</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Inputs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Sentinel-3 OLCI Level-2 reflectance, 16 bands (Oa01–Oa12, Oa16–18, Oa21) + SLSTR sea-surface temperature = 17 channels at 300 m. ~512 k tiles (the paper also gives 470 k train + 50 k val), 2017–2021, balanced over 83 Longhurst provinces and months.</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Architecture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Prithvi-EO ViT-MAE with the tile shrunk for the coarser sensor: embed 512-D, 12 layers, 8 heads, decoder 256-D × 4; ~50 M params (larger gave no gain). RMSE reconstruction loss on masked patches.</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Stencil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Tile 42 × 42 px @ 300 m = 12.6 km × 12.6 km; token 2 × 2 px = 600 m → 21 × 21 = 441 tokens. num_frames = 1: a single acquisition, no temporal stacking (fine-tuning pairs each in-situ sample with cloud-free imagery from a 6-day window centred on it).</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Output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441 × 512-D tokens per tile; downstream pixel-wise regression heads (TerraTorch) for chlorophyll-a and primary production.</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Results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Chl-a (188 in-situ points): RMSE 0.14 ± 0.05 vs 0.16 ± 0.10 log₁₀ mg m⁻³ from scratch; primary production (103 points): 0.39 ± 0.04 vs 0.42 ± 0.07 log₁₀ mgC m⁻² d⁻¹. Gains grow as labels shrink (useful at 25 % of labels).</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Caveats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Surface-only, cloud-limited optical; single snapshot; authors say not yet competitive with operational algorithms; under-predicts bloom-level chl-a.</a:t>
            </a:r>
            <a:endParaRPr lang="en-US" sz="105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330952" y="2212848"/>
            <a:ext cx="2377440" cy="2377440"/>
          </a:xfrm>
          <a:prstGeom prst="rect">
            <a:avLst/>
          </a:prstGeom>
          <a:solidFill>
            <a:srgbClr val="EEF3F8"/>
          </a:solidFill>
          <a:ln w="9525">
            <a:solidFill>
              <a:srgbClr val="B8C4D3"/>
            </a:solidFill>
            <a:prstDash val="solid"/>
          </a:ln>
        </p:spPr>
      </p:sp>
      <p:sp>
        <p:nvSpPr>
          <p:cNvPr id="9" name="Shape 7"/>
          <p:cNvSpPr/>
          <p:nvPr/>
        </p:nvSpPr>
        <p:spPr>
          <a:xfrm>
            <a:off x="5257800" y="2286000"/>
            <a:ext cx="2377440" cy="2377440"/>
          </a:xfrm>
          <a:prstGeom prst="rect">
            <a:avLst/>
          </a:prstGeom>
          <a:solidFill>
            <a:srgbClr val="FFFFFF"/>
          </a:solidFill>
          <a:ln w="9525">
            <a:solidFill>
              <a:srgbClr val="B8C4D3"/>
            </a:solidFill>
            <a:prstDash val="solid"/>
          </a:ln>
        </p:spPr>
      </p:sp>
      <p:sp>
        <p:nvSpPr>
          <p:cNvPr id="10" name="Shape 8"/>
          <p:cNvSpPr/>
          <p:nvPr/>
        </p:nvSpPr>
        <p:spPr>
          <a:xfrm>
            <a:off x="5371011" y="2286000"/>
            <a:ext cx="0" cy="2377440"/>
          </a:xfrm>
          <a:prstGeom prst="line">
            <a:avLst/>
          </a:prstGeom>
          <a:noFill/>
          <a:ln w="5080">
            <a:solidFill>
              <a:srgbClr val="B8C4D3"/>
            </a:solidFill>
            <a:prstDash val="solid"/>
          </a:ln>
        </p:spPr>
      </p:sp>
      <p:sp>
        <p:nvSpPr>
          <p:cNvPr id="11" name="Shape 9"/>
          <p:cNvSpPr/>
          <p:nvPr/>
        </p:nvSpPr>
        <p:spPr>
          <a:xfrm>
            <a:off x="5257800" y="2399211"/>
            <a:ext cx="2377440" cy="0"/>
          </a:xfrm>
          <a:prstGeom prst="line">
            <a:avLst/>
          </a:prstGeom>
          <a:noFill/>
          <a:ln w="5080">
            <a:solidFill>
              <a:srgbClr val="B8C4D3"/>
            </a:solidFill>
            <a:prstDash val="solid"/>
          </a:ln>
        </p:spPr>
      </p:sp>
      <p:sp>
        <p:nvSpPr>
          <p:cNvPr id="12" name="Shape 10"/>
          <p:cNvSpPr/>
          <p:nvPr/>
        </p:nvSpPr>
        <p:spPr>
          <a:xfrm>
            <a:off x="5484223" y="2286000"/>
            <a:ext cx="0" cy="2377440"/>
          </a:xfrm>
          <a:prstGeom prst="line">
            <a:avLst/>
          </a:prstGeom>
          <a:noFill/>
          <a:ln w="5080">
            <a:solidFill>
              <a:srgbClr val="B8C4D3"/>
            </a:solidFill>
            <a:prstDash val="solid"/>
          </a:ln>
        </p:spPr>
      </p:sp>
      <p:sp>
        <p:nvSpPr>
          <p:cNvPr id="13" name="Shape 11"/>
          <p:cNvSpPr/>
          <p:nvPr/>
        </p:nvSpPr>
        <p:spPr>
          <a:xfrm>
            <a:off x="5257800" y="2512423"/>
            <a:ext cx="2377440" cy="0"/>
          </a:xfrm>
          <a:prstGeom prst="line">
            <a:avLst/>
          </a:prstGeom>
          <a:noFill/>
          <a:ln w="5080">
            <a:solidFill>
              <a:srgbClr val="B8C4D3"/>
            </a:solidFill>
            <a:prstDash val="solid"/>
          </a:ln>
        </p:spPr>
      </p:sp>
      <p:sp>
        <p:nvSpPr>
          <p:cNvPr id="14" name="Shape 12"/>
          <p:cNvSpPr/>
          <p:nvPr/>
        </p:nvSpPr>
        <p:spPr>
          <a:xfrm>
            <a:off x="5597434" y="2286000"/>
            <a:ext cx="0" cy="2377440"/>
          </a:xfrm>
          <a:prstGeom prst="line">
            <a:avLst/>
          </a:prstGeom>
          <a:noFill/>
          <a:ln w="5080">
            <a:solidFill>
              <a:srgbClr val="B8C4D3"/>
            </a:solidFill>
            <a:prstDash val="solid"/>
          </a:ln>
        </p:spPr>
      </p:sp>
      <p:sp>
        <p:nvSpPr>
          <p:cNvPr id="15" name="Shape 13"/>
          <p:cNvSpPr/>
          <p:nvPr/>
        </p:nvSpPr>
        <p:spPr>
          <a:xfrm>
            <a:off x="5257800" y="2625634"/>
            <a:ext cx="2377440" cy="0"/>
          </a:xfrm>
          <a:prstGeom prst="line">
            <a:avLst/>
          </a:prstGeom>
          <a:noFill/>
          <a:ln w="5080">
            <a:solidFill>
              <a:srgbClr val="B8C4D3"/>
            </a:solidFill>
            <a:prstDash val="solid"/>
          </a:ln>
        </p:spPr>
      </p:sp>
      <p:sp>
        <p:nvSpPr>
          <p:cNvPr id="16" name="Shape 14"/>
          <p:cNvSpPr/>
          <p:nvPr/>
        </p:nvSpPr>
        <p:spPr>
          <a:xfrm>
            <a:off x="5710646" y="2286000"/>
            <a:ext cx="0" cy="2377440"/>
          </a:xfrm>
          <a:prstGeom prst="line">
            <a:avLst/>
          </a:prstGeom>
          <a:noFill/>
          <a:ln w="5080">
            <a:solidFill>
              <a:srgbClr val="B8C4D3"/>
            </a:solidFill>
            <a:prstDash val="solid"/>
          </a:ln>
        </p:spPr>
      </p:sp>
      <p:sp>
        <p:nvSpPr>
          <p:cNvPr id="17" name="Shape 15"/>
          <p:cNvSpPr/>
          <p:nvPr/>
        </p:nvSpPr>
        <p:spPr>
          <a:xfrm>
            <a:off x="5257800" y="2738846"/>
            <a:ext cx="2377440" cy="0"/>
          </a:xfrm>
          <a:prstGeom prst="line">
            <a:avLst/>
          </a:prstGeom>
          <a:noFill/>
          <a:ln w="5080">
            <a:solidFill>
              <a:srgbClr val="B8C4D3"/>
            </a:solidFill>
            <a:prstDash val="solid"/>
          </a:ln>
        </p:spPr>
      </p:sp>
      <p:sp>
        <p:nvSpPr>
          <p:cNvPr id="18" name="Shape 16"/>
          <p:cNvSpPr/>
          <p:nvPr/>
        </p:nvSpPr>
        <p:spPr>
          <a:xfrm>
            <a:off x="5823857" y="2286000"/>
            <a:ext cx="0" cy="2377440"/>
          </a:xfrm>
          <a:prstGeom prst="line">
            <a:avLst/>
          </a:prstGeom>
          <a:noFill/>
          <a:ln w="5080">
            <a:solidFill>
              <a:srgbClr val="B8C4D3"/>
            </a:solidFill>
            <a:prstDash val="solid"/>
          </a:ln>
        </p:spPr>
      </p:sp>
      <p:sp>
        <p:nvSpPr>
          <p:cNvPr id="19" name="Shape 17"/>
          <p:cNvSpPr/>
          <p:nvPr/>
        </p:nvSpPr>
        <p:spPr>
          <a:xfrm>
            <a:off x="5257800" y="2852057"/>
            <a:ext cx="2377440" cy="0"/>
          </a:xfrm>
          <a:prstGeom prst="line">
            <a:avLst/>
          </a:prstGeom>
          <a:noFill/>
          <a:ln w="5080">
            <a:solidFill>
              <a:srgbClr val="B8C4D3"/>
            </a:solidFill>
            <a:prstDash val="solid"/>
          </a:ln>
        </p:spPr>
      </p:sp>
      <p:sp>
        <p:nvSpPr>
          <p:cNvPr id="20" name="Shape 18"/>
          <p:cNvSpPr/>
          <p:nvPr/>
        </p:nvSpPr>
        <p:spPr>
          <a:xfrm>
            <a:off x="5937069" y="2286000"/>
            <a:ext cx="0" cy="2377440"/>
          </a:xfrm>
          <a:prstGeom prst="line">
            <a:avLst/>
          </a:prstGeom>
          <a:noFill/>
          <a:ln w="5080">
            <a:solidFill>
              <a:srgbClr val="B8C4D3"/>
            </a:solidFill>
            <a:prstDash val="solid"/>
          </a:ln>
        </p:spPr>
      </p:sp>
      <p:sp>
        <p:nvSpPr>
          <p:cNvPr id="21" name="Shape 19"/>
          <p:cNvSpPr/>
          <p:nvPr/>
        </p:nvSpPr>
        <p:spPr>
          <a:xfrm>
            <a:off x="5257800" y="2965269"/>
            <a:ext cx="2377440" cy="0"/>
          </a:xfrm>
          <a:prstGeom prst="line">
            <a:avLst/>
          </a:prstGeom>
          <a:noFill/>
          <a:ln w="5080">
            <a:solidFill>
              <a:srgbClr val="B8C4D3"/>
            </a:solidFill>
            <a:prstDash val="solid"/>
          </a:ln>
        </p:spPr>
      </p:sp>
      <p:sp>
        <p:nvSpPr>
          <p:cNvPr id="22" name="Shape 20"/>
          <p:cNvSpPr/>
          <p:nvPr/>
        </p:nvSpPr>
        <p:spPr>
          <a:xfrm>
            <a:off x="6050280" y="2286000"/>
            <a:ext cx="0" cy="2377440"/>
          </a:xfrm>
          <a:prstGeom prst="line">
            <a:avLst/>
          </a:prstGeom>
          <a:noFill/>
          <a:ln w="5080">
            <a:solidFill>
              <a:srgbClr val="B8C4D3"/>
            </a:solidFill>
            <a:prstDash val="solid"/>
          </a:ln>
        </p:spPr>
      </p:sp>
      <p:sp>
        <p:nvSpPr>
          <p:cNvPr id="23" name="Shape 21"/>
          <p:cNvSpPr/>
          <p:nvPr/>
        </p:nvSpPr>
        <p:spPr>
          <a:xfrm>
            <a:off x="5257800" y="3078480"/>
            <a:ext cx="2377440" cy="0"/>
          </a:xfrm>
          <a:prstGeom prst="line">
            <a:avLst/>
          </a:prstGeom>
          <a:noFill/>
          <a:ln w="5080">
            <a:solidFill>
              <a:srgbClr val="B8C4D3"/>
            </a:solidFill>
            <a:prstDash val="solid"/>
          </a:ln>
        </p:spPr>
      </p:sp>
      <p:sp>
        <p:nvSpPr>
          <p:cNvPr id="24" name="Shape 22"/>
          <p:cNvSpPr/>
          <p:nvPr/>
        </p:nvSpPr>
        <p:spPr>
          <a:xfrm>
            <a:off x="6163491" y="2286000"/>
            <a:ext cx="0" cy="2377440"/>
          </a:xfrm>
          <a:prstGeom prst="line">
            <a:avLst/>
          </a:prstGeom>
          <a:noFill/>
          <a:ln w="5080">
            <a:solidFill>
              <a:srgbClr val="B8C4D3"/>
            </a:solidFill>
            <a:prstDash val="solid"/>
          </a:ln>
        </p:spPr>
      </p:sp>
      <p:sp>
        <p:nvSpPr>
          <p:cNvPr id="25" name="Shape 23"/>
          <p:cNvSpPr/>
          <p:nvPr/>
        </p:nvSpPr>
        <p:spPr>
          <a:xfrm>
            <a:off x="5257800" y="3191691"/>
            <a:ext cx="2377440" cy="0"/>
          </a:xfrm>
          <a:prstGeom prst="line">
            <a:avLst/>
          </a:prstGeom>
          <a:noFill/>
          <a:ln w="5080">
            <a:solidFill>
              <a:srgbClr val="B8C4D3"/>
            </a:solidFill>
            <a:prstDash val="solid"/>
          </a:ln>
        </p:spPr>
      </p:sp>
      <p:sp>
        <p:nvSpPr>
          <p:cNvPr id="26" name="Shape 24"/>
          <p:cNvSpPr/>
          <p:nvPr/>
        </p:nvSpPr>
        <p:spPr>
          <a:xfrm>
            <a:off x="6276703" y="2286000"/>
            <a:ext cx="0" cy="2377440"/>
          </a:xfrm>
          <a:prstGeom prst="line">
            <a:avLst/>
          </a:prstGeom>
          <a:noFill/>
          <a:ln w="5080">
            <a:solidFill>
              <a:srgbClr val="B8C4D3"/>
            </a:solidFill>
            <a:prstDash val="solid"/>
          </a:ln>
        </p:spPr>
      </p:sp>
      <p:sp>
        <p:nvSpPr>
          <p:cNvPr id="27" name="Shape 25"/>
          <p:cNvSpPr/>
          <p:nvPr/>
        </p:nvSpPr>
        <p:spPr>
          <a:xfrm>
            <a:off x="5257800" y="3304903"/>
            <a:ext cx="2377440" cy="0"/>
          </a:xfrm>
          <a:prstGeom prst="line">
            <a:avLst/>
          </a:prstGeom>
          <a:noFill/>
          <a:ln w="5080">
            <a:solidFill>
              <a:srgbClr val="B8C4D3"/>
            </a:solidFill>
            <a:prstDash val="solid"/>
          </a:ln>
        </p:spPr>
      </p:sp>
      <p:sp>
        <p:nvSpPr>
          <p:cNvPr id="28" name="Shape 26"/>
          <p:cNvSpPr/>
          <p:nvPr/>
        </p:nvSpPr>
        <p:spPr>
          <a:xfrm>
            <a:off x="6389914" y="2286000"/>
            <a:ext cx="0" cy="2377440"/>
          </a:xfrm>
          <a:prstGeom prst="line">
            <a:avLst/>
          </a:prstGeom>
          <a:noFill/>
          <a:ln w="5080">
            <a:solidFill>
              <a:srgbClr val="B8C4D3"/>
            </a:solidFill>
            <a:prstDash val="solid"/>
          </a:ln>
        </p:spPr>
      </p:sp>
      <p:sp>
        <p:nvSpPr>
          <p:cNvPr id="29" name="Shape 27"/>
          <p:cNvSpPr/>
          <p:nvPr/>
        </p:nvSpPr>
        <p:spPr>
          <a:xfrm>
            <a:off x="5257800" y="3418114"/>
            <a:ext cx="2377440" cy="0"/>
          </a:xfrm>
          <a:prstGeom prst="line">
            <a:avLst/>
          </a:prstGeom>
          <a:noFill/>
          <a:ln w="5080">
            <a:solidFill>
              <a:srgbClr val="B8C4D3"/>
            </a:solidFill>
            <a:prstDash val="solid"/>
          </a:ln>
        </p:spPr>
      </p:sp>
      <p:sp>
        <p:nvSpPr>
          <p:cNvPr id="30" name="Shape 28"/>
          <p:cNvSpPr/>
          <p:nvPr/>
        </p:nvSpPr>
        <p:spPr>
          <a:xfrm>
            <a:off x="6503126" y="2286000"/>
            <a:ext cx="0" cy="2377440"/>
          </a:xfrm>
          <a:prstGeom prst="line">
            <a:avLst/>
          </a:prstGeom>
          <a:noFill/>
          <a:ln w="5080">
            <a:solidFill>
              <a:srgbClr val="B8C4D3"/>
            </a:solidFill>
            <a:prstDash val="solid"/>
          </a:ln>
        </p:spPr>
      </p:sp>
      <p:sp>
        <p:nvSpPr>
          <p:cNvPr id="31" name="Shape 29"/>
          <p:cNvSpPr/>
          <p:nvPr/>
        </p:nvSpPr>
        <p:spPr>
          <a:xfrm>
            <a:off x="5257800" y="3531326"/>
            <a:ext cx="2377440" cy="0"/>
          </a:xfrm>
          <a:prstGeom prst="line">
            <a:avLst/>
          </a:prstGeom>
          <a:noFill/>
          <a:ln w="5080">
            <a:solidFill>
              <a:srgbClr val="B8C4D3"/>
            </a:solidFill>
            <a:prstDash val="solid"/>
          </a:ln>
        </p:spPr>
      </p:sp>
      <p:sp>
        <p:nvSpPr>
          <p:cNvPr id="32" name="Shape 30"/>
          <p:cNvSpPr/>
          <p:nvPr/>
        </p:nvSpPr>
        <p:spPr>
          <a:xfrm>
            <a:off x="6616337" y="2286000"/>
            <a:ext cx="0" cy="2377440"/>
          </a:xfrm>
          <a:prstGeom prst="line">
            <a:avLst/>
          </a:prstGeom>
          <a:noFill/>
          <a:ln w="5080">
            <a:solidFill>
              <a:srgbClr val="B8C4D3"/>
            </a:solidFill>
            <a:prstDash val="solid"/>
          </a:ln>
        </p:spPr>
      </p:sp>
      <p:sp>
        <p:nvSpPr>
          <p:cNvPr id="33" name="Shape 31"/>
          <p:cNvSpPr/>
          <p:nvPr/>
        </p:nvSpPr>
        <p:spPr>
          <a:xfrm>
            <a:off x="5257800" y="3644537"/>
            <a:ext cx="2377440" cy="0"/>
          </a:xfrm>
          <a:prstGeom prst="line">
            <a:avLst/>
          </a:prstGeom>
          <a:noFill/>
          <a:ln w="5080">
            <a:solidFill>
              <a:srgbClr val="B8C4D3"/>
            </a:solidFill>
            <a:prstDash val="solid"/>
          </a:ln>
        </p:spPr>
      </p:sp>
      <p:sp>
        <p:nvSpPr>
          <p:cNvPr id="34" name="Shape 32"/>
          <p:cNvSpPr/>
          <p:nvPr/>
        </p:nvSpPr>
        <p:spPr>
          <a:xfrm>
            <a:off x="6729549" y="2286000"/>
            <a:ext cx="0" cy="2377440"/>
          </a:xfrm>
          <a:prstGeom prst="line">
            <a:avLst/>
          </a:prstGeom>
          <a:noFill/>
          <a:ln w="5080">
            <a:solidFill>
              <a:srgbClr val="B8C4D3"/>
            </a:solidFill>
            <a:prstDash val="solid"/>
          </a:ln>
        </p:spPr>
      </p:sp>
      <p:sp>
        <p:nvSpPr>
          <p:cNvPr id="35" name="Shape 33"/>
          <p:cNvSpPr/>
          <p:nvPr/>
        </p:nvSpPr>
        <p:spPr>
          <a:xfrm>
            <a:off x="5257800" y="3757749"/>
            <a:ext cx="2377440" cy="0"/>
          </a:xfrm>
          <a:prstGeom prst="line">
            <a:avLst/>
          </a:prstGeom>
          <a:noFill/>
          <a:ln w="5080">
            <a:solidFill>
              <a:srgbClr val="B8C4D3"/>
            </a:solidFill>
            <a:prstDash val="solid"/>
          </a:ln>
        </p:spPr>
      </p:sp>
      <p:sp>
        <p:nvSpPr>
          <p:cNvPr id="36" name="Shape 34"/>
          <p:cNvSpPr/>
          <p:nvPr/>
        </p:nvSpPr>
        <p:spPr>
          <a:xfrm>
            <a:off x="6842760" y="2286000"/>
            <a:ext cx="0" cy="2377440"/>
          </a:xfrm>
          <a:prstGeom prst="line">
            <a:avLst/>
          </a:prstGeom>
          <a:noFill/>
          <a:ln w="5080">
            <a:solidFill>
              <a:srgbClr val="B8C4D3"/>
            </a:solidFill>
            <a:prstDash val="solid"/>
          </a:ln>
        </p:spPr>
      </p:sp>
      <p:sp>
        <p:nvSpPr>
          <p:cNvPr id="37" name="Shape 35"/>
          <p:cNvSpPr/>
          <p:nvPr/>
        </p:nvSpPr>
        <p:spPr>
          <a:xfrm>
            <a:off x="5257800" y="3870960"/>
            <a:ext cx="2377440" cy="0"/>
          </a:xfrm>
          <a:prstGeom prst="line">
            <a:avLst/>
          </a:prstGeom>
          <a:noFill/>
          <a:ln w="5080">
            <a:solidFill>
              <a:srgbClr val="B8C4D3"/>
            </a:solidFill>
            <a:prstDash val="solid"/>
          </a:ln>
        </p:spPr>
      </p:sp>
      <p:sp>
        <p:nvSpPr>
          <p:cNvPr id="38" name="Shape 36"/>
          <p:cNvSpPr/>
          <p:nvPr/>
        </p:nvSpPr>
        <p:spPr>
          <a:xfrm>
            <a:off x="6955971" y="2286000"/>
            <a:ext cx="0" cy="2377440"/>
          </a:xfrm>
          <a:prstGeom prst="line">
            <a:avLst/>
          </a:prstGeom>
          <a:noFill/>
          <a:ln w="5080">
            <a:solidFill>
              <a:srgbClr val="B8C4D3"/>
            </a:solidFill>
            <a:prstDash val="solid"/>
          </a:ln>
        </p:spPr>
      </p:sp>
      <p:sp>
        <p:nvSpPr>
          <p:cNvPr id="39" name="Shape 37"/>
          <p:cNvSpPr/>
          <p:nvPr/>
        </p:nvSpPr>
        <p:spPr>
          <a:xfrm>
            <a:off x="5257800" y="3984171"/>
            <a:ext cx="2377440" cy="0"/>
          </a:xfrm>
          <a:prstGeom prst="line">
            <a:avLst/>
          </a:prstGeom>
          <a:noFill/>
          <a:ln w="5080">
            <a:solidFill>
              <a:srgbClr val="B8C4D3"/>
            </a:solidFill>
            <a:prstDash val="solid"/>
          </a:ln>
        </p:spPr>
      </p:sp>
      <p:sp>
        <p:nvSpPr>
          <p:cNvPr id="40" name="Shape 38"/>
          <p:cNvSpPr/>
          <p:nvPr/>
        </p:nvSpPr>
        <p:spPr>
          <a:xfrm>
            <a:off x="7069183" y="2286000"/>
            <a:ext cx="0" cy="2377440"/>
          </a:xfrm>
          <a:prstGeom prst="line">
            <a:avLst/>
          </a:prstGeom>
          <a:noFill/>
          <a:ln w="5080">
            <a:solidFill>
              <a:srgbClr val="B8C4D3"/>
            </a:solidFill>
            <a:prstDash val="solid"/>
          </a:ln>
        </p:spPr>
      </p:sp>
      <p:sp>
        <p:nvSpPr>
          <p:cNvPr id="41" name="Shape 39"/>
          <p:cNvSpPr/>
          <p:nvPr/>
        </p:nvSpPr>
        <p:spPr>
          <a:xfrm>
            <a:off x="5257800" y="4097383"/>
            <a:ext cx="2377440" cy="0"/>
          </a:xfrm>
          <a:prstGeom prst="line">
            <a:avLst/>
          </a:prstGeom>
          <a:noFill/>
          <a:ln w="5080">
            <a:solidFill>
              <a:srgbClr val="B8C4D3"/>
            </a:solidFill>
            <a:prstDash val="solid"/>
          </a:ln>
        </p:spPr>
      </p:sp>
      <p:sp>
        <p:nvSpPr>
          <p:cNvPr id="42" name="Shape 40"/>
          <p:cNvSpPr/>
          <p:nvPr/>
        </p:nvSpPr>
        <p:spPr>
          <a:xfrm>
            <a:off x="7182394" y="2286000"/>
            <a:ext cx="0" cy="2377440"/>
          </a:xfrm>
          <a:prstGeom prst="line">
            <a:avLst/>
          </a:prstGeom>
          <a:noFill/>
          <a:ln w="5080">
            <a:solidFill>
              <a:srgbClr val="B8C4D3"/>
            </a:solidFill>
            <a:prstDash val="solid"/>
          </a:ln>
        </p:spPr>
      </p:sp>
      <p:sp>
        <p:nvSpPr>
          <p:cNvPr id="43" name="Shape 41"/>
          <p:cNvSpPr/>
          <p:nvPr/>
        </p:nvSpPr>
        <p:spPr>
          <a:xfrm>
            <a:off x="5257800" y="4210594"/>
            <a:ext cx="2377440" cy="0"/>
          </a:xfrm>
          <a:prstGeom prst="line">
            <a:avLst/>
          </a:prstGeom>
          <a:noFill/>
          <a:ln w="5080">
            <a:solidFill>
              <a:srgbClr val="B8C4D3"/>
            </a:solidFill>
            <a:prstDash val="solid"/>
          </a:ln>
        </p:spPr>
      </p:sp>
      <p:sp>
        <p:nvSpPr>
          <p:cNvPr id="44" name="Shape 42"/>
          <p:cNvSpPr/>
          <p:nvPr/>
        </p:nvSpPr>
        <p:spPr>
          <a:xfrm>
            <a:off x="7295606" y="2286000"/>
            <a:ext cx="0" cy="2377440"/>
          </a:xfrm>
          <a:prstGeom prst="line">
            <a:avLst/>
          </a:prstGeom>
          <a:noFill/>
          <a:ln w="5080">
            <a:solidFill>
              <a:srgbClr val="B8C4D3"/>
            </a:solidFill>
            <a:prstDash val="solid"/>
          </a:ln>
        </p:spPr>
      </p:sp>
      <p:sp>
        <p:nvSpPr>
          <p:cNvPr id="45" name="Shape 43"/>
          <p:cNvSpPr/>
          <p:nvPr/>
        </p:nvSpPr>
        <p:spPr>
          <a:xfrm>
            <a:off x="5257800" y="4323806"/>
            <a:ext cx="2377440" cy="0"/>
          </a:xfrm>
          <a:prstGeom prst="line">
            <a:avLst/>
          </a:prstGeom>
          <a:noFill/>
          <a:ln w="5080">
            <a:solidFill>
              <a:srgbClr val="B8C4D3"/>
            </a:solidFill>
            <a:prstDash val="solid"/>
          </a:ln>
        </p:spPr>
      </p:sp>
      <p:sp>
        <p:nvSpPr>
          <p:cNvPr id="46" name="Shape 44"/>
          <p:cNvSpPr/>
          <p:nvPr/>
        </p:nvSpPr>
        <p:spPr>
          <a:xfrm>
            <a:off x="7408817" y="2286000"/>
            <a:ext cx="0" cy="2377440"/>
          </a:xfrm>
          <a:prstGeom prst="line">
            <a:avLst/>
          </a:prstGeom>
          <a:noFill/>
          <a:ln w="5080">
            <a:solidFill>
              <a:srgbClr val="B8C4D3"/>
            </a:solidFill>
            <a:prstDash val="solid"/>
          </a:ln>
        </p:spPr>
      </p:sp>
      <p:sp>
        <p:nvSpPr>
          <p:cNvPr id="47" name="Shape 45"/>
          <p:cNvSpPr/>
          <p:nvPr/>
        </p:nvSpPr>
        <p:spPr>
          <a:xfrm>
            <a:off x="5257800" y="4437017"/>
            <a:ext cx="2377440" cy="0"/>
          </a:xfrm>
          <a:prstGeom prst="line">
            <a:avLst/>
          </a:prstGeom>
          <a:noFill/>
          <a:ln w="5080">
            <a:solidFill>
              <a:srgbClr val="B8C4D3"/>
            </a:solidFill>
            <a:prstDash val="solid"/>
          </a:ln>
        </p:spPr>
      </p:sp>
      <p:sp>
        <p:nvSpPr>
          <p:cNvPr id="48" name="Shape 46"/>
          <p:cNvSpPr/>
          <p:nvPr/>
        </p:nvSpPr>
        <p:spPr>
          <a:xfrm>
            <a:off x="7522029" y="2286000"/>
            <a:ext cx="0" cy="2377440"/>
          </a:xfrm>
          <a:prstGeom prst="line">
            <a:avLst/>
          </a:prstGeom>
          <a:noFill/>
          <a:ln w="5080">
            <a:solidFill>
              <a:srgbClr val="B8C4D3"/>
            </a:solidFill>
            <a:prstDash val="solid"/>
          </a:ln>
        </p:spPr>
      </p:sp>
      <p:sp>
        <p:nvSpPr>
          <p:cNvPr id="49" name="Shape 47"/>
          <p:cNvSpPr/>
          <p:nvPr/>
        </p:nvSpPr>
        <p:spPr>
          <a:xfrm>
            <a:off x="5257800" y="4550229"/>
            <a:ext cx="2377440" cy="0"/>
          </a:xfrm>
          <a:prstGeom prst="line">
            <a:avLst/>
          </a:prstGeom>
          <a:noFill/>
          <a:ln w="5080">
            <a:solidFill>
              <a:srgbClr val="B8C4D3"/>
            </a:solidFill>
            <a:prstDash val="solid"/>
          </a:ln>
        </p:spPr>
      </p:sp>
      <p:sp>
        <p:nvSpPr>
          <p:cNvPr id="50" name="Shape 48"/>
          <p:cNvSpPr/>
          <p:nvPr/>
        </p:nvSpPr>
        <p:spPr>
          <a:xfrm>
            <a:off x="5257800" y="2286000"/>
            <a:ext cx="2377440" cy="2377440"/>
          </a:xfrm>
          <a:prstGeom prst="rect">
            <a:avLst/>
          </a:prstGeom>
          <a:ln w="28575">
            <a:solidFill>
              <a:srgbClr val="2E86AB"/>
            </a:solidFill>
            <a:prstDash val="solid"/>
          </a:ln>
        </p:spPr>
      </p:sp>
      <p:sp>
        <p:nvSpPr>
          <p:cNvPr id="51" name="Shape 49"/>
          <p:cNvSpPr/>
          <p:nvPr/>
        </p:nvSpPr>
        <p:spPr>
          <a:xfrm>
            <a:off x="6389914" y="3418114"/>
            <a:ext cx="113211" cy="113211"/>
          </a:xfrm>
          <a:prstGeom prst="rect">
            <a:avLst/>
          </a:prstGeom>
          <a:solidFill>
            <a:srgbClr val="2E86AB">
              <a:alpha val="75000"/>
            </a:srgbClr>
          </a:solidFill>
          <a:ln w="15875">
            <a:solidFill>
              <a:srgbClr val="2E86AB"/>
            </a:solidFill>
            <a:prstDash val="solid"/>
          </a:ln>
        </p:spPr>
      </p:sp>
      <p:sp>
        <p:nvSpPr>
          <p:cNvPr id="52" name="Text 50"/>
          <p:cNvSpPr txBox="1"/>
          <p:nvPr/>
        </p:nvSpPr>
        <p:spPr>
          <a:xfrm>
            <a:off x="5303520" y="2304288"/>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42 px = 12.6 km</a:t>
            </a:r>
            <a:endParaRPr lang="en-US" sz="850" dirty="0"/>
          </a:p>
        </p:txBody>
      </p:sp>
      <p:sp>
        <p:nvSpPr>
          <p:cNvPr id="53" name="Text 51"/>
          <p:cNvSpPr txBox="1"/>
          <p:nvPr/>
        </p:nvSpPr>
        <p:spPr>
          <a:xfrm>
            <a:off x="6583680" y="3703320"/>
            <a:ext cx="1188720" cy="228600"/>
          </a:xfrm>
          <a:prstGeom prst="rect">
            <a:avLst/>
          </a:prstGeom>
          <a:noFill/>
          <a:ln/>
        </p:spPr>
        <p:txBody>
          <a:bodyPr wrap="square" lIns="0" tIns="0" rIns="0" bIns="0" rtlCol="0" anchor="ctr"/>
          <a:lstStyle/>
          <a:p>
            <a:pPr algn="l" indent="0" marL="0">
              <a:buNone/>
            </a:pPr>
            <a:r>
              <a:rPr lang="en-US" sz="850" b="1" dirty="0">
                <a:solidFill>
                  <a:srgbClr val="2E86AB"/>
                </a:solidFill>
                <a:latin typeface="Calibri" pitchFamily="34" charset="0"/>
                <a:ea typeface="Calibri" pitchFamily="34" charset="-122"/>
                <a:cs typeface="Calibri" pitchFamily="34" charset="-120"/>
              </a:rPr>
              <a:t>token 2 px = 600 m</a:t>
            </a:r>
            <a:endParaRPr lang="en-US" sz="850" dirty="0"/>
          </a:p>
        </p:txBody>
      </p:sp>
      <p:sp>
        <p:nvSpPr>
          <p:cNvPr id="54" name="Text 52"/>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Tile: 42 × 42 px @ 300 m = 12.6 km × 12.6 km (21 × 21 tokens drawn to scale).</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Token: 2 × 2 px = 600 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Two sheets: 16 OLCI bands + 1 SST band.</a:t>
            </a:r>
            <a:endParaRPr lang="en-US" sz="950" dirty="0"/>
          </a:p>
        </p:txBody>
      </p:sp>
      <p:sp>
        <p:nvSpPr>
          <p:cNvPr id="55" name="Text 53"/>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56" name="Shape 54"/>
          <p:cNvSpPr/>
          <p:nvPr/>
        </p:nvSpPr>
        <p:spPr>
          <a:xfrm>
            <a:off x="8092440" y="3760013"/>
            <a:ext cx="2240280" cy="0"/>
          </a:xfrm>
          <a:prstGeom prst="line">
            <a:avLst/>
          </a:prstGeom>
          <a:noFill/>
          <a:ln w="12700">
            <a:solidFill>
              <a:srgbClr val="1B2430"/>
            </a:solidFill>
            <a:prstDash val="solid"/>
            <a:tailEnd type="triangle"/>
          </a:ln>
        </p:spPr>
      </p:sp>
      <p:sp>
        <p:nvSpPr>
          <p:cNvPr id="57" name="Text 55"/>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58" name="Shape 56"/>
          <p:cNvSpPr/>
          <p:nvPr/>
        </p:nvSpPr>
        <p:spPr>
          <a:xfrm>
            <a:off x="8185785" y="3723437"/>
            <a:ext cx="0" cy="73152"/>
          </a:xfrm>
          <a:prstGeom prst="line">
            <a:avLst/>
          </a:prstGeom>
          <a:noFill/>
          <a:ln w="9525">
            <a:solidFill>
              <a:srgbClr val="1B2430"/>
            </a:solidFill>
            <a:prstDash val="solid"/>
          </a:ln>
        </p:spPr>
      </p:sp>
      <p:sp>
        <p:nvSpPr>
          <p:cNvPr id="59" name="Shape 57"/>
          <p:cNvSpPr/>
          <p:nvPr/>
        </p:nvSpPr>
        <p:spPr>
          <a:xfrm>
            <a:off x="8372475" y="3723437"/>
            <a:ext cx="0" cy="73152"/>
          </a:xfrm>
          <a:prstGeom prst="line">
            <a:avLst/>
          </a:prstGeom>
          <a:noFill/>
          <a:ln w="9525">
            <a:solidFill>
              <a:srgbClr val="1B2430"/>
            </a:solidFill>
            <a:prstDash val="solid"/>
          </a:ln>
        </p:spPr>
      </p:sp>
      <p:sp>
        <p:nvSpPr>
          <p:cNvPr id="60" name="Shape 58"/>
          <p:cNvSpPr/>
          <p:nvPr/>
        </p:nvSpPr>
        <p:spPr>
          <a:xfrm>
            <a:off x="8559165" y="3723437"/>
            <a:ext cx="0" cy="73152"/>
          </a:xfrm>
          <a:prstGeom prst="line">
            <a:avLst/>
          </a:prstGeom>
          <a:noFill/>
          <a:ln w="9525">
            <a:solidFill>
              <a:srgbClr val="1B2430"/>
            </a:solidFill>
            <a:prstDash val="solid"/>
          </a:ln>
        </p:spPr>
      </p:sp>
      <p:sp>
        <p:nvSpPr>
          <p:cNvPr id="61" name="Shape 59"/>
          <p:cNvSpPr/>
          <p:nvPr/>
        </p:nvSpPr>
        <p:spPr>
          <a:xfrm>
            <a:off x="8745855" y="3723437"/>
            <a:ext cx="0" cy="73152"/>
          </a:xfrm>
          <a:prstGeom prst="line">
            <a:avLst/>
          </a:prstGeom>
          <a:noFill/>
          <a:ln w="9525">
            <a:solidFill>
              <a:srgbClr val="1B2430"/>
            </a:solidFill>
            <a:prstDash val="solid"/>
          </a:ln>
        </p:spPr>
      </p:sp>
      <p:sp>
        <p:nvSpPr>
          <p:cNvPr id="62" name="Shape 60"/>
          <p:cNvSpPr/>
          <p:nvPr/>
        </p:nvSpPr>
        <p:spPr>
          <a:xfrm>
            <a:off x="8932545" y="3723437"/>
            <a:ext cx="0" cy="73152"/>
          </a:xfrm>
          <a:prstGeom prst="line">
            <a:avLst/>
          </a:prstGeom>
          <a:noFill/>
          <a:ln w="9525">
            <a:solidFill>
              <a:srgbClr val="1B2430"/>
            </a:solidFill>
            <a:prstDash val="solid"/>
          </a:ln>
        </p:spPr>
      </p:sp>
      <p:sp>
        <p:nvSpPr>
          <p:cNvPr id="63" name="Shape 61"/>
          <p:cNvSpPr/>
          <p:nvPr/>
        </p:nvSpPr>
        <p:spPr>
          <a:xfrm>
            <a:off x="9119235" y="3723437"/>
            <a:ext cx="0" cy="73152"/>
          </a:xfrm>
          <a:prstGeom prst="line">
            <a:avLst/>
          </a:prstGeom>
          <a:noFill/>
          <a:ln w="9525">
            <a:solidFill>
              <a:srgbClr val="1B2430"/>
            </a:solidFill>
            <a:prstDash val="solid"/>
          </a:ln>
        </p:spPr>
      </p:sp>
      <p:sp>
        <p:nvSpPr>
          <p:cNvPr id="64" name="Shape 62"/>
          <p:cNvSpPr/>
          <p:nvPr/>
        </p:nvSpPr>
        <p:spPr>
          <a:xfrm>
            <a:off x="9305925" y="3723437"/>
            <a:ext cx="0" cy="73152"/>
          </a:xfrm>
          <a:prstGeom prst="line">
            <a:avLst/>
          </a:prstGeom>
          <a:noFill/>
          <a:ln w="9525">
            <a:solidFill>
              <a:srgbClr val="1B2430"/>
            </a:solidFill>
            <a:prstDash val="solid"/>
          </a:ln>
        </p:spPr>
      </p:sp>
      <p:sp>
        <p:nvSpPr>
          <p:cNvPr id="65" name="Shape 63"/>
          <p:cNvSpPr/>
          <p:nvPr/>
        </p:nvSpPr>
        <p:spPr>
          <a:xfrm>
            <a:off x="9492615" y="3723437"/>
            <a:ext cx="0" cy="73152"/>
          </a:xfrm>
          <a:prstGeom prst="line">
            <a:avLst/>
          </a:prstGeom>
          <a:noFill/>
          <a:ln w="9525">
            <a:solidFill>
              <a:srgbClr val="1B2430"/>
            </a:solidFill>
            <a:prstDash val="solid"/>
          </a:ln>
        </p:spPr>
      </p:sp>
      <p:sp>
        <p:nvSpPr>
          <p:cNvPr id="66" name="Shape 64"/>
          <p:cNvSpPr/>
          <p:nvPr/>
        </p:nvSpPr>
        <p:spPr>
          <a:xfrm>
            <a:off x="9679305" y="3723437"/>
            <a:ext cx="0" cy="73152"/>
          </a:xfrm>
          <a:prstGeom prst="line">
            <a:avLst/>
          </a:prstGeom>
          <a:noFill/>
          <a:ln w="9525">
            <a:solidFill>
              <a:srgbClr val="1B2430"/>
            </a:solidFill>
            <a:prstDash val="solid"/>
          </a:ln>
        </p:spPr>
      </p:sp>
      <p:sp>
        <p:nvSpPr>
          <p:cNvPr id="67" name="Shape 65"/>
          <p:cNvSpPr/>
          <p:nvPr/>
        </p:nvSpPr>
        <p:spPr>
          <a:xfrm>
            <a:off x="9865995" y="3723437"/>
            <a:ext cx="0" cy="73152"/>
          </a:xfrm>
          <a:prstGeom prst="line">
            <a:avLst/>
          </a:prstGeom>
          <a:noFill/>
          <a:ln w="9525">
            <a:solidFill>
              <a:srgbClr val="1B2430"/>
            </a:solidFill>
            <a:prstDash val="solid"/>
          </a:ln>
        </p:spPr>
      </p:sp>
      <p:sp>
        <p:nvSpPr>
          <p:cNvPr id="68" name="Shape 66"/>
          <p:cNvSpPr/>
          <p:nvPr/>
        </p:nvSpPr>
        <p:spPr>
          <a:xfrm>
            <a:off x="10052685" y="3723437"/>
            <a:ext cx="0" cy="73152"/>
          </a:xfrm>
          <a:prstGeom prst="line">
            <a:avLst/>
          </a:prstGeom>
          <a:noFill/>
          <a:ln w="9525">
            <a:solidFill>
              <a:srgbClr val="1B2430"/>
            </a:solidFill>
            <a:prstDash val="solid"/>
          </a:ln>
        </p:spPr>
      </p:sp>
      <p:sp>
        <p:nvSpPr>
          <p:cNvPr id="69" name="Shape 67"/>
          <p:cNvSpPr/>
          <p:nvPr/>
        </p:nvSpPr>
        <p:spPr>
          <a:xfrm>
            <a:off x="10239375" y="3723437"/>
            <a:ext cx="0" cy="73152"/>
          </a:xfrm>
          <a:prstGeom prst="line">
            <a:avLst/>
          </a:prstGeom>
          <a:noFill/>
          <a:ln w="9525">
            <a:solidFill>
              <a:srgbClr val="1B2430"/>
            </a:solidFill>
            <a:prstDash val="solid"/>
          </a:ln>
        </p:spPr>
      </p:sp>
      <p:sp>
        <p:nvSpPr>
          <p:cNvPr id="70" name="Shape 68"/>
          <p:cNvSpPr/>
          <p:nvPr/>
        </p:nvSpPr>
        <p:spPr>
          <a:xfrm>
            <a:off x="9212580" y="2560320"/>
            <a:ext cx="0" cy="1199693"/>
          </a:xfrm>
          <a:prstGeom prst="line">
            <a:avLst/>
          </a:prstGeom>
          <a:noFill/>
          <a:ln w="28575">
            <a:solidFill>
              <a:srgbClr val="E07A2F"/>
            </a:solidFill>
            <a:prstDash val="solid"/>
          </a:ln>
        </p:spPr>
      </p:sp>
      <p:sp>
        <p:nvSpPr>
          <p:cNvPr id="71" name="Shape 69"/>
          <p:cNvSpPr/>
          <p:nvPr/>
        </p:nvSpPr>
        <p:spPr>
          <a:xfrm>
            <a:off x="9148572" y="3696005"/>
            <a:ext cx="128016" cy="128016"/>
          </a:xfrm>
          <a:prstGeom prst="ellipse">
            <a:avLst/>
          </a:prstGeom>
          <a:solidFill>
            <a:srgbClr val="E07A2F"/>
          </a:solidFill>
          <a:ln w="12700">
            <a:solidFill>
              <a:srgbClr val="333333"/>
            </a:solidFill>
            <a:prstDash val="solid"/>
          </a:ln>
        </p:spPr>
      </p:sp>
      <p:sp>
        <p:nvSpPr>
          <p:cNvPr id="72" name="Text 70"/>
          <p:cNvSpPr txBox="1"/>
          <p:nvPr/>
        </p:nvSpPr>
        <p:spPr>
          <a:xfrm>
            <a:off x="8298180" y="2304288"/>
            <a:ext cx="1828800" cy="228600"/>
          </a:xfrm>
          <a:prstGeom prst="rect">
            <a:avLst/>
          </a:prstGeom>
          <a:noFill/>
          <a:ln/>
        </p:spPr>
        <p:txBody>
          <a:bodyPr wrap="square" lIns="0" tIns="0" rIns="0" bIns="0" rtlCol="0" anchor="ctr"/>
          <a:lstStyle/>
          <a:p>
            <a:pPr algn="ctr" indent="0" marL="0">
              <a:buNone/>
            </a:pPr>
            <a:r>
              <a:rPr lang="en-US" sz="850" b="1" dirty="0">
                <a:solidFill>
                  <a:srgbClr val="E07A2F"/>
                </a:solidFill>
                <a:latin typeface="Calibri" pitchFamily="34" charset="0"/>
                <a:ea typeface="Calibri" pitchFamily="34" charset="-122"/>
                <a:cs typeface="Calibri" pitchFamily="34" charset="-120"/>
              </a:rPr>
              <a:t>one Sentinel-3 pass</a:t>
            </a:r>
            <a:endParaRPr lang="en-US" sz="850" dirty="0"/>
          </a:p>
        </p:txBody>
      </p:sp>
      <p:sp>
        <p:nvSpPr>
          <p:cNvPr id="73" name="Text 71"/>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num_frames = 1 — no temporal stacking.</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Single-timestep stencil: the 4-frame Prithvi option is switched off.</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Fine-tuning pairs each in-situ measurement with imagery from a 6-day window centred on it.</a:t>
            </a:r>
            <a:endParaRPr lang="en-US" sz="950" dirty="0"/>
          </a:p>
        </p:txBody>
      </p:sp>
      <p:sp>
        <p:nvSpPr>
          <p:cNvPr id="74" name="Shape 72"/>
          <p:cNvSpPr/>
          <p:nvPr/>
        </p:nvSpPr>
        <p:spPr>
          <a:xfrm>
            <a:off x="10424160" y="3337560"/>
            <a:ext cx="274320" cy="274320"/>
          </a:xfrm>
          <a:prstGeom prst="rightArrow">
            <a:avLst/>
          </a:prstGeom>
          <a:solidFill>
            <a:srgbClr val="B8C4D3"/>
          </a:solidFill>
          <a:ln w="12700">
            <a:solidFill>
              <a:srgbClr val="B8C4D3"/>
            </a:solidFill>
            <a:prstDash val="solid"/>
          </a:ln>
        </p:spPr>
      </p:sp>
      <p:sp>
        <p:nvSpPr>
          <p:cNvPr id="75" name="Shape 73"/>
          <p:cNvSpPr/>
          <p:nvPr/>
        </p:nvSpPr>
        <p:spPr>
          <a:xfrm>
            <a:off x="7744968" y="3337560"/>
            <a:ext cx="274320" cy="274320"/>
          </a:xfrm>
          <a:prstGeom prst="rightArrow">
            <a:avLst/>
          </a:prstGeom>
          <a:solidFill>
            <a:srgbClr val="B8C4D3"/>
          </a:solidFill>
          <a:ln w="12700">
            <a:solidFill>
              <a:srgbClr val="B8C4D3"/>
            </a:solidFill>
            <a:prstDash val="solid"/>
          </a:ln>
        </p:spPr>
      </p:sp>
      <p:sp>
        <p:nvSpPr>
          <p:cNvPr id="76" name="Text 74"/>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77" name="Shape 75"/>
          <p:cNvSpPr/>
          <p:nvPr/>
        </p:nvSpPr>
        <p:spPr>
          <a:xfrm>
            <a:off x="10698480" y="2606040"/>
            <a:ext cx="685800" cy="217170"/>
          </a:xfrm>
          <a:prstGeom prst="rect">
            <a:avLst/>
          </a:prstGeom>
          <a:solidFill>
            <a:srgbClr val="6A4C93"/>
          </a:solidFill>
          <a:ln w="9525">
            <a:solidFill>
              <a:srgbClr val="FFFFFF"/>
            </a:solidFill>
            <a:prstDash val="solid"/>
          </a:ln>
        </p:spPr>
      </p:sp>
      <p:sp>
        <p:nvSpPr>
          <p:cNvPr id="78" name="Shape 76"/>
          <p:cNvSpPr/>
          <p:nvPr/>
        </p:nvSpPr>
        <p:spPr>
          <a:xfrm>
            <a:off x="10698480" y="2823210"/>
            <a:ext cx="685800" cy="217170"/>
          </a:xfrm>
          <a:prstGeom prst="rect">
            <a:avLst/>
          </a:prstGeom>
          <a:solidFill>
            <a:srgbClr val="7B5EA7"/>
          </a:solidFill>
          <a:ln w="9525">
            <a:solidFill>
              <a:srgbClr val="FFFFFF"/>
            </a:solidFill>
            <a:prstDash val="solid"/>
          </a:ln>
        </p:spPr>
      </p:sp>
      <p:sp>
        <p:nvSpPr>
          <p:cNvPr id="79" name="Shape 77"/>
          <p:cNvSpPr/>
          <p:nvPr/>
        </p:nvSpPr>
        <p:spPr>
          <a:xfrm>
            <a:off x="10698480" y="3040380"/>
            <a:ext cx="685800" cy="217170"/>
          </a:xfrm>
          <a:prstGeom prst="rect">
            <a:avLst/>
          </a:prstGeom>
          <a:solidFill>
            <a:srgbClr val="8C70BA"/>
          </a:solidFill>
          <a:ln w="9525">
            <a:solidFill>
              <a:srgbClr val="FFFFFF"/>
            </a:solidFill>
            <a:prstDash val="solid"/>
          </a:ln>
        </p:spPr>
      </p:sp>
      <p:sp>
        <p:nvSpPr>
          <p:cNvPr id="80" name="Shape 78"/>
          <p:cNvSpPr/>
          <p:nvPr/>
        </p:nvSpPr>
        <p:spPr>
          <a:xfrm>
            <a:off x="10698480" y="3257550"/>
            <a:ext cx="685800" cy="217170"/>
          </a:xfrm>
          <a:prstGeom prst="rect">
            <a:avLst/>
          </a:prstGeom>
          <a:solidFill>
            <a:srgbClr val="9D82CD"/>
          </a:solidFill>
          <a:ln w="9525">
            <a:solidFill>
              <a:srgbClr val="FFFFFF"/>
            </a:solidFill>
            <a:prstDash val="solid"/>
          </a:ln>
        </p:spPr>
      </p:sp>
      <p:sp>
        <p:nvSpPr>
          <p:cNvPr id="81" name="Shape 79"/>
          <p:cNvSpPr/>
          <p:nvPr/>
        </p:nvSpPr>
        <p:spPr>
          <a:xfrm>
            <a:off x="10698480" y="3474720"/>
            <a:ext cx="685800" cy="217170"/>
          </a:xfrm>
          <a:prstGeom prst="rect">
            <a:avLst/>
          </a:prstGeom>
          <a:solidFill>
            <a:srgbClr val="8C70BA"/>
          </a:solidFill>
          <a:ln w="9525">
            <a:solidFill>
              <a:srgbClr val="FFFFFF"/>
            </a:solidFill>
            <a:prstDash val="solid"/>
          </a:ln>
        </p:spPr>
      </p:sp>
      <p:sp>
        <p:nvSpPr>
          <p:cNvPr id="82" name="Shape 80"/>
          <p:cNvSpPr/>
          <p:nvPr/>
        </p:nvSpPr>
        <p:spPr>
          <a:xfrm>
            <a:off x="10698480" y="3691890"/>
            <a:ext cx="685800" cy="217170"/>
          </a:xfrm>
          <a:prstGeom prst="rect">
            <a:avLst/>
          </a:prstGeom>
          <a:solidFill>
            <a:srgbClr val="7B5EA7"/>
          </a:solidFill>
          <a:ln w="9525">
            <a:solidFill>
              <a:srgbClr val="FFFFFF"/>
            </a:solidFill>
            <a:prstDash val="solid"/>
          </a:ln>
        </p:spPr>
      </p:sp>
      <p:sp>
        <p:nvSpPr>
          <p:cNvPr id="83" name="Shape 81"/>
          <p:cNvSpPr/>
          <p:nvPr/>
        </p:nvSpPr>
        <p:spPr>
          <a:xfrm>
            <a:off x="10698480" y="3909060"/>
            <a:ext cx="685800" cy="217170"/>
          </a:xfrm>
          <a:prstGeom prst="rect">
            <a:avLst/>
          </a:prstGeom>
          <a:solidFill>
            <a:srgbClr val="6A4C93"/>
          </a:solidFill>
          <a:ln w="9525">
            <a:solidFill>
              <a:srgbClr val="FFFFFF"/>
            </a:solidFill>
            <a:prstDash val="solid"/>
          </a:ln>
        </p:spPr>
      </p:sp>
      <p:sp>
        <p:nvSpPr>
          <p:cNvPr id="84" name="Shape 82"/>
          <p:cNvSpPr/>
          <p:nvPr/>
        </p:nvSpPr>
        <p:spPr>
          <a:xfrm>
            <a:off x="10698480" y="4126230"/>
            <a:ext cx="685800" cy="217170"/>
          </a:xfrm>
          <a:prstGeom prst="rect">
            <a:avLst/>
          </a:prstGeom>
          <a:solidFill>
            <a:srgbClr val="5A3D80"/>
          </a:solidFill>
          <a:ln w="9525">
            <a:solidFill>
              <a:srgbClr val="FFFFFF"/>
            </a:solidFill>
            <a:prstDash val="solid"/>
          </a:ln>
        </p:spPr>
      </p:sp>
      <p:sp>
        <p:nvSpPr>
          <p:cNvPr id="85" name="Text 83"/>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512-D</a:t>
            </a:r>
            <a:endParaRPr lang="en-US" sz="1200" dirty="0"/>
          </a:p>
        </p:txBody>
      </p:sp>
      <p:sp>
        <p:nvSpPr>
          <p:cNvPr id="86" name="Text 84"/>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600 m token</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per single acquisition</a:t>
            </a:r>
            <a:endParaRPr lang="en-US" sz="850" dirty="0"/>
          </a:p>
        </p:txBody>
      </p:sp>
      <p:sp>
        <p:nvSpPr>
          <p:cNvPr id="87" name="Text 8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Stencils side by side</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Spatial footprint that feeds one embedding (log scale) vs. how much time it summarises</a:t>
            </a:r>
            <a:endParaRPr lang="en-US" sz="1400" dirty="0"/>
          </a:p>
        </p:txBody>
      </p:sp>
      <p:sp>
        <p:nvSpPr>
          <p:cNvPr id="4" name="Shape 2"/>
          <p:cNvSpPr/>
          <p:nvPr/>
        </p:nvSpPr>
        <p:spPr>
          <a:xfrm>
            <a:off x="1188720" y="1554480"/>
            <a:ext cx="9509760" cy="3840480"/>
          </a:xfrm>
          <a:prstGeom prst="rect">
            <a:avLst/>
          </a:prstGeom>
          <a:solidFill>
            <a:srgbClr val="FAFBFD"/>
          </a:solidFill>
          <a:ln w="9525">
            <a:solidFill>
              <a:srgbClr val="B8C4D3"/>
            </a:solidFill>
            <a:prstDash val="solid"/>
          </a:ln>
        </p:spPr>
      </p:sp>
      <p:sp>
        <p:nvSpPr>
          <p:cNvPr id="5" name="Shape 3"/>
          <p:cNvSpPr/>
          <p:nvPr/>
        </p:nvSpPr>
        <p:spPr>
          <a:xfrm>
            <a:off x="1727008" y="1554480"/>
            <a:ext cx="0" cy="3840480"/>
          </a:xfrm>
          <a:prstGeom prst="line">
            <a:avLst/>
          </a:prstGeom>
          <a:noFill/>
          <a:ln w="6350">
            <a:solidFill>
              <a:srgbClr val="B8C4D3"/>
            </a:solidFill>
            <a:prstDash val="dash"/>
          </a:ln>
        </p:spPr>
      </p:sp>
      <p:sp>
        <p:nvSpPr>
          <p:cNvPr id="6" name="Text 4"/>
          <p:cNvSpPr txBox="1"/>
          <p:nvPr/>
        </p:nvSpPr>
        <p:spPr>
          <a:xfrm>
            <a:off x="1269808" y="5440680"/>
            <a:ext cx="914400" cy="228600"/>
          </a:xfrm>
          <a:prstGeom prst="rect">
            <a:avLst/>
          </a:prstGeom>
          <a:noFill/>
          <a:ln/>
        </p:spPr>
        <p:txBody>
          <a:bodyPr wrap="square" lIns="0" tIns="0" rIns="0" bIns="0" rtlCol="0" anchor="ctr"/>
          <a:lstStyle/>
          <a:p>
            <a:pPr algn="ctr" indent="0" marL="0">
              <a:buNone/>
            </a:pPr>
            <a:r>
              <a:rPr lang="en-US" sz="950" dirty="0">
                <a:solidFill>
                  <a:srgbClr val="6B7A8F"/>
                </a:solidFill>
                <a:latin typeface="Calibri" pitchFamily="34" charset="0"/>
                <a:ea typeface="Calibri" pitchFamily="34" charset="-122"/>
                <a:cs typeface="Calibri" pitchFamily="34" charset="-120"/>
              </a:rPr>
              <a:t>10 m</a:t>
            </a:r>
            <a:endParaRPr lang="en-US" sz="950" dirty="0"/>
          </a:p>
        </p:txBody>
      </p:sp>
      <p:sp>
        <p:nvSpPr>
          <p:cNvPr id="7" name="Shape 5"/>
          <p:cNvSpPr/>
          <p:nvPr/>
        </p:nvSpPr>
        <p:spPr>
          <a:xfrm>
            <a:off x="3521303" y="1554480"/>
            <a:ext cx="0" cy="3840480"/>
          </a:xfrm>
          <a:prstGeom prst="line">
            <a:avLst/>
          </a:prstGeom>
          <a:noFill/>
          <a:ln w="6350">
            <a:solidFill>
              <a:srgbClr val="B8C4D3"/>
            </a:solidFill>
            <a:prstDash val="dash"/>
          </a:ln>
        </p:spPr>
      </p:sp>
      <p:sp>
        <p:nvSpPr>
          <p:cNvPr id="8" name="Text 6"/>
          <p:cNvSpPr txBox="1"/>
          <p:nvPr/>
        </p:nvSpPr>
        <p:spPr>
          <a:xfrm>
            <a:off x="3064103" y="5440680"/>
            <a:ext cx="914400" cy="228600"/>
          </a:xfrm>
          <a:prstGeom prst="rect">
            <a:avLst/>
          </a:prstGeom>
          <a:noFill/>
          <a:ln/>
        </p:spPr>
        <p:txBody>
          <a:bodyPr wrap="square" lIns="0" tIns="0" rIns="0" bIns="0" rtlCol="0" anchor="ctr"/>
          <a:lstStyle/>
          <a:p>
            <a:pPr algn="ctr" indent="0" marL="0">
              <a:buNone/>
            </a:pPr>
            <a:r>
              <a:rPr lang="en-US" sz="950" dirty="0">
                <a:solidFill>
                  <a:srgbClr val="6B7A8F"/>
                </a:solidFill>
                <a:latin typeface="Calibri" pitchFamily="34" charset="0"/>
                <a:ea typeface="Calibri" pitchFamily="34" charset="-122"/>
                <a:cs typeface="Calibri" pitchFamily="34" charset="-120"/>
              </a:rPr>
              <a:t>100 m</a:t>
            </a:r>
            <a:endParaRPr lang="en-US" sz="950" dirty="0"/>
          </a:p>
        </p:txBody>
      </p:sp>
      <p:sp>
        <p:nvSpPr>
          <p:cNvPr id="9" name="Shape 7"/>
          <p:cNvSpPr/>
          <p:nvPr/>
        </p:nvSpPr>
        <p:spPr>
          <a:xfrm>
            <a:off x="5315597" y="1554480"/>
            <a:ext cx="0" cy="3840480"/>
          </a:xfrm>
          <a:prstGeom prst="line">
            <a:avLst/>
          </a:prstGeom>
          <a:noFill/>
          <a:ln w="6350">
            <a:solidFill>
              <a:srgbClr val="B8C4D3"/>
            </a:solidFill>
            <a:prstDash val="dash"/>
          </a:ln>
        </p:spPr>
      </p:sp>
      <p:sp>
        <p:nvSpPr>
          <p:cNvPr id="10" name="Text 8"/>
          <p:cNvSpPr txBox="1"/>
          <p:nvPr/>
        </p:nvSpPr>
        <p:spPr>
          <a:xfrm>
            <a:off x="4858397" y="5440680"/>
            <a:ext cx="914400" cy="228600"/>
          </a:xfrm>
          <a:prstGeom prst="rect">
            <a:avLst/>
          </a:prstGeom>
          <a:noFill/>
          <a:ln/>
        </p:spPr>
        <p:txBody>
          <a:bodyPr wrap="square" lIns="0" tIns="0" rIns="0" bIns="0" rtlCol="0" anchor="ctr"/>
          <a:lstStyle/>
          <a:p>
            <a:pPr algn="ctr" indent="0" marL="0">
              <a:buNone/>
            </a:pPr>
            <a:r>
              <a:rPr lang="en-US" sz="950" dirty="0">
                <a:solidFill>
                  <a:srgbClr val="6B7A8F"/>
                </a:solidFill>
                <a:latin typeface="Calibri" pitchFamily="34" charset="0"/>
                <a:ea typeface="Calibri" pitchFamily="34" charset="-122"/>
                <a:cs typeface="Calibri" pitchFamily="34" charset="-120"/>
              </a:rPr>
              <a:t>1 km</a:t>
            </a:r>
            <a:endParaRPr lang="en-US" sz="950" dirty="0"/>
          </a:p>
        </p:txBody>
      </p:sp>
      <p:sp>
        <p:nvSpPr>
          <p:cNvPr id="11" name="Shape 9"/>
          <p:cNvSpPr/>
          <p:nvPr/>
        </p:nvSpPr>
        <p:spPr>
          <a:xfrm>
            <a:off x="7109891" y="1554480"/>
            <a:ext cx="0" cy="3840480"/>
          </a:xfrm>
          <a:prstGeom prst="line">
            <a:avLst/>
          </a:prstGeom>
          <a:noFill/>
          <a:ln w="6350">
            <a:solidFill>
              <a:srgbClr val="B8C4D3"/>
            </a:solidFill>
            <a:prstDash val="dash"/>
          </a:ln>
        </p:spPr>
      </p:sp>
      <p:sp>
        <p:nvSpPr>
          <p:cNvPr id="12" name="Text 10"/>
          <p:cNvSpPr txBox="1"/>
          <p:nvPr/>
        </p:nvSpPr>
        <p:spPr>
          <a:xfrm>
            <a:off x="6652691" y="5440680"/>
            <a:ext cx="914400" cy="228600"/>
          </a:xfrm>
          <a:prstGeom prst="rect">
            <a:avLst/>
          </a:prstGeom>
          <a:noFill/>
          <a:ln/>
        </p:spPr>
        <p:txBody>
          <a:bodyPr wrap="square" lIns="0" tIns="0" rIns="0" bIns="0" rtlCol="0" anchor="ctr"/>
          <a:lstStyle/>
          <a:p>
            <a:pPr algn="ctr" indent="0" marL="0">
              <a:buNone/>
            </a:pPr>
            <a:r>
              <a:rPr lang="en-US" sz="950" dirty="0">
                <a:solidFill>
                  <a:srgbClr val="6B7A8F"/>
                </a:solidFill>
                <a:latin typeface="Calibri" pitchFamily="34" charset="0"/>
                <a:ea typeface="Calibri" pitchFamily="34" charset="-122"/>
                <a:cs typeface="Calibri" pitchFamily="34" charset="-120"/>
              </a:rPr>
              <a:t>10 km</a:t>
            </a:r>
            <a:endParaRPr lang="en-US" sz="950" dirty="0"/>
          </a:p>
        </p:txBody>
      </p:sp>
      <p:sp>
        <p:nvSpPr>
          <p:cNvPr id="13" name="Shape 11"/>
          <p:cNvSpPr/>
          <p:nvPr/>
        </p:nvSpPr>
        <p:spPr>
          <a:xfrm>
            <a:off x="8904186" y="1554480"/>
            <a:ext cx="0" cy="3840480"/>
          </a:xfrm>
          <a:prstGeom prst="line">
            <a:avLst/>
          </a:prstGeom>
          <a:noFill/>
          <a:ln w="6350">
            <a:solidFill>
              <a:srgbClr val="B8C4D3"/>
            </a:solidFill>
            <a:prstDash val="dash"/>
          </a:ln>
        </p:spPr>
      </p:sp>
      <p:sp>
        <p:nvSpPr>
          <p:cNvPr id="14" name="Text 12"/>
          <p:cNvSpPr txBox="1"/>
          <p:nvPr/>
        </p:nvSpPr>
        <p:spPr>
          <a:xfrm>
            <a:off x="8446986" y="5440680"/>
            <a:ext cx="914400" cy="228600"/>
          </a:xfrm>
          <a:prstGeom prst="rect">
            <a:avLst/>
          </a:prstGeom>
          <a:noFill/>
          <a:ln/>
        </p:spPr>
        <p:txBody>
          <a:bodyPr wrap="square" lIns="0" tIns="0" rIns="0" bIns="0" rtlCol="0" anchor="ctr"/>
          <a:lstStyle/>
          <a:p>
            <a:pPr algn="ctr" indent="0" marL="0">
              <a:buNone/>
            </a:pPr>
            <a:r>
              <a:rPr lang="en-US" sz="950" dirty="0">
                <a:solidFill>
                  <a:srgbClr val="6B7A8F"/>
                </a:solidFill>
                <a:latin typeface="Calibri" pitchFamily="34" charset="0"/>
                <a:ea typeface="Calibri" pitchFamily="34" charset="-122"/>
                <a:cs typeface="Calibri" pitchFamily="34" charset="-120"/>
              </a:rPr>
              <a:t>100 km</a:t>
            </a:r>
            <a:endParaRPr lang="en-US" sz="950" dirty="0"/>
          </a:p>
        </p:txBody>
      </p:sp>
      <p:sp>
        <p:nvSpPr>
          <p:cNvPr id="15" name="Shape 13"/>
          <p:cNvSpPr/>
          <p:nvPr/>
        </p:nvSpPr>
        <p:spPr>
          <a:xfrm>
            <a:off x="10698480" y="1554480"/>
            <a:ext cx="0" cy="3840480"/>
          </a:xfrm>
          <a:prstGeom prst="line">
            <a:avLst/>
          </a:prstGeom>
          <a:noFill/>
          <a:ln w="6350">
            <a:solidFill>
              <a:srgbClr val="B8C4D3"/>
            </a:solidFill>
            <a:prstDash val="dash"/>
          </a:ln>
        </p:spPr>
      </p:sp>
      <p:sp>
        <p:nvSpPr>
          <p:cNvPr id="16" name="Text 14"/>
          <p:cNvSpPr txBox="1"/>
          <p:nvPr/>
        </p:nvSpPr>
        <p:spPr>
          <a:xfrm>
            <a:off x="10241280" y="5440680"/>
            <a:ext cx="914400" cy="228600"/>
          </a:xfrm>
          <a:prstGeom prst="rect">
            <a:avLst/>
          </a:prstGeom>
          <a:noFill/>
          <a:ln/>
        </p:spPr>
        <p:txBody>
          <a:bodyPr wrap="square" lIns="0" tIns="0" rIns="0" bIns="0" rtlCol="0" anchor="ctr"/>
          <a:lstStyle/>
          <a:p>
            <a:pPr algn="ctr" indent="0" marL="0">
              <a:buNone/>
            </a:pPr>
            <a:r>
              <a:rPr lang="en-US" sz="950" dirty="0">
                <a:solidFill>
                  <a:srgbClr val="6B7A8F"/>
                </a:solidFill>
                <a:latin typeface="Calibri" pitchFamily="34" charset="0"/>
                <a:ea typeface="Calibri" pitchFamily="34" charset="-122"/>
                <a:cs typeface="Calibri" pitchFamily="34" charset="-120"/>
              </a:rPr>
              <a:t>1000 km</a:t>
            </a:r>
            <a:endParaRPr lang="en-US" sz="950" dirty="0"/>
          </a:p>
        </p:txBody>
      </p:sp>
      <p:sp>
        <p:nvSpPr>
          <p:cNvPr id="17" name="Text 15"/>
          <p:cNvSpPr txBox="1"/>
          <p:nvPr/>
        </p:nvSpPr>
        <p:spPr>
          <a:xfrm>
            <a:off x="1188720" y="5687568"/>
            <a:ext cx="9509760" cy="274320"/>
          </a:xfrm>
          <a:prstGeom prst="rect">
            <a:avLst/>
          </a:prstGeom>
          <a:noFill/>
          <a:ln/>
        </p:spPr>
        <p:txBody>
          <a:bodyPr wrap="square" lIns="0" tIns="0" rIns="0" bIns="0" rtlCol="0" anchor="ctr"/>
          <a:lstStyle/>
          <a:p>
            <a:pPr algn="ctr" indent="0" marL="0">
              <a:buNone/>
            </a:pPr>
            <a:r>
              <a:rPr lang="en-US" sz="1050" b="1" dirty="0">
                <a:solidFill>
                  <a:srgbClr val="2E86AB"/>
                </a:solidFill>
                <a:latin typeface="Calibri" pitchFamily="34" charset="0"/>
                <a:ea typeface="Calibri" pitchFamily="34" charset="-122"/>
                <a:cs typeface="Calibri" pitchFamily="34" charset="-120"/>
              </a:rPr>
              <a:t>Spatial extent of the input that shapes one embedding (side length)</a:t>
            </a:r>
            <a:endParaRPr lang="en-US" sz="1050" dirty="0"/>
          </a:p>
        </p:txBody>
      </p:sp>
      <p:sp>
        <p:nvSpPr>
          <p:cNvPr id="18" name="Shape 16"/>
          <p:cNvSpPr/>
          <p:nvPr/>
        </p:nvSpPr>
        <p:spPr>
          <a:xfrm>
            <a:off x="1188720" y="5010912"/>
            <a:ext cx="9509760" cy="0"/>
          </a:xfrm>
          <a:prstGeom prst="line">
            <a:avLst/>
          </a:prstGeom>
          <a:noFill/>
          <a:ln w="6350">
            <a:solidFill>
              <a:srgbClr val="B8C4D3"/>
            </a:solidFill>
            <a:prstDash val="dash"/>
          </a:ln>
        </p:spPr>
      </p:sp>
      <p:sp>
        <p:nvSpPr>
          <p:cNvPr id="19" name="Text 17"/>
          <p:cNvSpPr txBox="1"/>
          <p:nvPr/>
        </p:nvSpPr>
        <p:spPr>
          <a:xfrm>
            <a:off x="137160" y="4736592"/>
            <a:ext cx="960120" cy="548640"/>
          </a:xfrm>
          <a:prstGeom prst="rect">
            <a:avLst/>
          </a:prstGeom>
          <a:noFill/>
          <a:ln/>
        </p:spPr>
        <p:txBody>
          <a:bodyPr wrap="square" lIns="0" tIns="0" rIns="0" bIns="0" rtlCol="0" anchor="ctr"/>
          <a:lstStyle/>
          <a:p>
            <a:pPr algn="r" indent="0" marL="0">
              <a:buNone/>
            </a:pPr>
            <a:r>
              <a:rPr lang="en-US" sz="950" dirty="0">
                <a:solidFill>
                  <a:srgbClr val="E07A2F"/>
                </a:solidFill>
                <a:latin typeface="Calibri" pitchFamily="34" charset="0"/>
                <a:ea typeface="Calibri" pitchFamily="34" charset="-122"/>
                <a:cs typeface="Calibri" pitchFamily="34" charset="-120"/>
              </a:rPr>
              <a:t>single snapshot</a:t>
            </a:r>
            <a:endParaRPr lang="en-US" sz="950" dirty="0"/>
          </a:p>
        </p:txBody>
      </p:sp>
      <p:sp>
        <p:nvSpPr>
          <p:cNvPr id="20" name="Shape 18"/>
          <p:cNvSpPr/>
          <p:nvPr/>
        </p:nvSpPr>
        <p:spPr>
          <a:xfrm>
            <a:off x="1188720" y="4242816"/>
            <a:ext cx="9509760" cy="0"/>
          </a:xfrm>
          <a:prstGeom prst="line">
            <a:avLst/>
          </a:prstGeom>
          <a:noFill/>
          <a:ln w="6350">
            <a:solidFill>
              <a:srgbClr val="B8C4D3"/>
            </a:solidFill>
            <a:prstDash val="dash"/>
          </a:ln>
        </p:spPr>
      </p:sp>
      <p:sp>
        <p:nvSpPr>
          <p:cNvPr id="21" name="Text 19"/>
          <p:cNvSpPr txBox="1"/>
          <p:nvPr/>
        </p:nvSpPr>
        <p:spPr>
          <a:xfrm>
            <a:off x="137160" y="3968496"/>
            <a:ext cx="960120" cy="548640"/>
          </a:xfrm>
          <a:prstGeom prst="rect">
            <a:avLst/>
          </a:prstGeom>
          <a:noFill/>
          <a:ln/>
        </p:spPr>
        <p:txBody>
          <a:bodyPr wrap="square" lIns="0" tIns="0" rIns="0" bIns="0" rtlCol="0" anchor="ctr"/>
          <a:lstStyle/>
          <a:p>
            <a:pPr algn="r" indent="0" marL="0">
              <a:buNone/>
            </a:pPr>
            <a:r>
              <a:rPr lang="en-US" sz="950" dirty="0">
                <a:solidFill>
                  <a:srgbClr val="E07A2F"/>
                </a:solidFill>
                <a:latin typeface="Calibri" pitchFamily="34" charset="0"/>
                <a:ea typeface="Calibri" pitchFamily="34" charset="-122"/>
                <a:cs typeface="Calibri" pitchFamily="34" charset="-120"/>
              </a:rPr>
              <a:t>a few dates (4)</a:t>
            </a:r>
            <a:endParaRPr lang="en-US" sz="950" dirty="0"/>
          </a:p>
        </p:txBody>
      </p:sp>
      <p:sp>
        <p:nvSpPr>
          <p:cNvPr id="22" name="Shape 20"/>
          <p:cNvSpPr/>
          <p:nvPr/>
        </p:nvSpPr>
        <p:spPr>
          <a:xfrm>
            <a:off x="1188720" y="3474720"/>
            <a:ext cx="9509760" cy="0"/>
          </a:xfrm>
          <a:prstGeom prst="line">
            <a:avLst/>
          </a:prstGeom>
          <a:noFill/>
          <a:ln w="6350">
            <a:solidFill>
              <a:srgbClr val="B8C4D3"/>
            </a:solidFill>
            <a:prstDash val="dash"/>
          </a:ln>
        </p:spPr>
      </p:sp>
      <p:sp>
        <p:nvSpPr>
          <p:cNvPr id="23" name="Text 21"/>
          <p:cNvSpPr txBox="1"/>
          <p:nvPr/>
        </p:nvSpPr>
        <p:spPr>
          <a:xfrm>
            <a:off x="137160" y="3200400"/>
            <a:ext cx="960120" cy="548640"/>
          </a:xfrm>
          <a:prstGeom prst="rect">
            <a:avLst/>
          </a:prstGeom>
          <a:noFill/>
          <a:ln/>
        </p:spPr>
        <p:txBody>
          <a:bodyPr wrap="square" lIns="0" tIns="0" rIns="0" bIns="0" rtlCol="0" anchor="ctr"/>
          <a:lstStyle/>
          <a:p>
            <a:pPr algn="r" indent="0" marL="0">
              <a:buNone/>
            </a:pPr>
            <a:r>
              <a:rPr lang="en-US" sz="950" dirty="0">
                <a:solidFill>
                  <a:srgbClr val="E07A2F"/>
                </a:solidFill>
                <a:latin typeface="Calibri" pitchFamily="34" charset="0"/>
                <a:ea typeface="Calibri" pitchFamily="34" charset="-122"/>
                <a:cs typeface="Calibri" pitchFamily="34" charset="-120"/>
              </a:rPr>
              <a:t>12 monthly steps</a:t>
            </a:r>
            <a:endParaRPr lang="en-US" sz="950" dirty="0"/>
          </a:p>
        </p:txBody>
      </p:sp>
      <p:sp>
        <p:nvSpPr>
          <p:cNvPr id="24" name="Shape 22"/>
          <p:cNvSpPr/>
          <p:nvPr/>
        </p:nvSpPr>
        <p:spPr>
          <a:xfrm>
            <a:off x="1188720" y="2706624"/>
            <a:ext cx="9509760" cy="0"/>
          </a:xfrm>
          <a:prstGeom prst="line">
            <a:avLst/>
          </a:prstGeom>
          <a:noFill/>
          <a:ln w="6350">
            <a:solidFill>
              <a:srgbClr val="B8C4D3"/>
            </a:solidFill>
            <a:prstDash val="dash"/>
          </a:ln>
        </p:spPr>
      </p:sp>
      <p:sp>
        <p:nvSpPr>
          <p:cNvPr id="25" name="Text 23"/>
          <p:cNvSpPr txBox="1"/>
          <p:nvPr/>
        </p:nvSpPr>
        <p:spPr>
          <a:xfrm>
            <a:off x="137160" y="2432304"/>
            <a:ext cx="960120" cy="548640"/>
          </a:xfrm>
          <a:prstGeom prst="rect">
            <a:avLst/>
          </a:prstGeom>
          <a:noFill/>
          <a:ln/>
        </p:spPr>
        <p:txBody>
          <a:bodyPr wrap="square" lIns="0" tIns="0" rIns="0" bIns="0" rtlCol="0" anchor="ctr"/>
          <a:lstStyle/>
          <a:p>
            <a:pPr algn="r" indent="0" marL="0">
              <a:buNone/>
            </a:pPr>
            <a:r>
              <a:rPr lang="en-US" sz="950" dirty="0">
                <a:solidFill>
                  <a:srgbClr val="E07A2F"/>
                </a:solidFill>
                <a:latin typeface="Calibri" pitchFamily="34" charset="0"/>
                <a:ea typeface="Calibri" pitchFamily="34" charset="-122"/>
                <a:cs typeface="Calibri" pitchFamily="34" charset="-120"/>
              </a:rPr>
              <a:t>1 year folded (12–40 dates)</a:t>
            </a:r>
            <a:endParaRPr lang="en-US" sz="950" dirty="0"/>
          </a:p>
        </p:txBody>
      </p:sp>
      <p:sp>
        <p:nvSpPr>
          <p:cNvPr id="26" name="Shape 24"/>
          <p:cNvSpPr/>
          <p:nvPr/>
        </p:nvSpPr>
        <p:spPr>
          <a:xfrm>
            <a:off x="1188720" y="1938528"/>
            <a:ext cx="9509760" cy="0"/>
          </a:xfrm>
          <a:prstGeom prst="line">
            <a:avLst/>
          </a:prstGeom>
          <a:noFill/>
          <a:ln w="6350">
            <a:solidFill>
              <a:srgbClr val="B8C4D3"/>
            </a:solidFill>
            <a:prstDash val="dash"/>
          </a:ln>
        </p:spPr>
      </p:sp>
      <p:sp>
        <p:nvSpPr>
          <p:cNvPr id="27" name="Text 25"/>
          <p:cNvSpPr txBox="1"/>
          <p:nvPr/>
        </p:nvSpPr>
        <p:spPr>
          <a:xfrm>
            <a:off x="137160" y="1664208"/>
            <a:ext cx="960120" cy="548640"/>
          </a:xfrm>
          <a:prstGeom prst="rect">
            <a:avLst/>
          </a:prstGeom>
          <a:noFill/>
          <a:ln/>
        </p:spPr>
        <p:txBody>
          <a:bodyPr wrap="square" lIns="0" tIns="0" rIns="0" bIns="0" rtlCol="0" anchor="ctr"/>
          <a:lstStyle/>
          <a:p>
            <a:pPr algn="r" indent="0" marL="0">
              <a:buNone/>
            </a:pPr>
            <a:r>
              <a:rPr lang="en-US" sz="950" dirty="0">
                <a:solidFill>
                  <a:srgbClr val="E07A2F"/>
                </a:solidFill>
                <a:latin typeface="Calibri" pitchFamily="34" charset="0"/>
                <a:ea typeface="Calibri" pitchFamily="34" charset="-122"/>
                <a:cs typeface="Calibri" pitchFamily="34" charset="-120"/>
              </a:rPr>
              <a:t>1 year, all sources (arbitrary window)</a:t>
            </a:r>
            <a:endParaRPr lang="en-US" sz="950" dirty="0"/>
          </a:p>
        </p:txBody>
      </p:sp>
      <p:sp>
        <p:nvSpPr>
          <p:cNvPr id="28" name="Text 26"/>
          <p:cNvSpPr txBox="1"/>
          <p:nvPr/>
        </p:nvSpPr>
        <p:spPr>
          <a:xfrm>
            <a:off x="137160" y="1234440"/>
            <a:ext cx="2743200" cy="274320"/>
          </a:xfrm>
          <a:prstGeom prst="rect">
            <a:avLst/>
          </a:prstGeom>
          <a:noFill/>
          <a:ln/>
        </p:spPr>
        <p:txBody>
          <a:bodyPr wrap="square" lIns="0" tIns="0" rIns="0" bIns="0" rtlCol="0" anchor="ctr"/>
          <a:lstStyle/>
          <a:p>
            <a:pPr indent="0" marL="0">
              <a:buNone/>
            </a:pPr>
            <a:r>
              <a:rPr lang="en-US" sz="1050" b="1" dirty="0">
                <a:solidFill>
                  <a:srgbClr val="E07A2F"/>
                </a:solidFill>
                <a:latin typeface="Calibri" pitchFamily="34" charset="0"/>
                <a:ea typeface="Calibri" pitchFamily="34" charset="-122"/>
                <a:cs typeface="Calibri" pitchFamily="34" charset="-120"/>
              </a:rPr>
              <a:t>Temporal window per embedding</a:t>
            </a:r>
            <a:endParaRPr lang="en-US" sz="1050" dirty="0"/>
          </a:p>
        </p:txBody>
      </p:sp>
      <p:sp>
        <p:nvSpPr>
          <p:cNvPr id="29" name="Shape 27"/>
          <p:cNvSpPr/>
          <p:nvPr/>
        </p:nvSpPr>
        <p:spPr>
          <a:xfrm>
            <a:off x="1608136" y="2587752"/>
            <a:ext cx="237744" cy="237744"/>
          </a:xfrm>
          <a:prstGeom prst="ellipse">
            <a:avLst/>
          </a:prstGeom>
          <a:solidFill>
            <a:srgbClr val="2E86AB"/>
          </a:solidFill>
          <a:ln w="19050">
            <a:solidFill>
              <a:srgbClr val="FFFFFF"/>
            </a:solidFill>
            <a:prstDash val="solid"/>
          </a:ln>
        </p:spPr>
      </p:sp>
      <p:sp>
        <p:nvSpPr>
          <p:cNvPr id="30" name="Text 28"/>
          <p:cNvSpPr txBox="1"/>
          <p:nvPr/>
        </p:nvSpPr>
        <p:spPr>
          <a:xfrm>
            <a:off x="1909888" y="2322576"/>
            <a:ext cx="2926080" cy="457200"/>
          </a:xfrm>
          <a:prstGeom prst="rect">
            <a:avLst/>
          </a:prstGeom>
          <a:noFill/>
          <a:ln/>
        </p:spPr>
        <p:txBody>
          <a:bodyPr wrap="square" lIns="0" tIns="0" rIns="0" bIns="0" rtlCol="0" anchor="t"/>
          <a:lstStyle/>
          <a:p>
            <a:pPr algn="l" indent="0" marL="0">
              <a:buNone/>
            </a:pPr>
            <a:r>
              <a:rPr lang="en-US" sz="1050" b="1" dirty="0">
                <a:solidFill>
                  <a:srgbClr val="2E86AB"/>
                </a:solidFill>
                <a:latin typeface="Calibri" pitchFamily="34" charset="0"/>
                <a:ea typeface="Calibri" pitchFamily="34" charset="-122"/>
                <a:cs typeface="Calibri" pitchFamily="34" charset="-120"/>
              </a:rPr>
              <a:t>TESSERA</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10 m px · 128-D</a:t>
            </a:r>
            <a:endParaRPr lang="en-US" sz="1050" dirty="0"/>
          </a:p>
        </p:txBody>
      </p:sp>
      <p:sp>
        <p:nvSpPr>
          <p:cNvPr id="31" name="Shape 29"/>
          <p:cNvSpPr/>
          <p:nvPr/>
        </p:nvSpPr>
        <p:spPr>
          <a:xfrm>
            <a:off x="5389091" y="1819656"/>
            <a:ext cx="237744" cy="237744"/>
          </a:xfrm>
          <a:prstGeom prst="ellipse">
            <a:avLst/>
          </a:prstGeom>
          <a:solidFill>
            <a:srgbClr val="2E86AB"/>
          </a:solidFill>
          <a:ln w="19050">
            <a:solidFill>
              <a:srgbClr val="FFFFFF"/>
            </a:solidFill>
            <a:prstDash val="solid"/>
          </a:ln>
        </p:spPr>
      </p:sp>
      <p:sp>
        <p:nvSpPr>
          <p:cNvPr id="32" name="Text 30"/>
          <p:cNvSpPr txBox="1"/>
          <p:nvPr/>
        </p:nvSpPr>
        <p:spPr>
          <a:xfrm>
            <a:off x="5690843" y="1554480"/>
            <a:ext cx="2926080" cy="457200"/>
          </a:xfrm>
          <a:prstGeom prst="rect">
            <a:avLst/>
          </a:prstGeom>
          <a:noFill/>
          <a:ln/>
        </p:spPr>
        <p:txBody>
          <a:bodyPr wrap="square" lIns="0" tIns="0" rIns="0" bIns="0" rtlCol="0" anchor="t"/>
          <a:lstStyle/>
          <a:p>
            <a:pPr algn="l" indent="0" marL="0">
              <a:buNone/>
            </a:pPr>
            <a:r>
              <a:rPr lang="en-US" sz="1050" b="1" dirty="0">
                <a:solidFill>
                  <a:srgbClr val="2E86AB"/>
                </a:solidFill>
                <a:latin typeface="Calibri" pitchFamily="34" charset="0"/>
                <a:ea typeface="Calibri" pitchFamily="34" charset="-122"/>
                <a:cs typeface="Calibri" pitchFamily="34" charset="-120"/>
              </a:rPr>
              <a:t>AlphaEarth</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1.28 km frame · 10 m px · 64-D</a:t>
            </a:r>
            <a:endParaRPr lang="en-US" sz="1050" dirty="0"/>
          </a:p>
        </p:txBody>
      </p:sp>
      <p:sp>
        <p:nvSpPr>
          <p:cNvPr id="33" name="Shape 31"/>
          <p:cNvSpPr/>
          <p:nvPr/>
        </p:nvSpPr>
        <p:spPr>
          <a:xfrm>
            <a:off x="5825173" y="4892040"/>
            <a:ext cx="237744" cy="237744"/>
          </a:xfrm>
          <a:prstGeom prst="ellipse">
            <a:avLst/>
          </a:prstGeom>
          <a:solidFill>
            <a:srgbClr val="2E86AB"/>
          </a:solidFill>
          <a:ln w="19050">
            <a:solidFill>
              <a:srgbClr val="FFFFFF"/>
            </a:solidFill>
            <a:prstDash val="solid"/>
          </a:ln>
        </p:spPr>
      </p:sp>
      <p:sp>
        <p:nvSpPr>
          <p:cNvPr id="34" name="Text 32"/>
          <p:cNvSpPr txBox="1"/>
          <p:nvPr/>
        </p:nvSpPr>
        <p:spPr>
          <a:xfrm>
            <a:off x="3017965" y="5056632"/>
            <a:ext cx="2743200" cy="457200"/>
          </a:xfrm>
          <a:prstGeom prst="rect">
            <a:avLst/>
          </a:prstGeom>
          <a:noFill/>
          <a:ln/>
        </p:spPr>
        <p:txBody>
          <a:bodyPr wrap="square" lIns="0" tIns="0" rIns="0" bIns="0" rtlCol="0" anchor="t"/>
          <a:lstStyle/>
          <a:p>
            <a:pPr algn="r" indent="0" marL="0">
              <a:buNone/>
            </a:pPr>
            <a:r>
              <a:rPr lang="en-US" sz="1050" b="1" dirty="0">
                <a:solidFill>
                  <a:srgbClr val="2E86AB"/>
                </a:solidFill>
                <a:latin typeface="Calibri" pitchFamily="34" charset="0"/>
                <a:ea typeface="Calibri" pitchFamily="34" charset="-122"/>
                <a:cs typeface="Calibri" pitchFamily="34" charset="-120"/>
              </a:rPr>
              <a:t>TerraMind</a:t>
            </a:r>
            <a:endParaRPr lang="en-US" sz="1050" dirty="0"/>
          </a:p>
          <a:p>
            <a:pPr algn="r" indent="0" marL="0">
              <a:buNone/>
            </a:pPr>
            <a:r>
              <a:rPr lang="en-US" sz="850" dirty="0">
                <a:solidFill>
                  <a:srgbClr val="1B2430"/>
                </a:solidFill>
                <a:latin typeface="Calibri" pitchFamily="34" charset="0"/>
                <a:ea typeface="Calibri" pitchFamily="34" charset="-122"/>
                <a:cs typeface="Calibri" pitchFamily="34" charset="-120"/>
              </a:rPr>
              <a:t>2.24 km tile · 160 m token · 768-D</a:t>
            </a:r>
            <a:endParaRPr lang="en-US" sz="1050" dirty="0"/>
          </a:p>
        </p:txBody>
      </p:sp>
      <p:sp>
        <p:nvSpPr>
          <p:cNvPr id="35" name="Shape 33"/>
          <p:cNvSpPr/>
          <p:nvPr/>
        </p:nvSpPr>
        <p:spPr>
          <a:xfrm>
            <a:off x="5929228" y="3355848"/>
            <a:ext cx="237744" cy="237744"/>
          </a:xfrm>
          <a:prstGeom prst="ellipse">
            <a:avLst/>
          </a:prstGeom>
          <a:solidFill>
            <a:srgbClr val="2E86AB"/>
          </a:solidFill>
          <a:ln w="19050">
            <a:solidFill>
              <a:srgbClr val="FFFFFF"/>
            </a:solidFill>
            <a:prstDash val="solid"/>
          </a:ln>
        </p:spPr>
      </p:sp>
      <p:sp>
        <p:nvSpPr>
          <p:cNvPr id="36" name="Text 34"/>
          <p:cNvSpPr txBox="1"/>
          <p:nvPr/>
        </p:nvSpPr>
        <p:spPr>
          <a:xfrm>
            <a:off x="6230980" y="3090672"/>
            <a:ext cx="2926080" cy="457200"/>
          </a:xfrm>
          <a:prstGeom prst="rect">
            <a:avLst/>
          </a:prstGeom>
          <a:noFill/>
          <a:ln/>
        </p:spPr>
        <p:txBody>
          <a:bodyPr wrap="square" lIns="0" tIns="0" rIns="0" bIns="0" rtlCol="0" anchor="t"/>
          <a:lstStyle/>
          <a:p>
            <a:pPr algn="l" indent="0" marL="0">
              <a:buNone/>
            </a:pPr>
            <a:r>
              <a:rPr lang="en-US" sz="1050" b="1" dirty="0">
                <a:solidFill>
                  <a:srgbClr val="2E86AB"/>
                </a:solidFill>
                <a:latin typeface="Calibri" pitchFamily="34" charset="0"/>
                <a:ea typeface="Calibri" pitchFamily="34" charset="-122"/>
                <a:cs typeface="Calibri" pitchFamily="34" charset="-120"/>
              </a:rPr>
              <a:t>OlmoEarth</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2.56 km tile · ≤80 m token · 768-D</a:t>
            </a:r>
            <a:endParaRPr lang="en-US" sz="1050" dirty="0"/>
          </a:p>
        </p:txBody>
      </p:sp>
      <p:sp>
        <p:nvSpPr>
          <p:cNvPr id="37" name="Shape 35"/>
          <p:cNvSpPr/>
          <p:nvPr/>
        </p:nvSpPr>
        <p:spPr>
          <a:xfrm>
            <a:off x="6681269" y="4123944"/>
            <a:ext cx="237744" cy="237744"/>
          </a:xfrm>
          <a:prstGeom prst="ellipse">
            <a:avLst/>
          </a:prstGeom>
          <a:solidFill>
            <a:srgbClr val="2E86AB"/>
          </a:solidFill>
          <a:ln w="19050">
            <a:solidFill>
              <a:srgbClr val="FFFFFF"/>
            </a:solidFill>
            <a:prstDash val="solid"/>
          </a:ln>
        </p:spPr>
      </p:sp>
      <p:sp>
        <p:nvSpPr>
          <p:cNvPr id="38" name="Text 36"/>
          <p:cNvSpPr txBox="1"/>
          <p:nvPr/>
        </p:nvSpPr>
        <p:spPr>
          <a:xfrm>
            <a:off x="6983021" y="3739896"/>
            <a:ext cx="2926080" cy="457200"/>
          </a:xfrm>
          <a:prstGeom prst="rect">
            <a:avLst/>
          </a:prstGeom>
          <a:noFill/>
          <a:ln/>
        </p:spPr>
        <p:txBody>
          <a:bodyPr wrap="square" lIns="0" tIns="0" rIns="0" bIns="0" rtlCol="0" anchor="t"/>
          <a:lstStyle/>
          <a:p>
            <a:pPr algn="l" indent="0" marL="0">
              <a:buNone/>
            </a:pPr>
            <a:r>
              <a:rPr lang="en-US" sz="1050" b="1" dirty="0">
                <a:solidFill>
                  <a:srgbClr val="2E86AB"/>
                </a:solidFill>
                <a:latin typeface="Calibri" pitchFamily="34" charset="0"/>
                <a:ea typeface="Calibri" pitchFamily="34" charset="-122"/>
                <a:cs typeface="Calibri" pitchFamily="34" charset="-120"/>
              </a:rPr>
              <a:t>Prithvi-EO 2.0</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6.72 km tile · 480 m token · 1024-D</a:t>
            </a:r>
            <a:endParaRPr lang="en-US" sz="1050" dirty="0"/>
          </a:p>
        </p:txBody>
      </p:sp>
      <p:sp>
        <p:nvSpPr>
          <p:cNvPr id="39" name="Shape 37"/>
          <p:cNvSpPr/>
          <p:nvPr/>
        </p:nvSpPr>
        <p:spPr>
          <a:xfrm>
            <a:off x="7171114" y="4892040"/>
            <a:ext cx="237744" cy="237744"/>
          </a:xfrm>
          <a:prstGeom prst="ellipse">
            <a:avLst/>
          </a:prstGeom>
          <a:solidFill>
            <a:srgbClr val="1C7293"/>
          </a:solidFill>
          <a:ln w="19050">
            <a:solidFill>
              <a:srgbClr val="FFFFFF"/>
            </a:solidFill>
            <a:prstDash val="solid"/>
          </a:ln>
        </p:spPr>
      </p:sp>
      <p:sp>
        <p:nvSpPr>
          <p:cNvPr id="40" name="Text 38"/>
          <p:cNvSpPr txBox="1"/>
          <p:nvPr/>
        </p:nvSpPr>
        <p:spPr>
          <a:xfrm>
            <a:off x="6741346" y="5102352"/>
            <a:ext cx="2926080" cy="457200"/>
          </a:xfrm>
          <a:prstGeom prst="rect">
            <a:avLst/>
          </a:prstGeom>
          <a:noFill/>
          <a:ln/>
        </p:spPr>
        <p:txBody>
          <a:bodyPr wrap="square" lIns="0" tIns="0" rIns="0" bIns="0" rtlCol="0" anchor="t"/>
          <a:lstStyle/>
          <a:p>
            <a:pPr algn="l" indent="0" marL="0">
              <a:buNone/>
            </a:pPr>
            <a:r>
              <a:rPr lang="en-US" sz="1050" b="1" dirty="0">
                <a:solidFill>
                  <a:srgbClr val="1C7293"/>
                </a:solidFill>
                <a:latin typeface="Calibri" pitchFamily="34" charset="0"/>
                <a:ea typeface="Calibri" pitchFamily="34" charset="-122"/>
                <a:cs typeface="Calibri" pitchFamily="34" charset="-120"/>
              </a:rPr>
              <a:t>Granite-Geo-Ocean</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12.6 km tile · 600 m token · 512-D</a:t>
            </a:r>
            <a:endParaRPr lang="en-US" sz="1050" dirty="0"/>
          </a:p>
        </p:txBody>
      </p:sp>
      <p:sp>
        <p:nvSpPr>
          <p:cNvPr id="41" name="Shape 39"/>
          <p:cNvSpPr/>
          <p:nvPr/>
        </p:nvSpPr>
        <p:spPr>
          <a:xfrm>
            <a:off x="8649448" y="4892040"/>
            <a:ext cx="237744" cy="237744"/>
          </a:xfrm>
          <a:prstGeom prst="ellipse">
            <a:avLst/>
          </a:prstGeom>
          <a:solidFill>
            <a:srgbClr val="6A4C93"/>
          </a:solidFill>
          <a:ln w="19050">
            <a:solidFill>
              <a:srgbClr val="FFFFFF"/>
            </a:solidFill>
            <a:prstDash val="solid"/>
          </a:ln>
        </p:spPr>
      </p:sp>
      <p:sp>
        <p:nvSpPr>
          <p:cNvPr id="42" name="Text 40"/>
          <p:cNvSpPr txBox="1"/>
          <p:nvPr/>
        </p:nvSpPr>
        <p:spPr>
          <a:xfrm>
            <a:off x="7671040" y="4370832"/>
            <a:ext cx="3108960" cy="457200"/>
          </a:xfrm>
          <a:prstGeom prst="rect">
            <a:avLst/>
          </a:prstGeom>
          <a:noFill/>
          <a:ln/>
        </p:spPr>
        <p:txBody>
          <a:bodyPr wrap="square" lIns="0" tIns="0" rIns="0" bIns="0" rtlCol="0" anchor="t"/>
          <a:lstStyle/>
          <a:p>
            <a:pPr algn="l" indent="0" marL="0">
              <a:buNone/>
            </a:pPr>
            <a:r>
              <a:rPr lang="en-US" sz="1050" b="1" dirty="0">
                <a:solidFill>
                  <a:srgbClr val="6A4C93"/>
                </a:solidFill>
                <a:latin typeface="Calibri" pitchFamily="34" charset="0"/>
                <a:ea typeface="Calibri" pitchFamily="34" charset="-122"/>
                <a:cs typeface="Calibri" pitchFamily="34" charset="-120"/>
              </a:rPr>
              <a:t>Earth 2 codec (ours)</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3×3 nbhd @ ¼° ≈ 84 km · monthly/pentad mean · 64-D</a:t>
            </a:r>
            <a:endParaRPr lang="en-US" sz="1050" dirty="0"/>
          </a:p>
        </p:txBody>
      </p:sp>
      <p:sp>
        <p:nvSpPr>
          <p:cNvPr id="43" name="Shape 41"/>
          <p:cNvSpPr/>
          <p:nvPr/>
        </p:nvSpPr>
        <p:spPr>
          <a:xfrm>
            <a:off x="7793352" y="2587752"/>
            <a:ext cx="237744" cy="237744"/>
          </a:xfrm>
          <a:prstGeom prst="ellipse">
            <a:avLst/>
          </a:prstGeom>
          <a:solidFill>
            <a:srgbClr val="FFFFFF"/>
          </a:solidFill>
          <a:ln w="19050">
            <a:solidFill>
              <a:srgbClr val="6A4C93"/>
            </a:solidFill>
            <a:prstDash val="dash"/>
          </a:ln>
        </p:spPr>
      </p:sp>
      <p:sp>
        <p:nvSpPr>
          <p:cNvPr id="44" name="Text 42"/>
          <p:cNvSpPr txBox="1"/>
          <p:nvPr/>
        </p:nvSpPr>
        <p:spPr>
          <a:xfrm>
            <a:off x="8095104" y="2322576"/>
            <a:ext cx="2926080" cy="457200"/>
          </a:xfrm>
          <a:prstGeom prst="rect">
            <a:avLst/>
          </a:prstGeom>
          <a:noFill/>
          <a:ln/>
        </p:spPr>
        <p:txBody>
          <a:bodyPr wrap="square" lIns="0" tIns="0" rIns="0" bIns="0" rtlCol="0" anchor="t"/>
          <a:lstStyle/>
          <a:p>
            <a:pPr algn="l" indent="0" marL="0">
              <a:buNone/>
            </a:pPr>
            <a:r>
              <a:rPr lang="en-US" sz="1050" b="1" dirty="0">
                <a:solidFill>
                  <a:srgbClr val="6A4C93"/>
                </a:solidFill>
                <a:latin typeface="Calibri" pitchFamily="34" charset="0"/>
                <a:ea typeface="Calibri" pitchFamily="34" charset="-122"/>
                <a:cs typeface="Calibri" pitchFamily="34" charset="-120"/>
              </a:rPr>
              <a:t>proposed pixel-year arm</a:t>
            </a:r>
            <a:endParaRPr lang="en-US" sz="1050" dirty="0"/>
          </a:p>
          <a:p>
            <a:pPr algn="l" indent="0" marL="0">
              <a:buNone/>
            </a:pPr>
            <a:r>
              <a:rPr lang="en-US" sz="850" dirty="0">
                <a:solidFill>
                  <a:srgbClr val="1B2430"/>
                </a:solidFill>
                <a:latin typeface="Calibri" pitchFamily="34" charset="0"/>
                <a:ea typeface="Calibri" pitchFamily="34" charset="-122"/>
                <a:cs typeface="Calibri" pitchFamily="34" charset="-120"/>
              </a:rPr>
              <a:t>1 px @ ¼° ≈ 28 km · 12 months → one z (last slide)</a:t>
            </a:r>
            <a:endParaRPr lang="en-US" sz="1050" dirty="0"/>
          </a:p>
        </p:txBody>
      </p:sp>
      <p:sp>
        <p:nvSpPr>
          <p:cNvPr id="45" name="Text 43"/>
          <p:cNvSpPr txBox="1"/>
          <p:nvPr/>
        </p:nvSpPr>
        <p:spPr>
          <a:xfrm>
            <a:off x="548640" y="6126480"/>
            <a:ext cx="11064240" cy="320040"/>
          </a:xfrm>
          <a:prstGeom prst="rect">
            <a:avLst/>
          </a:prstGeom>
          <a:noFill/>
          <a:ln/>
        </p:spPr>
        <p:txBody>
          <a:bodyPr wrap="square" lIns="0" tIns="0" rIns="0" bIns="0" rtlCol="0" anchor="ctr"/>
          <a:lstStyle/>
          <a:p>
            <a:pPr indent="0" marL="0">
              <a:buNone/>
            </a:pPr>
            <a:r>
              <a:rPr lang="en-US" sz="1000" i="1" dirty="0">
                <a:solidFill>
                  <a:srgbClr val="6B7A8F"/>
                </a:solidFill>
                <a:latin typeface="Calibri" pitchFamily="34" charset="0"/>
                <a:ea typeface="Calibri" pitchFamily="34" charset="-122"/>
                <a:cs typeface="Calibri" pitchFamily="34" charset="-120"/>
              </a:rPr>
              <a:t>Earth 2 shown for reference: the codec's channel token sees a 3 × 3 neighbourhood of ¼° (or 1°) cells at one monthly or 5-day mean — a snapshot stencil ~7× wider than the widest EO tile here (Granite, 12.6 km).</a:t>
            </a:r>
            <a:endParaRPr lang="en-US" sz="1000" dirty="0"/>
          </a:p>
        </p:txBody>
      </p:sp>
      <p:sp>
        <p:nvSpPr>
          <p:cNvPr id="46" name="Text 4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Summary I — what goes into each embedding</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Inputs, spatial stencil, temporal stencil, output vector</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737360"/>
                <a:gridCol w="2743200"/>
                <a:gridCol w="2377440"/>
                <a:gridCol w="2286000"/>
                <a:gridCol w="192024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Inputs (sensors / modalities)</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Spatial stencil</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Temporal stencil</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Output per embedding</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77724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AlphaEarth (DeepMind)</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S-2, Landsat 8/9, S-1, PALSAR-2, GEDI, ERA5-Land, GRACE, DEM, NLCD, text</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10 m output pixel inside a 1.28 km (128 px) frame; attention global within the frame</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Period summary; arbitrary valid window in the model, calendar year in the product</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64-D unit vector, int8; per pixel per year</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TESSERA (Cambridge)</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S-2 L2A (10 bands) + S-1 RTC (VV, VH)</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Single 10 m pixel — no spatial context</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 calendar year; 40 sampled dates per modality, day-of-year encoded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128-D int8; per pixel per year</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8686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OlmoEarth (Ai2)</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S-1, S-2, Landsat-8 monthly + static maps (OSM, WorldCover, CDL, SRTM, canopy, WorldCereal)</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2.56 km tile (256 px @ 10 m); 1–8 px tokens (10–80 m)</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≤12 monthly steps over 1 year, each step tokenised; temporal masking</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768-D (Base) / 1024-D (Large) per patch per step + pooled vector</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TerraMind (IBM/ESA)</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S-2 L2A/L1C, S-1 GRD/RTC, DEM, RGB, NDVI, LULC, captions, geolocation</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2.24 km tile (224 px @ 10 m); 16 px = 160 m tokens, 14×14 grid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Single co-registered timestamp</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196 × 768-D tokens per modality; merged 768-D; generated modalities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Prithvi-EO 2.0 (IBM/NASA)</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HLS v2 at 30 m, 6 bands (blue, green, red, NIR, SWIR1, SWIR2)</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6.72 km tile (224 px @ 30 m); 480 m (300 M) or 420 m (600 M) tokens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4 dated frames, 1–6 months apart, tubelet depth 1; single frame allowed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1024-D (300 M) / 1280-D (600 M) per token per frame</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Granite-Geo-Ocean (IBM/STFC/PML)</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Sentinel-3 OLCI L2, 16 bands + SLSTR SST (17 ch) at 300 m</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12.6 km tile (42 px @ 300 m); 2 px = 600 m tokens, 21×21 grid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Single acquisition (num_frames = 1)</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512-D per token; regression heads for chl-a, primary production</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Summary II — what each project hands you</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Weights, precomputed embeddings, licence, ocean coverage, and the intended way to use it</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63040"/>
                <a:gridCol w="2103120"/>
                <a:gridCol w="2377440"/>
                <a:gridCol w="1554480"/>
                <a:gridCol w="1463040"/>
                <a:gridCol w="210312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Open weights / code</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Precomputed embeddings</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Licence</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Ocean?</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Intended use / evaluation style</a:t>
                      </a:r>
                      <a:endParaRPr lang="en-US" sz="1050" dirty="0">
                        <a:latin typeface="Calibri" charset="0"/>
                        <a:ea typeface="Calibri" charset="0"/>
                        <a:cs typeface="Calibri" charset="0"/>
                      </a:endParaRPr>
                    </a:p>
                  </a:txBody>
                  <a:tcPr marL="54864" marR="54864" marT="54864" marB="5486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77724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AlphaEarth</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No — model and code unreleased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global 10 m annual 2017–2024 in Earth Engine + GCS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CC-BY 4.0 (data)</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Coastal/inland water only</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Frozen embeddings + linear/shallow heads on sparse labels; 'featurization' replacement</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TESSERA</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weights CC0, code MIT, full pipeline</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10 m annual 2017–2025 via GeoTessera (tile-sampled)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CC0 / MIT</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Land only (water masked)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Frozen per-pixel embeddings + MLP/conv heads; label-efficient mapping</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7724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OlmoEarth</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4 sizes on Hugging Face</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On demand — Studio exports for any AOI; no global archive</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OlmoEarth Artifact License (use restrictions)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Not in pretraining sample</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Both: kNN/linear probes and full fine-tuning; platform for NGOs/agencies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TerraMind</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tiny/small/base/large + tokenizers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Apache 2.0</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Land-stratified TerraMesh</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Fine-tuning via TerraTorch; any-to-any generation; edge/onboard variants</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Prithvi-EO 2.0</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300 M / 600 M, ±TL</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Apache 2.0 (HF) / MIT (GitHub) — verify</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Sea-only tiles removed</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Full fine-tuning of encoder + decoder (TerraTorch); GEO-Bench</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Granite-Geo-Ocean</a:t>
                      </a:r>
                      <a:endParaRPr lang="en-US" sz="100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HF weights + GitHub notebook</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A23B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Apache 2.0</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b="1" dirty="0">
                          <a:solidFill>
                            <a:srgbClr val="1F7A4D"/>
                          </a:solidFill>
                          <a:latin typeface="Calibri" pitchFamily="34" charset="0"/>
                          <a:ea typeface="Calibri" pitchFamily="34" charset="-122"/>
                          <a:cs typeface="Calibri" pitchFamily="34" charset="-120"/>
                        </a:rPr>
                        <a:t>Yes — open ocean, surface optical + SST</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Fine-tune regression heads on ~100–200 in-situ points; ocean-colour biogeochemistry</a:t>
                      </a:r>
                      <a:endParaRPr lang="en-US" sz="1050" dirty="0">
                        <a:latin typeface="Calibri" charset="0"/>
                        <a:ea typeface="Calibri" charset="0"/>
                        <a:cs typeface="Calibri" charset="0"/>
                      </a:endParaRPr>
                    </a:p>
                  </a:txBody>
                  <a:tcPr marL="54864" marR="54864" marT="54864" marB="5486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Who embeds the ocean — and how deep?</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Representation models whose pretraining contains sea pixels: the published ones stop at the surface; Earth 2 is the one with the interior (checked Aug 2026)</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28800"/>
                <a:gridCol w="2468880"/>
                <a:gridCol w="1417320"/>
                <a:gridCol w="2011680"/>
                <a:gridCol w="1783080"/>
                <a:gridCol w="155448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 (org, year)</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Ocean data in pretraining</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Open ocean? depth?</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Stencil</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Embedding / availability</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is for</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73152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Earth 2 codec (ours, 2026)</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Gridded ocean state at ¼° / 1°: T and S at depth from Argo (plus pre-Argo gaps marked 'never measured'), SSH, currents, wind and surface forcing; 14–25 channels, monthly or pentad means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1F7A4D"/>
                          </a:solidFill>
                          <a:latin typeface="Calibri" pitchFamily="34" charset="0"/>
                          <a:ea typeface="Calibri" pitchFamily="34" charset="-122"/>
                          <a:cs typeface="Calibri" pitchFamily="34" charset="-120"/>
                        </a:rPr>
                        <a:t>Yes — open ocean, surface to ~2000 dbar interior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3 × 3 patch per channel token; one pixel-month snapshot; 24-month history in stage 2 with a 222–4444 km stencil</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64-D per pixel-month (128-D variant training); weights + embeddings ours to release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Ocean-state field prediction; frozen-embedding probes to AMOC transport (RAPID, MOVE)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8580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Granite-Geospatial-Ocean (IBM · STFC · PML · Exeter, 2025)</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Sentinel-3 OLCI 16 bands + SLSTR SST, 300 m; 512 k tiles 2017–2021, balanced over 83 Longhurst provinces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1F7A4D"/>
                          </a:solidFill>
                          <a:latin typeface="Calibri" pitchFamily="34" charset="0"/>
                          <a:ea typeface="Calibri" pitchFamily="34" charset="-122"/>
                          <a:cs typeface="Calibri" pitchFamily="34" charset="-120"/>
                        </a:rPr>
                        <a:t>Yes — surface optical only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42 px = 12.6 km tile; 600 m tokens; single acquisition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512-D per token; Apache 2.0 weights on HF + TerraTorch notebook</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Ocean-colour biogeochemistry: chl-a, primary production (surface optical)</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OceanSAR-1 / -2 (Galeio, Apr 2025 / Jan 2026)</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Sentinel-1 Wave-Mode SAR vignettes over open sea, ~12 M images 2015–2024, VV, downsampled to 50 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1F7A4D"/>
                          </a:solidFill>
                          <a:latin typeface="Calibri" pitchFamily="34" charset="0"/>
                          <a:ea typeface="Calibri" pitchFamily="34" charset="-122"/>
                          <a:cs typeface="Calibri" pitchFamily="34" charset="-120"/>
                        </a:rPr>
                        <a:t>Yes — surface roughness only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256 × 256 px @ 50 m = 12.8 km; single acquisition; DINO / DINOv2 with dynamic dataset curation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ResNet50 2048-D · ViT-S/B; v2 ViT 384-D; v1 Apache 2.0 on HF</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Sea-state: TenGeoP geophysical classes, wave height (RMSE 0.63–0.72 m), wind speed (RMSE ~1.4 m s⁻¹), icebergs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3152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Copernicus-FM / Copernicus-Pretrain (TUM, 2025)</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S-1, S-2, S-3 OLCI (300 m), S-5P (1 km), DEM on a 0.25° ERA5 grid; 18.7 M images, ~312 k grid cells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B58900"/>
                          </a:solidFill>
                          <a:latin typeface="Calibri" pitchFamily="34" charset="0"/>
                          <a:ea typeface="Calibri" pitchFamily="34" charset="-122"/>
                          <a:cs typeface="Calibri" pitchFamily="34" charset="-120"/>
                        </a:rPr>
                        <a:t>Partial — 'whole land surface and near-land ocean'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per-modality patches inside 0.25° cells; dynamic hypernetwork accepts any spectral/non-spectral input + metadata</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ViT encoders; code, data and weights released (github zhu-xlab); Copernicus-Bench, 15 tasks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Unified multi-sensor EO backbone; coastal seas incidental, not a target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Weather/climate FMs (Prithvi WxC, Aurora, ClimaX, AtmoRep)</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Reanalysis grids (MERRA-2, ERA5) whose surface fields exist over ocean cells; Aurora has an ocean-wave fine-tune (HRES-WAM)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B58900"/>
                          </a:solidFill>
                          <a:latin typeface="Calibri" pitchFamily="34" charset="0"/>
                          <a:ea typeface="Calibri" pitchFamily="34" charset="-122"/>
                          <a:cs typeface="Calibri" pitchFamily="34" charset="-120"/>
                        </a:rPr>
                        <a:t>Ocean cells present, but as reanalysis background — SST/ocean state not the learning target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0.25°–0.5° global grids; 1–2 lead-time steps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Open weights (varies); no ocean embedding product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Atmospheric forecasting; wave forecasting (Aurora)</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Location encoders (SatCLIP, GeoCLIP)</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Coordinates ↔ imagery/photos; SatCLIP samples S-2 globally, GeoCLIP uses geotagged photos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A23B3B"/>
                          </a:solidFill>
                          <a:latin typeface="Calibri" pitchFamily="34" charset="0"/>
                          <a:ea typeface="Calibri" pitchFamily="34" charset="-122"/>
                          <a:cs typeface="Calibri" pitchFamily="34" charset="-120"/>
                        </a:rPr>
                        <a:t>Effectively no — sea coordinates unverified or absent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point location → vector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Open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Geographic priors, not ocean state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5760720"/>
            <a:ext cx="11064240" cy="640080"/>
          </a:xfrm>
          <a:prstGeom prst="rect">
            <a:avLst/>
          </a:prstGeom>
          <a:noFill/>
          <a:ln/>
        </p:spPr>
        <p:txBody>
          <a:bodyPr wrap="square" lIns="0" tIns="0" rIns="0" bIns="0" rtlCol="0" anchor="t"/>
          <a:lstStyle/>
          <a:p>
            <a:pPr indent="0" marL="0">
              <a:buNone/>
            </a:pPr>
            <a:r>
              <a:rPr lang="en-US" sz="1000" b="1" dirty="0">
                <a:solidFill>
                  <a:srgbClr val="1C7293"/>
                </a:solidFill>
                <a:latin typeface="Calibri" pitchFamily="34" charset="0"/>
                <a:ea typeface="Calibri" pitchFamily="34" charset="-122"/>
                <a:cs typeface="Calibri" pitchFamily="34" charset="-120"/>
              </a:rPr>
              <a:t>Verdict.  </a:t>
            </a:r>
            <a:pPr indent="0" marL="0">
              <a:buNone/>
            </a:pPr>
            <a:r>
              <a:rPr lang="en-US" sz="1000" dirty="0">
                <a:solidFill>
                  <a:srgbClr val="1B2430"/>
                </a:solidFill>
                <a:latin typeface="Calibri" pitchFamily="34" charset="0"/>
                <a:ea typeface="Calibri" pitchFamily="34" charset="-122"/>
                <a:cs typeface="Calibri" pitchFamily="34" charset="-120"/>
              </a:rPr>
              <a:t>Two purpose-built ocean encoders exist besides ours — both surface, both single-snapshot, one optical (colour + SST) and one radar (sea state). Everything else masks the sea out or carries it as reanalysis background; forecast-only systems (GLONET, Xihe, WenHai, AI-GOMS, Samudra) learn ocean dynamics but publish forecasts, not reusable embeddings. Earth 2 is, to our knowledge, the only embedding model whose inputs include the ocean interior through time.</a:t>
            </a:r>
            <a:endParaRPr lang="en-US" sz="10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Four interacting spheres — who embeds which</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Atmospheric weather · ocean weather (incl. the interior) · ocean biosphere · land biosphere. Nobody represents two of them jointly today.</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554480"/>
                <a:gridCol w="3017520"/>
                <a:gridCol w="2103120"/>
                <a:gridCol w="2011680"/>
                <a:gridCol w="237744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Sphere</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Who embeds it today</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Native cadence · memory</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Observing geometry</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Couples to the others through</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640080">
                <a:tc>
                  <a:txBody>
                    <a:bodyPr/>
                    <a:lstStyle/>
                    <a:p>
                      <a:pPr indent="0" marL="0">
                        <a:buNone/>
                      </a:pPr>
                      <a:r>
                        <a:rPr lang="en-US" sz="950" b="1" dirty="0">
                          <a:solidFill>
                            <a:srgbClr val="E07A2F"/>
                          </a:solidFill>
                          <a:latin typeface="Calibri" pitchFamily="34" charset="0"/>
                          <a:ea typeface="Calibri" pitchFamily="34" charset="-122"/>
                          <a:cs typeface="Calibri" pitchFamily="34" charset="-120"/>
                        </a:rPr>
                        <a:t>a) Atmospheric weather</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Forecast FMs: Prithvi WxC, Aurora, ClimaX, GraphCast/AIFS/Pangu (states, not reusable embeddings). AlphaEarth ingests ERA5-Land only as an input.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hours–days · ~10 d predictability; slow modes (ENSO, NAO) months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dense gridded reanalysis; radiances and stations upstream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wind stress, heat &amp; freshwater flux → ocean; precipitation, radiation → both biospheres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777240">
                <a:tc>
                  <a:txBody>
                    <a:bodyPr/>
                    <a:lstStyle/>
                    <a:p>
                      <a:pPr indent="0" marL="0">
                        <a:buNone/>
                      </a:pPr>
                      <a:r>
                        <a:rPr lang="en-US" sz="950" b="1" dirty="0">
                          <a:solidFill>
                            <a:srgbClr val="2E86AB"/>
                          </a:solidFill>
                          <a:latin typeface="Calibri" pitchFamily="34" charset="0"/>
                          <a:ea typeface="Calibri" pitchFamily="34" charset="-122"/>
                          <a:cs typeface="Calibri" pitchFamily="34" charset="-120"/>
                        </a:rPr>
                        <a:t>b) Ocean weather</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Surface only: OceanSAR (sea state), Granite (SST as one band), AIFS-ocean 2026 (SST/SSS/SSH/currents, forecast). Interior: Earth 2 — the only embedding with T, S at depth.</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days (surface) to decades (interior) · mixed layer months, interior years; top 2.5 m hold the heat of the whole atmospheric column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gridded SST/SSH from satellites; sparse Argo profiles below; nothing under ice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SST → atmosphere; mixed-layer depth, nutrients, light → ocean biosphere; carbon uptake → land via CO₂ (slow)</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85800">
                <a:tc>
                  <a:txBody>
                    <a:bodyPr/>
                    <a:lstStyle/>
                    <a:p>
                      <a:pPr indent="0" marL="0">
                        <a:buNone/>
                      </a:pPr>
                      <a:r>
                        <a:rPr lang="en-US" sz="950" b="1" dirty="0">
                          <a:solidFill>
                            <a:srgbClr val="1F7A4D"/>
                          </a:solidFill>
                          <a:latin typeface="Calibri" pitchFamily="34" charset="0"/>
                          <a:ea typeface="Calibri" pitchFamily="34" charset="-122"/>
                          <a:cs typeface="Calibri" pitchFamily="34" charset="-120"/>
                        </a:rPr>
                        <a:t>c) Ocean biosphere</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Granite-Geospatial-Ocean (colour → chl-a, primary production); carbon-sink mappers SOM-FFN, CSIR-ML6; CANYON-B for BGC-Argo — all task models, one FM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days–seasons · blooms weeks, seasonal cycle, decadal sink trends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cloud-gapped optical swaths (Sentinel-3, MODIS); BGC-Argo sparse; pCO₂ ship tracks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phytoplankton ← MLD, SST, wind (physics); CO₂ flux → atmosphere; export → interior carbon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48640">
                <a:tc>
                  <a:txBody>
                    <a:bodyPr/>
                    <a:lstStyle/>
                    <a:p>
                      <a:pPr indent="0" marL="0">
                        <a:buNone/>
                      </a:pPr>
                      <a:r>
                        <a:rPr lang="en-US" sz="950" b="1" dirty="0">
                          <a:solidFill>
                            <a:srgbClr val="6A4C93"/>
                          </a:solidFill>
                          <a:latin typeface="Calibri" pitchFamily="34" charset="0"/>
                          <a:ea typeface="Calibri" pitchFamily="34" charset="-122"/>
                          <a:cs typeface="Calibri" pitchFamily="34" charset="-120"/>
                        </a:rPr>
                        <a:t>d) Land biosphere / surface</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mainstream: AlphaEarth, TESSERA, OlmoEarth, TerraMind, Prithvi-EO 2.0 — all fold a year, none touch the sea</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seasonal–annual · phenology, multi-year land-use memory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dense 10–30 m tiles, frequent revisits; LiDAR, SAR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runoff, dust, nutrients → coastal ocean; evapotranspiration, albedo → atmosphere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Shape 2"/>
          <p:cNvSpPr/>
          <p:nvPr/>
        </p:nvSpPr>
        <p:spPr>
          <a:xfrm>
            <a:off x="548640" y="4617720"/>
            <a:ext cx="2651760" cy="960120"/>
          </a:xfrm>
          <a:prstGeom prst="roundRect">
            <a:avLst>
              <a:gd name="adj" fmla="val 7619"/>
            </a:avLst>
          </a:prstGeom>
          <a:solidFill>
            <a:srgbClr val="EEF3F8"/>
          </a:solidFill>
          <a:ln w="15875">
            <a:solidFill>
              <a:srgbClr val="2E86AB"/>
            </a:solidFill>
            <a:prstDash val="solid"/>
          </a:ln>
        </p:spPr>
      </p:sp>
      <p:sp>
        <p:nvSpPr>
          <p:cNvPr id="6" name="Text 3"/>
          <p:cNvSpPr txBox="1"/>
          <p:nvPr/>
        </p:nvSpPr>
        <p:spPr>
          <a:xfrm>
            <a:off x="658368" y="4663440"/>
            <a:ext cx="2432304" cy="868680"/>
          </a:xfrm>
          <a:prstGeom prst="rect">
            <a:avLst/>
          </a:prstGeom>
          <a:noFill/>
          <a:ln/>
        </p:spPr>
        <p:txBody>
          <a:bodyPr wrap="square" lIns="0" tIns="0" rIns="0" bIns="0" rtlCol="0" anchor="t"/>
          <a:lstStyle/>
          <a:p>
            <a:pPr indent="0" marL="0">
              <a:buNone/>
            </a:pPr>
            <a:r>
              <a:rPr lang="en-US" sz="1050" b="1" dirty="0">
                <a:solidFill>
                  <a:srgbClr val="2E86AB"/>
                </a:solidFill>
                <a:latin typeface="Calibri" pitchFamily="34" charset="0"/>
                <a:ea typeface="Calibri" pitchFamily="34" charset="-122"/>
                <a:cs typeface="Calibri" pitchFamily="34" charset="-120"/>
              </a:rPr>
              <a:t>1  Ocean interior</a:t>
            </a:r>
            <a:endParaRPr lang="en-US" sz="1050" dirty="0"/>
          </a:p>
          <a:p>
            <a:pPr indent="0" marL="0">
              <a:buNone/>
            </a:pPr>
            <a:r>
              <a:rPr lang="en-US" sz="850" dirty="0">
                <a:solidFill>
                  <a:srgbClr val="1B2430"/>
                </a:solidFill>
                <a:latin typeface="Calibri" pitchFamily="34" charset="0"/>
                <a:ea typeface="Calibri" pitchFamily="34" charset="-122"/>
                <a:cs typeface="Calibri" pitchFamily="34" charset="-120"/>
              </a:rPr>
              <a:t>the anchor: longest memory, least covered by anyone else — what we already have</a:t>
            </a:r>
            <a:endParaRPr lang="en-US" sz="1050" dirty="0"/>
          </a:p>
        </p:txBody>
      </p:sp>
      <p:sp>
        <p:nvSpPr>
          <p:cNvPr id="7" name="Shape 4"/>
          <p:cNvSpPr/>
          <p:nvPr/>
        </p:nvSpPr>
        <p:spPr>
          <a:xfrm>
            <a:off x="3218688" y="5006340"/>
            <a:ext cx="100584" cy="182880"/>
          </a:xfrm>
          <a:prstGeom prst="rightArrow">
            <a:avLst/>
          </a:prstGeom>
          <a:solidFill>
            <a:srgbClr val="B8C4D3"/>
          </a:solidFill>
          <a:ln w="12700">
            <a:solidFill>
              <a:srgbClr val="333333"/>
            </a:solidFill>
            <a:prstDash val="solid"/>
          </a:ln>
        </p:spPr>
      </p:sp>
      <p:sp>
        <p:nvSpPr>
          <p:cNvPr id="8" name="Shape 5"/>
          <p:cNvSpPr/>
          <p:nvPr/>
        </p:nvSpPr>
        <p:spPr>
          <a:xfrm>
            <a:off x="3337560" y="4617720"/>
            <a:ext cx="2651760" cy="960120"/>
          </a:xfrm>
          <a:prstGeom prst="roundRect">
            <a:avLst>
              <a:gd name="adj" fmla="val 7619"/>
            </a:avLst>
          </a:prstGeom>
          <a:solidFill>
            <a:srgbClr val="EEF3F8"/>
          </a:solidFill>
          <a:ln w="15875">
            <a:solidFill>
              <a:srgbClr val="1F7A4D"/>
            </a:solidFill>
            <a:prstDash val="solid"/>
          </a:ln>
        </p:spPr>
      </p:sp>
      <p:sp>
        <p:nvSpPr>
          <p:cNvPr id="9" name="Text 6"/>
          <p:cNvSpPr txBox="1"/>
          <p:nvPr/>
        </p:nvSpPr>
        <p:spPr>
          <a:xfrm>
            <a:off x="3447288" y="4663440"/>
            <a:ext cx="2432304" cy="868680"/>
          </a:xfrm>
          <a:prstGeom prst="rect">
            <a:avLst/>
          </a:prstGeom>
          <a:noFill/>
          <a:ln/>
        </p:spPr>
        <p:txBody>
          <a:bodyPr wrap="square" lIns="0" tIns="0" rIns="0" bIns="0" rtlCol="0" anchor="t"/>
          <a:lstStyle/>
          <a:p>
            <a:pPr indent="0" marL="0">
              <a:buNone/>
            </a:pPr>
            <a:r>
              <a:rPr lang="en-US" sz="1050" b="1" dirty="0">
                <a:solidFill>
                  <a:srgbClr val="1F7A4D"/>
                </a:solidFill>
                <a:latin typeface="Calibri" pitchFamily="34" charset="0"/>
                <a:ea typeface="Calibri" pitchFamily="34" charset="-122"/>
                <a:cs typeface="Calibri" pitchFamily="34" charset="-120"/>
              </a:rPr>
              <a:t>2  + Ocean colour</a:t>
            </a:r>
            <a:endParaRPr lang="en-US" sz="1050" dirty="0"/>
          </a:p>
          <a:p>
            <a:pPr indent="0" marL="0">
              <a:buNone/>
            </a:pPr>
            <a:r>
              <a:rPr lang="en-US" sz="850" dirty="0">
                <a:solidFill>
                  <a:srgbClr val="1B2430"/>
                </a:solidFill>
                <a:latin typeface="Calibri" pitchFamily="34" charset="0"/>
                <a:ea typeface="Calibri" pitchFamily="34" charset="-122"/>
                <a:cs typeface="Calibri" pitchFamily="34" charset="-120"/>
              </a:rPr>
              <a:t>same grid, Sentinel-3 recipe exists (Granite); closes physics ↔ biology via MLD, light, SST</a:t>
            </a:r>
            <a:endParaRPr lang="en-US" sz="1050" dirty="0"/>
          </a:p>
        </p:txBody>
      </p:sp>
      <p:sp>
        <p:nvSpPr>
          <p:cNvPr id="10" name="Shape 7"/>
          <p:cNvSpPr/>
          <p:nvPr/>
        </p:nvSpPr>
        <p:spPr>
          <a:xfrm>
            <a:off x="6007608" y="5006340"/>
            <a:ext cx="100584" cy="182880"/>
          </a:xfrm>
          <a:prstGeom prst="rightArrow">
            <a:avLst/>
          </a:prstGeom>
          <a:solidFill>
            <a:srgbClr val="B8C4D3"/>
          </a:solidFill>
          <a:ln w="12700">
            <a:solidFill>
              <a:srgbClr val="333333"/>
            </a:solidFill>
            <a:prstDash val="solid"/>
          </a:ln>
        </p:spPr>
      </p:sp>
      <p:sp>
        <p:nvSpPr>
          <p:cNvPr id="11" name="Shape 8"/>
          <p:cNvSpPr/>
          <p:nvPr/>
        </p:nvSpPr>
        <p:spPr>
          <a:xfrm>
            <a:off x="6126480" y="4617720"/>
            <a:ext cx="2651760" cy="960120"/>
          </a:xfrm>
          <a:prstGeom prst="roundRect">
            <a:avLst>
              <a:gd name="adj" fmla="val 7619"/>
            </a:avLst>
          </a:prstGeom>
          <a:solidFill>
            <a:srgbClr val="EEF3F8"/>
          </a:solidFill>
          <a:ln w="15875">
            <a:solidFill>
              <a:srgbClr val="E07A2F"/>
            </a:solidFill>
            <a:prstDash val="solid"/>
          </a:ln>
        </p:spPr>
      </p:sp>
      <p:sp>
        <p:nvSpPr>
          <p:cNvPr id="12" name="Text 9"/>
          <p:cNvSpPr txBox="1"/>
          <p:nvPr/>
        </p:nvSpPr>
        <p:spPr>
          <a:xfrm>
            <a:off x="6236208" y="4663440"/>
            <a:ext cx="2432304" cy="868680"/>
          </a:xfrm>
          <a:prstGeom prst="rect">
            <a:avLst/>
          </a:prstGeom>
          <a:noFill/>
          <a:ln/>
        </p:spPr>
        <p:txBody>
          <a:bodyPr wrap="square" lIns="0" tIns="0" rIns="0" bIns="0" rtlCol="0" anchor="t"/>
          <a:lstStyle/>
          <a:p>
            <a:pPr indent="0" marL="0">
              <a:buNone/>
            </a:pPr>
            <a:r>
              <a:rPr lang="en-US" sz="1050" b="1" dirty="0">
                <a:solidFill>
                  <a:srgbClr val="E07A2F"/>
                </a:solidFill>
                <a:latin typeface="Calibri" pitchFamily="34" charset="0"/>
                <a:ea typeface="Calibri" pitchFamily="34" charset="-122"/>
                <a:cs typeface="Calibri" pitchFamily="34" charset="-120"/>
              </a:rPr>
              <a:t>3  + Atmosphere as forcing</a:t>
            </a:r>
            <a:endParaRPr lang="en-US" sz="1050" dirty="0"/>
          </a:p>
          <a:p>
            <a:pPr indent="0" marL="0">
              <a:buNone/>
            </a:pPr>
            <a:r>
              <a:rPr lang="en-US" sz="850" dirty="0">
                <a:solidFill>
                  <a:srgbClr val="1B2430"/>
                </a:solidFill>
                <a:latin typeface="Calibri" pitchFamily="34" charset="0"/>
                <a:ea typeface="Calibri" pitchFamily="34" charset="-122"/>
                <a:cs typeface="Calibri" pitchFamily="34" charset="-120"/>
              </a:rPr>
              <a:t>already in our channels as wind/flux; at monthly cadence it is a wide, shallow forcing (cone slide), not a state to roll</a:t>
            </a:r>
            <a:endParaRPr lang="en-US" sz="1050" dirty="0"/>
          </a:p>
        </p:txBody>
      </p:sp>
      <p:sp>
        <p:nvSpPr>
          <p:cNvPr id="13" name="Shape 10"/>
          <p:cNvSpPr/>
          <p:nvPr/>
        </p:nvSpPr>
        <p:spPr>
          <a:xfrm>
            <a:off x="8796528" y="5006340"/>
            <a:ext cx="100584" cy="182880"/>
          </a:xfrm>
          <a:prstGeom prst="rightArrow">
            <a:avLst/>
          </a:prstGeom>
          <a:solidFill>
            <a:srgbClr val="B8C4D3"/>
          </a:solidFill>
          <a:ln w="12700">
            <a:solidFill>
              <a:srgbClr val="333333"/>
            </a:solidFill>
            <a:prstDash val="solid"/>
          </a:ln>
        </p:spPr>
      </p:sp>
      <p:sp>
        <p:nvSpPr>
          <p:cNvPr id="14" name="Shape 11"/>
          <p:cNvSpPr/>
          <p:nvPr/>
        </p:nvSpPr>
        <p:spPr>
          <a:xfrm>
            <a:off x="8915400" y="4617720"/>
            <a:ext cx="2651760" cy="960120"/>
          </a:xfrm>
          <a:prstGeom prst="roundRect">
            <a:avLst>
              <a:gd name="adj" fmla="val 7619"/>
            </a:avLst>
          </a:prstGeom>
          <a:solidFill>
            <a:srgbClr val="EEF3F8"/>
          </a:solidFill>
          <a:ln w="15875">
            <a:solidFill>
              <a:srgbClr val="6A4C93"/>
            </a:solidFill>
            <a:prstDash val="solid"/>
          </a:ln>
        </p:spPr>
      </p:sp>
      <p:sp>
        <p:nvSpPr>
          <p:cNvPr id="15" name="Text 12"/>
          <p:cNvSpPr txBox="1"/>
          <p:nvPr/>
        </p:nvSpPr>
        <p:spPr>
          <a:xfrm>
            <a:off x="9025128" y="4663440"/>
            <a:ext cx="2432304" cy="868680"/>
          </a:xfrm>
          <a:prstGeom prst="rect">
            <a:avLst/>
          </a:prstGeom>
          <a:noFill/>
          <a:ln/>
        </p:spPr>
        <p:txBody>
          <a:bodyPr wrap="square" lIns="0" tIns="0" rIns="0" bIns="0" rtlCol="0" anchor="t"/>
          <a:lstStyle/>
          <a:p>
            <a:pPr indent="0" marL="0">
              <a:buNone/>
            </a:pPr>
            <a:r>
              <a:rPr lang="en-US" sz="1050" b="1" dirty="0">
                <a:solidFill>
                  <a:srgbClr val="6A4C93"/>
                </a:solidFill>
                <a:latin typeface="Calibri" pitchFamily="34" charset="0"/>
                <a:ea typeface="Calibri" pitchFamily="34" charset="-122"/>
                <a:cs typeface="Calibri" pitchFamily="34" charset="-120"/>
              </a:rPr>
              <a:t>4  + Land biosphere</a:t>
            </a:r>
            <a:endParaRPr lang="en-US" sz="1050" dirty="0"/>
          </a:p>
          <a:p>
            <a:pPr indent="0" marL="0">
              <a:buNone/>
            </a:pPr>
            <a:r>
              <a:rPr lang="en-US" sz="850" dirty="0">
                <a:solidFill>
                  <a:srgbClr val="1B2430"/>
                </a:solidFill>
                <a:latin typeface="Calibri" pitchFamily="34" charset="0"/>
                <a:ea typeface="Calibri" pitchFamily="34" charset="-122"/>
                <a:cs typeface="Calibri" pitchFamily="34" charset="-120"/>
              </a:rPr>
              <a:t>last: the mainstream does it well, and the coupling to the ocean is slow (rivers, dust, CO₂)</a:t>
            </a:r>
            <a:endParaRPr lang="en-US" sz="1050" dirty="0"/>
          </a:p>
        </p:txBody>
      </p:sp>
      <p:sp>
        <p:nvSpPr>
          <p:cNvPr id="16" name="Text 13"/>
          <p:cNvSpPr txBox="1"/>
          <p:nvPr/>
        </p:nvSpPr>
        <p:spPr>
          <a:xfrm>
            <a:off x="548640" y="5669280"/>
            <a:ext cx="11064240" cy="73152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Three design consequences.  </a:t>
            </a:r>
            <a:pPr indent="0" marL="0">
              <a:buNone/>
            </a:pPr>
            <a:r>
              <a:rPr lang="en-US" sz="850" dirty="0">
                <a:solidFill>
                  <a:srgbClr val="1B2430"/>
                </a:solidFill>
                <a:latin typeface="Calibri" pitchFamily="34" charset="0"/>
                <a:ea typeface="Calibri" pitchFamily="34" charset="-122"/>
                <a:cs typeface="Calibri" pitchFamily="34" charset="-120"/>
              </a:rPr>
              <a:t>(i) Memories differ by orders of magnitude, so each sphere needs its own (v, τ) cone and the coupling variables (SST, fluxes, chlorophyll–light–MLD) are the L-shaped unions. (ii) Biospheres run on the calendar, physics on the clock: a joint model needs period tokens (pixel-year, slide on the TESSERA arm) for c) and d) and dated-state tokens for a) and b). (iii) The observing systems differ in geometry — grids, sparse profiles, cloud-gapped swaths, 10 m tiles — and our masked-vs-never-measured token distinction is the primitive that lets one encoder take all of them.</a:t>
            </a:r>
            <a:endParaRPr lang="en-US" sz="850" dirty="0"/>
          </a:p>
        </p:txBody>
      </p:sp>
      <p:sp>
        <p:nvSpPr>
          <p:cNvPr id="17"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Head-to-head I — frozen embeddings, one protocol</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OlmoEarth paper, Table 2: kNN (k = 20, cosine) for single-image classification, linear probe for segmentation and multi-temporal tasks. Five of our six appear.</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57400"/>
                <a:gridCol w="1051560"/>
                <a:gridCol w="914400"/>
                <a:gridCol w="914400"/>
                <a:gridCol w="1280160"/>
                <a:gridCol w="1005840"/>
                <a:gridCol w="914400"/>
                <a:gridCol w="1005840"/>
                <a:gridCol w="914400"/>
                <a:gridCol w="1005840"/>
              </a:tblGrid>
              <a:tr h="24688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Model (frozen encoder)</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BigEarthNet µF1</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So2Sat acc</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EuroSAT acc</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CropHarvest-Togo S1+S2 acc</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m-cashew mIoU</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SA-crop mIoU</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PASTIS (S2) mIoU</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MADOS mIoU</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Sen1Floods11 mIoU</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OlmoEarth Base (89 M)</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62.4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67.7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94.7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82.0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32.3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28.9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50.6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67.2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79.2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OlmoEarth Large (308 M)</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62.0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68.2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96.3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79.7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30.9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28.5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51.8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66.4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79.8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TerraMind Base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63.9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46.7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85.6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77.5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46.0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30.4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40.9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66.0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78.7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TerraMind Large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63.9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47.4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90.0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75.2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50.4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31.2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41.3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67.5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78.4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Prithvi-EO 2.0 300M</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51.6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34.7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82.2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46.8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24.7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37.2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50.9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Prithvi-EO 2.0 600M</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51.0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34.0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81.2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45.8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26.6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37.5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52.2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TESSERA (precomputed)</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81.0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900" dirty="0">
                          <a:solidFill>
                            <a:srgbClr val="1B243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900" b="1" dirty="0">
                          <a:solidFill>
                            <a:srgbClr val="6B7A8F"/>
                          </a:solidFill>
                          <a:latin typeface="Calibri" pitchFamily="34" charset="0"/>
                          <a:ea typeface="Calibri" pitchFamily="34" charset="-122"/>
                          <a:cs typeface="Calibri" pitchFamily="34" charset="-120"/>
                        </a:rPr>
                        <a:t>Galileo Base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58.3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55.7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92.8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77.5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28.9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25.3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39.6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68.4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79.4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900" b="1" dirty="0">
                          <a:solidFill>
                            <a:srgbClr val="6B7A8F"/>
                          </a:solidFill>
                          <a:latin typeface="Calibri" pitchFamily="34" charset="0"/>
                          <a:ea typeface="Calibri" pitchFamily="34" charset="-122"/>
                          <a:cs typeface="Calibri" pitchFamily="34" charset="-120"/>
                        </a:rPr>
                        <a:t>DINOv3-Sat 7B</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61.6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50.1</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91.3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54.1</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31.7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26.3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59.7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900" b="1" dirty="0">
                          <a:solidFill>
                            <a:srgbClr val="6B7A8F"/>
                          </a:solidFill>
                          <a:latin typeface="Calibri" pitchFamily="34" charset="0"/>
                          <a:ea typeface="Calibri" pitchFamily="34" charset="-122"/>
                          <a:cs typeface="Calibri" pitchFamily="34" charset="-120"/>
                        </a:rPr>
                        <a:t>Panopticon Base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64.9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60.5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95.2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76.5</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32.7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27.3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30.2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66.1</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78.0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900" b="1" dirty="0">
                          <a:solidFill>
                            <a:srgbClr val="6B7A8F"/>
                          </a:solidFill>
                          <a:latin typeface="Calibri" pitchFamily="34" charset="0"/>
                          <a:ea typeface="Calibri" pitchFamily="34" charset="-122"/>
                          <a:cs typeface="Calibri" pitchFamily="34" charset="-120"/>
                        </a:rPr>
                        <a:t>Copernicus-FM Base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64.6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50.3</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84.7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70.6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32.2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28.4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32.1</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63.9</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77.6</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900" b="1" dirty="0">
                          <a:solidFill>
                            <a:srgbClr val="6B7A8F"/>
                          </a:solidFill>
                          <a:latin typeface="Calibri" pitchFamily="34" charset="0"/>
                          <a:ea typeface="Calibri" pitchFamily="34" charset="-122"/>
                          <a:cs typeface="Calibri" pitchFamily="34" charset="-120"/>
                        </a:rPr>
                        <a:t>CROMA Large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59.2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48.2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85.8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81.0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27.0</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30.4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42.7</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66.4</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dirty="0">
                          <a:solidFill>
                            <a:srgbClr val="6B7A8F"/>
                          </a:solidFill>
                          <a:latin typeface="Calibri" pitchFamily="34" charset="0"/>
                          <a:ea typeface="Calibri" pitchFamily="34" charset="-122"/>
                          <a:cs typeface="Calibri" pitchFamily="34" charset="-120"/>
                        </a:rPr>
                        <a:t>78.8</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950" b="1" dirty="0">
                <a:solidFill>
                  <a:srgbClr val="1C7293"/>
                </a:solidFill>
                <a:latin typeface="Calibri" pitchFamily="34" charset="0"/>
                <a:ea typeface="Calibri" pitchFamily="34" charset="-122"/>
                <a:cs typeface="Calibri" pitchFamily="34" charset="-120"/>
              </a:rPr>
              <a:t>Reading the table.  </a:t>
            </a:r>
            <a:pPr indent="0" marL="0">
              <a:buNone/>
            </a:pPr>
            <a:r>
              <a:rPr lang="en-US" sz="950" dirty="0">
                <a:solidFill>
                  <a:srgbClr val="1B2430"/>
                </a:solidFill>
                <a:latin typeface="Calibri" pitchFamily="34" charset="0"/>
                <a:ea typeface="Calibri" pitchFamily="34" charset="-122"/>
                <a:cs typeface="Calibri" pitchFamily="34" charset="-120"/>
              </a:rPr>
              <a:t>Green = best in column (all rows). Shaded rows are the models in this deck; grey rows are context. On frozen features OlmoEarth leads the classification columns (So2Sat, EuroSAT, Sen1Floods11, PASTIS), TerraMind leads BigEarthNet and the cashew/SA-crop segmentation, and Prithvi-EO 2.0 trails on every classification column but is competitive on m-cashew. TESSERA appears once (CropHarvest-Togo, 81.0 — within 1 pp of OlmoEarth Base). AlphaEarth is not in this table (its embeddings are annual and 10 m, so the authors compared it separately — next slides). Caveat: authored by the OlmoEarth team.</a:t>
            </a:r>
            <a:endParaRPr lang="en-US" sz="95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Head-to-head II — fine-tuning and PANGAEA</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Top: OlmoEarth Table 3 (full fine-tuning, encoder unfrozen after 20 % of epochs). Bottom: TerraMind Table 6 (PANGAEA, frozen encoder + UPerNet, mIoU).</a:t>
            </a:r>
            <a:endParaRPr lang="en-US" sz="1250" dirty="0"/>
          </a:p>
        </p:txBody>
      </p:sp>
      <p:sp>
        <p:nvSpPr>
          <p:cNvPr id="4" name="Text 2"/>
          <p:cNvSpPr txBox="1"/>
          <p:nvPr/>
        </p:nvSpPr>
        <p:spPr>
          <a:xfrm>
            <a:off x="548640" y="1325880"/>
            <a:ext cx="109728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Fine-tuned — accuracy / mIoU (OlmoEarth paper, Table 3)</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1051560"/>
                <a:gridCol w="1005840"/>
                <a:gridCol w="1005840"/>
                <a:gridCol w="1051560"/>
                <a:gridCol w="1005840"/>
                <a:gridCol w="1005840"/>
                <a:gridCol w="1005840"/>
                <a:gridCol w="1188720"/>
              </a:tblGrid>
              <a:tr h="210312">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Model (fine-tuned)</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BigEarthNet</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So2Sat</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EuroSAT</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m-cashew</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SA-crop</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PASTIS</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MADOS</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Sen1Floods11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OlmoEarth Base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72.0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68.6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98.7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79.8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39.6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64.3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77.8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79.8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OlmoEarth Large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72.4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68.1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98.5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80.6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40.8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66.3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81.8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79.8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TerraMind Base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72.6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66.1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97.6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80.9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39.2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59.9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73.2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79.5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TerraMind Large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74.0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65.4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97.8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81.3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41.1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60.9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71.5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79.5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Prithvi-EO 2.0 600M</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70.6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64.7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96.8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81.1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38.8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58.6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69.3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6B7A8F"/>
                          </a:solidFill>
                          <a:latin typeface="Calibri" pitchFamily="34" charset="0"/>
                          <a:ea typeface="Calibri" pitchFamily="34" charset="-122"/>
                          <a:cs typeface="Calibri" pitchFamily="34" charset="-120"/>
                        </a:rPr>
                        <a:t>Galileo Base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69.2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64.7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97.8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78.8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35.7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61.2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71.9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79.7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0312">
                <a:tc>
                  <a:txBody>
                    <a:bodyPr/>
                    <a:lstStyle/>
                    <a:p>
                      <a:pPr indent="0" marL="0">
                        <a:buNone/>
                      </a:pPr>
                      <a:r>
                        <a:rPr lang="en-US" sz="800" b="1" dirty="0">
                          <a:solidFill>
                            <a:srgbClr val="6B7A8F"/>
                          </a:solidFill>
                          <a:latin typeface="Calibri" pitchFamily="34" charset="0"/>
                          <a:ea typeface="Calibri" pitchFamily="34" charset="-122"/>
                          <a:cs typeface="Calibri" pitchFamily="34" charset="-120"/>
                        </a:rPr>
                        <a:t>Copernicus-FM</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71.3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66.8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98.5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78.7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33.6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54.6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66.0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78.6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0312">
                <a:tc>
                  <a:txBody>
                    <a:bodyPr/>
                    <a:lstStyle/>
                    <a:p>
                      <a:pPr indent="0" marL="0">
                        <a:buNone/>
                      </a:pPr>
                      <a:r>
                        <a:rPr lang="en-US" sz="800" b="1" dirty="0">
                          <a:solidFill>
                            <a:srgbClr val="6B7A8F"/>
                          </a:solidFill>
                          <a:latin typeface="Calibri" pitchFamily="34" charset="0"/>
                          <a:ea typeface="Calibri" pitchFamily="34" charset="-122"/>
                          <a:cs typeface="Calibri" pitchFamily="34" charset="-120"/>
                        </a:rPr>
                        <a:t>OlmoEarth Base, random init (no pretraining)</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61.0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48.9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80.3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43.0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27.5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43.9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45.6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77.0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6" name="Text 3"/>
          <p:cNvSpPr txBox="1"/>
          <p:nvPr/>
        </p:nvSpPr>
        <p:spPr>
          <a:xfrm>
            <a:off x="548640" y="3611880"/>
            <a:ext cx="109728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PANGAEA — mIoU, frozen encoder + UPerNet (TerraMind paper, Table 6; Prithvi appears only as v1.0)</a:t>
            </a:r>
            <a:endParaRPr lang="en-US" sz="11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1920240"/>
                <a:gridCol w="914400"/>
                <a:gridCol w="777240"/>
                <a:gridCol w="822960"/>
                <a:gridCol w="914400"/>
                <a:gridCol w="914400"/>
                <a:gridCol w="1005840"/>
                <a:gridCol w="960120"/>
                <a:gridCol w="822960"/>
                <a:gridCol w="914400"/>
                <a:gridCol w="731520"/>
                <a:gridCol w="365760"/>
              </a:tblGrid>
              <a:tr h="210312">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Model</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HLS Burn Scars</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MADOS</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PASTIS-R</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Sen1Floods11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FiveBillionPx</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DynamicEarthNet</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CropType S.Sudan</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SpaceNet 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AI4SmallFarms</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Average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Avg rank</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TerraMind Large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82.93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75.57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43.13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90.78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63.38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37.89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55.04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59.98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27.47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59.57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3.44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TerraMind Base</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82.42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69.52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40.51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90.62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59.72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37.87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55.80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60.61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28.12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58.35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3.94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Prithvi-EO 1.0 100M</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83.62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49.98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33.93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90.37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46.81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27.86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43.07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56.54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26.86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51.00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00" dirty="0">
                          <a:solidFill>
                            <a:srgbClr val="1B2430"/>
                          </a:solidFill>
                          <a:latin typeface="Calibri" pitchFamily="34" charset="0"/>
                          <a:ea typeface="Calibri" pitchFamily="34" charset="-122"/>
                          <a:cs typeface="Calibri" pitchFamily="34" charset="-120"/>
                        </a:rPr>
                        <a:t>11.00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10312">
                <a:tc>
                  <a:txBody>
                    <a:bodyPr/>
                    <a:lstStyle/>
                    <a:p>
                      <a:pPr indent="0" marL="0">
                        <a:buNone/>
                      </a:pPr>
                      <a:r>
                        <a:rPr lang="en-US" sz="800" b="1" dirty="0">
                          <a:solidFill>
                            <a:srgbClr val="6B7A8F"/>
                          </a:solidFill>
                          <a:latin typeface="Calibri" pitchFamily="34" charset="0"/>
                          <a:ea typeface="Calibri" pitchFamily="34" charset="-122"/>
                          <a:cs typeface="Calibri" pitchFamily="34" charset="-120"/>
                        </a:rPr>
                        <a:t>CROMA</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82.42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67.55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32.32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90.89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51.83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38.29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49.38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59.28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25.65</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55.29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6.61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0312">
                <a:tc>
                  <a:txBody>
                    <a:bodyPr/>
                    <a:lstStyle/>
                    <a:p>
                      <a:pPr indent="0" marL="0">
                        <a:buNone/>
                      </a:pPr>
                      <a:r>
                        <a:rPr lang="en-US" sz="800" b="1" dirty="0">
                          <a:solidFill>
                            <a:srgbClr val="6B7A8F"/>
                          </a:solidFill>
                          <a:latin typeface="Calibri" pitchFamily="34" charset="0"/>
                          <a:ea typeface="Calibri" pitchFamily="34" charset="-122"/>
                          <a:cs typeface="Calibri" pitchFamily="34" charset="-120"/>
                        </a:rPr>
                        <a:t>DOFA</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80.63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59.58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30.02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89.37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43.18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39.29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51.33</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61.84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27.07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53.59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8.22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0312">
                <a:tc>
                  <a:txBody>
                    <a:bodyPr/>
                    <a:lstStyle/>
                    <a:p>
                      <a:pPr indent="0" marL="0">
                        <a:buNone/>
                      </a:pPr>
                      <a:r>
                        <a:rPr lang="en-US" sz="800" b="1" dirty="0">
                          <a:solidFill>
                            <a:srgbClr val="6B7A8F"/>
                          </a:solidFill>
                          <a:latin typeface="Calibri" pitchFamily="34" charset="0"/>
                          <a:ea typeface="Calibri" pitchFamily="34" charset="-122"/>
                          <a:cs typeface="Calibri" pitchFamily="34" charset="-120"/>
                        </a:rPr>
                        <a:t>U-Net trained from scratch</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84.51</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54.79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31.60</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91.42</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60.47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39.46</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47.57</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62.09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b="1" dirty="0">
                          <a:solidFill>
                            <a:srgbClr val="1F7A4D"/>
                          </a:solidFill>
                          <a:latin typeface="Calibri" pitchFamily="34" charset="0"/>
                          <a:ea typeface="Calibri" pitchFamily="34" charset="-122"/>
                          <a:cs typeface="Calibri" pitchFamily="34" charset="-120"/>
                        </a:rPr>
                        <a:t>46.34</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57.58</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00" dirty="0">
                          <a:solidFill>
                            <a:srgbClr val="6B7A8F"/>
                          </a:solidFill>
                          <a:latin typeface="Calibri" pitchFamily="34" charset="0"/>
                          <a:ea typeface="Calibri" pitchFamily="34" charset="-122"/>
                          <a:cs typeface="Calibri" pitchFamily="34" charset="-120"/>
                        </a:rPr>
                        <a:t>4.89</a:t>
                      </a:r>
                      <a:endParaRPr lang="en-US" sz="8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8" name="Text 4"/>
          <p:cNvSpPr txBox="1"/>
          <p:nvPr/>
        </p:nvSpPr>
        <p:spPr>
          <a:xfrm>
            <a:off x="548640" y="5779008"/>
            <a:ext cx="11064240" cy="59436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Reading.  </a:t>
            </a:r>
            <a:pPr indent="0" marL="0">
              <a:buNone/>
            </a:pPr>
            <a:r>
              <a:rPr lang="en-US" sz="850" dirty="0">
                <a:solidFill>
                  <a:srgbClr val="1B2430"/>
                </a:solidFill>
                <a:latin typeface="Calibri" pitchFamily="34" charset="0"/>
                <a:ea typeface="Calibri" pitchFamily="34" charset="-122"/>
                <a:cs typeface="Calibri" pitchFamily="34" charset="-120"/>
              </a:rPr>
              <a:t>Once fine-tuned, the gap closes: TerraMind Large and OlmoEarth Large split the columns (TerraMind: BigEarthNet, cashew, SA-crop; OlmoEarth: So2Sat, EuroSAT, PASTIS, MADOS) and Prithvi-EO 2.0 600M sits 1–3 pp behind on the classification columns but 8–13 pp behind on PASTIS and MADOS. The random-init row is the size of the pretraining effect itself (+10 to +37 pp). On PANGAEA, TerraMind is the only foundation model that beats a U-Net trained from scratch on average (59.6 vs 57.6); Prithvi-EO 1.0 loses to it. Prithvi-EO 2.0's own GEO-Bench table (600M-TL best on 6 of 12 sets vs DOFA / Scale-MAE / DeCUR / Satlas) contains none of the other models here.</a:t>
            </a:r>
            <a:endParaRPr lang="en-US" sz="850" dirty="0"/>
          </a:p>
        </p:txBody>
      </p:sp>
      <p:sp>
        <p:nvSpPr>
          <p:cNvPr id="9" name="Text 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Head-to-head III — the two embedding products</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TESSERA paper, Table 1 (frozen embeddings + light head, 100 % labels unless noted) · OlmoEarth paper, Table 7 · an independent Local-Climate-Zone study (Bern)</a:t>
            </a:r>
            <a:endParaRPr lang="en-US" sz="1250" dirty="0"/>
          </a:p>
        </p:txBody>
      </p:sp>
      <p:sp>
        <p:nvSpPr>
          <p:cNvPr id="4" name="Text 2"/>
          <p:cNvSpPr txBox="1"/>
          <p:nvPr/>
        </p:nvSpPr>
        <p:spPr>
          <a:xfrm>
            <a:off x="548640" y="1371600"/>
            <a:ext cx="73152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TESSERA vs AlphaEarth vs frozen RSFMs (TESSERA paper) — F1 / mIoU ↑, RMSE ↓</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7315200" cy="914400"/>
        </p:xfrm>
        <a:graphic>
          <a:graphicData uri="http://schemas.openxmlformats.org/drawingml/2006/table">
            <a:tbl>
              <a:tblPr/>
              <a:tblGrid>
                <a:gridCol w="1783080"/>
                <a:gridCol w="868680"/>
                <a:gridCol w="1051560"/>
                <a:gridCol w="822960"/>
                <a:gridCol w="960120"/>
                <a:gridCol w="914400"/>
                <a:gridCol w="914400"/>
              </a:tblGrid>
              <a:tr h="24688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TreeSatAI-TS F1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Austrian crop F1 (30 % labels)</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PASTIS-R mIoU</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Austrian crop seg. mIoU</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BioMassters RMSE (t/ha)</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Borneo canopy RMSE (m)</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TESSERA (128-D, frozen)</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77.96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82.09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50.68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53.12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27.43</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12.21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AlphaEarth (64-D, frozen)</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76.90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56.36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51.08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25.70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29.59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16.11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Prithvi-EO (frozen)</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65.86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34.09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16.25</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41.12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19.71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Presto (frozen)</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67.81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57.89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34.04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17.88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Galileo (frozen)</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69.44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27.92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22.80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38.52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20.48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SkySense (frozen)</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69.35</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32.87</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26.82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32.52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16.56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U-Net baseline (frozen features)</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71.39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30.16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27.00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36.41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17.79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6" name="Text 3"/>
          <p:cNvSpPr txBox="1"/>
          <p:nvPr/>
        </p:nvSpPr>
        <p:spPr>
          <a:xfrm>
            <a:off x="8138160" y="1371600"/>
            <a:ext cx="36576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AlphaEarth vs OlmoEarth Base (OlmoEarth paper, Table 7)</a:t>
            </a:r>
            <a:endParaRPr lang="en-US" sz="11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8138160" y="1664208"/>
          <a:ext cx="3474720" cy="914400"/>
        </p:xfrm>
        <a:graphic>
          <a:graphicData uri="http://schemas.openxmlformats.org/drawingml/2006/table">
            <a:tbl>
              <a:tblPr/>
              <a:tblGrid>
                <a:gridCol w="1234440"/>
                <a:gridCol w="457200"/>
                <a:gridCol w="411480"/>
                <a:gridCol w="502920"/>
                <a:gridCol w="411480"/>
                <a:gridCol w="457200"/>
              </a:tblGrid>
              <a:tr h="274320">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Model · protocol</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Nandi acc</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AWF acc</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Ecosystem acc</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LFMC L1 ↓</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Solar farm mIoU</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74320">
                <a:tc>
                  <a:txBody>
                    <a:bodyPr/>
                    <a:lstStyle/>
                    <a:p>
                      <a:pPr indent="0" marL="0">
                        <a:buNone/>
                      </a:pPr>
                      <a:r>
                        <a:rPr lang="en-US" sz="750" b="1" dirty="0">
                          <a:solidFill>
                            <a:srgbClr val="0B1F3A"/>
                          </a:solidFill>
                          <a:latin typeface="Calibri" pitchFamily="34" charset="0"/>
                          <a:ea typeface="Calibri" pitchFamily="34" charset="-122"/>
                          <a:cs typeface="Calibri" pitchFamily="34" charset="-120"/>
                        </a:rPr>
                        <a:t>AlphaEarth · kNN</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55.6</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81.0</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60.6</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750" b="1" dirty="0">
                          <a:solidFill>
                            <a:srgbClr val="0B1F3A"/>
                          </a:solidFill>
                          <a:latin typeface="Calibri" pitchFamily="34" charset="0"/>
                          <a:ea typeface="Calibri" pitchFamily="34" charset="-122"/>
                          <a:cs typeface="Calibri" pitchFamily="34" charset="-120"/>
                        </a:rPr>
                        <a:t>AlphaEarth · frozen + decoder</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66.0</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75.9</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61.2</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23.1</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77.5</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750" b="1" dirty="0">
                          <a:solidFill>
                            <a:srgbClr val="0B1F3A"/>
                          </a:solidFill>
                          <a:latin typeface="Calibri" pitchFamily="34" charset="0"/>
                          <a:ea typeface="Calibri" pitchFamily="34" charset="-122"/>
                          <a:cs typeface="Calibri" pitchFamily="34" charset="-120"/>
                        </a:rPr>
                        <a:t>AlphaEarth · full fine-tune</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750" b="1" dirty="0">
                          <a:solidFill>
                            <a:srgbClr val="0B1F3A"/>
                          </a:solidFill>
                          <a:latin typeface="Calibri" pitchFamily="34" charset="0"/>
                          <a:ea typeface="Calibri" pitchFamily="34" charset="-122"/>
                          <a:cs typeface="Calibri" pitchFamily="34" charset="-120"/>
                        </a:rPr>
                        <a:t>OlmoEarth · kNN</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66.2</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82.0</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59.3</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750" b="1" dirty="0">
                          <a:solidFill>
                            <a:srgbClr val="0B1F3A"/>
                          </a:solidFill>
                          <a:latin typeface="Calibri" pitchFamily="34" charset="0"/>
                          <a:ea typeface="Calibri" pitchFamily="34" charset="-122"/>
                          <a:cs typeface="Calibri" pitchFamily="34" charset="-120"/>
                        </a:rPr>
                        <a:t>OlmoEarth · frozen + decoder</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62.9</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84.0</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61.1</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19.9</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dirty="0">
                          <a:solidFill>
                            <a:srgbClr val="1B2430"/>
                          </a:solidFill>
                          <a:latin typeface="Calibri" pitchFamily="34" charset="0"/>
                          <a:ea typeface="Calibri" pitchFamily="34" charset="-122"/>
                          <a:cs typeface="Calibri" pitchFamily="34" charset="-120"/>
                        </a:rPr>
                        <a:t>84.8</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750" b="1" dirty="0">
                          <a:solidFill>
                            <a:srgbClr val="0B1F3A"/>
                          </a:solidFill>
                          <a:latin typeface="Calibri" pitchFamily="34" charset="0"/>
                          <a:ea typeface="Calibri" pitchFamily="34" charset="-122"/>
                          <a:cs typeface="Calibri" pitchFamily="34" charset="-120"/>
                        </a:rPr>
                        <a:t>OlmoEarth · full fine-tune</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82.2</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86.0</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62.4</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17.9</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86.7</a:t>
                      </a:r>
                      <a:endParaRPr lang="en-US" sz="7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bl>
          </a:graphicData>
        </a:graphic>
      </p:graphicFrame>
      <p:sp>
        <p:nvSpPr>
          <p:cNvPr id="8" name="Text 4"/>
          <p:cNvSpPr txBox="1"/>
          <p:nvPr/>
        </p:nvSpPr>
        <p:spPr>
          <a:xfrm>
            <a:off x="8138160" y="4023360"/>
            <a:ext cx="36576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Independent: LCZ mapping, Bern (arXiv 2606.20034)</a:t>
            </a:r>
            <a:endParaRPr lang="en-US" sz="1100" dirty="0"/>
          </a:p>
        </p:txBody>
      </p:sp>
      <p:graphicFrame>
        <p:nvGraphicFramePr>
          <p:cNvPr id="64" name="Table 2"/>
          <p:cNvGraphicFramePr>
            <a:graphicFrameLocks noGrp="1"/>
          </p:cNvGraphicFramePr>
          <p:nvPr>
            <p:extLst>
              <p:ext uri="{D42A27DB-BD31-4B8C-83A1-F6EECF244321}">
                <p14:modId xmlns:p14="http://schemas.microsoft.com/office/powerpoint/2010/main" val="1579011935"/>
              </p:ext>
            </p:extLst>
          </p:nvPr>
        </p:nvGraphicFramePr>
        <p:xfrm>
          <a:off x="8138160" y="4315968"/>
          <a:ext cx="3474720" cy="914400"/>
        </p:xfrm>
        <a:graphic>
          <a:graphicData uri="http://schemas.openxmlformats.org/drawingml/2006/table">
            <a:tbl>
              <a:tblPr/>
              <a:tblGrid>
                <a:gridCol w="2011680"/>
                <a:gridCol w="731520"/>
                <a:gridCol w="731520"/>
              </a:tblGrid>
              <a:tr h="24688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Input to Attention U-Net</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Accuracy</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IoU</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Sentinel-1 + 2 composites</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0.87</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0.77</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AlphaEarth 64-D</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0.89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0.81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TESSERA 128-D</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0.90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0.82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bl>
          </a:graphicData>
        </a:graphic>
      </p:graphicFrame>
      <p:sp>
        <p:nvSpPr>
          <p:cNvPr id="10" name="Text 5"/>
          <p:cNvSpPr txBox="1"/>
          <p:nvPr/>
        </p:nvSpPr>
        <p:spPr>
          <a:xfrm>
            <a:off x="548640" y="3794760"/>
            <a:ext cx="7315200" cy="2377440"/>
          </a:xfrm>
          <a:prstGeom prst="rect">
            <a:avLst/>
          </a:prstGeom>
          <a:noFill/>
          <a:ln/>
        </p:spPr>
        <p:txBody>
          <a:bodyPr wrap="square" lIns="0" tIns="0" rIns="0" bIns="0" rtlCol="0" anchor="t"/>
          <a:lstStyle/>
          <a:p>
            <a:pPr indent="0" marL="0">
              <a:buNone/>
            </a:pPr>
            <a:r>
              <a:rPr lang="en-US" sz="900" b="1" dirty="0">
                <a:solidFill>
                  <a:srgbClr val="1C7293"/>
                </a:solidFill>
                <a:latin typeface="Calibri" pitchFamily="34" charset="0"/>
                <a:ea typeface="Calibri" pitchFamily="34" charset="-122"/>
                <a:cs typeface="Calibri" pitchFamily="34" charset="-120"/>
              </a:rPr>
              <a:t>Reading.  </a:t>
            </a:r>
            <a:pPr indent="0" marL="0">
              <a:buNone/>
            </a:pPr>
            <a:r>
              <a:rPr lang="en-US" sz="900" dirty="0">
                <a:solidFill>
                  <a:srgbClr val="1B2430"/>
                </a:solidFill>
                <a:latin typeface="Calibri" pitchFamily="34" charset="0"/>
                <a:ea typeface="Calibri" pitchFamily="34" charset="-122"/>
                <a:cs typeface="Calibri" pitchFamily="34" charset="-120"/>
              </a:rPr>
              <a:t>TESSERA beats AlphaEarth on 5 of these 6 tasks in TESSERA's own table (AlphaEarth edges PASTIS-R by 0.4 mIoU), with the largest margins on pixel-wise crop tasks where per-pixel time series matter most; both precomputed products beat every frozen ViT-style RSFM including Prithvi by wide margins. Against OlmoEarth, AlphaEarth wins only where OlmoEarth is also frozen (Nandi frozen+decoder); once OlmoEarth is fine-tuned it wins all five — and AlphaEarth cannot be fine-tuned. The independent Bern study puts the two products within 1 pp of each other and 2–5 pp above raw composites. AlphaEarth's own paper reports a 23.9 % average error reduction vs the next-best method over 15 evaluations (per-dataset values are charts only), losing on just one (LCMAP land-use change).</a:t>
            </a:r>
            <a:endParaRPr lang="en-US" sz="900" dirty="0"/>
          </a:p>
        </p:txBody>
      </p:sp>
      <p:sp>
        <p:nvSpPr>
          <p:cNvPr id="11"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Head-to-head IV — the ocean encoders</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Granite-Geospatial-Ocean, Table 1 (5-fold CV RMSE, log₁₀ units) · OceanSAR-1, Tables 2–3 (Sentinel-1 wave-mode tasks)</a:t>
            </a:r>
            <a:endParaRPr lang="en-US" sz="1400" dirty="0"/>
          </a:p>
        </p:txBody>
      </p:sp>
      <p:sp>
        <p:nvSpPr>
          <p:cNvPr id="4" name="Text 2"/>
          <p:cNvSpPr txBox="1"/>
          <p:nvPr/>
        </p:nvSpPr>
        <p:spPr>
          <a:xfrm>
            <a:off x="548640" y="1371600"/>
            <a:ext cx="56692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Granite-Geospatial-Ocean — fine-tuned FM vs from scratch vs random forest (RMSE ↓)</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5394960" cy="914400"/>
        </p:xfrm>
        <a:graphic>
          <a:graphicData uri="http://schemas.openxmlformats.org/drawingml/2006/table">
            <a:tbl>
              <a:tblPr/>
              <a:tblGrid>
                <a:gridCol w="2468880"/>
                <a:gridCol w="1371600"/>
                <a:gridCol w="1554480"/>
              </a:tblGrid>
              <a:tr h="27432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Chl-a RMSE log₁₀ mg m⁻³</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Primary production RMSE log₁₀ mgC m⁻² d⁻¹</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74320">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OLCI + SST · foundation model, fine-tuned</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0.14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0.39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OLCI only · foundation model, fine-tuned</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0.16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0.39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74320">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OLCI + SST · same net from scratch</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0.16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0.42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74320">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OLCI only · same net from scratch</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0.16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0.43</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74320">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Random forest on pixel values</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0.16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0.40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6" name="Text 3"/>
          <p:cNvSpPr txBox="1"/>
          <p:nvPr/>
        </p:nvSpPr>
        <p:spPr>
          <a:xfrm>
            <a:off x="548640" y="3383280"/>
            <a:ext cx="5394960" cy="109728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 spreads: chl-a 0.03–0.10, PP 0.04–0.07 across folds — the FM gain (0.02 / 0.03–0.04) is inside the fold spread; the authors' stronger claim is label-efficiency (gain grows as labels shrink to 25 %) and spatial pattern (SSIM vs the operational L2 product: FM 0.88, scratch 0.82, decision tree 0.68). No comparison to OC4Me-type algorithms is given.</a:t>
            </a:r>
            <a:endParaRPr lang="en-US" sz="900" dirty="0"/>
          </a:p>
        </p:txBody>
      </p:sp>
      <p:sp>
        <p:nvSpPr>
          <p:cNvPr id="7" name="Text 4"/>
          <p:cNvSpPr txBox="1"/>
          <p:nvPr/>
        </p:nvSpPr>
        <p:spPr>
          <a:xfrm>
            <a:off x="6217920" y="1371600"/>
            <a:ext cx="54864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OceanSAR-1 — kNN on frozen features vs other SAR FMs (acc ↑, RMSE ↓)</a:t>
            </a:r>
            <a:endParaRPr lang="en-US" sz="11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217920" y="1664208"/>
          <a:ext cx="5394960" cy="914400"/>
        </p:xfrm>
        <a:graphic>
          <a:graphicData uri="http://schemas.openxmlformats.org/drawingml/2006/table">
            <a:tbl>
              <a:tblPr/>
              <a:tblGrid>
                <a:gridCol w="1920240"/>
                <a:gridCol w="1005840"/>
                <a:gridCol w="1188720"/>
                <a:gridCol w="1280160"/>
              </a:tblGrid>
              <a:tr h="24688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TenGeoP acc %</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Wave height RMSE (m)</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Wind speed RMSE (m s⁻¹)</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OceanSAR-1 ViT-B/8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83.6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0.63</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b="1" dirty="0">
                          <a:solidFill>
                            <a:srgbClr val="1F7A4D"/>
                          </a:solidFill>
                          <a:latin typeface="Calibri" pitchFamily="34" charset="0"/>
                          <a:ea typeface="Calibri" pitchFamily="34" charset="-122"/>
                          <a:cs typeface="Calibri" pitchFamily="34" charset="-120"/>
                        </a:rPr>
                        <a:t>1.37</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OceanSAR-1 ViT-S/8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82.1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0.64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1.38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OceanSAR-1 ResNet50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75.5</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0.75</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1.62</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EF3F8"/>
                    </a:solidFill>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SoftCon ViT-B/14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74.8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1.01</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2.08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CROMA ViT-B/8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65.4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0.78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1.95</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DOFA ViT-L/16</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63.4</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0.95</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2.43</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46888">
                <a:tc>
                  <a:txBody>
                    <a:bodyPr/>
                    <a:lstStyle/>
                    <a:p>
                      <a:pPr indent="0" marL="0">
                        <a:buNone/>
                      </a:pPr>
                      <a:r>
                        <a:rPr lang="en-US" sz="850" b="1" dirty="0">
                          <a:solidFill>
                            <a:srgbClr val="6B7A8F"/>
                          </a:solidFill>
                          <a:latin typeface="Calibri" pitchFamily="34" charset="0"/>
                          <a:ea typeface="Calibri" pitchFamily="34" charset="-122"/>
                          <a:cs typeface="Calibri" pitchFamily="34" charset="-120"/>
                        </a:rPr>
                        <a:t>MoCo ResNet50</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60.9</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0.83</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6B7A8F"/>
                          </a:solidFill>
                          <a:latin typeface="Calibri" pitchFamily="34" charset="0"/>
                          <a:ea typeface="Calibri" pitchFamily="34" charset="-122"/>
                          <a:cs typeface="Calibri" pitchFamily="34" charset="-120"/>
                        </a:rPr>
                        <a:t>1.98</a:t>
                      </a:r>
                      <a:endParaRPr lang="en-US" sz="8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9" name="Text 5"/>
          <p:cNvSpPr txBox="1"/>
          <p:nvPr/>
        </p:nvSpPr>
        <p:spPr>
          <a:xfrm>
            <a:off x="6217920" y="3703320"/>
            <a:ext cx="5394960" cy="82296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With linear-probe / LoRA fine-tuning OceanSAR-1 ViT-B/8 reaches 88.3 % / 0.54 m / 1.29 m s⁻¹ (MoCo-FT 86.5 / 0.77 / 1.80). Ocean-only pretraining beats land-trained SAR FMs by 9–23 pp on sea-state classification and cuts wind-speed error by 30–45 %.</a:t>
            </a:r>
            <a:endParaRPr lang="en-US" sz="900" dirty="0"/>
          </a:p>
        </p:txBody>
      </p:sp>
      <p:sp>
        <p:nvSpPr>
          <p:cNvPr id="10" name="Shape 6"/>
          <p:cNvSpPr/>
          <p:nvPr/>
        </p:nvSpPr>
        <p:spPr>
          <a:xfrm>
            <a:off x="548640" y="4800600"/>
            <a:ext cx="11064240" cy="1097280"/>
          </a:xfrm>
          <a:prstGeom prst="roundRect">
            <a:avLst>
              <a:gd name="adj" fmla="val 6667"/>
            </a:avLst>
          </a:prstGeom>
          <a:solidFill>
            <a:srgbClr val="EEF3F8"/>
          </a:solidFill>
          <a:ln w="12700">
            <a:solidFill>
              <a:srgbClr val="333333"/>
            </a:solidFill>
            <a:prstDash val="solid"/>
          </a:ln>
        </p:spPr>
      </p:sp>
      <p:sp>
        <p:nvSpPr>
          <p:cNvPr id="11" name="Text 7"/>
          <p:cNvSpPr txBox="1"/>
          <p:nvPr/>
        </p:nvSpPr>
        <p:spPr>
          <a:xfrm>
            <a:off x="731520" y="4864608"/>
            <a:ext cx="10698480" cy="1188720"/>
          </a:xfrm>
          <a:prstGeom prst="rect">
            <a:avLst/>
          </a:prstGeom>
          <a:noFill/>
          <a:ln/>
        </p:spPr>
        <p:txBody>
          <a:bodyPr wrap="square" lIns="0" tIns="0" rIns="0" bIns="0" rtlCol="0" anchor="t"/>
          <a:lstStyle/>
          <a:p>
            <a:pPr indent="0" marL="0">
              <a:buNone/>
            </a:pPr>
            <a:r>
              <a:rPr lang="en-US" sz="950" b="1" dirty="0">
                <a:solidFill>
                  <a:srgbClr val="1C7293"/>
                </a:solidFill>
                <a:latin typeface="Calibri" pitchFamily="34" charset="0"/>
                <a:ea typeface="Calibri" pitchFamily="34" charset="-122"/>
                <a:cs typeface="Calibri" pitchFamily="34" charset="-120"/>
              </a:rPr>
              <a:t>Why no cross-model ocean table.  </a:t>
            </a:r>
            <a:pPr indent="0" marL="0">
              <a:buNone/>
            </a:pPr>
            <a:r>
              <a:rPr lang="en-US" sz="950" dirty="0">
                <a:solidFill>
                  <a:srgbClr val="1B2430"/>
                </a:solidFill>
                <a:latin typeface="Calibri" pitchFamily="34" charset="0"/>
                <a:ea typeface="Calibri" pitchFamily="34" charset="-122"/>
                <a:cs typeface="Calibri" pitchFamily="34" charset="-120"/>
              </a:rPr>
              <a:t>The two ocean encoders measure different physics (optical colour vs radar roughness) against different in-situ truths, and neither has been run on a land benchmark or on each other's tasks. The only common denominator with the land models is the protocol — frozen features + small head, and 'FM vs same net from scratch' as the pretraining control — which is also the protocol of our attribution matrix. Our numbers (RAPID r 0.617 pixel / 0.672 patch vs raw 0.613 / 0.659) are the same kind of statement as Granite's 0.14 vs 0.16: a pretraining margin measured against a matched from-scratch control, and in both cases a small one.</a:t>
            </a:r>
            <a:endParaRPr lang="en-US" sz="950" dirty="0"/>
          </a:p>
        </p:txBody>
      </p:sp>
      <p:sp>
        <p:nvSpPr>
          <p:cNvPr id="12" name="Text 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Who wins where — a digest of the tables</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Rankings restricted to the models in this deck, per protocol; every source table was written by one of the contestants</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3657600"/>
                <a:gridCol w="3017520"/>
                <a:gridCol w="228600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Protocol · metric family</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Ranking among our models</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Margin / evidence</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Source &amp; caveat</a:t>
                      </a:r>
                      <a:endParaRPr lang="en-US" sz="10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4114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Frozen features · classification accuracy / µF1</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OlmoEarth &gt; TerraMind &gt; Prithvi-EO 2.0</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So2Sat 68 vs 47 vs 35; EuroSAT 96 vs 90 vs 82; BigEarthNet TerraMind 63.9 edges OlmoEarth 62.4</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OlmoEarth Table 2 (own paper)</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Frozen features · segmentation mIoU</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split: TerraMind (cashew 50.4, SA-crop 31.2) · OlmoEarth (PASTIS 51.8, MADOS 67.2, floods 79.8) · Prithvi last</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Prithvi-EO 2.0 competitive only on m-cashew (46.8)</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OlmoEarth Table 2</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Fine-tuned · accuracy / mIoU</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TerraMind-L ≈ OlmoEarth-L &gt; Prithvi-EO 2.0 600M</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columns split 3/4 between the two leaders; Prithvi 1–3 pp behind on classification, 8–13 pp on PASTIS/MADOS; pretraining itself worth +10 to +37 pp (random-init row)</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OlmoEarth Table 3</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PANGAEA · mIoU, frozen + UPerNet</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TerraMind-L 59.6 &gt; TerraMind-B 58.4 &gt; U-Net scratch 57.6 &gt; … &gt; Prithvi-EO 1.0 51.0</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only GFM above the from-scratch U-Net; Prithvi 2.0 not evaluated</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TerraMind Table 6</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GEO-Bench-2 · capability ranks (of 14)</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Prithvi 600M-TL core rank 5 · TerraMind-L 6 · Prithvi 300M-TL 9 · TerraMind-B 11; TerraMind-L rank 1 on multi-temporal and multi-spectral</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ranks only, no raw scores</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GEO-Bench-2, arXiv 2511.15658 (independent); no AlphaEarth / TESSERA / OlmoEarth / Granite</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Precomputed products · frozen + head</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TESSERA &gt; AlphaEarth on 5/6 TESSERA tasks; ≈ tie on Bern LCZ (0.82 vs 0.81 IoU); both ≫ frozen Prithvi</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Austrian crop F1 82 vs 56; canopy RMSE 12.2 vs 16.1 m; PASTIS AlphaEarth +0.4</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TESSERA Table 1 (own) · LCZ study (independent)</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Product vs fine-tunable model</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fine-tuned OlmoEarth &gt; AlphaEarth on 5/5; frozen-vs-frozen mixed (AlphaEarth wins Nandi 66.0 vs 62.9)</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Nandi 82.2 vs 66.0; solar farm 86.7 vs 77.5</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OlmoEarth Table 7 (own)</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indent="0" marL="0">
                        <a:buNone/>
                      </a:pPr>
                      <a:r>
                        <a:rPr lang="en-US" sz="1000" b="1" dirty="0">
                          <a:solidFill>
                            <a:srgbClr val="0B1F3A"/>
                          </a:solidFill>
                          <a:latin typeface="Calibri" pitchFamily="34" charset="0"/>
                          <a:ea typeface="Calibri" pitchFamily="34" charset="-122"/>
                          <a:cs typeface="Calibri" pitchFamily="34" charset="-120"/>
                        </a:rPr>
                        <a:t>Ocean · RMSE vs in-situ, FM vs scratch</a:t>
                      </a:r>
                      <a:endParaRPr lang="en-US" sz="10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Granite: 0.14 vs 0.16 (chl-a), 0.39 vs 0.42 (PP) · OceanSAR-1: 83.6 % vs 74.8 % best land-trained SAR FM</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Granite gain inside fold spread; OceanSAR gain large</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own papers; no shared task with land models</a:t>
                      </a:r>
                      <a:endParaRPr lang="en-US" sz="9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5760720"/>
            <a:ext cx="11064240" cy="640080"/>
          </a:xfrm>
          <a:prstGeom prst="rect">
            <a:avLst/>
          </a:prstGeom>
          <a:noFill/>
          <a:ln/>
        </p:spPr>
        <p:txBody>
          <a:bodyPr wrap="square" lIns="0" tIns="0" rIns="0" bIns="0" rtlCol="0" anchor="t"/>
          <a:lstStyle/>
          <a:p>
            <a:pPr indent="0" marL="0">
              <a:buNone/>
            </a:pPr>
            <a:r>
              <a:rPr lang="en-US" sz="900" b="1" dirty="0">
                <a:solidFill>
                  <a:srgbClr val="A23B3B"/>
                </a:solidFill>
                <a:latin typeface="Calibri" pitchFamily="34" charset="0"/>
                <a:ea typeface="Calibri" pitchFamily="34" charset="-122"/>
                <a:cs typeface="Calibri" pitchFamily="34" charset="-120"/>
              </a:rPr>
              <a:t>Two structural caveats.  </a:t>
            </a:r>
            <a:pPr indent="0" marL="0">
              <a:buNone/>
            </a:pPr>
            <a:r>
              <a:rPr lang="en-US" sz="900" dirty="0">
                <a:solidFill>
                  <a:srgbClr val="1B2430"/>
                </a:solidFill>
                <a:latin typeface="Calibri" pitchFamily="34" charset="0"/>
                <a:ea typeface="Calibri" pitchFamily="34" charset="-122"/>
                <a:cs typeface="Calibri" pitchFamily="34" charset="-120"/>
              </a:rPr>
              <a:t>No benchmark contains all six models — the widest single table (OlmoEarth's) has five and omits AlphaEarth; the only independent multi-model source (GEO-Bench-2) has two. And no public benchmark has an ocean-state, transport or interior task, so none of these rankings transfer to our problem; the transferable lesson is the protocol — frozen probe vs fine-tune, and a from-scratch control at matched receptive field, which is what our attribution matrix already does.</a:t>
            </a:r>
            <a:endParaRPr lang="en-US" sz="9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What this means for our ocean representation work</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Six models, two design axes, one gap</a:t>
            </a:r>
            <a:endParaRPr lang="en-US" sz="1400" dirty="0"/>
          </a:p>
        </p:txBody>
      </p:sp>
      <p:sp>
        <p:nvSpPr>
          <p:cNvPr id="4" name="Shape 2"/>
          <p:cNvSpPr/>
          <p:nvPr/>
        </p:nvSpPr>
        <p:spPr>
          <a:xfrm>
            <a:off x="548640" y="1463040"/>
            <a:ext cx="5394960" cy="2240280"/>
          </a:xfrm>
          <a:prstGeom prst="roundRect">
            <a:avLst>
              <a:gd name="adj" fmla="val 3265"/>
            </a:avLst>
          </a:prstGeom>
          <a:solidFill>
            <a:srgbClr val="EEF3F8"/>
          </a:solidFill>
          <a:ln w="12700">
            <a:solidFill>
              <a:srgbClr val="333333"/>
            </a:solidFill>
            <a:prstDash val="solid"/>
          </a:ln>
        </p:spPr>
      </p:sp>
      <p:sp>
        <p:nvSpPr>
          <p:cNvPr id="5" name="Shape 3"/>
          <p:cNvSpPr/>
          <p:nvPr/>
        </p:nvSpPr>
        <p:spPr>
          <a:xfrm>
            <a:off x="777240" y="1691640"/>
            <a:ext cx="384048" cy="384048"/>
          </a:xfrm>
          <a:prstGeom prst="ellipse">
            <a:avLst/>
          </a:prstGeom>
          <a:solidFill>
            <a:srgbClr val="2E86AB"/>
          </a:solidFill>
          <a:ln w="12700">
            <a:solidFill>
              <a:srgbClr val="333333"/>
            </a:solidFill>
            <a:prstDash val="solid"/>
          </a:ln>
        </p:spPr>
      </p:sp>
      <p:sp>
        <p:nvSpPr>
          <p:cNvPr id="6" name="Text 4"/>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80160" y="1691640"/>
            <a:ext cx="4480560" cy="38404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Axis 1 — pixel vs. patch</a:t>
            </a:r>
            <a:endParaRPr lang="en-US" sz="1500" dirty="0"/>
          </a:p>
        </p:txBody>
      </p:sp>
      <p:sp>
        <p:nvSpPr>
          <p:cNvPr id="8" name="Text 6"/>
          <p:cNvSpPr txBox="1"/>
          <p:nvPr/>
        </p:nvSpPr>
        <p:spPr>
          <a:xfrm>
            <a:off x="822960" y="2194560"/>
            <a:ext cx="4846320" cy="1417320"/>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TESSERA proves a per-pixel encoder with zero spatial context is competitive on land; every other model buys context with a ViT patch grid. Our attribution matrix: single-pixel raw 0.613 vs codec 0.617; 3×3 raw 0.659 vs codec 0.672 (two seeds). Probe numbers move by 0.04–0.25 between seeds, so the neighbourhood's ≈ +0.05 is at the edge of the noise band and pretraining's ≈ +0.01 inside it — the former probably real, the latter unresolved.</a:t>
            </a:r>
            <a:endParaRPr lang="en-US" sz="1300" dirty="0"/>
          </a:p>
        </p:txBody>
      </p:sp>
      <p:sp>
        <p:nvSpPr>
          <p:cNvPr id="9" name="Shape 7"/>
          <p:cNvSpPr/>
          <p:nvPr/>
        </p:nvSpPr>
        <p:spPr>
          <a:xfrm>
            <a:off x="6217920" y="1463040"/>
            <a:ext cx="5394960" cy="2240280"/>
          </a:xfrm>
          <a:prstGeom prst="roundRect">
            <a:avLst>
              <a:gd name="adj" fmla="val 3265"/>
            </a:avLst>
          </a:prstGeom>
          <a:solidFill>
            <a:srgbClr val="EEF3F8"/>
          </a:solidFill>
          <a:ln w="12700">
            <a:solidFill>
              <a:srgbClr val="333333"/>
            </a:solidFill>
            <a:prstDash val="solid"/>
          </a:ln>
        </p:spPr>
      </p:sp>
      <p:sp>
        <p:nvSpPr>
          <p:cNvPr id="10" name="Shape 8"/>
          <p:cNvSpPr/>
          <p:nvPr/>
        </p:nvSpPr>
        <p:spPr>
          <a:xfrm>
            <a:off x="6446520" y="1691640"/>
            <a:ext cx="384048" cy="384048"/>
          </a:xfrm>
          <a:prstGeom prst="ellipse">
            <a:avLst/>
          </a:prstGeom>
          <a:solidFill>
            <a:srgbClr val="E07A2F"/>
          </a:solidFill>
          <a:ln w="12700">
            <a:solidFill>
              <a:srgbClr val="333333"/>
            </a:solidFill>
            <a:prstDash val="solid"/>
          </a:ln>
        </p:spPr>
      </p:sp>
      <p:sp>
        <p:nvSpPr>
          <p:cNvPr id="11" name="Text 9"/>
          <p:cNvSpPr txBox="1"/>
          <p:nvPr/>
        </p:nvSpPr>
        <p:spPr>
          <a:xfrm>
            <a:off x="644652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949440" y="1691640"/>
            <a:ext cx="4480560" cy="38404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Axis 2 — snapshot vs. period</a:t>
            </a:r>
            <a:endParaRPr lang="en-US" sz="1500" dirty="0"/>
          </a:p>
        </p:txBody>
      </p:sp>
      <p:sp>
        <p:nvSpPr>
          <p:cNvPr id="13" name="Text 11"/>
          <p:cNvSpPr txBox="1"/>
          <p:nvPr/>
        </p:nvSpPr>
        <p:spPr>
          <a:xfrm>
            <a:off x="6492240" y="2194560"/>
            <a:ext cx="4846320" cy="1417320"/>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TerraMind and Granite are snapshots; Prithvi and OlmoEarth stack dated frames; AlphaEarth and TESSERA fold a full year into one vector. Our stage-1 codec is a snapshot of a monthly (or 5-day) mean and the month-block codec folds only ~6 pentads. The year-folded design is the untested axis — hence the proposed arm on the last slide.</a:t>
            </a:r>
            <a:endParaRPr lang="en-US" sz="1300" dirty="0"/>
          </a:p>
        </p:txBody>
      </p:sp>
      <p:sp>
        <p:nvSpPr>
          <p:cNvPr id="14" name="Shape 12"/>
          <p:cNvSpPr/>
          <p:nvPr/>
        </p:nvSpPr>
        <p:spPr>
          <a:xfrm>
            <a:off x="548640" y="3886200"/>
            <a:ext cx="5394960" cy="2240280"/>
          </a:xfrm>
          <a:prstGeom prst="roundRect">
            <a:avLst>
              <a:gd name="adj" fmla="val 3265"/>
            </a:avLst>
          </a:prstGeom>
          <a:solidFill>
            <a:srgbClr val="EEF3F8"/>
          </a:solidFill>
          <a:ln w="12700">
            <a:solidFill>
              <a:srgbClr val="333333"/>
            </a:solidFill>
            <a:prstDash val="solid"/>
          </a:ln>
        </p:spPr>
      </p:sp>
      <p:sp>
        <p:nvSpPr>
          <p:cNvPr id="15" name="Shape 13"/>
          <p:cNvSpPr/>
          <p:nvPr/>
        </p:nvSpPr>
        <p:spPr>
          <a:xfrm>
            <a:off x="777240" y="4114800"/>
            <a:ext cx="384048" cy="384048"/>
          </a:xfrm>
          <a:prstGeom prst="ellipse">
            <a:avLst/>
          </a:prstGeom>
          <a:solidFill>
            <a:srgbClr val="6A4C93"/>
          </a:solidFill>
          <a:ln w="12700">
            <a:solidFill>
              <a:srgbClr val="333333"/>
            </a:solidFill>
            <a:prstDash val="solid"/>
          </a:ln>
        </p:spPr>
      </p:sp>
      <p:sp>
        <p:nvSpPr>
          <p:cNvPr id="16" name="Text 14"/>
          <p:cNvSpPr txBox="1"/>
          <p:nvPr/>
        </p:nvSpPr>
        <p:spPr>
          <a:xfrm>
            <a:off x="777240"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80160" y="4114800"/>
            <a:ext cx="4480560" cy="38404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Product vs. model</a:t>
            </a:r>
            <a:endParaRPr lang="en-US" sz="1500" dirty="0"/>
          </a:p>
        </p:txBody>
      </p:sp>
      <p:sp>
        <p:nvSpPr>
          <p:cNvPr id="18" name="Text 16"/>
          <p:cNvSpPr txBox="1"/>
          <p:nvPr/>
        </p:nvSpPr>
        <p:spPr>
          <a:xfrm>
            <a:off x="822960" y="4617720"/>
            <a:ext cx="4846320" cy="1417320"/>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AlphaEarth is a dataset you cannot re-run; TESSERA and OlmoEarth ship both weights and embeddings. For the ocean nothing precomputed exists — whatever we release is the first embedding-field product for the ocean interior.</a:t>
            </a:r>
            <a:endParaRPr lang="en-US" sz="1300" dirty="0"/>
          </a:p>
        </p:txBody>
      </p:sp>
      <p:sp>
        <p:nvSpPr>
          <p:cNvPr id="19" name="Shape 17"/>
          <p:cNvSpPr/>
          <p:nvPr/>
        </p:nvSpPr>
        <p:spPr>
          <a:xfrm>
            <a:off x="6217920" y="3886200"/>
            <a:ext cx="5394960" cy="2240280"/>
          </a:xfrm>
          <a:prstGeom prst="roundRect">
            <a:avLst>
              <a:gd name="adj" fmla="val 3265"/>
            </a:avLst>
          </a:prstGeom>
          <a:solidFill>
            <a:srgbClr val="EEF3F8"/>
          </a:solidFill>
          <a:ln w="12700">
            <a:solidFill>
              <a:srgbClr val="333333"/>
            </a:solidFill>
            <a:prstDash val="solid"/>
          </a:ln>
        </p:spPr>
      </p:sp>
      <p:sp>
        <p:nvSpPr>
          <p:cNvPr id="20" name="Shape 18"/>
          <p:cNvSpPr/>
          <p:nvPr/>
        </p:nvSpPr>
        <p:spPr>
          <a:xfrm>
            <a:off x="6446520" y="4114800"/>
            <a:ext cx="384048" cy="384048"/>
          </a:xfrm>
          <a:prstGeom prst="ellipse">
            <a:avLst/>
          </a:prstGeom>
          <a:solidFill>
            <a:srgbClr val="1F7A4D"/>
          </a:solidFill>
          <a:ln w="12700">
            <a:solidFill>
              <a:srgbClr val="333333"/>
            </a:solidFill>
            <a:prstDash val="solid"/>
          </a:ln>
        </p:spPr>
      </p:sp>
      <p:sp>
        <p:nvSpPr>
          <p:cNvPr id="21" name="Text 19"/>
          <p:cNvSpPr txBox="1"/>
          <p:nvPr/>
        </p:nvSpPr>
        <p:spPr>
          <a:xfrm>
            <a:off x="6446520"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49440" y="4114800"/>
            <a:ext cx="4480560" cy="38404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The gap</a:t>
            </a:r>
            <a:endParaRPr lang="en-US" sz="1500" dirty="0"/>
          </a:p>
        </p:txBody>
      </p:sp>
      <p:sp>
        <p:nvSpPr>
          <p:cNvPr id="23" name="Text 21"/>
          <p:cNvSpPr txBox="1"/>
          <p:nvPr/>
        </p:nvSpPr>
        <p:spPr>
          <a:xfrm>
            <a:off x="6492240" y="4617720"/>
            <a:ext cx="4846320" cy="1417320"/>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Only two published encoders are trained on sea pixels — Granite-Geospatial-Ocean (colour + SST) and OceanSAR (sea-state radar) — and both are surface, single-instant models. To our knowledge no published model embeds the gridded ocean state (T, S, SSH, currents) through time — the territory our codec occupies.</a:t>
            </a:r>
            <a:endParaRPr lang="en-US" sz="1300" dirty="0"/>
          </a:p>
        </p:txBody>
      </p:sp>
      <p:sp>
        <p:nvSpPr>
          <p:cNvPr id="24"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Proposed arm: a TESSERA-style pixel-year codec</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Fold the year, not the neighbourhood — the one TESSERA ingredient the programme has not yet tested</a:t>
            </a:r>
            <a:endParaRPr lang="en-US" sz="1400" dirty="0"/>
          </a:p>
        </p:txBody>
      </p:sp>
      <p:sp>
        <p:nvSpPr>
          <p:cNvPr id="4" name="Shape 2"/>
          <p:cNvSpPr/>
          <p:nvPr/>
        </p:nvSpPr>
        <p:spPr>
          <a:xfrm>
            <a:off x="548640" y="1417320"/>
            <a:ext cx="4572000" cy="4846320"/>
          </a:xfrm>
          <a:prstGeom prst="roundRect">
            <a:avLst>
              <a:gd name="adj" fmla="val 1600"/>
            </a:avLst>
          </a:prstGeom>
          <a:solidFill>
            <a:srgbClr val="EEF3F8"/>
          </a:solidFill>
          <a:ln w="12700">
            <a:solidFill>
              <a:srgbClr val="333333"/>
            </a:solidFill>
            <a:prstDash val="solid"/>
          </a:ln>
        </p:spPr>
      </p:sp>
      <p:sp>
        <p:nvSpPr>
          <p:cNvPr id="5" name="Text 3"/>
          <p:cNvSpPr txBox="1"/>
          <p:nvPr/>
        </p:nvSpPr>
        <p:spPr>
          <a:xfrm>
            <a:off x="685800" y="1508760"/>
            <a:ext cx="4343400" cy="4754880"/>
          </a:xfrm>
          <a:prstGeom prst="rect">
            <a:avLst/>
          </a:prstGeom>
          <a:noFill/>
          <a:ln/>
        </p:spPr>
        <p:txBody>
          <a:bodyPr wrap="square" lIns="25400" tIns="25400" rIns="25400" bIns="25400" rtlCol="0" anchor="t"/>
          <a:lstStyle/>
          <a:p>
            <a:pPr indent="0" marL="0">
              <a:buNone/>
            </a:pPr>
            <a:r>
              <a:rPr lang="en-US" sz="1050" b="1" dirty="0">
                <a:solidFill>
                  <a:srgbClr val="1C7293"/>
                </a:solidFill>
                <a:latin typeface="Calibri" pitchFamily="34" charset="0"/>
                <a:ea typeface="Calibri" pitchFamily="34" charset="-122"/>
                <a:cs typeface="Calibri" pitchFamily="34" charset="-120"/>
              </a:rPr>
              <a:t>Why not a 1×1 spatial ablation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Already done. The attribution matrix has p = 1 and 3×3 at both raw and codec: 0.613 / 0.617 vs 0.659 / 0.672 — single seed, inside the probe noise band (ml/CLAUDE.md §3b): read as parity. The temporal axis is unmeasured.</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What TESSERA does that we don't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One embedding per pixel-YEAR: a 4-layer temporal transformer + GRU pooling over ~40 dated observations of a single pixel, day-of-year embeddings, Barlow Twins objective (no reconstruction), int8 QAT. Our stage-1 z is one pixel-MONTH; stage 2 then runs over the monthly z's.</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Arm A — pixel-year codec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Encoder over the 12 (or 24) pixel-months of one ¼° pixel: channel tokens carry month-of-year; p = 1 to isolate the temporal fold; emit one z ∈ ℝ⁶⁴ per pixel-year (or rolling 12-month window ending at t). Decoder queries (channel, Δmonth) up to ±12. Token count ≈ 12 × (C+2) ≈ 310 at 24 channels — same order as the 282-token month-block codec, so it fits the existing recipe.</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Arm B — objective swap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Same encoder, Barlow Twins on two random date-subsamples of the same pixel-year (TESSERA's augmentation) instead of masked reconstruction. Tests whether a non-reconstructive objective keeps the deep-density detail the decoder had to be re-taught to read.</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Controls (matched)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Mean of the 12 monthly z's (pooling control) · stage-2 over monthly z's (current path) · raw 12-month stack into the same attention head (end-to-end control, as in the attribution matrix). Two codec seeds minimum — head numbers are never quoted from one.</a:t>
            </a:r>
            <a:endParaRPr lang="en-US" sz="1050" dirty="0"/>
          </a:p>
          <a:p>
            <a:pPr indent="0" marL="0">
              <a:buNone/>
            </a:pPr>
            <a:r>
              <a:rPr lang="en-US" sz="1050" b="1" dirty="0">
                <a:solidFill>
                  <a:srgbClr val="1C7293"/>
                </a:solidFill>
                <a:latin typeface="Calibri" pitchFamily="34" charset="0"/>
                <a:ea typeface="Calibri" pitchFamily="34" charset="-122"/>
                <a:cs typeface="Calibri" pitchFamily="34" charset="-120"/>
              </a:rPr>
              <a:t>Read-outs  </a:t>
            </a:r>
            <a:pPr indent="0" marL="0">
              <a:spcAft>
                <a:spcPts val="700"/>
              </a:spcAft>
              <a:buNone/>
            </a:pPr>
            <a:r>
              <a:rPr lang="en-US" sz="1050" dirty="0">
                <a:solidFill>
                  <a:srgbClr val="1B2430"/>
                </a:solidFill>
                <a:latin typeface="Calibri" pitchFamily="34" charset="0"/>
                <a:ea typeface="Calibri" pitchFamily="34" charset="-122"/>
                <a:cs typeface="Calibri" pitchFamily="34" charset="-120"/>
              </a:rPr>
              <a:t>Probe ladder → RAPID r and RMSE (Sv); round-trip variance lost per channel; rolled skill under the corrected pool (MSSS per lead vs climatology and damped persistence; paper v8, 2 Sep 2026) with a year-folded z as the state. Success = beats the control beyond bootstrap intervals, n ≥ 3 seeds.</a:t>
            </a:r>
            <a:endParaRPr lang="en-US" sz="1050" dirty="0"/>
          </a:p>
        </p:txBody>
      </p:sp>
      <p:sp>
        <p:nvSpPr>
          <p:cNvPr id="6" name="Text 4"/>
          <p:cNvSpPr txBox="1"/>
          <p:nvPr/>
        </p:nvSpPr>
        <p:spPr>
          <a:xfrm>
            <a:off x="5257800" y="1417320"/>
            <a:ext cx="6583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Stencil — what feeds one embedding</a:t>
            </a:r>
            <a:endParaRPr lang="en-US" sz="1100" dirty="0"/>
          </a:p>
        </p:txBody>
      </p:sp>
      <p:sp>
        <p:nvSpPr>
          <p:cNvPr id="7" name="Text 5"/>
          <p:cNvSpPr txBox="1"/>
          <p:nvPr/>
        </p:nvSpPr>
        <p:spPr>
          <a:xfrm>
            <a:off x="5257800" y="1737360"/>
            <a:ext cx="1097280" cy="228600"/>
          </a:xfrm>
          <a:prstGeom prst="rect">
            <a:avLst/>
          </a:prstGeom>
          <a:noFill/>
          <a:ln/>
        </p:spPr>
        <p:txBody>
          <a:bodyPr wrap="square" lIns="0" tIns="0" rIns="0" bIns="0" rtlCol="0" anchor="ctr"/>
          <a:lstStyle/>
          <a:p>
            <a:pPr indent="0" marL="0">
              <a:buNone/>
            </a:pPr>
            <a:r>
              <a:rPr lang="en-US" sz="900" b="1" spc="200" kern="0" dirty="0">
                <a:solidFill>
                  <a:srgbClr val="2E86AB"/>
                </a:solidFill>
                <a:latin typeface="Calibri" pitchFamily="34" charset="0"/>
                <a:ea typeface="Calibri" pitchFamily="34" charset="-122"/>
                <a:cs typeface="Calibri" pitchFamily="34" charset="-120"/>
              </a:rPr>
              <a:t>SPACE</a:t>
            </a:r>
            <a:endParaRPr lang="en-US" sz="900" dirty="0"/>
          </a:p>
        </p:txBody>
      </p:sp>
      <p:sp>
        <p:nvSpPr>
          <p:cNvPr id="8" name="Shape 6"/>
          <p:cNvSpPr/>
          <p:nvPr/>
        </p:nvSpPr>
        <p:spPr>
          <a:xfrm>
            <a:off x="5330952" y="2212848"/>
            <a:ext cx="2377440" cy="2377440"/>
          </a:xfrm>
          <a:prstGeom prst="rect">
            <a:avLst/>
          </a:prstGeom>
          <a:solidFill>
            <a:srgbClr val="EEF3F8"/>
          </a:solidFill>
          <a:ln w="9525">
            <a:solidFill>
              <a:srgbClr val="B8C4D3"/>
            </a:solidFill>
            <a:prstDash val="solid"/>
          </a:ln>
        </p:spPr>
      </p:sp>
      <p:sp>
        <p:nvSpPr>
          <p:cNvPr id="9" name="Shape 7"/>
          <p:cNvSpPr/>
          <p:nvPr/>
        </p:nvSpPr>
        <p:spPr>
          <a:xfrm>
            <a:off x="5257800" y="2286000"/>
            <a:ext cx="2377440" cy="2377440"/>
          </a:xfrm>
          <a:prstGeom prst="rect">
            <a:avLst/>
          </a:prstGeom>
          <a:solidFill>
            <a:srgbClr val="FFFFFF"/>
          </a:solidFill>
          <a:ln w="9525">
            <a:solidFill>
              <a:srgbClr val="B8C4D3"/>
            </a:solidFill>
            <a:prstDash val="solid"/>
          </a:ln>
        </p:spPr>
      </p:sp>
      <p:sp>
        <p:nvSpPr>
          <p:cNvPr id="10" name="Shape 8"/>
          <p:cNvSpPr/>
          <p:nvPr/>
        </p:nvSpPr>
        <p:spPr>
          <a:xfrm>
            <a:off x="5521960" y="2286000"/>
            <a:ext cx="0" cy="2377440"/>
          </a:xfrm>
          <a:prstGeom prst="line">
            <a:avLst/>
          </a:prstGeom>
          <a:noFill/>
          <a:ln w="7620">
            <a:solidFill>
              <a:srgbClr val="B8C4D3"/>
            </a:solidFill>
            <a:prstDash val="solid"/>
          </a:ln>
        </p:spPr>
      </p:sp>
      <p:sp>
        <p:nvSpPr>
          <p:cNvPr id="11" name="Shape 9"/>
          <p:cNvSpPr/>
          <p:nvPr/>
        </p:nvSpPr>
        <p:spPr>
          <a:xfrm>
            <a:off x="5257800" y="2550160"/>
            <a:ext cx="2377440" cy="0"/>
          </a:xfrm>
          <a:prstGeom prst="line">
            <a:avLst/>
          </a:prstGeom>
          <a:noFill/>
          <a:ln w="7620">
            <a:solidFill>
              <a:srgbClr val="B8C4D3"/>
            </a:solidFill>
            <a:prstDash val="solid"/>
          </a:ln>
        </p:spPr>
      </p:sp>
      <p:sp>
        <p:nvSpPr>
          <p:cNvPr id="12" name="Shape 10"/>
          <p:cNvSpPr/>
          <p:nvPr/>
        </p:nvSpPr>
        <p:spPr>
          <a:xfrm>
            <a:off x="5786120" y="2286000"/>
            <a:ext cx="0" cy="2377440"/>
          </a:xfrm>
          <a:prstGeom prst="line">
            <a:avLst/>
          </a:prstGeom>
          <a:noFill/>
          <a:ln w="7620">
            <a:solidFill>
              <a:srgbClr val="B8C4D3"/>
            </a:solidFill>
            <a:prstDash val="solid"/>
          </a:ln>
        </p:spPr>
      </p:sp>
      <p:sp>
        <p:nvSpPr>
          <p:cNvPr id="13" name="Shape 11"/>
          <p:cNvSpPr/>
          <p:nvPr/>
        </p:nvSpPr>
        <p:spPr>
          <a:xfrm>
            <a:off x="5257800" y="2814320"/>
            <a:ext cx="2377440" cy="0"/>
          </a:xfrm>
          <a:prstGeom prst="line">
            <a:avLst/>
          </a:prstGeom>
          <a:noFill/>
          <a:ln w="7620">
            <a:solidFill>
              <a:srgbClr val="B8C4D3"/>
            </a:solidFill>
            <a:prstDash val="solid"/>
          </a:ln>
        </p:spPr>
      </p:sp>
      <p:sp>
        <p:nvSpPr>
          <p:cNvPr id="14" name="Shape 12"/>
          <p:cNvSpPr/>
          <p:nvPr/>
        </p:nvSpPr>
        <p:spPr>
          <a:xfrm>
            <a:off x="6050280" y="2286000"/>
            <a:ext cx="0" cy="2377440"/>
          </a:xfrm>
          <a:prstGeom prst="line">
            <a:avLst/>
          </a:prstGeom>
          <a:noFill/>
          <a:ln w="7620">
            <a:solidFill>
              <a:srgbClr val="B8C4D3"/>
            </a:solidFill>
            <a:prstDash val="solid"/>
          </a:ln>
        </p:spPr>
      </p:sp>
      <p:sp>
        <p:nvSpPr>
          <p:cNvPr id="15" name="Shape 13"/>
          <p:cNvSpPr/>
          <p:nvPr/>
        </p:nvSpPr>
        <p:spPr>
          <a:xfrm>
            <a:off x="5257800" y="3078480"/>
            <a:ext cx="2377440" cy="0"/>
          </a:xfrm>
          <a:prstGeom prst="line">
            <a:avLst/>
          </a:prstGeom>
          <a:noFill/>
          <a:ln w="7620">
            <a:solidFill>
              <a:srgbClr val="B8C4D3"/>
            </a:solidFill>
            <a:prstDash val="solid"/>
          </a:ln>
        </p:spPr>
      </p:sp>
      <p:sp>
        <p:nvSpPr>
          <p:cNvPr id="16" name="Shape 14"/>
          <p:cNvSpPr/>
          <p:nvPr/>
        </p:nvSpPr>
        <p:spPr>
          <a:xfrm>
            <a:off x="6314440" y="2286000"/>
            <a:ext cx="0" cy="2377440"/>
          </a:xfrm>
          <a:prstGeom prst="line">
            <a:avLst/>
          </a:prstGeom>
          <a:noFill/>
          <a:ln w="7620">
            <a:solidFill>
              <a:srgbClr val="B8C4D3"/>
            </a:solidFill>
            <a:prstDash val="solid"/>
          </a:ln>
        </p:spPr>
      </p:sp>
      <p:sp>
        <p:nvSpPr>
          <p:cNvPr id="17" name="Shape 15"/>
          <p:cNvSpPr/>
          <p:nvPr/>
        </p:nvSpPr>
        <p:spPr>
          <a:xfrm>
            <a:off x="5257800" y="3342640"/>
            <a:ext cx="2377440" cy="0"/>
          </a:xfrm>
          <a:prstGeom prst="line">
            <a:avLst/>
          </a:prstGeom>
          <a:noFill/>
          <a:ln w="7620">
            <a:solidFill>
              <a:srgbClr val="B8C4D3"/>
            </a:solidFill>
            <a:prstDash val="solid"/>
          </a:ln>
        </p:spPr>
      </p:sp>
      <p:sp>
        <p:nvSpPr>
          <p:cNvPr id="18" name="Shape 16"/>
          <p:cNvSpPr/>
          <p:nvPr/>
        </p:nvSpPr>
        <p:spPr>
          <a:xfrm>
            <a:off x="6578600" y="2286000"/>
            <a:ext cx="0" cy="2377440"/>
          </a:xfrm>
          <a:prstGeom prst="line">
            <a:avLst/>
          </a:prstGeom>
          <a:noFill/>
          <a:ln w="7620">
            <a:solidFill>
              <a:srgbClr val="B8C4D3"/>
            </a:solidFill>
            <a:prstDash val="solid"/>
          </a:ln>
        </p:spPr>
      </p:sp>
      <p:sp>
        <p:nvSpPr>
          <p:cNvPr id="19" name="Shape 17"/>
          <p:cNvSpPr/>
          <p:nvPr/>
        </p:nvSpPr>
        <p:spPr>
          <a:xfrm>
            <a:off x="5257800" y="3606800"/>
            <a:ext cx="2377440" cy="0"/>
          </a:xfrm>
          <a:prstGeom prst="line">
            <a:avLst/>
          </a:prstGeom>
          <a:noFill/>
          <a:ln w="7620">
            <a:solidFill>
              <a:srgbClr val="B8C4D3"/>
            </a:solidFill>
            <a:prstDash val="solid"/>
          </a:ln>
        </p:spPr>
      </p:sp>
      <p:sp>
        <p:nvSpPr>
          <p:cNvPr id="20" name="Shape 18"/>
          <p:cNvSpPr/>
          <p:nvPr/>
        </p:nvSpPr>
        <p:spPr>
          <a:xfrm>
            <a:off x="6842760" y="2286000"/>
            <a:ext cx="0" cy="2377440"/>
          </a:xfrm>
          <a:prstGeom prst="line">
            <a:avLst/>
          </a:prstGeom>
          <a:noFill/>
          <a:ln w="7620">
            <a:solidFill>
              <a:srgbClr val="B8C4D3"/>
            </a:solidFill>
            <a:prstDash val="solid"/>
          </a:ln>
        </p:spPr>
      </p:sp>
      <p:sp>
        <p:nvSpPr>
          <p:cNvPr id="21" name="Shape 19"/>
          <p:cNvSpPr/>
          <p:nvPr/>
        </p:nvSpPr>
        <p:spPr>
          <a:xfrm>
            <a:off x="5257800" y="3870960"/>
            <a:ext cx="2377440" cy="0"/>
          </a:xfrm>
          <a:prstGeom prst="line">
            <a:avLst/>
          </a:prstGeom>
          <a:noFill/>
          <a:ln w="7620">
            <a:solidFill>
              <a:srgbClr val="B8C4D3"/>
            </a:solidFill>
            <a:prstDash val="solid"/>
          </a:ln>
        </p:spPr>
      </p:sp>
      <p:sp>
        <p:nvSpPr>
          <p:cNvPr id="22" name="Shape 20"/>
          <p:cNvSpPr/>
          <p:nvPr/>
        </p:nvSpPr>
        <p:spPr>
          <a:xfrm>
            <a:off x="7106920" y="2286000"/>
            <a:ext cx="0" cy="2377440"/>
          </a:xfrm>
          <a:prstGeom prst="line">
            <a:avLst/>
          </a:prstGeom>
          <a:noFill/>
          <a:ln w="7620">
            <a:solidFill>
              <a:srgbClr val="B8C4D3"/>
            </a:solidFill>
            <a:prstDash val="solid"/>
          </a:ln>
        </p:spPr>
      </p:sp>
      <p:sp>
        <p:nvSpPr>
          <p:cNvPr id="23" name="Shape 21"/>
          <p:cNvSpPr/>
          <p:nvPr/>
        </p:nvSpPr>
        <p:spPr>
          <a:xfrm>
            <a:off x="5257800" y="4135120"/>
            <a:ext cx="2377440" cy="0"/>
          </a:xfrm>
          <a:prstGeom prst="line">
            <a:avLst/>
          </a:prstGeom>
          <a:noFill/>
          <a:ln w="7620">
            <a:solidFill>
              <a:srgbClr val="B8C4D3"/>
            </a:solidFill>
            <a:prstDash val="solid"/>
          </a:ln>
        </p:spPr>
      </p:sp>
      <p:sp>
        <p:nvSpPr>
          <p:cNvPr id="24" name="Shape 22"/>
          <p:cNvSpPr/>
          <p:nvPr/>
        </p:nvSpPr>
        <p:spPr>
          <a:xfrm>
            <a:off x="7371080" y="2286000"/>
            <a:ext cx="0" cy="2377440"/>
          </a:xfrm>
          <a:prstGeom prst="line">
            <a:avLst/>
          </a:prstGeom>
          <a:noFill/>
          <a:ln w="7620">
            <a:solidFill>
              <a:srgbClr val="B8C4D3"/>
            </a:solidFill>
            <a:prstDash val="solid"/>
          </a:ln>
        </p:spPr>
      </p:sp>
      <p:sp>
        <p:nvSpPr>
          <p:cNvPr id="25" name="Shape 23"/>
          <p:cNvSpPr/>
          <p:nvPr/>
        </p:nvSpPr>
        <p:spPr>
          <a:xfrm>
            <a:off x="5257800" y="4399280"/>
            <a:ext cx="2377440" cy="0"/>
          </a:xfrm>
          <a:prstGeom prst="line">
            <a:avLst/>
          </a:prstGeom>
          <a:noFill/>
          <a:ln w="7620">
            <a:solidFill>
              <a:srgbClr val="B8C4D3"/>
            </a:solidFill>
            <a:prstDash val="solid"/>
          </a:ln>
        </p:spPr>
      </p:sp>
      <p:sp>
        <p:nvSpPr>
          <p:cNvPr id="26" name="Shape 24"/>
          <p:cNvSpPr/>
          <p:nvPr/>
        </p:nvSpPr>
        <p:spPr>
          <a:xfrm>
            <a:off x="6314440" y="3342640"/>
            <a:ext cx="264160" cy="264160"/>
          </a:xfrm>
          <a:prstGeom prst="rect">
            <a:avLst/>
          </a:prstGeom>
          <a:solidFill>
            <a:srgbClr val="F2C14E"/>
          </a:solidFill>
          <a:ln w="12700">
            <a:solidFill>
              <a:srgbClr val="B58900"/>
            </a:solidFill>
            <a:prstDash val="solid"/>
          </a:ln>
        </p:spPr>
      </p:sp>
      <p:sp>
        <p:nvSpPr>
          <p:cNvPr id="27" name="Text 25"/>
          <p:cNvSpPr txBox="1"/>
          <p:nvPr/>
        </p:nvSpPr>
        <p:spPr>
          <a:xfrm>
            <a:off x="5943600" y="3154680"/>
            <a:ext cx="1463040" cy="228600"/>
          </a:xfrm>
          <a:prstGeom prst="rect">
            <a:avLst/>
          </a:prstGeom>
          <a:noFill/>
          <a:ln/>
        </p:spPr>
        <p:txBody>
          <a:bodyPr wrap="square" lIns="0" tIns="0" rIns="0" bIns="0" rtlCol="0" anchor="ctr"/>
          <a:lstStyle/>
          <a:p>
            <a:pPr algn="ctr" indent="0" marL="0">
              <a:buNone/>
            </a:pPr>
            <a:r>
              <a:rPr lang="en-US" sz="850" b="1" dirty="0">
                <a:solidFill>
                  <a:srgbClr val="B58900"/>
                </a:solidFill>
                <a:latin typeface="Calibri" pitchFamily="34" charset="0"/>
                <a:ea typeface="Calibri" pitchFamily="34" charset="-122"/>
                <a:cs typeface="Calibri" pitchFamily="34" charset="-120"/>
              </a:rPr>
              <a:t>p = 1 — no neighbours</a:t>
            </a:r>
            <a:endParaRPr lang="en-US" sz="850" dirty="0"/>
          </a:p>
        </p:txBody>
      </p:sp>
      <p:sp>
        <p:nvSpPr>
          <p:cNvPr id="28" name="Text 26"/>
          <p:cNvSpPr txBox="1"/>
          <p:nvPr/>
        </p:nvSpPr>
        <p:spPr>
          <a:xfrm>
            <a:off x="5257800" y="4736592"/>
            <a:ext cx="274320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Output pixel: one ¼° cell (≈ 28 km).</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Receptive field = the same cell; the 3×3 patch is deliberately switched off so only the time axis changes.</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Sheets: the 24–25 ocean channels (T, S, SSH, wind, …).</a:t>
            </a:r>
            <a:endParaRPr lang="en-US" sz="950" dirty="0"/>
          </a:p>
        </p:txBody>
      </p:sp>
      <p:sp>
        <p:nvSpPr>
          <p:cNvPr id="29" name="Text 27"/>
          <p:cNvSpPr txBox="1"/>
          <p:nvPr/>
        </p:nvSpPr>
        <p:spPr>
          <a:xfrm>
            <a:off x="8092440" y="1737360"/>
            <a:ext cx="1097280" cy="228600"/>
          </a:xfrm>
          <a:prstGeom prst="rect">
            <a:avLst/>
          </a:prstGeom>
          <a:noFill/>
          <a:ln/>
        </p:spPr>
        <p:txBody>
          <a:bodyPr wrap="square" lIns="0" tIns="0" rIns="0" bIns="0" rtlCol="0" anchor="ctr"/>
          <a:lstStyle/>
          <a:p>
            <a:pPr indent="0" marL="0">
              <a:buNone/>
            </a:pPr>
            <a:r>
              <a:rPr lang="en-US" sz="900" b="1" spc="200" kern="0" dirty="0">
                <a:solidFill>
                  <a:srgbClr val="E07A2F"/>
                </a:solidFill>
                <a:latin typeface="Calibri" pitchFamily="34" charset="0"/>
                <a:ea typeface="Calibri" pitchFamily="34" charset="-122"/>
                <a:cs typeface="Calibri" pitchFamily="34" charset="-120"/>
              </a:rPr>
              <a:t>TIME</a:t>
            </a:r>
            <a:endParaRPr lang="en-US" sz="900" dirty="0"/>
          </a:p>
        </p:txBody>
      </p:sp>
      <p:sp>
        <p:nvSpPr>
          <p:cNvPr id="30" name="Shape 28"/>
          <p:cNvSpPr/>
          <p:nvPr/>
        </p:nvSpPr>
        <p:spPr>
          <a:xfrm>
            <a:off x="8316468" y="2423160"/>
            <a:ext cx="1792224" cy="1446581"/>
          </a:xfrm>
          <a:prstGeom prst="rect">
            <a:avLst/>
          </a:prstGeom>
          <a:solidFill>
            <a:srgbClr val="E07A2F">
              <a:alpha val="18000"/>
            </a:srgbClr>
          </a:solidFill>
          <a:ln w="12700">
            <a:solidFill>
              <a:srgbClr val="E07A2F"/>
            </a:solidFill>
            <a:prstDash val="solid"/>
          </a:ln>
        </p:spPr>
      </p:sp>
      <p:sp>
        <p:nvSpPr>
          <p:cNvPr id="31" name="Text 29"/>
          <p:cNvSpPr txBox="1"/>
          <p:nvPr/>
        </p:nvSpPr>
        <p:spPr>
          <a:xfrm>
            <a:off x="8087868" y="2176272"/>
            <a:ext cx="2249424" cy="237744"/>
          </a:xfrm>
          <a:prstGeom prst="rect">
            <a:avLst/>
          </a:prstGeom>
          <a:noFill/>
          <a:ln/>
        </p:spPr>
        <p:txBody>
          <a:bodyPr wrap="square" lIns="0" tIns="0" rIns="0" bIns="0" rtlCol="0" anchor="b"/>
          <a:lstStyle/>
          <a:p>
            <a:pPr algn="ctr" indent="0" marL="0">
              <a:buNone/>
            </a:pPr>
            <a:r>
              <a:rPr lang="en-US" sz="750" b="1" dirty="0">
                <a:solidFill>
                  <a:srgbClr val="E07A2F"/>
                </a:solidFill>
                <a:latin typeface="Calibri" pitchFamily="34" charset="0"/>
                <a:ea typeface="Calibri" pitchFamily="34" charset="-122"/>
                <a:cs typeface="Calibri" pitchFamily="34" charset="-120"/>
              </a:rPr>
              <a:t>12 (or 24) months → one z</a:t>
            </a:r>
            <a:endParaRPr lang="en-US" sz="750" dirty="0"/>
          </a:p>
        </p:txBody>
      </p:sp>
      <p:sp>
        <p:nvSpPr>
          <p:cNvPr id="32" name="Shape 30"/>
          <p:cNvSpPr/>
          <p:nvPr/>
        </p:nvSpPr>
        <p:spPr>
          <a:xfrm>
            <a:off x="8092440" y="3760013"/>
            <a:ext cx="2240280" cy="0"/>
          </a:xfrm>
          <a:prstGeom prst="line">
            <a:avLst/>
          </a:prstGeom>
          <a:noFill/>
          <a:ln w="12700">
            <a:solidFill>
              <a:srgbClr val="1B2430"/>
            </a:solidFill>
            <a:prstDash val="solid"/>
            <a:tailEnd type="triangle"/>
          </a:ln>
        </p:spPr>
      </p:sp>
      <p:sp>
        <p:nvSpPr>
          <p:cNvPr id="33" name="Text 31"/>
          <p:cNvSpPr txBox="1"/>
          <p:nvPr/>
        </p:nvSpPr>
        <p:spPr>
          <a:xfrm>
            <a:off x="8092440" y="3814877"/>
            <a:ext cx="2240280" cy="201168"/>
          </a:xfrm>
          <a:prstGeom prst="rect">
            <a:avLst/>
          </a:prstGeom>
          <a:noFill/>
          <a:ln/>
        </p:spPr>
        <p:txBody>
          <a:bodyPr wrap="square" lIns="0" tIns="0" rIns="0" bIns="0" rtlCol="0" anchor="ctr"/>
          <a:lstStyle/>
          <a:p>
            <a:pPr algn="r" indent="0" marL="0">
              <a:buNone/>
            </a:pPr>
            <a:r>
              <a:rPr lang="en-US" sz="850" dirty="0">
                <a:solidFill>
                  <a:srgbClr val="6B7A8F"/>
                </a:solidFill>
                <a:latin typeface="Calibri" pitchFamily="34" charset="0"/>
                <a:ea typeface="Calibri" pitchFamily="34" charset="-122"/>
                <a:cs typeface="Calibri" pitchFamily="34" charset="-120"/>
              </a:rPr>
              <a:t>time</a:t>
            </a:r>
            <a:endParaRPr lang="en-US" sz="850" dirty="0"/>
          </a:p>
        </p:txBody>
      </p:sp>
      <p:sp>
        <p:nvSpPr>
          <p:cNvPr id="34" name="Shape 32"/>
          <p:cNvSpPr/>
          <p:nvPr/>
        </p:nvSpPr>
        <p:spPr>
          <a:xfrm>
            <a:off x="8391144" y="3723437"/>
            <a:ext cx="0" cy="73152"/>
          </a:xfrm>
          <a:prstGeom prst="line">
            <a:avLst/>
          </a:prstGeom>
          <a:noFill/>
          <a:ln w="9525">
            <a:solidFill>
              <a:srgbClr val="1B2430"/>
            </a:solidFill>
            <a:prstDash val="solid"/>
          </a:ln>
        </p:spPr>
      </p:sp>
      <p:sp>
        <p:nvSpPr>
          <p:cNvPr id="35" name="Shape 33"/>
          <p:cNvSpPr/>
          <p:nvPr/>
        </p:nvSpPr>
        <p:spPr>
          <a:xfrm>
            <a:off x="8540496" y="3723437"/>
            <a:ext cx="0" cy="73152"/>
          </a:xfrm>
          <a:prstGeom prst="line">
            <a:avLst/>
          </a:prstGeom>
          <a:noFill/>
          <a:ln w="9525">
            <a:solidFill>
              <a:srgbClr val="1B2430"/>
            </a:solidFill>
            <a:prstDash val="solid"/>
          </a:ln>
        </p:spPr>
      </p:sp>
      <p:sp>
        <p:nvSpPr>
          <p:cNvPr id="36" name="Shape 34"/>
          <p:cNvSpPr/>
          <p:nvPr/>
        </p:nvSpPr>
        <p:spPr>
          <a:xfrm>
            <a:off x="8689848" y="3723437"/>
            <a:ext cx="0" cy="73152"/>
          </a:xfrm>
          <a:prstGeom prst="line">
            <a:avLst/>
          </a:prstGeom>
          <a:noFill/>
          <a:ln w="9525">
            <a:solidFill>
              <a:srgbClr val="1B2430"/>
            </a:solidFill>
            <a:prstDash val="solid"/>
          </a:ln>
        </p:spPr>
      </p:sp>
      <p:sp>
        <p:nvSpPr>
          <p:cNvPr id="37" name="Shape 35"/>
          <p:cNvSpPr/>
          <p:nvPr/>
        </p:nvSpPr>
        <p:spPr>
          <a:xfrm>
            <a:off x="8839200" y="3723437"/>
            <a:ext cx="0" cy="73152"/>
          </a:xfrm>
          <a:prstGeom prst="line">
            <a:avLst/>
          </a:prstGeom>
          <a:noFill/>
          <a:ln w="9525">
            <a:solidFill>
              <a:srgbClr val="1B2430"/>
            </a:solidFill>
            <a:prstDash val="solid"/>
          </a:ln>
        </p:spPr>
      </p:sp>
      <p:sp>
        <p:nvSpPr>
          <p:cNvPr id="38" name="Shape 36"/>
          <p:cNvSpPr/>
          <p:nvPr/>
        </p:nvSpPr>
        <p:spPr>
          <a:xfrm>
            <a:off x="8988552" y="3723437"/>
            <a:ext cx="0" cy="73152"/>
          </a:xfrm>
          <a:prstGeom prst="line">
            <a:avLst/>
          </a:prstGeom>
          <a:noFill/>
          <a:ln w="9525">
            <a:solidFill>
              <a:srgbClr val="1B2430"/>
            </a:solidFill>
            <a:prstDash val="solid"/>
          </a:ln>
        </p:spPr>
      </p:sp>
      <p:sp>
        <p:nvSpPr>
          <p:cNvPr id="39" name="Shape 37"/>
          <p:cNvSpPr/>
          <p:nvPr/>
        </p:nvSpPr>
        <p:spPr>
          <a:xfrm>
            <a:off x="9137904" y="3723437"/>
            <a:ext cx="0" cy="73152"/>
          </a:xfrm>
          <a:prstGeom prst="line">
            <a:avLst/>
          </a:prstGeom>
          <a:noFill/>
          <a:ln w="9525">
            <a:solidFill>
              <a:srgbClr val="1B2430"/>
            </a:solidFill>
            <a:prstDash val="solid"/>
          </a:ln>
        </p:spPr>
      </p:sp>
      <p:sp>
        <p:nvSpPr>
          <p:cNvPr id="40" name="Shape 38"/>
          <p:cNvSpPr/>
          <p:nvPr/>
        </p:nvSpPr>
        <p:spPr>
          <a:xfrm>
            <a:off x="9287256" y="3723437"/>
            <a:ext cx="0" cy="73152"/>
          </a:xfrm>
          <a:prstGeom prst="line">
            <a:avLst/>
          </a:prstGeom>
          <a:noFill/>
          <a:ln w="9525">
            <a:solidFill>
              <a:srgbClr val="1B2430"/>
            </a:solidFill>
            <a:prstDash val="solid"/>
          </a:ln>
        </p:spPr>
      </p:sp>
      <p:sp>
        <p:nvSpPr>
          <p:cNvPr id="41" name="Shape 39"/>
          <p:cNvSpPr/>
          <p:nvPr/>
        </p:nvSpPr>
        <p:spPr>
          <a:xfrm>
            <a:off x="9436608" y="3723437"/>
            <a:ext cx="0" cy="73152"/>
          </a:xfrm>
          <a:prstGeom prst="line">
            <a:avLst/>
          </a:prstGeom>
          <a:noFill/>
          <a:ln w="9525">
            <a:solidFill>
              <a:srgbClr val="1B2430"/>
            </a:solidFill>
            <a:prstDash val="solid"/>
          </a:ln>
        </p:spPr>
      </p:sp>
      <p:sp>
        <p:nvSpPr>
          <p:cNvPr id="42" name="Shape 40"/>
          <p:cNvSpPr/>
          <p:nvPr/>
        </p:nvSpPr>
        <p:spPr>
          <a:xfrm>
            <a:off x="9585960" y="3723437"/>
            <a:ext cx="0" cy="73152"/>
          </a:xfrm>
          <a:prstGeom prst="line">
            <a:avLst/>
          </a:prstGeom>
          <a:noFill/>
          <a:ln w="9525">
            <a:solidFill>
              <a:srgbClr val="1B2430"/>
            </a:solidFill>
            <a:prstDash val="solid"/>
          </a:ln>
        </p:spPr>
      </p:sp>
      <p:sp>
        <p:nvSpPr>
          <p:cNvPr id="43" name="Shape 41"/>
          <p:cNvSpPr/>
          <p:nvPr/>
        </p:nvSpPr>
        <p:spPr>
          <a:xfrm>
            <a:off x="9735312" y="3723437"/>
            <a:ext cx="0" cy="73152"/>
          </a:xfrm>
          <a:prstGeom prst="line">
            <a:avLst/>
          </a:prstGeom>
          <a:noFill/>
          <a:ln w="9525">
            <a:solidFill>
              <a:srgbClr val="1B2430"/>
            </a:solidFill>
            <a:prstDash val="solid"/>
          </a:ln>
        </p:spPr>
      </p:sp>
      <p:sp>
        <p:nvSpPr>
          <p:cNvPr id="44" name="Shape 42"/>
          <p:cNvSpPr/>
          <p:nvPr/>
        </p:nvSpPr>
        <p:spPr>
          <a:xfrm>
            <a:off x="9884664" y="3723437"/>
            <a:ext cx="0" cy="73152"/>
          </a:xfrm>
          <a:prstGeom prst="line">
            <a:avLst/>
          </a:prstGeom>
          <a:noFill/>
          <a:ln w="9525">
            <a:solidFill>
              <a:srgbClr val="1B2430"/>
            </a:solidFill>
            <a:prstDash val="solid"/>
          </a:ln>
        </p:spPr>
      </p:sp>
      <p:sp>
        <p:nvSpPr>
          <p:cNvPr id="45" name="Shape 43"/>
          <p:cNvSpPr/>
          <p:nvPr/>
        </p:nvSpPr>
        <p:spPr>
          <a:xfrm>
            <a:off x="10034016" y="3723437"/>
            <a:ext cx="0" cy="73152"/>
          </a:xfrm>
          <a:prstGeom prst="line">
            <a:avLst/>
          </a:prstGeom>
          <a:noFill/>
          <a:ln w="9525">
            <a:solidFill>
              <a:srgbClr val="1B2430"/>
            </a:solidFill>
            <a:prstDash val="solid"/>
          </a:ln>
        </p:spPr>
      </p:sp>
      <p:sp>
        <p:nvSpPr>
          <p:cNvPr id="46" name="Text 44"/>
          <p:cNvSpPr txBox="1"/>
          <p:nvPr/>
        </p:nvSpPr>
        <p:spPr>
          <a:xfrm>
            <a:off x="8362188" y="2745943"/>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1B2430"/>
                </a:solidFill>
                <a:latin typeface="Calibri" pitchFamily="34" charset="0"/>
                <a:ea typeface="Calibri" pitchFamily="34" charset="-122"/>
                <a:cs typeface="Calibri" pitchFamily="34" charset="-120"/>
              </a:rPr>
              <a:t>monthly means, month-of-year encoded</a:t>
            </a:r>
            <a:endParaRPr lang="en-US" sz="750" dirty="0"/>
          </a:p>
        </p:txBody>
      </p:sp>
      <p:sp>
        <p:nvSpPr>
          <p:cNvPr id="47" name="Shape 45"/>
          <p:cNvSpPr/>
          <p:nvPr/>
        </p:nvSpPr>
        <p:spPr>
          <a:xfrm>
            <a:off x="8372856" y="2919679"/>
            <a:ext cx="36576" cy="146304"/>
          </a:xfrm>
          <a:prstGeom prst="rect">
            <a:avLst/>
          </a:prstGeom>
          <a:solidFill>
            <a:srgbClr val="E07A2F"/>
          </a:solidFill>
          <a:ln w="12700">
            <a:solidFill>
              <a:srgbClr val="333333"/>
            </a:solidFill>
            <a:prstDash val="solid"/>
          </a:ln>
        </p:spPr>
      </p:sp>
      <p:sp>
        <p:nvSpPr>
          <p:cNvPr id="48" name="Shape 46"/>
          <p:cNvSpPr/>
          <p:nvPr/>
        </p:nvSpPr>
        <p:spPr>
          <a:xfrm>
            <a:off x="8522208" y="2919679"/>
            <a:ext cx="36576" cy="146304"/>
          </a:xfrm>
          <a:prstGeom prst="rect">
            <a:avLst/>
          </a:prstGeom>
          <a:solidFill>
            <a:srgbClr val="E07A2F"/>
          </a:solidFill>
          <a:ln w="12700">
            <a:solidFill>
              <a:srgbClr val="333333"/>
            </a:solidFill>
            <a:prstDash val="solid"/>
          </a:ln>
        </p:spPr>
      </p:sp>
      <p:sp>
        <p:nvSpPr>
          <p:cNvPr id="49" name="Shape 47"/>
          <p:cNvSpPr/>
          <p:nvPr/>
        </p:nvSpPr>
        <p:spPr>
          <a:xfrm>
            <a:off x="8671560" y="2919679"/>
            <a:ext cx="36576" cy="146304"/>
          </a:xfrm>
          <a:prstGeom prst="rect">
            <a:avLst/>
          </a:prstGeom>
          <a:solidFill>
            <a:srgbClr val="E07A2F"/>
          </a:solidFill>
          <a:ln w="12700">
            <a:solidFill>
              <a:srgbClr val="333333"/>
            </a:solidFill>
            <a:prstDash val="solid"/>
          </a:ln>
        </p:spPr>
      </p:sp>
      <p:sp>
        <p:nvSpPr>
          <p:cNvPr id="50" name="Shape 48"/>
          <p:cNvSpPr/>
          <p:nvPr/>
        </p:nvSpPr>
        <p:spPr>
          <a:xfrm>
            <a:off x="8820912" y="2919679"/>
            <a:ext cx="36576" cy="146304"/>
          </a:xfrm>
          <a:prstGeom prst="rect">
            <a:avLst/>
          </a:prstGeom>
          <a:solidFill>
            <a:srgbClr val="E07A2F"/>
          </a:solidFill>
          <a:ln w="12700">
            <a:solidFill>
              <a:srgbClr val="333333"/>
            </a:solidFill>
            <a:prstDash val="solid"/>
          </a:ln>
        </p:spPr>
      </p:sp>
      <p:sp>
        <p:nvSpPr>
          <p:cNvPr id="51" name="Shape 49"/>
          <p:cNvSpPr/>
          <p:nvPr/>
        </p:nvSpPr>
        <p:spPr>
          <a:xfrm>
            <a:off x="8970264" y="2919679"/>
            <a:ext cx="36576" cy="146304"/>
          </a:xfrm>
          <a:prstGeom prst="rect">
            <a:avLst/>
          </a:prstGeom>
          <a:solidFill>
            <a:srgbClr val="E07A2F"/>
          </a:solidFill>
          <a:ln w="12700">
            <a:solidFill>
              <a:srgbClr val="333333"/>
            </a:solidFill>
            <a:prstDash val="solid"/>
          </a:ln>
        </p:spPr>
      </p:sp>
      <p:sp>
        <p:nvSpPr>
          <p:cNvPr id="52" name="Shape 50"/>
          <p:cNvSpPr/>
          <p:nvPr/>
        </p:nvSpPr>
        <p:spPr>
          <a:xfrm>
            <a:off x="9119616" y="2919679"/>
            <a:ext cx="36576" cy="146304"/>
          </a:xfrm>
          <a:prstGeom prst="rect">
            <a:avLst/>
          </a:prstGeom>
          <a:solidFill>
            <a:srgbClr val="E07A2F"/>
          </a:solidFill>
          <a:ln w="12700">
            <a:solidFill>
              <a:srgbClr val="333333"/>
            </a:solidFill>
            <a:prstDash val="solid"/>
          </a:ln>
        </p:spPr>
      </p:sp>
      <p:sp>
        <p:nvSpPr>
          <p:cNvPr id="53" name="Shape 51"/>
          <p:cNvSpPr/>
          <p:nvPr/>
        </p:nvSpPr>
        <p:spPr>
          <a:xfrm>
            <a:off x="9268968" y="2919679"/>
            <a:ext cx="36576" cy="146304"/>
          </a:xfrm>
          <a:prstGeom prst="rect">
            <a:avLst/>
          </a:prstGeom>
          <a:solidFill>
            <a:srgbClr val="E07A2F"/>
          </a:solidFill>
          <a:ln w="12700">
            <a:solidFill>
              <a:srgbClr val="333333"/>
            </a:solidFill>
            <a:prstDash val="solid"/>
          </a:ln>
        </p:spPr>
      </p:sp>
      <p:sp>
        <p:nvSpPr>
          <p:cNvPr id="54" name="Shape 52"/>
          <p:cNvSpPr/>
          <p:nvPr/>
        </p:nvSpPr>
        <p:spPr>
          <a:xfrm>
            <a:off x="9418320" y="2919679"/>
            <a:ext cx="36576" cy="146304"/>
          </a:xfrm>
          <a:prstGeom prst="rect">
            <a:avLst/>
          </a:prstGeom>
          <a:solidFill>
            <a:srgbClr val="E07A2F"/>
          </a:solidFill>
          <a:ln w="12700">
            <a:solidFill>
              <a:srgbClr val="333333"/>
            </a:solidFill>
            <a:prstDash val="solid"/>
          </a:ln>
        </p:spPr>
      </p:sp>
      <p:sp>
        <p:nvSpPr>
          <p:cNvPr id="55" name="Shape 53"/>
          <p:cNvSpPr/>
          <p:nvPr/>
        </p:nvSpPr>
        <p:spPr>
          <a:xfrm>
            <a:off x="9567672" y="2919679"/>
            <a:ext cx="36576" cy="146304"/>
          </a:xfrm>
          <a:prstGeom prst="rect">
            <a:avLst/>
          </a:prstGeom>
          <a:solidFill>
            <a:srgbClr val="E07A2F"/>
          </a:solidFill>
          <a:ln w="12700">
            <a:solidFill>
              <a:srgbClr val="333333"/>
            </a:solidFill>
            <a:prstDash val="solid"/>
          </a:ln>
        </p:spPr>
      </p:sp>
      <p:sp>
        <p:nvSpPr>
          <p:cNvPr id="56" name="Shape 54"/>
          <p:cNvSpPr/>
          <p:nvPr/>
        </p:nvSpPr>
        <p:spPr>
          <a:xfrm>
            <a:off x="9717024" y="2919679"/>
            <a:ext cx="36576" cy="146304"/>
          </a:xfrm>
          <a:prstGeom prst="rect">
            <a:avLst/>
          </a:prstGeom>
          <a:solidFill>
            <a:srgbClr val="E07A2F"/>
          </a:solidFill>
          <a:ln w="12700">
            <a:solidFill>
              <a:srgbClr val="333333"/>
            </a:solidFill>
            <a:prstDash val="solid"/>
          </a:ln>
        </p:spPr>
      </p:sp>
      <p:sp>
        <p:nvSpPr>
          <p:cNvPr id="57" name="Shape 55"/>
          <p:cNvSpPr/>
          <p:nvPr/>
        </p:nvSpPr>
        <p:spPr>
          <a:xfrm>
            <a:off x="9866376" y="2919679"/>
            <a:ext cx="36576" cy="146304"/>
          </a:xfrm>
          <a:prstGeom prst="rect">
            <a:avLst/>
          </a:prstGeom>
          <a:solidFill>
            <a:srgbClr val="E07A2F"/>
          </a:solidFill>
          <a:ln w="12700">
            <a:solidFill>
              <a:srgbClr val="333333"/>
            </a:solidFill>
            <a:prstDash val="solid"/>
          </a:ln>
        </p:spPr>
      </p:sp>
      <p:sp>
        <p:nvSpPr>
          <p:cNvPr id="58" name="Shape 56"/>
          <p:cNvSpPr/>
          <p:nvPr/>
        </p:nvSpPr>
        <p:spPr>
          <a:xfrm>
            <a:off x="10015728" y="2919679"/>
            <a:ext cx="36576" cy="146304"/>
          </a:xfrm>
          <a:prstGeom prst="rect">
            <a:avLst/>
          </a:prstGeom>
          <a:solidFill>
            <a:srgbClr val="E07A2F"/>
          </a:solidFill>
          <a:ln w="12700">
            <a:solidFill>
              <a:srgbClr val="333333"/>
            </a:solidFill>
            <a:prstDash val="solid"/>
          </a:ln>
        </p:spPr>
      </p:sp>
      <p:sp>
        <p:nvSpPr>
          <p:cNvPr id="59" name="Text 57"/>
          <p:cNvSpPr txBox="1"/>
          <p:nvPr/>
        </p:nvSpPr>
        <p:spPr>
          <a:xfrm>
            <a:off x="8362188" y="3208630"/>
            <a:ext cx="1700784" cy="182880"/>
          </a:xfrm>
          <a:prstGeom prst="rect">
            <a:avLst/>
          </a:prstGeom>
          <a:solidFill>
            <a:srgbClr val="FFFFFF">
              <a:alpha val="80000"/>
            </a:srgbClr>
          </a:solidFill>
          <a:ln/>
        </p:spPr>
        <p:txBody>
          <a:bodyPr wrap="square" lIns="12700" tIns="12700" rIns="12700" bIns="12700" rtlCol="0" anchor="ctr"/>
          <a:lstStyle/>
          <a:p>
            <a:pPr indent="0" marL="0">
              <a:buNone/>
            </a:pPr>
            <a:r>
              <a:rPr lang="en-US" sz="750" dirty="0">
                <a:solidFill>
                  <a:srgbClr val="B85C1E"/>
                </a:solidFill>
                <a:latin typeface="Calibri" pitchFamily="34" charset="0"/>
                <a:ea typeface="Calibri" pitchFamily="34" charset="-122"/>
                <a:cs typeface="Calibri" pitchFamily="34" charset="-120"/>
              </a:rPr>
              <a:t>Arm B: two random date-subsamples</a:t>
            </a:r>
            <a:endParaRPr lang="en-US" sz="750" dirty="0"/>
          </a:p>
        </p:txBody>
      </p:sp>
      <p:sp>
        <p:nvSpPr>
          <p:cNvPr id="60" name="Shape 58"/>
          <p:cNvSpPr/>
          <p:nvPr/>
        </p:nvSpPr>
        <p:spPr>
          <a:xfrm>
            <a:off x="8374075" y="3405226"/>
            <a:ext cx="64008" cy="64008"/>
          </a:xfrm>
          <a:prstGeom prst="ellipse">
            <a:avLst/>
          </a:prstGeom>
          <a:solidFill>
            <a:srgbClr val="B85C1E"/>
          </a:solidFill>
          <a:ln w="12700">
            <a:solidFill>
              <a:srgbClr val="333333"/>
            </a:solidFill>
            <a:prstDash val="solid"/>
          </a:ln>
        </p:spPr>
      </p:sp>
      <p:sp>
        <p:nvSpPr>
          <p:cNvPr id="61" name="Shape 59"/>
          <p:cNvSpPr/>
          <p:nvPr/>
        </p:nvSpPr>
        <p:spPr>
          <a:xfrm>
            <a:off x="8665312" y="3405226"/>
            <a:ext cx="64008" cy="64008"/>
          </a:xfrm>
          <a:prstGeom prst="ellipse">
            <a:avLst/>
          </a:prstGeom>
          <a:solidFill>
            <a:srgbClr val="B85C1E"/>
          </a:solidFill>
          <a:ln w="12700">
            <a:solidFill>
              <a:srgbClr val="333333"/>
            </a:solidFill>
            <a:prstDash val="solid"/>
          </a:ln>
        </p:spPr>
      </p:sp>
      <p:sp>
        <p:nvSpPr>
          <p:cNvPr id="62" name="Shape 60"/>
          <p:cNvSpPr/>
          <p:nvPr/>
        </p:nvSpPr>
        <p:spPr>
          <a:xfrm>
            <a:off x="9113368" y="3405226"/>
            <a:ext cx="64008" cy="64008"/>
          </a:xfrm>
          <a:prstGeom prst="ellipse">
            <a:avLst/>
          </a:prstGeom>
          <a:solidFill>
            <a:srgbClr val="B85C1E"/>
          </a:solidFill>
          <a:ln w="12700">
            <a:solidFill>
              <a:srgbClr val="333333"/>
            </a:solidFill>
            <a:prstDash val="solid"/>
          </a:ln>
        </p:spPr>
      </p:sp>
      <p:sp>
        <p:nvSpPr>
          <p:cNvPr id="63" name="Shape 61"/>
          <p:cNvSpPr/>
          <p:nvPr/>
        </p:nvSpPr>
        <p:spPr>
          <a:xfrm>
            <a:off x="9404604" y="3405226"/>
            <a:ext cx="64008" cy="64008"/>
          </a:xfrm>
          <a:prstGeom prst="ellipse">
            <a:avLst/>
          </a:prstGeom>
          <a:solidFill>
            <a:srgbClr val="B85C1E"/>
          </a:solidFill>
          <a:ln w="12700">
            <a:solidFill>
              <a:srgbClr val="333333"/>
            </a:solidFill>
            <a:prstDash val="solid"/>
          </a:ln>
        </p:spPr>
      </p:sp>
      <p:sp>
        <p:nvSpPr>
          <p:cNvPr id="64" name="Shape 62"/>
          <p:cNvSpPr/>
          <p:nvPr/>
        </p:nvSpPr>
        <p:spPr>
          <a:xfrm>
            <a:off x="9852660" y="3405226"/>
            <a:ext cx="64008" cy="64008"/>
          </a:xfrm>
          <a:prstGeom prst="ellipse">
            <a:avLst/>
          </a:prstGeom>
          <a:solidFill>
            <a:srgbClr val="B85C1E"/>
          </a:solidFill>
          <a:ln w="12700">
            <a:solidFill>
              <a:srgbClr val="333333"/>
            </a:solidFill>
            <a:prstDash val="solid"/>
          </a:ln>
        </p:spPr>
      </p:sp>
      <p:sp>
        <p:nvSpPr>
          <p:cNvPr id="65" name="Text 63"/>
          <p:cNvSpPr txBox="1"/>
          <p:nvPr/>
        </p:nvSpPr>
        <p:spPr>
          <a:xfrm>
            <a:off x="8092440" y="4736592"/>
            <a:ext cx="2240280" cy="868680"/>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A period embedding of the ocean state, TESSERA-style, instead of a snapshot of one monthly mean.</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Moves our point on the space × time map from 'single snapshot' to '1 year folded'.</a:t>
            </a:r>
            <a:endParaRPr lang="en-US" sz="950" dirty="0"/>
          </a:p>
        </p:txBody>
      </p:sp>
      <p:sp>
        <p:nvSpPr>
          <p:cNvPr id="66" name="Shape 64"/>
          <p:cNvSpPr/>
          <p:nvPr/>
        </p:nvSpPr>
        <p:spPr>
          <a:xfrm>
            <a:off x="10424160" y="3337560"/>
            <a:ext cx="274320" cy="274320"/>
          </a:xfrm>
          <a:prstGeom prst="rightArrow">
            <a:avLst/>
          </a:prstGeom>
          <a:solidFill>
            <a:srgbClr val="B8C4D3"/>
          </a:solidFill>
          <a:ln w="12700">
            <a:solidFill>
              <a:srgbClr val="B8C4D3"/>
            </a:solidFill>
            <a:prstDash val="solid"/>
          </a:ln>
        </p:spPr>
      </p:sp>
      <p:sp>
        <p:nvSpPr>
          <p:cNvPr id="67" name="Shape 65"/>
          <p:cNvSpPr/>
          <p:nvPr/>
        </p:nvSpPr>
        <p:spPr>
          <a:xfrm>
            <a:off x="7744968" y="3337560"/>
            <a:ext cx="274320" cy="274320"/>
          </a:xfrm>
          <a:prstGeom prst="rightArrow">
            <a:avLst/>
          </a:prstGeom>
          <a:solidFill>
            <a:srgbClr val="B8C4D3"/>
          </a:solidFill>
          <a:ln w="12700">
            <a:solidFill>
              <a:srgbClr val="B8C4D3"/>
            </a:solidFill>
            <a:prstDash val="solid"/>
          </a:ln>
        </p:spPr>
      </p:sp>
      <p:sp>
        <p:nvSpPr>
          <p:cNvPr id="68" name="Text 66"/>
          <p:cNvSpPr txBox="1"/>
          <p:nvPr/>
        </p:nvSpPr>
        <p:spPr>
          <a:xfrm>
            <a:off x="10607040" y="1737360"/>
            <a:ext cx="1097280" cy="228600"/>
          </a:xfrm>
          <a:prstGeom prst="rect">
            <a:avLst/>
          </a:prstGeom>
          <a:noFill/>
          <a:ln/>
        </p:spPr>
        <p:txBody>
          <a:bodyPr wrap="square" lIns="0" tIns="0" rIns="0" bIns="0" rtlCol="0" anchor="ctr"/>
          <a:lstStyle/>
          <a:p>
            <a:pPr indent="0" marL="0">
              <a:buNone/>
            </a:pPr>
            <a:r>
              <a:rPr lang="en-US" sz="900" b="1" spc="200" kern="0" dirty="0">
                <a:solidFill>
                  <a:srgbClr val="6A4C93"/>
                </a:solidFill>
                <a:latin typeface="Calibri" pitchFamily="34" charset="0"/>
                <a:ea typeface="Calibri" pitchFamily="34" charset="-122"/>
                <a:cs typeface="Calibri" pitchFamily="34" charset="-120"/>
              </a:rPr>
              <a:t>OUTPUT</a:t>
            </a:r>
            <a:endParaRPr lang="en-US" sz="900" dirty="0"/>
          </a:p>
        </p:txBody>
      </p:sp>
      <p:sp>
        <p:nvSpPr>
          <p:cNvPr id="69" name="Shape 67"/>
          <p:cNvSpPr/>
          <p:nvPr/>
        </p:nvSpPr>
        <p:spPr>
          <a:xfrm>
            <a:off x="10698480" y="2606040"/>
            <a:ext cx="685800" cy="217170"/>
          </a:xfrm>
          <a:prstGeom prst="rect">
            <a:avLst/>
          </a:prstGeom>
          <a:solidFill>
            <a:srgbClr val="6A4C93"/>
          </a:solidFill>
          <a:ln w="9525">
            <a:solidFill>
              <a:srgbClr val="FFFFFF"/>
            </a:solidFill>
            <a:prstDash val="solid"/>
          </a:ln>
        </p:spPr>
      </p:sp>
      <p:sp>
        <p:nvSpPr>
          <p:cNvPr id="70" name="Shape 68"/>
          <p:cNvSpPr/>
          <p:nvPr/>
        </p:nvSpPr>
        <p:spPr>
          <a:xfrm>
            <a:off x="10698480" y="2823210"/>
            <a:ext cx="685800" cy="217170"/>
          </a:xfrm>
          <a:prstGeom prst="rect">
            <a:avLst/>
          </a:prstGeom>
          <a:solidFill>
            <a:srgbClr val="7B5EA7"/>
          </a:solidFill>
          <a:ln w="9525">
            <a:solidFill>
              <a:srgbClr val="FFFFFF"/>
            </a:solidFill>
            <a:prstDash val="solid"/>
          </a:ln>
        </p:spPr>
      </p:sp>
      <p:sp>
        <p:nvSpPr>
          <p:cNvPr id="71" name="Shape 69"/>
          <p:cNvSpPr/>
          <p:nvPr/>
        </p:nvSpPr>
        <p:spPr>
          <a:xfrm>
            <a:off x="10698480" y="3040380"/>
            <a:ext cx="685800" cy="217170"/>
          </a:xfrm>
          <a:prstGeom prst="rect">
            <a:avLst/>
          </a:prstGeom>
          <a:solidFill>
            <a:srgbClr val="8C70BA"/>
          </a:solidFill>
          <a:ln w="9525">
            <a:solidFill>
              <a:srgbClr val="FFFFFF"/>
            </a:solidFill>
            <a:prstDash val="solid"/>
          </a:ln>
        </p:spPr>
      </p:sp>
      <p:sp>
        <p:nvSpPr>
          <p:cNvPr id="72" name="Shape 70"/>
          <p:cNvSpPr/>
          <p:nvPr/>
        </p:nvSpPr>
        <p:spPr>
          <a:xfrm>
            <a:off x="10698480" y="3257550"/>
            <a:ext cx="685800" cy="217170"/>
          </a:xfrm>
          <a:prstGeom prst="rect">
            <a:avLst/>
          </a:prstGeom>
          <a:solidFill>
            <a:srgbClr val="9D82CD"/>
          </a:solidFill>
          <a:ln w="9525">
            <a:solidFill>
              <a:srgbClr val="FFFFFF"/>
            </a:solidFill>
            <a:prstDash val="solid"/>
          </a:ln>
        </p:spPr>
      </p:sp>
      <p:sp>
        <p:nvSpPr>
          <p:cNvPr id="73" name="Shape 71"/>
          <p:cNvSpPr/>
          <p:nvPr/>
        </p:nvSpPr>
        <p:spPr>
          <a:xfrm>
            <a:off x="10698480" y="3474720"/>
            <a:ext cx="685800" cy="217170"/>
          </a:xfrm>
          <a:prstGeom prst="rect">
            <a:avLst/>
          </a:prstGeom>
          <a:solidFill>
            <a:srgbClr val="8C70BA"/>
          </a:solidFill>
          <a:ln w="9525">
            <a:solidFill>
              <a:srgbClr val="FFFFFF"/>
            </a:solidFill>
            <a:prstDash val="solid"/>
          </a:ln>
        </p:spPr>
      </p:sp>
      <p:sp>
        <p:nvSpPr>
          <p:cNvPr id="74" name="Shape 72"/>
          <p:cNvSpPr/>
          <p:nvPr/>
        </p:nvSpPr>
        <p:spPr>
          <a:xfrm>
            <a:off x="10698480" y="3691890"/>
            <a:ext cx="685800" cy="217170"/>
          </a:xfrm>
          <a:prstGeom prst="rect">
            <a:avLst/>
          </a:prstGeom>
          <a:solidFill>
            <a:srgbClr val="7B5EA7"/>
          </a:solidFill>
          <a:ln w="9525">
            <a:solidFill>
              <a:srgbClr val="FFFFFF"/>
            </a:solidFill>
            <a:prstDash val="solid"/>
          </a:ln>
        </p:spPr>
      </p:sp>
      <p:sp>
        <p:nvSpPr>
          <p:cNvPr id="75" name="Shape 73"/>
          <p:cNvSpPr/>
          <p:nvPr/>
        </p:nvSpPr>
        <p:spPr>
          <a:xfrm>
            <a:off x="10698480" y="3909060"/>
            <a:ext cx="685800" cy="217170"/>
          </a:xfrm>
          <a:prstGeom prst="rect">
            <a:avLst/>
          </a:prstGeom>
          <a:solidFill>
            <a:srgbClr val="6A4C93"/>
          </a:solidFill>
          <a:ln w="9525">
            <a:solidFill>
              <a:srgbClr val="FFFFFF"/>
            </a:solidFill>
            <a:prstDash val="solid"/>
          </a:ln>
        </p:spPr>
      </p:sp>
      <p:sp>
        <p:nvSpPr>
          <p:cNvPr id="76" name="Shape 74"/>
          <p:cNvSpPr/>
          <p:nvPr/>
        </p:nvSpPr>
        <p:spPr>
          <a:xfrm>
            <a:off x="10698480" y="4126230"/>
            <a:ext cx="685800" cy="217170"/>
          </a:xfrm>
          <a:prstGeom prst="rect">
            <a:avLst/>
          </a:prstGeom>
          <a:solidFill>
            <a:srgbClr val="5A3D80"/>
          </a:solidFill>
          <a:ln w="9525">
            <a:solidFill>
              <a:srgbClr val="FFFFFF"/>
            </a:solidFill>
            <a:prstDash val="solid"/>
          </a:ln>
        </p:spPr>
      </p:sp>
      <p:sp>
        <p:nvSpPr>
          <p:cNvPr id="77" name="Text 75"/>
          <p:cNvSpPr txBox="1"/>
          <p:nvPr/>
        </p:nvSpPr>
        <p:spPr>
          <a:xfrm>
            <a:off x="10314432" y="4389120"/>
            <a:ext cx="1463040" cy="320040"/>
          </a:xfrm>
          <a:prstGeom prst="rect">
            <a:avLst/>
          </a:prstGeom>
          <a:noFill/>
          <a:ln/>
        </p:spPr>
        <p:txBody>
          <a:bodyPr wrap="square" lIns="0" tIns="0" rIns="0" bIns="0" rtlCol="0" anchor="ctr"/>
          <a:lstStyle/>
          <a:p>
            <a:pPr algn="ctr" indent="0" marL="0">
              <a:buNone/>
            </a:pPr>
            <a:r>
              <a:rPr lang="en-US" sz="1200" b="1" dirty="0">
                <a:solidFill>
                  <a:srgbClr val="6A4C93"/>
                </a:solidFill>
                <a:latin typeface="Calibri" pitchFamily="34" charset="0"/>
                <a:ea typeface="Calibri" pitchFamily="34" charset="-122"/>
                <a:cs typeface="Calibri" pitchFamily="34" charset="-120"/>
              </a:rPr>
              <a:t>64-D</a:t>
            </a:r>
            <a:endParaRPr lang="en-US" sz="1200" dirty="0"/>
          </a:p>
        </p:txBody>
      </p:sp>
      <p:sp>
        <p:nvSpPr>
          <p:cNvPr id="78" name="Text 76"/>
          <p:cNvSpPr txBox="1"/>
          <p:nvPr/>
        </p:nvSpPr>
        <p:spPr>
          <a:xfrm>
            <a:off x="10314432" y="4709160"/>
            <a:ext cx="1463040" cy="91440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per ¼° pixel per year</a:t>
            </a:r>
            <a:endParaRPr lang="en-US" sz="850" dirty="0"/>
          </a:p>
          <a:p>
            <a:pPr algn="ctr" indent="0" marL="0">
              <a:buNone/>
            </a:pPr>
            <a:r>
              <a:rPr lang="en-US" sz="850" dirty="0">
                <a:solidFill>
                  <a:srgbClr val="1B2430"/>
                </a:solidFill>
                <a:latin typeface="Calibri" pitchFamily="34" charset="0"/>
                <a:ea typeface="Calibri" pitchFamily="34" charset="-122"/>
                <a:cs typeface="Calibri" pitchFamily="34" charset="-120"/>
              </a:rPr>
              <a:t>(or rolling 12-month window)</a:t>
            </a:r>
            <a:endParaRPr lang="en-US" sz="850" dirty="0"/>
          </a:p>
        </p:txBody>
      </p:sp>
      <p:sp>
        <p:nvSpPr>
          <p:cNvPr id="79" name="Text 7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25</a:t>
            </a:r>
            <a:endParaRPr lang="en-US" sz="900" dirty="0"/>
          </a:p>
        </p:txBody>
      </p:sp>
      <p:sp>
        <p:nvSpPr>
          <p:cNvPr id="80" name="Shape 78"/>
          <p:cNvSpPr/>
          <p:nvPr/>
        </p:nvSpPr>
        <p:spPr>
          <a:xfrm>
            <a:off x="5257800" y="5669280"/>
            <a:ext cx="6355080" cy="713232"/>
          </a:xfrm>
          <a:prstGeom prst="roundRect">
            <a:avLst>
              <a:gd name="adj" fmla="val 10256"/>
            </a:avLst>
          </a:prstGeom>
          <a:solidFill>
            <a:srgbClr val="FFF1F1"/>
          </a:solidFill>
          <a:ln w="19050">
            <a:solidFill>
              <a:srgbClr val="A23B3B"/>
            </a:solidFill>
            <a:prstDash val="solid"/>
          </a:ln>
        </p:spPr>
      </p:sp>
      <p:sp>
        <p:nvSpPr>
          <p:cNvPr id="81" name="Text 79"/>
          <p:cNvSpPr txBox="1"/>
          <p:nvPr/>
        </p:nvSpPr>
        <p:spPr>
          <a:xfrm>
            <a:off x="5394960" y="5705856"/>
            <a:ext cx="6080760" cy="640080"/>
          </a:xfrm>
          <a:prstGeom prst="rect">
            <a:avLst/>
          </a:prstGeom>
          <a:noFill/>
          <a:ln/>
        </p:spPr>
        <p:txBody>
          <a:bodyPr wrap="square" lIns="0" tIns="0" rIns="0" bIns="0" rtlCol="0" anchor="t"/>
          <a:lstStyle/>
          <a:p>
            <a:pPr indent="0" marL="0">
              <a:buNone/>
            </a:pPr>
            <a:r>
              <a:rPr lang="en-US" sz="1000" b="1" dirty="0">
                <a:solidFill>
                  <a:srgbClr val="A23B3B"/>
                </a:solidFill>
                <a:latin typeface="Calibri" pitchFamily="34" charset="0"/>
                <a:ea typeface="Calibri" pitchFamily="34" charset="-122"/>
                <a:cs typeface="Calibri" pitchFamily="34" charset="-120"/>
              </a:rPr>
              <a:t>SUPERSEDED (2 Sep 2026).  </a:t>
            </a:r>
            <a:pPr indent="0" marL="0">
              <a:buNone/>
            </a:pPr>
            <a:r>
              <a:rPr lang="en-US" sz="900" dirty="0">
                <a:solidFill>
                  <a:srgbClr val="1B2430"/>
                </a:solidFill>
                <a:latin typeface="Calibri" pitchFamily="34" charset="0"/>
                <a:ea typeface="Calibri" pitchFamily="34" charset="-122"/>
                <a:cs typeface="Calibri" pitchFamily="34" charset="-120"/>
              </a:rPr>
              <a:t>The pixel-year arm is the special case of the cone-native codec with zero spatial reach and a 72-pentad inner window (r_in = 0, L_in = 72). Slides 40–44 and E-069 replace it: the inner cone carries the temporal fold AND the near field, and the '28 km' here is only the ¼° cell (27.8 km at the equator, 21 km at 40° N), not a physical scale.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A velocity-specific dependency cone per channel</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What can influence one pixel Δt ahead is bounded by how fast each process propagates (v) and how long it remembers (τ): Δx ≤ v·Δt, Δt ≤ τ</a:t>
            </a:r>
            <a:endParaRPr lang="en-US" sz="1250" dirty="0"/>
          </a:p>
        </p:txBody>
      </p:sp>
      <p:sp>
        <p:nvSpPr>
          <p:cNvPr id="4" name="Shape 2"/>
          <p:cNvSpPr/>
          <p:nvPr/>
        </p:nvSpPr>
        <p:spPr>
          <a:xfrm>
            <a:off x="822960" y="1600200"/>
            <a:ext cx="6400800" cy="3931920"/>
          </a:xfrm>
          <a:prstGeom prst="rect">
            <a:avLst/>
          </a:prstGeom>
          <a:solidFill>
            <a:srgbClr val="FAFBFD"/>
          </a:solidFill>
          <a:ln w="9525">
            <a:solidFill>
              <a:srgbClr val="B8C4D3"/>
            </a:solidFill>
            <a:prstDash val="solid"/>
          </a:ln>
        </p:spPr>
      </p:sp>
      <p:sp>
        <p:nvSpPr>
          <p:cNvPr id="5" name="Shape 3"/>
          <p:cNvSpPr/>
          <p:nvPr/>
        </p:nvSpPr>
        <p:spPr>
          <a:xfrm>
            <a:off x="822960" y="1600200"/>
            <a:ext cx="0" cy="3931920"/>
          </a:xfrm>
          <a:prstGeom prst="line">
            <a:avLst/>
          </a:prstGeom>
          <a:noFill/>
          <a:ln w="6350">
            <a:solidFill>
              <a:srgbClr val="B8C4D3"/>
            </a:solidFill>
            <a:prstDash val="dash"/>
          </a:ln>
        </p:spPr>
      </p:sp>
      <p:sp>
        <p:nvSpPr>
          <p:cNvPr id="6" name="Text 4"/>
          <p:cNvSpPr txBox="1"/>
          <p:nvPr/>
        </p:nvSpPr>
        <p:spPr>
          <a:xfrm>
            <a:off x="365760" y="5568696"/>
            <a:ext cx="91440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 day</a:t>
            </a:r>
            <a:endParaRPr lang="en-US" sz="900" dirty="0"/>
          </a:p>
        </p:txBody>
      </p:sp>
      <p:sp>
        <p:nvSpPr>
          <p:cNvPr id="7" name="Shape 5"/>
          <p:cNvSpPr/>
          <p:nvPr/>
        </p:nvSpPr>
        <p:spPr>
          <a:xfrm>
            <a:off x="2619780" y="1600200"/>
            <a:ext cx="0" cy="3931920"/>
          </a:xfrm>
          <a:prstGeom prst="line">
            <a:avLst/>
          </a:prstGeom>
          <a:noFill/>
          <a:ln w="6350">
            <a:solidFill>
              <a:srgbClr val="B8C4D3"/>
            </a:solidFill>
            <a:prstDash val="dash"/>
          </a:ln>
        </p:spPr>
      </p:sp>
      <p:sp>
        <p:nvSpPr>
          <p:cNvPr id="8" name="Text 6"/>
          <p:cNvSpPr txBox="1"/>
          <p:nvPr/>
        </p:nvSpPr>
        <p:spPr>
          <a:xfrm>
            <a:off x="2162580" y="5568696"/>
            <a:ext cx="91440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10 d</a:t>
            </a:r>
            <a:endParaRPr lang="en-US" sz="900" dirty="0"/>
          </a:p>
        </p:txBody>
      </p:sp>
      <p:sp>
        <p:nvSpPr>
          <p:cNvPr id="9" name="Shape 7"/>
          <p:cNvSpPr/>
          <p:nvPr/>
        </p:nvSpPr>
        <p:spPr>
          <a:xfrm>
            <a:off x="3477081" y="1600200"/>
            <a:ext cx="0" cy="3931920"/>
          </a:xfrm>
          <a:prstGeom prst="line">
            <a:avLst/>
          </a:prstGeom>
          <a:noFill/>
          <a:ln w="6350">
            <a:solidFill>
              <a:srgbClr val="B8C4D3"/>
            </a:solidFill>
            <a:prstDash val="dash"/>
          </a:ln>
        </p:spPr>
      </p:sp>
      <p:sp>
        <p:nvSpPr>
          <p:cNvPr id="10" name="Text 8"/>
          <p:cNvSpPr txBox="1"/>
          <p:nvPr/>
        </p:nvSpPr>
        <p:spPr>
          <a:xfrm>
            <a:off x="3019881" y="5568696"/>
            <a:ext cx="91440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 month</a:t>
            </a:r>
            <a:endParaRPr lang="en-US" sz="900" dirty="0"/>
          </a:p>
        </p:txBody>
      </p:sp>
      <p:sp>
        <p:nvSpPr>
          <p:cNvPr id="11" name="Shape 9"/>
          <p:cNvSpPr/>
          <p:nvPr/>
        </p:nvSpPr>
        <p:spPr>
          <a:xfrm>
            <a:off x="5426940" y="1600200"/>
            <a:ext cx="0" cy="3931920"/>
          </a:xfrm>
          <a:prstGeom prst="line">
            <a:avLst/>
          </a:prstGeom>
          <a:noFill/>
          <a:ln w="6350">
            <a:solidFill>
              <a:srgbClr val="B8C4D3"/>
            </a:solidFill>
            <a:prstDash val="dash"/>
          </a:ln>
        </p:spPr>
      </p:sp>
      <p:sp>
        <p:nvSpPr>
          <p:cNvPr id="12" name="Text 10"/>
          <p:cNvSpPr txBox="1"/>
          <p:nvPr/>
        </p:nvSpPr>
        <p:spPr>
          <a:xfrm>
            <a:off x="4969740" y="5568696"/>
            <a:ext cx="91440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 year</a:t>
            </a:r>
            <a:endParaRPr lang="en-US" sz="900" dirty="0"/>
          </a:p>
        </p:txBody>
      </p:sp>
      <p:sp>
        <p:nvSpPr>
          <p:cNvPr id="13" name="Shape 11"/>
          <p:cNvSpPr/>
          <p:nvPr/>
        </p:nvSpPr>
        <p:spPr>
          <a:xfrm>
            <a:off x="7223760" y="1600200"/>
            <a:ext cx="0" cy="3931920"/>
          </a:xfrm>
          <a:prstGeom prst="line">
            <a:avLst/>
          </a:prstGeom>
          <a:noFill/>
          <a:ln w="6350">
            <a:solidFill>
              <a:srgbClr val="B8C4D3"/>
            </a:solidFill>
            <a:prstDash val="dash"/>
          </a:ln>
        </p:spPr>
      </p:sp>
      <p:sp>
        <p:nvSpPr>
          <p:cNvPr id="14" name="Text 12"/>
          <p:cNvSpPr txBox="1"/>
          <p:nvPr/>
        </p:nvSpPr>
        <p:spPr>
          <a:xfrm>
            <a:off x="6766560" y="5568696"/>
            <a:ext cx="91440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10 yr</a:t>
            </a:r>
            <a:endParaRPr lang="en-US" sz="900" dirty="0"/>
          </a:p>
        </p:txBody>
      </p:sp>
      <p:sp>
        <p:nvSpPr>
          <p:cNvPr id="15" name="Shape 13"/>
          <p:cNvSpPr/>
          <p:nvPr/>
        </p:nvSpPr>
        <p:spPr>
          <a:xfrm>
            <a:off x="822960" y="5532120"/>
            <a:ext cx="6400800" cy="0"/>
          </a:xfrm>
          <a:prstGeom prst="line">
            <a:avLst/>
          </a:prstGeom>
          <a:noFill/>
          <a:ln w="6350">
            <a:solidFill>
              <a:srgbClr val="B8C4D3"/>
            </a:solidFill>
            <a:prstDash val="dash"/>
          </a:ln>
        </p:spPr>
      </p:sp>
      <p:sp>
        <p:nvSpPr>
          <p:cNvPr id="16" name="Text 14"/>
          <p:cNvSpPr txBox="1"/>
          <p:nvPr/>
        </p:nvSpPr>
        <p:spPr>
          <a:xfrm>
            <a:off x="45720" y="5431536"/>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 km</a:t>
            </a:r>
            <a:endParaRPr lang="en-US" sz="900" dirty="0"/>
          </a:p>
        </p:txBody>
      </p:sp>
      <p:sp>
        <p:nvSpPr>
          <p:cNvPr id="17" name="Shape 15"/>
          <p:cNvSpPr/>
          <p:nvPr/>
        </p:nvSpPr>
        <p:spPr>
          <a:xfrm>
            <a:off x="822960" y="4341001"/>
            <a:ext cx="6400800" cy="0"/>
          </a:xfrm>
          <a:prstGeom prst="line">
            <a:avLst/>
          </a:prstGeom>
          <a:noFill/>
          <a:ln w="6350">
            <a:solidFill>
              <a:srgbClr val="B8C4D3"/>
            </a:solidFill>
            <a:prstDash val="dash"/>
          </a:ln>
        </p:spPr>
      </p:sp>
      <p:sp>
        <p:nvSpPr>
          <p:cNvPr id="18" name="Text 16"/>
          <p:cNvSpPr txBox="1"/>
          <p:nvPr/>
        </p:nvSpPr>
        <p:spPr>
          <a:xfrm>
            <a:off x="45720" y="4240417"/>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100 km</a:t>
            </a:r>
            <a:endParaRPr lang="en-US" sz="900" dirty="0"/>
          </a:p>
        </p:txBody>
      </p:sp>
      <p:sp>
        <p:nvSpPr>
          <p:cNvPr id="19" name="Shape 17"/>
          <p:cNvSpPr/>
          <p:nvPr/>
        </p:nvSpPr>
        <p:spPr>
          <a:xfrm>
            <a:off x="822960" y="3149882"/>
            <a:ext cx="6400800" cy="0"/>
          </a:xfrm>
          <a:prstGeom prst="line">
            <a:avLst/>
          </a:prstGeom>
          <a:noFill/>
          <a:ln w="6350">
            <a:solidFill>
              <a:srgbClr val="B8C4D3"/>
            </a:solidFill>
            <a:prstDash val="dash"/>
          </a:ln>
        </p:spPr>
      </p:sp>
      <p:sp>
        <p:nvSpPr>
          <p:cNvPr id="20" name="Text 18"/>
          <p:cNvSpPr txBox="1"/>
          <p:nvPr/>
        </p:nvSpPr>
        <p:spPr>
          <a:xfrm>
            <a:off x="45720" y="3049298"/>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1,000 km</a:t>
            </a:r>
            <a:endParaRPr lang="en-US" sz="900" dirty="0"/>
          </a:p>
        </p:txBody>
      </p:sp>
      <p:sp>
        <p:nvSpPr>
          <p:cNvPr id="21" name="Shape 19"/>
          <p:cNvSpPr/>
          <p:nvPr/>
        </p:nvSpPr>
        <p:spPr>
          <a:xfrm>
            <a:off x="822960" y="1958763"/>
            <a:ext cx="6400800" cy="0"/>
          </a:xfrm>
          <a:prstGeom prst="line">
            <a:avLst/>
          </a:prstGeom>
          <a:noFill/>
          <a:ln w="6350">
            <a:solidFill>
              <a:srgbClr val="B8C4D3"/>
            </a:solidFill>
            <a:prstDash val="dash"/>
          </a:ln>
        </p:spPr>
      </p:sp>
      <p:sp>
        <p:nvSpPr>
          <p:cNvPr id="22" name="Text 20"/>
          <p:cNvSpPr txBox="1"/>
          <p:nvPr/>
        </p:nvSpPr>
        <p:spPr>
          <a:xfrm>
            <a:off x="45720" y="1858179"/>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10,000 km</a:t>
            </a:r>
            <a:endParaRPr lang="en-US" sz="900" dirty="0"/>
          </a:p>
        </p:txBody>
      </p:sp>
      <p:sp>
        <p:nvSpPr>
          <p:cNvPr id="23" name="Text 21"/>
          <p:cNvSpPr txBox="1"/>
          <p:nvPr/>
        </p:nvSpPr>
        <p:spPr>
          <a:xfrm>
            <a:off x="822960" y="5788152"/>
            <a:ext cx="6400800" cy="201168"/>
          </a:xfrm>
          <a:prstGeom prst="rect">
            <a:avLst/>
          </a:prstGeom>
          <a:noFill/>
          <a:ln/>
        </p:spPr>
        <p:txBody>
          <a:bodyPr wrap="square" lIns="0" tIns="0" rIns="0" bIns="0" rtlCol="0" anchor="ctr"/>
          <a:lstStyle/>
          <a:p>
            <a:pPr algn="ctr" indent="0" marL="0">
              <a:buNone/>
            </a:pPr>
            <a:r>
              <a:rPr lang="en-US" sz="950" b="1" dirty="0">
                <a:solidFill>
                  <a:srgbClr val="E07A2F"/>
                </a:solidFill>
                <a:latin typeface="Calibri" pitchFamily="34" charset="0"/>
                <a:ea typeface="Calibri" pitchFamily="34" charset="-122"/>
                <a:cs typeface="Calibri" pitchFamily="34" charset="-120"/>
              </a:rPr>
              <a:t>time separation Δt (log)</a:t>
            </a:r>
            <a:endParaRPr lang="en-US" sz="950" dirty="0"/>
          </a:p>
        </p:txBody>
      </p:sp>
      <p:sp>
        <p:nvSpPr>
          <p:cNvPr id="24" name="Text 22"/>
          <p:cNvSpPr txBox="1"/>
          <p:nvPr/>
        </p:nvSpPr>
        <p:spPr>
          <a:xfrm>
            <a:off x="45720" y="1307592"/>
            <a:ext cx="228600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distance Δx (log)</a:t>
            </a:r>
            <a:endParaRPr lang="en-US" sz="950" dirty="0"/>
          </a:p>
        </p:txBody>
      </p:sp>
      <p:sp>
        <p:nvSpPr>
          <p:cNvPr id="25" name="Shape 23"/>
          <p:cNvSpPr/>
          <p:nvPr/>
        </p:nvSpPr>
        <p:spPr>
          <a:xfrm>
            <a:off x="822960" y="1600200"/>
            <a:ext cx="6400800" cy="3931920"/>
          </a:xfrm>
          <a:custGeom>
            <a:avLst/>
            <a:gdLst/>
            <a:ahLst/>
            <a:cxnLst/>
            <a:rect l="l" t="t" r="r" b="b"/>
            <a:pathLst>
              <a:path w="6400800" h="3931920">
                <a:moveTo>
                  <a:pt x="0" y="1625301"/>
                </a:moveTo>
                <a:lnTo>
                  <a:pt x="0" y="1625301"/>
                </a:lnTo>
                <a:lnTo>
                  <a:pt x="1796820" y="434182"/>
                </a:lnTo>
                <a:lnTo>
                  <a:pt x="1796820" y="3931920"/>
                </a:lnTo>
                <a:lnTo>
                  <a:pt x="0" y="3931920"/>
                </a:lnTo>
                <a:close/>
              </a:path>
            </a:pathLst>
          </a:custGeom>
          <a:solidFill>
            <a:srgbClr val="E07A2F">
              <a:alpha val="30000"/>
            </a:srgbClr>
          </a:solidFill>
          <a:ln w="15875">
            <a:solidFill>
              <a:srgbClr val="E07A2F"/>
            </a:solidFill>
            <a:prstDash val="solid"/>
          </a:ln>
        </p:spPr>
      </p:sp>
      <p:sp>
        <p:nvSpPr>
          <p:cNvPr id="26" name="Shape 24"/>
          <p:cNvSpPr/>
          <p:nvPr/>
        </p:nvSpPr>
        <p:spPr>
          <a:xfrm>
            <a:off x="822960" y="1600200"/>
            <a:ext cx="6400800" cy="3931920"/>
          </a:xfrm>
          <a:custGeom>
            <a:avLst/>
            <a:gdLst/>
            <a:ahLst/>
            <a:cxnLst/>
            <a:rect l="l" t="t" r="r" b="b"/>
            <a:pathLst>
              <a:path w="6400800" h="3931920">
                <a:moveTo>
                  <a:pt x="0" y="3931920"/>
                </a:moveTo>
                <a:lnTo>
                  <a:pt x="117695" y="3931920"/>
                </a:lnTo>
                <a:lnTo>
                  <a:pt x="4276812" y="1174825"/>
                </a:lnTo>
                <a:lnTo>
                  <a:pt x="4276812" y="3931920"/>
                </a:lnTo>
                <a:close/>
              </a:path>
            </a:pathLst>
          </a:custGeom>
          <a:solidFill>
            <a:srgbClr val="2E86AB">
              <a:alpha val="35000"/>
            </a:srgbClr>
          </a:solidFill>
          <a:ln w="15875">
            <a:solidFill>
              <a:srgbClr val="2E86AB"/>
            </a:solidFill>
            <a:prstDash val="solid"/>
          </a:ln>
        </p:spPr>
      </p:sp>
      <p:sp>
        <p:nvSpPr>
          <p:cNvPr id="27" name="Shape 25"/>
          <p:cNvSpPr/>
          <p:nvPr/>
        </p:nvSpPr>
        <p:spPr>
          <a:xfrm>
            <a:off x="822960" y="1600200"/>
            <a:ext cx="6400800" cy="3931920"/>
          </a:xfrm>
          <a:custGeom>
            <a:avLst/>
            <a:gdLst/>
            <a:ahLst/>
            <a:cxnLst/>
            <a:rect l="l" t="t" r="r" b="b"/>
            <a:pathLst>
              <a:path w="6400800" h="3931920">
                <a:moveTo>
                  <a:pt x="0" y="3931920"/>
                </a:moveTo>
                <a:lnTo>
                  <a:pt x="1051188" y="3931920"/>
                </a:lnTo>
                <a:lnTo>
                  <a:pt x="6400800" y="385641"/>
                </a:lnTo>
                <a:lnTo>
                  <a:pt x="6400800" y="3931920"/>
                </a:lnTo>
                <a:close/>
              </a:path>
            </a:pathLst>
          </a:custGeom>
          <a:solidFill>
            <a:srgbClr val="1C7293">
              <a:alpha val="22000"/>
            </a:srgbClr>
          </a:solidFill>
          <a:ln w="15875">
            <a:solidFill>
              <a:srgbClr val="1C7293"/>
            </a:solidFill>
            <a:prstDash val="solid"/>
          </a:ln>
        </p:spPr>
      </p:sp>
      <p:sp>
        <p:nvSpPr>
          <p:cNvPr id="28" name="Text 26"/>
          <p:cNvSpPr txBox="1"/>
          <p:nvPr/>
        </p:nvSpPr>
        <p:spPr>
          <a:xfrm>
            <a:off x="932023" y="1613297"/>
            <a:ext cx="2377440" cy="384048"/>
          </a:xfrm>
          <a:prstGeom prst="rect">
            <a:avLst/>
          </a:prstGeom>
          <a:noFill/>
          <a:ln/>
        </p:spPr>
        <p:txBody>
          <a:bodyPr wrap="square" lIns="25400" tIns="25400" rIns="25400" bIns="25400" rtlCol="0" anchor="ctr"/>
          <a:lstStyle/>
          <a:p>
            <a:pPr indent="0" marL="0">
              <a:buNone/>
            </a:pPr>
            <a:r>
              <a:rPr lang="en-US" sz="850" b="1" dirty="0">
                <a:solidFill>
                  <a:srgbClr val="B85C1E"/>
                </a:solidFill>
                <a:latin typeface="Calibri" pitchFamily="34" charset="0"/>
                <a:ea typeface="Calibri" pitchFamily="34" charset="-122"/>
                <a:cs typeface="Calibri" pitchFamily="34" charset="-120"/>
              </a:rPr>
              <a:t>ATMOSPHERE (wind, SLP)</a:t>
            </a:r>
            <a:endParaRPr lang="en-US" sz="850" dirty="0"/>
          </a:p>
          <a:p>
            <a:pPr indent="0" marL="0">
              <a:buNone/>
            </a:pPr>
            <a:r>
              <a:rPr lang="en-US" sz="850" dirty="0">
                <a:solidFill>
                  <a:srgbClr val="B85C1E"/>
                </a:solidFill>
                <a:latin typeface="Calibri" pitchFamily="34" charset="0"/>
                <a:ea typeface="Calibri" pitchFamily="34" charset="-122"/>
                <a:cs typeface="Calibri" pitchFamily="34" charset="-120"/>
              </a:rPr>
              <a:t>v ≈ 10 m/s · τ ≈ 10 d → wide, shallow</a:t>
            </a:r>
            <a:endParaRPr lang="en-US" sz="850" dirty="0"/>
          </a:p>
        </p:txBody>
      </p:sp>
      <p:sp>
        <p:nvSpPr>
          <p:cNvPr id="29" name="Text 27"/>
          <p:cNvSpPr txBox="1"/>
          <p:nvPr/>
        </p:nvSpPr>
        <p:spPr>
          <a:xfrm>
            <a:off x="2762055" y="3395842"/>
            <a:ext cx="2377440" cy="411480"/>
          </a:xfrm>
          <a:prstGeom prst="rect">
            <a:avLst/>
          </a:prstGeom>
          <a:solidFill>
            <a:srgbClr val="FFFFFF">
              <a:alpha val="88000"/>
            </a:srgbClr>
          </a:solidFill>
          <a:ln/>
        </p:spPr>
        <p:txBody>
          <a:bodyPr wrap="square" lIns="25400" tIns="25400" rIns="25400" bIns="25400" rtlCol="0" anchor="ctr"/>
          <a:lstStyle/>
          <a:p>
            <a:pPr indent="0" marL="0">
              <a:buNone/>
            </a:pPr>
            <a:r>
              <a:rPr lang="en-US" sz="850" b="1" dirty="0">
                <a:solidFill>
                  <a:srgbClr val="2E86AB"/>
                </a:solidFill>
                <a:latin typeface="Calibri" pitchFamily="34" charset="0"/>
                <a:ea typeface="Calibri" pitchFamily="34" charset="-122"/>
                <a:cs typeface="Calibri" pitchFamily="34" charset="-120"/>
              </a:rPr>
              <a:t>SURFACE OCEAN (SST, mixed layer)</a:t>
            </a:r>
            <a:endParaRPr lang="en-US" sz="850" dirty="0"/>
          </a:p>
          <a:p>
            <a:pPr indent="0" marL="0">
              <a:buNone/>
            </a:pPr>
            <a:r>
              <a:rPr lang="en-US" sz="850" dirty="0">
                <a:solidFill>
                  <a:srgbClr val="2E86AB"/>
                </a:solidFill>
                <a:latin typeface="Calibri" pitchFamily="34" charset="0"/>
                <a:ea typeface="Calibri" pitchFamily="34" charset="-122"/>
                <a:cs typeface="Calibri" pitchFamily="34" charset="-120"/>
              </a:rPr>
              <a:t>v ≈ 0.1 m/s · τ ≈ 8 mo → narrow, months deep</a:t>
            </a:r>
            <a:endParaRPr lang="en-US" sz="850" dirty="0"/>
          </a:p>
        </p:txBody>
      </p:sp>
      <p:sp>
        <p:nvSpPr>
          <p:cNvPr id="30" name="Text 28"/>
          <p:cNvSpPr txBox="1"/>
          <p:nvPr/>
        </p:nvSpPr>
        <p:spPr>
          <a:xfrm>
            <a:off x="4917471" y="4586961"/>
            <a:ext cx="1965960" cy="411480"/>
          </a:xfrm>
          <a:prstGeom prst="rect">
            <a:avLst/>
          </a:prstGeom>
          <a:solidFill>
            <a:srgbClr val="FFFFFF">
              <a:alpha val="88000"/>
            </a:srgbClr>
          </a:solidFill>
          <a:ln/>
        </p:spPr>
        <p:txBody>
          <a:bodyPr wrap="square" lIns="25400" tIns="25400" rIns="25400" bIns="25400" rtlCol="0" anchor="ctr"/>
          <a:lstStyle/>
          <a:p>
            <a:pPr indent="0" marL="0">
              <a:buNone/>
            </a:pPr>
            <a:r>
              <a:rPr lang="en-US" sz="850" b="1" dirty="0">
                <a:solidFill>
                  <a:srgbClr val="1C7293"/>
                </a:solidFill>
                <a:latin typeface="Calibri" pitchFamily="34" charset="0"/>
                <a:ea typeface="Calibri" pitchFamily="34" charset="-122"/>
                <a:cs typeface="Calibri" pitchFamily="34" charset="-120"/>
              </a:rPr>
              <a:t>INTERIOR (T, S below mixed layer)</a:t>
            </a:r>
            <a:endParaRPr lang="en-US" sz="850" dirty="0"/>
          </a:p>
          <a:p>
            <a:pPr indent="0" marL="0">
              <a:buNone/>
            </a:pPr>
            <a:r>
              <a:rPr lang="en-US" sz="850" dirty="0">
                <a:solidFill>
                  <a:srgbClr val="1C7293"/>
                </a:solidFill>
                <a:latin typeface="Calibri" pitchFamily="34" charset="0"/>
                <a:ea typeface="Calibri" pitchFamily="34" charset="-122"/>
                <a:cs typeface="Calibri" pitchFamily="34" charset="-120"/>
              </a:rPr>
              <a:t>v ≈ 0.03 m/s · τ ≈ years → narrow, very deep</a:t>
            </a:r>
            <a:endParaRPr lang="en-US" sz="850" dirty="0"/>
          </a:p>
        </p:txBody>
      </p:sp>
      <p:sp>
        <p:nvSpPr>
          <p:cNvPr id="31" name="Shape 29"/>
          <p:cNvSpPr/>
          <p:nvPr/>
        </p:nvSpPr>
        <p:spPr>
          <a:xfrm flipV="1">
            <a:off x="822960" y="1603521"/>
            <a:ext cx="3528574" cy="2339105"/>
          </a:xfrm>
          <a:prstGeom prst="line">
            <a:avLst/>
          </a:prstGeom>
          <a:noFill/>
          <a:ln w="12700">
            <a:solidFill>
              <a:srgbClr val="6B7A8F"/>
            </a:solidFill>
            <a:prstDash val="sysDash"/>
          </a:ln>
        </p:spPr>
      </p:sp>
      <p:sp>
        <p:nvSpPr>
          <p:cNvPr id="32" name="Text 30"/>
          <p:cNvSpPr txBox="1"/>
          <p:nvPr/>
        </p:nvSpPr>
        <p:spPr>
          <a:xfrm>
            <a:off x="897335" y="4205281"/>
            <a:ext cx="3429000" cy="201168"/>
          </a:xfrm>
          <a:prstGeom prst="rect">
            <a:avLst/>
          </a:prstGeom>
          <a:solidFill>
            <a:srgbClr val="FFFFFF">
              <a:alpha val="88000"/>
            </a:srgbClr>
          </a:solidFill>
          <a:ln/>
        </p:spPr>
        <p:txBody>
          <a:bodyPr wrap="square" lIns="25400" tIns="25400" rIns="25400" bIns="25400" rtlCol="0" anchor="ctr"/>
          <a:lstStyle/>
          <a:p>
            <a:pPr indent="0" marL="0">
              <a:buNone/>
            </a:pPr>
            <a:r>
              <a:rPr lang="en-US" sz="800" i="1" dirty="0">
                <a:solidFill>
                  <a:srgbClr val="6B7A8F"/>
                </a:solidFill>
                <a:latin typeface="Calibri" pitchFamily="34" charset="0"/>
                <a:ea typeface="Calibri" pitchFamily="34" charset="-122"/>
                <a:cs typeface="Calibri" pitchFamily="34" charset="-120"/>
              </a:rPr>
              <a:t>equatorial / coastal Kelvin waves ≈ 2.5 m/s (anisotropic, along waveguides)</a:t>
            </a:r>
            <a:endParaRPr lang="en-US" sz="800" dirty="0"/>
          </a:p>
        </p:txBody>
      </p:sp>
      <p:sp>
        <p:nvSpPr>
          <p:cNvPr id="33" name="Shape 31"/>
          <p:cNvSpPr/>
          <p:nvPr/>
        </p:nvSpPr>
        <p:spPr>
          <a:xfrm>
            <a:off x="3385641" y="2286866"/>
            <a:ext cx="182880" cy="182880"/>
          </a:xfrm>
          <a:prstGeom prst="ellipse">
            <a:avLst/>
          </a:prstGeom>
          <a:solidFill>
            <a:srgbClr val="6A4C93"/>
          </a:solidFill>
          <a:ln w="15875">
            <a:solidFill>
              <a:srgbClr val="FFFFFF"/>
            </a:solidFill>
            <a:prstDash val="solid"/>
          </a:ln>
        </p:spPr>
      </p:sp>
      <p:sp>
        <p:nvSpPr>
          <p:cNvPr id="34" name="Text 32"/>
          <p:cNvSpPr txBox="1"/>
          <p:nvPr/>
        </p:nvSpPr>
        <p:spPr>
          <a:xfrm>
            <a:off x="3614241" y="2286866"/>
            <a:ext cx="2377440" cy="365760"/>
          </a:xfrm>
          <a:prstGeom prst="rect">
            <a:avLst/>
          </a:prstGeom>
          <a:solidFill>
            <a:srgbClr val="FFFFFF">
              <a:alpha val="88000"/>
            </a:srgbClr>
          </a:solidFill>
          <a:ln/>
        </p:spPr>
        <p:txBody>
          <a:bodyPr wrap="square" lIns="25400" tIns="25400" rIns="25400" bIns="25400" rtlCol="0" anchor="ctr"/>
          <a:lstStyle/>
          <a:p>
            <a:pPr indent="0" marL="0">
              <a:buNone/>
            </a:pPr>
            <a:r>
              <a:rPr lang="en-US" sz="800" b="1" dirty="0">
                <a:solidFill>
                  <a:srgbClr val="6A4C93"/>
                </a:solidFill>
                <a:latin typeface="Calibri" pitchFamily="34" charset="0"/>
                <a:ea typeface="Calibri" pitchFamily="34" charset="-122"/>
                <a:cs typeface="Calibri" pitchFamily="34" charset="-120"/>
              </a:rPr>
              <a:t>sunflower-89 @ 4444 km, monthly step</a:t>
            </a:r>
            <a:endParaRPr lang="en-US" sz="800" dirty="0"/>
          </a:p>
          <a:p>
            <a:pPr indent="0" marL="0">
              <a:buNone/>
            </a:pPr>
            <a:r>
              <a:rPr lang="en-US" sz="800" b="1" dirty="0">
                <a:solidFill>
                  <a:srgbClr val="6A4C93"/>
                </a:solidFill>
                <a:latin typeface="Calibri" pitchFamily="34" charset="0"/>
                <a:ea typeface="Calibri" pitchFamily="34" charset="-122"/>
                <a:cs typeface="Calibri" pitchFamily="34" charset="-120"/>
              </a:rPr>
              <a:t>= 1.7 m/s per step</a:t>
            </a:r>
            <a:endParaRPr lang="en-US" sz="800" dirty="0"/>
          </a:p>
        </p:txBody>
      </p:sp>
      <p:sp>
        <p:nvSpPr>
          <p:cNvPr id="35" name="Shape 33"/>
          <p:cNvSpPr/>
          <p:nvPr/>
        </p:nvSpPr>
        <p:spPr>
          <a:xfrm>
            <a:off x="3385641" y="3837013"/>
            <a:ext cx="182880" cy="182880"/>
          </a:xfrm>
          <a:prstGeom prst="ellipse">
            <a:avLst/>
          </a:prstGeom>
          <a:solidFill>
            <a:srgbClr val="6A4C93"/>
          </a:solidFill>
          <a:ln w="15875">
            <a:solidFill>
              <a:srgbClr val="FFFFFF"/>
            </a:solidFill>
            <a:prstDash val="solid"/>
          </a:ln>
        </p:spPr>
      </p:sp>
      <p:sp>
        <p:nvSpPr>
          <p:cNvPr id="36" name="Text 34"/>
          <p:cNvSpPr txBox="1"/>
          <p:nvPr/>
        </p:nvSpPr>
        <p:spPr>
          <a:xfrm>
            <a:off x="3614241" y="3946741"/>
            <a:ext cx="2560320" cy="365760"/>
          </a:xfrm>
          <a:prstGeom prst="rect">
            <a:avLst/>
          </a:prstGeom>
          <a:solidFill>
            <a:srgbClr val="FFFFFF">
              <a:alpha val="88000"/>
            </a:srgbClr>
          </a:solidFill>
          <a:ln/>
        </p:spPr>
        <p:txBody>
          <a:bodyPr wrap="square" lIns="25400" tIns="25400" rIns="25400" bIns="25400" rtlCol="0" anchor="ctr"/>
          <a:lstStyle/>
          <a:p>
            <a:pPr indent="0" marL="0">
              <a:buNone/>
            </a:pPr>
            <a:r>
              <a:rPr lang="en-US" sz="800" b="1" dirty="0">
                <a:solidFill>
                  <a:srgbClr val="6A4C93"/>
                </a:solidFill>
                <a:latin typeface="Calibri" pitchFamily="34" charset="0"/>
                <a:ea typeface="Calibri" pitchFamily="34" charset="-122"/>
                <a:cs typeface="Calibri" pitchFamily="34" charset="-120"/>
              </a:rPr>
              <a:t>ring-8 @ 222 km, monthly step = 0.085 m/s</a:t>
            </a:r>
            <a:endParaRPr lang="en-US" sz="800" dirty="0"/>
          </a:p>
        </p:txBody>
      </p:sp>
      <p:sp>
        <p:nvSpPr>
          <p:cNvPr id="37" name="Shape 35"/>
          <p:cNvSpPr/>
          <p:nvPr/>
        </p:nvSpPr>
        <p:spPr>
          <a:xfrm>
            <a:off x="1987443" y="2286866"/>
            <a:ext cx="182880" cy="182880"/>
          </a:xfrm>
          <a:prstGeom prst="ellipse">
            <a:avLst/>
          </a:prstGeom>
          <a:solidFill>
            <a:srgbClr val="9D82CD"/>
          </a:solidFill>
          <a:ln w="15875">
            <a:solidFill>
              <a:srgbClr val="FFFFFF"/>
            </a:solidFill>
            <a:prstDash val="solid"/>
          </a:ln>
        </p:spPr>
      </p:sp>
      <p:sp>
        <p:nvSpPr>
          <p:cNvPr id="38" name="Text 36"/>
          <p:cNvSpPr txBox="1"/>
          <p:nvPr/>
        </p:nvSpPr>
        <p:spPr>
          <a:xfrm>
            <a:off x="1575963" y="2488034"/>
            <a:ext cx="1371600" cy="365760"/>
          </a:xfrm>
          <a:prstGeom prst="rect">
            <a:avLst/>
          </a:prstGeom>
          <a:solidFill>
            <a:srgbClr val="FFFFFF">
              <a:alpha val="88000"/>
            </a:srgbClr>
          </a:solidFill>
          <a:ln/>
        </p:spPr>
        <p:txBody>
          <a:bodyPr wrap="square" lIns="25400" tIns="25400" rIns="25400" bIns="25400" rtlCol="0" anchor="ctr"/>
          <a:lstStyle/>
          <a:p>
            <a:pPr indent="0" marL="0">
              <a:buNone/>
            </a:pPr>
            <a:r>
              <a:rPr lang="en-US" sz="800" b="1" dirty="0">
                <a:solidFill>
                  <a:srgbClr val="9D82CD"/>
                </a:solidFill>
                <a:latin typeface="Calibri" pitchFamily="34" charset="0"/>
                <a:ea typeface="Calibri" pitchFamily="34" charset="-122"/>
                <a:cs typeface="Calibri" pitchFamily="34" charset="-120"/>
              </a:rPr>
              <a:t>pentad codec, same reach</a:t>
            </a:r>
            <a:endParaRPr lang="en-US" sz="800" dirty="0"/>
          </a:p>
          <a:p>
            <a:pPr indent="0" marL="0">
              <a:buNone/>
            </a:pPr>
            <a:r>
              <a:rPr lang="en-US" sz="800" b="1" dirty="0">
                <a:solidFill>
                  <a:srgbClr val="9D82CD"/>
                </a:solidFill>
                <a:latin typeface="Calibri" pitchFamily="34" charset="0"/>
                <a:ea typeface="Calibri" pitchFamily="34" charset="-122"/>
                <a:cs typeface="Calibri" pitchFamily="34" charset="-120"/>
              </a:rPr>
              <a:t>= 10 m/s per step</a:t>
            </a:r>
            <a:endParaRPr lang="en-US" sz="800" dirty="0"/>
          </a:p>
        </p:txBody>
      </p:sp>
      <p:sp>
        <p:nvSpPr>
          <p:cNvPr id="39" name="Shape 37"/>
          <p:cNvSpPr/>
          <p:nvPr/>
        </p:nvSpPr>
        <p:spPr>
          <a:xfrm>
            <a:off x="5967837" y="1600200"/>
            <a:ext cx="0" cy="2382238"/>
          </a:xfrm>
          <a:prstGeom prst="line">
            <a:avLst/>
          </a:prstGeom>
          <a:noFill/>
          <a:ln w="15875">
            <a:solidFill>
              <a:srgbClr val="6A4C93"/>
            </a:solidFill>
            <a:prstDash val="dash"/>
          </a:ln>
        </p:spPr>
      </p:sp>
      <p:sp>
        <p:nvSpPr>
          <p:cNvPr id="40" name="Text 38"/>
          <p:cNvSpPr txBox="1"/>
          <p:nvPr/>
        </p:nvSpPr>
        <p:spPr>
          <a:xfrm>
            <a:off x="4733397" y="1645920"/>
            <a:ext cx="1188720" cy="365760"/>
          </a:xfrm>
          <a:prstGeom prst="rect">
            <a:avLst/>
          </a:prstGeom>
          <a:noFill/>
          <a:ln/>
        </p:spPr>
        <p:txBody>
          <a:bodyPr wrap="square" lIns="0" tIns="0" rIns="0" bIns="0" rtlCol="0" anchor="ctr"/>
          <a:lstStyle/>
          <a:p>
            <a:pPr algn="r" indent="0" marL="0">
              <a:buNone/>
            </a:pPr>
            <a:r>
              <a:rPr lang="en-US" sz="800" b="1" dirty="0">
                <a:solidFill>
                  <a:srgbClr val="6A4C93"/>
                </a:solidFill>
                <a:latin typeface="Calibri" pitchFamily="34" charset="0"/>
                <a:ea typeface="Calibri" pitchFamily="34" charset="-122"/>
                <a:cs typeface="Calibri" pitchFamily="34" charset="-120"/>
              </a:rPr>
              <a:t>history the stage-2</a:t>
            </a:r>
            <a:endParaRPr lang="en-US" sz="800" dirty="0"/>
          </a:p>
          <a:p>
            <a:pPr algn="r" indent="0" marL="0">
              <a:buNone/>
            </a:pPr>
            <a:r>
              <a:rPr lang="en-US" sz="800" b="1" dirty="0">
                <a:solidFill>
                  <a:srgbClr val="6A4C93"/>
                </a:solidFill>
                <a:latin typeface="Calibri" pitchFamily="34" charset="0"/>
                <a:ea typeface="Calibri" pitchFamily="34" charset="-122"/>
                <a:cs typeface="Calibri" pitchFamily="34" charset="-120"/>
              </a:rPr>
              <a:t>model sees (24 mo)</a:t>
            </a:r>
            <a:endParaRPr lang="en-US" sz="800" dirty="0"/>
          </a:p>
        </p:txBody>
      </p:sp>
      <p:sp>
        <p:nvSpPr>
          <p:cNvPr id="41" name="Shape 39"/>
          <p:cNvSpPr/>
          <p:nvPr/>
        </p:nvSpPr>
        <p:spPr>
          <a:xfrm>
            <a:off x="7589520" y="1463040"/>
            <a:ext cx="4069080" cy="4709160"/>
          </a:xfrm>
          <a:prstGeom prst="roundRect">
            <a:avLst>
              <a:gd name="adj" fmla="val 1798"/>
            </a:avLst>
          </a:prstGeom>
          <a:solidFill>
            <a:srgbClr val="EEF3F8"/>
          </a:solidFill>
          <a:ln w="12700">
            <a:solidFill>
              <a:srgbClr val="333333"/>
            </a:solidFill>
            <a:prstDash val="solid"/>
          </a:ln>
        </p:spPr>
      </p:sp>
      <p:sp>
        <p:nvSpPr>
          <p:cNvPr id="42" name="Text 40"/>
          <p:cNvSpPr txBox="1"/>
          <p:nvPr/>
        </p:nvSpPr>
        <p:spPr>
          <a:xfrm>
            <a:off x="7772400" y="1554480"/>
            <a:ext cx="3703320" cy="457200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The model</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For a process p with signal speed vₚ and memory τₚ, the state at (x, t+Δt) can depend on the past only inside</a:t>
            </a:r>
            <a:endParaRPr lang="en-US" sz="950" dirty="0"/>
          </a:p>
          <a:p>
            <a:pPr indent="0" marL="0">
              <a:buNone/>
            </a:pPr>
            <a:r>
              <a:rPr lang="en-US" sz="950" b="1" dirty="0">
                <a:solidFill>
                  <a:srgbClr val="0B1F3A"/>
                </a:solidFill>
                <a:latin typeface="Calibri" pitchFamily="34" charset="0"/>
                <a:ea typeface="Calibri" pitchFamily="34" charset="-122"/>
                <a:cs typeface="Calibri" pitchFamily="34" charset="-120"/>
              </a:rPr>
              <a:t>Cₚ(Δt) = { (Δx, ℓ) : Δx ≤ vₚ (Δt + ℓ),  Δt + ℓ ≤ τₚ }</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Δt is the forecast step (we predict t+Δt from data up to now, t); ℓ is the lag of an input — it was observed at t−ℓ, so it sits Δt+ℓ before the target (ℓ = 0 is the newest input). Δx ≤ v·(Δt+ℓ) is the domain of dependence (the CFL / light-cone argument); Δt+ℓ ≤ τ says that beyond the process's own predictability its history is noise, not signal.</a:t>
            </a:r>
            <a:endParaRPr lang="en-US" sz="950" dirty="0"/>
          </a:p>
          <a:p>
            <a:pPr indent="0" marL="0">
              <a:buNone/>
            </a:pPr>
            <a:r>
              <a:rPr lang="en-US" sz="500" dirty="0">
                <a:solidFill>
                  <a:srgbClr val="1B2430"/>
                </a:solidFill>
                <a:latin typeface="Calibri" pitchFamily="34" charset="0"/>
                <a:ea typeface="Calibri" pitchFamily="34" charset="-122"/>
                <a:cs typeface="Calibri" pitchFamily="34" charset="-120"/>
              </a:rPr>
              <a:t> </a:t>
            </a:r>
            <a:endParaRPr lang="en-US" sz="950" dirty="0"/>
          </a:p>
          <a:p>
            <a:pPr indent="0" marL="0">
              <a:buNone/>
            </a:pPr>
            <a:r>
              <a:rPr lang="en-US" sz="1300" b="1" dirty="0">
                <a:solidFill>
                  <a:srgbClr val="0B1F3A"/>
                </a:solidFill>
                <a:latin typeface="Calibri" pitchFamily="34" charset="0"/>
                <a:ea typeface="Calibri" pitchFamily="34" charset="-122"/>
                <a:cs typeface="Calibri" pitchFamily="34" charset="-120"/>
              </a:rPr>
              <a:t>The union rule</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A channel c is forced by several processes, so its cone is the union: C_c = ∪ₚ∈P(c) Cₚ. Temperature is forced by the atmosphere (fluxes) and by currents (advection), so C_SST = C_atm ∪ C_ocean — wide-and-shallow plus narrow-and-deep, which is not a cone but an L-shape in (Δx, Δt).</a:t>
            </a:r>
            <a:endParaRPr lang="en-US" sz="950" dirty="0"/>
          </a:p>
          <a:p>
            <a:pPr indent="0" marL="0">
              <a:buNone/>
            </a:pPr>
            <a:r>
              <a:rPr lang="en-US" sz="500" dirty="0">
                <a:solidFill>
                  <a:srgbClr val="1B2430"/>
                </a:solidFill>
                <a:latin typeface="Calibri" pitchFamily="34" charset="0"/>
                <a:ea typeface="Calibri" pitchFamily="34" charset="-122"/>
                <a:cs typeface="Calibri" pitchFamily="34" charset="-120"/>
              </a:rPr>
              <a:t> </a:t>
            </a:r>
            <a:endParaRPr lang="en-US" sz="950" dirty="0"/>
          </a:p>
          <a:p>
            <a:pPr indent="0" marL="0">
              <a:buNone/>
            </a:pPr>
            <a:r>
              <a:rPr lang="en-US" sz="1300" b="1" dirty="0">
                <a:solidFill>
                  <a:srgbClr val="0B1F3A"/>
                </a:solidFill>
                <a:latin typeface="Calibri" pitchFamily="34" charset="0"/>
                <a:ea typeface="Calibri" pitchFamily="34" charset="-122"/>
                <a:cs typeface="Calibri" pitchFamily="34" charset="-120"/>
              </a:rPr>
              <a:t>Where our stencils sit</a:t>
            </a:r>
            <a:endParaRPr lang="en-US" sz="950" dirty="0"/>
          </a:p>
          <a:p>
            <a:pPr indent="0" marL="0">
              <a:buNone/>
            </a:pPr>
            <a:r>
              <a:rPr lang="en-US" sz="950" dirty="0">
                <a:solidFill>
                  <a:srgbClr val="1B2430"/>
                </a:solidFill>
                <a:latin typeface="Calibri" pitchFamily="34" charset="0"/>
                <a:ea typeface="Calibri" pitchFamily="34" charset="-122"/>
                <a:cs typeface="Calibri" pitchFamily="34" charset="-120"/>
              </a:rPr>
              <a:t>A stencil is a cylinder — the same reach at every lag. ring-8 @ 222 km per month is an ocean-advection speed (0.085 m/s); sunflower-89 @ 4444 km is 1.7 m/s, the speed of the fast ocean waveguides and inside the atmosphere's cone at Δt = 1 month. The rolled forecast rebuilds the cone recursively (dependency-cone note, §1), so reach-per-step × horizon is what the target finally sees.</a:t>
            </a:r>
            <a:endParaRPr lang="en-US" sz="950" dirty="0"/>
          </a:p>
        </p:txBody>
      </p:sp>
      <p:sp>
        <p:nvSpPr>
          <p:cNvPr id="43" name="Shape 41"/>
          <p:cNvSpPr/>
          <p:nvPr/>
        </p:nvSpPr>
        <p:spPr>
          <a:xfrm>
            <a:off x="548640" y="6053328"/>
            <a:ext cx="6949440" cy="365760"/>
          </a:xfrm>
          <a:prstGeom prst="roundRect">
            <a:avLst>
              <a:gd name="adj" fmla="val 15000"/>
            </a:avLst>
          </a:prstGeom>
          <a:solidFill>
            <a:srgbClr val="F4F6F9"/>
          </a:solidFill>
          <a:ln w="12700">
            <a:solidFill>
              <a:srgbClr val="333333"/>
            </a:solidFill>
            <a:prstDash val="solid"/>
          </a:ln>
        </p:spPr>
      </p:sp>
      <p:sp>
        <p:nvSpPr>
          <p:cNvPr id="44" name="Text 42"/>
          <p:cNvSpPr txBox="1"/>
          <p:nvPr/>
        </p:nvSpPr>
        <p:spPr>
          <a:xfrm>
            <a:off x="640080" y="6053328"/>
            <a:ext cx="6766560" cy="365760"/>
          </a:xfrm>
          <a:prstGeom prst="rect">
            <a:avLst/>
          </a:prstGeom>
          <a:noFill/>
          <a:ln/>
        </p:spPr>
        <p:txBody>
          <a:bodyPr wrap="square" lIns="0" tIns="0" rIns="0" bIns="0" rtlCol="0" anchor="ctr"/>
          <a:lstStyle/>
          <a:p>
            <a:pPr indent="0" marL="0">
              <a:buNone/>
            </a:pPr>
            <a:r>
              <a:rPr lang="en-US" sz="850" b="1" dirty="0">
                <a:solidFill>
                  <a:srgbClr val="0B1F3A"/>
                </a:solidFill>
                <a:latin typeface="Calibri" pitchFamily="34" charset="0"/>
                <a:ea typeface="Calibri" pitchFamily="34" charset="-122"/>
                <a:cs typeface="Calibri" pitchFamily="34" charset="-120"/>
              </a:rPr>
              <a:t>Notation  </a:t>
            </a:r>
            <a:pPr indent="0" marL="0">
              <a:buNone/>
            </a:pPr>
            <a:r>
              <a:rPr lang="en-US" sz="850" dirty="0">
                <a:solidFill>
                  <a:srgbClr val="1B2430"/>
                </a:solidFill>
                <a:latin typeface="Calibri" pitchFamily="34" charset="0"/>
                <a:ea typeface="Calibri" pitchFamily="34" charset="-122"/>
                <a:cs typeface="Calibri" pitchFamily="34" charset="-120"/>
              </a:rPr>
              <a:t>t = now (last observed step) · Δt = forecast step · ℓ = lag of an input (observed at t−ℓ; ℓ = 0 newest) · both in months here.</a:t>
            </a:r>
            <a:endParaRPr lang="en-US" sz="850" dirty="0"/>
          </a:p>
        </p:txBody>
      </p:sp>
      <p:sp>
        <p:nvSpPr>
          <p:cNvPr id="45" name="Text 4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What the cone predicts — and how to test it on our stencil</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Per channel group: dominant processes, the useful reach per monthly step, the useful history, and the falsifiable consequence</a:t>
            </a:r>
            <a:endParaRPr lang="en-US" sz="12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2743200"/>
                <a:gridCol w="2377440"/>
                <a:gridCol w="1554480"/>
                <a:gridCol w="292608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 group</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Processes (v, τ)</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Useful reach per monthly step</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Useful history</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Design consequence</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685800">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10 m wind, SLP, fluxes</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synoptic advection 10 m/s, τ ≈ 5–10 d; planetary modes (NAO, ENSO teleconnections) τ ≈ months, forced by SST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causal reach in one month = the globe, but τ &lt; Δt: monthly wind is not predictable from its own history — only via slow ocean modes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1 step (its own); the ocean's history through SST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treat as wide, shallow forcing: large stencil, no depth. At pentad Δt ≈ τ the wind becomes partly self-predictable — a pentad-only gain to look for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SST, mixed-layer T</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surface currents 0.1–0.3 m/s (260–800 km/mo); air–sea forcing (atmospheric cone); mixed-layer memory τ ≈ 3–12 mo</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advective 300–800 km, plus the atmospheric cone via forcing ≈ synoptic correlation length 1,000–3,000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several months (re-emergence up to a year)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union: needs BOTH the wide wind stencil and months of history — the one group that justifies the full cylinder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Interior T, S (below ML)</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gyre advection 0.02–0.1 m/s (50–260 km/mo); midlatitude Rossby 0.02–0.05 m/s; τ ≈ years–decades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50–300 km — a 3 × 3 patch at ¼° already covers it; 4444 km is 15–90× too wide for one step</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24 months and more; skill should keep rising with history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narrow, deep: small reach, long history. Reach can be cut with no loss — the concrete answer to the open question in the cone note (§5)</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SSH</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baroclinic Rossby 0.03 m/s (mid-lat) → ~0.3 m/s (10°); Kelvin / coastal waves 1–3 m/s along waveguides; barotropic adjustment in hours (averaged out at monthly Δt)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interior: hundreds of km; along coasts and the equator: thousands of km in one step</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months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anisotropic: an along-boundary / along-equator arm on the stencil, narrow elsewhere — a shape the sunflower approximates by brute force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66928">
                <a:tc>
                  <a:txBody>
                    <a:bodyPr/>
                    <a:lstStyle/>
                    <a:p>
                      <a:pPr indent="0" marL="0">
                        <a:buNone/>
                      </a:pPr>
                      <a:r>
                        <a:rPr lang="en-US" sz="900" b="1" dirty="0">
                          <a:solidFill>
                            <a:srgbClr val="0B1F3A"/>
                          </a:solidFill>
                          <a:latin typeface="Calibri" pitchFamily="34" charset="0"/>
                          <a:ea typeface="Calibri" pitchFamily="34" charset="-122"/>
                          <a:cs typeface="Calibri" pitchFamily="34" charset="-120"/>
                        </a:rPr>
                        <a:t>Transport target (RAPID 26°N)</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thermal wind = east–west density difference across the basin; set by interior Rossby adjustment (yrs) and by fast boundary waves (weeks)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whole section, both boundaries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years for the interior arm; the current step for the boundary arm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read-out must see the whole section, not its spatial mean, which averages away the east–west contrast: the target's cone is the section (mechanism; the measured pooled-vs-unpooled gap is not quotable as evidence)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Shape 2"/>
          <p:cNvSpPr/>
          <p:nvPr/>
        </p:nvSpPr>
        <p:spPr>
          <a:xfrm>
            <a:off x="548640" y="4983480"/>
            <a:ext cx="5486400" cy="1371600"/>
          </a:xfrm>
          <a:prstGeom prst="roundRect">
            <a:avLst>
              <a:gd name="adj" fmla="val 5333"/>
            </a:avLst>
          </a:prstGeom>
          <a:solidFill>
            <a:srgbClr val="EEF3F8"/>
          </a:solidFill>
          <a:ln w="12700">
            <a:solidFill>
              <a:srgbClr val="333333"/>
            </a:solidFill>
            <a:prstDash val="solid"/>
          </a:ln>
        </p:spPr>
      </p:sp>
      <p:sp>
        <p:nvSpPr>
          <p:cNvPr id="6" name="Text 3"/>
          <p:cNvSpPr txBox="1"/>
          <p:nvPr/>
        </p:nvSpPr>
        <p:spPr>
          <a:xfrm>
            <a:off x="685800" y="5029200"/>
            <a:ext cx="5212080" cy="128016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Four falsifiable predictions (each an ablation we can run)</a:t>
            </a:r>
            <a:endParaRPr lang="en-US" sz="850" dirty="0"/>
          </a:p>
          <a:p>
            <a:pPr indent="0" marL="0">
              <a:buNone/>
            </a:pPr>
            <a:r>
              <a:rPr lang="en-US" sz="850" dirty="0">
                <a:solidFill>
                  <a:srgbClr val="1B2430"/>
                </a:solidFill>
                <a:latin typeface="Calibri" pitchFamily="34" charset="0"/>
                <a:ea typeface="Calibri" pitchFamily="34" charset="-122"/>
                <a:cs typeface="Calibri" pitchFamily="34" charset="-120"/>
              </a:rPr>
              <a:t>1  Group-specific reach: cutting reach to ~500 km for interior T/S slots costs no rolled skill (MSSS per lead); cutting it for wind/SST slots does.</a:t>
            </a:r>
            <a:endParaRPr lang="en-US" sz="850" dirty="0"/>
          </a:p>
          <a:p>
            <a:pPr indent="0" marL="0">
              <a:buNone/>
            </a:pPr>
            <a:r>
              <a:rPr lang="en-US" sz="850" dirty="0">
                <a:solidFill>
                  <a:srgbClr val="1B2430"/>
                </a:solidFill>
                <a:latin typeface="Calibri" pitchFamily="34" charset="0"/>
                <a:ea typeface="Calibri" pitchFamily="34" charset="-122"/>
                <a:cs typeface="Calibri" pitchFamily="34" charset="-120"/>
              </a:rPr>
              <a:t>2  Group-specific history: wind slots beyond lag 1 add nothing; interior slots gain from 24 → 48 months.</a:t>
            </a:r>
            <a:endParaRPr lang="en-US" sz="850" dirty="0"/>
          </a:p>
          <a:p>
            <a:pPr indent="0" marL="0">
              <a:buNone/>
            </a:pPr>
            <a:r>
              <a:rPr lang="en-US" sz="850" dirty="0">
                <a:solidFill>
                  <a:srgbClr val="1B2430"/>
                </a:solidFill>
                <a:latin typeface="Calibri" pitchFamily="34" charset="0"/>
                <a:ea typeface="Calibri" pitchFamily="34" charset="-122"/>
                <a:cs typeface="Calibri" pitchFamily="34" charset="-120"/>
              </a:rPr>
              <a:t>3  A cone-shaped stencil (reach ∝ Δt + lag) matches the 4444 km cylinder at a fraction of the slots.</a:t>
            </a:r>
            <a:endParaRPr lang="en-US" sz="850" dirty="0"/>
          </a:p>
          <a:p>
            <a:pPr indent="0" marL="0">
              <a:buNone/>
            </a:pPr>
            <a:r>
              <a:rPr lang="en-US" sz="850" dirty="0">
                <a:solidFill>
                  <a:srgbClr val="1B2430"/>
                </a:solidFill>
                <a:latin typeface="Calibri" pitchFamily="34" charset="0"/>
                <a:ea typeface="Calibri" pitchFamily="34" charset="-122"/>
                <a:cs typeface="Calibri" pitchFamily="34" charset="-120"/>
              </a:rPr>
              <a:t>4  A pentad stage-2 will show one-step wind skill the monthly one cannot, because Δt ≈ τ_atm — untested: the earlier pentad rolls were withdrawn with the paper reset.</a:t>
            </a:r>
            <a:endParaRPr lang="en-US" sz="850" dirty="0"/>
          </a:p>
        </p:txBody>
      </p:sp>
      <p:sp>
        <p:nvSpPr>
          <p:cNvPr id="7" name="Shape 4"/>
          <p:cNvSpPr/>
          <p:nvPr/>
        </p:nvSpPr>
        <p:spPr>
          <a:xfrm>
            <a:off x="6217920" y="4983480"/>
            <a:ext cx="5394960" cy="1371600"/>
          </a:xfrm>
          <a:prstGeom prst="roundRect">
            <a:avLst>
              <a:gd name="adj" fmla="val 5333"/>
            </a:avLst>
          </a:prstGeom>
          <a:solidFill>
            <a:srgbClr val="FBF1E9"/>
          </a:solidFill>
          <a:ln w="12700">
            <a:solidFill>
              <a:srgbClr val="333333"/>
            </a:solidFill>
            <a:prstDash val="solid"/>
          </a:ln>
        </p:spPr>
      </p:sp>
      <p:sp>
        <p:nvSpPr>
          <p:cNvPr id="8" name="Text 5"/>
          <p:cNvSpPr txBox="1"/>
          <p:nvPr/>
        </p:nvSpPr>
        <p:spPr>
          <a:xfrm>
            <a:off x="6355080" y="5029200"/>
            <a:ext cx="5120640" cy="1280160"/>
          </a:xfrm>
          <a:prstGeom prst="rect">
            <a:avLst/>
          </a:prstGeom>
          <a:noFill/>
          <a:ln/>
        </p:spPr>
        <p:txBody>
          <a:bodyPr wrap="square" lIns="0" tIns="0" rIns="0" bIns="0" rtlCol="0" anchor="t"/>
          <a:lstStyle/>
          <a:p>
            <a:pPr indent="0" marL="0">
              <a:buNone/>
            </a:pPr>
            <a:r>
              <a:rPr lang="en-US" sz="1000" b="1" dirty="0">
                <a:solidFill>
                  <a:srgbClr val="B85C1E"/>
                </a:solidFill>
                <a:latin typeface="Calibri" pitchFamily="34" charset="0"/>
                <a:ea typeface="Calibri" pitchFamily="34" charset="-122"/>
                <a:cs typeface="Calibri" pitchFamily="34" charset="-120"/>
              </a:rPr>
              <a:t>Where the simple picture needs care</a:t>
            </a:r>
            <a:endParaRPr lang="en-US" sz="850" dirty="0"/>
          </a:p>
          <a:p>
            <a:pPr indent="0" marL="0">
              <a:buNone/>
            </a:pPr>
            <a:r>
              <a:rPr lang="en-US" sz="850" dirty="0">
                <a:solidFill>
                  <a:srgbClr val="1B2430"/>
                </a:solidFill>
                <a:latin typeface="Calibri" pitchFamily="34" charset="0"/>
                <a:ea typeface="Calibri" pitchFamily="34" charset="-122"/>
                <a:cs typeface="Calibri" pitchFamily="34" charset="-120"/>
              </a:rPr>
              <a:t>v is the fastest relevant signal speed, not the mean flow — waves (Rossby, Kelvin, barotropic) outrun advection. τ is predictability, not causality: the cone is truncated by memory, so wind's 'large area' is bounded by v·τ (~4,000–8,000 km), not by v·horizon. Cones are tilted, not symmetric: upstream along the flow, westward for Rossby waves, along boundaries for coastal waves. Time-averaging to monthly means turns anything with τ &lt; Δt into spatially-correlated forcing — the atmosphere is a stochastic boundary condition at our cadence, not a dynamical state. Eddy diffusion adds only √(K·t) ≈ 50 km/month at K ≈ 10³ m² s⁻¹ — negligible at ¼°.</a:t>
            </a:r>
            <a:endParaRPr lang="en-US" sz="85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Worked example — the surface current at one pixel</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Target: (u, v) at a ¼° pixel P, one month ahead. Which drivers, how each one moves the current, and what (v, τ) it carries. Live version: the Dependency-Cone Explorer artifact.</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2377440"/>
                <a:gridCol w="2514600"/>
                <a:gridCol w="777240"/>
                <a:gridCol w="548640"/>
                <a:gridCol w="640080"/>
                <a:gridCol w="1097280"/>
                <a:gridCol w="1645920"/>
              </a:tblGrid>
              <a:tr h="32004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Driver</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Mechanism → current</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How it enters the stencil</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τ</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L_corr</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Useful lags (Δt = 1 mo)</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Reach: lag 0 → last useful lag</a:t>
                      </a:r>
                      <a:endParaRPr lang="en-US" sz="95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566928">
                <a:tc>
                  <a:txBody>
                    <a:bodyPr/>
                    <a:lstStyle/>
                    <a:p>
                      <a:pPr indent="0" marL="0">
                        <a:buNone/>
                      </a:pPr>
                      <a:r>
                        <a:rPr lang="en-US" sz="900" b="1" dirty="0">
                          <a:solidFill>
                            <a:srgbClr val="C9922A"/>
                          </a:solidFill>
                          <a:latin typeface="Calibri" pitchFamily="34" charset="0"/>
                          <a:ea typeface="Calibri" pitchFamily="34" charset="-122"/>
                          <a:cs typeface="Calibri" pitchFamily="34" charset="-120"/>
                        </a:rPr>
                        <a:t>Wind stress</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Ekman transport &amp; surface drift — responds within ~1 day, locally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direct forcing; τ &lt; Δt ⇒ lag 0 only, not itself predictable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10 m/s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10 d</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1,500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lag 0 only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10,000 (cap)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58368">
                <a:tc>
                  <a:txBody>
                    <a:bodyPr/>
                    <a:lstStyle/>
                    <a:p>
                      <a:pPr indent="0" marL="0">
                        <a:buNone/>
                      </a:pPr>
                      <a:r>
                        <a:rPr lang="en-US" sz="900" b="1" dirty="0">
                          <a:solidFill>
                            <a:srgbClr val="D9512C"/>
                          </a:solidFill>
                          <a:latin typeface="Calibri" pitchFamily="34" charset="0"/>
                          <a:ea typeface="Calibri" pitchFamily="34" charset="-122"/>
                          <a:cs typeface="Calibri" pitchFamily="34" charset="-120"/>
                        </a:rPr>
                        <a:t>Air temperature / heat flux</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net heat flux → mixed-layer T → density gradient → geostrophic current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fast driver integrated by a slow medium: inherits τ_ML ≈ 6 mo and, for old lags, ocean advection speed</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10 m/s (atm.)</a:t>
                      </a:r>
                      <a:endParaRPr lang="en-US" sz="850" dirty="0">
                        <a:latin typeface="Calibri" charset="0"/>
                        <a:ea typeface="Calibri" charset="0"/>
                        <a:cs typeface="Calibri" charset="0"/>
                      </a:endParaRPr>
                    </a:p>
                    <a:p>
                      <a:pPr algn="ctr" indent="0" marL="0">
                        <a:buNone/>
                      </a:pPr>
                      <a:r>
                        <a:rPr lang="en-US" sz="850" dirty="0">
                          <a:solidFill>
                            <a:srgbClr val="1B2430"/>
                          </a:solidFill>
                          <a:latin typeface="Calibri" pitchFamily="34" charset="0"/>
                          <a:ea typeface="Calibri" pitchFamily="34" charset="-122"/>
                          <a:cs typeface="Calibri" pitchFamily="34" charset="-120"/>
                        </a:rPr>
                        <a:t>0.15 m/s (ocean)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6 mo</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1,500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 – 5  (6 of 24)</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1,889 → 3,833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48640">
                <a:tc>
                  <a:txBody>
                    <a:bodyPr/>
                    <a:lstStyle/>
                    <a:p>
                      <a:pPr indent="0" marL="0">
                        <a:buNone/>
                      </a:pPr>
                      <a:r>
                        <a:rPr lang="en-US" sz="900" b="1" dirty="0">
                          <a:solidFill>
                            <a:srgbClr val="3B6FD4"/>
                          </a:solidFill>
                          <a:latin typeface="Calibri" pitchFamily="34" charset="0"/>
                          <a:ea typeface="Calibri" pitchFamily="34" charset="-122"/>
                          <a:cs typeface="Calibri" pitchFamily="34" charset="-120"/>
                        </a:rPr>
                        <a:t>Ocean surface T (mixed layer)</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horizontal density gradient → thermal wind</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via the gradient ⇒ neighbours needed (≥ 3 × 3); advected at 0.15 m/s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0.15 m/s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8 mo</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 – 7  (8 of 24)</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389 → 3,110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48640">
                <a:tc>
                  <a:txBody>
                    <a:bodyPr/>
                    <a:lstStyle/>
                    <a:p>
                      <a:pPr indent="0" marL="0">
                        <a:buNone/>
                      </a:pPr>
                      <a:r>
                        <a:rPr lang="en-US" sz="900" b="1" dirty="0">
                          <a:solidFill>
                            <a:srgbClr val="1C7C7C"/>
                          </a:solidFill>
                          <a:latin typeface="Calibri" pitchFamily="34" charset="0"/>
                          <a:ea typeface="Calibri" pitchFamily="34" charset="-122"/>
                          <a:cs typeface="Calibri" pitchFamily="34" charset="-120"/>
                        </a:rPr>
                        <a:t>Interior T, S (below ML)</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thermal wind integrated from depth; Rossby adjustment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via the gradient; 0.03 m/s ⇒ 78 km per month — the 3 × 3 patch covers lag 0</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0.03 m/s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5 yr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 – 23  (24 of 24)</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78 → 1,866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66928">
                <a:tc>
                  <a:txBody>
                    <a:bodyPr/>
                    <a:lstStyle/>
                    <a:p>
                      <a:pPr indent="0" marL="0">
                        <a:buNone/>
                      </a:pPr>
                      <a:r>
                        <a:rPr lang="en-US" sz="900" b="1" dirty="0">
                          <a:solidFill>
                            <a:srgbClr val="6A4C93"/>
                          </a:solidFill>
                          <a:latin typeface="Calibri" pitchFamily="34" charset="0"/>
                          <a:ea typeface="Calibri" pitchFamily="34" charset="-122"/>
                          <a:cs typeface="Calibri" pitchFamily="34" charset="-120"/>
                        </a:rPr>
                        <a:t>SSH</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pressure gradient → barotropic geostrophic current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via the gradient; Rossby 0.03 m/s westward + Kelvin arm 2.5 m/s along coasts (anisotropic)</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0.03 m/s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1 yr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 – 11  (12 of 24)</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78 → 933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indent="0" marL="0">
                        <a:buNone/>
                      </a:pPr>
                      <a:r>
                        <a:rPr lang="en-US" sz="900" b="1" dirty="0">
                          <a:solidFill>
                            <a:srgbClr val="6E8B5E"/>
                          </a:solidFill>
                          <a:latin typeface="Calibri" pitchFamily="34" charset="0"/>
                          <a:ea typeface="Calibri" pitchFamily="34" charset="-122"/>
                          <a:cs typeface="Calibri" pitchFamily="34" charset="-120"/>
                        </a:rPr>
                        <a:t>Own history (u, v at P)</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momentum persistence, mesoscale eddies (westward drift ~0.03 m/s; eddies live 4+ months but pass through a fixed pixel in weeks–months)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direct; eddy memory ≈ 3 months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0.15 m/s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3 mo</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0 – 2  (3 of 24)</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850" dirty="0">
                          <a:solidFill>
                            <a:srgbClr val="1B2430"/>
                          </a:solidFill>
                          <a:latin typeface="Calibri" pitchFamily="34" charset="0"/>
                          <a:ea typeface="Calibri" pitchFamily="34" charset="-122"/>
                          <a:cs typeface="Calibri" pitchFamily="34" charset="-120"/>
                        </a:rPr>
                        <a:t>389 → 1,166 km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5257800"/>
            <a:ext cx="7589520" cy="1097280"/>
          </a:xfrm>
          <a:prstGeom prst="rect">
            <a:avLst/>
          </a:prstGeom>
          <a:noFill/>
          <a:ln/>
        </p:spPr>
        <p:txBody>
          <a:bodyPr wrap="square" lIns="0" tIns="0" rIns="0" bIns="0" rtlCol="0" anchor="t"/>
          <a:lstStyle/>
          <a:p>
            <a:pPr indent="0" marL="0">
              <a:buNone/>
            </a:pPr>
            <a:r>
              <a:rPr lang="en-US" sz="950" b="1" dirty="0">
                <a:solidFill>
                  <a:srgbClr val="1C7293"/>
                </a:solidFill>
                <a:latin typeface="Calibri" pitchFamily="34" charset="0"/>
                <a:ea typeface="Calibri" pitchFamily="34" charset="-122"/>
                <a:cs typeface="Calibri" pitchFamily="34" charset="-120"/>
              </a:rPr>
              <a:t>Two rules do all the work.  </a:t>
            </a:r>
            <a:pPr indent="0" marL="0">
              <a:buNone/>
            </a:pPr>
            <a:r>
              <a:rPr lang="en-US" sz="950" dirty="0">
                <a:solidFill>
                  <a:srgbClr val="1B2430"/>
                </a:solidFill>
                <a:latin typeface="Calibri" pitchFamily="34" charset="0"/>
                <a:ea typeface="Calibri" pitchFamily="34" charset="-122"/>
                <a:cs typeface="Calibri" pitchFamily="34" charset="-120"/>
              </a:rPr>
              <a:t>reach(ℓ) = min( max( v·(Δt+ℓ), L_corr ), 10,000 km ) — a signal observed ℓ before now has Δt+ℓ to travel; a field is never less coherent than its own correlation length. A lag is useful iff Δt+ℓ ≤ τ (lag 0 is always kept). One exception: a fast driver acting through a slow medium (air temperature → heat flux → mixed layer) adds instead of maxing — reach = L_corr + v_ocean·(Δt+ℓ) — because the flux pattern is laid down over L_corr and then carried away. Wind is the extreme case: at monthly cadence its memory is shorter than the step, so it enters as one wide sheet of forcing at lag 0 and nothing older carries information about next month's wind. Air temperature is the subtle case: the atmosphere forgets in 10 days, but the mixed layer remembers the heat it delivered for months and carries it along at 0.15 m/s — so the channel inherits the ocean's τ and v.</a:t>
            </a:r>
            <a:endParaRPr lang="en-US" sz="950" dirty="0"/>
          </a:p>
        </p:txBody>
      </p:sp>
      <p:sp>
        <p:nvSpPr>
          <p:cNvPr id="6" name="Shape 3"/>
          <p:cNvSpPr/>
          <p:nvPr/>
        </p:nvSpPr>
        <p:spPr>
          <a:xfrm>
            <a:off x="8321040" y="5212080"/>
            <a:ext cx="3291840" cy="1188720"/>
          </a:xfrm>
          <a:prstGeom prst="roundRect">
            <a:avLst>
              <a:gd name="adj" fmla="val 4615"/>
            </a:avLst>
          </a:prstGeom>
          <a:solidFill>
            <a:srgbClr val="EEF3F8"/>
          </a:solidFill>
          <a:ln w="12700">
            <a:solidFill>
              <a:srgbClr val="333333"/>
            </a:solidFill>
            <a:prstDash val="solid"/>
          </a:ln>
        </p:spPr>
      </p:sp>
      <p:sp>
        <p:nvSpPr>
          <p:cNvPr id="7" name="Text 4"/>
          <p:cNvSpPr txBox="1"/>
          <p:nvPr/>
        </p:nvSpPr>
        <p:spPr>
          <a:xfrm>
            <a:off x="8412480" y="5239512"/>
            <a:ext cx="3108960" cy="201168"/>
          </a:xfrm>
          <a:prstGeom prst="rect">
            <a:avLst/>
          </a:prstGeom>
          <a:noFill/>
          <a:ln/>
        </p:spPr>
        <p:txBody>
          <a:bodyPr wrap="square" lIns="0" tIns="0" rIns="0" bIns="0" rtlCol="0" anchor="ctr"/>
          <a:lstStyle/>
          <a:p>
            <a:pPr indent="0" marL="0">
              <a:buNone/>
            </a:pPr>
            <a:r>
              <a:rPr lang="en-US" sz="900" b="1" dirty="0">
                <a:solidFill>
                  <a:srgbClr val="0B1F3A"/>
                </a:solidFill>
                <a:latin typeface="Calibri" pitchFamily="34" charset="0"/>
                <a:ea typeface="Calibri" pitchFamily="34" charset="-122"/>
                <a:cs typeface="Calibri" pitchFamily="34" charset="-120"/>
              </a:rPr>
              <a:t>Notation: the lag ℓ</a:t>
            </a:r>
            <a:endParaRPr lang="en-US" sz="900" dirty="0"/>
          </a:p>
        </p:txBody>
      </p:sp>
      <p:sp>
        <p:nvSpPr>
          <p:cNvPr id="8" name="Shape 5"/>
          <p:cNvSpPr/>
          <p:nvPr/>
        </p:nvSpPr>
        <p:spPr>
          <a:xfrm>
            <a:off x="8412480" y="5980176"/>
            <a:ext cx="3108960" cy="0"/>
          </a:xfrm>
          <a:prstGeom prst="line">
            <a:avLst/>
          </a:prstGeom>
          <a:noFill/>
          <a:ln w="12700">
            <a:solidFill>
              <a:srgbClr val="1B2430"/>
            </a:solidFill>
            <a:prstDash val="solid"/>
            <a:tailEnd type="triangle"/>
          </a:ln>
        </p:spPr>
      </p:sp>
      <p:sp>
        <p:nvSpPr>
          <p:cNvPr id="9" name="Shape 6"/>
          <p:cNvSpPr/>
          <p:nvPr/>
        </p:nvSpPr>
        <p:spPr>
          <a:xfrm>
            <a:off x="8769096" y="5925312"/>
            <a:ext cx="109728" cy="109728"/>
          </a:xfrm>
          <a:prstGeom prst="ellipse">
            <a:avLst/>
          </a:prstGeom>
          <a:solidFill>
            <a:srgbClr val="E07A2F"/>
          </a:solidFill>
          <a:ln w="12700">
            <a:solidFill>
              <a:srgbClr val="333333"/>
            </a:solidFill>
            <a:prstDash val="solid"/>
          </a:ln>
        </p:spPr>
      </p:sp>
      <p:sp>
        <p:nvSpPr>
          <p:cNvPr id="10" name="Text 7"/>
          <p:cNvSpPr txBox="1"/>
          <p:nvPr/>
        </p:nvSpPr>
        <p:spPr>
          <a:xfrm>
            <a:off x="8183880" y="6053328"/>
            <a:ext cx="1280160" cy="365760"/>
          </a:xfrm>
          <a:prstGeom prst="rect">
            <a:avLst/>
          </a:prstGeom>
          <a:noFill/>
          <a:ln/>
        </p:spPr>
        <p:txBody>
          <a:bodyPr wrap="square" lIns="0" tIns="0" rIns="0" bIns="0" rtlCol="0" anchor="t"/>
          <a:lstStyle/>
          <a:p>
            <a:pPr algn="ctr" indent="0" marL="0">
              <a:buNone/>
            </a:pPr>
            <a:r>
              <a:rPr lang="en-US" sz="800" b="1" dirty="0">
                <a:solidFill>
                  <a:srgbClr val="E07A2F"/>
                </a:solidFill>
                <a:latin typeface="Calibri" pitchFamily="34" charset="0"/>
                <a:ea typeface="Calibri" pitchFamily="34" charset="-122"/>
                <a:cs typeface="Calibri" pitchFamily="34" charset="-120"/>
              </a:rPr>
              <a:t>t − ℓ</a:t>
            </a:r>
            <a:endParaRPr lang="en-US" sz="800" dirty="0"/>
          </a:p>
          <a:p>
            <a:pPr algn="ctr" indent="0" marL="0">
              <a:buNone/>
            </a:pPr>
            <a:r>
              <a:rPr lang="en-US" sz="700" dirty="0">
                <a:solidFill>
                  <a:srgbClr val="6B7A8F"/>
                </a:solidFill>
                <a:latin typeface="Calibri" pitchFamily="34" charset="0"/>
                <a:ea typeface="Calibri" pitchFamily="34" charset="-122"/>
                <a:cs typeface="Calibri" pitchFamily="34" charset="-120"/>
              </a:rPr>
              <a:t>input observed</a:t>
            </a:r>
            <a:endParaRPr lang="en-US" sz="800" dirty="0"/>
          </a:p>
        </p:txBody>
      </p:sp>
      <p:sp>
        <p:nvSpPr>
          <p:cNvPr id="11" name="Shape 8"/>
          <p:cNvSpPr/>
          <p:nvPr/>
        </p:nvSpPr>
        <p:spPr>
          <a:xfrm>
            <a:off x="10222992" y="5925312"/>
            <a:ext cx="109728" cy="109728"/>
          </a:xfrm>
          <a:prstGeom prst="ellipse">
            <a:avLst/>
          </a:prstGeom>
          <a:solidFill>
            <a:srgbClr val="0B1F3A"/>
          </a:solidFill>
          <a:ln w="12700">
            <a:solidFill>
              <a:srgbClr val="333333"/>
            </a:solidFill>
            <a:prstDash val="solid"/>
          </a:ln>
        </p:spPr>
      </p:sp>
      <p:sp>
        <p:nvSpPr>
          <p:cNvPr id="12" name="Text 9"/>
          <p:cNvSpPr txBox="1"/>
          <p:nvPr/>
        </p:nvSpPr>
        <p:spPr>
          <a:xfrm>
            <a:off x="9637776" y="6053328"/>
            <a:ext cx="1280160" cy="365760"/>
          </a:xfrm>
          <a:prstGeom prst="rect">
            <a:avLst/>
          </a:prstGeom>
          <a:noFill/>
          <a:ln/>
        </p:spPr>
        <p:txBody>
          <a:bodyPr wrap="square" lIns="0" tIns="0" rIns="0" bIns="0" rtlCol="0" anchor="t"/>
          <a:lstStyle/>
          <a:p>
            <a:pPr algn="ctr" indent="0" marL="0">
              <a:buNone/>
            </a:pPr>
            <a:r>
              <a:rPr lang="en-US" sz="800" b="1" dirty="0">
                <a:solidFill>
                  <a:srgbClr val="0B1F3A"/>
                </a:solidFill>
                <a:latin typeface="Calibri" pitchFamily="34" charset="0"/>
                <a:ea typeface="Calibri" pitchFamily="34" charset="-122"/>
                <a:cs typeface="Calibri" pitchFamily="34" charset="-120"/>
              </a:rPr>
              <a:t>t</a:t>
            </a:r>
            <a:endParaRPr lang="en-US" sz="800" dirty="0"/>
          </a:p>
          <a:p>
            <a:pPr algn="ctr" indent="0" marL="0">
              <a:buNone/>
            </a:pPr>
            <a:r>
              <a:rPr lang="en-US" sz="700" dirty="0">
                <a:solidFill>
                  <a:srgbClr val="6B7A8F"/>
                </a:solidFill>
                <a:latin typeface="Calibri" pitchFamily="34" charset="0"/>
                <a:ea typeface="Calibri" pitchFamily="34" charset="-122"/>
                <a:cs typeface="Calibri" pitchFamily="34" charset="-120"/>
              </a:rPr>
              <a:t>now</a:t>
            </a:r>
            <a:endParaRPr lang="en-US" sz="800" dirty="0"/>
          </a:p>
        </p:txBody>
      </p:sp>
      <p:sp>
        <p:nvSpPr>
          <p:cNvPr id="13" name="Shape 10"/>
          <p:cNvSpPr/>
          <p:nvPr/>
        </p:nvSpPr>
        <p:spPr>
          <a:xfrm>
            <a:off x="11192256" y="5925312"/>
            <a:ext cx="109728" cy="109728"/>
          </a:xfrm>
          <a:prstGeom prst="ellipse">
            <a:avLst/>
          </a:prstGeom>
          <a:solidFill>
            <a:srgbClr val="6A4C93"/>
          </a:solidFill>
          <a:ln w="12700">
            <a:solidFill>
              <a:srgbClr val="333333"/>
            </a:solidFill>
            <a:prstDash val="solid"/>
          </a:ln>
        </p:spPr>
      </p:sp>
      <p:sp>
        <p:nvSpPr>
          <p:cNvPr id="14" name="Text 11"/>
          <p:cNvSpPr txBox="1"/>
          <p:nvPr/>
        </p:nvSpPr>
        <p:spPr>
          <a:xfrm>
            <a:off x="10607040" y="6053328"/>
            <a:ext cx="1280160" cy="365760"/>
          </a:xfrm>
          <a:prstGeom prst="rect">
            <a:avLst/>
          </a:prstGeom>
          <a:noFill/>
          <a:ln/>
        </p:spPr>
        <p:txBody>
          <a:bodyPr wrap="square" lIns="0" tIns="0" rIns="0" bIns="0" rtlCol="0" anchor="t"/>
          <a:lstStyle/>
          <a:p>
            <a:pPr algn="ctr" indent="0" marL="0">
              <a:buNone/>
            </a:pPr>
            <a:r>
              <a:rPr lang="en-US" sz="800" b="1" dirty="0">
                <a:solidFill>
                  <a:srgbClr val="6A4C93"/>
                </a:solidFill>
                <a:latin typeface="Calibri" pitchFamily="34" charset="0"/>
                <a:ea typeface="Calibri" pitchFamily="34" charset="-122"/>
                <a:cs typeface="Calibri" pitchFamily="34" charset="-120"/>
              </a:rPr>
              <a:t>t + Δt</a:t>
            </a:r>
            <a:endParaRPr lang="en-US" sz="800" dirty="0"/>
          </a:p>
          <a:p>
            <a:pPr algn="ctr" indent="0" marL="0">
              <a:buNone/>
            </a:pPr>
            <a:r>
              <a:rPr lang="en-US" sz="700" dirty="0">
                <a:solidFill>
                  <a:srgbClr val="6B7A8F"/>
                </a:solidFill>
                <a:latin typeface="Calibri" pitchFamily="34" charset="0"/>
                <a:ea typeface="Calibri" pitchFamily="34" charset="-122"/>
                <a:cs typeface="Calibri" pitchFamily="34" charset="-120"/>
              </a:rPr>
              <a:t>target</a:t>
            </a:r>
            <a:endParaRPr lang="en-US" sz="800" dirty="0"/>
          </a:p>
        </p:txBody>
      </p:sp>
      <p:sp>
        <p:nvSpPr>
          <p:cNvPr id="15" name="Shape 12"/>
          <p:cNvSpPr/>
          <p:nvPr/>
        </p:nvSpPr>
        <p:spPr>
          <a:xfrm>
            <a:off x="8823960" y="5870448"/>
            <a:ext cx="1453896" cy="0"/>
          </a:xfrm>
          <a:prstGeom prst="line">
            <a:avLst/>
          </a:prstGeom>
          <a:noFill/>
          <a:ln w="12700">
            <a:solidFill>
              <a:srgbClr val="E07A2F"/>
            </a:solidFill>
            <a:prstDash val="solid"/>
          </a:ln>
        </p:spPr>
      </p:sp>
      <p:sp>
        <p:nvSpPr>
          <p:cNvPr id="16" name="Shape 13"/>
          <p:cNvSpPr/>
          <p:nvPr/>
        </p:nvSpPr>
        <p:spPr>
          <a:xfrm>
            <a:off x="8823960" y="5870448"/>
            <a:ext cx="0" cy="64008"/>
          </a:xfrm>
          <a:prstGeom prst="line">
            <a:avLst/>
          </a:prstGeom>
          <a:noFill/>
          <a:ln w="12700">
            <a:solidFill>
              <a:srgbClr val="E07A2F"/>
            </a:solidFill>
            <a:prstDash val="solid"/>
          </a:ln>
        </p:spPr>
      </p:sp>
      <p:sp>
        <p:nvSpPr>
          <p:cNvPr id="17" name="Shape 14"/>
          <p:cNvSpPr/>
          <p:nvPr/>
        </p:nvSpPr>
        <p:spPr>
          <a:xfrm>
            <a:off x="10277856" y="5870448"/>
            <a:ext cx="0" cy="64008"/>
          </a:xfrm>
          <a:prstGeom prst="line">
            <a:avLst/>
          </a:prstGeom>
          <a:noFill/>
          <a:ln w="12700">
            <a:solidFill>
              <a:srgbClr val="E07A2F"/>
            </a:solidFill>
            <a:prstDash val="solid"/>
          </a:ln>
        </p:spPr>
      </p:sp>
      <p:sp>
        <p:nvSpPr>
          <p:cNvPr id="18" name="Text 15"/>
          <p:cNvSpPr txBox="1"/>
          <p:nvPr/>
        </p:nvSpPr>
        <p:spPr>
          <a:xfrm>
            <a:off x="8636508" y="5687568"/>
            <a:ext cx="1828800" cy="164592"/>
          </a:xfrm>
          <a:prstGeom prst="rect">
            <a:avLst/>
          </a:prstGeom>
          <a:noFill/>
          <a:ln/>
        </p:spPr>
        <p:txBody>
          <a:bodyPr wrap="square" lIns="0" tIns="0" rIns="0" bIns="0" rtlCol="0" anchor="ctr"/>
          <a:lstStyle/>
          <a:p>
            <a:pPr algn="ctr" indent="0" marL="0">
              <a:buNone/>
            </a:pPr>
            <a:r>
              <a:rPr lang="en-US" sz="800" b="1" dirty="0">
                <a:solidFill>
                  <a:srgbClr val="E07A2F"/>
                </a:solidFill>
                <a:latin typeface="Calibri" pitchFamily="34" charset="0"/>
                <a:ea typeface="Calibri" pitchFamily="34" charset="-122"/>
                <a:cs typeface="Calibri" pitchFamily="34" charset="-120"/>
              </a:rPr>
              <a:t>ℓ  (lag)</a:t>
            </a:r>
            <a:endParaRPr lang="en-US" sz="800" dirty="0"/>
          </a:p>
        </p:txBody>
      </p:sp>
      <p:sp>
        <p:nvSpPr>
          <p:cNvPr id="19" name="Shape 16"/>
          <p:cNvSpPr/>
          <p:nvPr/>
        </p:nvSpPr>
        <p:spPr>
          <a:xfrm>
            <a:off x="10277856" y="5870448"/>
            <a:ext cx="969264" cy="0"/>
          </a:xfrm>
          <a:prstGeom prst="line">
            <a:avLst/>
          </a:prstGeom>
          <a:noFill/>
          <a:ln w="12700">
            <a:solidFill>
              <a:srgbClr val="6A4C93"/>
            </a:solidFill>
            <a:prstDash val="solid"/>
          </a:ln>
        </p:spPr>
      </p:sp>
      <p:sp>
        <p:nvSpPr>
          <p:cNvPr id="20" name="Shape 17"/>
          <p:cNvSpPr/>
          <p:nvPr/>
        </p:nvSpPr>
        <p:spPr>
          <a:xfrm>
            <a:off x="10277856" y="5870448"/>
            <a:ext cx="0" cy="64008"/>
          </a:xfrm>
          <a:prstGeom prst="line">
            <a:avLst/>
          </a:prstGeom>
          <a:noFill/>
          <a:ln w="12700">
            <a:solidFill>
              <a:srgbClr val="6A4C93"/>
            </a:solidFill>
            <a:prstDash val="solid"/>
          </a:ln>
        </p:spPr>
      </p:sp>
      <p:sp>
        <p:nvSpPr>
          <p:cNvPr id="21" name="Shape 18"/>
          <p:cNvSpPr/>
          <p:nvPr/>
        </p:nvSpPr>
        <p:spPr>
          <a:xfrm>
            <a:off x="11247120" y="5870448"/>
            <a:ext cx="0" cy="64008"/>
          </a:xfrm>
          <a:prstGeom prst="line">
            <a:avLst/>
          </a:prstGeom>
          <a:noFill/>
          <a:ln w="12700">
            <a:solidFill>
              <a:srgbClr val="6A4C93"/>
            </a:solidFill>
            <a:prstDash val="solid"/>
          </a:ln>
        </p:spPr>
      </p:sp>
      <p:sp>
        <p:nvSpPr>
          <p:cNvPr id="22" name="Text 19"/>
          <p:cNvSpPr txBox="1"/>
          <p:nvPr/>
        </p:nvSpPr>
        <p:spPr>
          <a:xfrm>
            <a:off x="9848088" y="5687568"/>
            <a:ext cx="1828800" cy="164592"/>
          </a:xfrm>
          <a:prstGeom prst="rect">
            <a:avLst/>
          </a:prstGeom>
          <a:noFill/>
          <a:ln/>
        </p:spPr>
        <p:txBody>
          <a:bodyPr wrap="square" lIns="0" tIns="0" rIns="0" bIns="0" rtlCol="0" anchor="ctr"/>
          <a:lstStyle/>
          <a:p>
            <a:pPr algn="ctr" indent="0" marL="0">
              <a:buNone/>
            </a:pPr>
            <a:r>
              <a:rPr lang="en-US" sz="800" b="1" dirty="0">
                <a:solidFill>
                  <a:srgbClr val="6A4C93"/>
                </a:solidFill>
                <a:latin typeface="Calibri" pitchFamily="34" charset="0"/>
                <a:ea typeface="Calibri" pitchFamily="34" charset="-122"/>
                <a:cs typeface="Calibri" pitchFamily="34" charset="-120"/>
              </a:rPr>
              <a:t>Δt  (step)</a:t>
            </a:r>
            <a:endParaRPr lang="en-US" sz="800" dirty="0"/>
          </a:p>
        </p:txBody>
      </p:sp>
      <p:sp>
        <p:nvSpPr>
          <p:cNvPr id="23" name="Shape 20"/>
          <p:cNvSpPr/>
          <p:nvPr/>
        </p:nvSpPr>
        <p:spPr>
          <a:xfrm>
            <a:off x="8823960" y="5650992"/>
            <a:ext cx="2423160" cy="0"/>
          </a:xfrm>
          <a:prstGeom prst="line">
            <a:avLst/>
          </a:prstGeom>
          <a:noFill/>
          <a:ln w="12700">
            <a:solidFill>
              <a:srgbClr val="0B1F3A"/>
            </a:solidFill>
            <a:prstDash val="solid"/>
          </a:ln>
        </p:spPr>
      </p:sp>
      <p:sp>
        <p:nvSpPr>
          <p:cNvPr id="24" name="Shape 21"/>
          <p:cNvSpPr/>
          <p:nvPr/>
        </p:nvSpPr>
        <p:spPr>
          <a:xfrm>
            <a:off x="8823960" y="5650992"/>
            <a:ext cx="0" cy="64008"/>
          </a:xfrm>
          <a:prstGeom prst="line">
            <a:avLst/>
          </a:prstGeom>
          <a:noFill/>
          <a:ln w="12700">
            <a:solidFill>
              <a:srgbClr val="0B1F3A"/>
            </a:solidFill>
            <a:prstDash val="solid"/>
          </a:ln>
        </p:spPr>
      </p:sp>
      <p:sp>
        <p:nvSpPr>
          <p:cNvPr id="25" name="Shape 22"/>
          <p:cNvSpPr/>
          <p:nvPr/>
        </p:nvSpPr>
        <p:spPr>
          <a:xfrm>
            <a:off x="11247120" y="5650992"/>
            <a:ext cx="0" cy="64008"/>
          </a:xfrm>
          <a:prstGeom prst="line">
            <a:avLst/>
          </a:prstGeom>
          <a:noFill/>
          <a:ln w="12700">
            <a:solidFill>
              <a:srgbClr val="0B1F3A"/>
            </a:solidFill>
            <a:prstDash val="solid"/>
          </a:ln>
        </p:spPr>
      </p:sp>
      <p:sp>
        <p:nvSpPr>
          <p:cNvPr id="26" name="Text 23"/>
          <p:cNvSpPr txBox="1"/>
          <p:nvPr/>
        </p:nvSpPr>
        <p:spPr>
          <a:xfrm>
            <a:off x="9121140" y="5468112"/>
            <a:ext cx="1828800" cy="164592"/>
          </a:xfrm>
          <a:prstGeom prst="rect">
            <a:avLst/>
          </a:prstGeom>
          <a:noFill/>
          <a:ln/>
        </p:spPr>
        <p:txBody>
          <a:bodyPr wrap="square" lIns="0" tIns="0" rIns="0" bIns="0" rtlCol="0" anchor="ctr"/>
          <a:lstStyle/>
          <a:p>
            <a:pPr algn="ctr" indent="0" marL="0">
              <a:buNone/>
            </a:pPr>
            <a:r>
              <a:rPr lang="en-US" sz="800" b="1" dirty="0">
                <a:solidFill>
                  <a:srgbClr val="0B1F3A"/>
                </a:solidFill>
                <a:latin typeface="Calibri" pitchFamily="34" charset="0"/>
                <a:ea typeface="Calibri" pitchFamily="34" charset="-122"/>
                <a:cs typeface="Calibri" pitchFamily="34" charset="-120"/>
              </a:rPr>
              <a:t>Δt + ℓ  = time the signal has to travel</a:t>
            </a:r>
            <a:endParaRPr lang="en-US" sz="800" dirty="0"/>
          </a:p>
        </p:txBody>
      </p:sp>
      <p:sp>
        <p:nvSpPr>
          <p:cNvPr id="27" name="Text 2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Step 1 — each driver becomes a wedge in (lag, distance)</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x: how long before now the input was observed · y: how far from P it may sit and still matter (log). Bold outline = the union the stencil should follow.</a:t>
            </a:r>
            <a:endParaRPr lang="en-US" sz="1250" dirty="0"/>
          </a:p>
        </p:txBody>
      </p:sp>
      <p:sp>
        <p:nvSpPr>
          <p:cNvPr id="4" name="Shape 2"/>
          <p:cNvSpPr/>
          <p:nvPr/>
        </p:nvSpPr>
        <p:spPr>
          <a:xfrm>
            <a:off x="822960" y="1554480"/>
            <a:ext cx="6949440" cy="4114800"/>
          </a:xfrm>
          <a:prstGeom prst="rect">
            <a:avLst/>
          </a:prstGeom>
          <a:solidFill>
            <a:srgbClr val="FAFBFD"/>
          </a:solidFill>
          <a:ln w="9525">
            <a:solidFill>
              <a:srgbClr val="B8C4D3"/>
            </a:solidFill>
            <a:prstDash val="solid"/>
          </a:ln>
        </p:spPr>
      </p:sp>
      <p:sp>
        <p:nvSpPr>
          <p:cNvPr id="5" name="Shape 3"/>
          <p:cNvSpPr/>
          <p:nvPr/>
        </p:nvSpPr>
        <p:spPr>
          <a:xfrm>
            <a:off x="822960" y="1554480"/>
            <a:ext cx="0" cy="4114800"/>
          </a:xfrm>
          <a:prstGeom prst="line">
            <a:avLst/>
          </a:prstGeom>
          <a:noFill/>
          <a:ln w="6350">
            <a:solidFill>
              <a:srgbClr val="B8C4D3"/>
            </a:solidFill>
            <a:prstDash val="dash"/>
          </a:ln>
        </p:spPr>
      </p:sp>
      <p:sp>
        <p:nvSpPr>
          <p:cNvPr id="6" name="Text 4"/>
          <p:cNvSpPr txBox="1"/>
          <p:nvPr/>
        </p:nvSpPr>
        <p:spPr>
          <a:xfrm>
            <a:off x="54864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0</a:t>
            </a:r>
            <a:endParaRPr lang="en-US" sz="900" dirty="0"/>
          </a:p>
        </p:txBody>
      </p:sp>
      <p:sp>
        <p:nvSpPr>
          <p:cNvPr id="7" name="Shape 5"/>
          <p:cNvSpPr/>
          <p:nvPr/>
        </p:nvSpPr>
        <p:spPr>
          <a:xfrm>
            <a:off x="1691640" y="1554480"/>
            <a:ext cx="0" cy="4114800"/>
          </a:xfrm>
          <a:prstGeom prst="line">
            <a:avLst/>
          </a:prstGeom>
          <a:noFill/>
          <a:ln w="6350">
            <a:solidFill>
              <a:srgbClr val="B8C4D3"/>
            </a:solidFill>
            <a:prstDash val="dash"/>
          </a:ln>
        </p:spPr>
      </p:sp>
      <p:sp>
        <p:nvSpPr>
          <p:cNvPr id="8" name="Text 6"/>
          <p:cNvSpPr txBox="1"/>
          <p:nvPr/>
        </p:nvSpPr>
        <p:spPr>
          <a:xfrm>
            <a:off x="141732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3</a:t>
            </a:r>
            <a:endParaRPr lang="en-US" sz="900" dirty="0"/>
          </a:p>
        </p:txBody>
      </p:sp>
      <p:sp>
        <p:nvSpPr>
          <p:cNvPr id="9" name="Shape 7"/>
          <p:cNvSpPr/>
          <p:nvPr/>
        </p:nvSpPr>
        <p:spPr>
          <a:xfrm>
            <a:off x="2560320" y="1554480"/>
            <a:ext cx="0" cy="4114800"/>
          </a:xfrm>
          <a:prstGeom prst="line">
            <a:avLst/>
          </a:prstGeom>
          <a:noFill/>
          <a:ln w="6350">
            <a:solidFill>
              <a:srgbClr val="B8C4D3"/>
            </a:solidFill>
            <a:prstDash val="dash"/>
          </a:ln>
        </p:spPr>
      </p:sp>
      <p:sp>
        <p:nvSpPr>
          <p:cNvPr id="10" name="Text 8"/>
          <p:cNvSpPr txBox="1"/>
          <p:nvPr/>
        </p:nvSpPr>
        <p:spPr>
          <a:xfrm>
            <a:off x="228600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6</a:t>
            </a:r>
            <a:endParaRPr lang="en-US" sz="900" dirty="0"/>
          </a:p>
        </p:txBody>
      </p:sp>
      <p:sp>
        <p:nvSpPr>
          <p:cNvPr id="11" name="Shape 9"/>
          <p:cNvSpPr/>
          <p:nvPr/>
        </p:nvSpPr>
        <p:spPr>
          <a:xfrm>
            <a:off x="3429000" y="1554480"/>
            <a:ext cx="0" cy="4114800"/>
          </a:xfrm>
          <a:prstGeom prst="line">
            <a:avLst/>
          </a:prstGeom>
          <a:noFill/>
          <a:ln w="6350">
            <a:solidFill>
              <a:srgbClr val="B8C4D3"/>
            </a:solidFill>
            <a:prstDash val="dash"/>
          </a:ln>
        </p:spPr>
      </p:sp>
      <p:sp>
        <p:nvSpPr>
          <p:cNvPr id="12" name="Text 10"/>
          <p:cNvSpPr txBox="1"/>
          <p:nvPr/>
        </p:nvSpPr>
        <p:spPr>
          <a:xfrm>
            <a:off x="315468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9</a:t>
            </a:r>
            <a:endParaRPr lang="en-US" sz="900" dirty="0"/>
          </a:p>
        </p:txBody>
      </p:sp>
      <p:sp>
        <p:nvSpPr>
          <p:cNvPr id="13" name="Shape 11"/>
          <p:cNvSpPr/>
          <p:nvPr/>
        </p:nvSpPr>
        <p:spPr>
          <a:xfrm>
            <a:off x="4297680" y="1554480"/>
            <a:ext cx="0" cy="4114800"/>
          </a:xfrm>
          <a:prstGeom prst="line">
            <a:avLst/>
          </a:prstGeom>
          <a:noFill/>
          <a:ln w="6350">
            <a:solidFill>
              <a:srgbClr val="B8C4D3"/>
            </a:solidFill>
            <a:prstDash val="dash"/>
          </a:ln>
        </p:spPr>
      </p:sp>
      <p:sp>
        <p:nvSpPr>
          <p:cNvPr id="14" name="Text 12"/>
          <p:cNvSpPr txBox="1"/>
          <p:nvPr/>
        </p:nvSpPr>
        <p:spPr>
          <a:xfrm>
            <a:off x="402336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12</a:t>
            </a:r>
            <a:endParaRPr lang="en-US" sz="900" dirty="0"/>
          </a:p>
        </p:txBody>
      </p:sp>
      <p:sp>
        <p:nvSpPr>
          <p:cNvPr id="15" name="Shape 13"/>
          <p:cNvSpPr/>
          <p:nvPr/>
        </p:nvSpPr>
        <p:spPr>
          <a:xfrm>
            <a:off x="5166360" y="1554480"/>
            <a:ext cx="0" cy="4114800"/>
          </a:xfrm>
          <a:prstGeom prst="line">
            <a:avLst/>
          </a:prstGeom>
          <a:noFill/>
          <a:ln w="6350">
            <a:solidFill>
              <a:srgbClr val="B8C4D3"/>
            </a:solidFill>
            <a:prstDash val="dash"/>
          </a:ln>
        </p:spPr>
      </p:sp>
      <p:sp>
        <p:nvSpPr>
          <p:cNvPr id="16" name="Text 14"/>
          <p:cNvSpPr txBox="1"/>
          <p:nvPr/>
        </p:nvSpPr>
        <p:spPr>
          <a:xfrm>
            <a:off x="489204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15</a:t>
            </a:r>
            <a:endParaRPr lang="en-US" sz="900" dirty="0"/>
          </a:p>
        </p:txBody>
      </p:sp>
      <p:sp>
        <p:nvSpPr>
          <p:cNvPr id="17" name="Shape 15"/>
          <p:cNvSpPr/>
          <p:nvPr/>
        </p:nvSpPr>
        <p:spPr>
          <a:xfrm>
            <a:off x="6035040" y="1554480"/>
            <a:ext cx="0" cy="4114800"/>
          </a:xfrm>
          <a:prstGeom prst="line">
            <a:avLst/>
          </a:prstGeom>
          <a:noFill/>
          <a:ln w="6350">
            <a:solidFill>
              <a:srgbClr val="B8C4D3"/>
            </a:solidFill>
            <a:prstDash val="dash"/>
          </a:ln>
        </p:spPr>
      </p:sp>
      <p:sp>
        <p:nvSpPr>
          <p:cNvPr id="18" name="Text 16"/>
          <p:cNvSpPr txBox="1"/>
          <p:nvPr/>
        </p:nvSpPr>
        <p:spPr>
          <a:xfrm>
            <a:off x="576072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18</a:t>
            </a:r>
            <a:endParaRPr lang="en-US" sz="900" dirty="0"/>
          </a:p>
        </p:txBody>
      </p:sp>
      <p:sp>
        <p:nvSpPr>
          <p:cNvPr id="19" name="Shape 17"/>
          <p:cNvSpPr/>
          <p:nvPr/>
        </p:nvSpPr>
        <p:spPr>
          <a:xfrm>
            <a:off x="6903720" y="1554480"/>
            <a:ext cx="0" cy="4114800"/>
          </a:xfrm>
          <a:prstGeom prst="line">
            <a:avLst/>
          </a:prstGeom>
          <a:noFill/>
          <a:ln w="6350">
            <a:solidFill>
              <a:srgbClr val="B8C4D3"/>
            </a:solidFill>
            <a:prstDash val="dash"/>
          </a:ln>
        </p:spPr>
      </p:sp>
      <p:sp>
        <p:nvSpPr>
          <p:cNvPr id="20" name="Text 18"/>
          <p:cNvSpPr txBox="1"/>
          <p:nvPr/>
        </p:nvSpPr>
        <p:spPr>
          <a:xfrm>
            <a:off x="662940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21</a:t>
            </a:r>
            <a:endParaRPr lang="en-US" sz="900" dirty="0"/>
          </a:p>
        </p:txBody>
      </p:sp>
      <p:sp>
        <p:nvSpPr>
          <p:cNvPr id="21" name="Shape 19"/>
          <p:cNvSpPr/>
          <p:nvPr/>
        </p:nvSpPr>
        <p:spPr>
          <a:xfrm>
            <a:off x="7772400" y="1554480"/>
            <a:ext cx="0" cy="4114800"/>
          </a:xfrm>
          <a:prstGeom prst="line">
            <a:avLst/>
          </a:prstGeom>
          <a:noFill/>
          <a:ln w="6350">
            <a:solidFill>
              <a:srgbClr val="B8C4D3"/>
            </a:solidFill>
            <a:prstDash val="dash"/>
          </a:ln>
        </p:spPr>
      </p:sp>
      <p:sp>
        <p:nvSpPr>
          <p:cNvPr id="22" name="Text 20"/>
          <p:cNvSpPr txBox="1"/>
          <p:nvPr/>
        </p:nvSpPr>
        <p:spPr>
          <a:xfrm>
            <a:off x="7498080" y="5705856"/>
            <a:ext cx="548640" cy="201168"/>
          </a:xfrm>
          <a:prstGeom prst="rect">
            <a:avLst/>
          </a:prstGeom>
          <a:noFill/>
          <a:ln/>
        </p:spPr>
        <p:txBody>
          <a:bodyPr wrap="square" lIns="0" tIns="0" rIns="0" bIns="0" rtlCol="0" anchor="ctr"/>
          <a:lstStyle/>
          <a:p>
            <a:pPr algn="ctr" indent="0" marL="0">
              <a:buNone/>
            </a:pPr>
            <a:r>
              <a:rPr lang="en-US" sz="900" dirty="0">
                <a:solidFill>
                  <a:srgbClr val="6B7A8F"/>
                </a:solidFill>
                <a:latin typeface="Calibri" pitchFamily="34" charset="0"/>
                <a:ea typeface="Calibri" pitchFamily="34" charset="-122"/>
                <a:cs typeface="Calibri" pitchFamily="34" charset="-120"/>
              </a:rPr>
              <a:t>24</a:t>
            </a:r>
            <a:endParaRPr lang="en-US" sz="900" dirty="0"/>
          </a:p>
        </p:txBody>
      </p:sp>
      <p:sp>
        <p:nvSpPr>
          <p:cNvPr id="23" name="Shape 21"/>
          <p:cNvSpPr/>
          <p:nvPr/>
        </p:nvSpPr>
        <p:spPr>
          <a:xfrm>
            <a:off x="822960" y="5669280"/>
            <a:ext cx="6949440" cy="0"/>
          </a:xfrm>
          <a:prstGeom prst="line">
            <a:avLst/>
          </a:prstGeom>
          <a:noFill/>
          <a:ln w="6350">
            <a:solidFill>
              <a:srgbClr val="B8C4D3"/>
            </a:solidFill>
            <a:prstDash val="dash"/>
          </a:ln>
        </p:spPr>
      </p:sp>
      <p:sp>
        <p:nvSpPr>
          <p:cNvPr id="24" name="Text 22"/>
          <p:cNvSpPr txBox="1"/>
          <p:nvPr/>
        </p:nvSpPr>
        <p:spPr>
          <a:xfrm>
            <a:off x="45720" y="5568696"/>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 km</a:t>
            </a:r>
            <a:endParaRPr lang="en-US" sz="900" dirty="0"/>
          </a:p>
        </p:txBody>
      </p:sp>
      <p:sp>
        <p:nvSpPr>
          <p:cNvPr id="25" name="Shape 23"/>
          <p:cNvSpPr/>
          <p:nvPr/>
        </p:nvSpPr>
        <p:spPr>
          <a:xfrm>
            <a:off x="822960" y="4422760"/>
            <a:ext cx="6949440" cy="0"/>
          </a:xfrm>
          <a:prstGeom prst="line">
            <a:avLst/>
          </a:prstGeom>
          <a:noFill/>
          <a:ln w="6350">
            <a:solidFill>
              <a:srgbClr val="B8C4D3"/>
            </a:solidFill>
            <a:prstDash val="dash"/>
          </a:ln>
        </p:spPr>
      </p:sp>
      <p:sp>
        <p:nvSpPr>
          <p:cNvPr id="26" name="Text 24"/>
          <p:cNvSpPr txBox="1"/>
          <p:nvPr/>
        </p:nvSpPr>
        <p:spPr>
          <a:xfrm>
            <a:off x="45720" y="4322176"/>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100 km</a:t>
            </a:r>
            <a:endParaRPr lang="en-US" sz="900" dirty="0"/>
          </a:p>
        </p:txBody>
      </p:sp>
      <p:sp>
        <p:nvSpPr>
          <p:cNvPr id="27" name="Shape 25"/>
          <p:cNvSpPr/>
          <p:nvPr/>
        </p:nvSpPr>
        <p:spPr>
          <a:xfrm>
            <a:off x="822960" y="3176240"/>
            <a:ext cx="6949440" cy="0"/>
          </a:xfrm>
          <a:prstGeom prst="line">
            <a:avLst/>
          </a:prstGeom>
          <a:noFill/>
          <a:ln w="6350">
            <a:solidFill>
              <a:srgbClr val="B8C4D3"/>
            </a:solidFill>
            <a:prstDash val="dash"/>
          </a:ln>
        </p:spPr>
      </p:sp>
      <p:sp>
        <p:nvSpPr>
          <p:cNvPr id="28" name="Text 26"/>
          <p:cNvSpPr txBox="1"/>
          <p:nvPr/>
        </p:nvSpPr>
        <p:spPr>
          <a:xfrm>
            <a:off x="45720" y="3075656"/>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1,000 km</a:t>
            </a:r>
            <a:endParaRPr lang="en-US" sz="900" dirty="0"/>
          </a:p>
        </p:txBody>
      </p:sp>
      <p:sp>
        <p:nvSpPr>
          <p:cNvPr id="29" name="Shape 27"/>
          <p:cNvSpPr/>
          <p:nvPr/>
        </p:nvSpPr>
        <p:spPr>
          <a:xfrm>
            <a:off x="822960" y="1929720"/>
            <a:ext cx="6949440" cy="0"/>
          </a:xfrm>
          <a:prstGeom prst="line">
            <a:avLst/>
          </a:prstGeom>
          <a:noFill/>
          <a:ln w="6350">
            <a:solidFill>
              <a:srgbClr val="B8C4D3"/>
            </a:solidFill>
            <a:prstDash val="dash"/>
          </a:ln>
        </p:spPr>
      </p:sp>
      <p:sp>
        <p:nvSpPr>
          <p:cNvPr id="30" name="Text 28"/>
          <p:cNvSpPr txBox="1"/>
          <p:nvPr/>
        </p:nvSpPr>
        <p:spPr>
          <a:xfrm>
            <a:off x="45720" y="1829136"/>
            <a:ext cx="731520" cy="201168"/>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10,000 km</a:t>
            </a:r>
            <a:endParaRPr lang="en-US" sz="900" dirty="0"/>
          </a:p>
        </p:txBody>
      </p:sp>
      <p:sp>
        <p:nvSpPr>
          <p:cNvPr id="31" name="Text 29"/>
          <p:cNvSpPr txBox="1"/>
          <p:nvPr/>
        </p:nvSpPr>
        <p:spPr>
          <a:xfrm>
            <a:off x="822960" y="5925312"/>
            <a:ext cx="6949440" cy="201168"/>
          </a:xfrm>
          <a:prstGeom prst="rect">
            <a:avLst/>
          </a:prstGeom>
          <a:noFill/>
          <a:ln/>
        </p:spPr>
        <p:txBody>
          <a:bodyPr wrap="square" lIns="0" tIns="0" rIns="0" bIns="0" rtlCol="0" anchor="ctr"/>
          <a:lstStyle/>
          <a:p>
            <a:pPr algn="ctr" indent="0" marL="0">
              <a:buNone/>
            </a:pPr>
            <a:r>
              <a:rPr lang="en-US" sz="950" b="1" dirty="0">
                <a:solidFill>
                  <a:srgbClr val="E07A2F"/>
                </a:solidFill>
                <a:latin typeface="Calibri" pitchFamily="34" charset="0"/>
                <a:ea typeface="Calibri" pitchFamily="34" charset="-122"/>
                <a:cs typeface="Calibri" pitchFamily="34" charset="-120"/>
              </a:rPr>
              <a:t>lag ℓ (months before now)</a:t>
            </a:r>
            <a:endParaRPr lang="en-US" sz="950" dirty="0"/>
          </a:p>
        </p:txBody>
      </p:sp>
      <p:sp>
        <p:nvSpPr>
          <p:cNvPr id="32" name="Text 30"/>
          <p:cNvSpPr txBox="1"/>
          <p:nvPr/>
        </p:nvSpPr>
        <p:spPr>
          <a:xfrm>
            <a:off x="45720" y="1261872"/>
            <a:ext cx="228600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distance from P (log)</a:t>
            </a:r>
            <a:endParaRPr lang="en-US" sz="950" dirty="0"/>
          </a:p>
        </p:txBody>
      </p:sp>
      <p:sp>
        <p:nvSpPr>
          <p:cNvPr id="33" name="Shape 31"/>
          <p:cNvSpPr/>
          <p:nvPr/>
        </p:nvSpPr>
        <p:spPr>
          <a:xfrm>
            <a:off x="822960" y="2368777"/>
            <a:ext cx="6949440" cy="3300503"/>
          </a:xfrm>
          <a:prstGeom prst="rect">
            <a:avLst/>
          </a:prstGeom>
          <a:ln w="12700">
            <a:solidFill>
              <a:srgbClr val="6B7A8F"/>
            </a:solidFill>
            <a:prstDash val="dash"/>
          </a:ln>
        </p:spPr>
      </p:sp>
      <p:sp>
        <p:nvSpPr>
          <p:cNvPr id="34" name="Text 32"/>
          <p:cNvSpPr txBox="1"/>
          <p:nvPr/>
        </p:nvSpPr>
        <p:spPr>
          <a:xfrm>
            <a:off x="4846320" y="2149321"/>
            <a:ext cx="2880360" cy="201168"/>
          </a:xfrm>
          <a:prstGeom prst="rect">
            <a:avLst/>
          </a:prstGeom>
          <a:noFill/>
          <a:ln/>
        </p:spPr>
        <p:txBody>
          <a:bodyPr wrap="square" lIns="0" tIns="0" rIns="0" bIns="0" rtlCol="0" anchor="ctr"/>
          <a:lstStyle/>
          <a:p>
            <a:pPr algn="r" indent="0" marL="0">
              <a:buNone/>
            </a:pPr>
            <a:r>
              <a:rPr lang="en-US" sz="800" dirty="0">
                <a:solidFill>
                  <a:srgbClr val="6B7A8F"/>
                </a:solidFill>
                <a:latin typeface="Calibri" pitchFamily="34" charset="0"/>
                <a:ea typeface="Calibri" pitchFamily="34" charset="-122"/>
                <a:cs typeface="Calibri" pitchFamily="34" charset="-120"/>
              </a:rPr>
              <a:t>cylinder: 89 slots to 4,444 km at all 24 lags</a:t>
            </a:r>
            <a:endParaRPr lang="en-US" sz="800" dirty="0"/>
          </a:p>
        </p:txBody>
      </p:sp>
      <p:sp>
        <p:nvSpPr>
          <p:cNvPr id="35" name="Shape 33"/>
          <p:cNvSpPr/>
          <p:nvPr/>
        </p:nvSpPr>
        <p:spPr>
          <a:xfrm>
            <a:off x="822960" y="4517147"/>
            <a:ext cx="6949440" cy="0"/>
          </a:xfrm>
          <a:prstGeom prst="line">
            <a:avLst/>
          </a:prstGeom>
          <a:noFill/>
          <a:ln w="9525">
            <a:solidFill>
              <a:srgbClr val="6B7A8F"/>
            </a:solidFill>
            <a:prstDash val="sysDot"/>
          </a:ln>
        </p:spPr>
      </p:sp>
      <p:sp>
        <p:nvSpPr>
          <p:cNvPr id="36" name="Text 34"/>
          <p:cNvSpPr txBox="1"/>
          <p:nvPr/>
        </p:nvSpPr>
        <p:spPr>
          <a:xfrm>
            <a:off x="6309360" y="4315979"/>
            <a:ext cx="1417320" cy="182880"/>
          </a:xfrm>
          <a:prstGeom prst="rect">
            <a:avLst/>
          </a:prstGeom>
          <a:noFill/>
          <a:ln/>
        </p:spPr>
        <p:txBody>
          <a:bodyPr wrap="square" lIns="0" tIns="0" rIns="0" bIns="0" rtlCol="0" anchor="ctr"/>
          <a:lstStyle/>
          <a:p>
            <a:pPr algn="r" indent="0" marL="0">
              <a:buNone/>
            </a:pPr>
            <a:r>
              <a:rPr lang="en-US" sz="800" dirty="0">
                <a:solidFill>
                  <a:srgbClr val="6B7A8F"/>
                </a:solidFill>
                <a:latin typeface="Calibri" pitchFamily="34" charset="0"/>
                <a:ea typeface="Calibri" pitchFamily="34" charset="-122"/>
                <a:cs typeface="Calibri" pitchFamily="34" charset="-120"/>
              </a:rPr>
              <a:t>3 × 3 patch, 84 km</a:t>
            </a:r>
            <a:endParaRPr lang="en-US" sz="800" dirty="0"/>
          </a:p>
        </p:txBody>
      </p:sp>
      <p:sp>
        <p:nvSpPr>
          <p:cNvPr id="37" name="Shape 35"/>
          <p:cNvSpPr/>
          <p:nvPr/>
        </p:nvSpPr>
        <p:spPr>
          <a:xfrm>
            <a:off x="822960" y="1554480"/>
            <a:ext cx="6949440" cy="4114800"/>
          </a:xfrm>
          <a:custGeom>
            <a:avLst/>
            <a:gdLst/>
            <a:ahLst/>
            <a:cxnLst/>
            <a:rect l="l" t="t" r="r" b="b"/>
            <a:pathLst>
              <a:path w="6949440" h="4114800">
                <a:moveTo>
                  <a:pt x="0" y="4114800"/>
                </a:moveTo>
                <a:lnTo>
                  <a:pt x="0" y="3004454"/>
                </a:lnTo>
                <a:lnTo>
                  <a:pt x="289560" y="3004454"/>
                </a:lnTo>
                <a:lnTo>
                  <a:pt x="289560" y="2629215"/>
                </a:lnTo>
                <a:lnTo>
                  <a:pt x="579120" y="2629215"/>
                </a:lnTo>
                <a:lnTo>
                  <a:pt x="579120" y="2409713"/>
                </a:lnTo>
                <a:lnTo>
                  <a:pt x="868680" y="2409713"/>
                </a:lnTo>
                <a:lnTo>
                  <a:pt x="868680" y="2253975"/>
                </a:lnTo>
                <a:lnTo>
                  <a:pt x="1158240" y="2253975"/>
                </a:lnTo>
                <a:lnTo>
                  <a:pt x="1158240" y="2133174"/>
                </a:lnTo>
                <a:lnTo>
                  <a:pt x="1447800" y="2133174"/>
                </a:lnTo>
                <a:lnTo>
                  <a:pt x="1447800" y="2034473"/>
                </a:lnTo>
                <a:lnTo>
                  <a:pt x="1737360" y="2034473"/>
                </a:lnTo>
                <a:lnTo>
                  <a:pt x="1737360" y="1951023"/>
                </a:lnTo>
                <a:lnTo>
                  <a:pt x="2026920" y="1951023"/>
                </a:lnTo>
                <a:lnTo>
                  <a:pt x="2026920" y="1878735"/>
                </a:lnTo>
                <a:lnTo>
                  <a:pt x="2316480" y="1878735"/>
                </a:lnTo>
                <a:lnTo>
                  <a:pt x="2316480" y="1814972"/>
                </a:lnTo>
                <a:lnTo>
                  <a:pt x="2606040" y="1814972"/>
                </a:lnTo>
                <a:lnTo>
                  <a:pt x="2606040" y="1757934"/>
                </a:lnTo>
                <a:lnTo>
                  <a:pt x="2895600" y="1757934"/>
                </a:lnTo>
                <a:lnTo>
                  <a:pt x="2895600" y="1706338"/>
                </a:lnTo>
                <a:lnTo>
                  <a:pt x="3185160" y="1706338"/>
                </a:lnTo>
                <a:lnTo>
                  <a:pt x="3185160" y="1659233"/>
                </a:lnTo>
                <a:lnTo>
                  <a:pt x="3474720" y="1659233"/>
                </a:lnTo>
                <a:lnTo>
                  <a:pt x="3474720" y="1615902"/>
                </a:lnTo>
                <a:lnTo>
                  <a:pt x="3764280" y="1615902"/>
                </a:lnTo>
                <a:lnTo>
                  <a:pt x="3764280" y="1575783"/>
                </a:lnTo>
                <a:lnTo>
                  <a:pt x="4053840" y="1575783"/>
                </a:lnTo>
                <a:lnTo>
                  <a:pt x="4053840" y="1538433"/>
                </a:lnTo>
                <a:lnTo>
                  <a:pt x="4343400" y="1538433"/>
                </a:lnTo>
                <a:lnTo>
                  <a:pt x="4343400" y="1503495"/>
                </a:lnTo>
                <a:lnTo>
                  <a:pt x="4632960" y="1503495"/>
                </a:lnTo>
                <a:lnTo>
                  <a:pt x="4632960" y="1470675"/>
                </a:lnTo>
                <a:lnTo>
                  <a:pt x="4922520" y="1470675"/>
                </a:lnTo>
                <a:lnTo>
                  <a:pt x="4922520" y="1439732"/>
                </a:lnTo>
                <a:lnTo>
                  <a:pt x="5212080" y="1439732"/>
                </a:lnTo>
                <a:lnTo>
                  <a:pt x="5212080" y="1410463"/>
                </a:lnTo>
                <a:lnTo>
                  <a:pt x="5501640" y="1410463"/>
                </a:lnTo>
                <a:lnTo>
                  <a:pt x="5501640" y="1382695"/>
                </a:lnTo>
                <a:lnTo>
                  <a:pt x="5791200" y="1382695"/>
                </a:lnTo>
                <a:lnTo>
                  <a:pt x="5791200" y="1356282"/>
                </a:lnTo>
                <a:lnTo>
                  <a:pt x="6080760" y="1356282"/>
                </a:lnTo>
                <a:lnTo>
                  <a:pt x="6080760" y="1331098"/>
                </a:lnTo>
                <a:lnTo>
                  <a:pt x="6370320" y="1331098"/>
                </a:lnTo>
                <a:lnTo>
                  <a:pt x="6370320" y="1307033"/>
                </a:lnTo>
                <a:lnTo>
                  <a:pt x="6659880" y="1307033"/>
                </a:lnTo>
                <a:lnTo>
                  <a:pt x="6659880" y="1283994"/>
                </a:lnTo>
                <a:lnTo>
                  <a:pt x="6949440" y="1283994"/>
                </a:lnTo>
                <a:lnTo>
                  <a:pt x="6949440" y="4114800"/>
                </a:lnTo>
                <a:close/>
              </a:path>
            </a:pathLst>
          </a:custGeom>
          <a:solidFill>
            <a:srgbClr val="1C7C7C">
              <a:alpha val="28000"/>
            </a:srgbClr>
          </a:solidFill>
          <a:ln w="15875">
            <a:solidFill>
              <a:srgbClr val="1C7C7C"/>
            </a:solidFill>
            <a:prstDash val="solid"/>
          </a:ln>
        </p:spPr>
      </p:sp>
      <p:sp>
        <p:nvSpPr>
          <p:cNvPr id="38" name="Shape 36"/>
          <p:cNvSpPr/>
          <p:nvPr/>
        </p:nvSpPr>
        <p:spPr>
          <a:xfrm>
            <a:off x="822960" y="1554480"/>
            <a:ext cx="6949440" cy="4114800"/>
          </a:xfrm>
          <a:custGeom>
            <a:avLst/>
            <a:gdLst/>
            <a:ahLst/>
            <a:cxnLst/>
            <a:rect l="l" t="t" r="r" b="b"/>
            <a:pathLst>
              <a:path w="6949440" h="4114800">
                <a:moveTo>
                  <a:pt x="0" y="4114800"/>
                </a:moveTo>
                <a:lnTo>
                  <a:pt x="0" y="3004454"/>
                </a:lnTo>
                <a:lnTo>
                  <a:pt x="289560" y="3004454"/>
                </a:lnTo>
                <a:lnTo>
                  <a:pt x="289560" y="2629215"/>
                </a:lnTo>
                <a:lnTo>
                  <a:pt x="579120" y="2629215"/>
                </a:lnTo>
                <a:lnTo>
                  <a:pt x="579120" y="2409713"/>
                </a:lnTo>
                <a:lnTo>
                  <a:pt x="868680" y="2409713"/>
                </a:lnTo>
                <a:lnTo>
                  <a:pt x="868680" y="2253975"/>
                </a:lnTo>
                <a:lnTo>
                  <a:pt x="1158240" y="2253975"/>
                </a:lnTo>
                <a:lnTo>
                  <a:pt x="1158240" y="2133174"/>
                </a:lnTo>
                <a:lnTo>
                  <a:pt x="1447800" y="2133174"/>
                </a:lnTo>
                <a:lnTo>
                  <a:pt x="1447800" y="2034473"/>
                </a:lnTo>
                <a:lnTo>
                  <a:pt x="1737360" y="2034473"/>
                </a:lnTo>
                <a:lnTo>
                  <a:pt x="1737360" y="1951023"/>
                </a:lnTo>
                <a:lnTo>
                  <a:pt x="2026920" y="1951023"/>
                </a:lnTo>
                <a:lnTo>
                  <a:pt x="2026920" y="1878735"/>
                </a:lnTo>
                <a:lnTo>
                  <a:pt x="2316480" y="1878735"/>
                </a:lnTo>
                <a:lnTo>
                  <a:pt x="2316480" y="1814972"/>
                </a:lnTo>
                <a:lnTo>
                  <a:pt x="2606040" y="1814972"/>
                </a:lnTo>
                <a:lnTo>
                  <a:pt x="2606040" y="1757934"/>
                </a:lnTo>
                <a:lnTo>
                  <a:pt x="2895600" y="1757934"/>
                </a:lnTo>
                <a:lnTo>
                  <a:pt x="2895600" y="1706338"/>
                </a:lnTo>
                <a:lnTo>
                  <a:pt x="3185160" y="1706338"/>
                </a:lnTo>
                <a:lnTo>
                  <a:pt x="3185160" y="1659233"/>
                </a:lnTo>
                <a:lnTo>
                  <a:pt x="3474720" y="1659233"/>
                </a:lnTo>
                <a:lnTo>
                  <a:pt x="3474720" y="4114800"/>
                </a:lnTo>
                <a:close/>
              </a:path>
            </a:pathLst>
          </a:custGeom>
          <a:solidFill>
            <a:srgbClr val="6A4C93">
              <a:alpha val="28000"/>
            </a:srgbClr>
          </a:solidFill>
          <a:ln w="15875">
            <a:solidFill>
              <a:srgbClr val="6A4C93"/>
            </a:solidFill>
            <a:prstDash val="solid"/>
          </a:ln>
        </p:spPr>
      </p:sp>
      <p:sp>
        <p:nvSpPr>
          <p:cNvPr id="39" name="Shape 37"/>
          <p:cNvSpPr/>
          <p:nvPr/>
        </p:nvSpPr>
        <p:spPr>
          <a:xfrm>
            <a:off x="822960" y="1554480"/>
            <a:ext cx="6949440" cy="4114800"/>
          </a:xfrm>
          <a:custGeom>
            <a:avLst/>
            <a:gdLst/>
            <a:ahLst/>
            <a:cxnLst/>
            <a:rect l="l" t="t" r="r" b="b"/>
            <a:pathLst>
              <a:path w="6949440" h="4114800">
                <a:moveTo>
                  <a:pt x="0" y="4114800"/>
                </a:moveTo>
                <a:lnTo>
                  <a:pt x="0" y="2133174"/>
                </a:lnTo>
                <a:lnTo>
                  <a:pt x="289560" y="2133174"/>
                </a:lnTo>
                <a:lnTo>
                  <a:pt x="289560" y="1757934"/>
                </a:lnTo>
                <a:lnTo>
                  <a:pt x="579120" y="1757934"/>
                </a:lnTo>
                <a:lnTo>
                  <a:pt x="579120" y="1538433"/>
                </a:lnTo>
                <a:lnTo>
                  <a:pt x="868680" y="1538433"/>
                </a:lnTo>
                <a:lnTo>
                  <a:pt x="868680" y="1382695"/>
                </a:lnTo>
                <a:lnTo>
                  <a:pt x="1158240" y="1382695"/>
                </a:lnTo>
                <a:lnTo>
                  <a:pt x="1158240" y="1261894"/>
                </a:lnTo>
                <a:lnTo>
                  <a:pt x="1447800" y="1261894"/>
                </a:lnTo>
                <a:lnTo>
                  <a:pt x="1447800" y="1163193"/>
                </a:lnTo>
                <a:lnTo>
                  <a:pt x="1737360" y="1163193"/>
                </a:lnTo>
                <a:lnTo>
                  <a:pt x="1737360" y="1079743"/>
                </a:lnTo>
                <a:lnTo>
                  <a:pt x="2026920" y="1079743"/>
                </a:lnTo>
                <a:lnTo>
                  <a:pt x="2026920" y="1007455"/>
                </a:lnTo>
                <a:lnTo>
                  <a:pt x="2316480" y="1007455"/>
                </a:lnTo>
                <a:lnTo>
                  <a:pt x="2316480" y="4114800"/>
                </a:lnTo>
                <a:close/>
              </a:path>
            </a:pathLst>
          </a:custGeom>
          <a:solidFill>
            <a:srgbClr val="3B6FD4">
              <a:alpha val="28000"/>
            </a:srgbClr>
          </a:solidFill>
          <a:ln w="15875">
            <a:solidFill>
              <a:srgbClr val="3B6FD4"/>
            </a:solidFill>
            <a:prstDash val="solid"/>
          </a:ln>
        </p:spPr>
      </p:sp>
      <p:sp>
        <p:nvSpPr>
          <p:cNvPr id="40" name="Shape 38"/>
          <p:cNvSpPr/>
          <p:nvPr/>
        </p:nvSpPr>
        <p:spPr>
          <a:xfrm>
            <a:off x="822960" y="1554480"/>
            <a:ext cx="6949440" cy="4114800"/>
          </a:xfrm>
          <a:custGeom>
            <a:avLst/>
            <a:gdLst/>
            <a:ahLst/>
            <a:cxnLst/>
            <a:rect l="l" t="t" r="r" b="b"/>
            <a:pathLst>
              <a:path w="6949440" h="4114800">
                <a:moveTo>
                  <a:pt x="0" y="4114800"/>
                </a:moveTo>
                <a:lnTo>
                  <a:pt x="0" y="1277489"/>
                </a:lnTo>
                <a:lnTo>
                  <a:pt x="289560" y="1277489"/>
                </a:lnTo>
                <a:lnTo>
                  <a:pt x="289560" y="1176157"/>
                </a:lnTo>
                <a:lnTo>
                  <a:pt x="579120" y="1176157"/>
                </a:lnTo>
                <a:lnTo>
                  <a:pt x="579120" y="1090836"/>
                </a:lnTo>
                <a:lnTo>
                  <a:pt x="868680" y="1090836"/>
                </a:lnTo>
                <a:lnTo>
                  <a:pt x="868680" y="1017148"/>
                </a:lnTo>
                <a:lnTo>
                  <a:pt x="1158240" y="1017148"/>
                </a:lnTo>
                <a:lnTo>
                  <a:pt x="1158240" y="952300"/>
                </a:lnTo>
                <a:lnTo>
                  <a:pt x="1447800" y="952300"/>
                </a:lnTo>
                <a:lnTo>
                  <a:pt x="1447800" y="894395"/>
                </a:lnTo>
                <a:lnTo>
                  <a:pt x="1737360" y="894395"/>
                </a:lnTo>
                <a:lnTo>
                  <a:pt x="1737360" y="4114800"/>
                </a:lnTo>
                <a:close/>
              </a:path>
            </a:pathLst>
          </a:custGeom>
          <a:solidFill>
            <a:srgbClr val="D9512C">
              <a:alpha val="28000"/>
            </a:srgbClr>
          </a:solidFill>
          <a:ln w="15875">
            <a:solidFill>
              <a:srgbClr val="D9512C"/>
            </a:solidFill>
            <a:prstDash val="solid"/>
          </a:ln>
        </p:spPr>
      </p:sp>
      <p:sp>
        <p:nvSpPr>
          <p:cNvPr id="41" name="Shape 39"/>
          <p:cNvSpPr/>
          <p:nvPr/>
        </p:nvSpPr>
        <p:spPr>
          <a:xfrm>
            <a:off x="822960" y="1554480"/>
            <a:ext cx="6949440" cy="4114800"/>
          </a:xfrm>
          <a:custGeom>
            <a:avLst/>
            <a:gdLst/>
            <a:ahLst/>
            <a:cxnLst/>
            <a:rect l="l" t="t" r="r" b="b"/>
            <a:pathLst>
              <a:path w="6949440" h="4114800">
                <a:moveTo>
                  <a:pt x="0" y="4114800"/>
                </a:moveTo>
                <a:lnTo>
                  <a:pt x="0" y="2133174"/>
                </a:lnTo>
                <a:lnTo>
                  <a:pt x="289560" y="2133174"/>
                </a:lnTo>
                <a:lnTo>
                  <a:pt x="289560" y="1757934"/>
                </a:lnTo>
                <a:lnTo>
                  <a:pt x="579120" y="1757934"/>
                </a:lnTo>
                <a:lnTo>
                  <a:pt x="579120" y="1538433"/>
                </a:lnTo>
                <a:lnTo>
                  <a:pt x="868680" y="1538433"/>
                </a:lnTo>
                <a:lnTo>
                  <a:pt x="868680" y="4114800"/>
                </a:lnTo>
                <a:close/>
              </a:path>
            </a:pathLst>
          </a:custGeom>
          <a:solidFill>
            <a:srgbClr val="6E8B5E">
              <a:alpha val="28000"/>
            </a:srgbClr>
          </a:solidFill>
          <a:ln w="15875">
            <a:solidFill>
              <a:srgbClr val="6E8B5E"/>
            </a:solidFill>
            <a:prstDash val="solid"/>
          </a:ln>
        </p:spPr>
      </p:sp>
      <p:sp>
        <p:nvSpPr>
          <p:cNvPr id="42" name="Shape 40"/>
          <p:cNvSpPr/>
          <p:nvPr/>
        </p:nvSpPr>
        <p:spPr>
          <a:xfrm>
            <a:off x="822960" y="1554480"/>
            <a:ext cx="6949440" cy="4114800"/>
          </a:xfrm>
          <a:custGeom>
            <a:avLst/>
            <a:gdLst/>
            <a:ahLst/>
            <a:cxnLst/>
            <a:rect l="l" t="t" r="r" b="b"/>
            <a:pathLst>
              <a:path w="6949440" h="4114800">
                <a:moveTo>
                  <a:pt x="0" y="4114800"/>
                </a:moveTo>
                <a:lnTo>
                  <a:pt x="0" y="375240"/>
                </a:lnTo>
                <a:lnTo>
                  <a:pt x="289560" y="375240"/>
                </a:lnTo>
                <a:lnTo>
                  <a:pt x="289560" y="4114800"/>
                </a:lnTo>
                <a:close/>
              </a:path>
            </a:pathLst>
          </a:custGeom>
          <a:solidFill>
            <a:srgbClr val="C9922A">
              <a:alpha val="28000"/>
            </a:srgbClr>
          </a:solidFill>
          <a:ln w="15875">
            <a:solidFill>
              <a:srgbClr val="C9922A"/>
            </a:solidFill>
            <a:prstDash val="solid"/>
          </a:ln>
        </p:spPr>
      </p:sp>
      <p:sp>
        <p:nvSpPr>
          <p:cNvPr id="43" name="Shape 41"/>
          <p:cNvSpPr/>
          <p:nvPr/>
        </p:nvSpPr>
        <p:spPr>
          <a:xfrm>
            <a:off x="822960" y="1554480"/>
            <a:ext cx="6949440" cy="4114800"/>
          </a:xfrm>
          <a:custGeom>
            <a:avLst/>
            <a:gdLst/>
            <a:ahLst/>
            <a:cxnLst/>
            <a:rect l="l" t="t" r="r" b="b"/>
            <a:pathLst>
              <a:path w="6949440" h="4114800">
                <a:moveTo>
                  <a:pt x="0" y="375240"/>
                </a:moveTo>
                <a:lnTo>
                  <a:pt x="289560" y="375240"/>
                </a:lnTo>
                <a:lnTo>
                  <a:pt x="289560" y="1176157"/>
                </a:lnTo>
                <a:lnTo>
                  <a:pt x="579120" y="1176157"/>
                </a:lnTo>
                <a:lnTo>
                  <a:pt x="579120" y="1090836"/>
                </a:lnTo>
                <a:lnTo>
                  <a:pt x="868680" y="1090836"/>
                </a:lnTo>
                <a:lnTo>
                  <a:pt x="868680" y="1017148"/>
                </a:lnTo>
                <a:lnTo>
                  <a:pt x="1158240" y="1017148"/>
                </a:lnTo>
                <a:lnTo>
                  <a:pt x="1158240" y="952300"/>
                </a:lnTo>
                <a:lnTo>
                  <a:pt x="1447800" y="952300"/>
                </a:lnTo>
                <a:lnTo>
                  <a:pt x="1447800" y="894395"/>
                </a:lnTo>
                <a:lnTo>
                  <a:pt x="1737360" y="894395"/>
                </a:lnTo>
                <a:lnTo>
                  <a:pt x="1737360" y="1079743"/>
                </a:lnTo>
                <a:lnTo>
                  <a:pt x="2026920" y="1079743"/>
                </a:lnTo>
                <a:lnTo>
                  <a:pt x="2026920" y="1007455"/>
                </a:lnTo>
                <a:lnTo>
                  <a:pt x="2316480" y="1007455"/>
                </a:lnTo>
                <a:lnTo>
                  <a:pt x="2316480" y="1814972"/>
                </a:lnTo>
                <a:lnTo>
                  <a:pt x="2606040" y="1814972"/>
                </a:lnTo>
                <a:lnTo>
                  <a:pt x="2606040" y="1757934"/>
                </a:lnTo>
                <a:lnTo>
                  <a:pt x="2895600" y="1757934"/>
                </a:lnTo>
                <a:lnTo>
                  <a:pt x="2895600" y="1706338"/>
                </a:lnTo>
                <a:lnTo>
                  <a:pt x="3185160" y="1706338"/>
                </a:lnTo>
                <a:lnTo>
                  <a:pt x="3185160" y="1659233"/>
                </a:lnTo>
                <a:lnTo>
                  <a:pt x="3474720" y="1659233"/>
                </a:lnTo>
                <a:lnTo>
                  <a:pt x="3474720" y="1615902"/>
                </a:lnTo>
                <a:lnTo>
                  <a:pt x="3764280" y="1615902"/>
                </a:lnTo>
                <a:lnTo>
                  <a:pt x="3764280" y="1575783"/>
                </a:lnTo>
                <a:lnTo>
                  <a:pt x="4053840" y="1575783"/>
                </a:lnTo>
                <a:lnTo>
                  <a:pt x="4053840" y="1538433"/>
                </a:lnTo>
                <a:lnTo>
                  <a:pt x="4343400" y="1538433"/>
                </a:lnTo>
                <a:lnTo>
                  <a:pt x="4343400" y="1503495"/>
                </a:lnTo>
                <a:lnTo>
                  <a:pt x="4632960" y="1503495"/>
                </a:lnTo>
                <a:lnTo>
                  <a:pt x="4632960" y="1470675"/>
                </a:lnTo>
                <a:lnTo>
                  <a:pt x="4922520" y="1470675"/>
                </a:lnTo>
                <a:lnTo>
                  <a:pt x="4922520" y="1439732"/>
                </a:lnTo>
                <a:lnTo>
                  <a:pt x="5212080" y="1439732"/>
                </a:lnTo>
                <a:lnTo>
                  <a:pt x="5212080" y="1410463"/>
                </a:lnTo>
                <a:lnTo>
                  <a:pt x="5501640" y="1410463"/>
                </a:lnTo>
                <a:lnTo>
                  <a:pt x="5501640" y="1382695"/>
                </a:lnTo>
                <a:lnTo>
                  <a:pt x="5791200" y="1382695"/>
                </a:lnTo>
                <a:lnTo>
                  <a:pt x="5791200" y="1356282"/>
                </a:lnTo>
                <a:lnTo>
                  <a:pt x="6080760" y="1356282"/>
                </a:lnTo>
                <a:lnTo>
                  <a:pt x="6080760" y="1331098"/>
                </a:lnTo>
                <a:lnTo>
                  <a:pt x="6370320" y="1331098"/>
                </a:lnTo>
                <a:lnTo>
                  <a:pt x="6370320" y="1307033"/>
                </a:lnTo>
                <a:lnTo>
                  <a:pt x="6659880" y="1307033"/>
                </a:lnTo>
                <a:lnTo>
                  <a:pt x="6659880" y="1283994"/>
                </a:lnTo>
                <a:lnTo>
                  <a:pt x="6949440" y="1283994"/>
                </a:lnTo>
              </a:path>
            </a:pathLst>
          </a:custGeom>
          <a:ln w="28575">
            <a:solidFill>
              <a:srgbClr val="0B1F3A"/>
            </a:solidFill>
            <a:prstDash val="solid"/>
          </a:ln>
        </p:spPr>
      </p:sp>
      <p:sp>
        <p:nvSpPr>
          <p:cNvPr id="44" name="Text 42"/>
          <p:cNvSpPr txBox="1"/>
          <p:nvPr/>
        </p:nvSpPr>
        <p:spPr>
          <a:xfrm>
            <a:off x="8046720" y="1463040"/>
            <a:ext cx="36576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Drivers (Δt = 1 month)</a:t>
            </a:r>
            <a:endParaRPr lang="en-US" sz="1100" dirty="0"/>
          </a:p>
        </p:txBody>
      </p:sp>
      <p:sp>
        <p:nvSpPr>
          <p:cNvPr id="45" name="Shape 43"/>
          <p:cNvSpPr/>
          <p:nvPr/>
        </p:nvSpPr>
        <p:spPr>
          <a:xfrm>
            <a:off x="8046720" y="1856232"/>
            <a:ext cx="201168" cy="201168"/>
          </a:xfrm>
          <a:prstGeom prst="rect">
            <a:avLst/>
          </a:prstGeom>
          <a:solidFill>
            <a:srgbClr val="C9922A">
              <a:alpha val="60000"/>
            </a:srgbClr>
          </a:solidFill>
          <a:ln w="12700">
            <a:solidFill>
              <a:srgbClr val="C9922A"/>
            </a:solidFill>
            <a:prstDash val="solid"/>
          </a:ln>
        </p:spPr>
      </p:sp>
      <p:sp>
        <p:nvSpPr>
          <p:cNvPr id="46" name="Text 44"/>
          <p:cNvSpPr txBox="1"/>
          <p:nvPr/>
        </p:nvSpPr>
        <p:spPr>
          <a:xfrm>
            <a:off x="8339328" y="1828800"/>
            <a:ext cx="3291840" cy="502920"/>
          </a:xfrm>
          <a:prstGeom prst="rect">
            <a:avLst/>
          </a:prstGeom>
          <a:noFill/>
          <a:ln/>
        </p:spPr>
        <p:txBody>
          <a:bodyPr wrap="square" lIns="0" tIns="0" rIns="0" bIns="0" rtlCol="0" anchor="t"/>
          <a:lstStyle/>
          <a:p>
            <a:pPr indent="0" marL="0">
              <a:buNone/>
            </a:pPr>
            <a:r>
              <a:rPr lang="en-US" sz="950" b="1" dirty="0">
                <a:solidFill>
                  <a:srgbClr val="C9922A"/>
                </a:solidFill>
                <a:latin typeface="Calibri" pitchFamily="34" charset="0"/>
                <a:ea typeface="Calibri" pitchFamily="34" charset="-122"/>
                <a:cs typeface="Calibri" pitchFamily="34" charset="-120"/>
              </a:rPr>
              <a:t>Wind stress</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lag 0 only · reach capped at 10,000 km</a:t>
            </a:r>
            <a:endParaRPr lang="en-US" sz="950" dirty="0"/>
          </a:p>
        </p:txBody>
      </p:sp>
      <p:sp>
        <p:nvSpPr>
          <p:cNvPr id="47" name="Shape 45"/>
          <p:cNvSpPr/>
          <p:nvPr/>
        </p:nvSpPr>
        <p:spPr>
          <a:xfrm>
            <a:off x="8046720" y="2423160"/>
            <a:ext cx="201168" cy="201168"/>
          </a:xfrm>
          <a:prstGeom prst="rect">
            <a:avLst/>
          </a:prstGeom>
          <a:solidFill>
            <a:srgbClr val="D9512C">
              <a:alpha val="60000"/>
            </a:srgbClr>
          </a:solidFill>
          <a:ln w="12700">
            <a:solidFill>
              <a:srgbClr val="D9512C"/>
            </a:solidFill>
            <a:prstDash val="solid"/>
          </a:ln>
        </p:spPr>
      </p:sp>
      <p:sp>
        <p:nvSpPr>
          <p:cNvPr id="48" name="Text 46"/>
          <p:cNvSpPr txBox="1"/>
          <p:nvPr/>
        </p:nvSpPr>
        <p:spPr>
          <a:xfrm>
            <a:off x="8339328" y="2395728"/>
            <a:ext cx="3291840" cy="502920"/>
          </a:xfrm>
          <a:prstGeom prst="rect">
            <a:avLst/>
          </a:prstGeom>
          <a:noFill/>
          <a:ln/>
        </p:spPr>
        <p:txBody>
          <a:bodyPr wrap="square" lIns="0" tIns="0" rIns="0" bIns="0" rtlCol="0" anchor="t"/>
          <a:lstStyle/>
          <a:p>
            <a:pPr indent="0" marL="0">
              <a:buNone/>
            </a:pPr>
            <a:r>
              <a:rPr lang="en-US" sz="950" b="1" dirty="0">
                <a:solidFill>
                  <a:srgbClr val="D9512C"/>
                </a:solidFill>
                <a:latin typeface="Calibri" pitchFamily="34" charset="0"/>
                <a:ea typeface="Calibri" pitchFamily="34" charset="-122"/>
                <a:cs typeface="Calibri" pitchFamily="34" charset="-120"/>
              </a:rPr>
              <a:t>Air temperature / heat flux</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lags 0–5 · reach 1,889 → 3,833 km</a:t>
            </a:r>
            <a:endParaRPr lang="en-US" sz="950" dirty="0"/>
          </a:p>
        </p:txBody>
      </p:sp>
      <p:sp>
        <p:nvSpPr>
          <p:cNvPr id="49" name="Shape 47"/>
          <p:cNvSpPr/>
          <p:nvPr/>
        </p:nvSpPr>
        <p:spPr>
          <a:xfrm>
            <a:off x="8046720" y="2990088"/>
            <a:ext cx="201168" cy="201168"/>
          </a:xfrm>
          <a:prstGeom prst="rect">
            <a:avLst/>
          </a:prstGeom>
          <a:solidFill>
            <a:srgbClr val="3B6FD4">
              <a:alpha val="60000"/>
            </a:srgbClr>
          </a:solidFill>
          <a:ln w="12700">
            <a:solidFill>
              <a:srgbClr val="3B6FD4"/>
            </a:solidFill>
            <a:prstDash val="solid"/>
          </a:ln>
        </p:spPr>
      </p:sp>
      <p:sp>
        <p:nvSpPr>
          <p:cNvPr id="50" name="Text 48"/>
          <p:cNvSpPr txBox="1"/>
          <p:nvPr/>
        </p:nvSpPr>
        <p:spPr>
          <a:xfrm>
            <a:off x="8339328" y="2962656"/>
            <a:ext cx="3291840" cy="502920"/>
          </a:xfrm>
          <a:prstGeom prst="rect">
            <a:avLst/>
          </a:prstGeom>
          <a:noFill/>
          <a:ln/>
        </p:spPr>
        <p:txBody>
          <a:bodyPr wrap="square" lIns="0" tIns="0" rIns="0" bIns="0" rtlCol="0" anchor="t"/>
          <a:lstStyle/>
          <a:p>
            <a:pPr indent="0" marL="0">
              <a:buNone/>
            </a:pPr>
            <a:r>
              <a:rPr lang="en-US" sz="950" b="1" dirty="0">
                <a:solidFill>
                  <a:srgbClr val="3B6FD4"/>
                </a:solidFill>
                <a:latin typeface="Calibri" pitchFamily="34" charset="0"/>
                <a:ea typeface="Calibri" pitchFamily="34" charset="-122"/>
                <a:cs typeface="Calibri" pitchFamily="34" charset="-120"/>
              </a:rPr>
              <a:t>Ocean surface T (mixed layer)</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lags 0–7 · reach 389 → 3,110 km</a:t>
            </a:r>
            <a:endParaRPr lang="en-US" sz="950" dirty="0"/>
          </a:p>
        </p:txBody>
      </p:sp>
      <p:sp>
        <p:nvSpPr>
          <p:cNvPr id="51" name="Shape 49"/>
          <p:cNvSpPr/>
          <p:nvPr/>
        </p:nvSpPr>
        <p:spPr>
          <a:xfrm>
            <a:off x="8046720" y="3557016"/>
            <a:ext cx="201168" cy="201168"/>
          </a:xfrm>
          <a:prstGeom prst="rect">
            <a:avLst/>
          </a:prstGeom>
          <a:solidFill>
            <a:srgbClr val="1C7C7C">
              <a:alpha val="60000"/>
            </a:srgbClr>
          </a:solidFill>
          <a:ln w="12700">
            <a:solidFill>
              <a:srgbClr val="1C7C7C"/>
            </a:solidFill>
            <a:prstDash val="solid"/>
          </a:ln>
        </p:spPr>
      </p:sp>
      <p:sp>
        <p:nvSpPr>
          <p:cNvPr id="52" name="Text 50"/>
          <p:cNvSpPr txBox="1"/>
          <p:nvPr/>
        </p:nvSpPr>
        <p:spPr>
          <a:xfrm>
            <a:off x="8339328" y="3529584"/>
            <a:ext cx="3291840" cy="502920"/>
          </a:xfrm>
          <a:prstGeom prst="rect">
            <a:avLst/>
          </a:prstGeom>
          <a:noFill/>
          <a:ln/>
        </p:spPr>
        <p:txBody>
          <a:bodyPr wrap="square" lIns="0" tIns="0" rIns="0" bIns="0" rtlCol="0" anchor="t"/>
          <a:lstStyle/>
          <a:p>
            <a:pPr indent="0" marL="0">
              <a:buNone/>
            </a:pPr>
            <a:r>
              <a:rPr lang="en-US" sz="950" b="1" dirty="0">
                <a:solidFill>
                  <a:srgbClr val="1C7C7C"/>
                </a:solidFill>
                <a:latin typeface="Calibri" pitchFamily="34" charset="0"/>
                <a:ea typeface="Calibri" pitchFamily="34" charset="-122"/>
                <a:cs typeface="Calibri" pitchFamily="34" charset="-120"/>
              </a:rPr>
              <a:t>Interior T, S (below ML)</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lags 0–23 · reach 78 → 1,866 km</a:t>
            </a:r>
            <a:endParaRPr lang="en-US" sz="950" dirty="0"/>
          </a:p>
        </p:txBody>
      </p:sp>
      <p:sp>
        <p:nvSpPr>
          <p:cNvPr id="53" name="Shape 51"/>
          <p:cNvSpPr/>
          <p:nvPr/>
        </p:nvSpPr>
        <p:spPr>
          <a:xfrm>
            <a:off x="8046720" y="4123944"/>
            <a:ext cx="201168" cy="201168"/>
          </a:xfrm>
          <a:prstGeom prst="rect">
            <a:avLst/>
          </a:prstGeom>
          <a:solidFill>
            <a:srgbClr val="6A4C93">
              <a:alpha val="60000"/>
            </a:srgbClr>
          </a:solidFill>
          <a:ln w="12700">
            <a:solidFill>
              <a:srgbClr val="6A4C93"/>
            </a:solidFill>
            <a:prstDash val="solid"/>
          </a:ln>
        </p:spPr>
      </p:sp>
      <p:sp>
        <p:nvSpPr>
          <p:cNvPr id="54" name="Text 52"/>
          <p:cNvSpPr txBox="1"/>
          <p:nvPr/>
        </p:nvSpPr>
        <p:spPr>
          <a:xfrm>
            <a:off x="8339328" y="4096512"/>
            <a:ext cx="3291840" cy="502920"/>
          </a:xfrm>
          <a:prstGeom prst="rect">
            <a:avLst/>
          </a:prstGeom>
          <a:noFill/>
          <a:ln/>
        </p:spPr>
        <p:txBody>
          <a:bodyPr wrap="square" lIns="0" tIns="0" rIns="0" bIns="0" rtlCol="0" anchor="t"/>
          <a:lstStyle/>
          <a:p>
            <a:pPr indent="0" marL="0">
              <a:buNone/>
            </a:pPr>
            <a:r>
              <a:rPr lang="en-US" sz="950" b="1" dirty="0">
                <a:solidFill>
                  <a:srgbClr val="6A4C93"/>
                </a:solidFill>
                <a:latin typeface="Calibri" pitchFamily="34" charset="0"/>
                <a:ea typeface="Calibri" pitchFamily="34" charset="-122"/>
                <a:cs typeface="Calibri" pitchFamily="34" charset="-120"/>
              </a:rPr>
              <a:t>SSH</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lags 0–11 · reach 78 → 933 km</a:t>
            </a:r>
            <a:endParaRPr lang="en-US" sz="950" dirty="0"/>
          </a:p>
        </p:txBody>
      </p:sp>
      <p:sp>
        <p:nvSpPr>
          <p:cNvPr id="55" name="Shape 53"/>
          <p:cNvSpPr/>
          <p:nvPr/>
        </p:nvSpPr>
        <p:spPr>
          <a:xfrm>
            <a:off x="8046720" y="4690872"/>
            <a:ext cx="201168" cy="201168"/>
          </a:xfrm>
          <a:prstGeom prst="rect">
            <a:avLst/>
          </a:prstGeom>
          <a:solidFill>
            <a:srgbClr val="6E8B5E">
              <a:alpha val="60000"/>
            </a:srgbClr>
          </a:solidFill>
          <a:ln w="12700">
            <a:solidFill>
              <a:srgbClr val="6E8B5E"/>
            </a:solidFill>
            <a:prstDash val="solid"/>
          </a:ln>
        </p:spPr>
      </p:sp>
      <p:sp>
        <p:nvSpPr>
          <p:cNvPr id="56" name="Text 54"/>
          <p:cNvSpPr txBox="1"/>
          <p:nvPr/>
        </p:nvSpPr>
        <p:spPr>
          <a:xfrm>
            <a:off x="8339328" y="4663440"/>
            <a:ext cx="3291840" cy="502920"/>
          </a:xfrm>
          <a:prstGeom prst="rect">
            <a:avLst/>
          </a:prstGeom>
          <a:noFill/>
          <a:ln/>
        </p:spPr>
        <p:txBody>
          <a:bodyPr wrap="square" lIns="0" tIns="0" rIns="0" bIns="0" rtlCol="0" anchor="t"/>
          <a:lstStyle/>
          <a:p>
            <a:pPr indent="0" marL="0">
              <a:buNone/>
            </a:pPr>
            <a:r>
              <a:rPr lang="en-US" sz="950" b="1" dirty="0">
                <a:solidFill>
                  <a:srgbClr val="6E8B5E"/>
                </a:solidFill>
                <a:latin typeface="Calibri" pitchFamily="34" charset="0"/>
                <a:ea typeface="Calibri" pitchFamily="34" charset="-122"/>
                <a:cs typeface="Calibri" pitchFamily="34" charset="-120"/>
              </a:rPr>
              <a:t>Own history (u, v at P)</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lags 0–2 · reach 389 → 1,166 km</a:t>
            </a:r>
            <a:endParaRPr lang="en-US" sz="950" dirty="0"/>
          </a:p>
        </p:txBody>
      </p:sp>
      <p:sp>
        <p:nvSpPr>
          <p:cNvPr id="57" name="Text 55"/>
          <p:cNvSpPr txBox="1"/>
          <p:nvPr/>
        </p:nvSpPr>
        <p:spPr>
          <a:xfrm>
            <a:off x="8046720" y="5321808"/>
            <a:ext cx="3566160" cy="118872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Reading. </a:t>
            </a:r>
            <a:pPr indent="0" marL="0">
              <a:buNone/>
            </a:pPr>
            <a:r>
              <a:rPr lang="en-US" sz="850" dirty="0">
                <a:solidFill>
                  <a:srgbClr val="1B2430"/>
                </a:solidFill>
                <a:latin typeface="Calibri" pitchFamily="34" charset="0"/>
                <a:ea typeface="Calibri" pitchFamily="34" charset="-122"/>
                <a:cs typeface="Calibri" pitchFamily="34" charset="-120"/>
              </a:rPr>
              <a:t>The union is an L: a tall thin spike at lag 0 (the atmosphere, wide but instant), a shoulder out to ~6–8 months (mixed-layer T and the integrated heat flux, 2–4,000 km), then a long low tail to 24 months (interior T/S at ≤ 1,900 km). The cylinder over-covers the tail by 2–50× and cannot cover the lag-0 spike at all.</a:t>
            </a:r>
            <a:endParaRPr lang="en-US" sz="850" dirty="0"/>
          </a:p>
        </p:txBody>
      </p:sp>
      <p:sp>
        <p:nvSpPr>
          <p:cNvPr id="58" name="Text 5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Step 2 — the union becomes a per-channel, lag-dependent stencil</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Slots needed at each lag = 89·(reach / 4,444 km)², floored at the 9-slot 3 × 3 patch and capped at 89. Same 89-slot sunflower, different footprint per channel and lag.</a:t>
            </a:r>
            <a:endParaRPr lang="en-US" sz="1250" dirty="0"/>
          </a:p>
        </p:txBody>
      </p:sp>
      <p:sp>
        <p:nvSpPr>
          <p:cNvPr id="4" name="Text 2"/>
          <p:cNvSpPr txBox="1"/>
          <p:nvPr/>
        </p:nvSpPr>
        <p:spPr>
          <a:xfrm>
            <a:off x="548640" y="1280160"/>
            <a:ext cx="2468880" cy="201168"/>
          </a:xfrm>
          <a:prstGeom prst="rect">
            <a:avLst/>
          </a:prstGeom>
          <a:noFill/>
          <a:ln/>
        </p:spPr>
        <p:txBody>
          <a:bodyPr wrap="square" lIns="0" tIns="0" rIns="0" bIns="0" rtlCol="0" anchor="ctr"/>
          <a:lstStyle/>
          <a:p>
            <a:pPr algn="r" indent="0" marL="0">
              <a:buNone/>
            </a:pPr>
            <a:r>
              <a:rPr lang="en-US" sz="900" b="1" dirty="0">
                <a:solidFill>
                  <a:srgbClr val="E07A2F"/>
                </a:solidFill>
                <a:latin typeface="Calibri" pitchFamily="34" charset="0"/>
                <a:ea typeface="Calibri" pitchFamily="34" charset="-122"/>
                <a:cs typeface="Calibri" pitchFamily="34" charset="-120"/>
              </a:rPr>
              <a:t>lag ℓ (months) →</a:t>
            </a:r>
            <a:endParaRPr lang="en-US" sz="900" dirty="0"/>
          </a:p>
        </p:txBody>
      </p:sp>
      <p:sp>
        <p:nvSpPr>
          <p:cNvPr id="5" name="Text 3"/>
          <p:cNvSpPr txBox="1"/>
          <p:nvPr/>
        </p:nvSpPr>
        <p:spPr>
          <a:xfrm>
            <a:off x="297180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0</a:t>
            </a:r>
            <a:endParaRPr lang="en-US" sz="800" dirty="0"/>
          </a:p>
        </p:txBody>
      </p:sp>
      <p:sp>
        <p:nvSpPr>
          <p:cNvPr id="6" name="Text 4"/>
          <p:cNvSpPr txBox="1"/>
          <p:nvPr/>
        </p:nvSpPr>
        <p:spPr>
          <a:xfrm>
            <a:off x="392049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3</a:t>
            </a:r>
            <a:endParaRPr lang="en-US" sz="800" dirty="0"/>
          </a:p>
        </p:txBody>
      </p:sp>
      <p:sp>
        <p:nvSpPr>
          <p:cNvPr id="7" name="Text 5"/>
          <p:cNvSpPr txBox="1"/>
          <p:nvPr/>
        </p:nvSpPr>
        <p:spPr>
          <a:xfrm>
            <a:off x="486918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6</a:t>
            </a:r>
            <a:endParaRPr lang="en-US" sz="800" dirty="0"/>
          </a:p>
        </p:txBody>
      </p:sp>
      <p:sp>
        <p:nvSpPr>
          <p:cNvPr id="8" name="Text 6"/>
          <p:cNvSpPr txBox="1"/>
          <p:nvPr/>
        </p:nvSpPr>
        <p:spPr>
          <a:xfrm>
            <a:off x="581787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9</a:t>
            </a:r>
            <a:endParaRPr lang="en-US" sz="800" dirty="0"/>
          </a:p>
        </p:txBody>
      </p:sp>
      <p:sp>
        <p:nvSpPr>
          <p:cNvPr id="9" name="Text 7"/>
          <p:cNvSpPr txBox="1"/>
          <p:nvPr/>
        </p:nvSpPr>
        <p:spPr>
          <a:xfrm>
            <a:off x="676656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12</a:t>
            </a:r>
            <a:endParaRPr lang="en-US" sz="800" dirty="0"/>
          </a:p>
        </p:txBody>
      </p:sp>
      <p:sp>
        <p:nvSpPr>
          <p:cNvPr id="10" name="Text 8"/>
          <p:cNvSpPr txBox="1"/>
          <p:nvPr/>
        </p:nvSpPr>
        <p:spPr>
          <a:xfrm>
            <a:off x="771525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15</a:t>
            </a:r>
            <a:endParaRPr lang="en-US" sz="800" dirty="0"/>
          </a:p>
        </p:txBody>
      </p:sp>
      <p:sp>
        <p:nvSpPr>
          <p:cNvPr id="11" name="Text 9"/>
          <p:cNvSpPr txBox="1"/>
          <p:nvPr/>
        </p:nvSpPr>
        <p:spPr>
          <a:xfrm>
            <a:off x="866394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18</a:t>
            </a:r>
            <a:endParaRPr lang="en-US" sz="800" dirty="0"/>
          </a:p>
        </p:txBody>
      </p:sp>
      <p:sp>
        <p:nvSpPr>
          <p:cNvPr id="12" name="Text 10"/>
          <p:cNvSpPr txBox="1"/>
          <p:nvPr/>
        </p:nvSpPr>
        <p:spPr>
          <a:xfrm>
            <a:off x="9612630" y="1280160"/>
            <a:ext cx="365760" cy="201168"/>
          </a:xfrm>
          <a:prstGeom prst="rect">
            <a:avLst/>
          </a:prstGeom>
          <a:noFill/>
          <a:ln/>
        </p:spPr>
        <p:txBody>
          <a:bodyPr wrap="square" lIns="0" tIns="0" rIns="0" bIns="0" rtlCol="0" anchor="ctr"/>
          <a:lstStyle/>
          <a:p>
            <a:pPr algn="ctr" indent="0" marL="0">
              <a:buNone/>
            </a:pPr>
            <a:r>
              <a:rPr lang="en-US" sz="800" dirty="0">
                <a:solidFill>
                  <a:srgbClr val="6B7A8F"/>
                </a:solidFill>
                <a:latin typeface="Calibri" pitchFamily="34" charset="0"/>
                <a:ea typeface="Calibri" pitchFamily="34" charset="-122"/>
                <a:cs typeface="Calibri" pitchFamily="34" charset="-120"/>
              </a:rPr>
              <a:t>21</a:t>
            </a:r>
            <a:endParaRPr lang="en-US" sz="800" dirty="0"/>
          </a:p>
        </p:txBody>
      </p:sp>
      <p:sp>
        <p:nvSpPr>
          <p:cNvPr id="13" name="Text 11"/>
          <p:cNvSpPr txBox="1"/>
          <p:nvPr/>
        </p:nvSpPr>
        <p:spPr>
          <a:xfrm>
            <a:off x="548640" y="1554480"/>
            <a:ext cx="2468880" cy="438912"/>
          </a:xfrm>
          <a:prstGeom prst="rect">
            <a:avLst/>
          </a:prstGeom>
          <a:noFill/>
          <a:ln/>
        </p:spPr>
        <p:txBody>
          <a:bodyPr wrap="square" lIns="0" tIns="0" rIns="0" bIns="0" rtlCol="0" anchor="ctr"/>
          <a:lstStyle/>
          <a:p>
            <a:pPr indent="0" marL="0">
              <a:buNone/>
            </a:pPr>
            <a:r>
              <a:rPr lang="en-US" sz="900" b="1" dirty="0">
                <a:solidFill>
                  <a:srgbClr val="C9922A"/>
                </a:solidFill>
                <a:latin typeface="Calibri" pitchFamily="34" charset="0"/>
                <a:ea typeface="Calibri" pitchFamily="34" charset="-122"/>
                <a:cs typeface="Calibri" pitchFamily="34" charset="-120"/>
              </a:rPr>
              <a:t>Wind stress</a:t>
            </a:r>
            <a:endParaRPr lang="en-US" sz="900" dirty="0"/>
          </a:p>
          <a:p>
            <a:pPr indent="0" marL="0">
              <a:buNone/>
            </a:pPr>
            <a:r>
              <a:rPr lang="en-US" sz="800" dirty="0">
                <a:solidFill>
                  <a:srgbClr val="1B2430"/>
                </a:solidFill>
                <a:latin typeface="Calibri" pitchFamily="34" charset="0"/>
                <a:ea typeface="Calibri" pitchFamily="34" charset="-122"/>
                <a:cs typeface="Calibri" pitchFamily="34" charset="-120"/>
              </a:rPr>
              <a:t>89 slot-lags · 96 % saved</a:t>
            </a:r>
            <a:endParaRPr lang="en-US" sz="900" dirty="0"/>
          </a:p>
        </p:txBody>
      </p:sp>
      <p:sp>
        <p:nvSpPr>
          <p:cNvPr id="14" name="Shape 12"/>
          <p:cNvSpPr/>
          <p:nvPr/>
        </p:nvSpPr>
        <p:spPr>
          <a:xfrm>
            <a:off x="3127248" y="1554480"/>
            <a:ext cx="279654" cy="438912"/>
          </a:xfrm>
          <a:prstGeom prst="rect">
            <a:avLst/>
          </a:prstGeom>
          <a:solidFill>
            <a:srgbClr val="C9922A">
              <a:alpha val="85000"/>
            </a:srgbClr>
          </a:solidFill>
          <a:ln w="12700">
            <a:solidFill>
              <a:srgbClr val="333333"/>
            </a:solidFill>
            <a:prstDash val="solid"/>
          </a:ln>
        </p:spPr>
      </p:sp>
      <p:sp>
        <p:nvSpPr>
          <p:cNvPr id="15" name="Text 13"/>
          <p:cNvSpPr txBox="1"/>
          <p:nvPr/>
        </p:nvSpPr>
        <p:spPr>
          <a:xfrm>
            <a:off x="3017520" y="1371600"/>
            <a:ext cx="499110" cy="164592"/>
          </a:xfrm>
          <a:prstGeom prst="rect">
            <a:avLst/>
          </a:prstGeom>
          <a:noFill/>
          <a:ln/>
        </p:spPr>
        <p:txBody>
          <a:bodyPr wrap="square" lIns="0" tIns="0" rIns="0" bIns="0" rtlCol="0" anchor="ctr"/>
          <a:lstStyle/>
          <a:p>
            <a:pPr algn="ctr" indent="0" marL="0">
              <a:buNone/>
            </a:pPr>
            <a:r>
              <a:rPr lang="en-US" sz="700" dirty="0">
                <a:solidFill>
                  <a:srgbClr val="C9922A"/>
                </a:solidFill>
                <a:latin typeface="Calibri" pitchFamily="34" charset="0"/>
                <a:ea typeface="Calibri" pitchFamily="34" charset="-122"/>
                <a:cs typeface="Calibri" pitchFamily="34" charset="-120"/>
              </a:rPr>
              <a:t>89</a:t>
            </a:r>
            <a:endParaRPr lang="en-US" sz="700" dirty="0"/>
          </a:p>
        </p:txBody>
      </p:sp>
      <p:sp>
        <p:nvSpPr>
          <p:cNvPr id="16" name="Shape 14"/>
          <p:cNvSpPr/>
          <p:nvPr/>
        </p:nvSpPr>
        <p:spPr>
          <a:xfrm>
            <a:off x="3443478" y="1965960"/>
            <a:ext cx="279654" cy="27432"/>
          </a:xfrm>
          <a:prstGeom prst="rect">
            <a:avLst/>
          </a:prstGeom>
          <a:solidFill>
            <a:srgbClr val="B8C4D3">
              <a:alpha val="60000"/>
            </a:srgbClr>
          </a:solidFill>
          <a:ln w="12700">
            <a:solidFill>
              <a:srgbClr val="333333"/>
            </a:solidFill>
            <a:prstDash val="solid"/>
          </a:ln>
        </p:spPr>
      </p:sp>
      <p:sp>
        <p:nvSpPr>
          <p:cNvPr id="17" name="Shape 15"/>
          <p:cNvSpPr/>
          <p:nvPr/>
        </p:nvSpPr>
        <p:spPr>
          <a:xfrm>
            <a:off x="3759708" y="1965960"/>
            <a:ext cx="279654" cy="27432"/>
          </a:xfrm>
          <a:prstGeom prst="rect">
            <a:avLst/>
          </a:prstGeom>
          <a:solidFill>
            <a:srgbClr val="B8C4D3">
              <a:alpha val="60000"/>
            </a:srgbClr>
          </a:solidFill>
          <a:ln w="12700">
            <a:solidFill>
              <a:srgbClr val="333333"/>
            </a:solidFill>
            <a:prstDash val="solid"/>
          </a:ln>
        </p:spPr>
      </p:sp>
      <p:sp>
        <p:nvSpPr>
          <p:cNvPr id="18" name="Shape 16"/>
          <p:cNvSpPr/>
          <p:nvPr/>
        </p:nvSpPr>
        <p:spPr>
          <a:xfrm>
            <a:off x="4075938" y="1965960"/>
            <a:ext cx="279654" cy="27432"/>
          </a:xfrm>
          <a:prstGeom prst="rect">
            <a:avLst/>
          </a:prstGeom>
          <a:solidFill>
            <a:srgbClr val="B8C4D3">
              <a:alpha val="60000"/>
            </a:srgbClr>
          </a:solidFill>
          <a:ln w="12700">
            <a:solidFill>
              <a:srgbClr val="333333"/>
            </a:solidFill>
            <a:prstDash val="solid"/>
          </a:ln>
        </p:spPr>
      </p:sp>
      <p:sp>
        <p:nvSpPr>
          <p:cNvPr id="19" name="Shape 17"/>
          <p:cNvSpPr/>
          <p:nvPr/>
        </p:nvSpPr>
        <p:spPr>
          <a:xfrm>
            <a:off x="4392168" y="1965960"/>
            <a:ext cx="279654" cy="27432"/>
          </a:xfrm>
          <a:prstGeom prst="rect">
            <a:avLst/>
          </a:prstGeom>
          <a:solidFill>
            <a:srgbClr val="B8C4D3">
              <a:alpha val="60000"/>
            </a:srgbClr>
          </a:solidFill>
          <a:ln w="12700">
            <a:solidFill>
              <a:srgbClr val="333333"/>
            </a:solidFill>
            <a:prstDash val="solid"/>
          </a:ln>
        </p:spPr>
      </p:sp>
      <p:sp>
        <p:nvSpPr>
          <p:cNvPr id="20" name="Shape 18"/>
          <p:cNvSpPr/>
          <p:nvPr/>
        </p:nvSpPr>
        <p:spPr>
          <a:xfrm>
            <a:off x="4708398" y="1965960"/>
            <a:ext cx="279654" cy="27432"/>
          </a:xfrm>
          <a:prstGeom prst="rect">
            <a:avLst/>
          </a:prstGeom>
          <a:solidFill>
            <a:srgbClr val="B8C4D3">
              <a:alpha val="60000"/>
            </a:srgbClr>
          </a:solidFill>
          <a:ln w="12700">
            <a:solidFill>
              <a:srgbClr val="333333"/>
            </a:solidFill>
            <a:prstDash val="solid"/>
          </a:ln>
        </p:spPr>
      </p:sp>
      <p:sp>
        <p:nvSpPr>
          <p:cNvPr id="21" name="Shape 19"/>
          <p:cNvSpPr/>
          <p:nvPr/>
        </p:nvSpPr>
        <p:spPr>
          <a:xfrm>
            <a:off x="5024628" y="1965960"/>
            <a:ext cx="279654" cy="27432"/>
          </a:xfrm>
          <a:prstGeom prst="rect">
            <a:avLst/>
          </a:prstGeom>
          <a:solidFill>
            <a:srgbClr val="B8C4D3">
              <a:alpha val="60000"/>
            </a:srgbClr>
          </a:solidFill>
          <a:ln w="12700">
            <a:solidFill>
              <a:srgbClr val="333333"/>
            </a:solidFill>
            <a:prstDash val="solid"/>
          </a:ln>
        </p:spPr>
      </p:sp>
      <p:sp>
        <p:nvSpPr>
          <p:cNvPr id="22" name="Shape 20"/>
          <p:cNvSpPr/>
          <p:nvPr/>
        </p:nvSpPr>
        <p:spPr>
          <a:xfrm>
            <a:off x="5340858" y="1965960"/>
            <a:ext cx="279654" cy="27432"/>
          </a:xfrm>
          <a:prstGeom prst="rect">
            <a:avLst/>
          </a:prstGeom>
          <a:solidFill>
            <a:srgbClr val="B8C4D3">
              <a:alpha val="60000"/>
            </a:srgbClr>
          </a:solidFill>
          <a:ln w="12700">
            <a:solidFill>
              <a:srgbClr val="333333"/>
            </a:solidFill>
            <a:prstDash val="solid"/>
          </a:ln>
        </p:spPr>
      </p:sp>
      <p:sp>
        <p:nvSpPr>
          <p:cNvPr id="23" name="Shape 21"/>
          <p:cNvSpPr/>
          <p:nvPr/>
        </p:nvSpPr>
        <p:spPr>
          <a:xfrm>
            <a:off x="5657088" y="1965960"/>
            <a:ext cx="279654" cy="27432"/>
          </a:xfrm>
          <a:prstGeom prst="rect">
            <a:avLst/>
          </a:prstGeom>
          <a:solidFill>
            <a:srgbClr val="B8C4D3">
              <a:alpha val="60000"/>
            </a:srgbClr>
          </a:solidFill>
          <a:ln w="12700">
            <a:solidFill>
              <a:srgbClr val="333333"/>
            </a:solidFill>
            <a:prstDash val="solid"/>
          </a:ln>
        </p:spPr>
      </p:sp>
      <p:sp>
        <p:nvSpPr>
          <p:cNvPr id="24" name="Shape 22"/>
          <p:cNvSpPr/>
          <p:nvPr/>
        </p:nvSpPr>
        <p:spPr>
          <a:xfrm>
            <a:off x="5973318" y="1965960"/>
            <a:ext cx="279654" cy="27432"/>
          </a:xfrm>
          <a:prstGeom prst="rect">
            <a:avLst/>
          </a:prstGeom>
          <a:solidFill>
            <a:srgbClr val="B8C4D3">
              <a:alpha val="60000"/>
            </a:srgbClr>
          </a:solidFill>
          <a:ln w="12700">
            <a:solidFill>
              <a:srgbClr val="333333"/>
            </a:solidFill>
            <a:prstDash val="solid"/>
          </a:ln>
        </p:spPr>
      </p:sp>
      <p:sp>
        <p:nvSpPr>
          <p:cNvPr id="25" name="Shape 23"/>
          <p:cNvSpPr/>
          <p:nvPr/>
        </p:nvSpPr>
        <p:spPr>
          <a:xfrm>
            <a:off x="6289548" y="1965960"/>
            <a:ext cx="279654" cy="27432"/>
          </a:xfrm>
          <a:prstGeom prst="rect">
            <a:avLst/>
          </a:prstGeom>
          <a:solidFill>
            <a:srgbClr val="B8C4D3">
              <a:alpha val="60000"/>
            </a:srgbClr>
          </a:solidFill>
          <a:ln w="12700">
            <a:solidFill>
              <a:srgbClr val="333333"/>
            </a:solidFill>
            <a:prstDash val="solid"/>
          </a:ln>
        </p:spPr>
      </p:sp>
      <p:sp>
        <p:nvSpPr>
          <p:cNvPr id="26" name="Shape 24"/>
          <p:cNvSpPr/>
          <p:nvPr/>
        </p:nvSpPr>
        <p:spPr>
          <a:xfrm>
            <a:off x="6605778" y="1965960"/>
            <a:ext cx="279654" cy="27432"/>
          </a:xfrm>
          <a:prstGeom prst="rect">
            <a:avLst/>
          </a:prstGeom>
          <a:solidFill>
            <a:srgbClr val="B8C4D3">
              <a:alpha val="60000"/>
            </a:srgbClr>
          </a:solidFill>
          <a:ln w="12700">
            <a:solidFill>
              <a:srgbClr val="333333"/>
            </a:solidFill>
            <a:prstDash val="solid"/>
          </a:ln>
        </p:spPr>
      </p:sp>
      <p:sp>
        <p:nvSpPr>
          <p:cNvPr id="27" name="Shape 25"/>
          <p:cNvSpPr/>
          <p:nvPr/>
        </p:nvSpPr>
        <p:spPr>
          <a:xfrm>
            <a:off x="6922008" y="1965960"/>
            <a:ext cx="279654" cy="27432"/>
          </a:xfrm>
          <a:prstGeom prst="rect">
            <a:avLst/>
          </a:prstGeom>
          <a:solidFill>
            <a:srgbClr val="B8C4D3">
              <a:alpha val="60000"/>
            </a:srgbClr>
          </a:solidFill>
          <a:ln w="12700">
            <a:solidFill>
              <a:srgbClr val="333333"/>
            </a:solidFill>
            <a:prstDash val="solid"/>
          </a:ln>
        </p:spPr>
      </p:sp>
      <p:sp>
        <p:nvSpPr>
          <p:cNvPr id="28" name="Shape 26"/>
          <p:cNvSpPr/>
          <p:nvPr/>
        </p:nvSpPr>
        <p:spPr>
          <a:xfrm>
            <a:off x="7238238" y="1965960"/>
            <a:ext cx="279654" cy="27432"/>
          </a:xfrm>
          <a:prstGeom prst="rect">
            <a:avLst/>
          </a:prstGeom>
          <a:solidFill>
            <a:srgbClr val="B8C4D3">
              <a:alpha val="60000"/>
            </a:srgbClr>
          </a:solidFill>
          <a:ln w="12700">
            <a:solidFill>
              <a:srgbClr val="333333"/>
            </a:solidFill>
            <a:prstDash val="solid"/>
          </a:ln>
        </p:spPr>
      </p:sp>
      <p:sp>
        <p:nvSpPr>
          <p:cNvPr id="29" name="Shape 27"/>
          <p:cNvSpPr/>
          <p:nvPr/>
        </p:nvSpPr>
        <p:spPr>
          <a:xfrm>
            <a:off x="7554468" y="1965960"/>
            <a:ext cx="279654" cy="27432"/>
          </a:xfrm>
          <a:prstGeom prst="rect">
            <a:avLst/>
          </a:prstGeom>
          <a:solidFill>
            <a:srgbClr val="B8C4D3">
              <a:alpha val="60000"/>
            </a:srgbClr>
          </a:solidFill>
          <a:ln w="12700">
            <a:solidFill>
              <a:srgbClr val="333333"/>
            </a:solidFill>
            <a:prstDash val="solid"/>
          </a:ln>
        </p:spPr>
      </p:sp>
      <p:sp>
        <p:nvSpPr>
          <p:cNvPr id="30" name="Shape 28"/>
          <p:cNvSpPr/>
          <p:nvPr/>
        </p:nvSpPr>
        <p:spPr>
          <a:xfrm>
            <a:off x="7870698" y="1965960"/>
            <a:ext cx="279654" cy="27432"/>
          </a:xfrm>
          <a:prstGeom prst="rect">
            <a:avLst/>
          </a:prstGeom>
          <a:solidFill>
            <a:srgbClr val="B8C4D3">
              <a:alpha val="60000"/>
            </a:srgbClr>
          </a:solidFill>
          <a:ln w="12700">
            <a:solidFill>
              <a:srgbClr val="333333"/>
            </a:solidFill>
            <a:prstDash val="solid"/>
          </a:ln>
        </p:spPr>
      </p:sp>
      <p:sp>
        <p:nvSpPr>
          <p:cNvPr id="31" name="Shape 29"/>
          <p:cNvSpPr/>
          <p:nvPr/>
        </p:nvSpPr>
        <p:spPr>
          <a:xfrm>
            <a:off x="8186928" y="1965960"/>
            <a:ext cx="279654" cy="27432"/>
          </a:xfrm>
          <a:prstGeom prst="rect">
            <a:avLst/>
          </a:prstGeom>
          <a:solidFill>
            <a:srgbClr val="B8C4D3">
              <a:alpha val="60000"/>
            </a:srgbClr>
          </a:solidFill>
          <a:ln w="12700">
            <a:solidFill>
              <a:srgbClr val="333333"/>
            </a:solidFill>
            <a:prstDash val="solid"/>
          </a:ln>
        </p:spPr>
      </p:sp>
      <p:sp>
        <p:nvSpPr>
          <p:cNvPr id="32" name="Shape 30"/>
          <p:cNvSpPr/>
          <p:nvPr/>
        </p:nvSpPr>
        <p:spPr>
          <a:xfrm>
            <a:off x="8503158" y="1965960"/>
            <a:ext cx="279654" cy="27432"/>
          </a:xfrm>
          <a:prstGeom prst="rect">
            <a:avLst/>
          </a:prstGeom>
          <a:solidFill>
            <a:srgbClr val="B8C4D3">
              <a:alpha val="60000"/>
            </a:srgbClr>
          </a:solidFill>
          <a:ln w="12700">
            <a:solidFill>
              <a:srgbClr val="333333"/>
            </a:solidFill>
            <a:prstDash val="solid"/>
          </a:ln>
        </p:spPr>
      </p:sp>
      <p:sp>
        <p:nvSpPr>
          <p:cNvPr id="33" name="Shape 31"/>
          <p:cNvSpPr/>
          <p:nvPr/>
        </p:nvSpPr>
        <p:spPr>
          <a:xfrm>
            <a:off x="8819388" y="1965960"/>
            <a:ext cx="279654" cy="27432"/>
          </a:xfrm>
          <a:prstGeom prst="rect">
            <a:avLst/>
          </a:prstGeom>
          <a:solidFill>
            <a:srgbClr val="B8C4D3">
              <a:alpha val="60000"/>
            </a:srgbClr>
          </a:solidFill>
          <a:ln w="12700">
            <a:solidFill>
              <a:srgbClr val="333333"/>
            </a:solidFill>
            <a:prstDash val="solid"/>
          </a:ln>
        </p:spPr>
      </p:sp>
      <p:sp>
        <p:nvSpPr>
          <p:cNvPr id="34" name="Shape 32"/>
          <p:cNvSpPr/>
          <p:nvPr/>
        </p:nvSpPr>
        <p:spPr>
          <a:xfrm>
            <a:off x="9135618" y="1965960"/>
            <a:ext cx="279654" cy="27432"/>
          </a:xfrm>
          <a:prstGeom prst="rect">
            <a:avLst/>
          </a:prstGeom>
          <a:solidFill>
            <a:srgbClr val="B8C4D3">
              <a:alpha val="60000"/>
            </a:srgbClr>
          </a:solidFill>
          <a:ln w="12700">
            <a:solidFill>
              <a:srgbClr val="333333"/>
            </a:solidFill>
            <a:prstDash val="solid"/>
          </a:ln>
        </p:spPr>
      </p:sp>
      <p:sp>
        <p:nvSpPr>
          <p:cNvPr id="35" name="Shape 33"/>
          <p:cNvSpPr/>
          <p:nvPr/>
        </p:nvSpPr>
        <p:spPr>
          <a:xfrm>
            <a:off x="9451848" y="1965960"/>
            <a:ext cx="279654" cy="27432"/>
          </a:xfrm>
          <a:prstGeom prst="rect">
            <a:avLst/>
          </a:prstGeom>
          <a:solidFill>
            <a:srgbClr val="B8C4D3">
              <a:alpha val="60000"/>
            </a:srgbClr>
          </a:solidFill>
          <a:ln w="12700">
            <a:solidFill>
              <a:srgbClr val="333333"/>
            </a:solidFill>
            <a:prstDash val="solid"/>
          </a:ln>
        </p:spPr>
      </p:sp>
      <p:sp>
        <p:nvSpPr>
          <p:cNvPr id="36" name="Shape 34"/>
          <p:cNvSpPr/>
          <p:nvPr/>
        </p:nvSpPr>
        <p:spPr>
          <a:xfrm>
            <a:off x="9768078" y="1965960"/>
            <a:ext cx="279654" cy="27432"/>
          </a:xfrm>
          <a:prstGeom prst="rect">
            <a:avLst/>
          </a:prstGeom>
          <a:solidFill>
            <a:srgbClr val="B8C4D3">
              <a:alpha val="60000"/>
            </a:srgbClr>
          </a:solidFill>
          <a:ln w="12700">
            <a:solidFill>
              <a:srgbClr val="333333"/>
            </a:solidFill>
            <a:prstDash val="solid"/>
          </a:ln>
        </p:spPr>
      </p:sp>
      <p:sp>
        <p:nvSpPr>
          <p:cNvPr id="37" name="Shape 35"/>
          <p:cNvSpPr/>
          <p:nvPr/>
        </p:nvSpPr>
        <p:spPr>
          <a:xfrm>
            <a:off x="10084308" y="1965960"/>
            <a:ext cx="279654" cy="27432"/>
          </a:xfrm>
          <a:prstGeom prst="rect">
            <a:avLst/>
          </a:prstGeom>
          <a:solidFill>
            <a:srgbClr val="B8C4D3">
              <a:alpha val="60000"/>
            </a:srgbClr>
          </a:solidFill>
          <a:ln w="12700">
            <a:solidFill>
              <a:srgbClr val="333333"/>
            </a:solidFill>
            <a:prstDash val="solid"/>
          </a:ln>
        </p:spPr>
      </p:sp>
      <p:sp>
        <p:nvSpPr>
          <p:cNvPr id="38" name="Shape 36"/>
          <p:cNvSpPr/>
          <p:nvPr/>
        </p:nvSpPr>
        <p:spPr>
          <a:xfrm>
            <a:off x="10400538" y="1965960"/>
            <a:ext cx="279654" cy="27432"/>
          </a:xfrm>
          <a:prstGeom prst="rect">
            <a:avLst/>
          </a:prstGeom>
          <a:solidFill>
            <a:srgbClr val="B8C4D3">
              <a:alpha val="60000"/>
            </a:srgbClr>
          </a:solidFill>
          <a:ln w="12700">
            <a:solidFill>
              <a:srgbClr val="333333"/>
            </a:solidFill>
            <a:prstDash val="solid"/>
          </a:ln>
        </p:spPr>
      </p:sp>
      <p:sp>
        <p:nvSpPr>
          <p:cNvPr id="39" name="Shape 37"/>
          <p:cNvSpPr/>
          <p:nvPr/>
        </p:nvSpPr>
        <p:spPr>
          <a:xfrm>
            <a:off x="3108960" y="1993392"/>
            <a:ext cx="7589520" cy="0"/>
          </a:xfrm>
          <a:prstGeom prst="line">
            <a:avLst/>
          </a:prstGeom>
          <a:noFill/>
          <a:ln w="6350">
            <a:solidFill>
              <a:srgbClr val="B8C4D3"/>
            </a:solidFill>
            <a:prstDash val="solid"/>
          </a:ln>
        </p:spPr>
      </p:sp>
      <p:sp>
        <p:nvSpPr>
          <p:cNvPr id="40" name="Text 38"/>
          <p:cNvSpPr txBox="1"/>
          <p:nvPr/>
        </p:nvSpPr>
        <p:spPr>
          <a:xfrm>
            <a:off x="548640" y="2103120"/>
            <a:ext cx="2468880" cy="438912"/>
          </a:xfrm>
          <a:prstGeom prst="rect">
            <a:avLst/>
          </a:prstGeom>
          <a:noFill/>
          <a:ln/>
        </p:spPr>
        <p:txBody>
          <a:bodyPr wrap="square" lIns="0" tIns="0" rIns="0" bIns="0" rtlCol="0" anchor="ctr"/>
          <a:lstStyle/>
          <a:p>
            <a:pPr indent="0" marL="0">
              <a:buNone/>
            </a:pPr>
            <a:r>
              <a:rPr lang="en-US" sz="900" b="1" dirty="0">
                <a:solidFill>
                  <a:srgbClr val="D9512C"/>
                </a:solidFill>
                <a:latin typeface="Calibri" pitchFamily="34" charset="0"/>
                <a:ea typeface="Calibri" pitchFamily="34" charset="-122"/>
                <a:cs typeface="Calibri" pitchFamily="34" charset="-120"/>
              </a:rPr>
              <a:t>Air temperature / heat flux</a:t>
            </a:r>
            <a:endParaRPr lang="en-US" sz="900" dirty="0"/>
          </a:p>
          <a:p>
            <a:pPr indent="0" marL="0">
              <a:buNone/>
            </a:pPr>
            <a:r>
              <a:rPr lang="en-US" sz="800" dirty="0">
                <a:solidFill>
                  <a:srgbClr val="1B2430"/>
                </a:solidFill>
                <a:latin typeface="Calibri" pitchFamily="34" charset="0"/>
                <a:ea typeface="Calibri" pitchFamily="34" charset="-122"/>
                <a:cs typeface="Calibri" pitchFamily="34" charset="-120"/>
              </a:rPr>
              <a:t>232 slot-lags · 89 % saved</a:t>
            </a:r>
            <a:endParaRPr lang="en-US" sz="900" dirty="0"/>
          </a:p>
        </p:txBody>
      </p:sp>
      <p:sp>
        <p:nvSpPr>
          <p:cNvPr id="41" name="Shape 39"/>
          <p:cNvSpPr/>
          <p:nvPr/>
        </p:nvSpPr>
        <p:spPr>
          <a:xfrm>
            <a:off x="3127248" y="2463126"/>
            <a:ext cx="279654" cy="78906"/>
          </a:xfrm>
          <a:prstGeom prst="rect">
            <a:avLst/>
          </a:prstGeom>
          <a:solidFill>
            <a:srgbClr val="D9512C">
              <a:alpha val="85000"/>
            </a:srgbClr>
          </a:solidFill>
          <a:ln w="12700">
            <a:solidFill>
              <a:srgbClr val="333333"/>
            </a:solidFill>
            <a:prstDash val="solid"/>
          </a:ln>
        </p:spPr>
      </p:sp>
      <p:sp>
        <p:nvSpPr>
          <p:cNvPr id="42" name="Text 40"/>
          <p:cNvSpPr txBox="1"/>
          <p:nvPr/>
        </p:nvSpPr>
        <p:spPr>
          <a:xfrm>
            <a:off x="3017520" y="2280246"/>
            <a:ext cx="499110" cy="164592"/>
          </a:xfrm>
          <a:prstGeom prst="rect">
            <a:avLst/>
          </a:prstGeom>
          <a:noFill/>
          <a:ln/>
        </p:spPr>
        <p:txBody>
          <a:bodyPr wrap="square" lIns="0" tIns="0" rIns="0" bIns="0" rtlCol="0" anchor="ctr"/>
          <a:lstStyle/>
          <a:p>
            <a:pPr algn="ctr" indent="0" marL="0">
              <a:buNone/>
            </a:pPr>
            <a:r>
              <a:rPr lang="en-US" sz="700" dirty="0">
                <a:solidFill>
                  <a:srgbClr val="D9512C"/>
                </a:solidFill>
                <a:latin typeface="Calibri" pitchFamily="34" charset="0"/>
                <a:ea typeface="Calibri" pitchFamily="34" charset="-122"/>
                <a:cs typeface="Calibri" pitchFamily="34" charset="-120"/>
              </a:rPr>
              <a:t>16</a:t>
            </a:r>
            <a:endParaRPr lang="en-US" sz="700" dirty="0"/>
          </a:p>
        </p:txBody>
      </p:sp>
      <p:sp>
        <p:nvSpPr>
          <p:cNvPr id="43" name="Shape 41"/>
          <p:cNvSpPr/>
          <p:nvPr/>
        </p:nvSpPr>
        <p:spPr>
          <a:xfrm>
            <a:off x="3443478" y="2428605"/>
            <a:ext cx="279654" cy="113427"/>
          </a:xfrm>
          <a:prstGeom prst="rect">
            <a:avLst/>
          </a:prstGeom>
          <a:solidFill>
            <a:srgbClr val="D9512C">
              <a:alpha val="85000"/>
            </a:srgbClr>
          </a:solidFill>
          <a:ln w="12700">
            <a:solidFill>
              <a:srgbClr val="333333"/>
            </a:solidFill>
            <a:prstDash val="solid"/>
          </a:ln>
        </p:spPr>
      </p:sp>
      <p:sp>
        <p:nvSpPr>
          <p:cNvPr id="44" name="Text 42"/>
          <p:cNvSpPr txBox="1"/>
          <p:nvPr/>
        </p:nvSpPr>
        <p:spPr>
          <a:xfrm>
            <a:off x="3333750" y="2245725"/>
            <a:ext cx="499110" cy="164592"/>
          </a:xfrm>
          <a:prstGeom prst="rect">
            <a:avLst/>
          </a:prstGeom>
          <a:noFill/>
          <a:ln/>
        </p:spPr>
        <p:txBody>
          <a:bodyPr wrap="square" lIns="0" tIns="0" rIns="0" bIns="0" rtlCol="0" anchor="ctr"/>
          <a:lstStyle/>
          <a:p>
            <a:pPr algn="ctr" indent="0" marL="0">
              <a:buNone/>
            </a:pPr>
            <a:r>
              <a:rPr lang="en-US" sz="700" dirty="0">
                <a:solidFill>
                  <a:srgbClr val="D9512C"/>
                </a:solidFill>
                <a:latin typeface="Calibri" pitchFamily="34" charset="0"/>
                <a:ea typeface="Calibri" pitchFamily="34" charset="-122"/>
                <a:cs typeface="Calibri" pitchFamily="34" charset="-120"/>
              </a:rPr>
              <a:t>23</a:t>
            </a:r>
            <a:endParaRPr lang="en-US" sz="700" dirty="0"/>
          </a:p>
        </p:txBody>
      </p:sp>
      <p:sp>
        <p:nvSpPr>
          <p:cNvPr id="45" name="Shape 43"/>
          <p:cNvSpPr/>
          <p:nvPr/>
        </p:nvSpPr>
        <p:spPr>
          <a:xfrm>
            <a:off x="3759708" y="2384221"/>
            <a:ext cx="279654" cy="157811"/>
          </a:xfrm>
          <a:prstGeom prst="rect">
            <a:avLst/>
          </a:prstGeom>
          <a:solidFill>
            <a:srgbClr val="D9512C">
              <a:alpha val="85000"/>
            </a:srgbClr>
          </a:solidFill>
          <a:ln w="12700">
            <a:solidFill>
              <a:srgbClr val="333333"/>
            </a:solidFill>
            <a:prstDash val="solid"/>
          </a:ln>
        </p:spPr>
      </p:sp>
      <p:sp>
        <p:nvSpPr>
          <p:cNvPr id="46" name="Text 44"/>
          <p:cNvSpPr txBox="1"/>
          <p:nvPr/>
        </p:nvSpPr>
        <p:spPr>
          <a:xfrm>
            <a:off x="3649980" y="2201341"/>
            <a:ext cx="499110" cy="164592"/>
          </a:xfrm>
          <a:prstGeom prst="rect">
            <a:avLst/>
          </a:prstGeom>
          <a:noFill/>
          <a:ln/>
        </p:spPr>
        <p:txBody>
          <a:bodyPr wrap="square" lIns="0" tIns="0" rIns="0" bIns="0" rtlCol="0" anchor="ctr"/>
          <a:lstStyle/>
          <a:p>
            <a:pPr algn="ctr" indent="0" marL="0">
              <a:buNone/>
            </a:pPr>
            <a:r>
              <a:rPr lang="en-US" sz="700" dirty="0">
                <a:solidFill>
                  <a:srgbClr val="D9512C"/>
                </a:solidFill>
                <a:latin typeface="Calibri" pitchFamily="34" charset="0"/>
                <a:ea typeface="Calibri" pitchFamily="34" charset="-122"/>
                <a:cs typeface="Calibri" pitchFamily="34" charset="-120"/>
              </a:rPr>
              <a:t>32</a:t>
            </a:r>
            <a:endParaRPr lang="en-US" sz="700" dirty="0"/>
          </a:p>
        </p:txBody>
      </p:sp>
      <p:sp>
        <p:nvSpPr>
          <p:cNvPr id="47" name="Shape 45"/>
          <p:cNvSpPr/>
          <p:nvPr/>
        </p:nvSpPr>
        <p:spPr>
          <a:xfrm>
            <a:off x="4075938" y="2334905"/>
            <a:ext cx="279654" cy="207127"/>
          </a:xfrm>
          <a:prstGeom prst="rect">
            <a:avLst/>
          </a:prstGeom>
          <a:solidFill>
            <a:srgbClr val="D9512C">
              <a:alpha val="85000"/>
            </a:srgbClr>
          </a:solidFill>
          <a:ln w="12700">
            <a:solidFill>
              <a:srgbClr val="333333"/>
            </a:solidFill>
            <a:prstDash val="solid"/>
          </a:ln>
        </p:spPr>
      </p:sp>
      <p:sp>
        <p:nvSpPr>
          <p:cNvPr id="48" name="Text 46"/>
          <p:cNvSpPr txBox="1"/>
          <p:nvPr/>
        </p:nvSpPr>
        <p:spPr>
          <a:xfrm>
            <a:off x="3966210" y="2152025"/>
            <a:ext cx="499110" cy="164592"/>
          </a:xfrm>
          <a:prstGeom prst="rect">
            <a:avLst/>
          </a:prstGeom>
          <a:noFill/>
          <a:ln/>
        </p:spPr>
        <p:txBody>
          <a:bodyPr wrap="square" lIns="0" tIns="0" rIns="0" bIns="0" rtlCol="0" anchor="ctr"/>
          <a:lstStyle/>
          <a:p>
            <a:pPr algn="ctr" indent="0" marL="0">
              <a:buNone/>
            </a:pPr>
            <a:r>
              <a:rPr lang="en-US" sz="700" dirty="0">
                <a:solidFill>
                  <a:srgbClr val="D9512C"/>
                </a:solidFill>
                <a:latin typeface="Calibri" pitchFamily="34" charset="0"/>
                <a:ea typeface="Calibri" pitchFamily="34" charset="-122"/>
                <a:cs typeface="Calibri" pitchFamily="34" charset="-120"/>
              </a:rPr>
              <a:t>42</a:t>
            </a:r>
            <a:endParaRPr lang="en-US" sz="700" dirty="0"/>
          </a:p>
        </p:txBody>
      </p:sp>
      <p:sp>
        <p:nvSpPr>
          <p:cNvPr id="49" name="Shape 47"/>
          <p:cNvSpPr/>
          <p:nvPr/>
        </p:nvSpPr>
        <p:spPr>
          <a:xfrm>
            <a:off x="4392168" y="2280657"/>
            <a:ext cx="279654" cy="261375"/>
          </a:xfrm>
          <a:prstGeom prst="rect">
            <a:avLst/>
          </a:prstGeom>
          <a:solidFill>
            <a:srgbClr val="D9512C">
              <a:alpha val="85000"/>
            </a:srgbClr>
          </a:solidFill>
          <a:ln w="12700">
            <a:solidFill>
              <a:srgbClr val="333333"/>
            </a:solidFill>
            <a:prstDash val="solid"/>
          </a:ln>
        </p:spPr>
      </p:sp>
      <p:sp>
        <p:nvSpPr>
          <p:cNvPr id="50" name="Text 48"/>
          <p:cNvSpPr txBox="1"/>
          <p:nvPr/>
        </p:nvSpPr>
        <p:spPr>
          <a:xfrm>
            <a:off x="4282440" y="2097777"/>
            <a:ext cx="499110" cy="164592"/>
          </a:xfrm>
          <a:prstGeom prst="rect">
            <a:avLst/>
          </a:prstGeom>
          <a:noFill/>
          <a:ln/>
        </p:spPr>
        <p:txBody>
          <a:bodyPr wrap="square" lIns="0" tIns="0" rIns="0" bIns="0" rtlCol="0" anchor="ctr"/>
          <a:lstStyle/>
          <a:p>
            <a:pPr algn="ctr" indent="0" marL="0">
              <a:buNone/>
            </a:pPr>
            <a:r>
              <a:rPr lang="en-US" sz="700" dirty="0">
                <a:solidFill>
                  <a:srgbClr val="D9512C"/>
                </a:solidFill>
                <a:latin typeface="Calibri" pitchFamily="34" charset="0"/>
                <a:ea typeface="Calibri" pitchFamily="34" charset="-122"/>
                <a:cs typeface="Calibri" pitchFamily="34" charset="-120"/>
              </a:rPr>
              <a:t>53</a:t>
            </a:r>
            <a:endParaRPr lang="en-US" sz="700" dirty="0"/>
          </a:p>
        </p:txBody>
      </p:sp>
      <p:sp>
        <p:nvSpPr>
          <p:cNvPr id="51" name="Shape 49"/>
          <p:cNvSpPr/>
          <p:nvPr/>
        </p:nvSpPr>
        <p:spPr>
          <a:xfrm>
            <a:off x="4708398" y="2216547"/>
            <a:ext cx="279654" cy="325485"/>
          </a:xfrm>
          <a:prstGeom prst="rect">
            <a:avLst/>
          </a:prstGeom>
          <a:solidFill>
            <a:srgbClr val="D9512C">
              <a:alpha val="85000"/>
            </a:srgbClr>
          </a:solidFill>
          <a:ln w="12700">
            <a:solidFill>
              <a:srgbClr val="333333"/>
            </a:solidFill>
            <a:prstDash val="solid"/>
          </a:ln>
        </p:spPr>
      </p:sp>
      <p:sp>
        <p:nvSpPr>
          <p:cNvPr id="52" name="Text 50"/>
          <p:cNvSpPr txBox="1"/>
          <p:nvPr/>
        </p:nvSpPr>
        <p:spPr>
          <a:xfrm>
            <a:off x="4598670" y="2033667"/>
            <a:ext cx="499110" cy="164592"/>
          </a:xfrm>
          <a:prstGeom prst="rect">
            <a:avLst/>
          </a:prstGeom>
          <a:noFill/>
          <a:ln/>
        </p:spPr>
        <p:txBody>
          <a:bodyPr wrap="square" lIns="0" tIns="0" rIns="0" bIns="0" rtlCol="0" anchor="ctr"/>
          <a:lstStyle/>
          <a:p>
            <a:pPr algn="ctr" indent="0" marL="0">
              <a:buNone/>
            </a:pPr>
            <a:r>
              <a:rPr lang="en-US" sz="700" dirty="0">
                <a:solidFill>
                  <a:srgbClr val="D9512C"/>
                </a:solidFill>
                <a:latin typeface="Calibri" pitchFamily="34" charset="0"/>
                <a:ea typeface="Calibri" pitchFamily="34" charset="-122"/>
                <a:cs typeface="Calibri" pitchFamily="34" charset="-120"/>
              </a:rPr>
              <a:t>66</a:t>
            </a:r>
            <a:endParaRPr lang="en-US" sz="700" dirty="0"/>
          </a:p>
        </p:txBody>
      </p:sp>
      <p:sp>
        <p:nvSpPr>
          <p:cNvPr id="53" name="Shape 51"/>
          <p:cNvSpPr/>
          <p:nvPr/>
        </p:nvSpPr>
        <p:spPr>
          <a:xfrm>
            <a:off x="5024628" y="2514600"/>
            <a:ext cx="279654" cy="27432"/>
          </a:xfrm>
          <a:prstGeom prst="rect">
            <a:avLst/>
          </a:prstGeom>
          <a:solidFill>
            <a:srgbClr val="B8C4D3">
              <a:alpha val="60000"/>
            </a:srgbClr>
          </a:solidFill>
          <a:ln w="12700">
            <a:solidFill>
              <a:srgbClr val="333333"/>
            </a:solidFill>
            <a:prstDash val="solid"/>
          </a:ln>
        </p:spPr>
      </p:sp>
      <p:sp>
        <p:nvSpPr>
          <p:cNvPr id="54" name="Shape 52"/>
          <p:cNvSpPr/>
          <p:nvPr/>
        </p:nvSpPr>
        <p:spPr>
          <a:xfrm>
            <a:off x="5340858" y="2514600"/>
            <a:ext cx="279654" cy="27432"/>
          </a:xfrm>
          <a:prstGeom prst="rect">
            <a:avLst/>
          </a:prstGeom>
          <a:solidFill>
            <a:srgbClr val="B8C4D3">
              <a:alpha val="60000"/>
            </a:srgbClr>
          </a:solidFill>
          <a:ln w="12700">
            <a:solidFill>
              <a:srgbClr val="333333"/>
            </a:solidFill>
            <a:prstDash val="solid"/>
          </a:ln>
        </p:spPr>
      </p:sp>
      <p:sp>
        <p:nvSpPr>
          <p:cNvPr id="55" name="Shape 53"/>
          <p:cNvSpPr/>
          <p:nvPr/>
        </p:nvSpPr>
        <p:spPr>
          <a:xfrm>
            <a:off x="5657088" y="2514600"/>
            <a:ext cx="279654" cy="27432"/>
          </a:xfrm>
          <a:prstGeom prst="rect">
            <a:avLst/>
          </a:prstGeom>
          <a:solidFill>
            <a:srgbClr val="B8C4D3">
              <a:alpha val="60000"/>
            </a:srgbClr>
          </a:solidFill>
          <a:ln w="12700">
            <a:solidFill>
              <a:srgbClr val="333333"/>
            </a:solidFill>
            <a:prstDash val="solid"/>
          </a:ln>
        </p:spPr>
      </p:sp>
      <p:sp>
        <p:nvSpPr>
          <p:cNvPr id="56" name="Shape 54"/>
          <p:cNvSpPr/>
          <p:nvPr/>
        </p:nvSpPr>
        <p:spPr>
          <a:xfrm>
            <a:off x="5973318" y="2514600"/>
            <a:ext cx="279654" cy="27432"/>
          </a:xfrm>
          <a:prstGeom prst="rect">
            <a:avLst/>
          </a:prstGeom>
          <a:solidFill>
            <a:srgbClr val="B8C4D3">
              <a:alpha val="60000"/>
            </a:srgbClr>
          </a:solidFill>
          <a:ln w="12700">
            <a:solidFill>
              <a:srgbClr val="333333"/>
            </a:solidFill>
            <a:prstDash val="solid"/>
          </a:ln>
        </p:spPr>
      </p:sp>
      <p:sp>
        <p:nvSpPr>
          <p:cNvPr id="57" name="Shape 55"/>
          <p:cNvSpPr/>
          <p:nvPr/>
        </p:nvSpPr>
        <p:spPr>
          <a:xfrm>
            <a:off x="6289548" y="2514600"/>
            <a:ext cx="279654" cy="27432"/>
          </a:xfrm>
          <a:prstGeom prst="rect">
            <a:avLst/>
          </a:prstGeom>
          <a:solidFill>
            <a:srgbClr val="B8C4D3">
              <a:alpha val="60000"/>
            </a:srgbClr>
          </a:solidFill>
          <a:ln w="12700">
            <a:solidFill>
              <a:srgbClr val="333333"/>
            </a:solidFill>
            <a:prstDash val="solid"/>
          </a:ln>
        </p:spPr>
      </p:sp>
      <p:sp>
        <p:nvSpPr>
          <p:cNvPr id="58" name="Shape 56"/>
          <p:cNvSpPr/>
          <p:nvPr/>
        </p:nvSpPr>
        <p:spPr>
          <a:xfrm>
            <a:off x="6605778" y="2514600"/>
            <a:ext cx="279654" cy="27432"/>
          </a:xfrm>
          <a:prstGeom prst="rect">
            <a:avLst/>
          </a:prstGeom>
          <a:solidFill>
            <a:srgbClr val="B8C4D3">
              <a:alpha val="60000"/>
            </a:srgbClr>
          </a:solidFill>
          <a:ln w="12700">
            <a:solidFill>
              <a:srgbClr val="333333"/>
            </a:solidFill>
            <a:prstDash val="solid"/>
          </a:ln>
        </p:spPr>
      </p:sp>
      <p:sp>
        <p:nvSpPr>
          <p:cNvPr id="59" name="Shape 57"/>
          <p:cNvSpPr/>
          <p:nvPr/>
        </p:nvSpPr>
        <p:spPr>
          <a:xfrm>
            <a:off x="6922008" y="2514600"/>
            <a:ext cx="279654" cy="27432"/>
          </a:xfrm>
          <a:prstGeom prst="rect">
            <a:avLst/>
          </a:prstGeom>
          <a:solidFill>
            <a:srgbClr val="B8C4D3">
              <a:alpha val="60000"/>
            </a:srgbClr>
          </a:solidFill>
          <a:ln w="12700">
            <a:solidFill>
              <a:srgbClr val="333333"/>
            </a:solidFill>
            <a:prstDash val="solid"/>
          </a:ln>
        </p:spPr>
      </p:sp>
      <p:sp>
        <p:nvSpPr>
          <p:cNvPr id="60" name="Shape 58"/>
          <p:cNvSpPr/>
          <p:nvPr/>
        </p:nvSpPr>
        <p:spPr>
          <a:xfrm>
            <a:off x="7238238" y="2514600"/>
            <a:ext cx="279654" cy="27432"/>
          </a:xfrm>
          <a:prstGeom prst="rect">
            <a:avLst/>
          </a:prstGeom>
          <a:solidFill>
            <a:srgbClr val="B8C4D3">
              <a:alpha val="60000"/>
            </a:srgbClr>
          </a:solidFill>
          <a:ln w="12700">
            <a:solidFill>
              <a:srgbClr val="333333"/>
            </a:solidFill>
            <a:prstDash val="solid"/>
          </a:ln>
        </p:spPr>
      </p:sp>
      <p:sp>
        <p:nvSpPr>
          <p:cNvPr id="61" name="Shape 59"/>
          <p:cNvSpPr/>
          <p:nvPr/>
        </p:nvSpPr>
        <p:spPr>
          <a:xfrm>
            <a:off x="7554468" y="2514600"/>
            <a:ext cx="279654" cy="27432"/>
          </a:xfrm>
          <a:prstGeom prst="rect">
            <a:avLst/>
          </a:prstGeom>
          <a:solidFill>
            <a:srgbClr val="B8C4D3">
              <a:alpha val="60000"/>
            </a:srgbClr>
          </a:solidFill>
          <a:ln w="12700">
            <a:solidFill>
              <a:srgbClr val="333333"/>
            </a:solidFill>
            <a:prstDash val="solid"/>
          </a:ln>
        </p:spPr>
      </p:sp>
      <p:sp>
        <p:nvSpPr>
          <p:cNvPr id="62" name="Shape 60"/>
          <p:cNvSpPr/>
          <p:nvPr/>
        </p:nvSpPr>
        <p:spPr>
          <a:xfrm>
            <a:off x="7870698" y="2514600"/>
            <a:ext cx="279654" cy="27432"/>
          </a:xfrm>
          <a:prstGeom prst="rect">
            <a:avLst/>
          </a:prstGeom>
          <a:solidFill>
            <a:srgbClr val="B8C4D3">
              <a:alpha val="60000"/>
            </a:srgbClr>
          </a:solidFill>
          <a:ln w="12700">
            <a:solidFill>
              <a:srgbClr val="333333"/>
            </a:solidFill>
            <a:prstDash val="solid"/>
          </a:ln>
        </p:spPr>
      </p:sp>
      <p:sp>
        <p:nvSpPr>
          <p:cNvPr id="63" name="Shape 61"/>
          <p:cNvSpPr/>
          <p:nvPr/>
        </p:nvSpPr>
        <p:spPr>
          <a:xfrm>
            <a:off x="8186928" y="2514600"/>
            <a:ext cx="279654" cy="27432"/>
          </a:xfrm>
          <a:prstGeom prst="rect">
            <a:avLst/>
          </a:prstGeom>
          <a:solidFill>
            <a:srgbClr val="B8C4D3">
              <a:alpha val="60000"/>
            </a:srgbClr>
          </a:solidFill>
          <a:ln w="12700">
            <a:solidFill>
              <a:srgbClr val="333333"/>
            </a:solidFill>
            <a:prstDash val="solid"/>
          </a:ln>
        </p:spPr>
      </p:sp>
      <p:sp>
        <p:nvSpPr>
          <p:cNvPr id="64" name="Shape 62"/>
          <p:cNvSpPr/>
          <p:nvPr/>
        </p:nvSpPr>
        <p:spPr>
          <a:xfrm>
            <a:off x="8503158" y="2514600"/>
            <a:ext cx="279654" cy="27432"/>
          </a:xfrm>
          <a:prstGeom prst="rect">
            <a:avLst/>
          </a:prstGeom>
          <a:solidFill>
            <a:srgbClr val="B8C4D3">
              <a:alpha val="60000"/>
            </a:srgbClr>
          </a:solidFill>
          <a:ln w="12700">
            <a:solidFill>
              <a:srgbClr val="333333"/>
            </a:solidFill>
            <a:prstDash val="solid"/>
          </a:ln>
        </p:spPr>
      </p:sp>
      <p:sp>
        <p:nvSpPr>
          <p:cNvPr id="65" name="Shape 63"/>
          <p:cNvSpPr/>
          <p:nvPr/>
        </p:nvSpPr>
        <p:spPr>
          <a:xfrm>
            <a:off x="8819388" y="2514600"/>
            <a:ext cx="279654" cy="27432"/>
          </a:xfrm>
          <a:prstGeom prst="rect">
            <a:avLst/>
          </a:prstGeom>
          <a:solidFill>
            <a:srgbClr val="B8C4D3">
              <a:alpha val="60000"/>
            </a:srgbClr>
          </a:solidFill>
          <a:ln w="12700">
            <a:solidFill>
              <a:srgbClr val="333333"/>
            </a:solidFill>
            <a:prstDash val="solid"/>
          </a:ln>
        </p:spPr>
      </p:sp>
      <p:sp>
        <p:nvSpPr>
          <p:cNvPr id="66" name="Shape 64"/>
          <p:cNvSpPr/>
          <p:nvPr/>
        </p:nvSpPr>
        <p:spPr>
          <a:xfrm>
            <a:off x="9135618" y="2514600"/>
            <a:ext cx="279654" cy="27432"/>
          </a:xfrm>
          <a:prstGeom prst="rect">
            <a:avLst/>
          </a:prstGeom>
          <a:solidFill>
            <a:srgbClr val="B8C4D3">
              <a:alpha val="60000"/>
            </a:srgbClr>
          </a:solidFill>
          <a:ln w="12700">
            <a:solidFill>
              <a:srgbClr val="333333"/>
            </a:solidFill>
            <a:prstDash val="solid"/>
          </a:ln>
        </p:spPr>
      </p:sp>
      <p:sp>
        <p:nvSpPr>
          <p:cNvPr id="67" name="Shape 65"/>
          <p:cNvSpPr/>
          <p:nvPr/>
        </p:nvSpPr>
        <p:spPr>
          <a:xfrm>
            <a:off x="9451848" y="2514600"/>
            <a:ext cx="279654" cy="27432"/>
          </a:xfrm>
          <a:prstGeom prst="rect">
            <a:avLst/>
          </a:prstGeom>
          <a:solidFill>
            <a:srgbClr val="B8C4D3">
              <a:alpha val="60000"/>
            </a:srgbClr>
          </a:solidFill>
          <a:ln w="12700">
            <a:solidFill>
              <a:srgbClr val="333333"/>
            </a:solidFill>
            <a:prstDash val="solid"/>
          </a:ln>
        </p:spPr>
      </p:sp>
      <p:sp>
        <p:nvSpPr>
          <p:cNvPr id="68" name="Shape 66"/>
          <p:cNvSpPr/>
          <p:nvPr/>
        </p:nvSpPr>
        <p:spPr>
          <a:xfrm>
            <a:off x="9768078" y="2514600"/>
            <a:ext cx="279654" cy="27432"/>
          </a:xfrm>
          <a:prstGeom prst="rect">
            <a:avLst/>
          </a:prstGeom>
          <a:solidFill>
            <a:srgbClr val="B8C4D3">
              <a:alpha val="60000"/>
            </a:srgbClr>
          </a:solidFill>
          <a:ln w="12700">
            <a:solidFill>
              <a:srgbClr val="333333"/>
            </a:solidFill>
            <a:prstDash val="solid"/>
          </a:ln>
        </p:spPr>
      </p:sp>
      <p:sp>
        <p:nvSpPr>
          <p:cNvPr id="69" name="Shape 67"/>
          <p:cNvSpPr/>
          <p:nvPr/>
        </p:nvSpPr>
        <p:spPr>
          <a:xfrm>
            <a:off x="10084308" y="2514600"/>
            <a:ext cx="279654" cy="27432"/>
          </a:xfrm>
          <a:prstGeom prst="rect">
            <a:avLst/>
          </a:prstGeom>
          <a:solidFill>
            <a:srgbClr val="B8C4D3">
              <a:alpha val="60000"/>
            </a:srgbClr>
          </a:solidFill>
          <a:ln w="12700">
            <a:solidFill>
              <a:srgbClr val="333333"/>
            </a:solidFill>
            <a:prstDash val="solid"/>
          </a:ln>
        </p:spPr>
      </p:sp>
      <p:sp>
        <p:nvSpPr>
          <p:cNvPr id="70" name="Shape 68"/>
          <p:cNvSpPr/>
          <p:nvPr/>
        </p:nvSpPr>
        <p:spPr>
          <a:xfrm>
            <a:off x="10400538" y="2514600"/>
            <a:ext cx="279654" cy="27432"/>
          </a:xfrm>
          <a:prstGeom prst="rect">
            <a:avLst/>
          </a:prstGeom>
          <a:solidFill>
            <a:srgbClr val="B8C4D3">
              <a:alpha val="60000"/>
            </a:srgbClr>
          </a:solidFill>
          <a:ln w="12700">
            <a:solidFill>
              <a:srgbClr val="333333"/>
            </a:solidFill>
            <a:prstDash val="solid"/>
          </a:ln>
        </p:spPr>
      </p:sp>
      <p:sp>
        <p:nvSpPr>
          <p:cNvPr id="71" name="Shape 69"/>
          <p:cNvSpPr/>
          <p:nvPr/>
        </p:nvSpPr>
        <p:spPr>
          <a:xfrm>
            <a:off x="3108960" y="2542032"/>
            <a:ext cx="7589520" cy="0"/>
          </a:xfrm>
          <a:prstGeom prst="line">
            <a:avLst/>
          </a:prstGeom>
          <a:noFill/>
          <a:ln w="6350">
            <a:solidFill>
              <a:srgbClr val="B8C4D3"/>
            </a:solidFill>
            <a:prstDash val="solid"/>
          </a:ln>
        </p:spPr>
      </p:sp>
      <p:sp>
        <p:nvSpPr>
          <p:cNvPr id="72" name="Text 70"/>
          <p:cNvSpPr txBox="1"/>
          <p:nvPr/>
        </p:nvSpPr>
        <p:spPr>
          <a:xfrm>
            <a:off x="548640" y="2651760"/>
            <a:ext cx="2468880" cy="438912"/>
          </a:xfrm>
          <a:prstGeom prst="rect">
            <a:avLst/>
          </a:prstGeom>
          <a:noFill/>
          <a:ln/>
        </p:spPr>
        <p:txBody>
          <a:bodyPr wrap="square" lIns="0" tIns="0" rIns="0" bIns="0" rtlCol="0" anchor="ctr"/>
          <a:lstStyle/>
          <a:p>
            <a:pPr indent="0" marL="0">
              <a:buNone/>
            </a:pPr>
            <a:r>
              <a:rPr lang="en-US" sz="900" b="1" dirty="0">
                <a:solidFill>
                  <a:srgbClr val="3B6FD4"/>
                </a:solidFill>
                <a:latin typeface="Calibri" pitchFamily="34" charset="0"/>
                <a:ea typeface="Calibri" pitchFamily="34" charset="-122"/>
                <a:cs typeface="Calibri" pitchFamily="34" charset="-120"/>
              </a:rPr>
              <a:t>Ocean surface T (mixed layer)</a:t>
            </a:r>
            <a:endParaRPr lang="en-US" sz="900" dirty="0"/>
          </a:p>
          <a:p>
            <a:pPr indent="0" marL="0">
              <a:buNone/>
            </a:pPr>
            <a:r>
              <a:rPr lang="en-US" sz="800" dirty="0">
                <a:solidFill>
                  <a:srgbClr val="1B2430"/>
                </a:solidFill>
                <a:latin typeface="Calibri" pitchFamily="34" charset="0"/>
                <a:ea typeface="Calibri" pitchFamily="34" charset="-122"/>
                <a:cs typeface="Calibri" pitchFamily="34" charset="-120"/>
              </a:rPr>
              <a:t>157 slot-lags · 93 % saved</a:t>
            </a:r>
            <a:endParaRPr lang="en-US" sz="900" dirty="0"/>
          </a:p>
        </p:txBody>
      </p:sp>
      <p:sp>
        <p:nvSpPr>
          <p:cNvPr id="73" name="Shape 71"/>
          <p:cNvSpPr/>
          <p:nvPr/>
        </p:nvSpPr>
        <p:spPr>
          <a:xfrm>
            <a:off x="3127248" y="3035808"/>
            <a:ext cx="279654" cy="54864"/>
          </a:xfrm>
          <a:prstGeom prst="rect">
            <a:avLst/>
          </a:prstGeom>
          <a:solidFill>
            <a:srgbClr val="3B6FD4">
              <a:alpha val="85000"/>
            </a:srgbClr>
          </a:solidFill>
          <a:ln w="12700">
            <a:solidFill>
              <a:srgbClr val="333333"/>
            </a:solidFill>
            <a:prstDash val="solid"/>
          </a:ln>
        </p:spPr>
      </p:sp>
      <p:sp>
        <p:nvSpPr>
          <p:cNvPr id="74" name="Text 72"/>
          <p:cNvSpPr txBox="1"/>
          <p:nvPr/>
        </p:nvSpPr>
        <p:spPr>
          <a:xfrm>
            <a:off x="3017520" y="2852928"/>
            <a:ext cx="499110" cy="164592"/>
          </a:xfrm>
          <a:prstGeom prst="rect">
            <a:avLst/>
          </a:prstGeom>
          <a:noFill/>
          <a:ln/>
        </p:spPr>
        <p:txBody>
          <a:bodyPr wrap="square" lIns="0" tIns="0" rIns="0" bIns="0" rtlCol="0" anchor="ctr"/>
          <a:lstStyle/>
          <a:p>
            <a:pPr algn="ctr" indent="0" marL="0">
              <a:buNone/>
            </a:pPr>
            <a:r>
              <a:rPr lang="en-US" sz="700" dirty="0">
                <a:solidFill>
                  <a:srgbClr val="3B6FD4"/>
                </a:solidFill>
                <a:latin typeface="Calibri" pitchFamily="34" charset="0"/>
                <a:ea typeface="Calibri" pitchFamily="34" charset="-122"/>
                <a:cs typeface="Calibri" pitchFamily="34" charset="-120"/>
              </a:rPr>
              <a:t>9</a:t>
            </a:r>
            <a:endParaRPr lang="en-US" sz="700" dirty="0"/>
          </a:p>
        </p:txBody>
      </p:sp>
      <p:sp>
        <p:nvSpPr>
          <p:cNvPr id="75" name="Shape 73"/>
          <p:cNvSpPr/>
          <p:nvPr/>
        </p:nvSpPr>
        <p:spPr>
          <a:xfrm>
            <a:off x="3443478" y="3035808"/>
            <a:ext cx="279654" cy="54864"/>
          </a:xfrm>
          <a:prstGeom prst="rect">
            <a:avLst/>
          </a:prstGeom>
          <a:solidFill>
            <a:srgbClr val="3B6FD4">
              <a:alpha val="85000"/>
            </a:srgbClr>
          </a:solidFill>
          <a:ln w="12700">
            <a:solidFill>
              <a:srgbClr val="333333"/>
            </a:solidFill>
            <a:prstDash val="solid"/>
          </a:ln>
        </p:spPr>
      </p:sp>
      <p:sp>
        <p:nvSpPr>
          <p:cNvPr id="76" name="Shape 74"/>
          <p:cNvSpPr/>
          <p:nvPr/>
        </p:nvSpPr>
        <p:spPr>
          <a:xfrm>
            <a:off x="3759708" y="3035808"/>
            <a:ext cx="279654" cy="54864"/>
          </a:xfrm>
          <a:prstGeom prst="rect">
            <a:avLst/>
          </a:prstGeom>
          <a:solidFill>
            <a:srgbClr val="3B6FD4">
              <a:alpha val="85000"/>
            </a:srgbClr>
          </a:solidFill>
          <a:ln w="12700">
            <a:solidFill>
              <a:srgbClr val="333333"/>
            </a:solidFill>
            <a:prstDash val="solid"/>
          </a:ln>
        </p:spPr>
      </p:sp>
      <p:sp>
        <p:nvSpPr>
          <p:cNvPr id="77" name="Shape 75"/>
          <p:cNvSpPr/>
          <p:nvPr/>
        </p:nvSpPr>
        <p:spPr>
          <a:xfrm>
            <a:off x="4075938" y="3035808"/>
            <a:ext cx="279654" cy="54864"/>
          </a:xfrm>
          <a:prstGeom prst="rect">
            <a:avLst/>
          </a:prstGeom>
          <a:solidFill>
            <a:srgbClr val="3B6FD4">
              <a:alpha val="85000"/>
            </a:srgbClr>
          </a:solidFill>
          <a:ln w="12700">
            <a:solidFill>
              <a:srgbClr val="333333"/>
            </a:solidFill>
            <a:prstDash val="solid"/>
          </a:ln>
        </p:spPr>
      </p:sp>
      <p:sp>
        <p:nvSpPr>
          <p:cNvPr id="78" name="Text 76"/>
          <p:cNvSpPr txBox="1"/>
          <p:nvPr/>
        </p:nvSpPr>
        <p:spPr>
          <a:xfrm>
            <a:off x="3966210" y="2852928"/>
            <a:ext cx="499110" cy="164592"/>
          </a:xfrm>
          <a:prstGeom prst="rect">
            <a:avLst/>
          </a:prstGeom>
          <a:noFill/>
          <a:ln/>
        </p:spPr>
        <p:txBody>
          <a:bodyPr wrap="square" lIns="0" tIns="0" rIns="0" bIns="0" rtlCol="0" anchor="ctr"/>
          <a:lstStyle/>
          <a:p>
            <a:pPr algn="ctr" indent="0" marL="0">
              <a:buNone/>
            </a:pPr>
            <a:r>
              <a:rPr lang="en-US" sz="700" dirty="0">
                <a:solidFill>
                  <a:srgbClr val="3B6FD4"/>
                </a:solidFill>
                <a:latin typeface="Calibri" pitchFamily="34" charset="0"/>
                <a:ea typeface="Calibri" pitchFamily="34" charset="-122"/>
                <a:cs typeface="Calibri" pitchFamily="34" charset="-120"/>
              </a:rPr>
              <a:t>11</a:t>
            </a:r>
            <a:endParaRPr lang="en-US" sz="700" dirty="0"/>
          </a:p>
        </p:txBody>
      </p:sp>
      <p:sp>
        <p:nvSpPr>
          <p:cNvPr id="79" name="Shape 77"/>
          <p:cNvSpPr/>
          <p:nvPr/>
        </p:nvSpPr>
        <p:spPr>
          <a:xfrm>
            <a:off x="4392168" y="3006835"/>
            <a:ext cx="279654" cy="83837"/>
          </a:xfrm>
          <a:prstGeom prst="rect">
            <a:avLst/>
          </a:prstGeom>
          <a:solidFill>
            <a:srgbClr val="3B6FD4">
              <a:alpha val="85000"/>
            </a:srgbClr>
          </a:solidFill>
          <a:ln w="12700">
            <a:solidFill>
              <a:srgbClr val="333333"/>
            </a:solidFill>
            <a:prstDash val="solid"/>
          </a:ln>
        </p:spPr>
      </p:sp>
      <p:sp>
        <p:nvSpPr>
          <p:cNvPr id="80" name="Text 78"/>
          <p:cNvSpPr txBox="1"/>
          <p:nvPr/>
        </p:nvSpPr>
        <p:spPr>
          <a:xfrm>
            <a:off x="4282440" y="2823955"/>
            <a:ext cx="499110" cy="164592"/>
          </a:xfrm>
          <a:prstGeom prst="rect">
            <a:avLst/>
          </a:prstGeom>
          <a:noFill/>
          <a:ln/>
        </p:spPr>
        <p:txBody>
          <a:bodyPr wrap="square" lIns="0" tIns="0" rIns="0" bIns="0" rtlCol="0" anchor="ctr"/>
          <a:lstStyle/>
          <a:p>
            <a:pPr algn="ctr" indent="0" marL="0">
              <a:buNone/>
            </a:pPr>
            <a:r>
              <a:rPr lang="en-US" sz="700" dirty="0">
                <a:solidFill>
                  <a:srgbClr val="3B6FD4"/>
                </a:solidFill>
                <a:latin typeface="Calibri" pitchFamily="34" charset="0"/>
                <a:ea typeface="Calibri" pitchFamily="34" charset="-122"/>
                <a:cs typeface="Calibri" pitchFamily="34" charset="-120"/>
              </a:rPr>
              <a:t>17</a:t>
            </a:r>
            <a:endParaRPr lang="en-US" sz="700" dirty="0"/>
          </a:p>
        </p:txBody>
      </p:sp>
      <p:sp>
        <p:nvSpPr>
          <p:cNvPr id="81" name="Shape 79"/>
          <p:cNvSpPr/>
          <p:nvPr/>
        </p:nvSpPr>
        <p:spPr>
          <a:xfrm>
            <a:off x="4708398" y="2967382"/>
            <a:ext cx="279654" cy="123290"/>
          </a:xfrm>
          <a:prstGeom prst="rect">
            <a:avLst/>
          </a:prstGeom>
          <a:solidFill>
            <a:srgbClr val="3B6FD4">
              <a:alpha val="85000"/>
            </a:srgbClr>
          </a:solidFill>
          <a:ln w="12700">
            <a:solidFill>
              <a:srgbClr val="333333"/>
            </a:solidFill>
            <a:prstDash val="solid"/>
          </a:ln>
        </p:spPr>
      </p:sp>
      <p:sp>
        <p:nvSpPr>
          <p:cNvPr id="82" name="Text 80"/>
          <p:cNvSpPr txBox="1"/>
          <p:nvPr/>
        </p:nvSpPr>
        <p:spPr>
          <a:xfrm>
            <a:off x="4598670" y="2784502"/>
            <a:ext cx="499110" cy="164592"/>
          </a:xfrm>
          <a:prstGeom prst="rect">
            <a:avLst/>
          </a:prstGeom>
          <a:noFill/>
          <a:ln/>
        </p:spPr>
        <p:txBody>
          <a:bodyPr wrap="square" lIns="0" tIns="0" rIns="0" bIns="0" rtlCol="0" anchor="ctr"/>
          <a:lstStyle/>
          <a:p>
            <a:pPr algn="ctr" indent="0" marL="0">
              <a:buNone/>
            </a:pPr>
            <a:r>
              <a:rPr lang="en-US" sz="700" dirty="0">
                <a:solidFill>
                  <a:srgbClr val="3B6FD4"/>
                </a:solidFill>
                <a:latin typeface="Calibri" pitchFamily="34" charset="0"/>
                <a:ea typeface="Calibri" pitchFamily="34" charset="-122"/>
                <a:cs typeface="Calibri" pitchFamily="34" charset="-120"/>
              </a:rPr>
              <a:t>25</a:t>
            </a:r>
            <a:endParaRPr lang="en-US" sz="700" dirty="0"/>
          </a:p>
        </p:txBody>
      </p:sp>
      <p:sp>
        <p:nvSpPr>
          <p:cNvPr id="83" name="Shape 81"/>
          <p:cNvSpPr/>
          <p:nvPr/>
        </p:nvSpPr>
        <p:spPr>
          <a:xfrm>
            <a:off x="5024628" y="2927929"/>
            <a:ext cx="279654" cy="162743"/>
          </a:xfrm>
          <a:prstGeom prst="rect">
            <a:avLst/>
          </a:prstGeom>
          <a:solidFill>
            <a:srgbClr val="3B6FD4">
              <a:alpha val="85000"/>
            </a:srgbClr>
          </a:solidFill>
          <a:ln w="12700">
            <a:solidFill>
              <a:srgbClr val="333333"/>
            </a:solidFill>
            <a:prstDash val="solid"/>
          </a:ln>
        </p:spPr>
      </p:sp>
      <p:sp>
        <p:nvSpPr>
          <p:cNvPr id="84" name="Text 82"/>
          <p:cNvSpPr txBox="1"/>
          <p:nvPr/>
        </p:nvSpPr>
        <p:spPr>
          <a:xfrm>
            <a:off x="4914900" y="2745049"/>
            <a:ext cx="499110" cy="164592"/>
          </a:xfrm>
          <a:prstGeom prst="rect">
            <a:avLst/>
          </a:prstGeom>
          <a:noFill/>
          <a:ln/>
        </p:spPr>
        <p:txBody>
          <a:bodyPr wrap="square" lIns="0" tIns="0" rIns="0" bIns="0" rtlCol="0" anchor="ctr"/>
          <a:lstStyle/>
          <a:p>
            <a:pPr algn="ctr" indent="0" marL="0">
              <a:buNone/>
            </a:pPr>
            <a:r>
              <a:rPr lang="en-US" sz="700" dirty="0">
                <a:solidFill>
                  <a:srgbClr val="3B6FD4"/>
                </a:solidFill>
                <a:latin typeface="Calibri" pitchFamily="34" charset="0"/>
                <a:ea typeface="Calibri" pitchFamily="34" charset="-122"/>
                <a:cs typeface="Calibri" pitchFamily="34" charset="-120"/>
              </a:rPr>
              <a:t>33</a:t>
            </a:r>
            <a:endParaRPr lang="en-US" sz="700" dirty="0"/>
          </a:p>
        </p:txBody>
      </p:sp>
      <p:sp>
        <p:nvSpPr>
          <p:cNvPr id="85" name="Shape 83"/>
          <p:cNvSpPr/>
          <p:nvPr/>
        </p:nvSpPr>
        <p:spPr>
          <a:xfrm>
            <a:off x="5340858" y="2873682"/>
            <a:ext cx="279654" cy="216990"/>
          </a:xfrm>
          <a:prstGeom prst="rect">
            <a:avLst/>
          </a:prstGeom>
          <a:solidFill>
            <a:srgbClr val="3B6FD4">
              <a:alpha val="85000"/>
            </a:srgbClr>
          </a:solidFill>
          <a:ln w="12700">
            <a:solidFill>
              <a:srgbClr val="333333"/>
            </a:solidFill>
            <a:prstDash val="solid"/>
          </a:ln>
        </p:spPr>
      </p:sp>
      <p:sp>
        <p:nvSpPr>
          <p:cNvPr id="86" name="Text 84"/>
          <p:cNvSpPr txBox="1"/>
          <p:nvPr/>
        </p:nvSpPr>
        <p:spPr>
          <a:xfrm>
            <a:off x="5231130" y="2690802"/>
            <a:ext cx="499110" cy="164592"/>
          </a:xfrm>
          <a:prstGeom prst="rect">
            <a:avLst/>
          </a:prstGeom>
          <a:noFill/>
          <a:ln/>
        </p:spPr>
        <p:txBody>
          <a:bodyPr wrap="square" lIns="0" tIns="0" rIns="0" bIns="0" rtlCol="0" anchor="ctr"/>
          <a:lstStyle/>
          <a:p>
            <a:pPr algn="ctr" indent="0" marL="0">
              <a:buNone/>
            </a:pPr>
            <a:r>
              <a:rPr lang="en-US" sz="700" dirty="0">
                <a:solidFill>
                  <a:srgbClr val="3B6FD4"/>
                </a:solidFill>
                <a:latin typeface="Calibri" pitchFamily="34" charset="0"/>
                <a:ea typeface="Calibri" pitchFamily="34" charset="-122"/>
                <a:cs typeface="Calibri" pitchFamily="34" charset="-120"/>
              </a:rPr>
              <a:t>44</a:t>
            </a:r>
            <a:endParaRPr lang="en-US" sz="700" dirty="0"/>
          </a:p>
        </p:txBody>
      </p:sp>
      <p:sp>
        <p:nvSpPr>
          <p:cNvPr id="87" name="Shape 85"/>
          <p:cNvSpPr/>
          <p:nvPr/>
        </p:nvSpPr>
        <p:spPr>
          <a:xfrm>
            <a:off x="5657088" y="3063240"/>
            <a:ext cx="279654" cy="27432"/>
          </a:xfrm>
          <a:prstGeom prst="rect">
            <a:avLst/>
          </a:prstGeom>
          <a:solidFill>
            <a:srgbClr val="B8C4D3">
              <a:alpha val="60000"/>
            </a:srgbClr>
          </a:solidFill>
          <a:ln w="12700">
            <a:solidFill>
              <a:srgbClr val="333333"/>
            </a:solidFill>
            <a:prstDash val="solid"/>
          </a:ln>
        </p:spPr>
      </p:sp>
      <p:sp>
        <p:nvSpPr>
          <p:cNvPr id="88" name="Shape 86"/>
          <p:cNvSpPr/>
          <p:nvPr/>
        </p:nvSpPr>
        <p:spPr>
          <a:xfrm>
            <a:off x="5973318" y="3063240"/>
            <a:ext cx="279654" cy="27432"/>
          </a:xfrm>
          <a:prstGeom prst="rect">
            <a:avLst/>
          </a:prstGeom>
          <a:solidFill>
            <a:srgbClr val="B8C4D3">
              <a:alpha val="60000"/>
            </a:srgbClr>
          </a:solidFill>
          <a:ln w="12700">
            <a:solidFill>
              <a:srgbClr val="333333"/>
            </a:solidFill>
            <a:prstDash val="solid"/>
          </a:ln>
        </p:spPr>
      </p:sp>
      <p:sp>
        <p:nvSpPr>
          <p:cNvPr id="89" name="Shape 87"/>
          <p:cNvSpPr/>
          <p:nvPr/>
        </p:nvSpPr>
        <p:spPr>
          <a:xfrm>
            <a:off x="6289548" y="3063240"/>
            <a:ext cx="279654" cy="27432"/>
          </a:xfrm>
          <a:prstGeom prst="rect">
            <a:avLst/>
          </a:prstGeom>
          <a:solidFill>
            <a:srgbClr val="B8C4D3">
              <a:alpha val="60000"/>
            </a:srgbClr>
          </a:solidFill>
          <a:ln w="12700">
            <a:solidFill>
              <a:srgbClr val="333333"/>
            </a:solidFill>
            <a:prstDash val="solid"/>
          </a:ln>
        </p:spPr>
      </p:sp>
      <p:sp>
        <p:nvSpPr>
          <p:cNvPr id="90" name="Shape 88"/>
          <p:cNvSpPr/>
          <p:nvPr/>
        </p:nvSpPr>
        <p:spPr>
          <a:xfrm>
            <a:off x="6605778" y="3063240"/>
            <a:ext cx="279654" cy="27432"/>
          </a:xfrm>
          <a:prstGeom prst="rect">
            <a:avLst/>
          </a:prstGeom>
          <a:solidFill>
            <a:srgbClr val="B8C4D3">
              <a:alpha val="60000"/>
            </a:srgbClr>
          </a:solidFill>
          <a:ln w="12700">
            <a:solidFill>
              <a:srgbClr val="333333"/>
            </a:solidFill>
            <a:prstDash val="solid"/>
          </a:ln>
        </p:spPr>
      </p:sp>
      <p:sp>
        <p:nvSpPr>
          <p:cNvPr id="91" name="Shape 89"/>
          <p:cNvSpPr/>
          <p:nvPr/>
        </p:nvSpPr>
        <p:spPr>
          <a:xfrm>
            <a:off x="6922008" y="3063240"/>
            <a:ext cx="279654" cy="27432"/>
          </a:xfrm>
          <a:prstGeom prst="rect">
            <a:avLst/>
          </a:prstGeom>
          <a:solidFill>
            <a:srgbClr val="B8C4D3">
              <a:alpha val="60000"/>
            </a:srgbClr>
          </a:solidFill>
          <a:ln w="12700">
            <a:solidFill>
              <a:srgbClr val="333333"/>
            </a:solidFill>
            <a:prstDash val="solid"/>
          </a:ln>
        </p:spPr>
      </p:sp>
      <p:sp>
        <p:nvSpPr>
          <p:cNvPr id="92" name="Shape 90"/>
          <p:cNvSpPr/>
          <p:nvPr/>
        </p:nvSpPr>
        <p:spPr>
          <a:xfrm>
            <a:off x="7238238" y="3063240"/>
            <a:ext cx="279654" cy="27432"/>
          </a:xfrm>
          <a:prstGeom prst="rect">
            <a:avLst/>
          </a:prstGeom>
          <a:solidFill>
            <a:srgbClr val="B8C4D3">
              <a:alpha val="60000"/>
            </a:srgbClr>
          </a:solidFill>
          <a:ln w="12700">
            <a:solidFill>
              <a:srgbClr val="333333"/>
            </a:solidFill>
            <a:prstDash val="solid"/>
          </a:ln>
        </p:spPr>
      </p:sp>
      <p:sp>
        <p:nvSpPr>
          <p:cNvPr id="93" name="Shape 91"/>
          <p:cNvSpPr/>
          <p:nvPr/>
        </p:nvSpPr>
        <p:spPr>
          <a:xfrm>
            <a:off x="7554468" y="3063240"/>
            <a:ext cx="279654" cy="27432"/>
          </a:xfrm>
          <a:prstGeom prst="rect">
            <a:avLst/>
          </a:prstGeom>
          <a:solidFill>
            <a:srgbClr val="B8C4D3">
              <a:alpha val="60000"/>
            </a:srgbClr>
          </a:solidFill>
          <a:ln w="12700">
            <a:solidFill>
              <a:srgbClr val="333333"/>
            </a:solidFill>
            <a:prstDash val="solid"/>
          </a:ln>
        </p:spPr>
      </p:sp>
      <p:sp>
        <p:nvSpPr>
          <p:cNvPr id="94" name="Shape 92"/>
          <p:cNvSpPr/>
          <p:nvPr/>
        </p:nvSpPr>
        <p:spPr>
          <a:xfrm>
            <a:off x="7870698" y="3063240"/>
            <a:ext cx="279654" cy="27432"/>
          </a:xfrm>
          <a:prstGeom prst="rect">
            <a:avLst/>
          </a:prstGeom>
          <a:solidFill>
            <a:srgbClr val="B8C4D3">
              <a:alpha val="60000"/>
            </a:srgbClr>
          </a:solidFill>
          <a:ln w="12700">
            <a:solidFill>
              <a:srgbClr val="333333"/>
            </a:solidFill>
            <a:prstDash val="solid"/>
          </a:ln>
        </p:spPr>
      </p:sp>
      <p:sp>
        <p:nvSpPr>
          <p:cNvPr id="95" name="Shape 93"/>
          <p:cNvSpPr/>
          <p:nvPr/>
        </p:nvSpPr>
        <p:spPr>
          <a:xfrm>
            <a:off x="8186928" y="3063240"/>
            <a:ext cx="279654" cy="27432"/>
          </a:xfrm>
          <a:prstGeom prst="rect">
            <a:avLst/>
          </a:prstGeom>
          <a:solidFill>
            <a:srgbClr val="B8C4D3">
              <a:alpha val="60000"/>
            </a:srgbClr>
          </a:solidFill>
          <a:ln w="12700">
            <a:solidFill>
              <a:srgbClr val="333333"/>
            </a:solidFill>
            <a:prstDash val="solid"/>
          </a:ln>
        </p:spPr>
      </p:sp>
      <p:sp>
        <p:nvSpPr>
          <p:cNvPr id="96" name="Shape 94"/>
          <p:cNvSpPr/>
          <p:nvPr/>
        </p:nvSpPr>
        <p:spPr>
          <a:xfrm>
            <a:off x="8503158" y="3063240"/>
            <a:ext cx="279654" cy="27432"/>
          </a:xfrm>
          <a:prstGeom prst="rect">
            <a:avLst/>
          </a:prstGeom>
          <a:solidFill>
            <a:srgbClr val="B8C4D3">
              <a:alpha val="60000"/>
            </a:srgbClr>
          </a:solidFill>
          <a:ln w="12700">
            <a:solidFill>
              <a:srgbClr val="333333"/>
            </a:solidFill>
            <a:prstDash val="solid"/>
          </a:ln>
        </p:spPr>
      </p:sp>
      <p:sp>
        <p:nvSpPr>
          <p:cNvPr id="97" name="Shape 95"/>
          <p:cNvSpPr/>
          <p:nvPr/>
        </p:nvSpPr>
        <p:spPr>
          <a:xfrm>
            <a:off x="8819388" y="3063240"/>
            <a:ext cx="279654" cy="27432"/>
          </a:xfrm>
          <a:prstGeom prst="rect">
            <a:avLst/>
          </a:prstGeom>
          <a:solidFill>
            <a:srgbClr val="B8C4D3">
              <a:alpha val="60000"/>
            </a:srgbClr>
          </a:solidFill>
          <a:ln w="12700">
            <a:solidFill>
              <a:srgbClr val="333333"/>
            </a:solidFill>
            <a:prstDash val="solid"/>
          </a:ln>
        </p:spPr>
      </p:sp>
      <p:sp>
        <p:nvSpPr>
          <p:cNvPr id="98" name="Shape 96"/>
          <p:cNvSpPr/>
          <p:nvPr/>
        </p:nvSpPr>
        <p:spPr>
          <a:xfrm>
            <a:off x="9135618" y="3063240"/>
            <a:ext cx="279654" cy="27432"/>
          </a:xfrm>
          <a:prstGeom prst="rect">
            <a:avLst/>
          </a:prstGeom>
          <a:solidFill>
            <a:srgbClr val="B8C4D3">
              <a:alpha val="60000"/>
            </a:srgbClr>
          </a:solidFill>
          <a:ln w="12700">
            <a:solidFill>
              <a:srgbClr val="333333"/>
            </a:solidFill>
            <a:prstDash val="solid"/>
          </a:ln>
        </p:spPr>
      </p:sp>
      <p:sp>
        <p:nvSpPr>
          <p:cNvPr id="99" name="Shape 97"/>
          <p:cNvSpPr/>
          <p:nvPr/>
        </p:nvSpPr>
        <p:spPr>
          <a:xfrm>
            <a:off x="9451848" y="3063240"/>
            <a:ext cx="279654" cy="27432"/>
          </a:xfrm>
          <a:prstGeom prst="rect">
            <a:avLst/>
          </a:prstGeom>
          <a:solidFill>
            <a:srgbClr val="B8C4D3">
              <a:alpha val="60000"/>
            </a:srgbClr>
          </a:solidFill>
          <a:ln w="12700">
            <a:solidFill>
              <a:srgbClr val="333333"/>
            </a:solidFill>
            <a:prstDash val="solid"/>
          </a:ln>
        </p:spPr>
      </p:sp>
      <p:sp>
        <p:nvSpPr>
          <p:cNvPr id="100" name="Shape 98"/>
          <p:cNvSpPr/>
          <p:nvPr/>
        </p:nvSpPr>
        <p:spPr>
          <a:xfrm>
            <a:off x="9768078" y="3063240"/>
            <a:ext cx="279654" cy="27432"/>
          </a:xfrm>
          <a:prstGeom prst="rect">
            <a:avLst/>
          </a:prstGeom>
          <a:solidFill>
            <a:srgbClr val="B8C4D3">
              <a:alpha val="60000"/>
            </a:srgbClr>
          </a:solidFill>
          <a:ln w="12700">
            <a:solidFill>
              <a:srgbClr val="333333"/>
            </a:solidFill>
            <a:prstDash val="solid"/>
          </a:ln>
        </p:spPr>
      </p:sp>
      <p:sp>
        <p:nvSpPr>
          <p:cNvPr id="101" name="Shape 99"/>
          <p:cNvSpPr/>
          <p:nvPr/>
        </p:nvSpPr>
        <p:spPr>
          <a:xfrm>
            <a:off x="10084308" y="3063240"/>
            <a:ext cx="279654" cy="27432"/>
          </a:xfrm>
          <a:prstGeom prst="rect">
            <a:avLst/>
          </a:prstGeom>
          <a:solidFill>
            <a:srgbClr val="B8C4D3">
              <a:alpha val="60000"/>
            </a:srgbClr>
          </a:solidFill>
          <a:ln w="12700">
            <a:solidFill>
              <a:srgbClr val="333333"/>
            </a:solidFill>
            <a:prstDash val="solid"/>
          </a:ln>
        </p:spPr>
      </p:sp>
      <p:sp>
        <p:nvSpPr>
          <p:cNvPr id="102" name="Shape 100"/>
          <p:cNvSpPr/>
          <p:nvPr/>
        </p:nvSpPr>
        <p:spPr>
          <a:xfrm>
            <a:off x="10400538" y="3063240"/>
            <a:ext cx="279654" cy="27432"/>
          </a:xfrm>
          <a:prstGeom prst="rect">
            <a:avLst/>
          </a:prstGeom>
          <a:solidFill>
            <a:srgbClr val="B8C4D3">
              <a:alpha val="60000"/>
            </a:srgbClr>
          </a:solidFill>
          <a:ln w="12700">
            <a:solidFill>
              <a:srgbClr val="333333"/>
            </a:solidFill>
            <a:prstDash val="solid"/>
          </a:ln>
        </p:spPr>
      </p:sp>
      <p:sp>
        <p:nvSpPr>
          <p:cNvPr id="103" name="Shape 101"/>
          <p:cNvSpPr/>
          <p:nvPr/>
        </p:nvSpPr>
        <p:spPr>
          <a:xfrm>
            <a:off x="3108960" y="3090672"/>
            <a:ext cx="7589520" cy="0"/>
          </a:xfrm>
          <a:prstGeom prst="line">
            <a:avLst/>
          </a:prstGeom>
          <a:noFill/>
          <a:ln w="6350">
            <a:solidFill>
              <a:srgbClr val="B8C4D3"/>
            </a:solidFill>
            <a:prstDash val="solid"/>
          </a:ln>
        </p:spPr>
      </p:sp>
      <p:sp>
        <p:nvSpPr>
          <p:cNvPr id="104" name="Text 102"/>
          <p:cNvSpPr txBox="1"/>
          <p:nvPr/>
        </p:nvSpPr>
        <p:spPr>
          <a:xfrm>
            <a:off x="548640" y="3200400"/>
            <a:ext cx="2468880" cy="438912"/>
          </a:xfrm>
          <a:prstGeom prst="rect">
            <a:avLst/>
          </a:prstGeom>
          <a:noFill/>
          <a:ln/>
        </p:spPr>
        <p:txBody>
          <a:bodyPr wrap="square" lIns="0" tIns="0" rIns="0" bIns="0" rtlCol="0" anchor="ctr"/>
          <a:lstStyle/>
          <a:p>
            <a:pPr indent="0" marL="0">
              <a:buNone/>
            </a:pPr>
            <a:r>
              <a:rPr lang="en-US" sz="900" b="1" dirty="0">
                <a:solidFill>
                  <a:srgbClr val="1C7C7C"/>
                </a:solidFill>
                <a:latin typeface="Calibri" pitchFamily="34" charset="0"/>
                <a:ea typeface="Calibri" pitchFamily="34" charset="-122"/>
                <a:cs typeface="Calibri" pitchFamily="34" charset="-120"/>
              </a:rPr>
              <a:t>Interior T, S (below ML)</a:t>
            </a:r>
            <a:endParaRPr lang="en-US" sz="900" dirty="0"/>
          </a:p>
          <a:p>
            <a:pPr indent="0" marL="0">
              <a:buNone/>
            </a:pPr>
            <a:r>
              <a:rPr lang="en-US" sz="800" dirty="0">
                <a:solidFill>
                  <a:srgbClr val="1B2430"/>
                </a:solidFill>
                <a:latin typeface="Calibri" pitchFamily="34" charset="0"/>
                <a:ea typeface="Calibri" pitchFamily="34" charset="-122"/>
                <a:cs typeface="Calibri" pitchFamily="34" charset="-120"/>
              </a:rPr>
              <a:t>238 slot-lags · 89 % saved</a:t>
            </a:r>
            <a:endParaRPr lang="en-US" sz="900" dirty="0"/>
          </a:p>
        </p:txBody>
      </p:sp>
      <p:sp>
        <p:nvSpPr>
          <p:cNvPr id="105" name="Shape 103"/>
          <p:cNvSpPr/>
          <p:nvPr/>
        </p:nvSpPr>
        <p:spPr>
          <a:xfrm>
            <a:off x="3127248" y="3584448"/>
            <a:ext cx="279654" cy="54864"/>
          </a:xfrm>
          <a:prstGeom prst="rect">
            <a:avLst/>
          </a:prstGeom>
          <a:solidFill>
            <a:srgbClr val="1C7C7C">
              <a:alpha val="85000"/>
            </a:srgbClr>
          </a:solidFill>
          <a:ln w="12700">
            <a:solidFill>
              <a:srgbClr val="333333"/>
            </a:solidFill>
            <a:prstDash val="solid"/>
          </a:ln>
        </p:spPr>
      </p:sp>
      <p:sp>
        <p:nvSpPr>
          <p:cNvPr id="106" name="Text 104"/>
          <p:cNvSpPr txBox="1"/>
          <p:nvPr/>
        </p:nvSpPr>
        <p:spPr>
          <a:xfrm>
            <a:off x="3017520" y="3401568"/>
            <a:ext cx="499110" cy="164592"/>
          </a:xfrm>
          <a:prstGeom prst="rect">
            <a:avLst/>
          </a:prstGeom>
          <a:noFill/>
          <a:ln/>
        </p:spPr>
        <p:txBody>
          <a:bodyPr wrap="square" lIns="0" tIns="0" rIns="0" bIns="0" rtlCol="0" anchor="ctr"/>
          <a:lstStyle/>
          <a:p>
            <a:pPr algn="ctr" indent="0" marL="0">
              <a:buNone/>
            </a:pPr>
            <a:r>
              <a:rPr lang="en-US" sz="700" dirty="0">
                <a:solidFill>
                  <a:srgbClr val="1C7C7C"/>
                </a:solidFill>
                <a:latin typeface="Calibri" pitchFamily="34" charset="0"/>
                <a:ea typeface="Calibri" pitchFamily="34" charset="-122"/>
                <a:cs typeface="Calibri" pitchFamily="34" charset="-120"/>
              </a:rPr>
              <a:t>9</a:t>
            </a:r>
            <a:endParaRPr lang="en-US" sz="700" dirty="0"/>
          </a:p>
        </p:txBody>
      </p:sp>
      <p:sp>
        <p:nvSpPr>
          <p:cNvPr id="107" name="Shape 105"/>
          <p:cNvSpPr/>
          <p:nvPr/>
        </p:nvSpPr>
        <p:spPr>
          <a:xfrm>
            <a:off x="3443478" y="3584448"/>
            <a:ext cx="279654" cy="54864"/>
          </a:xfrm>
          <a:prstGeom prst="rect">
            <a:avLst/>
          </a:prstGeom>
          <a:solidFill>
            <a:srgbClr val="1C7C7C">
              <a:alpha val="85000"/>
            </a:srgbClr>
          </a:solidFill>
          <a:ln w="12700">
            <a:solidFill>
              <a:srgbClr val="333333"/>
            </a:solidFill>
            <a:prstDash val="solid"/>
          </a:ln>
        </p:spPr>
      </p:sp>
      <p:sp>
        <p:nvSpPr>
          <p:cNvPr id="108" name="Shape 106"/>
          <p:cNvSpPr/>
          <p:nvPr/>
        </p:nvSpPr>
        <p:spPr>
          <a:xfrm>
            <a:off x="3759708" y="3584448"/>
            <a:ext cx="279654" cy="54864"/>
          </a:xfrm>
          <a:prstGeom prst="rect">
            <a:avLst/>
          </a:prstGeom>
          <a:solidFill>
            <a:srgbClr val="1C7C7C">
              <a:alpha val="85000"/>
            </a:srgbClr>
          </a:solidFill>
          <a:ln w="12700">
            <a:solidFill>
              <a:srgbClr val="333333"/>
            </a:solidFill>
            <a:prstDash val="solid"/>
          </a:ln>
        </p:spPr>
      </p:sp>
      <p:sp>
        <p:nvSpPr>
          <p:cNvPr id="109" name="Shape 107"/>
          <p:cNvSpPr/>
          <p:nvPr/>
        </p:nvSpPr>
        <p:spPr>
          <a:xfrm>
            <a:off x="4075938" y="3584448"/>
            <a:ext cx="279654" cy="54864"/>
          </a:xfrm>
          <a:prstGeom prst="rect">
            <a:avLst/>
          </a:prstGeom>
          <a:solidFill>
            <a:srgbClr val="1C7C7C">
              <a:alpha val="85000"/>
            </a:srgbClr>
          </a:solidFill>
          <a:ln w="12700">
            <a:solidFill>
              <a:srgbClr val="333333"/>
            </a:solidFill>
            <a:prstDash val="solid"/>
          </a:ln>
        </p:spPr>
      </p:sp>
      <p:sp>
        <p:nvSpPr>
          <p:cNvPr id="110" name="Shape 108"/>
          <p:cNvSpPr/>
          <p:nvPr/>
        </p:nvSpPr>
        <p:spPr>
          <a:xfrm>
            <a:off x="4392168" y="3584448"/>
            <a:ext cx="279654" cy="54864"/>
          </a:xfrm>
          <a:prstGeom prst="rect">
            <a:avLst/>
          </a:prstGeom>
          <a:solidFill>
            <a:srgbClr val="1C7C7C">
              <a:alpha val="85000"/>
            </a:srgbClr>
          </a:solidFill>
          <a:ln w="12700">
            <a:solidFill>
              <a:srgbClr val="333333"/>
            </a:solidFill>
            <a:prstDash val="solid"/>
          </a:ln>
        </p:spPr>
      </p:sp>
      <p:sp>
        <p:nvSpPr>
          <p:cNvPr id="111" name="Shape 109"/>
          <p:cNvSpPr/>
          <p:nvPr/>
        </p:nvSpPr>
        <p:spPr>
          <a:xfrm>
            <a:off x="4708398" y="3584448"/>
            <a:ext cx="279654" cy="54864"/>
          </a:xfrm>
          <a:prstGeom prst="rect">
            <a:avLst/>
          </a:prstGeom>
          <a:solidFill>
            <a:srgbClr val="1C7C7C">
              <a:alpha val="85000"/>
            </a:srgbClr>
          </a:solidFill>
          <a:ln w="12700">
            <a:solidFill>
              <a:srgbClr val="333333"/>
            </a:solidFill>
            <a:prstDash val="solid"/>
          </a:ln>
        </p:spPr>
      </p:sp>
      <p:sp>
        <p:nvSpPr>
          <p:cNvPr id="112" name="Text 110"/>
          <p:cNvSpPr txBox="1"/>
          <p:nvPr/>
        </p:nvSpPr>
        <p:spPr>
          <a:xfrm>
            <a:off x="4598670" y="3401568"/>
            <a:ext cx="499110" cy="164592"/>
          </a:xfrm>
          <a:prstGeom prst="rect">
            <a:avLst/>
          </a:prstGeom>
          <a:noFill/>
          <a:ln/>
        </p:spPr>
        <p:txBody>
          <a:bodyPr wrap="square" lIns="0" tIns="0" rIns="0" bIns="0" rtlCol="0" anchor="ctr"/>
          <a:lstStyle/>
          <a:p>
            <a:pPr algn="ctr" indent="0" marL="0">
              <a:buNone/>
            </a:pPr>
            <a:r>
              <a:rPr lang="en-US" sz="700" dirty="0">
                <a:solidFill>
                  <a:srgbClr val="1C7C7C"/>
                </a:solidFill>
                <a:latin typeface="Calibri" pitchFamily="34" charset="0"/>
                <a:ea typeface="Calibri" pitchFamily="34" charset="-122"/>
                <a:cs typeface="Calibri" pitchFamily="34" charset="-120"/>
              </a:rPr>
              <a:t>9</a:t>
            </a:r>
            <a:endParaRPr lang="en-US" sz="700" dirty="0"/>
          </a:p>
        </p:txBody>
      </p:sp>
      <p:sp>
        <p:nvSpPr>
          <p:cNvPr id="113" name="Shape 111"/>
          <p:cNvSpPr/>
          <p:nvPr/>
        </p:nvSpPr>
        <p:spPr>
          <a:xfrm>
            <a:off x="5024628" y="3584448"/>
            <a:ext cx="279654" cy="54864"/>
          </a:xfrm>
          <a:prstGeom prst="rect">
            <a:avLst/>
          </a:prstGeom>
          <a:solidFill>
            <a:srgbClr val="1C7C7C">
              <a:alpha val="85000"/>
            </a:srgbClr>
          </a:solidFill>
          <a:ln w="12700">
            <a:solidFill>
              <a:srgbClr val="333333"/>
            </a:solidFill>
            <a:prstDash val="solid"/>
          </a:ln>
        </p:spPr>
      </p:sp>
      <p:sp>
        <p:nvSpPr>
          <p:cNvPr id="114" name="Shape 112"/>
          <p:cNvSpPr/>
          <p:nvPr/>
        </p:nvSpPr>
        <p:spPr>
          <a:xfrm>
            <a:off x="5340858" y="3584448"/>
            <a:ext cx="279654" cy="54864"/>
          </a:xfrm>
          <a:prstGeom prst="rect">
            <a:avLst/>
          </a:prstGeom>
          <a:solidFill>
            <a:srgbClr val="1C7C7C">
              <a:alpha val="85000"/>
            </a:srgbClr>
          </a:solidFill>
          <a:ln w="12700">
            <a:solidFill>
              <a:srgbClr val="333333"/>
            </a:solidFill>
            <a:prstDash val="solid"/>
          </a:ln>
        </p:spPr>
      </p:sp>
      <p:sp>
        <p:nvSpPr>
          <p:cNvPr id="115" name="Shape 113"/>
          <p:cNvSpPr/>
          <p:nvPr/>
        </p:nvSpPr>
        <p:spPr>
          <a:xfrm>
            <a:off x="5657088" y="3584448"/>
            <a:ext cx="279654" cy="54864"/>
          </a:xfrm>
          <a:prstGeom prst="rect">
            <a:avLst/>
          </a:prstGeom>
          <a:solidFill>
            <a:srgbClr val="1C7C7C">
              <a:alpha val="85000"/>
            </a:srgbClr>
          </a:solidFill>
          <a:ln w="12700">
            <a:solidFill>
              <a:srgbClr val="333333"/>
            </a:solidFill>
            <a:prstDash val="solid"/>
          </a:ln>
        </p:spPr>
      </p:sp>
      <p:sp>
        <p:nvSpPr>
          <p:cNvPr id="116" name="Shape 114"/>
          <p:cNvSpPr/>
          <p:nvPr/>
        </p:nvSpPr>
        <p:spPr>
          <a:xfrm>
            <a:off x="5973318" y="3584448"/>
            <a:ext cx="279654" cy="54864"/>
          </a:xfrm>
          <a:prstGeom prst="rect">
            <a:avLst/>
          </a:prstGeom>
          <a:solidFill>
            <a:srgbClr val="1C7C7C">
              <a:alpha val="85000"/>
            </a:srgbClr>
          </a:solidFill>
          <a:ln w="12700">
            <a:solidFill>
              <a:srgbClr val="333333"/>
            </a:solidFill>
            <a:prstDash val="solid"/>
          </a:ln>
        </p:spPr>
      </p:sp>
      <p:sp>
        <p:nvSpPr>
          <p:cNvPr id="117" name="Shape 115"/>
          <p:cNvSpPr/>
          <p:nvPr/>
        </p:nvSpPr>
        <p:spPr>
          <a:xfrm>
            <a:off x="6289548" y="3584448"/>
            <a:ext cx="279654" cy="54864"/>
          </a:xfrm>
          <a:prstGeom prst="rect">
            <a:avLst/>
          </a:prstGeom>
          <a:solidFill>
            <a:srgbClr val="1C7C7C">
              <a:alpha val="85000"/>
            </a:srgbClr>
          </a:solidFill>
          <a:ln w="12700">
            <a:solidFill>
              <a:srgbClr val="333333"/>
            </a:solidFill>
            <a:prstDash val="solid"/>
          </a:ln>
        </p:spPr>
      </p:sp>
      <p:sp>
        <p:nvSpPr>
          <p:cNvPr id="118" name="Shape 116"/>
          <p:cNvSpPr/>
          <p:nvPr/>
        </p:nvSpPr>
        <p:spPr>
          <a:xfrm>
            <a:off x="6605778" y="3584448"/>
            <a:ext cx="279654" cy="54864"/>
          </a:xfrm>
          <a:prstGeom prst="rect">
            <a:avLst/>
          </a:prstGeom>
          <a:solidFill>
            <a:srgbClr val="1C7C7C">
              <a:alpha val="85000"/>
            </a:srgbClr>
          </a:solidFill>
          <a:ln w="12700">
            <a:solidFill>
              <a:srgbClr val="333333"/>
            </a:solidFill>
            <a:prstDash val="solid"/>
          </a:ln>
        </p:spPr>
      </p:sp>
      <p:sp>
        <p:nvSpPr>
          <p:cNvPr id="119" name="Text 117"/>
          <p:cNvSpPr txBox="1"/>
          <p:nvPr/>
        </p:nvSpPr>
        <p:spPr>
          <a:xfrm>
            <a:off x="6496050" y="3401568"/>
            <a:ext cx="499110" cy="164592"/>
          </a:xfrm>
          <a:prstGeom prst="rect">
            <a:avLst/>
          </a:prstGeom>
          <a:noFill/>
          <a:ln/>
        </p:spPr>
        <p:txBody>
          <a:bodyPr wrap="square" lIns="0" tIns="0" rIns="0" bIns="0" rtlCol="0" anchor="ctr"/>
          <a:lstStyle/>
          <a:p>
            <a:pPr algn="ctr" indent="0" marL="0">
              <a:buNone/>
            </a:pPr>
            <a:r>
              <a:rPr lang="en-US" sz="700" dirty="0">
                <a:solidFill>
                  <a:srgbClr val="1C7C7C"/>
                </a:solidFill>
                <a:latin typeface="Calibri" pitchFamily="34" charset="0"/>
                <a:ea typeface="Calibri" pitchFamily="34" charset="-122"/>
                <a:cs typeface="Calibri" pitchFamily="34" charset="-120"/>
              </a:rPr>
              <a:t>9</a:t>
            </a:r>
            <a:endParaRPr lang="en-US" sz="700" dirty="0"/>
          </a:p>
        </p:txBody>
      </p:sp>
      <p:sp>
        <p:nvSpPr>
          <p:cNvPr id="120" name="Shape 118"/>
          <p:cNvSpPr/>
          <p:nvPr/>
        </p:nvSpPr>
        <p:spPr>
          <a:xfrm>
            <a:off x="6922008" y="3584448"/>
            <a:ext cx="279654" cy="54864"/>
          </a:xfrm>
          <a:prstGeom prst="rect">
            <a:avLst/>
          </a:prstGeom>
          <a:solidFill>
            <a:srgbClr val="1C7C7C">
              <a:alpha val="85000"/>
            </a:srgbClr>
          </a:solidFill>
          <a:ln w="12700">
            <a:solidFill>
              <a:srgbClr val="333333"/>
            </a:solidFill>
            <a:prstDash val="solid"/>
          </a:ln>
        </p:spPr>
      </p:sp>
      <p:sp>
        <p:nvSpPr>
          <p:cNvPr id="121" name="Shape 119"/>
          <p:cNvSpPr/>
          <p:nvPr/>
        </p:nvSpPr>
        <p:spPr>
          <a:xfrm>
            <a:off x="7238238" y="3584448"/>
            <a:ext cx="279654" cy="54864"/>
          </a:xfrm>
          <a:prstGeom prst="rect">
            <a:avLst/>
          </a:prstGeom>
          <a:solidFill>
            <a:srgbClr val="1C7C7C">
              <a:alpha val="85000"/>
            </a:srgbClr>
          </a:solidFill>
          <a:ln w="12700">
            <a:solidFill>
              <a:srgbClr val="333333"/>
            </a:solidFill>
            <a:prstDash val="solid"/>
          </a:ln>
        </p:spPr>
      </p:sp>
      <p:sp>
        <p:nvSpPr>
          <p:cNvPr id="122" name="Shape 120"/>
          <p:cNvSpPr/>
          <p:nvPr/>
        </p:nvSpPr>
        <p:spPr>
          <a:xfrm>
            <a:off x="7554468" y="3584448"/>
            <a:ext cx="279654" cy="54864"/>
          </a:xfrm>
          <a:prstGeom prst="rect">
            <a:avLst/>
          </a:prstGeom>
          <a:solidFill>
            <a:srgbClr val="1C7C7C">
              <a:alpha val="85000"/>
            </a:srgbClr>
          </a:solidFill>
          <a:ln w="12700">
            <a:solidFill>
              <a:srgbClr val="333333"/>
            </a:solidFill>
            <a:prstDash val="solid"/>
          </a:ln>
        </p:spPr>
      </p:sp>
      <p:sp>
        <p:nvSpPr>
          <p:cNvPr id="123" name="Shape 121"/>
          <p:cNvSpPr/>
          <p:nvPr/>
        </p:nvSpPr>
        <p:spPr>
          <a:xfrm>
            <a:off x="7870698" y="3584448"/>
            <a:ext cx="279654" cy="54864"/>
          </a:xfrm>
          <a:prstGeom prst="rect">
            <a:avLst/>
          </a:prstGeom>
          <a:solidFill>
            <a:srgbClr val="1C7C7C">
              <a:alpha val="85000"/>
            </a:srgbClr>
          </a:solidFill>
          <a:ln w="12700">
            <a:solidFill>
              <a:srgbClr val="333333"/>
            </a:solidFill>
            <a:prstDash val="solid"/>
          </a:ln>
        </p:spPr>
      </p:sp>
      <p:sp>
        <p:nvSpPr>
          <p:cNvPr id="124" name="Shape 122"/>
          <p:cNvSpPr/>
          <p:nvPr/>
        </p:nvSpPr>
        <p:spPr>
          <a:xfrm>
            <a:off x="8186928" y="3584448"/>
            <a:ext cx="279654" cy="54864"/>
          </a:xfrm>
          <a:prstGeom prst="rect">
            <a:avLst/>
          </a:prstGeom>
          <a:solidFill>
            <a:srgbClr val="1C7C7C">
              <a:alpha val="85000"/>
            </a:srgbClr>
          </a:solidFill>
          <a:ln w="12700">
            <a:solidFill>
              <a:srgbClr val="333333"/>
            </a:solidFill>
            <a:prstDash val="solid"/>
          </a:ln>
        </p:spPr>
      </p:sp>
      <p:sp>
        <p:nvSpPr>
          <p:cNvPr id="125" name="Shape 123"/>
          <p:cNvSpPr/>
          <p:nvPr/>
        </p:nvSpPr>
        <p:spPr>
          <a:xfrm>
            <a:off x="8503158" y="3584448"/>
            <a:ext cx="279654" cy="54864"/>
          </a:xfrm>
          <a:prstGeom prst="rect">
            <a:avLst/>
          </a:prstGeom>
          <a:solidFill>
            <a:srgbClr val="1C7C7C">
              <a:alpha val="85000"/>
            </a:srgbClr>
          </a:solidFill>
          <a:ln w="12700">
            <a:solidFill>
              <a:srgbClr val="333333"/>
            </a:solidFill>
            <a:prstDash val="solid"/>
          </a:ln>
        </p:spPr>
      </p:sp>
      <p:sp>
        <p:nvSpPr>
          <p:cNvPr id="126" name="Text 124"/>
          <p:cNvSpPr txBox="1"/>
          <p:nvPr/>
        </p:nvSpPr>
        <p:spPr>
          <a:xfrm>
            <a:off x="8393430" y="3401568"/>
            <a:ext cx="499110" cy="164592"/>
          </a:xfrm>
          <a:prstGeom prst="rect">
            <a:avLst/>
          </a:prstGeom>
          <a:noFill/>
          <a:ln/>
        </p:spPr>
        <p:txBody>
          <a:bodyPr wrap="square" lIns="0" tIns="0" rIns="0" bIns="0" rtlCol="0" anchor="ctr"/>
          <a:lstStyle/>
          <a:p>
            <a:pPr algn="ctr" indent="0" marL="0">
              <a:buNone/>
            </a:pPr>
            <a:r>
              <a:rPr lang="en-US" sz="700" dirty="0">
                <a:solidFill>
                  <a:srgbClr val="1C7C7C"/>
                </a:solidFill>
                <a:latin typeface="Calibri" pitchFamily="34" charset="0"/>
                <a:ea typeface="Calibri" pitchFamily="34" charset="-122"/>
                <a:cs typeface="Calibri" pitchFamily="34" charset="-120"/>
              </a:rPr>
              <a:t>9</a:t>
            </a:r>
            <a:endParaRPr lang="en-US" sz="700" dirty="0"/>
          </a:p>
        </p:txBody>
      </p:sp>
      <p:sp>
        <p:nvSpPr>
          <p:cNvPr id="127" name="Shape 125"/>
          <p:cNvSpPr/>
          <p:nvPr/>
        </p:nvSpPr>
        <p:spPr>
          <a:xfrm>
            <a:off x="8819388" y="3584448"/>
            <a:ext cx="279654" cy="54864"/>
          </a:xfrm>
          <a:prstGeom prst="rect">
            <a:avLst/>
          </a:prstGeom>
          <a:solidFill>
            <a:srgbClr val="1C7C7C">
              <a:alpha val="85000"/>
            </a:srgbClr>
          </a:solidFill>
          <a:ln w="12700">
            <a:solidFill>
              <a:srgbClr val="333333"/>
            </a:solidFill>
            <a:prstDash val="solid"/>
          </a:ln>
        </p:spPr>
      </p:sp>
      <p:sp>
        <p:nvSpPr>
          <p:cNvPr id="128" name="Shape 126"/>
          <p:cNvSpPr/>
          <p:nvPr/>
        </p:nvSpPr>
        <p:spPr>
          <a:xfrm>
            <a:off x="9135618" y="3584448"/>
            <a:ext cx="279654" cy="54864"/>
          </a:xfrm>
          <a:prstGeom prst="rect">
            <a:avLst/>
          </a:prstGeom>
          <a:solidFill>
            <a:srgbClr val="1C7C7C">
              <a:alpha val="85000"/>
            </a:srgbClr>
          </a:solidFill>
          <a:ln w="12700">
            <a:solidFill>
              <a:srgbClr val="333333"/>
            </a:solidFill>
            <a:prstDash val="solid"/>
          </a:ln>
        </p:spPr>
      </p:sp>
      <p:sp>
        <p:nvSpPr>
          <p:cNvPr id="129" name="Shape 127"/>
          <p:cNvSpPr/>
          <p:nvPr/>
        </p:nvSpPr>
        <p:spPr>
          <a:xfrm>
            <a:off x="9451848" y="3580133"/>
            <a:ext cx="279654" cy="59179"/>
          </a:xfrm>
          <a:prstGeom prst="rect">
            <a:avLst/>
          </a:prstGeom>
          <a:solidFill>
            <a:srgbClr val="1C7C7C">
              <a:alpha val="85000"/>
            </a:srgbClr>
          </a:solidFill>
          <a:ln w="12700">
            <a:solidFill>
              <a:srgbClr val="333333"/>
            </a:solidFill>
            <a:prstDash val="solid"/>
          </a:ln>
        </p:spPr>
      </p:sp>
      <p:sp>
        <p:nvSpPr>
          <p:cNvPr id="130" name="Shape 128"/>
          <p:cNvSpPr/>
          <p:nvPr/>
        </p:nvSpPr>
        <p:spPr>
          <a:xfrm>
            <a:off x="9768078" y="3575201"/>
            <a:ext cx="279654" cy="64111"/>
          </a:xfrm>
          <a:prstGeom prst="rect">
            <a:avLst/>
          </a:prstGeom>
          <a:solidFill>
            <a:srgbClr val="1C7C7C">
              <a:alpha val="85000"/>
            </a:srgbClr>
          </a:solidFill>
          <a:ln w="12700">
            <a:solidFill>
              <a:srgbClr val="333333"/>
            </a:solidFill>
            <a:prstDash val="solid"/>
          </a:ln>
        </p:spPr>
      </p:sp>
      <p:sp>
        <p:nvSpPr>
          <p:cNvPr id="131" name="Shape 129"/>
          <p:cNvSpPr/>
          <p:nvPr/>
        </p:nvSpPr>
        <p:spPr>
          <a:xfrm>
            <a:off x="10084308" y="3570270"/>
            <a:ext cx="279654" cy="69042"/>
          </a:xfrm>
          <a:prstGeom prst="rect">
            <a:avLst/>
          </a:prstGeom>
          <a:solidFill>
            <a:srgbClr val="1C7C7C">
              <a:alpha val="85000"/>
            </a:srgbClr>
          </a:solidFill>
          <a:ln w="12700">
            <a:solidFill>
              <a:srgbClr val="333333"/>
            </a:solidFill>
            <a:prstDash val="solid"/>
          </a:ln>
        </p:spPr>
      </p:sp>
      <p:sp>
        <p:nvSpPr>
          <p:cNvPr id="132" name="Shape 130"/>
          <p:cNvSpPr/>
          <p:nvPr/>
        </p:nvSpPr>
        <p:spPr>
          <a:xfrm>
            <a:off x="10400538" y="3560406"/>
            <a:ext cx="279654" cy="78906"/>
          </a:xfrm>
          <a:prstGeom prst="rect">
            <a:avLst/>
          </a:prstGeom>
          <a:solidFill>
            <a:srgbClr val="1C7C7C">
              <a:alpha val="85000"/>
            </a:srgbClr>
          </a:solidFill>
          <a:ln w="12700">
            <a:solidFill>
              <a:srgbClr val="333333"/>
            </a:solidFill>
            <a:prstDash val="solid"/>
          </a:ln>
        </p:spPr>
      </p:sp>
      <p:sp>
        <p:nvSpPr>
          <p:cNvPr id="133" name="Text 131"/>
          <p:cNvSpPr txBox="1"/>
          <p:nvPr/>
        </p:nvSpPr>
        <p:spPr>
          <a:xfrm>
            <a:off x="10290810" y="3377526"/>
            <a:ext cx="499110" cy="164592"/>
          </a:xfrm>
          <a:prstGeom prst="rect">
            <a:avLst/>
          </a:prstGeom>
          <a:noFill/>
          <a:ln/>
        </p:spPr>
        <p:txBody>
          <a:bodyPr wrap="square" lIns="0" tIns="0" rIns="0" bIns="0" rtlCol="0" anchor="ctr"/>
          <a:lstStyle/>
          <a:p>
            <a:pPr algn="ctr" indent="0" marL="0">
              <a:buNone/>
            </a:pPr>
            <a:r>
              <a:rPr lang="en-US" sz="700" dirty="0">
                <a:solidFill>
                  <a:srgbClr val="1C7C7C"/>
                </a:solidFill>
                <a:latin typeface="Calibri" pitchFamily="34" charset="0"/>
                <a:ea typeface="Calibri" pitchFamily="34" charset="-122"/>
                <a:cs typeface="Calibri" pitchFamily="34" charset="-120"/>
              </a:rPr>
              <a:t>16</a:t>
            </a:r>
            <a:endParaRPr lang="en-US" sz="700" dirty="0"/>
          </a:p>
        </p:txBody>
      </p:sp>
      <p:sp>
        <p:nvSpPr>
          <p:cNvPr id="134" name="Shape 132"/>
          <p:cNvSpPr/>
          <p:nvPr/>
        </p:nvSpPr>
        <p:spPr>
          <a:xfrm>
            <a:off x="3108960" y="3639312"/>
            <a:ext cx="7589520" cy="0"/>
          </a:xfrm>
          <a:prstGeom prst="line">
            <a:avLst/>
          </a:prstGeom>
          <a:noFill/>
          <a:ln w="6350">
            <a:solidFill>
              <a:srgbClr val="B8C4D3"/>
            </a:solidFill>
            <a:prstDash val="solid"/>
          </a:ln>
        </p:spPr>
      </p:sp>
      <p:sp>
        <p:nvSpPr>
          <p:cNvPr id="135" name="Text 133"/>
          <p:cNvSpPr txBox="1"/>
          <p:nvPr/>
        </p:nvSpPr>
        <p:spPr>
          <a:xfrm>
            <a:off x="548640" y="3749040"/>
            <a:ext cx="2468880" cy="438912"/>
          </a:xfrm>
          <a:prstGeom prst="rect">
            <a:avLst/>
          </a:prstGeom>
          <a:noFill/>
          <a:ln/>
        </p:spPr>
        <p:txBody>
          <a:bodyPr wrap="square" lIns="0" tIns="0" rIns="0" bIns="0" rtlCol="0" anchor="ctr"/>
          <a:lstStyle/>
          <a:p>
            <a:pPr indent="0" marL="0">
              <a:buNone/>
            </a:pPr>
            <a:r>
              <a:rPr lang="en-US" sz="900" b="1" dirty="0">
                <a:solidFill>
                  <a:srgbClr val="6A4C93"/>
                </a:solidFill>
                <a:latin typeface="Calibri" pitchFamily="34" charset="0"/>
                <a:ea typeface="Calibri" pitchFamily="34" charset="-122"/>
                <a:cs typeface="Calibri" pitchFamily="34" charset="-120"/>
              </a:rPr>
              <a:t>SSH</a:t>
            </a:r>
            <a:endParaRPr lang="en-US" sz="900" dirty="0"/>
          </a:p>
          <a:p>
            <a:pPr indent="0" marL="0">
              <a:buNone/>
            </a:pPr>
            <a:r>
              <a:rPr lang="en-US" sz="800" dirty="0">
                <a:solidFill>
                  <a:srgbClr val="1B2430"/>
                </a:solidFill>
                <a:latin typeface="Calibri" pitchFamily="34" charset="0"/>
                <a:ea typeface="Calibri" pitchFamily="34" charset="-122"/>
                <a:cs typeface="Calibri" pitchFamily="34" charset="-120"/>
              </a:rPr>
              <a:t>108 slot-lags · 95 % saved</a:t>
            </a:r>
            <a:endParaRPr lang="en-US" sz="900" dirty="0"/>
          </a:p>
        </p:txBody>
      </p:sp>
      <p:sp>
        <p:nvSpPr>
          <p:cNvPr id="136" name="Shape 134"/>
          <p:cNvSpPr/>
          <p:nvPr/>
        </p:nvSpPr>
        <p:spPr>
          <a:xfrm>
            <a:off x="3127248" y="4133088"/>
            <a:ext cx="279654" cy="54864"/>
          </a:xfrm>
          <a:prstGeom prst="rect">
            <a:avLst/>
          </a:prstGeom>
          <a:solidFill>
            <a:srgbClr val="6A4C93">
              <a:alpha val="85000"/>
            </a:srgbClr>
          </a:solidFill>
          <a:ln w="12700">
            <a:solidFill>
              <a:srgbClr val="333333"/>
            </a:solidFill>
            <a:prstDash val="solid"/>
          </a:ln>
        </p:spPr>
      </p:sp>
      <p:sp>
        <p:nvSpPr>
          <p:cNvPr id="137" name="Text 135"/>
          <p:cNvSpPr txBox="1"/>
          <p:nvPr/>
        </p:nvSpPr>
        <p:spPr>
          <a:xfrm>
            <a:off x="3017520" y="3950208"/>
            <a:ext cx="499110" cy="164592"/>
          </a:xfrm>
          <a:prstGeom prst="rect">
            <a:avLst/>
          </a:prstGeom>
          <a:noFill/>
          <a:ln/>
        </p:spPr>
        <p:txBody>
          <a:bodyPr wrap="square" lIns="0" tIns="0" rIns="0" bIns="0" rtlCol="0" anchor="ctr"/>
          <a:lstStyle/>
          <a:p>
            <a:pPr algn="ctr" indent="0" marL="0">
              <a:buNone/>
            </a:pPr>
            <a:r>
              <a:rPr lang="en-US" sz="700" dirty="0">
                <a:solidFill>
                  <a:srgbClr val="6A4C93"/>
                </a:solidFill>
                <a:latin typeface="Calibri" pitchFamily="34" charset="0"/>
                <a:ea typeface="Calibri" pitchFamily="34" charset="-122"/>
                <a:cs typeface="Calibri" pitchFamily="34" charset="-120"/>
              </a:rPr>
              <a:t>9</a:t>
            </a:r>
            <a:endParaRPr lang="en-US" sz="700" dirty="0"/>
          </a:p>
        </p:txBody>
      </p:sp>
      <p:sp>
        <p:nvSpPr>
          <p:cNvPr id="138" name="Shape 136"/>
          <p:cNvSpPr/>
          <p:nvPr/>
        </p:nvSpPr>
        <p:spPr>
          <a:xfrm>
            <a:off x="3443478" y="4133088"/>
            <a:ext cx="279654" cy="54864"/>
          </a:xfrm>
          <a:prstGeom prst="rect">
            <a:avLst/>
          </a:prstGeom>
          <a:solidFill>
            <a:srgbClr val="6A4C93">
              <a:alpha val="85000"/>
            </a:srgbClr>
          </a:solidFill>
          <a:ln w="12700">
            <a:solidFill>
              <a:srgbClr val="333333"/>
            </a:solidFill>
            <a:prstDash val="solid"/>
          </a:ln>
        </p:spPr>
      </p:sp>
      <p:sp>
        <p:nvSpPr>
          <p:cNvPr id="139" name="Shape 137"/>
          <p:cNvSpPr/>
          <p:nvPr/>
        </p:nvSpPr>
        <p:spPr>
          <a:xfrm>
            <a:off x="3759708" y="4133088"/>
            <a:ext cx="279654" cy="54864"/>
          </a:xfrm>
          <a:prstGeom prst="rect">
            <a:avLst/>
          </a:prstGeom>
          <a:solidFill>
            <a:srgbClr val="6A4C93">
              <a:alpha val="85000"/>
            </a:srgbClr>
          </a:solidFill>
          <a:ln w="12700">
            <a:solidFill>
              <a:srgbClr val="333333"/>
            </a:solidFill>
            <a:prstDash val="solid"/>
          </a:ln>
        </p:spPr>
      </p:sp>
      <p:sp>
        <p:nvSpPr>
          <p:cNvPr id="140" name="Shape 138"/>
          <p:cNvSpPr/>
          <p:nvPr/>
        </p:nvSpPr>
        <p:spPr>
          <a:xfrm>
            <a:off x="4075938" y="4133088"/>
            <a:ext cx="279654" cy="54864"/>
          </a:xfrm>
          <a:prstGeom prst="rect">
            <a:avLst/>
          </a:prstGeom>
          <a:solidFill>
            <a:srgbClr val="6A4C93">
              <a:alpha val="85000"/>
            </a:srgbClr>
          </a:solidFill>
          <a:ln w="12700">
            <a:solidFill>
              <a:srgbClr val="333333"/>
            </a:solidFill>
            <a:prstDash val="solid"/>
          </a:ln>
        </p:spPr>
      </p:sp>
      <p:sp>
        <p:nvSpPr>
          <p:cNvPr id="141" name="Shape 139"/>
          <p:cNvSpPr/>
          <p:nvPr/>
        </p:nvSpPr>
        <p:spPr>
          <a:xfrm>
            <a:off x="4392168" y="4133088"/>
            <a:ext cx="279654" cy="54864"/>
          </a:xfrm>
          <a:prstGeom prst="rect">
            <a:avLst/>
          </a:prstGeom>
          <a:solidFill>
            <a:srgbClr val="6A4C93">
              <a:alpha val="85000"/>
            </a:srgbClr>
          </a:solidFill>
          <a:ln w="12700">
            <a:solidFill>
              <a:srgbClr val="333333"/>
            </a:solidFill>
            <a:prstDash val="solid"/>
          </a:ln>
        </p:spPr>
      </p:sp>
      <p:sp>
        <p:nvSpPr>
          <p:cNvPr id="142" name="Shape 140"/>
          <p:cNvSpPr/>
          <p:nvPr/>
        </p:nvSpPr>
        <p:spPr>
          <a:xfrm>
            <a:off x="4708398" y="4133088"/>
            <a:ext cx="279654" cy="54864"/>
          </a:xfrm>
          <a:prstGeom prst="rect">
            <a:avLst/>
          </a:prstGeom>
          <a:solidFill>
            <a:srgbClr val="6A4C93">
              <a:alpha val="85000"/>
            </a:srgbClr>
          </a:solidFill>
          <a:ln w="12700">
            <a:solidFill>
              <a:srgbClr val="333333"/>
            </a:solidFill>
            <a:prstDash val="solid"/>
          </a:ln>
        </p:spPr>
      </p:sp>
      <p:sp>
        <p:nvSpPr>
          <p:cNvPr id="143" name="Text 141"/>
          <p:cNvSpPr txBox="1"/>
          <p:nvPr/>
        </p:nvSpPr>
        <p:spPr>
          <a:xfrm>
            <a:off x="4598670" y="3950208"/>
            <a:ext cx="499110" cy="164592"/>
          </a:xfrm>
          <a:prstGeom prst="rect">
            <a:avLst/>
          </a:prstGeom>
          <a:noFill/>
          <a:ln/>
        </p:spPr>
        <p:txBody>
          <a:bodyPr wrap="square" lIns="0" tIns="0" rIns="0" bIns="0" rtlCol="0" anchor="ctr"/>
          <a:lstStyle/>
          <a:p>
            <a:pPr algn="ctr" indent="0" marL="0">
              <a:buNone/>
            </a:pPr>
            <a:r>
              <a:rPr lang="en-US" sz="700" dirty="0">
                <a:solidFill>
                  <a:srgbClr val="6A4C93"/>
                </a:solidFill>
                <a:latin typeface="Calibri" pitchFamily="34" charset="0"/>
                <a:ea typeface="Calibri" pitchFamily="34" charset="-122"/>
                <a:cs typeface="Calibri" pitchFamily="34" charset="-120"/>
              </a:rPr>
              <a:t>9</a:t>
            </a:r>
            <a:endParaRPr lang="en-US" sz="700" dirty="0"/>
          </a:p>
        </p:txBody>
      </p:sp>
      <p:sp>
        <p:nvSpPr>
          <p:cNvPr id="144" name="Shape 142"/>
          <p:cNvSpPr/>
          <p:nvPr/>
        </p:nvSpPr>
        <p:spPr>
          <a:xfrm>
            <a:off x="5024628" y="4133088"/>
            <a:ext cx="279654" cy="54864"/>
          </a:xfrm>
          <a:prstGeom prst="rect">
            <a:avLst/>
          </a:prstGeom>
          <a:solidFill>
            <a:srgbClr val="6A4C93">
              <a:alpha val="85000"/>
            </a:srgbClr>
          </a:solidFill>
          <a:ln w="12700">
            <a:solidFill>
              <a:srgbClr val="333333"/>
            </a:solidFill>
            <a:prstDash val="solid"/>
          </a:ln>
        </p:spPr>
      </p:sp>
      <p:sp>
        <p:nvSpPr>
          <p:cNvPr id="145" name="Shape 143"/>
          <p:cNvSpPr/>
          <p:nvPr/>
        </p:nvSpPr>
        <p:spPr>
          <a:xfrm>
            <a:off x="5340858" y="4133088"/>
            <a:ext cx="279654" cy="54864"/>
          </a:xfrm>
          <a:prstGeom prst="rect">
            <a:avLst/>
          </a:prstGeom>
          <a:solidFill>
            <a:srgbClr val="6A4C93">
              <a:alpha val="85000"/>
            </a:srgbClr>
          </a:solidFill>
          <a:ln w="12700">
            <a:solidFill>
              <a:srgbClr val="333333"/>
            </a:solidFill>
            <a:prstDash val="solid"/>
          </a:ln>
        </p:spPr>
      </p:sp>
      <p:sp>
        <p:nvSpPr>
          <p:cNvPr id="146" name="Shape 144"/>
          <p:cNvSpPr/>
          <p:nvPr/>
        </p:nvSpPr>
        <p:spPr>
          <a:xfrm>
            <a:off x="5657088" y="4133088"/>
            <a:ext cx="279654" cy="54864"/>
          </a:xfrm>
          <a:prstGeom prst="rect">
            <a:avLst/>
          </a:prstGeom>
          <a:solidFill>
            <a:srgbClr val="6A4C93">
              <a:alpha val="85000"/>
            </a:srgbClr>
          </a:solidFill>
          <a:ln w="12700">
            <a:solidFill>
              <a:srgbClr val="333333"/>
            </a:solidFill>
            <a:prstDash val="solid"/>
          </a:ln>
        </p:spPr>
      </p:sp>
      <p:sp>
        <p:nvSpPr>
          <p:cNvPr id="147" name="Shape 145"/>
          <p:cNvSpPr/>
          <p:nvPr/>
        </p:nvSpPr>
        <p:spPr>
          <a:xfrm>
            <a:off x="5973318" y="4133088"/>
            <a:ext cx="279654" cy="54864"/>
          </a:xfrm>
          <a:prstGeom prst="rect">
            <a:avLst/>
          </a:prstGeom>
          <a:solidFill>
            <a:srgbClr val="6A4C93">
              <a:alpha val="85000"/>
            </a:srgbClr>
          </a:solidFill>
          <a:ln w="12700">
            <a:solidFill>
              <a:srgbClr val="333333"/>
            </a:solidFill>
            <a:prstDash val="solid"/>
          </a:ln>
        </p:spPr>
      </p:sp>
      <p:sp>
        <p:nvSpPr>
          <p:cNvPr id="148" name="Shape 146"/>
          <p:cNvSpPr/>
          <p:nvPr/>
        </p:nvSpPr>
        <p:spPr>
          <a:xfrm>
            <a:off x="6289548" y="4133088"/>
            <a:ext cx="279654" cy="54864"/>
          </a:xfrm>
          <a:prstGeom prst="rect">
            <a:avLst/>
          </a:prstGeom>
          <a:solidFill>
            <a:srgbClr val="6A4C93">
              <a:alpha val="85000"/>
            </a:srgbClr>
          </a:solidFill>
          <a:ln w="12700">
            <a:solidFill>
              <a:srgbClr val="333333"/>
            </a:solidFill>
            <a:prstDash val="solid"/>
          </a:ln>
        </p:spPr>
      </p:sp>
      <p:sp>
        <p:nvSpPr>
          <p:cNvPr id="149" name="Shape 147"/>
          <p:cNvSpPr/>
          <p:nvPr/>
        </p:nvSpPr>
        <p:spPr>
          <a:xfrm>
            <a:off x="6605778" y="4133088"/>
            <a:ext cx="279654" cy="54864"/>
          </a:xfrm>
          <a:prstGeom prst="rect">
            <a:avLst/>
          </a:prstGeom>
          <a:solidFill>
            <a:srgbClr val="6A4C93">
              <a:alpha val="85000"/>
            </a:srgbClr>
          </a:solidFill>
          <a:ln w="12700">
            <a:solidFill>
              <a:srgbClr val="333333"/>
            </a:solidFill>
            <a:prstDash val="solid"/>
          </a:ln>
        </p:spPr>
      </p:sp>
      <p:sp>
        <p:nvSpPr>
          <p:cNvPr id="150" name="Text 148"/>
          <p:cNvSpPr txBox="1"/>
          <p:nvPr/>
        </p:nvSpPr>
        <p:spPr>
          <a:xfrm>
            <a:off x="6496050" y="3950208"/>
            <a:ext cx="499110" cy="164592"/>
          </a:xfrm>
          <a:prstGeom prst="rect">
            <a:avLst/>
          </a:prstGeom>
          <a:noFill/>
          <a:ln/>
        </p:spPr>
        <p:txBody>
          <a:bodyPr wrap="square" lIns="0" tIns="0" rIns="0" bIns="0" rtlCol="0" anchor="ctr"/>
          <a:lstStyle/>
          <a:p>
            <a:pPr algn="ctr" indent="0" marL="0">
              <a:buNone/>
            </a:pPr>
            <a:r>
              <a:rPr lang="en-US" sz="700" dirty="0">
                <a:solidFill>
                  <a:srgbClr val="6A4C93"/>
                </a:solidFill>
                <a:latin typeface="Calibri" pitchFamily="34" charset="0"/>
                <a:ea typeface="Calibri" pitchFamily="34" charset="-122"/>
                <a:cs typeface="Calibri" pitchFamily="34" charset="-120"/>
              </a:rPr>
              <a:t>9</a:t>
            </a:r>
            <a:endParaRPr lang="en-US" sz="700" dirty="0"/>
          </a:p>
        </p:txBody>
      </p:sp>
      <p:sp>
        <p:nvSpPr>
          <p:cNvPr id="151" name="Shape 149"/>
          <p:cNvSpPr/>
          <p:nvPr/>
        </p:nvSpPr>
        <p:spPr>
          <a:xfrm>
            <a:off x="6922008" y="4160520"/>
            <a:ext cx="279654" cy="27432"/>
          </a:xfrm>
          <a:prstGeom prst="rect">
            <a:avLst/>
          </a:prstGeom>
          <a:solidFill>
            <a:srgbClr val="B8C4D3">
              <a:alpha val="60000"/>
            </a:srgbClr>
          </a:solidFill>
          <a:ln w="12700">
            <a:solidFill>
              <a:srgbClr val="333333"/>
            </a:solidFill>
            <a:prstDash val="solid"/>
          </a:ln>
        </p:spPr>
      </p:sp>
      <p:sp>
        <p:nvSpPr>
          <p:cNvPr id="152" name="Shape 150"/>
          <p:cNvSpPr/>
          <p:nvPr/>
        </p:nvSpPr>
        <p:spPr>
          <a:xfrm>
            <a:off x="7238238" y="4160520"/>
            <a:ext cx="279654" cy="27432"/>
          </a:xfrm>
          <a:prstGeom prst="rect">
            <a:avLst/>
          </a:prstGeom>
          <a:solidFill>
            <a:srgbClr val="B8C4D3">
              <a:alpha val="60000"/>
            </a:srgbClr>
          </a:solidFill>
          <a:ln w="12700">
            <a:solidFill>
              <a:srgbClr val="333333"/>
            </a:solidFill>
            <a:prstDash val="solid"/>
          </a:ln>
        </p:spPr>
      </p:sp>
      <p:sp>
        <p:nvSpPr>
          <p:cNvPr id="153" name="Shape 151"/>
          <p:cNvSpPr/>
          <p:nvPr/>
        </p:nvSpPr>
        <p:spPr>
          <a:xfrm>
            <a:off x="7554468" y="4160520"/>
            <a:ext cx="279654" cy="27432"/>
          </a:xfrm>
          <a:prstGeom prst="rect">
            <a:avLst/>
          </a:prstGeom>
          <a:solidFill>
            <a:srgbClr val="B8C4D3">
              <a:alpha val="60000"/>
            </a:srgbClr>
          </a:solidFill>
          <a:ln w="12700">
            <a:solidFill>
              <a:srgbClr val="333333"/>
            </a:solidFill>
            <a:prstDash val="solid"/>
          </a:ln>
        </p:spPr>
      </p:sp>
      <p:sp>
        <p:nvSpPr>
          <p:cNvPr id="154" name="Shape 152"/>
          <p:cNvSpPr/>
          <p:nvPr/>
        </p:nvSpPr>
        <p:spPr>
          <a:xfrm>
            <a:off x="7870698" y="4160520"/>
            <a:ext cx="279654" cy="27432"/>
          </a:xfrm>
          <a:prstGeom prst="rect">
            <a:avLst/>
          </a:prstGeom>
          <a:solidFill>
            <a:srgbClr val="B8C4D3">
              <a:alpha val="60000"/>
            </a:srgbClr>
          </a:solidFill>
          <a:ln w="12700">
            <a:solidFill>
              <a:srgbClr val="333333"/>
            </a:solidFill>
            <a:prstDash val="solid"/>
          </a:ln>
        </p:spPr>
      </p:sp>
      <p:sp>
        <p:nvSpPr>
          <p:cNvPr id="155" name="Shape 153"/>
          <p:cNvSpPr/>
          <p:nvPr/>
        </p:nvSpPr>
        <p:spPr>
          <a:xfrm>
            <a:off x="8186928" y="4160520"/>
            <a:ext cx="279654" cy="27432"/>
          </a:xfrm>
          <a:prstGeom prst="rect">
            <a:avLst/>
          </a:prstGeom>
          <a:solidFill>
            <a:srgbClr val="B8C4D3">
              <a:alpha val="60000"/>
            </a:srgbClr>
          </a:solidFill>
          <a:ln w="12700">
            <a:solidFill>
              <a:srgbClr val="333333"/>
            </a:solidFill>
            <a:prstDash val="solid"/>
          </a:ln>
        </p:spPr>
      </p:sp>
      <p:sp>
        <p:nvSpPr>
          <p:cNvPr id="156" name="Shape 154"/>
          <p:cNvSpPr/>
          <p:nvPr/>
        </p:nvSpPr>
        <p:spPr>
          <a:xfrm>
            <a:off x="8503158" y="4160520"/>
            <a:ext cx="279654" cy="27432"/>
          </a:xfrm>
          <a:prstGeom prst="rect">
            <a:avLst/>
          </a:prstGeom>
          <a:solidFill>
            <a:srgbClr val="B8C4D3">
              <a:alpha val="60000"/>
            </a:srgbClr>
          </a:solidFill>
          <a:ln w="12700">
            <a:solidFill>
              <a:srgbClr val="333333"/>
            </a:solidFill>
            <a:prstDash val="solid"/>
          </a:ln>
        </p:spPr>
      </p:sp>
      <p:sp>
        <p:nvSpPr>
          <p:cNvPr id="157" name="Shape 155"/>
          <p:cNvSpPr/>
          <p:nvPr/>
        </p:nvSpPr>
        <p:spPr>
          <a:xfrm>
            <a:off x="8819388" y="4160520"/>
            <a:ext cx="279654" cy="27432"/>
          </a:xfrm>
          <a:prstGeom prst="rect">
            <a:avLst/>
          </a:prstGeom>
          <a:solidFill>
            <a:srgbClr val="B8C4D3">
              <a:alpha val="60000"/>
            </a:srgbClr>
          </a:solidFill>
          <a:ln w="12700">
            <a:solidFill>
              <a:srgbClr val="333333"/>
            </a:solidFill>
            <a:prstDash val="solid"/>
          </a:ln>
        </p:spPr>
      </p:sp>
      <p:sp>
        <p:nvSpPr>
          <p:cNvPr id="158" name="Shape 156"/>
          <p:cNvSpPr/>
          <p:nvPr/>
        </p:nvSpPr>
        <p:spPr>
          <a:xfrm>
            <a:off x="9135618" y="4160520"/>
            <a:ext cx="279654" cy="27432"/>
          </a:xfrm>
          <a:prstGeom prst="rect">
            <a:avLst/>
          </a:prstGeom>
          <a:solidFill>
            <a:srgbClr val="B8C4D3">
              <a:alpha val="60000"/>
            </a:srgbClr>
          </a:solidFill>
          <a:ln w="12700">
            <a:solidFill>
              <a:srgbClr val="333333"/>
            </a:solidFill>
            <a:prstDash val="solid"/>
          </a:ln>
        </p:spPr>
      </p:sp>
      <p:sp>
        <p:nvSpPr>
          <p:cNvPr id="159" name="Shape 157"/>
          <p:cNvSpPr/>
          <p:nvPr/>
        </p:nvSpPr>
        <p:spPr>
          <a:xfrm>
            <a:off x="9451848" y="4160520"/>
            <a:ext cx="279654" cy="27432"/>
          </a:xfrm>
          <a:prstGeom prst="rect">
            <a:avLst/>
          </a:prstGeom>
          <a:solidFill>
            <a:srgbClr val="B8C4D3">
              <a:alpha val="60000"/>
            </a:srgbClr>
          </a:solidFill>
          <a:ln w="12700">
            <a:solidFill>
              <a:srgbClr val="333333"/>
            </a:solidFill>
            <a:prstDash val="solid"/>
          </a:ln>
        </p:spPr>
      </p:sp>
      <p:sp>
        <p:nvSpPr>
          <p:cNvPr id="160" name="Shape 158"/>
          <p:cNvSpPr/>
          <p:nvPr/>
        </p:nvSpPr>
        <p:spPr>
          <a:xfrm>
            <a:off x="9768078" y="4160520"/>
            <a:ext cx="279654" cy="27432"/>
          </a:xfrm>
          <a:prstGeom prst="rect">
            <a:avLst/>
          </a:prstGeom>
          <a:solidFill>
            <a:srgbClr val="B8C4D3">
              <a:alpha val="60000"/>
            </a:srgbClr>
          </a:solidFill>
          <a:ln w="12700">
            <a:solidFill>
              <a:srgbClr val="333333"/>
            </a:solidFill>
            <a:prstDash val="solid"/>
          </a:ln>
        </p:spPr>
      </p:sp>
      <p:sp>
        <p:nvSpPr>
          <p:cNvPr id="161" name="Shape 159"/>
          <p:cNvSpPr/>
          <p:nvPr/>
        </p:nvSpPr>
        <p:spPr>
          <a:xfrm>
            <a:off x="10084308" y="4160520"/>
            <a:ext cx="279654" cy="27432"/>
          </a:xfrm>
          <a:prstGeom prst="rect">
            <a:avLst/>
          </a:prstGeom>
          <a:solidFill>
            <a:srgbClr val="B8C4D3">
              <a:alpha val="60000"/>
            </a:srgbClr>
          </a:solidFill>
          <a:ln w="12700">
            <a:solidFill>
              <a:srgbClr val="333333"/>
            </a:solidFill>
            <a:prstDash val="solid"/>
          </a:ln>
        </p:spPr>
      </p:sp>
      <p:sp>
        <p:nvSpPr>
          <p:cNvPr id="162" name="Shape 160"/>
          <p:cNvSpPr/>
          <p:nvPr/>
        </p:nvSpPr>
        <p:spPr>
          <a:xfrm>
            <a:off x="10400538" y="4160520"/>
            <a:ext cx="279654" cy="27432"/>
          </a:xfrm>
          <a:prstGeom prst="rect">
            <a:avLst/>
          </a:prstGeom>
          <a:solidFill>
            <a:srgbClr val="B8C4D3">
              <a:alpha val="60000"/>
            </a:srgbClr>
          </a:solidFill>
          <a:ln w="12700">
            <a:solidFill>
              <a:srgbClr val="333333"/>
            </a:solidFill>
            <a:prstDash val="solid"/>
          </a:ln>
        </p:spPr>
      </p:sp>
      <p:sp>
        <p:nvSpPr>
          <p:cNvPr id="163" name="Shape 161"/>
          <p:cNvSpPr/>
          <p:nvPr/>
        </p:nvSpPr>
        <p:spPr>
          <a:xfrm>
            <a:off x="3108960" y="4187952"/>
            <a:ext cx="7589520" cy="0"/>
          </a:xfrm>
          <a:prstGeom prst="line">
            <a:avLst/>
          </a:prstGeom>
          <a:noFill/>
          <a:ln w="6350">
            <a:solidFill>
              <a:srgbClr val="B8C4D3"/>
            </a:solidFill>
            <a:prstDash val="solid"/>
          </a:ln>
        </p:spPr>
      </p:sp>
      <p:sp>
        <p:nvSpPr>
          <p:cNvPr id="164" name="Text 162"/>
          <p:cNvSpPr txBox="1"/>
          <p:nvPr/>
        </p:nvSpPr>
        <p:spPr>
          <a:xfrm>
            <a:off x="548640" y="4297680"/>
            <a:ext cx="2468880" cy="438912"/>
          </a:xfrm>
          <a:prstGeom prst="rect">
            <a:avLst/>
          </a:prstGeom>
          <a:noFill/>
          <a:ln/>
        </p:spPr>
        <p:txBody>
          <a:bodyPr wrap="square" lIns="0" tIns="0" rIns="0" bIns="0" rtlCol="0" anchor="ctr"/>
          <a:lstStyle/>
          <a:p>
            <a:pPr indent="0" marL="0">
              <a:buNone/>
            </a:pPr>
            <a:r>
              <a:rPr lang="en-US" sz="900" b="1" dirty="0">
                <a:solidFill>
                  <a:srgbClr val="6E8B5E"/>
                </a:solidFill>
                <a:latin typeface="Calibri" pitchFamily="34" charset="0"/>
                <a:ea typeface="Calibri" pitchFamily="34" charset="-122"/>
                <a:cs typeface="Calibri" pitchFamily="34" charset="-120"/>
              </a:rPr>
              <a:t>Own history (u, v at P)</a:t>
            </a:r>
            <a:endParaRPr lang="en-US" sz="900" dirty="0"/>
          </a:p>
          <a:p>
            <a:pPr indent="0" marL="0">
              <a:buNone/>
            </a:pPr>
            <a:r>
              <a:rPr lang="en-US" sz="800" dirty="0">
                <a:solidFill>
                  <a:srgbClr val="1B2430"/>
                </a:solidFill>
                <a:latin typeface="Calibri" pitchFamily="34" charset="0"/>
                <a:ea typeface="Calibri" pitchFamily="34" charset="-122"/>
                <a:cs typeface="Calibri" pitchFamily="34" charset="-120"/>
              </a:rPr>
              <a:t>27 slot-lags · 99 % saved</a:t>
            </a:r>
            <a:endParaRPr lang="en-US" sz="900" dirty="0"/>
          </a:p>
        </p:txBody>
      </p:sp>
      <p:sp>
        <p:nvSpPr>
          <p:cNvPr id="165" name="Shape 163"/>
          <p:cNvSpPr/>
          <p:nvPr/>
        </p:nvSpPr>
        <p:spPr>
          <a:xfrm>
            <a:off x="3127248" y="4681728"/>
            <a:ext cx="279654" cy="54864"/>
          </a:xfrm>
          <a:prstGeom prst="rect">
            <a:avLst/>
          </a:prstGeom>
          <a:solidFill>
            <a:srgbClr val="6E8B5E">
              <a:alpha val="85000"/>
            </a:srgbClr>
          </a:solidFill>
          <a:ln w="12700">
            <a:solidFill>
              <a:srgbClr val="333333"/>
            </a:solidFill>
            <a:prstDash val="solid"/>
          </a:ln>
        </p:spPr>
      </p:sp>
      <p:sp>
        <p:nvSpPr>
          <p:cNvPr id="166" name="Text 164"/>
          <p:cNvSpPr txBox="1"/>
          <p:nvPr/>
        </p:nvSpPr>
        <p:spPr>
          <a:xfrm>
            <a:off x="3017520" y="4498848"/>
            <a:ext cx="499110" cy="164592"/>
          </a:xfrm>
          <a:prstGeom prst="rect">
            <a:avLst/>
          </a:prstGeom>
          <a:noFill/>
          <a:ln/>
        </p:spPr>
        <p:txBody>
          <a:bodyPr wrap="square" lIns="0" tIns="0" rIns="0" bIns="0" rtlCol="0" anchor="ctr"/>
          <a:lstStyle/>
          <a:p>
            <a:pPr algn="ctr" indent="0" marL="0">
              <a:buNone/>
            </a:pPr>
            <a:r>
              <a:rPr lang="en-US" sz="700" dirty="0">
                <a:solidFill>
                  <a:srgbClr val="6E8B5E"/>
                </a:solidFill>
                <a:latin typeface="Calibri" pitchFamily="34" charset="0"/>
                <a:ea typeface="Calibri" pitchFamily="34" charset="-122"/>
                <a:cs typeface="Calibri" pitchFamily="34" charset="-120"/>
              </a:rPr>
              <a:t>9</a:t>
            </a:r>
            <a:endParaRPr lang="en-US" sz="700" dirty="0"/>
          </a:p>
        </p:txBody>
      </p:sp>
      <p:sp>
        <p:nvSpPr>
          <p:cNvPr id="167" name="Shape 165"/>
          <p:cNvSpPr/>
          <p:nvPr/>
        </p:nvSpPr>
        <p:spPr>
          <a:xfrm>
            <a:off x="3443478" y="4681728"/>
            <a:ext cx="279654" cy="54864"/>
          </a:xfrm>
          <a:prstGeom prst="rect">
            <a:avLst/>
          </a:prstGeom>
          <a:solidFill>
            <a:srgbClr val="6E8B5E">
              <a:alpha val="85000"/>
            </a:srgbClr>
          </a:solidFill>
          <a:ln w="12700">
            <a:solidFill>
              <a:srgbClr val="333333"/>
            </a:solidFill>
            <a:prstDash val="solid"/>
          </a:ln>
        </p:spPr>
      </p:sp>
      <p:sp>
        <p:nvSpPr>
          <p:cNvPr id="168" name="Shape 166"/>
          <p:cNvSpPr/>
          <p:nvPr/>
        </p:nvSpPr>
        <p:spPr>
          <a:xfrm>
            <a:off x="3759708" y="4681728"/>
            <a:ext cx="279654" cy="54864"/>
          </a:xfrm>
          <a:prstGeom prst="rect">
            <a:avLst/>
          </a:prstGeom>
          <a:solidFill>
            <a:srgbClr val="6E8B5E">
              <a:alpha val="85000"/>
            </a:srgbClr>
          </a:solidFill>
          <a:ln w="12700">
            <a:solidFill>
              <a:srgbClr val="333333"/>
            </a:solidFill>
            <a:prstDash val="solid"/>
          </a:ln>
        </p:spPr>
      </p:sp>
      <p:sp>
        <p:nvSpPr>
          <p:cNvPr id="169" name="Shape 167"/>
          <p:cNvSpPr/>
          <p:nvPr/>
        </p:nvSpPr>
        <p:spPr>
          <a:xfrm>
            <a:off x="4075938" y="4709160"/>
            <a:ext cx="279654" cy="27432"/>
          </a:xfrm>
          <a:prstGeom prst="rect">
            <a:avLst/>
          </a:prstGeom>
          <a:solidFill>
            <a:srgbClr val="B8C4D3">
              <a:alpha val="60000"/>
            </a:srgbClr>
          </a:solidFill>
          <a:ln w="12700">
            <a:solidFill>
              <a:srgbClr val="333333"/>
            </a:solidFill>
            <a:prstDash val="solid"/>
          </a:ln>
        </p:spPr>
      </p:sp>
      <p:sp>
        <p:nvSpPr>
          <p:cNvPr id="170" name="Shape 168"/>
          <p:cNvSpPr/>
          <p:nvPr/>
        </p:nvSpPr>
        <p:spPr>
          <a:xfrm>
            <a:off x="4392168" y="4709160"/>
            <a:ext cx="279654" cy="27432"/>
          </a:xfrm>
          <a:prstGeom prst="rect">
            <a:avLst/>
          </a:prstGeom>
          <a:solidFill>
            <a:srgbClr val="B8C4D3">
              <a:alpha val="60000"/>
            </a:srgbClr>
          </a:solidFill>
          <a:ln w="12700">
            <a:solidFill>
              <a:srgbClr val="333333"/>
            </a:solidFill>
            <a:prstDash val="solid"/>
          </a:ln>
        </p:spPr>
      </p:sp>
      <p:sp>
        <p:nvSpPr>
          <p:cNvPr id="171" name="Shape 169"/>
          <p:cNvSpPr/>
          <p:nvPr/>
        </p:nvSpPr>
        <p:spPr>
          <a:xfrm>
            <a:off x="4708398" y="4709160"/>
            <a:ext cx="279654" cy="27432"/>
          </a:xfrm>
          <a:prstGeom prst="rect">
            <a:avLst/>
          </a:prstGeom>
          <a:solidFill>
            <a:srgbClr val="B8C4D3">
              <a:alpha val="60000"/>
            </a:srgbClr>
          </a:solidFill>
          <a:ln w="12700">
            <a:solidFill>
              <a:srgbClr val="333333"/>
            </a:solidFill>
            <a:prstDash val="solid"/>
          </a:ln>
        </p:spPr>
      </p:sp>
      <p:sp>
        <p:nvSpPr>
          <p:cNvPr id="172" name="Shape 170"/>
          <p:cNvSpPr/>
          <p:nvPr/>
        </p:nvSpPr>
        <p:spPr>
          <a:xfrm>
            <a:off x="5024628" y="4709160"/>
            <a:ext cx="279654" cy="27432"/>
          </a:xfrm>
          <a:prstGeom prst="rect">
            <a:avLst/>
          </a:prstGeom>
          <a:solidFill>
            <a:srgbClr val="B8C4D3">
              <a:alpha val="60000"/>
            </a:srgbClr>
          </a:solidFill>
          <a:ln w="12700">
            <a:solidFill>
              <a:srgbClr val="333333"/>
            </a:solidFill>
            <a:prstDash val="solid"/>
          </a:ln>
        </p:spPr>
      </p:sp>
      <p:sp>
        <p:nvSpPr>
          <p:cNvPr id="173" name="Shape 171"/>
          <p:cNvSpPr/>
          <p:nvPr/>
        </p:nvSpPr>
        <p:spPr>
          <a:xfrm>
            <a:off x="5340858" y="4709160"/>
            <a:ext cx="279654" cy="27432"/>
          </a:xfrm>
          <a:prstGeom prst="rect">
            <a:avLst/>
          </a:prstGeom>
          <a:solidFill>
            <a:srgbClr val="B8C4D3">
              <a:alpha val="60000"/>
            </a:srgbClr>
          </a:solidFill>
          <a:ln w="12700">
            <a:solidFill>
              <a:srgbClr val="333333"/>
            </a:solidFill>
            <a:prstDash val="solid"/>
          </a:ln>
        </p:spPr>
      </p:sp>
      <p:sp>
        <p:nvSpPr>
          <p:cNvPr id="174" name="Shape 172"/>
          <p:cNvSpPr/>
          <p:nvPr/>
        </p:nvSpPr>
        <p:spPr>
          <a:xfrm>
            <a:off x="5657088" y="4709160"/>
            <a:ext cx="279654" cy="27432"/>
          </a:xfrm>
          <a:prstGeom prst="rect">
            <a:avLst/>
          </a:prstGeom>
          <a:solidFill>
            <a:srgbClr val="B8C4D3">
              <a:alpha val="60000"/>
            </a:srgbClr>
          </a:solidFill>
          <a:ln w="12700">
            <a:solidFill>
              <a:srgbClr val="333333"/>
            </a:solidFill>
            <a:prstDash val="solid"/>
          </a:ln>
        </p:spPr>
      </p:sp>
      <p:sp>
        <p:nvSpPr>
          <p:cNvPr id="175" name="Shape 173"/>
          <p:cNvSpPr/>
          <p:nvPr/>
        </p:nvSpPr>
        <p:spPr>
          <a:xfrm>
            <a:off x="5973318" y="4709160"/>
            <a:ext cx="279654" cy="27432"/>
          </a:xfrm>
          <a:prstGeom prst="rect">
            <a:avLst/>
          </a:prstGeom>
          <a:solidFill>
            <a:srgbClr val="B8C4D3">
              <a:alpha val="60000"/>
            </a:srgbClr>
          </a:solidFill>
          <a:ln w="12700">
            <a:solidFill>
              <a:srgbClr val="333333"/>
            </a:solidFill>
            <a:prstDash val="solid"/>
          </a:ln>
        </p:spPr>
      </p:sp>
      <p:sp>
        <p:nvSpPr>
          <p:cNvPr id="176" name="Shape 174"/>
          <p:cNvSpPr/>
          <p:nvPr/>
        </p:nvSpPr>
        <p:spPr>
          <a:xfrm>
            <a:off x="6289548" y="4709160"/>
            <a:ext cx="279654" cy="27432"/>
          </a:xfrm>
          <a:prstGeom prst="rect">
            <a:avLst/>
          </a:prstGeom>
          <a:solidFill>
            <a:srgbClr val="B8C4D3">
              <a:alpha val="60000"/>
            </a:srgbClr>
          </a:solidFill>
          <a:ln w="12700">
            <a:solidFill>
              <a:srgbClr val="333333"/>
            </a:solidFill>
            <a:prstDash val="solid"/>
          </a:ln>
        </p:spPr>
      </p:sp>
      <p:sp>
        <p:nvSpPr>
          <p:cNvPr id="177" name="Shape 175"/>
          <p:cNvSpPr/>
          <p:nvPr/>
        </p:nvSpPr>
        <p:spPr>
          <a:xfrm>
            <a:off x="6605778" y="4709160"/>
            <a:ext cx="279654" cy="27432"/>
          </a:xfrm>
          <a:prstGeom prst="rect">
            <a:avLst/>
          </a:prstGeom>
          <a:solidFill>
            <a:srgbClr val="B8C4D3">
              <a:alpha val="60000"/>
            </a:srgbClr>
          </a:solidFill>
          <a:ln w="12700">
            <a:solidFill>
              <a:srgbClr val="333333"/>
            </a:solidFill>
            <a:prstDash val="solid"/>
          </a:ln>
        </p:spPr>
      </p:sp>
      <p:sp>
        <p:nvSpPr>
          <p:cNvPr id="178" name="Shape 176"/>
          <p:cNvSpPr/>
          <p:nvPr/>
        </p:nvSpPr>
        <p:spPr>
          <a:xfrm>
            <a:off x="6922008" y="4709160"/>
            <a:ext cx="279654" cy="27432"/>
          </a:xfrm>
          <a:prstGeom prst="rect">
            <a:avLst/>
          </a:prstGeom>
          <a:solidFill>
            <a:srgbClr val="B8C4D3">
              <a:alpha val="60000"/>
            </a:srgbClr>
          </a:solidFill>
          <a:ln w="12700">
            <a:solidFill>
              <a:srgbClr val="333333"/>
            </a:solidFill>
            <a:prstDash val="solid"/>
          </a:ln>
        </p:spPr>
      </p:sp>
      <p:sp>
        <p:nvSpPr>
          <p:cNvPr id="179" name="Shape 177"/>
          <p:cNvSpPr/>
          <p:nvPr/>
        </p:nvSpPr>
        <p:spPr>
          <a:xfrm>
            <a:off x="7238238" y="4709160"/>
            <a:ext cx="279654" cy="27432"/>
          </a:xfrm>
          <a:prstGeom prst="rect">
            <a:avLst/>
          </a:prstGeom>
          <a:solidFill>
            <a:srgbClr val="B8C4D3">
              <a:alpha val="60000"/>
            </a:srgbClr>
          </a:solidFill>
          <a:ln w="12700">
            <a:solidFill>
              <a:srgbClr val="333333"/>
            </a:solidFill>
            <a:prstDash val="solid"/>
          </a:ln>
        </p:spPr>
      </p:sp>
      <p:sp>
        <p:nvSpPr>
          <p:cNvPr id="180" name="Shape 178"/>
          <p:cNvSpPr/>
          <p:nvPr/>
        </p:nvSpPr>
        <p:spPr>
          <a:xfrm>
            <a:off x="7554468" y="4709160"/>
            <a:ext cx="279654" cy="27432"/>
          </a:xfrm>
          <a:prstGeom prst="rect">
            <a:avLst/>
          </a:prstGeom>
          <a:solidFill>
            <a:srgbClr val="B8C4D3">
              <a:alpha val="60000"/>
            </a:srgbClr>
          </a:solidFill>
          <a:ln w="12700">
            <a:solidFill>
              <a:srgbClr val="333333"/>
            </a:solidFill>
            <a:prstDash val="solid"/>
          </a:ln>
        </p:spPr>
      </p:sp>
      <p:sp>
        <p:nvSpPr>
          <p:cNvPr id="181" name="Shape 179"/>
          <p:cNvSpPr/>
          <p:nvPr/>
        </p:nvSpPr>
        <p:spPr>
          <a:xfrm>
            <a:off x="7870698" y="4709160"/>
            <a:ext cx="279654" cy="27432"/>
          </a:xfrm>
          <a:prstGeom prst="rect">
            <a:avLst/>
          </a:prstGeom>
          <a:solidFill>
            <a:srgbClr val="B8C4D3">
              <a:alpha val="60000"/>
            </a:srgbClr>
          </a:solidFill>
          <a:ln w="12700">
            <a:solidFill>
              <a:srgbClr val="333333"/>
            </a:solidFill>
            <a:prstDash val="solid"/>
          </a:ln>
        </p:spPr>
      </p:sp>
      <p:sp>
        <p:nvSpPr>
          <p:cNvPr id="182" name="Shape 180"/>
          <p:cNvSpPr/>
          <p:nvPr/>
        </p:nvSpPr>
        <p:spPr>
          <a:xfrm>
            <a:off x="8186928" y="4709160"/>
            <a:ext cx="279654" cy="27432"/>
          </a:xfrm>
          <a:prstGeom prst="rect">
            <a:avLst/>
          </a:prstGeom>
          <a:solidFill>
            <a:srgbClr val="B8C4D3">
              <a:alpha val="60000"/>
            </a:srgbClr>
          </a:solidFill>
          <a:ln w="12700">
            <a:solidFill>
              <a:srgbClr val="333333"/>
            </a:solidFill>
            <a:prstDash val="solid"/>
          </a:ln>
        </p:spPr>
      </p:sp>
      <p:sp>
        <p:nvSpPr>
          <p:cNvPr id="183" name="Shape 181"/>
          <p:cNvSpPr/>
          <p:nvPr/>
        </p:nvSpPr>
        <p:spPr>
          <a:xfrm>
            <a:off x="8503158" y="4709160"/>
            <a:ext cx="279654" cy="27432"/>
          </a:xfrm>
          <a:prstGeom prst="rect">
            <a:avLst/>
          </a:prstGeom>
          <a:solidFill>
            <a:srgbClr val="B8C4D3">
              <a:alpha val="60000"/>
            </a:srgbClr>
          </a:solidFill>
          <a:ln w="12700">
            <a:solidFill>
              <a:srgbClr val="333333"/>
            </a:solidFill>
            <a:prstDash val="solid"/>
          </a:ln>
        </p:spPr>
      </p:sp>
      <p:sp>
        <p:nvSpPr>
          <p:cNvPr id="184" name="Shape 182"/>
          <p:cNvSpPr/>
          <p:nvPr/>
        </p:nvSpPr>
        <p:spPr>
          <a:xfrm>
            <a:off x="8819388" y="4709160"/>
            <a:ext cx="279654" cy="27432"/>
          </a:xfrm>
          <a:prstGeom prst="rect">
            <a:avLst/>
          </a:prstGeom>
          <a:solidFill>
            <a:srgbClr val="B8C4D3">
              <a:alpha val="60000"/>
            </a:srgbClr>
          </a:solidFill>
          <a:ln w="12700">
            <a:solidFill>
              <a:srgbClr val="333333"/>
            </a:solidFill>
            <a:prstDash val="solid"/>
          </a:ln>
        </p:spPr>
      </p:sp>
      <p:sp>
        <p:nvSpPr>
          <p:cNvPr id="185" name="Shape 183"/>
          <p:cNvSpPr/>
          <p:nvPr/>
        </p:nvSpPr>
        <p:spPr>
          <a:xfrm>
            <a:off x="9135618" y="4709160"/>
            <a:ext cx="279654" cy="27432"/>
          </a:xfrm>
          <a:prstGeom prst="rect">
            <a:avLst/>
          </a:prstGeom>
          <a:solidFill>
            <a:srgbClr val="B8C4D3">
              <a:alpha val="60000"/>
            </a:srgbClr>
          </a:solidFill>
          <a:ln w="12700">
            <a:solidFill>
              <a:srgbClr val="333333"/>
            </a:solidFill>
            <a:prstDash val="solid"/>
          </a:ln>
        </p:spPr>
      </p:sp>
      <p:sp>
        <p:nvSpPr>
          <p:cNvPr id="186" name="Shape 184"/>
          <p:cNvSpPr/>
          <p:nvPr/>
        </p:nvSpPr>
        <p:spPr>
          <a:xfrm>
            <a:off x="9451848" y="4709160"/>
            <a:ext cx="279654" cy="27432"/>
          </a:xfrm>
          <a:prstGeom prst="rect">
            <a:avLst/>
          </a:prstGeom>
          <a:solidFill>
            <a:srgbClr val="B8C4D3">
              <a:alpha val="60000"/>
            </a:srgbClr>
          </a:solidFill>
          <a:ln w="12700">
            <a:solidFill>
              <a:srgbClr val="333333"/>
            </a:solidFill>
            <a:prstDash val="solid"/>
          </a:ln>
        </p:spPr>
      </p:sp>
      <p:sp>
        <p:nvSpPr>
          <p:cNvPr id="187" name="Shape 185"/>
          <p:cNvSpPr/>
          <p:nvPr/>
        </p:nvSpPr>
        <p:spPr>
          <a:xfrm>
            <a:off x="9768078" y="4709160"/>
            <a:ext cx="279654" cy="27432"/>
          </a:xfrm>
          <a:prstGeom prst="rect">
            <a:avLst/>
          </a:prstGeom>
          <a:solidFill>
            <a:srgbClr val="B8C4D3">
              <a:alpha val="60000"/>
            </a:srgbClr>
          </a:solidFill>
          <a:ln w="12700">
            <a:solidFill>
              <a:srgbClr val="333333"/>
            </a:solidFill>
            <a:prstDash val="solid"/>
          </a:ln>
        </p:spPr>
      </p:sp>
      <p:sp>
        <p:nvSpPr>
          <p:cNvPr id="188" name="Shape 186"/>
          <p:cNvSpPr/>
          <p:nvPr/>
        </p:nvSpPr>
        <p:spPr>
          <a:xfrm>
            <a:off x="10084308" y="4709160"/>
            <a:ext cx="279654" cy="27432"/>
          </a:xfrm>
          <a:prstGeom prst="rect">
            <a:avLst/>
          </a:prstGeom>
          <a:solidFill>
            <a:srgbClr val="B8C4D3">
              <a:alpha val="60000"/>
            </a:srgbClr>
          </a:solidFill>
          <a:ln w="12700">
            <a:solidFill>
              <a:srgbClr val="333333"/>
            </a:solidFill>
            <a:prstDash val="solid"/>
          </a:ln>
        </p:spPr>
      </p:sp>
      <p:sp>
        <p:nvSpPr>
          <p:cNvPr id="189" name="Shape 187"/>
          <p:cNvSpPr/>
          <p:nvPr/>
        </p:nvSpPr>
        <p:spPr>
          <a:xfrm>
            <a:off x="10400538" y="4709160"/>
            <a:ext cx="279654" cy="27432"/>
          </a:xfrm>
          <a:prstGeom prst="rect">
            <a:avLst/>
          </a:prstGeom>
          <a:solidFill>
            <a:srgbClr val="B8C4D3">
              <a:alpha val="60000"/>
            </a:srgbClr>
          </a:solidFill>
          <a:ln w="12700">
            <a:solidFill>
              <a:srgbClr val="333333"/>
            </a:solidFill>
            <a:prstDash val="solid"/>
          </a:ln>
        </p:spPr>
      </p:sp>
      <p:sp>
        <p:nvSpPr>
          <p:cNvPr id="190" name="Shape 188"/>
          <p:cNvSpPr/>
          <p:nvPr/>
        </p:nvSpPr>
        <p:spPr>
          <a:xfrm>
            <a:off x="3108960" y="4736592"/>
            <a:ext cx="7589520" cy="0"/>
          </a:xfrm>
          <a:prstGeom prst="line">
            <a:avLst/>
          </a:prstGeom>
          <a:noFill/>
          <a:ln w="6350">
            <a:solidFill>
              <a:srgbClr val="B8C4D3"/>
            </a:solidFill>
            <a:prstDash val="solid"/>
          </a:ln>
        </p:spPr>
      </p:sp>
      <p:sp>
        <p:nvSpPr>
          <p:cNvPr id="191" name="Shape 189"/>
          <p:cNvSpPr/>
          <p:nvPr/>
        </p:nvSpPr>
        <p:spPr>
          <a:xfrm>
            <a:off x="548640" y="4892040"/>
            <a:ext cx="11064240" cy="777240"/>
          </a:xfrm>
          <a:prstGeom prst="roundRect">
            <a:avLst>
              <a:gd name="adj" fmla="val 7059"/>
            </a:avLst>
          </a:prstGeom>
          <a:solidFill>
            <a:srgbClr val="EEF3F8"/>
          </a:solidFill>
          <a:ln w="12700">
            <a:solidFill>
              <a:srgbClr val="333333"/>
            </a:solidFill>
            <a:prstDash val="solid"/>
          </a:ln>
        </p:spPr>
      </p:sp>
      <p:sp>
        <p:nvSpPr>
          <p:cNvPr id="192" name="Text 190"/>
          <p:cNvSpPr txBox="1"/>
          <p:nvPr/>
        </p:nvSpPr>
        <p:spPr>
          <a:xfrm>
            <a:off x="731520" y="4937760"/>
            <a:ext cx="1069848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851</a:t>
            </a:r>
            <a:pPr indent="0" marL="0">
              <a:buNone/>
            </a:pPr>
            <a:r>
              <a:rPr lang="en-US" sz="1100" dirty="0">
                <a:solidFill>
                  <a:srgbClr val="1B2430"/>
                </a:solidFill>
                <a:latin typeface="Calibri" pitchFamily="34" charset="0"/>
                <a:ea typeface="Calibri" pitchFamily="34" charset="-122"/>
                <a:cs typeface="Calibri" pitchFamily="34" charset="-120"/>
              </a:rPr>
              <a:t>  cone-shaped slot-lags for the six channels   vs   </a:t>
            </a:r>
            <a:pPr indent="0" marL="0">
              <a:buNone/>
            </a:pPr>
            <a:r>
              <a:rPr lang="en-US" sz="2000" b="1" dirty="0">
                <a:solidFill>
                  <a:srgbClr val="6B7A8F"/>
                </a:solidFill>
                <a:latin typeface="Calibri" pitchFamily="34" charset="0"/>
                <a:ea typeface="Calibri" pitchFamily="34" charset="-122"/>
                <a:cs typeface="Calibri" pitchFamily="34" charset="-120"/>
              </a:rPr>
              <a:t>12,816</a:t>
            </a:r>
            <a:pPr indent="0" marL="0">
              <a:buNone/>
            </a:pPr>
            <a:r>
              <a:rPr lang="en-US" sz="1100" dirty="0">
                <a:solidFill>
                  <a:srgbClr val="1B2430"/>
                </a:solidFill>
                <a:latin typeface="Calibri" pitchFamily="34" charset="0"/>
                <a:ea typeface="Calibri" pitchFamily="34" charset="-122"/>
                <a:cs typeface="Calibri" pitchFamily="34" charset="-120"/>
              </a:rPr>
              <a:t>  for the cylinder (89 × 24 × 6)   →   </a:t>
            </a:r>
            <a:pPr indent="0" marL="0">
              <a:buNone/>
            </a:pPr>
            <a:r>
              <a:rPr lang="en-US" sz="2000" b="1" dirty="0">
                <a:solidFill>
                  <a:srgbClr val="1F7A4D"/>
                </a:solidFill>
                <a:latin typeface="Calibri" pitchFamily="34" charset="0"/>
                <a:ea typeface="Calibri" pitchFamily="34" charset="-122"/>
                <a:cs typeface="Calibri" pitchFamily="34" charset="-120"/>
              </a:rPr>
              <a:t>93.4 % fewer</a:t>
            </a:r>
            <a:endParaRPr lang="en-US" sz="2000" dirty="0"/>
          </a:p>
        </p:txBody>
      </p:sp>
      <p:sp>
        <p:nvSpPr>
          <p:cNvPr id="193" name="Text 191"/>
          <p:cNvSpPr txBox="1"/>
          <p:nvPr/>
        </p:nvSpPr>
        <p:spPr>
          <a:xfrm>
            <a:off x="731520" y="5394960"/>
            <a:ext cx="10698480" cy="274320"/>
          </a:xfrm>
          <a:prstGeom prst="rect">
            <a:avLst/>
          </a:prstGeom>
          <a:noFill/>
          <a:ln/>
        </p:spPr>
        <p:txBody>
          <a:bodyPr wrap="square" lIns="0" tIns="0" rIns="0" bIns="0" rtlCol="0" anchor="ctr"/>
          <a:lstStyle/>
          <a:p>
            <a:pPr indent="0" marL="0">
              <a:buNone/>
            </a:pPr>
            <a:r>
              <a:rPr lang="en-US" sz="850" i="1" dirty="0">
                <a:solidFill>
                  <a:srgbClr val="6B7A8F"/>
                </a:solidFill>
                <a:latin typeface="Calibri" pitchFamily="34" charset="0"/>
                <a:ea typeface="Calibri" pitchFamily="34" charset="-122"/>
                <a:cs typeface="Calibri" pitchFamily="34" charset="-120"/>
              </a:rPr>
              <a:t>Bar height = slots needed at that lag (max 89). Grey stubs = lags outside the driver's memory: dropped. Numbers label the first lag, every sixth, and the first few changes.</a:t>
            </a:r>
            <a:endParaRPr lang="en-US" sz="850" dirty="0"/>
          </a:p>
        </p:txBody>
      </p:sp>
      <p:sp>
        <p:nvSpPr>
          <p:cNvPr id="194" name="Text 192"/>
          <p:cNvSpPr txBox="1"/>
          <p:nvPr/>
        </p:nvSpPr>
        <p:spPr>
          <a:xfrm>
            <a:off x="548640" y="5760720"/>
            <a:ext cx="11064240" cy="73152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What the shapes say.  </a:t>
            </a:r>
            <a:pPr indent="0" marL="0">
              <a:buNone/>
            </a:pPr>
            <a:r>
              <a:rPr lang="en-US" sz="850" dirty="0">
                <a:solidFill>
                  <a:srgbClr val="1B2430"/>
                </a:solidFill>
                <a:latin typeface="Calibri" pitchFamily="34" charset="0"/>
                <a:ea typeface="Calibri" pitchFamily="34" charset="-122"/>
                <a:cs typeface="Calibri" pitchFamily="34" charset="-120"/>
              </a:rPr>
              <a:t>Wind is one full-width sheet at lag 0 and nothing else. Air temperature is a wide sheet for six lags (the mixed layer's memory). Surface T is a true cone: 9 slots at lag 0 growing to 44 at lag 7. Interior T/S is a thin 24-lag column at the 9-slot floor for a year and a half before it widens. SSH is a thin 12-lag column (plus the coastal arm the isotropic count ignores). Own history is three short lags. The cylinder spends 2,136 on each of them; the budget frees ~93 % of the slots for the ones that matter — or lets us afford 48-month history for the interior channels at no extra cost.</a:t>
            </a:r>
            <a:endParaRPr lang="en-US" sz="850" dirty="0"/>
          </a:p>
        </p:txBody>
      </p:sp>
      <p:sp>
        <p:nvSpPr>
          <p:cNvPr id="195" name="Text 19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Step 3 — the physics behind each wedge</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The stencil fixes the support; attention learns the weights. Four ablations on this target decide whether the support is right.</a:t>
            </a:r>
            <a:endParaRPr lang="en-US" sz="1250" dirty="0"/>
          </a:p>
        </p:txBody>
      </p:sp>
      <p:sp>
        <p:nvSpPr>
          <p:cNvPr id="4" name="Shape 2"/>
          <p:cNvSpPr/>
          <p:nvPr/>
        </p:nvSpPr>
        <p:spPr>
          <a:xfrm>
            <a:off x="548640" y="1417320"/>
            <a:ext cx="2651760" cy="2331720"/>
          </a:xfrm>
          <a:prstGeom prst="roundRect">
            <a:avLst>
              <a:gd name="adj" fmla="val 3137"/>
            </a:avLst>
          </a:prstGeom>
          <a:solidFill>
            <a:srgbClr val="EEF3F8"/>
          </a:solidFill>
          <a:ln w="15875">
            <a:solidFill>
              <a:srgbClr val="C9922A"/>
            </a:solidFill>
            <a:prstDash val="solid"/>
          </a:ln>
        </p:spPr>
      </p:sp>
      <p:sp>
        <p:nvSpPr>
          <p:cNvPr id="5" name="Text 3"/>
          <p:cNvSpPr txBox="1"/>
          <p:nvPr/>
        </p:nvSpPr>
        <p:spPr>
          <a:xfrm>
            <a:off x="676656" y="1481328"/>
            <a:ext cx="2395728" cy="2212848"/>
          </a:xfrm>
          <a:prstGeom prst="rect">
            <a:avLst/>
          </a:prstGeom>
          <a:noFill/>
          <a:ln/>
        </p:spPr>
        <p:txBody>
          <a:bodyPr wrap="square" lIns="0" tIns="0" rIns="0" bIns="0" rtlCol="0" anchor="t"/>
          <a:lstStyle/>
          <a:p>
            <a:pPr indent="0" marL="0">
              <a:buNone/>
            </a:pPr>
            <a:r>
              <a:rPr lang="en-US" sz="1050" b="1" dirty="0">
                <a:solidFill>
                  <a:srgbClr val="C9922A"/>
                </a:solidFill>
                <a:latin typeface="Calibri" pitchFamily="34" charset="0"/>
                <a:ea typeface="Calibri" pitchFamily="34" charset="-122"/>
                <a:cs typeface="Calibri" pitchFamily="34" charset="-120"/>
              </a:rPr>
              <a:t>Ekman — wind → drift</a:t>
            </a:r>
            <a:endParaRPr lang="en-US" sz="1050" dirty="0"/>
          </a:p>
          <a:p>
            <a:pPr indent="0" marL="0">
              <a:buNone/>
            </a:pPr>
            <a:r>
              <a:rPr lang="en-US" sz="1000" dirty="0">
                <a:solidFill>
                  <a:srgbClr val="1B2430"/>
                </a:solidFill>
                <a:latin typeface="Calibri" pitchFamily="34" charset="0"/>
                <a:ea typeface="Calibri" pitchFamily="34" charset="-122"/>
                <a:cs typeface="Calibri" pitchFamily="34" charset="-120"/>
              </a:rPr>
              <a:t>Surface stress τ drives a transport ≈ τ/(ρ f) at 90° to the wind within ~1 inertial period (≈ 1 day at 30°). Local, fast, shallow (tens of m). At monthly cadence this is same-step forcing: the wind of month t+1 is unknown, the wind of month t is already in the ocean state.</a:t>
            </a:r>
            <a:endParaRPr lang="en-US" sz="1050" dirty="0"/>
          </a:p>
        </p:txBody>
      </p:sp>
      <p:sp>
        <p:nvSpPr>
          <p:cNvPr id="6" name="Shape 4"/>
          <p:cNvSpPr/>
          <p:nvPr/>
        </p:nvSpPr>
        <p:spPr>
          <a:xfrm>
            <a:off x="3337560" y="1417320"/>
            <a:ext cx="2651760" cy="2331720"/>
          </a:xfrm>
          <a:prstGeom prst="roundRect">
            <a:avLst>
              <a:gd name="adj" fmla="val 3137"/>
            </a:avLst>
          </a:prstGeom>
          <a:solidFill>
            <a:srgbClr val="EEF3F8"/>
          </a:solidFill>
          <a:ln w="15875">
            <a:solidFill>
              <a:srgbClr val="3B6FD4"/>
            </a:solidFill>
            <a:prstDash val="solid"/>
          </a:ln>
        </p:spPr>
      </p:sp>
      <p:sp>
        <p:nvSpPr>
          <p:cNvPr id="7" name="Text 5"/>
          <p:cNvSpPr txBox="1"/>
          <p:nvPr/>
        </p:nvSpPr>
        <p:spPr>
          <a:xfrm>
            <a:off x="3465576" y="1481328"/>
            <a:ext cx="2395728" cy="2212848"/>
          </a:xfrm>
          <a:prstGeom prst="rect">
            <a:avLst/>
          </a:prstGeom>
          <a:noFill/>
          <a:ln/>
        </p:spPr>
        <p:txBody>
          <a:bodyPr wrap="square" lIns="0" tIns="0" rIns="0" bIns="0" rtlCol="0" anchor="t"/>
          <a:lstStyle/>
          <a:p>
            <a:pPr indent="0" marL="0">
              <a:buNone/>
            </a:pPr>
            <a:r>
              <a:rPr lang="en-US" sz="1050" b="1" dirty="0">
                <a:solidFill>
                  <a:srgbClr val="3B6FD4"/>
                </a:solidFill>
                <a:latin typeface="Calibri" pitchFamily="34" charset="0"/>
                <a:ea typeface="Calibri" pitchFamily="34" charset="-122"/>
                <a:cs typeface="Calibri" pitchFamily="34" charset="-120"/>
              </a:rPr>
              <a:t>Thermal wind — T, S gradients → shear</a:t>
            </a:r>
            <a:endParaRPr lang="en-US" sz="1050" dirty="0"/>
          </a:p>
          <a:p>
            <a:pPr indent="0" marL="0">
              <a:buNone/>
            </a:pPr>
            <a:r>
              <a:rPr lang="en-US" sz="1000" dirty="0">
                <a:solidFill>
                  <a:srgbClr val="1B2430"/>
                </a:solidFill>
                <a:latin typeface="Calibri" pitchFamily="34" charset="0"/>
                <a:ea typeface="Calibri" pitchFamily="34" charset="-122"/>
                <a:cs typeface="Calibri" pitchFamily="34" charset="-120"/>
              </a:rPr>
              <a:t>∂u/∂z = (g/(f ρ₀)) ∂ρ/∂y: horizontal density gradients set the vertical shear of the geostrophic current, integrated from depth. A gradient does not exist inside one pixel — this is why the 3 × 3 patch is the floor for T/S channels and why heat flux matters through its spatial pattern, not its local value.</a:t>
            </a:r>
            <a:endParaRPr lang="en-US" sz="1050" dirty="0"/>
          </a:p>
        </p:txBody>
      </p:sp>
      <p:sp>
        <p:nvSpPr>
          <p:cNvPr id="8" name="Shape 6"/>
          <p:cNvSpPr/>
          <p:nvPr/>
        </p:nvSpPr>
        <p:spPr>
          <a:xfrm>
            <a:off x="6126480" y="1417320"/>
            <a:ext cx="2651760" cy="2331720"/>
          </a:xfrm>
          <a:prstGeom prst="roundRect">
            <a:avLst>
              <a:gd name="adj" fmla="val 3137"/>
            </a:avLst>
          </a:prstGeom>
          <a:solidFill>
            <a:srgbClr val="EEF3F8"/>
          </a:solidFill>
          <a:ln w="15875">
            <a:solidFill>
              <a:srgbClr val="6A4C93"/>
            </a:solidFill>
            <a:prstDash val="solid"/>
          </a:ln>
        </p:spPr>
      </p:sp>
      <p:sp>
        <p:nvSpPr>
          <p:cNvPr id="9" name="Text 7"/>
          <p:cNvSpPr txBox="1"/>
          <p:nvPr/>
        </p:nvSpPr>
        <p:spPr>
          <a:xfrm>
            <a:off x="6254496" y="1481328"/>
            <a:ext cx="2395728" cy="2212848"/>
          </a:xfrm>
          <a:prstGeom prst="rect">
            <a:avLst/>
          </a:prstGeom>
          <a:noFill/>
          <a:ln/>
        </p:spPr>
        <p:txBody>
          <a:bodyPr wrap="square" lIns="0" tIns="0" rIns="0" bIns="0" rtlCol="0" anchor="t"/>
          <a:lstStyle/>
          <a:p>
            <a:pPr indent="0" marL="0">
              <a:buNone/>
            </a:pPr>
            <a:r>
              <a:rPr lang="en-US" sz="1050" b="1" dirty="0">
                <a:solidFill>
                  <a:srgbClr val="6A4C93"/>
                </a:solidFill>
                <a:latin typeface="Calibri" pitchFamily="34" charset="0"/>
                <a:ea typeface="Calibri" pitchFamily="34" charset="-122"/>
                <a:cs typeface="Calibri" pitchFamily="34" charset="-120"/>
              </a:rPr>
              <a:t>Pressure gradient — SSH → surface geostrophy</a:t>
            </a:r>
            <a:endParaRPr lang="en-US" sz="1050" dirty="0"/>
          </a:p>
          <a:p>
            <a:pPr indent="0" marL="0">
              <a:buNone/>
            </a:pPr>
            <a:r>
              <a:rPr lang="en-US" sz="1000" dirty="0">
                <a:solidFill>
                  <a:srgbClr val="1B2430"/>
                </a:solidFill>
                <a:latin typeface="Calibri" pitchFamily="34" charset="0"/>
                <a:ea typeface="Calibri" pitchFamily="34" charset="-122"/>
                <a:cs typeface="Calibri" pitchFamily="34" charset="-120"/>
              </a:rPr>
              <a:t>u_g = −(g/f) ∂η/∂y. SSH anomalies arrive as slow westward Rossby waves in the interior (0.03 m/s) and as fast Kelvin/coastal waves along boundaries (2.5 m/s): a thin column with one long arm — the one wedge the isotropic count under-states.</a:t>
            </a:r>
            <a:endParaRPr lang="en-US" sz="1050" dirty="0"/>
          </a:p>
        </p:txBody>
      </p:sp>
      <p:sp>
        <p:nvSpPr>
          <p:cNvPr id="10" name="Shape 8"/>
          <p:cNvSpPr/>
          <p:nvPr/>
        </p:nvSpPr>
        <p:spPr>
          <a:xfrm>
            <a:off x="8915400" y="1417320"/>
            <a:ext cx="2651760" cy="2331720"/>
          </a:xfrm>
          <a:prstGeom prst="roundRect">
            <a:avLst>
              <a:gd name="adj" fmla="val 3137"/>
            </a:avLst>
          </a:prstGeom>
          <a:solidFill>
            <a:srgbClr val="EEF3F8"/>
          </a:solidFill>
          <a:ln w="15875">
            <a:solidFill>
              <a:srgbClr val="6E8B5E"/>
            </a:solidFill>
            <a:prstDash val="solid"/>
          </a:ln>
        </p:spPr>
      </p:sp>
      <p:sp>
        <p:nvSpPr>
          <p:cNvPr id="11" name="Text 9"/>
          <p:cNvSpPr txBox="1"/>
          <p:nvPr/>
        </p:nvSpPr>
        <p:spPr>
          <a:xfrm>
            <a:off x="9043416" y="1481328"/>
            <a:ext cx="2395728" cy="2212848"/>
          </a:xfrm>
          <a:prstGeom prst="rect">
            <a:avLst/>
          </a:prstGeom>
          <a:noFill/>
          <a:ln/>
        </p:spPr>
        <p:txBody>
          <a:bodyPr wrap="square" lIns="0" tIns="0" rIns="0" bIns="0" rtlCol="0" anchor="t"/>
          <a:lstStyle/>
          <a:p>
            <a:pPr indent="0" marL="0">
              <a:buNone/>
            </a:pPr>
            <a:r>
              <a:rPr lang="en-US" sz="1050" b="1" dirty="0">
                <a:solidFill>
                  <a:srgbClr val="6E8B5E"/>
                </a:solidFill>
                <a:latin typeface="Calibri" pitchFamily="34" charset="0"/>
                <a:ea typeface="Calibri" pitchFamily="34" charset="-122"/>
                <a:cs typeface="Calibri" pitchFamily="34" charset="-120"/>
              </a:rPr>
              <a:t>Advection &amp; eddies — own history</a:t>
            </a:r>
            <a:endParaRPr lang="en-US" sz="1050" dirty="0"/>
          </a:p>
          <a:p>
            <a:pPr indent="0" marL="0">
              <a:buNone/>
            </a:pPr>
            <a:r>
              <a:rPr lang="en-US" sz="1000" dirty="0">
                <a:solidFill>
                  <a:srgbClr val="1B2430"/>
                </a:solidFill>
                <a:latin typeface="Calibri" pitchFamily="34" charset="0"/>
                <a:ea typeface="Calibri" pitchFamily="34" charset="-122"/>
                <a:cs typeface="Calibri" pitchFamily="34" charset="-120"/>
              </a:rPr>
              <a:t>Momentum persists and mesoscale eddies drift westward at ~0.03 m/s. Individual eddies live 4 months and more (Chelton et al. 2011), but at a fixed pixel the velocity decorrelates in weeks to a few months because they pass through — hence τ ≈ 3 months for own history. Upstream cells at 0.15 m/s × (Δt+ℓ) carry what will arrive. Short cone, tilted upstream.</a:t>
            </a:r>
            <a:endParaRPr lang="en-US" sz="1050" dirty="0"/>
          </a:p>
        </p:txBody>
      </p:sp>
      <p:sp>
        <p:nvSpPr>
          <p:cNvPr id="12" name="Shape 10"/>
          <p:cNvSpPr/>
          <p:nvPr/>
        </p:nvSpPr>
        <p:spPr>
          <a:xfrm>
            <a:off x="548640" y="3931920"/>
            <a:ext cx="5440680" cy="2331720"/>
          </a:xfrm>
          <a:prstGeom prst="roundRect">
            <a:avLst>
              <a:gd name="adj" fmla="val 3137"/>
            </a:avLst>
          </a:prstGeom>
          <a:solidFill>
            <a:srgbClr val="F4F6F9"/>
          </a:solidFill>
          <a:ln w="12700">
            <a:solidFill>
              <a:srgbClr val="333333"/>
            </a:solidFill>
            <a:prstDash val="solid"/>
          </a:ln>
        </p:spPr>
      </p:sp>
      <p:sp>
        <p:nvSpPr>
          <p:cNvPr id="13" name="Text 11"/>
          <p:cNvSpPr txBox="1"/>
          <p:nvPr/>
        </p:nvSpPr>
        <p:spPr>
          <a:xfrm>
            <a:off x="685800" y="4005072"/>
            <a:ext cx="5166360" cy="219456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What the stencil fixes vs what attention learns</a:t>
            </a:r>
            <a:endParaRPr lang="en-US" sz="1100" dirty="0"/>
          </a:p>
          <a:p>
            <a:pPr indent="0" marL="0">
              <a:buNone/>
            </a:pPr>
            <a:r>
              <a:rPr lang="en-US" sz="1050" dirty="0">
                <a:solidFill>
                  <a:srgbClr val="1B2430"/>
                </a:solidFill>
                <a:latin typeface="Calibri" pitchFamily="34" charset="0"/>
                <a:ea typeface="Calibri" pitchFamily="34" charset="-122"/>
                <a:cs typeface="Calibri" pitchFamily="34" charset="-120"/>
              </a:rPr>
              <a:t>The cone is the support — which (cell, lag, channel) tokens may enter at all. It encodes only two physical facts per driver: how fast its signal travels and how long it is predictable. Everything else — which upstream cell matters this month, how strongly the SSH gradient projects onto u, whether the heat-flux pattern is the one that tilts the density field — is left to the attention weights inside the support. A support that is too small cannot be learned around; one that is too large costs slots and lets noise in. The four ablations to the right test whether the support is right, run with the roll battery under the corrected window-scope pool (paper v8, 2 Sep 2026) — never with the retired 'corridor AUC' of the contaminated heads.</a:t>
            </a:r>
            <a:endParaRPr lang="en-US" sz="1100" dirty="0"/>
          </a:p>
        </p:txBody>
      </p:sp>
      <p:sp>
        <p:nvSpPr>
          <p:cNvPr id="14" name="Shape 12"/>
          <p:cNvSpPr/>
          <p:nvPr/>
        </p:nvSpPr>
        <p:spPr>
          <a:xfrm>
            <a:off x="6172200" y="3931920"/>
            <a:ext cx="5440680" cy="2331720"/>
          </a:xfrm>
          <a:prstGeom prst="roundRect">
            <a:avLst>
              <a:gd name="adj" fmla="val 3137"/>
            </a:avLst>
          </a:prstGeom>
          <a:solidFill>
            <a:srgbClr val="EEF3F8"/>
          </a:solidFill>
          <a:ln w="12700">
            <a:solidFill>
              <a:srgbClr val="333333"/>
            </a:solidFill>
            <a:prstDash val="solid"/>
          </a:ln>
        </p:spPr>
      </p:sp>
      <p:sp>
        <p:nvSpPr>
          <p:cNvPr id="15" name="Text 13"/>
          <p:cNvSpPr txBox="1"/>
          <p:nvPr/>
        </p:nvSpPr>
        <p:spPr>
          <a:xfrm>
            <a:off x="6309360" y="4005072"/>
            <a:ext cx="5166360" cy="219456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The four ablations, specialised to this target</a:t>
            </a:r>
            <a:endParaRPr lang="en-US" sz="1100" dirty="0"/>
          </a:p>
          <a:p>
            <a:pPr indent="0" marL="0">
              <a:buNone/>
            </a:pPr>
            <a:r>
              <a:rPr lang="en-US" sz="1000" dirty="0">
                <a:solidFill>
                  <a:srgbClr val="1B2430"/>
                </a:solidFill>
                <a:latin typeface="Calibri" pitchFamily="34" charset="0"/>
                <a:ea typeface="Calibri" pitchFamily="34" charset="-122"/>
                <a:cs typeface="Calibri" pitchFamily="34" charset="-120"/>
              </a:rPr>
              <a:t>1  Interior T/S slots at 500 km reach instead of 4,444 km: predicted no loss (their wedge never exceeds 1,900 km).</a:t>
            </a:r>
            <a:endParaRPr lang="en-US" sz="1100" dirty="0"/>
          </a:p>
          <a:p>
            <a:pPr indent="0" marL="0">
              <a:buNone/>
            </a:pPr>
            <a:r>
              <a:rPr lang="en-US" sz="1000" dirty="0">
                <a:solidFill>
                  <a:srgbClr val="1B2430"/>
                </a:solidFill>
                <a:latin typeface="Calibri" pitchFamily="34" charset="0"/>
                <a:ea typeface="Calibri" pitchFamily="34" charset="-122"/>
                <a:cs typeface="Calibri" pitchFamily="34" charset="-120"/>
              </a:rPr>
              <a:t>2  Wind and heat-flux slots restricted to lags 0–1: predicted no loss (τ_atm &lt; Δt); the same cut on surface T: predicted loss (its wedge runs to lag 7).</a:t>
            </a:r>
            <a:endParaRPr lang="en-US" sz="1100" dirty="0"/>
          </a:p>
          <a:p>
            <a:pPr indent="0" marL="0">
              <a:buNone/>
            </a:pPr>
            <a:r>
              <a:rPr lang="en-US" sz="1000" dirty="0">
                <a:solidFill>
                  <a:srgbClr val="1B2430"/>
                </a:solidFill>
                <a:latin typeface="Calibri" pitchFamily="34" charset="0"/>
                <a:ea typeface="Calibri" pitchFamily="34" charset="-122"/>
                <a:cs typeface="Calibri" pitchFamily="34" charset="-120"/>
              </a:rPr>
              <a:t>3  Cone-shaped stencil (851 slot-lags) vs cylinder (12,816): predicted equal rolled skill at 7 % of the slots — and headroom for 48-month interior history.</a:t>
            </a:r>
            <a:endParaRPr lang="en-US" sz="1100" dirty="0"/>
          </a:p>
          <a:p>
            <a:pPr indent="0" marL="0">
              <a:buNone/>
            </a:pPr>
            <a:r>
              <a:rPr lang="en-US" sz="1000" dirty="0">
                <a:solidFill>
                  <a:srgbClr val="1B2430"/>
                </a:solidFill>
                <a:latin typeface="Calibri" pitchFamily="34" charset="0"/>
                <a:ea typeface="Calibri" pitchFamily="34" charset="-122"/>
                <a:cs typeface="Calibri" pitchFamily="34" charset="-120"/>
              </a:rPr>
              <a:t>4  Pentad codec (Δt = 5 d ≈ τ_atm): predicted one-step wind skill that the monthly model cannot show, because wind's own wedge now has lags &gt; 0.</a:t>
            </a:r>
            <a:endParaRPr lang="en-US" sz="1100" dirty="0"/>
          </a:p>
          <a:p>
            <a:pPr indent="0" marL="0">
              <a:buNone/>
            </a:pPr>
            <a:r>
              <a:rPr lang="en-US" sz="950" i="1" dirty="0">
                <a:solidFill>
                  <a:srgbClr val="6B7A8F"/>
                </a:solidFill>
                <a:latin typeface="Calibri" pitchFamily="34" charset="0"/>
                <a:ea typeface="Calibri" pitchFamily="34" charset="-122"/>
                <a:cs typeface="Calibri" pitchFamily="34" charset="-120"/>
              </a:rPr>
              <a:t>Two codec seeds minimum; head numbers are never quoted from one. Explore the parameters live in the Dependency-Cone Explorer artifact (same formulas, editable v, τ, L_corr, Δt, anisotropy).</a:t>
            </a:r>
            <a:endParaRPr lang="en-US" sz="1100" dirty="0"/>
          </a:p>
        </p:txBody>
      </p:sp>
      <p:sp>
        <p:nvSpPr>
          <p:cNvPr id="16"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Related work I — the dependency cone vs. the literature</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Who has used 'speed × time' to size what a model sees, and who has not (survey Aug 2026)</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3931920"/>
                <a:gridCol w="2468880"/>
                <a:gridCol w="2286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Work</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does</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Shares with the cone idea</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Does not</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34747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Courant, Friedrichs &amp; Lewy 1928 — domain of dependence</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Numerical PDE stability: the numerical stencil must contain the physical domain of dependence |Δx| ≤ v Δt.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The origin of the argument; our 'Δx ≤ v·Δt' is exactly this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No notion of memory τ; about stability, not information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OceanNet — Chattopadhyay et al. 2024, Sci. Rep. (arXiv 2310.00813)</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Regional FNO for Gulf Stream SSH, 4–5-day mean lead, 80 M params; justifies dropping lateral boundary conditions: 'Rossby waves at 40°N ≈ 1 cm/s … eddies travel only 30–120 km from the open boundary' over the horizon.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Explicit wave-speed × time argument in an ocean ML model</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Used to shrink a boundary, not to shape a per-channel stencil; single process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4864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PARADIS 'Learning to Advect' — Pereira et al. 2026 (arXiv 2601.21151)</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Neural semi-Lagrangian layer: gathers features at the departure point x_d = x − Δt·u(x); stability becomes a Lipschitz condition on u instead of CFL; a 20-parameter NSL layer moves a tracer a 3-layer U-Net's receptive field cannot.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Input support set by velocity × Δt, learned per point — the anisotropic, tilted cone made operational</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One transport field for all variables; no τ truncation; atmosphere only</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4747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ClimODE — Verma et al., ICLR 2024</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Neural ODE with the continuity/advection equation; learns a velocity field, but reads inputs with fixed 3×3 convs plus a global-attention branch.</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Advection as inductive bias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Local/global mix fixed, not sized by v·Δt per variable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Limited-area ML weather: Neural-LAM (Oskarsson 2023/24), stretched grid (Nipen 2024), Diffusion-LAM 2025</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Boundary forcing zone of a fixed 10 grid nodes (~100 km) at every step, or a smooth global→regional mesh.</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A boundary halo is a cone cut by the domain edge — our 'window edge' problem</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Halo width is static; not derived from wind speed × lead time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Global ML weather: Keisler 2022 (9 GNN hops / 6 h), GraphCast (multi-mesh, 16 layers), Pangu (1/3/6/24 h chain), FuXi (0–5/5–10/10–15 d cascade)</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Per-step reach is set by hop count or window size; longer horizons handled by bigger steps or horizon-specific models.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Implicit speed bound per step; growing the cone with lead time by changing Δt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Same reach for every channel; no receptive-field-vs-lead-time ablation published</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4747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Per-variable tokenisation: ClimaX 2023, Aurora 2024/25, Prithvi WxC 2024, Stormer</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Each variable gets its own embedding / patch tokens, aggregated by attention.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Variable-specific processing as a design pattern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Variable-specific embedding, not variable-specific spatial or temporal extent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Ocean emulators: Samudra 2024/25 (1°, 19 levels, 5-day step, ConvNeXt, atmosphere prescribed), ACE2-SOM (mirror: ML atmosphere + slab ocean), Xihe, GLONET</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One medium is treated as prescribed forcing at a cadence set by the other's dynamics.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'Atmosphere as forcing' at slow cadence — our monthly-Δt inversion in practice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Not stated as a τ-vs-Δt rule; no channel-specific stencils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4864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Earth 2 dependency-cone note (16 Aug) + this deck</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Cone recursion shown bit-equal to a full roll with NaN poisoning (a property of the roll code, not a skill number); reach 222 vs 4444 km per month covers 29.5 % vs 100 % of the world ocean after 12 months (geometry); now: per-process (v, τ) cones, union rule, channel-group stencils.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Open: the τ-truncation + union → per-channel stencil principle was not found stated anywhere in our search; it is a hypothesis to test (four ablations), not a result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800" i="1" dirty="0">
                <a:solidFill>
                  <a:srgbClr val="1B2430"/>
                </a:solidFill>
                <a:latin typeface="Calibri" pitchFamily="34" charset="0"/>
                <a:ea typeface="Calibri" pitchFamily="34" charset="-122"/>
                <a:cs typeface="Calibri" pitchFamily="34" charset="-120"/>
              </a:rPr>
              <a:t>Reading. The 'speed × time' half of the idea has two clear precedents — OceanNet's Rossby-speed boundary argument and PARADIS's semi-Lagrangian gather — and the 'one medium as forcing' half is standard practice in ocean emulators. What we did not find is the combination: truncating each process's cone by its own memory, taking the union per channel, and letting that dictate a channel-specific stencil shape. Absence in a one-day search is not absence in the literature; treat it as 'not yet found', and cite OceanNet and PARADIS as the nearest neighbours.</a:t>
            </a:r>
            <a:endParaRPr lang="en-US" sz="8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Related work II — the four-sphere plan vs. the literature</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Coupled emulators, observation-native models, 'Earth-system' foundation models, biosphere ML, coupled data assimilation (survey Aug 2026)</a:t>
            </a:r>
            <a:endParaRPr lang="en-US" sz="12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468880"/>
                <a:gridCol w="3749040"/>
                <a:gridCol w="2468880"/>
                <a:gridCol w="2377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Family · nearest works</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they do</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Shares with our plan</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Does not</a:t>
                      </a:r>
                      <a:endParaRPr lang="en-US" sz="95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53035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Coupled emulators — Samudra → SamudrACE (Dheeshjith 2025; Duncan 2026), ACE2-SOM (2025), ACE2-NEMO (2026)</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Samudra: 3-D global ocean emulator (T, S, currents at depth, 1°, 5-day step); SamudrACE couples it to Ai2's ML atmosphere ACE2. ACE2-SOM/NEMO couple an ML atmosphere to a slab / dynamical ocean.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SamudrACE is the closest structural analogue: an ocean-interior model first, atmosphere joined later</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Emulators of a simulator, not embeddings of observations; no ocean colour, no land biosphere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AIFS surface ocean — Hahner, Zampieri et al., ECMWF 2026 (arXiv 2604.25559)</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One encoder–processor–decoder forecasts atmosphere + SST, SSS, SSH, surface currents, waves, sea ice 'in a component-agnostic way'; slowly evolving ocean/ice fields get larger loss-scaling factors.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Joint multi-sphere state space; explicit handling of the timescale mismatch</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Surface ocean only; forecast model, no reusable embedding; no biosphere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8404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Aurora — Bodnar et al., Nature 2025 ('A foundation model for the Earth system'); Aurora 1.5</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One pretrained 3-D Swin backbone, fine-tuned to air quality, ocean waves, cyclones.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One representation, many sphere-specific heads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Atmosphere-centric; no interior ocean, no two-way coupling, no biosphere. Note the title collision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3035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Observation-native — Aardvark Weather (Allen et al., Nature 2025), GraphDOP (ECMWF 2024/25), 4DVarNet (Fablet et al. 2023/24)</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Aardvark/GraphDOP learn forecasts or a latent state directly from raw observations, skipping reanalysis; 4DVarNet learns a variational solver that fuses sparse altimetry + SST into gap-free surface fields.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The recipe for taking Argo profiles, swaths and tracks natively — what 'combine all relevant data' needs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Atmosphere (Aardvark, GraphDOP) or 2-D surface ocean (4DVarNet); no Argo-depth encoder found</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2179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'Earth-system' FMs — ESFM (Ozdemir et al. 2026, arXiv 2605.00850), Copernicus-FM (2025), Prithvi family (EO, WxC, Surya), AlphaEarth (2025)</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ESFM: Aurora-style backbone with per-variable tokens over ERA5, CMIP6, sparse MODIS and station data with missingness handling. Copernicus-FM unifies Sentinel sensors incl. S-5P. Prithvi: separate sphere-specific FMs. AlphaEarth: embedding field with ERA5-Land as an input.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Heterogeneous sources in one embedding; missingness as a first-class token (ESFM) — same primitive as our masked / never-measured tokens</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All atmosphere- or land-centric; none has the ocean interior or the ocean biosphere as a target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3035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Ocean biosphere / carbon ML — SOM-FFN (Landschützer), CSIR-ML6 (Gregor 2019), pCO₂-Residual (Bennington 2022), CANYON-B (Sauzède 2017), Granite-Geospatial-Ocean (2025)</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Data-driven surface-pCO₂ and carbon-sink maps from SST, SSS, chl, MLD; NN inference of nutrients/carbonate from T, S, O₂ for BGC-Argo; one ocean-colour FM.</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Exactly the physics → biology couplings step 2 of our sequence would learn end-to-end</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Task models with hand-chosen predictors; no shared representation with the physical state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389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Coupled data assimilation — Penny &amp; Hamill 2017 (BAMS); Penny et al. 2019 (JAMES); ECMWF CERA</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The canonical statement that atmosphere (days) and ocean (months–years) memories differ by orders of magnitude; strongly vs weakly coupled DA; production systems still weakly coupled.</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The multi-timescale problem is known and hard; our cone-per-sphere is a representation-side answer to it</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Assimilation, not learned representation</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389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Platforms &amp; twins — NVIDIA Earth-2, Destination Earth (ECMWF/CMCC/ESA), EU Digital Twin of the Ocean (EDITO)</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B2430"/>
                          </a:solidFill>
                          <a:latin typeface="Calibri" pitchFamily="34" charset="0"/>
                          <a:ea typeface="Calibri" pitchFamily="34" charset="-122"/>
                          <a:cs typeface="Calibri" pitchFamily="34" charset="-120"/>
                        </a:rPr>
                        <a:t>Generative km-scale weather tooling (NVIDIA); physics-based coupled km-scale twins (DestinE); ocean data/model platform (EDITO).</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1F7A4D"/>
                          </a:solidFill>
                          <a:latin typeface="Calibri" pitchFamily="34" charset="0"/>
                          <a:ea typeface="Calibri" pitchFamily="34" charset="-122"/>
                          <a:cs typeface="Calibri" pitchFamily="34" charset="-120"/>
                        </a:rPr>
                        <a:t>Same four-sphere integration goal at production scale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50" dirty="0">
                          <a:solidFill>
                            <a:srgbClr val="A23B3B"/>
                          </a:solidFill>
                          <a:latin typeface="Calibri" pitchFamily="34" charset="0"/>
                          <a:ea typeface="Calibri" pitchFamily="34" charset="-122"/>
                          <a:cs typeface="Calibri" pitchFamily="34" charset="-120"/>
                        </a:rPr>
                        <a:t>Not learned embeddings; NVIDIA 'Earth-2' is a name collision we must disambiguate</a:t>
                      </a:r>
                      <a:endParaRPr lang="en-US" sz="7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800" i="1" dirty="0">
                <a:solidFill>
                  <a:srgbClr val="1B2430"/>
                </a:solidFill>
                <a:latin typeface="Calibri" pitchFamily="34" charset="0"/>
                <a:ea typeface="Calibri" pitchFamily="34" charset="-122"/>
                <a:cs typeface="Calibri" pitchFamily="34" charset="-120"/>
              </a:rPr>
              <a:t>Reading. The nearest lineage on the physics side is Samudra → SamudrACE (ocean interior first, atmosphere second — but emulating a simulator); on the representation side it is ESFM and Copernicus-FM (heterogeneous sources, missingness tokens — but no ocean). Nobody starts from the ocean interior as an embedding, and nobody joins the ocean biosphere to a physical-state representation. Two names to disambiguate in any write-up: NVIDIA's 'Earth-2' platform and Aurora's 'A foundation model for the Earth system'.</a:t>
            </a:r>
            <a:endParaRPr lang="en-US" sz="8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What should a generic Earth embedding see?</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The rule: every signal that is relevant to the four spheres at a point and cannot be derived from the other inputs. Thirteen rungs, finest first.</a:t>
            </a:r>
            <a:endParaRPr lang="en-US" sz="1250" dirty="0"/>
          </a:p>
        </p:txBody>
      </p:sp>
      <p:sp>
        <p:nvSpPr>
          <p:cNvPr id="4" name="Text 2"/>
          <p:cNvSpPr txBox="1"/>
          <p:nvPr/>
        </p:nvSpPr>
        <p:spPr>
          <a:xfrm>
            <a:off x="548640" y="1481328"/>
            <a:ext cx="2331720" cy="352044"/>
          </a:xfrm>
          <a:prstGeom prst="rect">
            <a:avLst/>
          </a:prstGeom>
          <a:noFill/>
          <a:ln/>
        </p:spPr>
        <p:txBody>
          <a:bodyPr wrap="square" lIns="0" tIns="0" rIns="0" bIns="0" rtlCol="0" anchor="ctr"/>
          <a:lstStyle/>
          <a:p>
            <a:pPr indent="0" marL="0">
              <a:buNone/>
            </a:pPr>
            <a:r>
              <a:rPr lang="en-US" sz="900" b="1" dirty="0">
                <a:solidFill>
                  <a:srgbClr val="7A8797"/>
                </a:solidFill>
                <a:latin typeface="Calibri" pitchFamily="34" charset="0"/>
                <a:ea typeface="Calibri" pitchFamily="34" charset="-122"/>
                <a:cs typeface="Calibri" pitchFamily="34" charset="-120"/>
              </a:rPr>
              <a:t>12  </a:t>
            </a:r>
            <a:pPr indent="0" marL="0">
              <a:buNone/>
            </a:pPr>
            <a:r>
              <a:rPr lang="en-US" sz="850" b="1" dirty="0">
                <a:solidFill>
                  <a:srgbClr val="1B2430"/>
                </a:solidFill>
                <a:latin typeface="Calibri" pitchFamily="34" charset="0"/>
                <a:ea typeface="Calibri" pitchFamily="34" charset="-122"/>
                <a:cs typeface="Calibri" pitchFamily="34" charset="-120"/>
              </a:rPr>
              <a:t>Static context</a:t>
            </a:r>
            <a:endParaRPr lang="en-US" sz="900" dirty="0"/>
          </a:p>
        </p:txBody>
      </p:sp>
      <p:sp>
        <p:nvSpPr>
          <p:cNvPr id="5" name="Shape 3"/>
          <p:cNvSpPr/>
          <p:nvPr/>
        </p:nvSpPr>
        <p:spPr>
          <a:xfrm>
            <a:off x="2971800" y="1545336"/>
            <a:ext cx="763647" cy="224028"/>
          </a:xfrm>
          <a:prstGeom prst="rect">
            <a:avLst/>
          </a:prstGeom>
          <a:solidFill>
            <a:srgbClr val="7A8797">
              <a:alpha val="75000"/>
            </a:srgbClr>
          </a:solidFill>
          <a:ln w="12700">
            <a:solidFill>
              <a:srgbClr val="333333"/>
            </a:solidFill>
            <a:prstDash val="solid"/>
          </a:ln>
        </p:spPr>
      </p:sp>
      <p:sp>
        <p:nvSpPr>
          <p:cNvPr id="6" name="Text 4"/>
          <p:cNvSpPr txBox="1"/>
          <p:nvPr/>
        </p:nvSpPr>
        <p:spPr>
          <a:xfrm>
            <a:off x="3808599" y="1481328"/>
            <a:ext cx="3076833" cy="352044"/>
          </a:xfrm>
          <a:prstGeom prst="rect">
            <a:avLst/>
          </a:prstGeom>
          <a:noFill/>
          <a:ln/>
        </p:spPr>
        <p:txBody>
          <a:bodyPr wrap="square" lIns="0" tIns="0" rIns="0" bIns="0" rtlCol="0" anchor="ctr"/>
          <a:lstStyle/>
          <a:p>
            <a:pPr indent="0" marL="0">
              <a:buNone/>
            </a:pPr>
            <a:r>
              <a:rPr lang="en-US" sz="750" dirty="0">
                <a:solidFill>
                  <a:srgbClr val="1B2430"/>
                </a:solidFill>
                <a:latin typeface="Calibri" pitchFamily="34" charset="0"/>
                <a:ea typeface="Calibri" pitchFamily="34" charset="-122"/>
                <a:cs typeface="Calibri" pitchFamily="34" charset="-120"/>
              </a:rPr>
              <a:t>DEM · bathymetry · land cover · soil · canopy · population</a:t>
            </a:r>
            <a:endParaRPr lang="en-US" sz="750" dirty="0"/>
          </a:p>
        </p:txBody>
      </p:sp>
      <p:sp>
        <p:nvSpPr>
          <p:cNvPr id="7" name="Text 5"/>
          <p:cNvSpPr txBox="1"/>
          <p:nvPr/>
        </p:nvSpPr>
        <p:spPr>
          <a:xfrm>
            <a:off x="6903720" y="1481328"/>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v = 0, τ = ∞</a:t>
            </a:r>
            <a:endParaRPr lang="en-US" sz="700" dirty="0"/>
          </a:p>
        </p:txBody>
      </p:sp>
      <p:sp>
        <p:nvSpPr>
          <p:cNvPr id="8" name="Text 6"/>
          <p:cNvSpPr txBox="1"/>
          <p:nvPr/>
        </p:nvSpPr>
        <p:spPr>
          <a:xfrm>
            <a:off x="548640" y="1833372"/>
            <a:ext cx="2331720" cy="352044"/>
          </a:xfrm>
          <a:prstGeom prst="rect">
            <a:avLst/>
          </a:prstGeom>
          <a:noFill/>
          <a:ln/>
        </p:spPr>
        <p:txBody>
          <a:bodyPr wrap="square" lIns="0" tIns="0" rIns="0" bIns="0" rtlCol="0" anchor="ctr"/>
          <a:lstStyle/>
          <a:p>
            <a:pPr indent="0" marL="0">
              <a:buNone/>
            </a:pPr>
            <a:r>
              <a:rPr lang="en-US" sz="900" b="1" dirty="0">
                <a:solidFill>
                  <a:srgbClr val="E07A2F"/>
                </a:solidFill>
                <a:latin typeface="Calibri" pitchFamily="34" charset="0"/>
                <a:ea typeface="Calibri" pitchFamily="34" charset="-122"/>
                <a:cs typeface="Calibri" pitchFamily="34" charset="-120"/>
              </a:rPr>
              <a:t>11  </a:t>
            </a:r>
            <a:pPr indent="0" marL="0">
              <a:buNone/>
            </a:pPr>
            <a:r>
              <a:rPr lang="en-US" sz="850" b="1" dirty="0">
                <a:solidFill>
                  <a:srgbClr val="1B2430"/>
                </a:solidFill>
                <a:latin typeface="Calibri" pitchFamily="34" charset="0"/>
                <a:ea typeface="Calibri" pitchFamily="34" charset="-122"/>
                <a:cs typeface="Calibri" pitchFamily="34" charset="-120"/>
              </a:rPr>
              <a:t>In-situ atmosphere (points)</a:t>
            </a:r>
            <a:endParaRPr lang="en-US" sz="900" dirty="0"/>
          </a:p>
        </p:txBody>
      </p:sp>
      <p:sp>
        <p:nvSpPr>
          <p:cNvPr id="9" name="Shape 7"/>
          <p:cNvSpPr/>
          <p:nvPr/>
        </p:nvSpPr>
        <p:spPr>
          <a:xfrm>
            <a:off x="2971800" y="1897380"/>
            <a:ext cx="109728" cy="224028"/>
          </a:xfrm>
          <a:prstGeom prst="rect">
            <a:avLst/>
          </a:prstGeom>
          <a:solidFill>
            <a:srgbClr val="E07A2F">
              <a:alpha val="75000"/>
            </a:srgbClr>
          </a:solidFill>
          <a:ln w="12700">
            <a:solidFill>
              <a:srgbClr val="333333"/>
            </a:solidFill>
            <a:prstDash val="solid"/>
          </a:ln>
        </p:spPr>
      </p:sp>
      <p:sp>
        <p:nvSpPr>
          <p:cNvPr id="10" name="Text 8"/>
          <p:cNvSpPr txBox="1"/>
          <p:nvPr/>
        </p:nvSpPr>
        <p:spPr>
          <a:xfrm>
            <a:off x="3154680" y="1833372"/>
            <a:ext cx="3730752" cy="352044"/>
          </a:xfrm>
          <a:prstGeom prst="rect">
            <a:avLst/>
          </a:prstGeom>
          <a:noFill/>
          <a:ln/>
        </p:spPr>
        <p:txBody>
          <a:bodyPr wrap="square" lIns="0" tIns="0" rIns="0" bIns="0" rtlCol="0" anchor="ctr"/>
          <a:lstStyle/>
          <a:p>
            <a:pPr indent="0" marL="0">
              <a:buNone/>
            </a:pPr>
            <a:r>
              <a:rPr lang="en-US" sz="750" dirty="0">
                <a:solidFill>
                  <a:srgbClr val="1B2430"/>
                </a:solidFill>
                <a:latin typeface="Calibri" pitchFamily="34" charset="0"/>
                <a:ea typeface="Calibri" pitchFamily="34" charset="-122"/>
                <a:cs typeface="Calibri" pitchFamily="34" charset="-120"/>
              </a:rPr>
              <a:t>stations · radiosondes · aircraft · ships · buoys</a:t>
            </a:r>
            <a:endParaRPr lang="en-US" sz="750" dirty="0"/>
          </a:p>
        </p:txBody>
      </p:sp>
      <p:sp>
        <p:nvSpPr>
          <p:cNvPr id="11" name="Text 9"/>
          <p:cNvSpPr txBox="1"/>
          <p:nvPr/>
        </p:nvSpPr>
        <p:spPr>
          <a:xfrm>
            <a:off x="6903720" y="1833372"/>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the ground truth</a:t>
            </a:r>
            <a:endParaRPr lang="en-US" sz="700" dirty="0"/>
          </a:p>
        </p:txBody>
      </p:sp>
      <p:sp>
        <p:nvSpPr>
          <p:cNvPr id="12" name="Text 10"/>
          <p:cNvSpPr txBox="1"/>
          <p:nvPr/>
        </p:nvSpPr>
        <p:spPr>
          <a:xfrm>
            <a:off x="548640" y="2185416"/>
            <a:ext cx="2331720" cy="352044"/>
          </a:xfrm>
          <a:prstGeom prst="rect">
            <a:avLst/>
          </a:prstGeom>
          <a:noFill/>
          <a:ln/>
        </p:spPr>
        <p:txBody>
          <a:bodyPr wrap="square" lIns="0" tIns="0" rIns="0" bIns="0" rtlCol="0" anchor="ctr"/>
          <a:lstStyle/>
          <a:p>
            <a:pPr indent="0" marL="0">
              <a:buNone/>
            </a:pPr>
            <a:r>
              <a:rPr lang="en-US" sz="900" b="1" dirty="0">
                <a:solidFill>
                  <a:srgbClr val="1F9E89"/>
                </a:solidFill>
                <a:latin typeface="Calibri" pitchFamily="34" charset="0"/>
                <a:ea typeface="Calibri" pitchFamily="34" charset="-122"/>
                <a:cs typeface="Calibri" pitchFamily="34" charset="-120"/>
              </a:rPr>
              <a:t>10  </a:t>
            </a:r>
            <a:pPr indent="0" marL="0">
              <a:buNone/>
            </a:pPr>
            <a:r>
              <a:rPr lang="en-US" sz="850" b="1" dirty="0">
                <a:solidFill>
                  <a:srgbClr val="1B2430"/>
                </a:solidFill>
                <a:latin typeface="Calibri" pitchFamily="34" charset="0"/>
                <a:ea typeface="Calibri" pitchFamily="34" charset="-122"/>
                <a:cs typeface="Calibri" pitchFamily="34" charset="-120"/>
              </a:rPr>
              <a:t>Land biosphere &amp; water</a:t>
            </a:r>
            <a:endParaRPr lang="en-US" sz="900" dirty="0"/>
          </a:p>
        </p:txBody>
      </p:sp>
      <p:sp>
        <p:nvSpPr>
          <p:cNvPr id="13" name="Shape 11"/>
          <p:cNvSpPr/>
          <p:nvPr/>
        </p:nvSpPr>
        <p:spPr>
          <a:xfrm>
            <a:off x="2971800" y="2249424"/>
            <a:ext cx="2179555" cy="224028"/>
          </a:xfrm>
          <a:prstGeom prst="rect">
            <a:avLst/>
          </a:prstGeom>
          <a:solidFill>
            <a:srgbClr val="1F9E89">
              <a:alpha val="75000"/>
            </a:srgbClr>
          </a:solidFill>
          <a:ln w="12700">
            <a:solidFill>
              <a:srgbClr val="333333"/>
            </a:solidFill>
            <a:prstDash val="solid"/>
          </a:ln>
        </p:spPr>
      </p:sp>
      <p:sp>
        <p:nvSpPr>
          <p:cNvPr id="14" name="Text 12"/>
          <p:cNvSpPr txBox="1"/>
          <p:nvPr/>
        </p:nvSpPr>
        <p:spPr>
          <a:xfrm>
            <a:off x="3044952" y="2185416"/>
            <a:ext cx="2069827"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LAI · SIF · LST · soil · snow · fire · GRACE</a:t>
            </a:r>
            <a:endParaRPr lang="en-US" sz="750" dirty="0"/>
          </a:p>
        </p:txBody>
      </p:sp>
      <p:sp>
        <p:nvSpPr>
          <p:cNvPr id="15" name="Text 13"/>
          <p:cNvSpPr txBox="1"/>
          <p:nvPr/>
        </p:nvSpPr>
        <p:spPr>
          <a:xfrm>
            <a:off x="6903720" y="2185416"/>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300 m–300 km</a:t>
            </a:r>
            <a:endParaRPr lang="en-US" sz="700" dirty="0"/>
          </a:p>
        </p:txBody>
      </p:sp>
      <p:sp>
        <p:nvSpPr>
          <p:cNvPr id="16" name="Text 14"/>
          <p:cNvSpPr txBox="1"/>
          <p:nvPr/>
        </p:nvSpPr>
        <p:spPr>
          <a:xfrm>
            <a:off x="548640" y="2537460"/>
            <a:ext cx="2331720" cy="352044"/>
          </a:xfrm>
          <a:prstGeom prst="rect">
            <a:avLst/>
          </a:prstGeom>
          <a:noFill/>
          <a:ln/>
        </p:spPr>
        <p:txBody>
          <a:bodyPr wrap="square" lIns="0" tIns="0" rIns="0" bIns="0" rtlCol="0" anchor="ctr"/>
          <a:lstStyle/>
          <a:p>
            <a:pPr indent="0" marL="0">
              <a:buNone/>
            </a:pPr>
            <a:r>
              <a:rPr lang="en-US" sz="900" b="1" dirty="0">
                <a:solidFill>
                  <a:srgbClr val="1F9E89"/>
                </a:solidFill>
                <a:latin typeface="Calibri" pitchFamily="34" charset="0"/>
                <a:ea typeface="Calibri" pitchFamily="34" charset="-122"/>
                <a:cs typeface="Calibri" pitchFamily="34" charset="-120"/>
              </a:rPr>
              <a:t>9  </a:t>
            </a:r>
            <a:pPr indent="0" marL="0">
              <a:buNone/>
            </a:pPr>
            <a:r>
              <a:rPr lang="en-US" sz="850" b="1" dirty="0">
                <a:solidFill>
                  <a:srgbClr val="1B2430"/>
                </a:solidFill>
                <a:latin typeface="Calibri" pitchFamily="34" charset="0"/>
                <a:ea typeface="Calibri" pitchFamily="34" charset="-122"/>
                <a:cs typeface="Calibri" pitchFamily="34" charset="-120"/>
              </a:rPr>
              <a:t>Ocean biosphere &amp; carbon</a:t>
            </a:r>
            <a:endParaRPr lang="en-US" sz="900" dirty="0"/>
          </a:p>
        </p:txBody>
      </p:sp>
      <p:sp>
        <p:nvSpPr>
          <p:cNvPr id="17" name="Shape 15"/>
          <p:cNvSpPr/>
          <p:nvPr/>
        </p:nvSpPr>
        <p:spPr>
          <a:xfrm>
            <a:off x="2971800" y="2601468"/>
            <a:ext cx="2739325" cy="224028"/>
          </a:xfrm>
          <a:prstGeom prst="rect">
            <a:avLst/>
          </a:prstGeom>
          <a:solidFill>
            <a:srgbClr val="1F9E89">
              <a:alpha val="75000"/>
            </a:srgbClr>
          </a:solidFill>
          <a:ln w="12700">
            <a:solidFill>
              <a:srgbClr val="333333"/>
            </a:solidFill>
            <a:prstDash val="solid"/>
          </a:ln>
        </p:spPr>
      </p:sp>
      <p:sp>
        <p:nvSpPr>
          <p:cNvPr id="18" name="Text 16"/>
          <p:cNvSpPr txBox="1"/>
          <p:nvPr/>
        </p:nvSpPr>
        <p:spPr>
          <a:xfrm>
            <a:off x="3044952" y="2537460"/>
            <a:ext cx="2629597"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ocean colour L3 · PACE · SOCAT · BGC-Argo</a:t>
            </a:r>
            <a:endParaRPr lang="en-US" sz="750" dirty="0"/>
          </a:p>
        </p:txBody>
      </p:sp>
      <p:sp>
        <p:nvSpPr>
          <p:cNvPr id="19" name="Text 17"/>
          <p:cNvSpPr txBox="1"/>
          <p:nvPr/>
        </p:nvSpPr>
        <p:spPr>
          <a:xfrm>
            <a:off x="6903720" y="2537460"/>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daily · point obs</a:t>
            </a:r>
            <a:endParaRPr lang="en-US" sz="700" dirty="0"/>
          </a:p>
        </p:txBody>
      </p:sp>
      <p:sp>
        <p:nvSpPr>
          <p:cNvPr id="20" name="Text 18"/>
          <p:cNvSpPr txBox="1"/>
          <p:nvPr/>
        </p:nvSpPr>
        <p:spPr>
          <a:xfrm>
            <a:off x="548640" y="2889504"/>
            <a:ext cx="2331720" cy="352044"/>
          </a:xfrm>
          <a:prstGeom prst="rect">
            <a:avLst/>
          </a:prstGeom>
          <a:noFill/>
          <a:ln/>
        </p:spPr>
        <p:txBody>
          <a:bodyPr wrap="square" lIns="0" tIns="0" rIns="0" bIns="0" rtlCol="0" anchor="ctr"/>
          <a:lstStyle/>
          <a:p>
            <a:pPr indent="0" marL="0">
              <a:buNone/>
            </a:pPr>
            <a:r>
              <a:rPr lang="en-US" sz="900" b="1" dirty="0">
                <a:solidFill>
                  <a:srgbClr val="2E86AB"/>
                </a:solidFill>
                <a:latin typeface="Calibri" pitchFamily="34" charset="0"/>
                <a:ea typeface="Calibri" pitchFamily="34" charset="-122"/>
                <a:cs typeface="Calibri" pitchFamily="34" charset="-120"/>
              </a:rPr>
              <a:t>8  </a:t>
            </a:r>
            <a:pPr indent="0" marL="0">
              <a:buNone/>
            </a:pPr>
            <a:r>
              <a:rPr lang="en-US" sz="850" b="1" dirty="0">
                <a:solidFill>
                  <a:srgbClr val="1B2430"/>
                </a:solidFill>
                <a:latin typeface="Calibri" pitchFamily="34" charset="0"/>
                <a:ea typeface="Calibri" pitchFamily="34" charset="-122"/>
                <a:cs typeface="Calibri" pitchFamily="34" charset="-120"/>
              </a:rPr>
              <a:t>Ocean interior</a:t>
            </a:r>
            <a:endParaRPr lang="en-US" sz="900" dirty="0"/>
          </a:p>
        </p:txBody>
      </p:sp>
      <p:sp>
        <p:nvSpPr>
          <p:cNvPr id="21" name="Shape 19"/>
          <p:cNvSpPr/>
          <p:nvPr/>
        </p:nvSpPr>
        <p:spPr>
          <a:xfrm>
            <a:off x="2971800" y="2953512"/>
            <a:ext cx="3019210" cy="224028"/>
          </a:xfrm>
          <a:prstGeom prst="rect">
            <a:avLst/>
          </a:prstGeom>
          <a:solidFill>
            <a:srgbClr val="2E86AB">
              <a:alpha val="75000"/>
            </a:srgbClr>
          </a:solidFill>
          <a:ln w="12700">
            <a:solidFill>
              <a:srgbClr val="333333"/>
            </a:solidFill>
            <a:prstDash val="solid"/>
          </a:ln>
        </p:spPr>
      </p:sp>
      <p:sp>
        <p:nvSpPr>
          <p:cNvPr id="22" name="Text 20"/>
          <p:cNvSpPr txBox="1"/>
          <p:nvPr/>
        </p:nvSpPr>
        <p:spPr>
          <a:xfrm>
            <a:off x="3044952" y="2889504"/>
            <a:ext cx="2909482"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Argo · BGC-Argo · drifters · moorings · GLORYS</a:t>
            </a:r>
            <a:endParaRPr lang="en-US" sz="750" dirty="0"/>
          </a:p>
        </p:txBody>
      </p:sp>
      <p:sp>
        <p:nvSpPr>
          <p:cNvPr id="23" name="Text 21"/>
          <p:cNvSpPr txBox="1"/>
          <p:nvPr/>
        </p:nvSpPr>
        <p:spPr>
          <a:xfrm>
            <a:off x="6903720" y="2889504"/>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0–2000 m · first depth rung</a:t>
            </a:r>
            <a:endParaRPr lang="en-US" sz="700" dirty="0"/>
          </a:p>
        </p:txBody>
      </p:sp>
      <p:sp>
        <p:nvSpPr>
          <p:cNvPr id="24" name="Text 22"/>
          <p:cNvSpPr txBox="1"/>
          <p:nvPr/>
        </p:nvSpPr>
        <p:spPr>
          <a:xfrm>
            <a:off x="548640" y="3241548"/>
            <a:ext cx="2331720" cy="352044"/>
          </a:xfrm>
          <a:prstGeom prst="rect">
            <a:avLst/>
          </a:prstGeom>
          <a:noFill/>
          <a:ln/>
        </p:spPr>
        <p:txBody>
          <a:bodyPr wrap="square" lIns="0" tIns="0" rIns="0" bIns="0" rtlCol="0" anchor="ctr"/>
          <a:lstStyle/>
          <a:p>
            <a:pPr indent="0" marL="0">
              <a:buNone/>
            </a:pPr>
            <a:r>
              <a:rPr lang="en-US" sz="900" b="1" dirty="0">
                <a:solidFill>
                  <a:srgbClr val="E07A2F"/>
                </a:solidFill>
                <a:latin typeface="Calibri" pitchFamily="34" charset="0"/>
                <a:ea typeface="Calibri" pitchFamily="34" charset="-122"/>
                <a:cs typeface="Calibri" pitchFamily="34" charset="-120"/>
              </a:rPr>
              <a:t>7  </a:t>
            </a:r>
            <a:pPr indent="0" marL="0">
              <a:buNone/>
            </a:pPr>
            <a:r>
              <a:rPr lang="en-US" sz="850" b="1" dirty="0">
                <a:solidFill>
                  <a:srgbClr val="1B2430"/>
                </a:solidFill>
                <a:latin typeface="Calibri" pitchFamily="34" charset="0"/>
                <a:ea typeface="Calibri" pitchFamily="34" charset="-122"/>
                <a:cs typeface="Calibri" pitchFamily="34" charset="-120"/>
              </a:rPr>
              <a:t>Reanalysis atmosphere</a:t>
            </a:r>
            <a:endParaRPr lang="en-US" sz="900" dirty="0"/>
          </a:p>
        </p:txBody>
      </p:sp>
      <p:sp>
        <p:nvSpPr>
          <p:cNvPr id="25" name="Shape 23"/>
          <p:cNvSpPr/>
          <p:nvPr/>
        </p:nvSpPr>
        <p:spPr>
          <a:xfrm>
            <a:off x="2971800" y="3305556"/>
            <a:ext cx="3566160" cy="224028"/>
          </a:xfrm>
          <a:prstGeom prst="rect">
            <a:avLst/>
          </a:prstGeom>
          <a:solidFill>
            <a:srgbClr val="E07A2F">
              <a:alpha val="75000"/>
            </a:srgbClr>
          </a:solidFill>
          <a:ln w="12700">
            <a:solidFill>
              <a:srgbClr val="333333"/>
            </a:solidFill>
            <a:prstDash val="solid"/>
          </a:ln>
        </p:spPr>
      </p:sp>
      <p:sp>
        <p:nvSpPr>
          <p:cNvPr id="26" name="Text 24"/>
          <p:cNvSpPr txBox="1"/>
          <p:nvPr/>
        </p:nvSpPr>
        <p:spPr>
          <a:xfrm>
            <a:off x="3044952" y="3241548"/>
            <a:ext cx="3456432"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ERA5 (31 km hourly) · IFS/GFS 0.25°</a:t>
            </a:r>
            <a:endParaRPr lang="en-US" sz="750" dirty="0"/>
          </a:p>
        </p:txBody>
      </p:sp>
      <p:sp>
        <p:nvSpPr>
          <p:cNvPr id="27" name="Text 25"/>
          <p:cNvSpPr txBox="1"/>
          <p:nvPr/>
        </p:nvSpPr>
        <p:spPr>
          <a:xfrm>
            <a:off x="6903720" y="3241548"/>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hourly · derived</a:t>
            </a:r>
            <a:endParaRPr lang="en-US" sz="700" dirty="0"/>
          </a:p>
        </p:txBody>
      </p:sp>
      <p:sp>
        <p:nvSpPr>
          <p:cNvPr id="28" name="Text 26"/>
          <p:cNvSpPr txBox="1"/>
          <p:nvPr/>
        </p:nvSpPr>
        <p:spPr>
          <a:xfrm>
            <a:off x="548640" y="3593592"/>
            <a:ext cx="2331720" cy="352044"/>
          </a:xfrm>
          <a:prstGeom prst="rect">
            <a:avLst/>
          </a:prstGeom>
          <a:noFill/>
          <a:ln/>
        </p:spPr>
        <p:txBody>
          <a:bodyPr wrap="square" lIns="0" tIns="0" rIns="0" bIns="0" rtlCol="0" anchor="ctr"/>
          <a:lstStyle/>
          <a:p>
            <a:pPr indent="0" marL="0">
              <a:buNone/>
            </a:pPr>
            <a:r>
              <a:rPr lang="en-US" sz="900" b="1" dirty="0">
                <a:solidFill>
                  <a:srgbClr val="2E86AB"/>
                </a:solidFill>
                <a:latin typeface="Calibri" pitchFamily="34" charset="0"/>
                <a:ea typeface="Calibri" pitchFamily="34" charset="-122"/>
                <a:cs typeface="Calibri" pitchFamily="34" charset="-120"/>
              </a:rPr>
              <a:t>6  </a:t>
            </a:r>
            <a:pPr indent="0" marL="0">
              <a:buNone/>
            </a:pPr>
            <a:r>
              <a:rPr lang="en-US" sz="850" b="1" dirty="0">
                <a:solidFill>
                  <a:srgbClr val="1B2430"/>
                </a:solidFill>
                <a:latin typeface="Calibri" pitchFamily="34" charset="0"/>
                <a:ea typeface="Calibri" pitchFamily="34" charset="-122"/>
                <a:cs typeface="Calibri" pitchFamily="34" charset="-120"/>
              </a:rPr>
              <a:t>5–25 km gap-filled fields</a:t>
            </a:r>
            <a:endParaRPr lang="en-US" sz="900" dirty="0"/>
          </a:p>
        </p:txBody>
      </p:sp>
      <p:sp>
        <p:nvSpPr>
          <p:cNvPr id="29" name="Shape 27"/>
          <p:cNvSpPr/>
          <p:nvPr/>
        </p:nvSpPr>
        <p:spPr>
          <a:xfrm>
            <a:off x="2971800" y="3657600"/>
            <a:ext cx="3109313" cy="224028"/>
          </a:xfrm>
          <a:prstGeom prst="rect">
            <a:avLst/>
          </a:prstGeom>
          <a:solidFill>
            <a:srgbClr val="2E86AB">
              <a:alpha val="75000"/>
            </a:srgbClr>
          </a:solidFill>
          <a:ln w="12700">
            <a:solidFill>
              <a:srgbClr val="333333"/>
            </a:solidFill>
            <a:prstDash val="solid"/>
          </a:ln>
        </p:spPr>
      </p:sp>
      <p:sp>
        <p:nvSpPr>
          <p:cNvPr id="30" name="Text 28"/>
          <p:cNvSpPr txBox="1"/>
          <p:nvPr/>
        </p:nvSpPr>
        <p:spPr>
          <a:xfrm>
            <a:off x="3044952" y="3593592"/>
            <a:ext cx="2999585"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OSTIA · DUACS · IMERG · ASCAT · AMSR2 · SMAP</a:t>
            </a:r>
            <a:endParaRPr lang="en-US" sz="750" dirty="0"/>
          </a:p>
        </p:txBody>
      </p:sp>
      <p:sp>
        <p:nvSpPr>
          <p:cNvPr id="31" name="Text 29"/>
          <p:cNvSpPr txBox="1"/>
          <p:nvPr/>
        </p:nvSpPr>
        <p:spPr>
          <a:xfrm>
            <a:off x="6903720" y="3593592"/>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daily–hourly · derived</a:t>
            </a:r>
            <a:endParaRPr lang="en-US" sz="700" dirty="0"/>
          </a:p>
        </p:txBody>
      </p:sp>
      <p:sp>
        <p:nvSpPr>
          <p:cNvPr id="32" name="Text 30"/>
          <p:cNvSpPr txBox="1"/>
          <p:nvPr/>
        </p:nvSpPr>
        <p:spPr>
          <a:xfrm>
            <a:off x="548640" y="3945636"/>
            <a:ext cx="2331720" cy="352044"/>
          </a:xfrm>
          <a:prstGeom prst="rect">
            <a:avLst/>
          </a:prstGeom>
          <a:noFill/>
          <a:ln/>
        </p:spPr>
        <p:txBody>
          <a:bodyPr wrap="square" lIns="0" tIns="0" rIns="0" bIns="0" rtlCol="0" anchor="ctr"/>
          <a:lstStyle/>
          <a:p>
            <a:pPr indent="0" marL="0">
              <a:buNone/>
            </a:pPr>
            <a:r>
              <a:rPr lang="en-US" sz="900" b="1" dirty="0">
                <a:solidFill>
                  <a:srgbClr val="2E86AB"/>
                </a:solidFill>
                <a:latin typeface="Calibri" pitchFamily="34" charset="0"/>
                <a:ea typeface="Calibri" pitchFamily="34" charset="-122"/>
                <a:cs typeface="Calibri" pitchFamily="34" charset="-120"/>
              </a:rPr>
              <a:t>5  </a:t>
            </a:r>
            <a:pPr indent="0" marL="0">
              <a:buNone/>
            </a:pPr>
            <a:r>
              <a:rPr lang="en-US" sz="850" b="1" dirty="0">
                <a:solidFill>
                  <a:srgbClr val="1B2430"/>
                </a:solidFill>
                <a:latin typeface="Calibri" pitchFamily="34" charset="0"/>
                <a:ea typeface="Calibri" pitchFamily="34" charset="-122"/>
                <a:cs typeface="Calibri" pitchFamily="34" charset="-120"/>
              </a:rPr>
              <a:t>km-scale sparse sensors</a:t>
            </a:r>
            <a:endParaRPr lang="en-US" sz="900" dirty="0"/>
          </a:p>
        </p:txBody>
      </p:sp>
      <p:sp>
        <p:nvSpPr>
          <p:cNvPr id="33" name="Shape 31"/>
          <p:cNvSpPr/>
          <p:nvPr/>
        </p:nvSpPr>
        <p:spPr>
          <a:xfrm>
            <a:off x="2971800" y="4009644"/>
            <a:ext cx="2829428" cy="224028"/>
          </a:xfrm>
          <a:prstGeom prst="rect">
            <a:avLst/>
          </a:prstGeom>
          <a:solidFill>
            <a:srgbClr val="2E86AB">
              <a:alpha val="75000"/>
            </a:srgbClr>
          </a:solidFill>
          <a:ln w="12700">
            <a:solidFill>
              <a:srgbClr val="333333"/>
            </a:solidFill>
            <a:prstDash val="solid"/>
          </a:ln>
        </p:spPr>
      </p:sp>
      <p:sp>
        <p:nvSpPr>
          <p:cNvPr id="34" name="Text 32"/>
          <p:cNvSpPr txBox="1"/>
          <p:nvPr/>
        </p:nvSpPr>
        <p:spPr>
          <a:xfrm>
            <a:off x="3044952" y="3945636"/>
            <a:ext cx="2719700"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altimetry · SWOT · radar · lidar · TROPOMI</a:t>
            </a:r>
            <a:endParaRPr lang="en-US" sz="750" dirty="0"/>
          </a:p>
        </p:txBody>
      </p:sp>
      <p:sp>
        <p:nvSpPr>
          <p:cNvPr id="35" name="Text 33"/>
          <p:cNvSpPr txBox="1"/>
          <p:nvPr/>
        </p:nvSpPr>
        <p:spPr>
          <a:xfrm>
            <a:off x="6903720" y="3945636"/>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tracks &amp; swaths</a:t>
            </a:r>
            <a:endParaRPr lang="en-US" sz="700" dirty="0"/>
          </a:p>
        </p:txBody>
      </p:sp>
      <p:sp>
        <p:nvSpPr>
          <p:cNvPr id="36" name="Text 34"/>
          <p:cNvSpPr txBox="1"/>
          <p:nvPr/>
        </p:nvSpPr>
        <p:spPr>
          <a:xfrm>
            <a:off x="548640" y="4297680"/>
            <a:ext cx="2331720" cy="352044"/>
          </a:xfrm>
          <a:prstGeom prst="rect">
            <a:avLst/>
          </a:prstGeom>
          <a:noFill/>
          <a:ln/>
        </p:spPr>
        <p:txBody>
          <a:bodyPr wrap="square" lIns="0" tIns="0" rIns="0" bIns="0" rtlCol="0" anchor="ctr"/>
          <a:lstStyle/>
          <a:p>
            <a:pPr indent="0" marL="0">
              <a:buNone/>
            </a:pPr>
            <a:r>
              <a:rPr lang="en-US" sz="900" b="1" dirty="0">
                <a:solidFill>
                  <a:srgbClr val="E07A2F"/>
                </a:solidFill>
                <a:latin typeface="Calibri" pitchFamily="34" charset="0"/>
                <a:ea typeface="Calibri" pitchFamily="34" charset="-122"/>
                <a:cs typeface="Calibri" pitchFamily="34" charset="-120"/>
              </a:rPr>
              <a:t>4  </a:t>
            </a:r>
            <a:pPr indent="0" marL="0">
              <a:buNone/>
            </a:pPr>
            <a:r>
              <a:rPr lang="en-US" sz="850" b="1" dirty="0">
                <a:solidFill>
                  <a:srgbClr val="1B2430"/>
                </a:solidFill>
                <a:latin typeface="Calibri" pitchFamily="34" charset="0"/>
                <a:ea typeface="Calibri" pitchFamily="34" charset="-122"/>
                <a:cs typeface="Calibri" pitchFamily="34" charset="-120"/>
              </a:rPr>
              <a:t>Geostationary imagers</a:t>
            </a:r>
            <a:endParaRPr lang="en-US" sz="900" dirty="0"/>
          </a:p>
        </p:txBody>
      </p:sp>
      <p:sp>
        <p:nvSpPr>
          <p:cNvPr id="37" name="Shape 35"/>
          <p:cNvSpPr/>
          <p:nvPr/>
        </p:nvSpPr>
        <p:spPr>
          <a:xfrm>
            <a:off x="2971800" y="4361688"/>
            <a:ext cx="2459440" cy="224028"/>
          </a:xfrm>
          <a:prstGeom prst="rect">
            <a:avLst/>
          </a:prstGeom>
          <a:solidFill>
            <a:srgbClr val="E07A2F">
              <a:alpha val="75000"/>
            </a:srgbClr>
          </a:solidFill>
          <a:ln w="12700">
            <a:solidFill>
              <a:srgbClr val="333333"/>
            </a:solidFill>
            <a:prstDash val="solid"/>
          </a:ln>
        </p:spPr>
      </p:sp>
      <p:sp>
        <p:nvSpPr>
          <p:cNvPr id="38" name="Text 36"/>
          <p:cNvSpPr txBox="1"/>
          <p:nvPr/>
        </p:nvSpPr>
        <p:spPr>
          <a:xfrm>
            <a:off x="3044952" y="4297680"/>
            <a:ext cx="2349712"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GOES · MTG · Himawari</a:t>
            </a:r>
            <a:endParaRPr lang="en-US" sz="750" dirty="0"/>
          </a:p>
        </p:txBody>
      </p:sp>
      <p:sp>
        <p:nvSpPr>
          <p:cNvPr id="39" name="Text 37"/>
          <p:cNvSpPr txBox="1"/>
          <p:nvPr/>
        </p:nvSpPr>
        <p:spPr>
          <a:xfrm>
            <a:off x="6903720" y="4297680"/>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every 10 min</a:t>
            </a:r>
            <a:endParaRPr lang="en-US" sz="700" dirty="0"/>
          </a:p>
        </p:txBody>
      </p:sp>
      <p:sp>
        <p:nvSpPr>
          <p:cNvPr id="40" name="Text 38"/>
          <p:cNvSpPr txBox="1"/>
          <p:nvPr/>
        </p:nvSpPr>
        <p:spPr>
          <a:xfrm>
            <a:off x="548640" y="4649724"/>
            <a:ext cx="2331720" cy="352044"/>
          </a:xfrm>
          <a:prstGeom prst="rect">
            <a:avLst/>
          </a:prstGeom>
          <a:noFill/>
          <a:ln/>
        </p:spPr>
        <p:txBody>
          <a:bodyPr wrap="square" lIns="0" tIns="0" rIns="0" bIns="0" rtlCol="0" anchor="ctr"/>
          <a:lstStyle/>
          <a:p>
            <a:pPr indent="0" marL="0">
              <a:buNone/>
            </a:pPr>
            <a:r>
              <a:rPr lang="en-US" sz="900" b="1" dirty="0">
                <a:solidFill>
                  <a:srgbClr val="2E86AB"/>
                </a:solidFill>
                <a:latin typeface="Calibri" pitchFamily="34" charset="0"/>
                <a:ea typeface="Calibri" pitchFamily="34" charset="-122"/>
                <a:cs typeface="Calibri" pitchFamily="34" charset="-120"/>
              </a:rPr>
              <a:t>3  </a:t>
            </a:r>
            <a:pPr indent="0" marL="0">
              <a:buNone/>
            </a:pPr>
            <a:r>
              <a:rPr lang="en-US" sz="850" b="1" dirty="0">
                <a:solidFill>
                  <a:srgbClr val="1B2430"/>
                </a:solidFill>
                <a:latin typeface="Calibri" pitchFamily="34" charset="0"/>
                <a:ea typeface="Calibri" pitchFamily="34" charset="-122"/>
                <a:cs typeface="Calibri" pitchFamily="34" charset="-120"/>
              </a:rPr>
              <a:t>300 m–1 km daily radiometers</a:t>
            </a:r>
            <a:endParaRPr lang="en-US" sz="900" dirty="0"/>
          </a:p>
        </p:txBody>
      </p:sp>
      <p:sp>
        <p:nvSpPr>
          <p:cNvPr id="41" name="Shape 39"/>
          <p:cNvSpPr/>
          <p:nvPr/>
        </p:nvSpPr>
        <p:spPr>
          <a:xfrm>
            <a:off x="2971800" y="4713732"/>
            <a:ext cx="1899670" cy="224028"/>
          </a:xfrm>
          <a:prstGeom prst="rect">
            <a:avLst/>
          </a:prstGeom>
          <a:solidFill>
            <a:srgbClr val="2E86AB">
              <a:alpha val="75000"/>
            </a:srgbClr>
          </a:solidFill>
          <a:ln w="12700">
            <a:solidFill>
              <a:srgbClr val="333333"/>
            </a:solidFill>
            <a:prstDash val="solid"/>
          </a:ln>
        </p:spPr>
      </p:sp>
      <p:sp>
        <p:nvSpPr>
          <p:cNvPr id="42" name="Text 40"/>
          <p:cNvSpPr txBox="1"/>
          <p:nvPr/>
        </p:nvSpPr>
        <p:spPr>
          <a:xfrm>
            <a:off x="3044952" y="4649724"/>
            <a:ext cx="1789942" cy="3520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Sentinel-3 OLCI/SLSTR · VIIRS</a:t>
            </a:r>
            <a:endParaRPr lang="en-US" sz="750" dirty="0"/>
          </a:p>
        </p:txBody>
      </p:sp>
      <p:sp>
        <p:nvSpPr>
          <p:cNvPr id="43" name="Text 41"/>
          <p:cNvSpPr txBox="1"/>
          <p:nvPr/>
        </p:nvSpPr>
        <p:spPr>
          <a:xfrm>
            <a:off x="6903720" y="4649724"/>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daily · first ocean rung</a:t>
            </a:r>
            <a:endParaRPr lang="en-US" sz="700" dirty="0"/>
          </a:p>
        </p:txBody>
      </p:sp>
      <p:sp>
        <p:nvSpPr>
          <p:cNvPr id="44" name="Text 42"/>
          <p:cNvSpPr txBox="1"/>
          <p:nvPr/>
        </p:nvSpPr>
        <p:spPr>
          <a:xfrm>
            <a:off x="548640" y="5001768"/>
            <a:ext cx="2331720" cy="352044"/>
          </a:xfrm>
          <a:prstGeom prst="rect">
            <a:avLst/>
          </a:prstGeom>
          <a:noFill/>
          <a:ln/>
        </p:spPr>
        <p:txBody>
          <a:bodyPr wrap="square" lIns="0" tIns="0" rIns="0" bIns="0" rtlCol="0" anchor="ctr"/>
          <a:lstStyle/>
          <a:p>
            <a:pPr indent="0" marL="0">
              <a:buNone/>
            </a:pPr>
            <a:r>
              <a:rPr lang="en-US" sz="900" b="1" dirty="0">
                <a:solidFill>
                  <a:srgbClr val="4E8A3E"/>
                </a:solidFill>
                <a:latin typeface="Calibri" pitchFamily="34" charset="0"/>
                <a:ea typeface="Calibri" pitchFamily="34" charset="-122"/>
                <a:cs typeface="Calibri" pitchFamily="34" charset="-120"/>
              </a:rPr>
              <a:t>2  </a:t>
            </a:r>
            <a:pPr indent="0" marL="0">
              <a:buNone/>
            </a:pPr>
            <a:r>
              <a:rPr lang="en-US" sz="850" b="1" dirty="0">
                <a:solidFill>
                  <a:srgbClr val="1B2430"/>
                </a:solidFill>
                <a:latin typeface="Calibri" pitchFamily="34" charset="0"/>
                <a:ea typeface="Calibri" pitchFamily="34" charset="-122"/>
                <a:cs typeface="Calibri" pitchFamily="34" charset="-120"/>
              </a:rPr>
              <a:t>30 m optical + thermal</a:t>
            </a:r>
            <a:endParaRPr lang="en-US" sz="900" dirty="0"/>
          </a:p>
        </p:txBody>
      </p:sp>
      <p:sp>
        <p:nvSpPr>
          <p:cNvPr id="45" name="Shape 43"/>
          <p:cNvSpPr/>
          <p:nvPr/>
        </p:nvSpPr>
        <p:spPr>
          <a:xfrm>
            <a:off x="2971800" y="5065776"/>
            <a:ext cx="763647" cy="224028"/>
          </a:xfrm>
          <a:prstGeom prst="rect">
            <a:avLst/>
          </a:prstGeom>
          <a:solidFill>
            <a:srgbClr val="4E8A3E">
              <a:alpha val="75000"/>
            </a:srgbClr>
          </a:solidFill>
          <a:ln w="12700">
            <a:solidFill>
              <a:srgbClr val="333333"/>
            </a:solidFill>
            <a:prstDash val="solid"/>
          </a:ln>
        </p:spPr>
      </p:sp>
      <p:sp>
        <p:nvSpPr>
          <p:cNvPr id="46" name="Text 44"/>
          <p:cNvSpPr txBox="1"/>
          <p:nvPr/>
        </p:nvSpPr>
        <p:spPr>
          <a:xfrm>
            <a:off x="3808599" y="5001768"/>
            <a:ext cx="3076833" cy="352044"/>
          </a:xfrm>
          <a:prstGeom prst="rect">
            <a:avLst/>
          </a:prstGeom>
          <a:noFill/>
          <a:ln/>
        </p:spPr>
        <p:txBody>
          <a:bodyPr wrap="square" lIns="0" tIns="0" rIns="0" bIns="0" rtlCol="0" anchor="ctr"/>
          <a:lstStyle/>
          <a:p>
            <a:pPr indent="0" marL="0">
              <a:buNone/>
            </a:pPr>
            <a:r>
              <a:rPr lang="en-US" sz="750" dirty="0">
                <a:solidFill>
                  <a:srgbClr val="1B2430"/>
                </a:solidFill>
                <a:latin typeface="Calibri" pitchFamily="34" charset="0"/>
                <a:ea typeface="Calibri" pitchFamily="34" charset="-122"/>
                <a:cs typeface="Calibri" pitchFamily="34" charset="-120"/>
              </a:rPr>
              <a:t>Landsat 8/9</a:t>
            </a:r>
            <a:endParaRPr lang="en-US" sz="750" dirty="0"/>
          </a:p>
        </p:txBody>
      </p:sp>
      <p:sp>
        <p:nvSpPr>
          <p:cNvPr id="47" name="Text 45"/>
          <p:cNvSpPr txBox="1"/>
          <p:nvPr/>
        </p:nvSpPr>
        <p:spPr>
          <a:xfrm>
            <a:off x="6903720" y="5001768"/>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8 days</a:t>
            </a:r>
            <a:endParaRPr lang="en-US" sz="700" dirty="0"/>
          </a:p>
        </p:txBody>
      </p:sp>
      <p:sp>
        <p:nvSpPr>
          <p:cNvPr id="48" name="Text 46"/>
          <p:cNvSpPr txBox="1"/>
          <p:nvPr/>
        </p:nvSpPr>
        <p:spPr>
          <a:xfrm>
            <a:off x="548640" y="5353812"/>
            <a:ext cx="2331720" cy="352044"/>
          </a:xfrm>
          <a:prstGeom prst="rect">
            <a:avLst/>
          </a:prstGeom>
          <a:noFill/>
          <a:ln/>
        </p:spPr>
        <p:txBody>
          <a:bodyPr wrap="square" lIns="0" tIns="0" rIns="0" bIns="0" rtlCol="0" anchor="ctr"/>
          <a:lstStyle/>
          <a:p>
            <a:pPr indent="0" marL="0">
              <a:buNone/>
            </a:pPr>
            <a:r>
              <a:rPr lang="en-US" sz="900" b="1" dirty="0">
                <a:solidFill>
                  <a:srgbClr val="4E8A3E"/>
                </a:solidFill>
                <a:latin typeface="Calibri" pitchFamily="34" charset="0"/>
                <a:ea typeface="Calibri" pitchFamily="34" charset="-122"/>
                <a:cs typeface="Calibri" pitchFamily="34" charset="-120"/>
              </a:rPr>
              <a:t>1  </a:t>
            </a:r>
            <a:pPr indent="0" marL="0">
              <a:buNone/>
            </a:pPr>
            <a:r>
              <a:rPr lang="en-US" sz="850" b="1" dirty="0">
                <a:solidFill>
                  <a:srgbClr val="1B2430"/>
                </a:solidFill>
                <a:latin typeface="Calibri" pitchFamily="34" charset="0"/>
                <a:ea typeface="Calibri" pitchFamily="34" charset="-122"/>
                <a:cs typeface="Calibri" pitchFamily="34" charset="-120"/>
              </a:rPr>
              <a:t>10 m optical + radar</a:t>
            </a:r>
            <a:endParaRPr lang="en-US" sz="900" dirty="0"/>
          </a:p>
        </p:txBody>
      </p:sp>
      <p:sp>
        <p:nvSpPr>
          <p:cNvPr id="49" name="Shape 47"/>
          <p:cNvSpPr/>
          <p:nvPr/>
        </p:nvSpPr>
        <p:spPr>
          <a:xfrm>
            <a:off x="2971800" y="5417820"/>
            <a:ext cx="320040" cy="224028"/>
          </a:xfrm>
          <a:prstGeom prst="rect">
            <a:avLst/>
          </a:prstGeom>
          <a:solidFill>
            <a:srgbClr val="4E8A3E">
              <a:alpha val="75000"/>
            </a:srgbClr>
          </a:solidFill>
          <a:ln w="12700">
            <a:solidFill>
              <a:srgbClr val="333333"/>
            </a:solidFill>
            <a:prstDash val="solid"/>
          </a:ln>
        </p:spPr>
      </p:sp>
      <p:sp>
        <p:nvSpPr>
          <p:cNvPr id="50" name="Text 48"/>
          <p:cNvSpPr txBox="1"/>
          <p:nvPr/>
        </p:nvSpPr>
        <p:spPr>
          <a:xfrm>
            <a:off x="3364992" y="5353812"/>
            <a:ext cx="3520440" cy="352044"/>
          </a:xfrm>
          <a:prstGeom prst="rect">
            <a:avLst/>
          </a:prstGeom>
          <a:noFill/>
          <a:ln/>
        </p:spPr>
        <p:txBody>
          <a:bodyPr wrap="square" lIns="0" tIns="0" rIns="0" bIns="0" rtlCol="0" anchor="ctr"/>
          <a:lstStyle/>
          <a:p>
            <a:pPr indent="0" marL="0">
              <a:buNone/>
            </a:pPr>
            <a:r>
              <a:rPr lang="en-US" sz="750" dirty="0">
                <a:solidFill>
                  <a:srgbClr val="1B2430"/>
                </a:solidFill>
                <a:latin typeface="Calibri" pitchFamily="34" charset="0"/>
                <a:ea typeface="Calibri" pitchFamily="34" charset="-122"/>
                <a:cs typeface="Calibri" pitchFamily="34" charset="-120"/>
              </a:rPr>
              <a:t>Sentinel-2 · Sentinel-1</a:t>
            </a:r>
            <a:endParaRPr lang="en-US" sz="750" dirty="0"/>
          </a:p>
        </p:txBody>
      </p:sp>
      <p:sp>
        <p:nvSpPr>
          <p:cNvPr id="51" name="Text 49"/>
          <p:cNvSpPr txBox="1"/>
          <p:nvPr/>
        </p:nvSpPr>
        <p:spPr>
          <a:xfrm>
            <a:off x="6903720" y="5353812"/>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5–6 days</a:t>
            </a:r>
            <a:endParaRPr lang="en-US" sz="700" dirty="0"/>
          </a:p>
        </p:txBody>
      </p:sp>
      <p:sp>
        <p:nvSpPr>
          <p:cNvPr id="52" name="Text 50"/>
          <p:cNvSpPr txBox="1"/>
          <p:nvPr/>
        </p:nvSpPr>
        <p:spPr>
          <a:xfrm>
            <a:off x="548640" y="5705856"/>
            <a:ext cx="2331720" cy="352044"/>
          </a:xfrm>
          <a:prstGeom prst="rect">
            <a:avLst/>
          </a:prstGeom>
          <a:noFill/>
          <a:ln/>
        </p:spPr>
        <p:txBody>
          <a:bodyPr wrap="square" lIns="0" tIns="0" rIns="0" bIns="0" rtlCol="0" anchor="ctr"/>
          <a:lstStyle/>
          <a:p>
            <a:pPr indent="0" marL="0">
              <a:buNone/>
            </a:pPr>
            <a:r>
              <a:rPr lang="en-US" sz="900" b="1" dirty="0">
                <a:solidFill>
                  <a:srgbClr val="7A8797"/>
                </a:solidFill>
                <a:latin typeface="Calibri" pitchFamily="34" charset="0"/>
                <a:ea typeface="Calibri" pitchFamily="34" charset="-122"/>
                <a:cs typeface="Calibri" pitchFamily="34" charset="-120"/>
              </a:rPr>
              <a:t>0  </a:t>
            </a:r>
            <a:pPr indent="0" marL="0">
              <a:buNone/>
            </a:pPr>
            <a:r>
              <a:rPr lang="en-US" sz="850" b="1" dirty="0">
                <a:solidFill>
                  <a:srgbClr val="1B2430"/>
                </a:solidFill>
                <a:latin typeface="Calibri" pitchFamily="34" charset="0"/>
                <a:ea typeface="Calibri" pitchFamily="34" charset="-122"/>
                <a:cs typeface="Calibri" pitchFamily="34" charset="-120"/>
              </a:rPr>
              <a:t>Anchor coordinates</a:t>
            </a:r>
            <a:endParaRPr lang="en-US" sz="900" dirty="0"/>
          </a:p>
        </p:txBody>
      </p:sp>
      <p:sp>
        <p:nvSpPr>
          <p:cNvPr id="53" name="Shape 51"/>
          <p:cNvSpPr/>
          <p:nvPr/>
        </p:nvSpPr>
        <p:spPr>
          <a:xfrm>
            <a:off x="2971800" y="5769864"/>
            <a:ext cx="109728" cy="224028"/>
          </a:xfrm>
          <a:prstGeom prst="rect">
            <a:avLst/>
          </a:prstGeom>
          <a:solidFill>
            <a:srgbClr val="7A8797">
              <a:alpha val="75000"/>
            </a:srgbClr>
          </a:solidFill>
          <a:ln w="12700">
            <a:solidFill>
              <a:srgbClr val="333333"/>
            </a:solidFill>
            <a:prstDash val="solid"/>
          </a:ln>
        </p:spPr>
      </p:sp>
      <p:sp>
        <p:nvSpPr>
          <p:cNvPr id="54" name="Text 52"/>
          <p:cNvSpPr txBox="1"/>
          <p:nvPr/>
        </p:nvSpPr>
        <p:spPr>
          <a:xfrm>
            <a:off x="3154680" y="5705856"/>
            <a:ext cx="3730752" cy="352044"/>
          </a:xfrm>
          <a:prstGeom prst="rect">
            <a:avLst/>
          </a:prstGeom>
          <a:noFill/>
          <a:ln/>
        </p:spPr>
        <p:txBody>
          <a:bodyPr wrap="square" lIns="0" tIns="0" rIns="0" bIns="0" rtlCol="0" anchor="ctr"/>
          <a:lstStyle/>
          <a:p>
            <a:pPr indent="0" marL="0">
              <a:buNone/>
            </a:pPr>
            <a:r>
              <a:rPr lang="en-US" sz="750" dirty="0">
                <a:solidFill>
                  <a:srgbClr val="1B2430"/>
                </a:solidFill>
                <a:latin typeface="Calibri" pitchFamily="34" charset="0"/>
                <a:ea typeface="Calibri" pitchFamily="34" charset="-122"/>
                <a:cs typeface="Calibri" pitchFamily="34" charset="-120"/>
              </a:rPr>
              <a:t>lat · lon · time · depth</a:t>
            </a:r>
            <a:endParaRPr lang="en-US" sz="750" dirty="0"/>
          </a:p>
        </p:txBody>
      </p:sp>
      <p:sp>
        <p:nvSpPr>
          <p:cNvPr id="55" name="Text 53"/>
          <p:cNvSpPr txBox="1"/>
          <p:nvPr/>
        </p:nvSpPr>
        <p:spPr>
          <a:xfrm>
            <a:off x="6903720" y="5705856"/>
            <a:ext cx="1463040" cy="352044"/>
          </a:xfrm>
          <a:prstGeom prst="rect">
            <a:avLst/>
          </a:prstGeom>
          <a:noFill/>
          <a:ln/>
        </p:spPr>
        <p:txBody>
          <a:bodyPr wrap="square" lIns="0" tIns="0" rIns="0" bIns="0" rtlCol="0" anchor="ctr"/>
          <a:lstStyle/>
          <a:p>
            <a:pPr indent="0" marL="0">
              <a:buNone/>
            </a:pPr>
            <a:r>
              <a:rPr lang="en-US" sz="700" i="1" dirty="0">
                <a:solidFill>
                  <a:srgbClr val="6B7A8F"/>
                </a:solidFill>
                <a:latin typeface="Calibri" pitchFamily="34" charset="0"/>
                <a:ea typeface="Calibri" pitchFamily="34" charset="-122"/>
                <a:cs typeface="Calibri" pitchFamily="34" charset="-120"/>
              </a:rPr>
              <a:t>the frame — not data</a:t>
            </a:r>
            <a:endParaRPr lang="en-US" sz="700" dirty="0"/>
          </a:p>
        </p:txBody>
      </p:sp>
      <p:sp>
        <p:nvSpPr>
          <p:cNvPr id="56" name="Shape 54"/>
          <p:cNvSpPr/>
          <p:nvPr/>
        </p:nvSpPr>
        <p:spPr>
          <a:xfrm>
            <a:off x="2971800" y="6076188"/>
            <a:ext cx="3840480" cy="0"/>
          </a:xfrm>
          <a:prstGeom prst="line">
            <a:avLst/>
          </a:prstGeom>
          <a:noFill/>
          <a:ln w="9525">
            <a:solidFill>
              <a:srgbClr val="B8C4D3"/>
            </a:solidFill>
            <a:prstDash val="solid"/>
            <a:tailEnd type="triangle"/>
          </a:ln>
        </p:spPr>
      </p:sp>
      <p:sp>
        <p:nvSpPr>
          <p:cNvPr id="57" name="Text 55"/>
          <p:cNvSpPr txBox="1"/>
          <p:nvPr/>
        </p:nvSpPr>
        <p:spPr>
          <a:xfrm>
            <a:off x="2971800" y="6103620"/>
            <a:ext cx="4114800" cy="228600"/>
          </a:xfrm>
          <a:prstGeom prst="rect">
            <a:avLst/>
          </a:prstGeom>
          <a:noFill/>
          <a:ln/>
        </p:spPr>
        <p:txBody>
          <a:bodyPr wrap="square" lIns="0" tIns="0" rIns="0" bIns="0" rtlCol="0" anchor="ctr"/>
          <a:lstStyle/>
          <a:p>
            <a:pPr indent="0" marL="0">
              <a:buNone/>
            </a:pPr>
            <a:r>
              <a:rPr lang="en-US" sz="750" i="1" dirty="0">
                <a:solidFill>
                  <a:srgbClr val="6B7A8F"/>
                </a:solidFill>
                <a:latin typeface="Calibri" pitchFamily="34" charset="0"/>
                <a:ea typeface="Calibri" pitchFamily="34" charset="-122"/>
                <a:cs typeface="Calibri" pitchFamily="34" charset="-120"/>
              </a:rPr>
              <a:t>bar = native pixel size (log scale, 10 m → 31 km)</a:t>
            </a:r>
            <a:endParaRPr lang="en-US" sz="750" dirty="0"/>
          </a:p>
        </p:txBody>
      </p:sp>
      <p:sp>
        <p:nvSpPr>
          <p:cNvPr id="58" name="Shape 56"/>
          <p:cNvSpPr/>
          <p:nvPr/>
        </p:nvSpPr>
        <p:spPr>
          <a:xfrm>
            <a:off x="6903720" y="6149340"/>
            <a:ext cx="128016" cy="128016"/>
          </a:xfrm>
          <a:prstGeom prst="rect">
            <a:avLst/>
          </a:prstGeom>
          <a:solidFill>
            <a:srgbClr val="4E8A3E">
              <a:alpha val="75000"/>
            </a:srgbClr>
          </a:solidFill>
          <a:ln w="12700">
            <a:solidFill>
              <a:srgbClr val="333333"/>
            </a:solidFill>
            <a:prstDash val="solid"/>
          </a:ln>
        </p:spPr>
      </p:sp>
      <p:sp>
        <p:nvSpPr>
          <p:cNvPr id="59" name="Text 57"/>
          <p:cNvSpPr txBox="1"/>
          <p:nvPr/>
        </p:nvSpPr>
        <p:spPr>
          <a:xfrm>
            <a:off x="7059168" y="6094476"/>
            <a:ext cx="822960" cy="228600"/>
          </a:xfrm>
          <a:prstGeom prst="rect">
            <a:avLst/>
          </a:prstGeom>
          <a:noFill/>
          <a:ln/>
        </p:spPr>
        <p:txBody>
          <a:bodyPr wrap="square" lIns="0" tIns="0" rIns="0" bIns="0" rtlCol="0" anchor="ctr"/>
          <a:lstStyle/>
          <a:p>
            <a:pPr indent="0" marL="0">
              <a:buNone/>
            </a:pPr>
            <a:r>
              <a:rPr lang="en-US" sz="750" dirty="0">
                <a:solidFill>
                  <a:srgbClr val="6B7A8F"/>
                </a:solidFill>
                <a:latin typeface="Calibri" pitchFamily="34" charset="0"/>
                <a:ea typeface="Calibri" pitchFamily="34" charset="-122"/>
                <a:cs typeface="Calibri" pitchFamily="34" charset="-120"/>
              </a:rPr>
              <a:t>land</a:t>
            </a:r>
            <a:endParaRPr lang="en-US" sz="750" dirty="0"/>
          </a:p>
        </p:txBody>
      </p:sp>
      <p:sp>
        <p:nvSpPr>
          <p:cNvPr id="60" name="Shape 58"/>
          <p:cNvSpPr/>
          <p:nvPr/>
        </p:nvSpPr>
        <p:spPr>
          <a:xfrm>
            <a:off x="7836408" y="6149340"/>
            <a:ext cx="128016" cy="128016"/>
          </a:xfrm>
          <a:prstGeom prst="rect">
            <a:avLst/>
          </a:prstGeom>
          <a:solidFill>
            <a:srgbClr val="2E86AB">
              <a:alpha val="75000"/>
            </a:srgbClr>
          </a:solidFill>
          <a:ln w="12700">
            <a:solidFill>
              <a:srgbClr val="333333"/>
            </a:solidFill>
            <a:prstDash val="solid"/>
          </a:ln>
        </p:spPr>
      </p:sp>
      <p:sp>
        <p:nvSpPr>
          <p:cNvPr id="61" name="Text 59"/>
          <p:cNvSpPr txBox="1"/>
          <p:nvPr/>
        </p:nvSpPr>
        <p:spPr>
          <a:xfrm>
            <a:off x="7991856" y="6094476"/>
            <a:ext cx="822960" cy="228600"/>
          </a:xfrm>
          <a:prstGeom prst="rect">
            <a:avLst/>
          </a:prstGeom>
          <a:noFill/>
          <a:ln/>
        </p:spPr>
        <p:txBody>
          <a:bodyPr wrap="square" lIns="0" tIns="0" rIns="0" bIns="0" rtlCol="0" anchor="ctr"/>
          <a:lstStyle/>
          <a:p>
            <a:pPr indent="0" marL="0">
              <a:buNone/>
            </a:pPr>
            <a:r>
              <a:rPr lang="en-US" sz="750" dirty="0">
                <a:solidFill>
                  <a:srgbClr val="6B7A8F"/>
                </a:solidFill>
                <a:latin typeface="Calibri" pitchFamily="34" charset="0"/>
                <a:ea typeface="Calibri" pitchFamily="34" charset="-122"/>
                <a:cs typeface="Calibri" pitchFamily="34" charset="-120"/>
              </a:rPr>
              <a:t>ocean</a:t>
            </a:r>
            <a:endParaRPr lang="en-US" sz="750" dirty="0"/>
          </a:p>
        </p:txBody>
      </p:sp>
      <p:sp>
        <p:nvSpPr>
          <p:cNvPr id="62" name="Shape 60"/>
          <p:cNvSpPr/>
          <p:nvPr/>
        </p:nvSpPr>
        <p:spPr>
          <a:xfrm>
            <a:off x="8769096" y="6149340"/>
            <a:ext cx="128016" cy="128016"/>
          </a:xfrm>
          <a:prstGeom prst="rect">
            <a:avLst/>
          </a:prstGeom>
          <a:solidFill>
            <a:srgbClr val="E07A2F">
              <a:alpha val="75000"/>
            </a:srgbClr>
          </a:solidFill>
          <a:ln w="12700">
            <a:solidFill>
              <a:srgbClr val="333333"/>
            </a:solidFill>
            <a:prstDash val="solid"/>
          </a:ln>
        </p:spPr>
      </p:sp>
      <p:sp>
        <p:nvSpPr>
          <p:cNvPr id="63" name="Text 61"/>
          <p:cNvSpPr txBox="1"/>
          <p:nvPr/>
        </p:nvSpPr>
        <p:spPr>
          <a:xfrm>
            <a:off x="8924544" y="6094476"/>
            <a:ext cx="822960" cy="228600"/>
          </a:xfrm>
          <a:prstGeom prst="rect">
            <a:avLst/>
          </a:prstGeom>
          <a:noFill/>
          <a:ln/>
        </p:spPr>
        <p:txBody>
          <a:bodyPr wrap="square" lIns="0" tIns="0" rIns="0" bIns="0" rtlCol="0" anchor="ctr"/>
          <a:lstStyle/>
          <a:p>
            <a:pPr indent="0" marL="0">
              <a:buNone/>
            </a:pPr>
            <a:r>
              <a:rPr lang="en-US" sz="750" dirty="0">
                <a:solidFill>
                  <a:srgbClr val="6B7A8F"/>
                </a:solidFill>
                <a:latin typeface="Calibri" pitchFamily="34" charset="0"/>
                <a:ea typeface="Calibri" pitchFamily="34" charset="-122"/>
                <a:cs typeface="Calibri" pitchFamily="34" charset="-120"/>
              </a:rPr>
              <a:t>atmosphere</a:t>
            </a:r>
            <a:endParaRPr lang="en-US" sz="750" dirty="0"/>
          </a:p>
        </p:txBody>
      </p:sp>
      <p:sp>
        <p:nvSpPr>
          <p:cNvPr id="64" name="Shape 62"/>
          <p:cNvSpPr/>
          <p:nvPr/>
        </p:nvSpPr>
        <p:spPr>
          <a:xfrm>
            <a:off x="9701784" y="6149340"/>
            <a:ext cx="128016" cy="128016"/>
          </a:xfrm>
          <a:prstGeom prst="rect">
            <a:avLst/>
          </a:prstGeom>
          <a:solidFill>
            <a:srgbClr val="1F9E89">
              <a:alpha val="75000"/>
            </a:srgbClr>
          </a:solidFill>
          <a:ln w="12700">
            <a:solidFill>
              <a:srgbClr val="333333"/>
            </a:solidFill>
            <a:prstDash val="solid"/>
          </a:ln>
        </p:spPr>
      </p:sp>
      <p:sp>
        <p:nvSpPr>
          <p:cNvPr id="65" name="Text 63"/>
          <p:cNvSpPr txBox="1"/>
          <p:nvPr/>
        </p:nvSpPr>
        <p:spPr>
          <a:xfrm>
            <a:off x="9857232" y="6094476"/>
            <a:ext cx="822960" cy="228600"/>
          </a:xfrm>
          <a:prstGeom prst="rect">
            <a:avLst/>
          </a:prstGeom>
          <a:noFill/>
          <a:ln/>
        </p:spPr>
        <p:txBody>
          <a:bodyPr wrap="square" lIns="0" tIns="0" rIns="0" bIns="0" rtlCol="0" anchor="ctr"/>
          <a:lstStyle/>
          <a:p>
            <a:pPr indent="0" marL="0">
              <a:buNone/>
            </a:pPr>
            <a:r>
              <a:rPr lang="en-US" sz="750" dirty="0">
                <a:solidFill>
                  <a:srgbClr val="6B7A8F"/>
                </a:solidFill>
                <a:latin typeface="Calibri" pitchFamily="34" charset="0"/>
                <a:ea typeface="Calibri" pitchFamily="34" charset="-122"/>
                <a:cs typeface="Calibri" pitchFamily="34" charset="-120"/>
              </a:rPr>
              <a:t>biosphere</a:t>
            </a:r>
            <a:endParaRPr lang="en-US" sz="750" dirty="0"/>
          </a:p>
        </p:txBody>
      </p:sp>
      <p:sp>
        <p:nvSpPr>
          <p:cNvPr id="66" name="Shape 64"/>
          <p:cNvSpPr/>
          <p:nvPr/>
        </p:nvSpPr>
        <p:spPr>
          <a:xfrm>
            <a:off x="10634472" y="6149340"/>
            <a:ext cx="128016" cy="128016"/>
          </a:xfrm>
          <a:prstGeom prst="rect">
            <a:avLst/>
          </a:prstGeom>
          <a:solidFill>
            <a:srgbClr val="7A8797">
              <a:alpha val="75000"/>
            </a:srgbClr>
          </a:solidFill>
          <a:ln w="12700">
            <a:solidFill>
              <a:srgbClr val="333333"/>
            </a:solidFill>
            <a:prstDash val="solid"/>
          </a:ln>
        </p:spPr>
      </p:sp>
      <p:sp>
        <p:nvSpPr>
          <p:cNvPr id="67" name="Text 65"/>
          <p:cNvSpPr txBox="1"/>
          <p:nvPr/>
        </p:nvSpPr>
        <p:spPr>
          <a:xfrm>
            <a:off x="10789920" y="6094476"/>
            <a:ext cx="822960" cy="228600"/>
          </a:xfrm>
          <a:prstGeom prst="rect">
            <a:avLst/>
          </a:prstGeom>
          <a:noFill/>
          <a:ln/>
        </p:spPr>
        <p:txBody>
          <a:bodyPr wrap="square" lIns="0" tIns="0" rIns="0" bIns="0" rtlCol="0" anchor="ctr"/>
          <a:lstStyle/>
          <a:p>
            <a:pPr indent="0" marL="0">
              <a:buNone/>
            </a:pPr>
            <a:r>
              <a:rPr lang="en-US" sz="750" dirty="0">
                <a:solidFill>
                  <a:srgbClr val="6B7A8F"/>
                </a:solidFill>
                <a:latin typeface="Calibri" pitchFamily="34" charset="0"/>
                <a:ea typeface="Calibri" pitchFamily="34" charset="-122"/>
                <a:cs typeface="Calibri" pitchFamily="34" charset="-120"/>
              </a:rPr>
              <a:t>static / frame</a:t>
            </a:r>
            <a:endParaRPr lang="en-US" sz="750" dirty="0"/>
          </a:p>
        </p:txBody>
      </p:sp>
      <p:sp>
        <p:nvSpPr>
          <p:cNvPr id="68" name="Shape 66"/>
          <p:cNvSpPr/>
          <p:nvPr/>
        </p:nvSpPr>
        <p:spPr>
          <a:xfrm>
            <a:off x="8549640" y="1417320"/>
            <a:ext cx="3063240" cy="4709160"/>
          </a:xfrm>
          <a:prstGeom prst="roundRect">
            <a:avLst>
              <a:gd name="adj" fmla="val 2388"/>
            </a:avLst>
          </a:prstGeom>
          <a:solidFill>
            <a:srgbClr val="F4F6F9"/>
          </a:solidFill>
          <a:ln w="15875">
            <a:solidFill>
              <a:srgbClr val="0B1F3A"/>
            </a:solidFill>
            <a:prstDash val="solid"/>
          </a:ln>
        </p:spPr>
      </p:sp>
      <p:sp>
        <p:nvSpPr>
          <p:cNvPr id="69" name="Text 67"/>
          <p:cNvSpPr txBox="1"/>
          <p:nvPr/>
        </p:nvSpPr>
        <p:spPr>
          <a:xfrm>
            <a:off x="8686800" y="1508760"/>
            <a:ext cx="2788920" cy="457200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Three tests for a derived product</a:t>
            </a:r>
            <a:endParaRPr lang="en-US" sz="950" dirty="0"/>
          </a:p>
          <a:p>
            <a:pPr indent="0" marL="0">
              <a:spcAft>
                <a:spcPts val="500"/>
              </a:spcAft>
              <a:buNone/>
            </a:pPr>
            <a:r>
              <a:rPr lang="en-US" sz="900" dirty="0">
                <a:solidFill>
                  <a:srgbClr val="1B2430"/>
                </a:solidFill>
                <a:latin typeface="Calibri" pitchFamily="34" charset="0"/>
                <a:ea typeface="Calibri" pitchFamily="34" charset="-122"/>
                <a:cs typeface="Calibri" pitchFamily="34" charset="-120"/>
              </a:rPr>
              <a:t>Observations (a reflectance, a radar echo, a float's thermometer) are irreducible: always in. A derived product (a gap-filled map, a reanalysis, an ML reconstruction) is admitted only if:</a:t>
            </a:r>
            <a:endParaRPr lang="en-US" sz="950" dirty="0"/>
          </a:p>
          <a:p>
            <a:pPr indent="0" marL="0">
              <a:spcAft>
                <a:spcPts val="400"/>
              </a:spcAft>
              <a:buNone/>
            </a:pPr>
            <a:r>
              <a:rPr lang="en-US" sz="900" dirty="0">
                <a:solidFill>
                  <a:srgbClr val="1B2430"/>
                </a:solidFill>
                <a:latin typeface="Calibri" pitchFamily="34" charset="0"/>
                <a:ea typeface="Calibri" pitchFamily="34" charset="-122"/>
                <a:cs typeface="Calibri" pitchFamily="34" charset="-120"/>
              </a:rPr>
              <a:t>1  it carries information we do not ingest raw — ERA5 holds radiosondes, aircraft, radiances; GLORYS holds a full ocean model around the floats;</a:t>
            </a:r>
            <a:endParaRPr lang="en-US" sz="950" dirty="0"/>
          </a:p>
          <a:p>
            <a:pPr indent="0" marL="0">
              <a:spcAft>
                <a:spcPts val="400"/>
              </a:spcAft>
              <a:buNone/>
            </a:pPr>
            <a:r>
              <a:rPr lang="en-US" sz="900" dirty="0">
                <a:solidFill>
                  <a:srgbClr val="1B2430"/>
                </a:solidFill>
                <a:latin typeface="Calibri" pitchFamily="34" charset="0"/>
                <a:ea typeface="Calibri" pitchFamily="34" charset="-122"/>
                <a:cs typeface="Calibri" pitchFamily="34" charset="-120"/>
              </a:rPr>
              <a:t>2  it is flagged derived and dropped from the input more often, so the model must also work without it;</a:t>
            </a:r>
            <a:endParaRPr lang="en-US" sz="950" dirty="0"/>
          </a:p>
          <a:p>
            <a:pPr indent="0" marL="0">
              <a:spcAft>
                <a:spcPts val="600"/>
              </a:spcAft>
              <a:buNone/>
            </a:pPr>
            <a:r>
              <a:rPr lang="en-US" sz="900" dirty="0">
                <a:solidFill>
                  <a:srgbClr val="1B2430"/>
                </a:solidFill>
                <a:latin typeface="Calibri" pitchFamily="34" charset="0"/>
                <a:ea typeface="Calibri" pitchFamily="34" charset="-122"/>
                <a:cs typeface="Calibri" pitchFamily="34" charset="-120"/>
              </a:rPr>
              <a:t>3  its effective time is shifted by its assimilation window, so it is not a peek into the future (DUACS: ±6 weeks; GLORYS: 7 days; ERA5: 12 h).</a:t>
            </a:r>
            <a:endParaRPr lang="en-US" sz="950" dirty="0"/>
          </a:p>
          <a:p>
            <a:pPr indent="0" marL="0">
              <a:buNone/>
            </a:pPr>
            <a:r>
              <a:rPr lang="en-US" sz="850" i="1" dirty="0">
                <a:solidFill>
                  <a:srgbClr val="6B7A8F"/>
                </a:solidFill>
                <a:latin typeface="Calibri" pitchFamily="34" charset="0"/>
                <a:ea typeface="Calibri" pitchFamily="34" charset="-122"/>
                <a:cs typeface="Calibri" pitchFamily="34" charset="-120"/>
              </a:rPr>
              <a:t>Dropped as derivable (targets only): NDVI and band ratios, solar geometry, slope/aspect, geostrophic currents from sea-level slope, per-scene class maps, Stokes drift.</a:t>
            </a:r>
            <a:endParaRPr lang="en-US" sz="950" dirty="0"/>
          </a:p>
        </p:txBody>
      </p:sp>
      <p:sp>
        <p:nvSpPr>
          <p:cNvPr id="70" name="Text 6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Input ladder I — fine and fast (rungs 0–4)</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Land at 10–30 m, the first ocean-covering rung at 300 m–1 km, and the atmosphere's 10-minute movie</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
                <a:gridCol w="2834640"/>
                <a:gridCol w="4206240"/>
                <a:gridCol w="502920"/>
                <a:gridCol w="30632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Rung</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Input (native resolution · cadence)</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contains, in plain English</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Adds — what nothing below it has</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566928">
                <a:tc>
                  <a:txBody>
                    <a:bodyPr/>
                    <a:lstStyle/>
                    <a:p>
                      <a:pPr algn="ctr" indent="0" marL="0">
                        <a:buNone/>
                      </a:pPr>
                      <a:r>
                        <a:rPr lang="en-US" sz="1100" b="1" dirty="0">
                          <a:solidFill>
                            <a:srgbClr val="7A879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Anchor coordinates — latitude, longitude, time of year, time of day, depth</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Where and when we are looking. Not data, but the model needs it: 15 °C means something different in January at 60° N than in July at the equator.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A23B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frame of reference; every other input is relative to it.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188720">
                <a:tc>
                  <a:txBody>
                    <a:bodyPr/>
                    <a:lstStyle/>
                    <a:p>
                      <a:pPr algn="ctr" indent="0" marL="0">
                        <a:buNone/>
                      </a:pPr>
                      <a:r>
                        <a:rPr lang="en-US" sz="1100" b="1" dirty="0">
                          <a:solidFill>
                            <a:srgbClr val="4E8A3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Sentinel-2 L2A (13 bands, 10/20/60 m, 5-day revisit with two satellites; three in orbit to end-2026) · Sentinel-1 GRD (VV/VH radar, 10 m pixels, 6-day repeat; S1C + S1D)</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Sentinel-2: a colour-plus-infrared photograph of the sunlit surface, corrected for the atmosphere — crops, forests, soil, water, snow, buildings. Sentinel-1: a radar image, day or night, through cloud, of how rough and how wet the surface is — floods, sea-ice edges, ships, soil moisture.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Field-scale texture and the fine state of the land biosphere; radar sees through cloud and at night. Land and coast only.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58368">
                <a:tc>
                  <a:txBody>
                    <a:bodyPr/>
                    <a:lstStyle/>
                    <a:p>
                      <a:pPr algn="ctr" indent="0" marL="0">
                        <a:buNone/>
                      </a:pPr>
                      <a:r>
                        <a:rPr lang="en-US" sz="1100" b="1" dirty="0">
                          <a:solidFill>
                            <a:srgbClr val="4E8A3E"/>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Landsat 8/9 Collection 2 (surface reflectance + surface temperature, 30 m, 8-day combined; archive to 1982)</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same kind of photograph plus a thermal image — how warm the ground is — at field scale, with a forty-year archive.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Thermal at field scale; the long record for phenology and change.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143000">
                <a:tc>
                  <a:txBody>
                    <a:bodyPr/>
                    <a:lstStyle/>
                    <a:p>
                      <a:pPr algn="ctr" indent="0" marL="0">
                        <a:buNone/>
                      </a:pPr>
                      <a:r>
                        <a:rPr lang="en-US" sz="1100" b="1" dirty="0">
                          <a:solidFill>
                            <a:srgbClr val="2E86A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Sentinel-3 OLCI (21 bands, 300 m, &lt; 2 days) + SLSTR (500 m / 1 km, sea- and land-surface temperature, daily) · VIIRS NOAA-20/21 (375/750 m daily; MODIS retiring late 2026/27)</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Daily whole-planet pictures in visible, infrared and thermal. Over the ocean the colour of the water says how much phytoplankton is in it; the thermal channels give the skin temperature of sea and land; hot spots are fires.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First rung that covers the ocean surface, and the first daily one: ocean colour (the biosphere), fires, snow, daily land temperature.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914400">
                <a:tc>
                  <a:txBody>
                    <a:bodyPr/>
                    <a:lstStyle/>
                    <a:p>
                      <a:pPr algn="ctr" indent="0" marL="0">
                        <a:buNone/>
                      </a:pPr>
                      <a:r>
                        <a:rPr lang="en-US" sz="1100" b="1" dirty="0">
                          <a:solidFill>
                            <a:srgbClr val="E07A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GOES-19/18 ABI · Meteosat-12 FCI · Himawari-9 AHI (16 channels, 0.5–2 km, every 10 minutes; full disks to about ± 60–70° latitude)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 continuous movie of clouds, water vapour and surface radiance from fixed points in the sky; clouds visibly form, move and dissolve between frames.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Atmospheric motion at minute scale — the only direct view of the wind field acting on clouds, and of the daily cycle. The fast end of the cone.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Input ladder II — fields and ocean memory (rungs 5–8)</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Sparse kilometre-scale sensors, the gap-filled daily maps, the reanalysis atmosphere, and the first rung below the surface</a:t>
            </a:r>
            <a:endParaRPr lang="en-US" sz="12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
                <a:gridCol w="2834640"/>
                <a:gridCol w="4206240"/>
                <a:gridCol w="502920"/>
                <a:gridCol w="30632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Rung</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Input (native resolution · cadence)</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contains, in plain English</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Adds — what nothing below it has</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1298448">
                <a:tc>
                  <a:txBody>
                    <a:bodyPr/>
                    <a:lstStyle/>
                    <a:p>
                      <a:pPr algn="ctr" indent="0" marL="0">
                        <a:buNone/>
                      </a:pPr>
                      <a:r>
                        <a:rPr lang="en-US" sz="1100" b="1" dirty="0">
                          <a:solidFill>
                            <a:srgbClr val="2E86A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SWOT (2 km swath sea level, 21-day) · nadir altimetry Sentinel-6/Jason-3/Sentinel-3 (~7 km along-track, ~10-day) · Sentinel-1 ocean winds (1 km on swaths) · ground weather radar (MRMS 1 km/2 min; OPERA 1 km/5 min) · GLM lightning (8 km) · GEDI &amp; ICESat-2 lidar (25 m / 11 m footprints) · TROPOMI, OCO-2/3 (trace-gas columns)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Sea-surface height to a few centimetres along the satellite's track — the ocean's pressure map, whose slopes drive currents; rain seen from the ground every few minutes; where lightning strikes; the height of trees and of sea ice; the gases in the air column.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Sea level (hence currents), storm-scale rain, 3-D structure of vegetation and ice, greenhouse-gas columns. All sparse in space or time — the case where a set of dots beats a grid.</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298448">
                <a:tc>
                  <a:txBody>
                    <a:bodyPr/>
                    <a:lstStyle/>
                    <a:p>
                      <a:pPr algn="ctr" indent="0" marL="0">
                        <a:buNone/>
                      </a:pPr>
                      <a:r>
                        <a:rPr lang="en-US" sz="1100" b="1" dirty="0">
                          <a:solidFill>
                            <a:srgbClr val="2E86A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OSTIA SST (5 km daily; MUR 1 km) · DUACS sea level L4 (0.125° daily, with geostrophic u, v) · IMERG rain (0.1°, 30 min) · ASCAT winds (12.5/25 km, ≈ twice daily) · AMSR2 sea-ice concentration (10 / 6.25 km daily) · ice drift (62.5 km, 2-day) · SMAP soil moisture (36 km daily; 9 km 3-hourly model) · SSS L4 (weekly) · Copernicus waves (1/12°, 3-hourly, model)</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cleaned-up daily maps: sea temperature with the clouds filled in, sea level everywhere and not only under the track, rain everywhere, wind over the whole ocean, how much of the sea is ice and how fast it drifts, how wet the top centimetres of soil are.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A23B3B"/>
                          </a:solidFill>
                          <a:latin typeface="Calibri" pitchFamily="34" charset="0"/>
                          <a:ea typeface="Calibri" pitchFamily="34" charset="-122"/>
                          <a:cs typeface="Calibri" pitchFamily="34" charset="-120"/>
                        </a:rPr>
                        <a:t>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Completeness and a usable initial state for the slow media; they merge sources we do not ingest raw (AVHRR, microwave SST, every altimeter). Flag, mask heavily, time-shift by their windows. (*ASCAT, SMAP L3 and AMSR2 are swath observations on a grid: O.)</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005840">
                <a:tc>
                  <a:txBody>
                    <a:bodyPr/>
                    <a:lstStyle/>
                    <a:p>
                      <a:pPr algn="ctr" indent="0" marL="0">
                        <a:buNone/>
                      </a:pPr>
                      <a:r>
                        <a:rPr lang="en-US" sz="1100" b="1" dirty="0">
                          <a:solidFill>
                            <a:srgbClr val="E07A2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ERA5 (31 km native, 0.25° grid, hourly, 1940–, ~5-day latency): 2 m temperature, 10 m wind, sea-level pressure, precipitation, surface radiation, cloud cover, boundary-layer height, dewpoint, 37 pressure levels · real time: ECMWF IFS/AIFS open data or GFS (0.25°, 6-hourly)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best physically consistent estimate of the whole atmosphere at every hour — temperature, wind, pressure, humidity, radiation, clouds, at the surface and aloft — made by running a weather model and continuously nudging it towards millions of observations.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A23B3B"/>
                          </a:solidFill>
                          <a:latin typeface="Calibri" pitchFamily="34" charset="0"/>
                          <a:ea typeface="Calibri" pitchFamily="34" charset="-122"/>
                          <a:cs typeface="Calibri" pitchFamily="34" charset="-120"/>
                        </a:rPr>
                        <a:t>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forcing of everything else: heat and momentum into ocean and land; the vertical structure of the air. ERA5's SST and sea ice are its inputs, not outputs — never use them as ocean observations.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234440">
                <a:tc>
                  <a:txBody>
                    <a:bodyPr/>
                    <a:lstStyle/>
                    <a:p>
                      <a:pPr algn="ctr" indent="0" marL="0">
                        <a:buNone/>
                      </a:pPr>
                      <a:r>
                        <a:rPr lang="en-US" sz="1100" b="1" dirty="0">
                          <a:solidFill>
                            <a:srgbClr val="2E86A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Argo core (T, S profiles 0–2000 m every 10 days; 4,372 floats, ~150 k profiles/yr) · Deep Argo (to 4–6 km; 219) · BGC-Argo (O₂, NO₃, pH, chlorophyll, backscatter, light; 989) · moorings (TAO, OceanSITES) · drifters (1,317; velocity at 15 m + SST) · GLORYS12 reanalysis (1/12°, 50 levels, daily, 1993–) · Copernicus 1/12° analysis/forecast (real time)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What the ocean does below the surface: how warm and salty it is at each depth (heat content, density, the mixed layer), how fast and where it flows, where heat and fresh water are stored. Floats are sparse points; the reanalysis is a model's gridded estimate around them.</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First rung below the surface: heat capacity, density gradients (thermal wind), the AMOC — the slow memory of the system. Only dots do this justice; gridding Argo throws away its depth resolution.</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Input ladder III — biospheres, truth, stage (rungs 9–13)</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Ocean carbon, land carbon and water, the point observations the reanalyses are fitted to, and the static boundary conditions</a:t>
            </a:r>
            <a:endParaRPr lang="en-US" sz="12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
                <a:gridCol w="2834640"/>
                <a:gridCol w="4206240"/>
                <a:gridCol w="502920"/>
                <a:gridCol w="30632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Rung</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Input (native resolution · cadence)</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contains, in plain English</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Adds — what nothing below it has</a:t>
                      </a:r>
                      <a:endParaRPr lang="en-US" sz="900" dirty="0">
                        <a:latin typeface="Calibri" charset="0"/>
                        <a:ea typeface="Calibri" charset="0"/>
                        <a:cs typeface="Calibri" charset="0"/>
                      </a:endParaRPr>
                    </a:p>
                  </a:txBody>
                  <a:tcPr marL="45720" marR="45720" marT="45720" marB="45720"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960120">
                <a:tc>
                  <a:txBody>
                    <a:bodyPr/>
                    <a:lstStyle/>
                    <a:p>
                      <a:pPr algn="ctr" indent="0" marL="0">
                        <a:buNone/>
                      </a:pPr>
                      <a:r>
                        <a:rPr lang="en-US" sz="1100" b="1" dirty="0">
                          <a:solidFill>
                            <a:srgbClr val="1F9E89"/>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Ocean colour L3 (OC-CCI / GlobColour, 4 km daily, cloud gaps kept) · PACE OCI (hyperspectral 1.2 km, 2-day, 2024–) · SOCAT surface CO₂ (44 M point obs) · BGC-Argo (rung 8) · Copernicus surface carbon (0.25° monthly, ML) · SeaFlux (1° monthly)</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How much plant life is in the surface ocean and of what kind; how much CO₂ the water holds relative to the air — whether the ocean is absorbing or releasing carbon; oxygen and nutrients at depth.</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ocean carbon sink and its drivers.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371600">
                <a:tc>
                  <a:txBody>
                    <a:bodyPr/>
                    <a:lstStyle/>
                    <a:p>
                      <a:pPr algn="ctr" indent="0" marL="0">
                        <a:buNone/>
                      </a:pPr>
                      <a:r>
                        <a:rPr lang="en-US" sz="1100" b="1" dirty="0">
                          <a:solidFill>
                            <a:srgbClr val="1F9E89"/>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LAI / FAPAR (300 m 10-day) · SIF fluorescence (TROPOMI ~7 km daily) · LST (1 km daily) · evapotranspiration (500 m 8-day; GLEAM 0.1° daily — models) · soil moisture (ASCAT 12.5 km, ~2 h) · snow (500 m daily) · fire (VIIRS 375 m, &lt; 3 h) · water storage (GRACE-FO, ~300 km monthly) · rivers (GRDC gauges; GloFAS 0.05° daily model; Hydroweb heights) · flux towers (half-hourly CO₂, water, heat)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How much leaf area there is and how actively it photosynthesises (fluorescence is the plants' own faint glow), how much water evaporates, how much snow and soil water is stored, where it burns, how much water sits in rivers, lakes and aquifers.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land carbon and water cycles — the fourth sphere. Almost all of it is column-only: it does not move sideways.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868680">
                <a:tc>
                  <a:txBody>
                    <a:bodyPr/>
                    <a:lstStyle/>
                    <a:p>
                      <a:pPr algn="ctr" indent="0" marL="0">
                        <a:buNone/>
                      </a:pPr>
                      <a:r>
                        <a:rPr lang="en-US" sz="1100" b="1" dirty="0">
                          <a:solidFill>
                            <a:srgbClr val="E07A2F"/>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Surface stations (ISD &gt; 14,000 active, hourly; GHCN-Daily &gt; 100,000) · radiosondes (~800 in real time, 00/12 UTC) · aircraft (AMDAR) · ships &amp; buoys (ICOADS, NDBC) · tide gauges (GLOSS)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Thermometers, barometers and anemometers on the ground, balloons through the atmosphere, instruments on ships and buoys, sea-level gauges on coasts — the measurements rung 7 is fitted to.</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Irreducible ground truth. Redundant while rung 7 is present; essential when it is masked — the model must rebuild the atmosphere from points.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868680">
                <a:tc>
                  <a:txBody>
                    <a:bodyPr/>
                    <a:lstStyle/>
                    <a:p>
                      <a:pPr algn="ctr" indent="0" marL="0">
                        <a:buNone/>
                      </a:pPr>
                      <a:r>
                        <a:rPr lang="en-US" sz="1100" b="1" dirty="0">
                          <a:solidFill>
                            <a:srgbClr val="7A879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Copernicus DEM (30 m) · GEBCO bathymetry (~450 m) · land cover (WorldCover 10 m; CCI 300 m annual) · SoilGrids (250 m) · canopy height (10 m / 1 m) · glacier outlines · population (100 m) · night lights (500 m) · roads</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The stage: how high, how deep, what kind of surface and soil, how tall the trees, where the people are.</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Boundary conditions: depth sets what currents can do, terrain sets rain and rivers, soil sets what water does. One dot each — v = 0, τ = ∞.</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66928">
                <a:tc>
                  <a:txBody>
                    <a:bodyPr/>
                    <a:lstStyle/>
                    <a:p>
                      <a:pPr algn="ctr" indent="0" marL="0">
                        <a:buNone/>
                      </a:pPr>
                      <a:r>
                        <a:rPr lang="en-US" sz="1100" b="1" dirty="0">
                          <a:solidFill>
                            <a:srgbClr val="E07A2F"/>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b="1" dirty="0">
                          <a:solidFill>
                            <a:srgbClr val="0B1F3A"/>
                          </a:solidFill>
                          <a:latin typeface="Calibri" pitchFamily="34" charset="0"/>
                          <a:ea typeface="Calibri" pitchFamily="34" charset="-122"/>
                          <a:cs typeface="Calibri" pitchFamily="34" charset="-120"/>
                        </a:rPr>
                        <a:t>Optional: aerosol optical depth (MAIAC 1 km daily) · MERRA-2 aerosols (0.5°, hourly, 3-week latency) · trace-gas columns (rung 5)</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Dust, smoke and pollution in the air, and the greenhouse-gas columns above each point.</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900" b="1" dirty="0">
                          <a:solidFill>
                            <a:srgbClr val="1F7A4D"/>
                          </a:solidFill>
                          <a:latin typeface="Calibri" pitchFamily="34" charset="0"/>
                          <a:ea typeface="Calibri" pitchFamily="34" charset="-122"/>
                          <a:cs typeface="Calibri" pitchFamily="34" charset="-120"/>
                        </a:rPr>
                        <a:t>O + D</a:t>
                      </a:r>
                      <a:endParaRPr lang="en-US" sz="90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Radiative-forcing detail and the carbon-cycle link between land, ocean and air.</a:t>
                      </a:r>
                      <a:endParaRPr lang="en-US" sz="850" dirty="0">
                        <a:latin typeface="Calibri" charset="0"/>
                        <a:ea typeface="Calibri" charset="0"/>
                        <a:cs typeface="Calibri" charset="0"/>
                      </a:endParaRPr>
                    </a:p>
                  </a:txBody>
                  <a:tcPr marL="45720" marR="45720" marT="45720" marB="45720"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Observed, derived, or derivable — and the leakage trap</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Why the source of each dot is a token the model sees, and why delayed-time products must be time-shifted</a:t>
            </a:r>
            <a:endParaRPr lang="en-US" sz="1400" dirty="0"/>
          </a:p>
        </p:txBody>
      </p:sp>
      <p:sp>
        <p:nvSpPr>
          <p:cNvPr id="4" name="Shape 2"/>
          <p:cNvSpPr/>
          <p:nvPr/>
        </p:nvSpPr>
        <p:spPr>
          <a:xfrm>
            <a:off x="548640" y="1417320"/>
            <a:ext cx="3566160" cy="3154680"/>
          </a:xfrm>
          <a:prstGeom prst="roundRect">
            <a:avLst>
              <a:gd name="adj" fmla="val 2319"/>
            </a:avLst>
          </a:prstGeom>
          <a:solidFill>
            <a:srgbClr val="EEF3F8"/>
          </a:solidFill>
          <a:ln w="15875">
            <a:solidFill>
              <a:srgbClr val="1F7A4D"/>
            </a:solidFill>
            <a:prstDash val="solid"/>
          </a:ln>
        </p:spPr>
      </p:sp>
      <p:sp>
        <p:nvSpPr>
          <p:cNvPr id="5" name="Text 3"/>
          <p:cNvSpPr txBox="1"/>
          <p:nvPr/>
        </p:nvSpPr>
        <p:spPr>
          <a:xfrm>
            <a:off x="685800" y="1508760"/>
            <a:ext cx="3291840" cy="3017520"/>
          </a:xfrm>
          <a:prstGeom prst="rect">
            <a:avLst/>
          </a:prstGeom>
          <a:noFill/>
          <a:ln/>
        </p:spPr>
        <p:txBody>
          <a:bodyPr wrap="square" lIns="0" tIns="0" rIns="0" bIns="0" rtlCol="0" anchor="t"/>
          <a:lstStyle/>
          <a:p>
            <a:pPr indent="0" marL="0">
              <a:spcAft>
                <a:spcPts val="500"/>
              </a:spcAft>
              <a:buNone/>
            </a:pPr>
            <a:r>
              <a:rPr lang="en-US" sz="1250" b="1" dirty="0">
                <a:solidFill>
                  <a:srgbClr val="1F7A4D"/>
                </a:solidFill>
                <a:latin typeface="Calibri" pitchFamily="34" charset="0"/>
                <a:ea typeface="Calibri" pitchFamily="34" charset="-122"/>
                <a:cs typeface="Calibri" pitchFamily="34" charset="-120"/>
              </a:rPr>
              <a:t>Always in — observations</a:t>
            </a:r>
            <a:endParaRPr lang="en-US" sz="950" dirty="0"/>
          </a:p>
          <a:p>
            <a:pPr indent="0" marL="0">
              <a:spcAft>
                <a:spcPts val="700"/>
              </a:spcAft>
              <a:buNone/>
            </a:pPr>
            <a:r>
              <a:rPr lang="en-US" sz="1000" dirty="0">
                <a:solidFill>
                  <a:srgbClr val="1B2430"/>
                </a:solidFill>
                <a:latin typeface="Calibri" pitchFamily="34" charset="0"/>
                <a:ea typeface="Calibri" pitchFamily="34" charset="-122"/>
                <a:cs typeface="Calibri" pitchFamily="34" charset="-120"/>
              </a:rPr>
              <a:t>A number a sensor produced. Reflectances, radar echoes, radar ranges to the sea surface, float thermometers, gauges, towers, balloons. Irreducible: nothing else contains them.</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Sentinel-1/2/3, Landsat, VIIRS, geostationary imagers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altimeter tracks, SWOT swaths, lidar footprints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Argo / BGC-Argo profiles, drifters, moorings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ocean-colour L3 (gaps stay gaps), SOCAT</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stations, radiosondes, ships, buoys, tide gauges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swath products on a grid (ASCAT, SMAP L3, AMSR2)</a:t>
            </a:r>
            <a:endParaRPr lang="en-US" sz="950" dirty="0"/>
          </a:p>
        </p:txBody>
      </p:sp>
      <p:sp>
        <p:nvSpPr>
          <p:cNvPr id="6" name="Shape 4"/>
          <p:cNvSpPr/>
          <p:nvPr/>
        </p:nvSpPr>
        <p:spPr>
          <a:xfrm>
            <a:off x="4297680" y="1417320"/>
            <a:ext cx="3566160" cy="3154680"/>
          </a:xfrm>
          <a:prstGeom prst="roundRect">
            <a:avLst>
              <a:gd name="adj" fmla="val 2319"/>
            </a:avLst>
          </a:prstGeom>
          <a:solidFill>
            <a:srgbClr val="EEF3F8"/>
          </a:solidFill>
          <a:ln w="15875">
            <a:solidFill>
              <a:srgbClr val="A23B3B"/>
            </a:solidFill>
            <a:prstDash val="solid"/>
          </a:ln>
        </p:spPr>
      </p:sp>
      <p:sp>
        <p:nvSpPr>
          <p:cNvPr id="7" name="Text 5"/>
          <p:cNvSpPr txBox="1"/>
          <p:nvPr/>
        </p:nvSpPr>
        <p:spPr>
          <a:xfrm>
            <a:off x="4434840" y="1508760"/>
            <a:ext cx="3291840" cy="3017520"/>
          </a:xfrm>
          <a:prstGeom prst="rect">
            <a:avLst/>
          </a:prstGeom>
          <a:noFill/>
          <a:ln/>
        </p:spPr>
        <p:txBody>
          <a:bodyPr wrap="square" lIns="0" tIns="0" rIns="0" bIns="0" rtlCol="0" anchor="t"/>
          <a:lstStyle/>
          <a:p>
            <a:pPr indent="0" marL="0">
              <a:spcAft>
                <a:spcPts val="500"/>
              </a:spcAft>
              <a:buNone/>
            </a:pPr>
            <a:r>
              <a:rPr lang="en-US" sz="1250" b="1" dirty="0">
                <a:solidFill>
                  <a:srgbClr val="A23B3B"/>
                </a:solidFill>
                <a:latin typeface="Calibri" pitchFamily="34" charset="0"/>
                <a:ea typeface="Calibri" pitchFamily="34" charset="-122"/>
                <a:cs typeface="Calibri" pitchFamily="34" charset="-120"/>
              </a:rPr>
              <a:t>Admitted derived — flagged</a:t>
            </a:r>
            <a:endParaRPr lang="en-US" sz="950" dirty="0"/>
          </a:p>
          <a:p>
            <a:pPr indent="0" marL="0">
              <a:spcAft>
                <a:spcPts val="700"/>
              </a:spcAft>
              <a:buNone/>
            </a:pPr>
            <a:r>
              <a:rPr lang="en-US" sz="1000" dirty="0">
                <a:solidFill>
                  <a:srgbClr val="1B2430"/>
                </a:solidFill>
                <a:latin typeface="Calibri" pitchFamily="34" charset="0"/>
                <a:ea typeface="Calibri" pitchFamily="34" charset="-122"/>
                <a:cs typeface="Calibri" pitchFamily="34" charset="-120"/>
              </a:rPr>
              <a:t>A number a program produced from observations plus a model or a statistical prior. Admitted when it carries information we do not ingest raw. Every dot carries a source token; derived sources are dropped from the input at ≥ 50 % of anchors, so the model must also work from observations alone.</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ERA5 / IFS / GFS (radiosondes, aircraft, radiances inside)</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GLORYS12, Copernicus 1/12° analysis (full ocean model around the floats)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OSTIA, MUR, DUACS L4, IMERG, SSS L4 (multi-sensor merges)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SMAP L4, GloFAS, GLEAM, MOD16 (land models)</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Copernicus carbon, SeaFlux (ML reconstructions)</a:t>
            </a:r>
            <a:endParaRPr lang="en-US" sz="950" dirty="0"/>
          </a:p>
        </p:txBody>
      </p:sp>
      <p:sp>
        <p:nvSpPr>
          <p:cNvPr id="8" name="Shape 6"/>
          <p:cNvSpPr/>
          <p:nvPr/>
        </p:nvSpPr>
        <p:spPr>
          <a:xfrm>
            <a:off x="8046720" y="1417320"/>
            <a:ext cx="3566160" cy="3154680"/>
          </a:xfrm>
          <a:prstGeom prst="roundRect">
            <a:avLst>
              <a:gd name="adj" fmla="val 2319"/>
            </a:avLst>
          </a:prstGeom>
          <a:solidFill>
            <a:srgbClr val="F4F6F9"/>
          </a:solidFill>
          <a:ln w="15875">
            <a:solidFill>
              <a:srgbClr val="6B7A8F"/>
            </a:solidFill>
            <a:prstDash val="solid"/>
          </a:ln>
        </p:spPr>
      </p:sp>
      <p:sp>
        <p:nvSpPr>
          <p:cNvPr id="9" name="Text 7"/>
          <p:cNvSpPr txBox="1"/>
          <p:nvPr/>
        </p:nvSpPr>
        <p:spPr>
          <a:xfrm>
            <a:off x="8183880" y="1508760"/>
            <a:ext cx="3291840" cy="3017520"/>
          </a:xfrm>
          <a:prstGeom prst="rect">
            <a:avLst/>
          </a:prstGeom>
          <a:noFill/>
          <a:ln/>
        </p:spPr>
        <p:txBody>
          <a:bodyPr wrap="square" lIns="0" tIns="0" rIns="0" bIns="0" rtlCol="0" anchor="t"/>
          <a:lstStyle/>
          <a:p>
            <a:pPr indent="0" marL="0">
              <a:spcAft>
                <a:spcPts val="500"/>
              </a:spcAft>
              <a:buNone/>
            </a:pPr>
            <a:r>
              <a:rPr lang="en-US" sz="1250" b="1" dirty="0">
                <a:solidFill>
                  <a:srgbClr val="6B7A8F"/>
                </a:solidFill>
                <a:latin typeface="Calibri" pitchFamily="34" charset="0"/>
                <a:ea typeface="Calibri" pitchFamily="34" charset="-122"/>
                <a:cs typeface="Calibri" pitchFamily="34" charset="-120"/>
              </a:rPr>
              <a:t>Dropped — derivable from the ladder</a:t>
            </a:r>
            <a:endParaRPr lang="en-US" sz="950" dirty="0"/>
          </a:p>
          <a:p>
            <a:pPr indent="0" marL="0">
              <a:spcAft>
                <a:spcPts val="700"/>
              </a:spcAft>
              <a:buNone/>
            </a:pPr>
            <a:r>
              <a:rPr lang="en-US" sz="1000" dirty="0">
                <a:solidFill>
                  <a:srgbClr val="1B2430"/>
                </a:solidFill>
                <a:latin typeface="Calibri" pitchFamily="34" charset="0"/>
                <a:ea typeface="Calibri" pitchFamily="34" charset="-122"/>
                <a:cs typeface="Calibri" pitchFamily="34" charset="-120"/>
              </a:rPr>
              <a:t>A function of inputs already present. Not an input; an optional target (a masked-channel loss on it costs nothing and gives free supervision).</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NDVI / EVI and other band ratios (rungs 1–3)</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solar zenith, day length, Coriolis f (position + time)</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slope, aspect, distance to coast (rung 12)</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geostrophic u, v and OSCAR (SSH, wind, SST)</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Dynamic World and per-scene classifiers (Sentinel-2)</a:t>
            </a:r>
            <a:endParaRPr lang="en-US" sz="950" dirty="0"/>
          </a:p>
          <a:p>
            <a:pPr marL="342900" indent="-342900">
              <a:spcAft>
                <a:spcPts val="300"/>
              </a:spcAft>
              <a:buSzPct val="100000"/>
              <a:buChar char="•"/>
            </a:pPr>
            <a:r>
              <a:rPr lang="en-US" sz="950" dirty="0">
                <a:solidFill>
                  <a:srgbClr val="1B2430"/>
                </a:solidFill>
                <a:latin typeface="Calibri" pitchFamily="34" charset="0"/>
                <a:ea typeface="Calibri" pitchFamily="34" charset="-122"/>
                <a:cs typeface="Calibri" pitchFamily="34" charset="-120"/>
              </a:rPr>
              <a:t>Stokes drift (wave spectrum)</a:t>
            </a:r>
            <a:endParaRPr lang="en-US" sz="950" dirty="0"/>
          </a:p>
        </p:txBody>
      </p:sp>
      <p:sp>
        <p:nvSpPr>
          <p:cNvPr id="10" name="Shape 8"/>
          <p:cNvSpPr/>
          <p:nvPr/>
        </p:nvSpPr>
        <p:spPr>
          <a:xfrm>
            <a:off x="548640" y="4709160"/>
            <a:ext cx="11064240" cy="1600200"/>
          </a:xfrm>
          <a:prstGeom prst="roundRect">
            <a:avLst>
              <a:gd name="adj" fmla="val 4571"/>
            </a:avLst>
          </a:prstGeom>
          <a:solidFill>
            <a:srgbClr val="FFF6EE"/>
          </a:solidFill>
          <a:ln w="15875">
            <a:solidFill>
              <a:srgbClr val="E07A2F"/>
            </a:solidFill>
            <a:prstDash val="solid"/>
          </a:ln>
        </p:spPr>
      </p:sp>
      <p:sp>
        <p:nvSpPr>
          <p:cNvPr id="11" name="Text 9"/>
          <p:cNvSpPr txBox="1"/>
          <p:nvPr/>
        </p:nvSpPr>
        <p:spPr>
          <a:xfrm>
            <a:off x="685800" y="4773168"/>
            <a:ext cx="10789920" cy="1508760"/>
          </a:xfrm>
          <a:prstGeom prst="rect">
            <a:avLst/>
          </a:prstGeom>
          <a:noFill/>
          <a:ln/>
        </p:spPr>
        <p:txBody>
          <a:bodyPr wrap="square" lIns="0" tIns="0" rIns="0" bIns="0" rtlCol="0" anchor="t"/>
          <a:lstStyle/>
          <a:p>
            <a:pPr indent="0" marL="0">
              <a:buNone/>
            </a:pPr>
            <a:r>
              <a:rPr lang="en-US" sz="1200" b="1" dirty="0">
                <a:solidFill>
                  <a:srgbClr val="E07A2F"/>
                </a:solidFill>
                <a:latin typeface="Calibri" pitchFamily="34" charset="0"/>
                <a:ea typeface="Calibri" pitchFamily="34" charset="-122"/>
                <a:cs typeface="Calibri" pitchFamily="34" charset="-120"/>
              </a:rPr>
              <a:t>The leakage trap: delayed-time products look backwards and forwards.  </a:t>
            </a:r>
            <a:pPr indent="0" marL="0">
              <a:spcAft>
                <a:spcPts val="500"/>
              </a:spcAft>
              <a:buNone/>
            </a:pPr>
            <a:r>
              <a:rPr lang="en-US" sz="1050" dirty="0">
                <a:solidFill>
                  <a:srgbClr val="1B2430"/>
                </a:solidFill>
                <a:latin typeface="Calibri" pitchFamily="34" charset="0"/>
                <a:ea typeface="Calibri" pitchFamily="34" charset="-122"/>
                <a:cs typeface="Calibri" pitchFamily="34" charset="-120"/>
              </a:rPr>
              <a:t>A gap-filled map or a reanalysis for day t is built from observations on both sides of t. If the codec is trained to predict the present or the future from the past, a derived dot at lag ℓ secretly contains information from lag ℓ − (half its window) — sometimes from after the anchor. Windows to respect:</a:t>
            </a:r>
            <a:endParaRPr lang="en-US" sz="950" dirty="0"/>
          </a:p>
          <a:p>
            <a:pPr indent="0" marL="0">
              <a:spcAft>
                <a:spcPts val="500"/>
              </a:spcAft>
              <a:buNone/>
            </a:pPr>
            <a:r>
              <a:rPr lang="en-US" sz="1000" dirty="0">
                <a:solidFill>
                  <a:srgbClr val="1B2430"/>
                </a:solidFill>
                <a:latin typeface="Calibri" pitchFamily="34" charset="0"/>
                <a:ea typeface="Calibri" pitchFamily="34" charset="-122"/>
                <a:cs typeface="Calibri" pitchFamily="34" charset="-120"/>
              </a:rPr>
              <a:t>DUACS sea level L4 — delayed-time grids use a centred ±6-week window of tracks (the NRT stream only the past 7 weeks)  ·  GLORYS12 — 7-day assimilation cycle  ·  ERA5 — 12-hour assimilation window  ·  OSTIA / MUR — a window of recent days  ·  ocean-colour L4 — space–time interpolation across cloud gaps (use L3)</a:t>
            </a:r>
            <a:endParaRPr lang="en-US" sz="950" dirty="0"/>
          </a:p>
          <a:p>
            <a:pPr indent="0" marL="0">
              <a:buNone/>
            </a:pPr>
            <a:r>
              <a:rPr lang="en-US" sz="1000" i="1" dirty="0">
                <a:solidFill>
                  <a:srgbClr val="1B2430"/>
                </a:solidFill>
                <a:latin typeface="Calibri" pitchFamily="34" charset="0"/>
                <a:ea typeface="Calibri" pitchFamily="34" charset="-122"/>
                <a:cs typeface="Calibri" pitchFamily="34" charset="-120"/>
              </a:rPr>
              <a:t>Rule: shift each derived source's effective time by its window, never use a delayed-time product at lag 0, and train the forecasting part of the objective on the near-real-time streams, which only see the past (ERA5T, OSTIA NRT, DUACS NRT, the Copernicus analysis). Like ERA5T vs ERA5, this yields two embeddings per anchor: an NRT one (honest for forecasting) and a final one.</a:t>
            </a:r>
            <a:endParaRPr lang="en-US" sz="950" dirty="0"/>
          </a:p>
        </p:txBody>
      </p:sp>
      <p:sp>
        <p:nvSpPr>
          <p:cNvPr id="12" name="Text 1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Five cone families — one shape per rung</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Apply Δx ≤ v·(Δt+ℓ), Δt+ℓ ≤ τ to every input: the shape of the context each channel needs differs by orders of magnitude</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418320" cy="914400"/>
        </p:xfrm>
        <a:graphic>
          <a:graphicData uri="http://schemas.openxmlformats.org/drawingml/2006/table">
            <a:tbl>
              <a:tblPr/>
              <a:tblGrid>
                <a:gridCol w="365760"/>
                <a:gridCol w="1143000"/>
                <a:gridCol w="1965960"/>
                <a:gridCol w="1600200"/>
                <a:gridCol w="1783080"/>
                <a:gridCol w="1234440"/>
                <a:gridCol w="1325880"/>
              </a:tblGrid>
              <a:tr h="274320">
                <a:tc>
                  <a:txBody>
                    <a:bodyPr/>
                    <a:lstStyle/>
                    <a:p>
                      <a:pPr indent="0" marL="0">
                        <a:buNone/>
                      </a:pP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Family</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Carrier — what moves the information</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 (order of magnitude)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τ — memory at a fixed point</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Reach after 1 day · 1 week · 1 month</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Ladder rungs</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731520">
                <a:tc>
                  <a:txBody>
                    <a:bodyPr/>
                    <a:lstStyle/>
                    <a:p>
                      <a:pPr algn="ctr" indent="0" marL="0">
                        <a:buNone/>
                      </a:pPr>
                      <a:r>
                        <a:rPr lang="en-US" sz="1400" b="1" dirty="0">
                          <a:solidFill>
                            <a:srgbClr val="E07A2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E07A2F"/>
                          </a:solidFill>
                          <a:latin typeface="Calibri" pitchFamily="34" charset="0"/>
                          <a:ea typeface="Calibri" pitchFamily="34" charset="-122"/>
                          <a:cs typeface="Calibri" pitchFamily="34" charset="-120"/>
                        </a:rPr>
                        <a:t>Fast, wide, short</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wind, synoptic weather</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10 m/s ≈ 860 km/day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3–10 days (rain: hours to 1 day)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860 km · 6,000 km · capped at 10,000 km</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4 · 5 (radar, lightning) · 6 (IMERG, ASCAT) · 7 (wind, pressure, cloud)</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914400">
                <a:tc>
                  <a:txBody>
                    <a:bodyPr/>
                    <a:lstStyle/>
                    <a:p>
                      <a:pPr algn="ctr" indent="0" marL="0">
                        <a:buNone/>
                      </a:pPr>
                      <a:r>
                        <a:rPr lang="en-US" sz="1400" b="1" dirty="0">
                          <a:solidFill>
                            <a:srgbClr val="2E86AB"/>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2E86AB"/>
                          </a:solidFill>
                          <a:latin typeface="Calibri" pitchFamily="34" charset="0"/>
                          <a:ea typeface="Calibri" pitchFamily="34" charset="-122"/>
                          <a:cs typeface="Calibri" pitchFamily="34" charset="-120"/>
                        </a:rPr>
                        <a:t>Slow, narrow, long</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ocean currents and eddies; Rossby waves for sea level; Kelvin / coastal waves along boundaries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currents 0.1–0.2 m/s ≈ 13 km/day · Rossby 0.03 m/s ≈ 2.6 km/day westward · coastal 2.5 m/s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eddies, sea level 2–6 months · interior T, S 1–10 yr (thermocline), decades (deep)</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13 · 90 · 400 km (currents) · 3 · 18 · 80 km (Rossby)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5 (altimetry, SWOT) · 6 (DUACS, SSS) · 8 (Argo, GLORYS, drifters)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868680">
                <a:tc>
                  <a:txBody>
                    <a:bodyPr/>
                    <a:lstStyle/>
                    <a:p>
                      <a:pPr algn="ctr" indent="0" marL="0">
                        <a:buNone/>
                      </a:pPr>
                      <a:r>
                        <a:rPr lang="en-US" sz="1400" b="1" dirty="0">
                          <a:solidFill>
                            <a:srgbClr val="1C7293"/>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1C7293"/>
                          </a:solidFill>
                          <a:latin typeface="Calibri" pitchFamily="34" charset="0"/>
                          <a:ea typeface="Calibri" pitchFamily="34" charset="-122"/>
                          <a:cs typeface="Calibri" pitchFamily="34" charset="-120"/>
                        </a:rPr>
                        <a:t>L-shaped union</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fast atmospheric forcing on a slow medium: the forcing arm is A, the memory arm is B</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A at short lags; B at long lags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SST, SSS 3–6 months (mixed-layer inertia) · sea ice seasonal + multi-year thickness · chlorophyll 1–4 weeks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forcing arm 860 km at lag 0; memory arm 100 km + 13 km/day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3 (SST) · 6 (OSTIA, MUR, ice) · 9 (chlorophyll)</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1051560">
                <a:tc>
                  <a:txBody>
                    <a:bodyPr/>
                    <a:lstStyle/>
                    <a:p>
                      <a:pPr algn="ctr" indent="0" marL="0">
                        <a:buNone/>
                      </a:pPr>
                      <a:r>
                        <a:rPr lang="en-US" sz="1400" b="1" dirty="0">
                          <a:solidFill>
                            <a:srgbClr val="4E8A3E"/>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4E8A3E"/>
                          </a:solidFill>
                          <a:latin typeface="Calibri" pitchFamily="34" charset="0"/>
                          <a:ea typeface="Calibri" pitchFamily="34" charset="-122"/>
                          <a:cs typeface="Calibri" pitchFamily="34" charset="-120"/>
                        </a:rPr>
                        <a:t>Column-only (land)</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nothing horizontal — soil, plants, snow stay put; forced from above by A; rivers carry water downstream (~1 m/s along the network); sea ice drifts 5–10 km/day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0 horizontally (river network ≈ 90 km/day along channels)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surface soil moisture 1–3 weeks, root zone months · vegetation weeks to seasons · snow seasonal · water storage months to years · fire days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L_corr ≈ 1–10 km at every lag, plus the atmosphere disc at lags ≤ τ_atm</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1 · 2 · 10 · part of 12</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57200">
                <a:tc>
                  <a:txBody>
                    <a:bodyPr/>
                    <a:lstStyle/>
                    <a:p>
                      <a:pPr algn="ctr" indent="0" marL="0">
                        <a:buNone/>
                      </a:pPr>
                      <a:r>
                        <a:rPr lang="en-US" sz="1400" b="1" dirty="0">
                          <a:solidFill>
                            <a:srgbClr val="7A8797"/>
                          </a:solidFill>
                          <a:latin typeface="Calibri" pitchFamily="34" charset="0"/>
                          <a:ea typeface="Calibri" pitchFamily="34" charset="-122"/>
                          <a:cs typeface="Calibri" pitchFamily="34" charset="-120"/>
                        </a:rPr>
                        <a:t>E</a:t>
                      </a:r>
                      <a:endParaRPr lang="en-US" sz="14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7A8797"/>
                          </a:solidFill>
                          <a:latin typeface="Calibri" pitchFamily="34" charset="0"/>
                          <a:ea typeface="Calibri" pitchFamily="34" charset="-122"/>
                          <a:cs typeface="Calibri" pitchFamily="34" charset="-120"/>
                        </a:rPr>
                        <a:t>Static</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one dot</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12</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Shape 2"/>
          <p:cNvSpPr/>
          <p:nvPr/>
        </p:nvSpPr>
        <p:spPr>
          <a:xfrm>
            <a:off x="10104120" y="1682496"/>
            <a:ext cx="1508760" cy="658368"/>
          </a:xfrm>
          <a:prstGeom prst="rect">
            <a:avLst/>
          </a:prstGeom>
          <a:solidFill>
            <a:srgbClr val="FBFCFD"/>
          </a:solidFill>
          <a:ln w="6350">
            <a:solidFill>
              <a:srgbClr val="B8C4D3"/>
            </a:solidFill>
            <a:prstDash val="solid"/>
          </a:ln>
        </p:spPr>
      </p:sp>
      <p:sp>
        <p:nvSpPr>
          <p:cNvPr id="6" name="Shape 3"/>
          <p:cNvSpPr/>
          <p:nvPr/>
        </p:nvSpPr>
        <p:spPr>
          <a:xfrm>
            <a:off x="10172700" y="2139696"/>
            <a:ext cx="1371600" cy="146304"/>
          </a:xfrm>
          <a:prstGeom prst="rect">
            <a:avLst/>
          </a:prstGeom>
          <a:solidFill>
            <a:srgbClr val="E07A2F">
              <a:alpha val="70000"/>
            </a:srgbClr>
          </a:solidFill>
          <a:ln w="12700">
            <a:solidFill>
              <a:srgbClr val="333333"/>
            </a:solidFill>
            <a:prstDash val="solid"/>
          </a:ln>
        </p:spPr>
      </p:sp>
      <p:sp>
        <p:nvSpPr>
          <p:cNvPr id="7" name="Shape 4"/>
          <p:cNvSpPr/>
          <p:nvPr/>
        </p:nvSpPr>
        <p:spPr>
          <a:xfrm>
            <a:off x="10104120" y="2441448"/>
            <a:ext cx="1508760" cy="786384"/>
          </a:xfrm>
          <a:prstGeom prst="rect">
            <a:avLst/>
          </a:prstGeom>
          <a:solidFill>
            <a:srgbClr val="FBFCFD"/>
          </a:solidFill>
          <a:ln w="6350">
            <a:solidFill>
              <a:srgbClr val="B8C4D3"/>
            </a:solidFill>
            <a:prstDash val="solid"/>
          </a:ln>
        </p:spPr>
      </p:sp>
      <p:sp>
        <p:nvSpPr>
          <p:cNvPr id="8" name="Shape 5"/>
          <p:cNvSpPr/>
          <p:nvPr/>
        </p:nvSpPr>
        <p:spPr>
          <a:xfrm>
            <a:off x="10447020" y="2496312"/>
            <a:ext cx="548640" cy="676656"/>
          </a:xfrm>
          <a:custGeom>
            <a:avLst/>
            <a:gdLst/>
            <a:ahLst/>
            <a:cxnLst/>
            <a:rect l="l" t="t" r="r" b="b"/>
            <a:pathLst>
              <a:path w="548640" h="676656">
                <a:moveTo>
                  <a:pt x="365760" y="676656"/>
                </a:moveTo>
                <a:lnTo>
                  <a:pt x="475488" y="676656"/>
                </a:lnTo>
                <a:lnTo>
                  <a:pt x="548640" y="0"/>
                </a:lnTo>
                <a:lnTo>
                  <a:pt x="0" y="0"/>
                </a:lnTo>
                <a:close/>
              </a:path>
            </a:pathLst>
          </a:custGeom>
          <a:solidFill>
            <a:srgbClr val="2E86AB">
              <a:alpha val="70000"/>
            </a:srgbClr>
          </a:solidFill>
          <a:ln w="12700">
            <a:solidFill>
              <a:srgbClr val="333333"/>
            </a:solidFill>
            <a:prstDash val="solid"/>
          </a:ln>
        </p:spPr>
      </p:sp>
      <p:sp>
        <p:nvSpPr>
          <p:cNvPr id="9" name="Shape 6"/>
          <p:cNvSpPr/>
          <p:nvPr/>
        </p:nvSpPr>
        <p:spPr>
          <a:xfrm>
            <a:off x="10104120" y="3332988"/>
            <a:ext cx="1508760" cy="786384"/>
          </a:xfrm>
          <a:prstGeom prst="rect">
            <a:avLst/>
          </a:prstGeom>
          <a:solidFill>
            <a:srgbClr val="FBFCFD"/>
          </a:solidFill>
          <a:ln w="6350">
            <a:solidFill>
              <a:srgbClr val="B8C4D3"/>
            </a:solidFill>
            <a:prstDash val="solid"/>
          </a:ln>
        </p:spPr>
      </p:sp>
      <p:sp>
        <p:nvSpPr>
          <p:cNvPr id="10" name="Shape 7"/>
          <p:cNvSpPr/>
          <p:nvPr/>
        </p:nvSpPr>
        <p:spPr>
          <a:xfrm>
            <a:off x="10172700" y="3936492"/>
            <a:ext cx="1371600" cy="128016"/>
          </a:xfrm>
          <a:prstGeom prst="rect">
            <a:avLst/>
          </a:prstGeom>
          <a:solidFill>
            <a:srgbClr val="1C7293">
              <a:alpha val="70000"/>
            </a:srgbClr>
          </a:solidFill>
          <a:ln w="12700">
            <a:solidFill>
              <a:srgbClr val="333333"/>
            </a:solidFill>
            <a:prstDash val="solid"/>
          </a:ln>
        </p:spPr>
      </p:sp>
      <p:sp>
        <p:nvSpPr>
          <p:cNvPr id="11" name="Shape 8"/>
          <p:cNvSpPr/>
          <p:nvPr/>
        </p:nvSpPr>
        <p:spPr>
          <a:xfrm>
            <a:off x="10767060" y="3387852"/>
            <a:ext cx="219456" cy="676656"/>
          </a:xfrm>
          <a:prstGeom prst="rect">
            <a:avLst/>
          </a:prstGeom>
          <a:solidFill>
            <a:srgbClr val="1C7293">
              <a:alpha val="70000"/>
            </a:srgbClr>
          </a:solidFill>
          <a:ln w="12700">
            <a:solidFill>
              <a:srgbClr val="333333"/>
            </a:solidFill>
            <a:prstDash val="solid"/>
          </a:ln>
        </p:spPr>
      </p:sp>
      <p:sp>
        <p:nvSpPr>
          <p:cNvPr id="12" name="Shape 9"/>
          <p:cNvSpPr/>
          <p:nvPr/>
        </p:nvSpPr>
        <p:spPr>
          <a:xfrm>
            <a:off x="10104120" y="4293108"/>
            <a:ext cx="1508760" cy="786384"/>
          </a:xfrm>
          <a:prstGeom prst="rect">
            <a:avLst/>
          </a:prstGeom>
          <a:solidFill>
            <a:srgbClr val="FBFCFD"/>
          </a:solidFill>
          <a:ln w="6350">
            <a:solidFill>
              <a:srgbClr val="B8C4D3"/>
            </a:solidFill>
            <a:prstDash val="solid"/>
          </a:ln>
        </p:spPr>
      </p:sp>
      <p:sp>
        <p:nvSpPr>
          <p:cNvPr id="13" name="Shape 10"/>
          <p:cNvSpPr/>
          <p:nvPr/>
        </p:nvSpPr>
        <p:spPr>
          <a:xfrm>
            <a:off x="10812780" y="4347972"/>
            <a:ext cx="91440" cy="676656"/>
          </a:xfrm>
          <a:prstGeom prst="rect">
            <a:avLst/>
          </a:prstGeom>
          <a:solidFill>
            <a:srgbClr val="4E8A3E">
              <a:alpha val="70000"/>
            </a:srgbClr>
          </a:solidFill>
          <a:ln w="12700">
            <a:solidFill>
              <a:srgbClr val="333333"/>
            </a:solidFill>
            <a:prstDash val="solid"/>
          </a:ln>
        </p:spPr>
      </p:sp>
      <p:sp>
        <p:nvSpPr>
          <p:cNvPr id="14" name="Shape 11"/>
          <p:cNvSpPr/>
          <p:nvPr/>
        </p:nvSpPr>
        <p:spPr>
          <a:xfrm>
            <a:off x="10172700" y="4914900"/>
            <a:ext cx="1371600" cy="109728"/>
          </a:xfrm>
          <a:prstGeom prst="rect">
            <a:avLst/>
          </a:prstGeom>
          <a:solidFill>
            <a:srgbClr val="E07A2F">
              <a:alpha val="70000"/>
            </a:srgbClr>
          </a:solidFill>
          <a:ln w="12700">
            <a:solidFill>
              <a:srgbClr val="333333"/>
            </a:solidFill>
            <a:prstDash val="solid"/>
          </a:ln>
        </p:spPr>
      </p:sp>
      <p:sp>
        <p:nvSpPr>
          <p:cNvPr id="15" name="Shape 12"/>
          <p:cNvSpPr/>
          <p:nvPr/>
        </p:nvSpPr>
        <p:spPr>
          <a:xfrm>
            <a:off x="10104120" y="5248656"/>
            <a:ext cx="1508760" cy="384048"/>
          </a:xfrm>
          <a:prstGeom prst="rect">
            <a:avLst/>
          </a:prstGeom>
          <a:solidFill>
            <a:srgbClr val="FBFCFD"/>
          </a:solidFill>
          <a:ln w="6350">
            <a:solidFill>
              <a:srgbClr val="B8C4D3"/>
            </a:solidFill>
            <a:prstDash val="solid"/>
          </a:ln>
        </p:spPr>
      </p:sp>
      <p:sp>
        <p:nvSpPr>
          <p:cNvPr id="16" name="Shape 13"/>
          <p:cNvSpPr/>
          <p:nvPr/>
        </p:nvSpPr>
        <p:spPr>
          <a:xfrm>
            <a:off x="10812780" y="5486400"/>
            <a:ext cx="91440" cy="91440"/>
          </a:xfrm>
          <a:prstGeom prst="ellipse">
            <a:avLst/>
          </a:prstGeom>
          <a:solidFill>
            <a:srgbClr val="7A8797"/>
          </a:solidFill>
          <a:ln w="12700">
            <a:solidFill>
              <a:srgbClr val="333333"/>
            </a:solidFill>
            <a:prstDash val="solid"/>
          </a:ln>
        </p:spPr>
      </p:sp>
      <p:sp>
        <p:nvSpPr>
          <p:cNvPr id="17" name="Text 14"/>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Glyphs: Δx sideways, lag upwards, present at the bottom. Depth is a sixth axis, not a family: the mixed layer (top 10–100 m, deeper in winter) is stirred within hours and belongs to the surface cone; below it memory grows with depth — months at 100–300 m, years at 500–1,500 m, decades below 2,000 m — while vertical speeds are ~1 m/day. Depth dots are log-spaced (0, 10, 30, 60, 100, 200, 400, 700, 1000, 1500, 2000 m), dense near the surface, each band with its own τ; the atmosphere mirrors this at 1000, 850, 500, 250 hPa. Consequence: fine rungs want a small dense patch and a long local history; coarse physical rungs a large sparse far field and a short (A) or thin-and-long (B) history; the interior depth and years. No fixed grid × window serves all three — a per-channel dot sampler does.</a:t>
            </a:r>
            <a:endParaRPr lang="en-US" sz="850" dirty="0"/>
          </a:p>
        </p:txBody>
      </p:sp>
      <p:sp>
        <p:nvSpPr>
          <p:cNvPr id="18" name="Text 1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Proposal — a cone-native codec: dots in, embedding out</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The codec reads (Δx, Δy, depth, lag, channel, value) samples from each channel's cone and predicts the dots it does not see — including future ones</a:t>
            </a:r>
            <a:endParaRPr lang="en-US" sz="1250" dirty="0"/>
          </a:p>
        </p:txBody>
      </p:sp>
      <p:sp>
        <p:nvSpPr>
          <p:cNvPr id="4" name="Shape 2"/>
          <p:cNvSpPr/>
          <p:nvPr/>
        </p:nvSpPr>
        <p:spPr>
          <a:xfrm>
            <a:off x="548640" y="1463040"/>
            <a:ext cx="3657600" cy="3337560"/>
          </a:xfrm>
          <a:prstGeom prst="rect">
            <a:avLst/>
          </a:prstGeom>
          <a:solidFill>
            <a:srgbClr val="FBFCFD"/>
          </a:solidFill>
          <a:ln w="6350">
            <a:solidFill>
              <a:srgbClr val="B8C4D3"/>
            </a:solidFill>
            <a:prstDash val="solid"/>
          </a:ln>
        </p:spPr>
      </p:sp>
      <p:sp>
        <p:nvSpPr>
          <p:cNvPr id="5" name="Shape 3"/>
          <p:cNvSpPr/>
          <p:nvPr/>
        </p:nvSpPr>
        <p:spPr>
          <a:xfrm>
            <a:off x="960120" y="4389120"/>
            <a:ext cx="3017520" cy="0"/>
          </a:xfrm>
          <a:prstGeom prst="line">
            <a:avLst/>
          </a:prstGeom>
          <a:noFill/>
          <a:ln w="12700">
            <a:solidFill>
              <a:srgbClr val="1B2430"/>
            </a:solidFill>
            <a:prstDash val="solid"/>
            <a:tailEnd type="triangle"/>
          </a:ln>
        </p:spPr>
      </p:sp>
      <p:sp>
        <p:nvSpPr>
          <p:cNvPr id="6" name="Shape 4"/>
          <p:cNvSpPr/>
          <p:nvPr/>
        </p:nvSpPr>
        <p:spPr>
          <a:xfrm flipV="1">
            <a:off x="960120" y="1737360"/>
            <a:ext cx="0" cy="2651760"/>
          </a:xfrm>
          <a:prstGeom prst="line">
            <a:avLst/>
          </a:prstGeom>
          <a:noFill/>
          <a:ln w="12700">
            <a:solidFill>
              <a:srgbClr val="1B2430"/>
            </a:solidFill>
            <a:prstDash val="solid"/>
            <a:tailEnd type="triangle"/>
          </a:ln>
        </p:spPr>
      </p:sp>
      <p:sp>
        <p:nvSpPr>
          <p:cNvPr id="7" name="Text 5"/>
          <p:cNvSpPr txBox="1"/>
          <p:nvPr/>
        </p:nvSpPr>
        <p:spPr>
          <a:xfrm>
            <a:off x="960120" y="4416552"/>
            <a:ext cx="3017520" cy="228600"/>
          </a:xfrm>
          <a:prstGeom prst="rect">
            <a:avLst/>
          </a:prstGeom>
          <a:noFill/>
          <a:ln/>
        </p:spPr>
        <p:txBody>
          <a:bodyPr wrap="square" lIns="0" tIns="0" rIns="0" bIns="0" rtlCol="0" anchor="ctr"/>
          <a:lstStyle/>
          <a:p>
            <a:pPr algn="ctr" indent="0" marL="0">
              <a:buNone/>
            </a:pPr>
            <a:r>
              <a:rPr lang="en-US" sz="750" dirty="0">
                <a:solidFill>
                  <a:srgbClr val="6B7A8F"/>
                </a:solidFill>
                <a:latin typeface="Calibri" pitchFamily="34" charset="0"/>
                <a:ea typeface="Calibri" pitchFamily="34" charset="-122"/>
                <a:cs typeface="Calibri" pitchFamily="34" charset="-120"/>
              </a:rPr>
              <a:t>distance from the anchor Δx (log)</a:t>
            </a:r>
            <a:endParaRPr lang="en-US" sz="750" dirty="0"/>
          </a:p>
        </p:txBody>
      </p:sp>
      <p:sp>
        <p:nvSpPr>
          <p:cNvPr id="8" name="Text 6"/>
          <p:cNvSpPr txBox="1"/>
          <p:nvPr/>
        </p:nvSpPr>
        <p:spPr>
          <a:xfrm rot="16200000">
            <a:off x="-91440" y="2953512"/>
            <a:ext cx="1737360" cy="228600"/>
          </a:xfrm>
          <a:prstGeom prst="rect">
            <a:avLst/>
          </a:prstGeom>
          <a:noFill/>
          <a:ln/>
        </p:spPr>
        <p:txBody>
          <a:bodyPr wrap="square" lIns="0" tIns="0" rIns="0" bIns="0" rtlCol="0" anchor="ctr"/>
          <a:lstStyle/>
          <a:p>
            <a:pPr algn="ctr" indent="0" marL="0">
              <a:buNone/>
            </a:pPr>
            <a:r>
              <a:rPr lang="en-US" sz="750" dirty="0">
                <a:solidFill>
                  <a:srgbClr val="6B7A8F"/>
                </a:solidFill>
                <a:latin typeface="Calibri" pitchFamily="34" charset="0"/>
                <a:ea typeface="Calibri" pitchFamily="34" charset="-122"/>
                <a:cs typeface="Calibri" pitchFamily="34" charset="-120"/>
              </a:rPr>
              <a:t>lag ℓ (log) — into the past</a:t>
            </a:r>
            <a:endParaRPr lang="en-US" sz="750" dirty="0"/>
          </a:p>
        </p:txBody>
      </p:sp>
      <p:sp>
        <p:nvSpPr>
          <p:cNvPr id="9" name="Shape 7"/>
          <p:cNvSpPr/>
          <p:nvPr/>
        </p:nvSpPr>
        <p:spPr>
          <a:xfrm>
            <a:off x="960120" y="1737360"/>
            <a:ext cx="3017520" cy="2651760"/>
          </a:xfrm>
          <a:custGeom>
            <a:avLst/>
            <a:gdLst/>
            <a:ahLst/>
            <a:cxnLst/>
            <a:rect l="l" t="t" r="r" b="b"/>
            <a:pathLst>
              <a:path w="3017520" h="2651760">
                <a:moveTo>
                  <a:pt x="0" y="2651760"/>
                </a:moveTo>
                <a:lnTo>
                  <a:pt x="2866644" y="2651760"/>
                </a:lnTo>
                <a:lnTo>
                  <a:pt x="2866644" y="2068373"/>
                </a:lnTo>
                <a:lnTo>
                  <a:pt x="0" y="2068373"/>
                </a:lnTo>
                <a:close/>
              </a:path>
            </a:pathLst>
          </a:custGeom>
          <a:solidFill>
            <a:srgbClr val="E07A2F">
              <a:alpha val="30000"/>
            </a:srgbClr>
          </a:solidFill>
          <a:ln w="9525">
            <a:solidFill>
              <a:srgbClr val="E07A2F"/>
            </a:solidFill>
            <a:prstDash val="solid"/>
          </a:ln>
        </p:spPr>
      </p:sp>
      <p:sp>
        <p:nvSpPr>
          <p:cNvPr id="10" name="Shape 8"/>
          <p:cNvSpPr/>
          <p:nvPr/>
        </p:nvSpPr>
        <p:spPr>
          <a:xfrm>
            <a:off x="960120" y="1737360"/>
            <a:ext cx="3017520" cy="2651760"/>
          </a:xfrm>
          <a:custGeom>
            <a:avLst/>
            <a:gdLst/>
            <a:ahLst/>
            <a:cxnLst/>
            <a:rect l="l" t="t" r="r" b="b"/>
            <a:pathLst>
              <a:path w="3017520" h="2651760">
                <a:moveTo>
                  <a:pt x="0" y="2651760"/>
                </a:moveTo>
                <a:lnTo>
                  <a:pt x="362102" y="2651760"/>
                </a:lnTo>
                <a:lnTo>
                  <a:pt x="1267358" y="132588"/>
                </a:lnTo>
                <a:lnTo>
                  <a:pt x="0" y="132588"/>
                </a:lnTo>
                <a:close/>
              </a:path>
            </a:pathLst>
          </a:custGeom>
          <a:solidFill>
            <a:srgbClr val="2E86AB">
              <a:alpha val="30000"/>
            </a:srgbClr>
          </a:solidFill>
          <a:ln w="9525">
            <a:solidFill>
              <a:srgbClr val="2E86AB"/>
            </a:solidFill>
            <a:prstDash val="solid"/>
          </a:ln>
        </p:spPr>
      </p:sp>
      <p:sp>
        <p:nvSpPr>
          <p:cNvPr id="11" name="Shape 9"/>
          <p:cNvSpPr/>
          <p:nvPr/>
        </p:nvSpPr>
        <p:spPr>
          <a:xfrm>
            <a:off x="960120" y="1737360"/>
            <a:ext cx="3017520" cy="2651760"/>
          </a:xfrm>
          <a:custGeom>
            <a:avLst/>
            <a:gdLst/>
            <a:ahLst/>
            <a:cxnLst/>
            <a:rect l="l" t="t" r="r" b="b"/>
            <a:pathLst>
              <a:path w="3017520" h="2651760">
                <a:moveTo>
                  <a:pt x="0" y="2651760"/>
                </a:moveTo>
                <a:lnTo>
                  <a:pt x="2112264" y="2651760"/>
                </a:lnTo>
                <a:lnTo>
                  <a:pt x="2112264" y="2333549"/>
                </a:lnTo>
                <a:lnTo>
                  <a:pt x="754380" y="2333549"/>
                </a:lnTo>
                <a:lnTo>
                  <a:pt x="905256" y="1060704"/>
                </a:lnTo>
                <a:lnTo>
                  <a:pt x="0" y="1060704"/>
                </a:lnTo>
                <a:close/>
              </a:path>
            </a:pathLst>
          </a:custGeom>
          <a:solidFill>
            <a:srgbClr val="1C7293">
              <a:alpha val="30000"/>
            </a:srgbClr>
          </a:solidFill>
          <a:ln w="9525">
            <a:solidFill>
              <a:srgbClr val="1C7293"/>
            </a:solidFill>
            <a:prstDash val="solid"/>
          </a:ln>
        </p:spPr>
      </p:sp>
      <p:sp>
        <p:nvSpPr>
          <p:cNvPr id="12" name="Shape 10"/>
          <p:cNvSpPr/>
          <p:nvPr/>
        </p:nvSpPr>
        <p:spPr>
          <a:xfrm>
            <a:off x="1415052" y="3971422"/>
            <a:ext cx="82296" cy="82296"/>
          </a:xfrm>
          <a:prstGeom prst="ellipse">
            <a:avLst/>
          </a:prstGeom>
          <a:solidFill>
            <a:srgbClr val="E07A2F"/>
          </a:solidFill>
          <a:ln w="6350">
            <a:solidFill>
              <a:srgbClr val="FFFFFF"/>
            </a:solidFill>
            <a:prstDash val="solid"/>
          </a:ln>
        </p:spPr>
      </p:sp>
      <p:sp>
        <p:nvSpPr>
          <p:cNvPr id="13" name="Shape 11"/>
          <p:cNvSpPr/>
          <p:nvPr/>
        </p:nvSpPr>
        <p:spPr>
          <a:xfrm>
            <a:off x="1839919" y="3891869"/>
            <a:ext cx="82296" cy="82296"/>
          </a:xfrm>
          <a:prstGeom prst="ellipse">
            <a:avLst/>
          </a:prstGeom>
          <a:solidFill>
            <a:srgbClr val="E07A2F"/>
          </a:solidFill>
          <a:ln w="6350">
            <a:solidFill>
              <a:srgbClr val="FFFFFF"/>
            </a:solidFill>
            <a:prstDash val="solid"/>
          </a:ln>
        </p:spPr>
      </p:sp>
      <p:sp>
        <p:nvSpPr>
          <p:cNvPr id="14" name="Shape 12"/>
          <p:cNvSpPr/>
          <p:nvPr/>
        </p:nvSpPr>
        <p:spPr>
          <a:xfrm>
            <a:off x="2397557" y="4310847"/>
            <a:ext cx="82296" cy="82296"/>
          </a:xfrm>
          <a:prstGeom prst="ellipse">
            <a:avLst/>
          </a:prstGeom>
          <a:solidFill>
            <a:srgbClr val="E07A2F"/>
          </a:solidFill>
          <a:ln w="6350">
            <a:solidFill>
              <a:srgbClr val="FFFFFF"/>
            </a:solidFill>
            <a:prstDash val="solid"/>
          </a:ln>
        </p:spPr>
      </p:sp>
      <p:sp>
        <p:nvSpPr>
          <p:cNvPr id="15" name="Shape 13"/>
          <p:cNvSpPr/>
          <p:nvPr/>
        </p:nvSpPr>
        <p:spPr>
          <a:xfrm>
            <a:off x="2716207" y="3849441"/>
            <a:ext cx="82296" cy="82296"/>
          </a:xfrm>
          <a:prstGeom prst="ellipse">
            <a:avLst/>
          </a:prstGeom>
          <a:solidFill>
            <a:srgbClr val="E07A2F"/>
          </a:solidFill>
          <a:ln w="6350">
            <a:solidFill>
              <a:srgbClr val="FFFFFF"/>
            </a:solidFill>
            <a:prstDash val="solid"/>
          </a:ln>
        </p:spPr>
      </p:sp>
      <p:sp>
        <p:nvSpPr>
          <p:cNvPr id="16" name="Shape 14"/>
          <p:cNvSpPr/>
          <p:nvPr/>
        </p:nvSpPr>
        <p:spPr>
          <a:xfrm>
            <a:off x="2078907" y="4247205"/>
            <a:ext cx="82296" cy="82296"/>
          </a:xfrm>
          <a:prstGeom prst="ellipse">
            <a:avLst/>
          </a:prstGeom>
          <a:solidFill>
            <a:srgbClr val="E07A2F"/>
          </a:solidFill>
          <a:ln w="6350">
            <a:solidFill>
              <a:srgbClr val="FFFFFF"/>
            </a:solidFill>
            <a:prstDash val="solid"/>
          </a:ln>
        </p:spPr>
      </p:sp>
      <p:sp>
        <p:nvSpPr>
          <p:cNvPr id="17" name="Shape 15"/>
          <p:cNvSpPr/>
          <p:nvPr/>
        </p:nvSpPr>
        <p:spPr>
          <a:xfrm>
            <a:off x="3114520" y="4056278"/>
            <a:ext cx="82296" cy="82296"/>
          </a:xfrm>
          <a:prstGeom prst="ellipse">
            <a:avLst/>
          </a:prstGeom>
          <a:solidFill>
            <a:srgbClr val="E07A2F"/>
          </a:solidFill>
          <a:ln w="6350">
            <a:solidFill>
              <a:srgbClr val="FFFFFF"/>
            </a:solidFill>
            <a:prstDash val="solid"/>
          </a:ln>
        </p:spPr>
      </p:sp>
      <p:sp>
        <p:nvSpPr>
          <p:cNvPr id="18" name="Shape 16"/>
          <p:cNvSpPr/>
          <p:nvPr/>
        </p:nvSpPr>
        <p:spPr>
          <a:xfrm>
            <a:off x="1149511" y="4104010"/>
            <a:ext cx="82296" cy="82296"/>
          </a:xfrm>
          <a:prstGeom prst="ellipse">
            <a:avLst/>
          </a:prstGeom>
          <a:solidFill>
            <a:srgbClr val="E07A2F"/>
          </a:solidFill>
          <a:ln w="6350">
            <a:solidFill>
              <a:srgbClr val="FFFFFF"/>
            </a:solidFill>
            <a:prstDash val="solid"/>
          </a:ln>
        </p:spPr>
      </p:sp>
      <p:sp>
        <p:nvSpPr>
          <p:cNvPr id="19" name="Shape 17"/>
          <p:cNvSpPr/>
          <p:nvPr/>
        </p:nvSpPr>
        <p:spPr>
          <a:xfrm>
            <a:off x="3459724" y="4220688"/>
            <a:ext cx="82296" cy="82296"/>
          </a:xfrm>
          <a:prstGeom prst="ellipse">
            <a:avLst/>
          </a:prstGeom>
          <a:solidFill>
            <a:srgbClr val="E07A2F"/>
          </a:solidFill>
          <a:ln w="6350">
            <a:solidFill>
              <a:srgbClr val="FFFFFF"/>
            </a:solidFill>
            <a:prstDash val="solid"/>
          </a:ln>
        </p:spPr>
      </p:sp>
      <p:sp>
        <p:nvSpPr>
          <p:cNvPr id="20" name="Shape 18"/>
          <p:cNvSpPr/>
          <p:nvPr/>
        </p:nvSpPr>
        <p:spPr>
          <a:xfrm>
            <a:off x="2822424" y="4172956"/>
            <a:ext cx="82296" cy="82296"/>
          </a:xfrm>
          <a:prstGeom prst="ellipse">
            <a:avLst/>
          </a:prstGeom>
          <a:solidFill>
            <a:srgbClr val="E07A2F"/>
          </a:solidFill>
          <a:ln w="6350">
            <a:solidFill>
              <a:srgbClr val="FFFFFF"/>
            </a:solidFill>
            <a:prstDash val="solid"/>
          </a:ln>
        </p:spPr>
      </p:sp>
      <p:sp>
        <p:nvSpPr>
          <p:cNvPr id="21" name="Shape 19"/>
          <p:cNvSpPr/>
          <p:nvPr/>
        </p:nvSpPr>
        <p:spPr>
          <a:xfrm>
            <a:off x="1032178" y="2350401"/>
            <a:ext cx="82296" cy="82296"/>
          </a:xfrm>
          <a:prstGeom prst="ellipse">
            <a:avLst/>
          </a:prstGeom>
          <a:solidFill>
            <a:srgbClr val="2E86AB"/>
          </a:solidFill>
          <a:ln w="6350">
            <a:solidFill>
              <a:srgbClr val="FFFFFF"/>
            </a:solidFill>
            <a:prstDash val="solid"/>
          </a:ln>
        </p:spPr>
      </p:sp>
      <p:sp>
        <p:nvSpPr>
          <p:cNvPr id="22" name="Shape 20"/>
          <p:cNvSpPr/>
          <p:nvPr/>
        </p:nvSpPr>
        <p:spPr>
          <a:xfrm>
            <a:off x="1716894" y="2917613"/>
            <a:ext cx="82296" cy="82296"/>
          </a:xfrm>
          <a:prstGeom prst="ellipse">
            <a:avLst/>
          </a:prstGeom>
          <a:solidFill>
            <a:srgbClr val="2E86AB"/>
          </a:solidFill>
          <a:ln w="6350">
            <a:solidFill>
              <a:srgbClr val="FFFFFF"/>
            </a:solidFill>
            <a:prstDash val="solid"/>
          </a:ln>
        </p:spPr>
      </p:sp>
      <p:sp>
        <p:nvSpPr>
          <p:cNvPr id="23" name="Shape 21"/>
          <p:cNvSpPr/>
          <p:nvPr/>
        </p:nvSpPr>
        <p:spPr>
          <a:xfrm>
            <a:off x="1020810" y="3312195"/>
            <a:ext cx="82296" cy="82296"/>
          </a:xfrm>
          <a:prstGeom prst="ellipse">
            <a:avLst/>
          </a:prstGeom>
          <a:solidFill>
            <a:srgbClr val="2E86AB"/>
          </a:solidFill>
          <a:ln w="6350">
            <a:solidFill>
              <a:srgbClr val="FFFFFF"/>
            </a:solidFill>
            <a:prstDash val="solid"/>
          </a:ln>
        </p:spPr>
      </p:sp>
      <p:sp>
        <p:nvSpPr>
          <p:cNvPr id="24" name="Shape 22"/>
          <p:cNvSpPr/>
          <p:nvPr/>
        </p:nvSpPr>
        <p:spPr>
          <a:xfrm>
            <a:off x="1039919" y="2621676"/>
            <a:ext cx="82296" cy="82296"/>
          </a:xfrm>
          <a:prstGeom prst="ellipse">
            <a:avLst/>
          </a:prstGeom>
          <a:solidFill>
            <a:srgbClr val="2E86AB"/>
          </a:solidFill>
          <a:ln w="6350">
            <a:solidFill>
              <a:srgbClr val="FFFFFF"/>
            </a:solidFill>
            <a:prstDash val="solid"/>
          </a:ln>
        </p:spPr>
      </p:sp>
      <p:sp>
        <p:nvSpPr>
          <p:cNvPr id="25" name="Shape 23"/>
          <p:cNvSpPr/>
          <p:nvPr/>
        </p:nvSpPr>
        <p:spPr>
          <a:xfrm>
            <a:off x="1191381" y="2597015"/>
            <a:ext cx="82296" cy="82296"/>
          </a:xfrm>
          <a:prstGeom prst="ellipse">
            <a:avLst/>
          </a:prstGeom>
          <a:solidFill>
            <a:srgbClr val="2E86AB"/>
          </a:solidFill>
          <a:ln w="6350">
            <a:solidFill>
              <a:srgbClr val="FFFFFF"/>
            </a:solidFill>
            <a:prstDash val="solid"/>
          </a:ln>
        </p:spPr>
      </p:sp>
      <p:sp>
        <p:nvSpPr>
          <p:cNvPr id="26" name="Shape 24"/>
          <p:cNvSpPr/>
          <p:nvPr/>
        </p:nvSpPr>
        <p:spPr>
          <a:xfrm>
            <a:off x="1455994" y="2227094"/>
            <a:ext cx="82296" cy="82296"/>
          </a:xfrm>
          <a:prstGeom prst="ellipse">
            <a:avLst/>
          </a:prstGeom>
          <a:solidFill>
            <a:srgbClr val="2E86AB"/>
          </a:solidFill>
          <a:ln w="6350">
            <a:solidFill>
              <a:srgbClr val="FFFFFF"/>
            </a:solidFill>
            <a:prstDash val="solid"/>
          </a:ln>
        </p:spPr>
      </p:sp>
      <p:sp>
        <p:nvSpPr>
          <p:cNvPr id="27" name="Shape 25"/>
          <p:cNvSpPr/>
          <p:nvPr/>
        </p:nvSpPr>
        <p:spPr>
          <a:xfrm>
            <a:off x="1145032" y="4175342"/>
            <a:ext cx="82296" cy="82296"/>
          </a:xfrm>
          <a:prstGeom prst="ellipse">
            <a:avLst/>
          </a:prstGeom>
          <a:solidFill>
            <a:srgbClr val="2E86AB"/>
          </a:solidFill>
          <a:ln w="6350">
            <a:solidFill>
              <a:srgbClr val="FFFFFF"/>
            </a:solidFill>
            <a:prstDash val="solid"/>
          </a:ln>
        </p:spPr>
      </p:sp>
      <p:sp>
        <p:nvSpPr>
          <p:cNvPr id="28" name="Shape 26"/>
          <p:cNvSpPr/>
          <p:nvPr/>
        </p:nvSpPr>
        <p:spPr>
          <a:xfrm>
            <a:off x="1354408" y="2029803"/>
            <a:ext cx="82296" cy="82296"/>
          </a:xfrm>
          <a:prstGeom prst="ellipse">
            <a:avLst/>
          </a:prstGeom>
          <a:solidFill>
            <a:srgbClr val="2E86AB"/>
          </a:solidFill>
          <a:ln w="6350">
            <a:solidFill>
              <a:srgbClr val="FFFFFF"/>
            </a:solidFill>
            <a:prstDash val="solid"/>
          </a:ln>
        </p:spPr>
      </p:sp>
      <p:sp>
        <p:nvSpPr>
          <p:cNvPr id="29" name="Shape 27"/>
          <p:cNvSpPr/>
          <p:nvPr/>
        </p:nvSpPr>
        <p:spPr>
          <a:xfrm>
            <a:off x="2326821" y="4055748"/>
            <a:ext cx="82296" cy="82296"/>
          </a:xfrm>
          <a:prstGeom prst="ellipse">
            <a:avLst/>
          </a:prstGeom>
          <a:solidFill>
            <a:srgbClr val="1C7293"/>
          </a:solidFill>
          <a:ln w="6350">
            <a:solidFill>
              <a:srgbClr val="FFFFFF"/>
            </a:solidFill>
            <a:prstDash val="solid"/>
          </a:ln>
        </p:spPr>
      </p:sp>
      <p:sp>
        <p:nvSpPr>
          <p:cNvPr id="30" name="Shape 28"/>
          <p:cNvSpPr/>
          <p:nvPr/>
        </p:nvSpPr>
        <p:spPr>
          <a:xfrm>
            <a:off x="966263" y="3502061"/>
            <a:ext cx="82296" cy="82296"/>
          </a:xfrm>
          <a:prstGeom prst="ellipse">
            <a:avLst/>
          </a:prstGeom>
          <a:solidFill>
            <a:srgbClr val="1C7293"/>
          </a:solidFill>
          <a:ln w="6350">
            <a:solidFill>
              <a:srgbClr val="FFFFFF"/>
            </a:solidFill>
            <a:prstDash val="solid"/>
          </a:ln>
        </p:spPr>
      </p:sp>
      <p:sp>
        <p:nvSpPr>
          <p:cNvPr id="31" name="Shape 29"/>
          <p:cNvSpPr/>
          <p:nvPr/>
        </p:nvSpPr>
        <p:spPr>
          <a:xfrm>
            <a:off x="2394394" y="3640482"/>
            <a:ext cx="82296" cy="82296"/>
          </a:xfrm>
          <a:prstGeom prst="ellipse">
            <a:avLst/>
          </a:prstGeom>
          <a:solidFill>
            <a:srgbClr val="1C7293"/>
          </a:solidFill>
          <a:ln w="6350">
            <a:solidFill>
              <a:srgbClr val="FFFFFF"/>
            </a:solidFill>
            <a:prstDash val="solid"/>
          </a:ln>
        </p:spPr>
      </p:sp>
      <p:sp>
        <p:nvSpPr>
          <p:cNvPr id="32" name="Shape 30"/>
          <p:cNvSpPr/>
          <p:nvPr/>
        </p:nvSpPr>
        <p:spPr>
          <a:xfrm>
            <a:off x="2102598" y="3978847"/>
            <a:ext cx="82296" cy="82296"/>
          </a:xfrm>
          <a:prstGeom prst="ellipse">
            <a:avLst/>
          </a:prstGeom>
          <a:solidFill>
            <a:srgbClr val="1C7293"/>
          </a:solidFill>
          <a:ln w="6350">
            <a:solidFill>
              <a:srgbClr val="FFFFFF"/>
            </a:solidFill>
            <a:prstDash val="solid"/>
          </a:ln>
        </p:spPr>
      </p:sp>
      <p:sp>
        <p:nvSpPr>
          <p:cNvPr id="33" name="Shape 31"/>
          <p:cNvSpPr/>
          <p:nvPr/>
        </p:nvSpPr>
        <p:spPr>
          <a:xfrm>
            <a:off x="2320569" y="3840425"/>
            <a:ext cx="82296" cy="82296"/>
          </a:xfrm>
          <a:prstGeom prst="ellipse">
            <a:avLst/>
          </a:prstGeom>
          <a:solidFill>
            <a:srgbClr val="1C7293"/>
          </a:solidFill>
          <a:ln w="6350">
            <a:solidFill>
              <a:srgbClr val="FFFFFF"/>
            </a:solidFill>
            <a:prstDash val="solid"/>
          </a:ln>
        </p:spPr>
      </p:sp>
      <p:sp>
        <p:nvSpPr>
          <p:cNvPr id="34" name="Shape 32"/>
          <p:cNvSpPr/>
          <p:nvPr/>
        </p:nvSpPr>
        <p:spPr>
          <a:xfrm>
            <a:off x="2011913" y="4178790"/>
            <a:ext cx="82296" cy="82296"/>
          </a:xfrm>
          <a:prstGeom prst="ellipse">
            <a:avLst/>
          </a:prstGeom>
          <a:solidFill>
            <a:srgbClr val="1C7293"/>
          </a:solidFill>
          <a:ln w="6350">
            <a:solidFill>
              <a:srgbClr val="FFFFFF"/>
            </a:solidFill>
            <a:prstDash val="solid"/>
          </a:ln>
        </p:spPr>
      </p:sp>
      <p:sp>
        <p:nvSpPr>
          <p:cNvPr id="35" name="Shape 33"/>
          <p:cNvSpPr/>
          <p:nvPr/>
        </p:nvSpPr>
        <p:spPr>
          <a:xfrm>
            <a:off x="896112" y="4325112"/>
            <a:ext cx="128016" cy="128016"/>
          </a:xfrm>
          <a:prstGeom prst="ellipse">
            <a:avLst/>
          </a:prstGeom>
          <a:solidFill>
            <a:srgbClr val="F2C14E"/>
          </a:solidFill>
          <a:ln w="6350">
            <a:solidFill>
              <a:srgbClr val="FFFFFF"/>
            </a:solidFill>
            <a:prstDash val="solid"/>
          </a:ln>
        </p:spPr>
      </p:sp>
      <p:sp>
        <p:nvSpPr>
          <p:cNvPr id="36" name="Text 34"/>
          <p:cNvSpPr txBox="1"/>
          <p:nvPr/>
        </p:nvSpPr>
        <p:spPr>
          <a:xfrm>
            <a:off x="1051560" y="4096512"/>
            <a:ext cx="1280160" cy="201168"/>
          </a:xfrm>
          <a:prstGeom prst="rect">
            <a:avLst/>
          </a:prstGeom>
          <a:noFill/>
          <a:ln/>
        </p:spPr>
        <p:txBody>
          <a:bodyPr wrap="square" lIns="0" tIns="0" rIns="0" bIns="0" rtlCol="0" anchor="ctr"/>
          <a:lstStyle/>
          <a:p>
            <a:pPr indent="0" marL="0">
              <a:buNone/>
            </a:pPr>
            <a:r>
              <a:rPr lang="en-US" sz="750" b="1" dirty="0">
                <a:solidFill>
                  <a:srgbClr val="1B2430"/>
                </a:solidFill>
                <a:latin typeface="Calibri" pitchFamily="34" charset="0"/>
                <a:ea typeface="Calibri" pitchFamily="34" charset="-122"/>
                <a:cs typeface="Calibri" pitchFamily="34" charset="-120"/>
              </a:rPr>
              <a:t>anchor (x, y, z, t)</a:t>
            </a:r>
            <a:endParaRPr lang="en-US" sz="750" dirty="0"/>
          </a:p>
        </p:txBody>
      </p:sp>
      <p:sp>
        <p:nvSpPr>
          <p:cNvPr id="37" name="Shape 35"/>
          <p:cNvSpPr/>
          <p:nvPr/>
        </p:nvSpPr>
        <p:spPr>
          <a:xfrm>
            <a:off x="978408" y="4407408"/>
            <a:ext cx="73152" cy="73152"/>
          </a:xfrm>
          <a:prstGeom prst="ellipse">
            <a:avLst/>
          </a:prstGeom>
          <a:solidFill>
            <a:srgbClr val="2E86AB">
              <a:alpha val="80000"/>
            </a:srgbClr>
          </a:solidFill>
          <a:ln w="12700">
            <a:solidFill>
              <a:srgbClr val="333333"/>
            </a:solidFill>
            <a:prstDash val="solid"/>
          </a:ln>
        </p:spPr>
      </p:sp>
      <p:sp>
        <p:nvSpPr>
          <p:cNvPr id="38" name="Shape 36"/>
          <p:cNvSpPr/>
          <p:nvPr/>
        </p:nvSpPr>
        <p:spPr>
          <a:xfrm>
            <a:off x="1024128" y="4453128"/>
            <a:ext cx="73152" cy="73152"/>
          </a:xfrm>
          <a:prstGeom prst="ellipse">
            <a:avLst/>
          </a:prstGeom>
          <a:solidFill>
            <a:srgbClr val="2E86AB">
              <a:alpha val="65000"/>
            </a:srgbClr>
          </a:solidFill>
          <a:ln w="12700">
            <a:solidFill>
              <a:srgbClr val="333333"/>
            </a:solidFill>
            <a:prstDash val="solid"/>
          </a:ln>
        </p:spPr>
      </p:sp>
      <p:sp>
        <p:nvSpPr>
          <p:cNvPr id="39" name="Shape 37"/>
          <p:cNvSpPr/>
          <p:nvPr/>
        </p:nvSpPr>
        <p:spPr>
          <a:xfrm>
            <a:off x="1069848" y="4498848"/>
            <a:ext cx="73152" cy="73152"/>
          </a:xfrm>
          <a:prstGeom prst="ellipse">
            <a:avLst/>
          </a:prstGeom>
          <a:solidFill>
            <a:srgbClr val="2E86AB">
              <a:alpha val="50000"/>
            </a:srgbClr>
          </a:solidFill>
          <a:ln w="12700">
            <a:solidFill>
              <a:srgbClr val="333333"/>
            </a:solidFill>
            <a:prstDash val="solid"/>
          </a:ln>
        </p:spPr>
      </p:sp>
      <p:sp>
        <p:nvSpPr>
          <p:cNvPr id="40" name="Shape 38"/>
          <p:cNvSpPr/>
          <p:nvPr/>
        </p:nvSpPr>
        <p:spPr>
          <a:xfrm>
            <a:off x="1115568" y="4544568"/>
            <a:ext cx="73152" cy="73152"/>
          </a:xfrm>
          <a:prstGeom prst="ellipse">
            <a:avLst/>
          </a:prstGeom>
          <a:solidFill>
            <a:srgbClr val="2E86AB">
              <a:alpha val="35000"/>
            </a:srgbClr>
          </a:solidFill>
          <a:ln w="12700">
            <a:solidFill>
              <a:srgbClr val="333333"/>
            </a:solidFill>
            <a:prstDash val="solid"/>
          </a:ln>
        </p:spPr>
      </p:sp>
      <p:sp>
        <p:nvSpPr>
          <p:cNvPr id="41" name="Text 39"/>
          <p:cNvSpPr txBox="1"/>
          <p:nvPr/>
        </p:nvSpPr>
        <p:spPr>
          <a:xfrm>
            <a:off x="1234440" y="4462272"/>
            <a:ext cx="1371600" cy="292608"/>
          </a:xfrm>
          <a:prstGeom prst="rect">
            <a:avLst/>
          </a:prstGeom>
          <a:noFill/>
          <a:ln/>
        </p:spPr>
        <p:txBody>
          <a:bodyPr wrap="square" lIns="0" tIns="0" rIns="0" bIns="0" rtlCol="0" anchor="ctr"/>
          <a:lstStyle/>
          <a:p>
            <a:pPr indent="0" marL="0">
              <a:buNone/>
            </a:pPr>
            <a:r>
              <a:rPr lang="en-US" sz="650" i="1" dirty="0">
                <a:solidFill>
                  <a:srgbClr val="6B7A8F"/>
                </a:solidFill>
                <a:latin typeface="Calibri" pitchFamily="34" charset="0"/>
                <a:ea typeface="Calibri" pitchFamily="34" charset="-122"/>
                <a:cs typeface="Calibri" pitchFamily="34" charset="-120"/>
              </a:rPr>
              <a:t>depth dots</a:t>
            </a:r>
            <a:endParaRPr lang="en-US" sz="650" dirty="0"/>
          </a:p>
          <a:p>
            <a:pPr indent="0" marL="0">
              <a:buNone/>
            </a:pPr>
            <a:r>
              <a:rPr lang="en-US" sz="650" i="1" dirty="0">
                <a:solidFill>
                  <a:srgbClr val="6B7A8F"/>
                </a:solidFill>
                <a:latin typeface="Calibri" pitchFamily="34" charset="0"/>
                <a:ea typeface="Calibri" pitchFamily="34" charset="-122"/>
                <a:cs typeface="Calibri" pitchFamily="34" charset="-120"/>
              </a:rPr>
              <a:t>(profiles as they are)</a:t>
            </a:r>
            <a:endParaRPr lang="en-US" sz="650" dirty="0"/>
          </a:p>
        </p:txBody>
      </p:sp>
      <p:sp>
        <p:nvSpPr>
          <p:cNvPr id="42" name="Text 40"/>
          <p:cNvSpPr txBox="1"/>
          <p:nvPr/>
        </p:nvSpPr>
        <p:spPr>
          <a:xfrm>
            <a:off x="548640" y="4837176"/>
            <a:ext cx="3657600" cy="228600"/>
          </a:xfrm>
          <a:prstGeom prst="rect">
            <a:avLst/>
          </a:prstGeom>
          <a:noFill/>
          <a:ln/>
        </p:spPr>
        <p:txBody>
          <a:bodyPr wrap="square" lIns="0" tIns="0" rIns="0" bIns="0" rtlCol="0" anchor="ctr"/>
          <a:lstStyle/>
          <a:p>
            <a:pPr indent="0" marL="0">
              <a:buNone/>
            </a:pPr>
            <a:r>
              <a:rPr lang="en-US" sz="750" b="1" dirty="0">
                <a:solidFill>
                  <a:srgbClr val="E07A2F"/>
                </a:solidFill>
                <a:latin typeface="Calibri" pitchFamily="34" charset="0"/>
                <a:ea typeface="Calibri" pitchFamily="34" charset="-122"/>
                <a:cs typeface="Calibri" pitchFamily="34" charset="-120"/>
              </a:rPr>
              <a:t>wind (A) · </a:t>
            </a:r>
            <a:pPr indent="0" marL="0">
              <a:buNone/>
            </a:pPr>
            <a:r>
              <a:rPr lang="en-US" sz="750" b="1" dirty="0">
                <a:solidFill>
                  <a:srgbClr val="2E86AB"/>
                </a:solidFill>
                <a:latin typeface="Calibri" pitchFamily="34" charset="0"/>
                <a:ea typeface="Calibri" pitchFamily="34" charset="-122"/>
                <a:cs typeface="Calibri" pitchFamily="34" charset="-120"/>
              </a:rPr>
              <a:t>currents, SSH (B) · </a:t>
            </a:r>
            <a:pPr indent="0" marL="0">
              <a:buNone/>
            </a:pPr>
            <a:r>
              <a:rPr lang="en-US" sz="750" b="1" dirty="0">
                <a:solidFill>
                  <a:srgbClr val="1C7293"/>
                </a:solidFill>
                <a:latin typeface="Calibri" pitchFamily="34" charset="0"/>
                <a:ea typeface="Calibri" pitchFamily="34" charset="-122"/>
                <a:cs typeface="Calibri" pitchFamily="34" charset="-120"/>
              </a:rPr>
              <a:t>SST (C)</a:t>
            </a:r>
            <a:pPr indent="0" marL="0">
              <a:buNone/>
            </a:pPr>
            <a:r>
              <a:rPr lang="en-US" sz="750" dirty="0">
                <a:solidFill>
                  <a:srgbClr val="6B7A8F"/>
                </a:solidFill>
                <a:latin typeface="Calibri" pitchFamily="34" charset="0"/>
                <a:ea typeface="Calibri" pitchFamily="34" charset="-122"/>
                <a:cs typeface="Calibri" pitchFamily="34" charset="-120"/>
              </a:rPr>
              <a:t> — each channel samples its own cone</a:t>
            </a:r>
            <a:endParaRPr lang="en-US" sz="750" dirty="0"/>
          </a:p>
        </p:txBody>
      </p:sp>
      <p:sp>
        <p:nvSpPr>
          <p:cNvPr id="43" name="Shape 41"/>
          <p:cNvSpPr/>
          <p:nvPr/>
        </p:nvSpPr>
        <p:spPr>
          <a:xfrm>
            <a:off x="4572000" y="1463040"/>
            <a:ext cx="3337560" cy="914400"/>
          </a:xfrm>
          <a:prstGeom prst="roundRect">
            <a:avLst>
              <a:gd name="adj" fmla="val 8000"/>
            </a:avLst>
          </a:prstGeom>
          <a:solidFill>
            <a:srgbClr val="EEF3F8"/>
          </a:solidFill>
          <a:ln w="15875">
            <a:solidFill>
              <a:srgbClr val="1B2430"/>
            </a:solidFill>
            <a:prstDash val="solid"/>
          </a:ln>
        </p:spPr>
      </p:sp>
      <p:sp>
        <p:nvSpPr>
          <p:cNvPr id="44" name="Text 42"/>
          <p:cNvSpPr txBox="1"/>
          <p:nvPr/>
        </p:nvSpPr>
        <p:spPr>
          <a:xfrm>
            <a:off x="4681728" y="1527048"/>
            <a:ext cx="3118104" cy="804672"/>
          </a:xfrm>
          <a:prstGeom prst="rect">
            <a:avLst/>
          </a:prstGeom>
          <a:noFill/>
          <a:ln/>
        </p:spPr>
        <p:txBody>
          <a:bodyPr wrap="square" lIns="0" tIns="0" rIns="0" bIns="0" rtlCol="0" anchor="t"/>
          <a:lstStyle/>
          <a:p>
            <a:pPr indent="0" marL="0">
              <a:buNone/>
            </a:pPr>
            <a:r>
              <a:rPr lang="en-US" sz="1000" b="1" dirty="0">
                <a:solidFill>
                  <a:srgbClr val="1B2430"/>
                </a:solidFill>
                <a:latin typeface="Calibri" pitchFamily="34" charset="0"/>
                <a:ea typeface="Calibri" pitchFamily="34" charset="-122"/>
                <a:cs typeface="Calibri" pitchFamily="34" charset="-120"/>
              </a:rPr>
              <a:t>1  Dot sampler (fixed by physics)</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Per channel group: stratified log-polar × log-lag draws inside the cone, slot budget from the family. Point, profile and track channels contribute their actual observations. Fine imagery arrives as tokens from the local codec. Missing dots are simply absent.</a:t>
            </a:r>
            <a:endParaRPr lang="en-US" sz="950" dirty="0"/>
          </a:p>
        </p:txBody>
      </p:sp>
      <p:sp>
        <p:nvSpPr>
          <p:cNvPr id="45" name="Shape 43"/>
          <p:cNvSpPr/>
          <p:nvPr/>
        </p:nvSpPr>
        <p:spPr>
          <a:xfrm>
            <a:off x="4572000" y="2468880"/>
            <a:ext cx="3337560" cy="777240"/>
          </a:xfrm>
          <a:prstGeom prst="roundRect">
            <a:avLst>
              <a:gd name="adj" fmla="val 9412"/>
            </a:avLst>
          </a:prstGeom>
          <a:solidFill>
            <a:srgbClr val="EEF3F8"/>
          </a:solidFill>
          <a:ln w="15875">
            <a:solidFill>
              <a:srgbClr val="1B2430"/>
            </a:solidFill>
            <a:prstDash val="solid"/>
          </a:ln>
        </p:spPr>
      </p:sp>
      <p:sp>
        <p:nvSpPr>
          <p:cNvPr id="46" name="Text 44"/>
          <p:cNvSpPr txBox="1"/>
          <p:nvPr/>
        </p:nvSpPr>
        <p:spPr>
          <a:xfrm>
            <a:off x="4681728" y="2532888"/>
            <a:ext cx="3118104" cy="667512"/>
          </a:xfrm>
          <a:prstGeom prst="rect">
            <a:avLst/>
          </a:prstGeom>
          <a:noFill/>
          <a:ln/>
        </p:spPr>
        <p:txBody>
          <a:bodyPr wrap="square" lIns="0" tIns="0" rIns="0" bIns="0" rtlCol="0" anchor="t"/>
          <a:lstStyle/>
          <a:p>
            <a:pPr indent="0" marL="0">
              <a:buNone/>
            </a:pPr>
            <a:r>
              <a:rPr lang="en-US" sz="1000" b="1" dirty="0">
                <a:solidFill>
                  <a:srgbClr val="1B2430"/>
                </a:solidFill>
                <a:latin typeface="Calibri" pitchFamily="34" charset="0"/>
                <a:ea typeface="Calibri" pitchFamily="34" charset="-122"/>
                <a:cs typeface="Calibri" pitchFamily="34" charset="-120"/>
              </a:rPr>
              <a:t>2  Dot → token</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value embedding + Fourier features of (Δx, Δy in km, z in m, ℓ in days — all log) + channel embedding + source flag (observed swath / point / L4 / reanalysis / model / local token).</a:t>
            </a:r>
            <a:endParaRPr lang="en-US" sz="950" dirty="0"/>
          </a:p>
        </p:txBody>
      </p:sp>
      <p:sp>
        <p:nvSpPr>
          <p:cNvPr id="47" name="Shape 45"/>
          <p:cNvSpPr/>
          <p:nvPr/>
        </p:nvSpPr>
        <p:spPr>
          <a:xfrm>
            <a:off x="4572000" y="3337560"/>
            <a:ext cx="3337560" cy="914400"/>
          </a:xfrm>
          <a:prstGeom prst="roundRect">
            <a:avLst>
              <a:gd name="adj" fmla="val 8000"/>
            </a:avLst>
          </a:prstGeom>
          <a:solidFill>
            <a:srgbClr val="EEF3F8"/>
          </a:solidFill>
          <a:ln w="15875">
            <a:solidFill>
              <a:srgbClr val="6A4C93"/>
            </a:solidFill>
            <a:prstDash val="solid"/>
          </a:ln>
        </p:spPr>
      </p:sp>
      <p:sp>
        <p:nvSpPr>
          <p:cNvPr id="48" name="Text 46"/>
          <p:cNvSpPr txBox="1"/>
          <p:nvPr/>
        </p:nvSpPr>
        <p:spPr>
          <a:xfrm>
            <a:off x="4681728" y="3401568"/>
            <a:ext cx="3118104" cy="804672"/>
          </a:xfrm>
          <a:prstGeom prst="rect">
            <a:avLst/>
          </a:prstGeom>
          <a:noFill/>
          <a:ln/>
        </p:spPr>
        <p:txBody>
          <a:bodyPr wrap="square" lIns="0" tIns="0" rIns="0" bIns="0" rtlCol="0" anchor="t"/>
          <a:lstStyle/>
          <a:p>
            <a:pPr indent="0" marL="0">
              <a:buNone/>
            </a:pPr>
            <a:r>
              <a:rPr lang="en-US" sz="1000" b="1" dirty="0">
                <a:solidFill>
                  <a:srgbClr val="6A4C93"/>
                </a:solidFill>
                <a:latin typeface="Calibri" pitchFamily="34" charset="0"/>
                <a:ea typeface="Calibri" pitchFamily="34" charset="-122"/>
                <a:cs typeface="Calibri" pitchFamily="34" charset="-120"/>
              </a:rPr>
              <a:t>3  Encoder (Perceiver-style)</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K = 128–256 latents cross-attend to N ≈ 2,000–4,000 dots, then 4–8 self-attention blocks over the latents. Cost O(N·K), a few GFLOPs per anchor — below one ViT-Base image forward (≈ 17 GFLOPs).</a:t>
            </a:r>
            <a:endParaRPr lang="en-US" sz="950" dirty="0"/>
          </a:p>
        </p:txBody>
      </p:sp>
      <p:sp>
        <p:nvSpPr>
          <p:cNvPr id="49" name="Shape 47"/>
          <p:cNvSpPr/>
          <p:nvPr/>
        </p:nvSpPr>
        <p:spPr>
          <a:xfrm>
            <a:off x="4572000" y="4343400"/>
            <a:ext cx="3337560" cy="548640"/>
          </a:xfrm>
          <a:prstGeom prst="roundRect">
            <a:avLst>
              <a:gd name="adj" fmla="val 13333"/>
            </a:avLst>
          </a:prstGeom>
          <a:solidFill>
            <a:srgbClr val="EEF3F8"/>
          </a:solidFill>
          <a:ln w="15875">
            <a:solidFill>
              <a:srgbClr val="6A4C93"/>
            </a:solidFill>
            <a:prstDash val="solid"/>
          </a:ln>
        </p:spPr>
      </p:sp>
      <p:sp>
        <p:nvSpPr>
          <p:cNvPr id="50" name="Text 48"/>
          <p:cNvSpPr txBox="1"/>
          <p:nvPr/>
        </p:nvSpPr>
        <p:spPr>
          <a:xfrm>
            <a:off x="4681728" y="4407408"/>
            <a:ext cx="3118104" cy="438912"/>
          </a:xfrm>
          <a:prstGeom prst="rect">
            <a:avLst/>
          </a:prstGeom>
          <a:noFill/>
          <a:ln/>
        </p:spPr>
        <p:txBody>
          <a:bodyPr wrap="square" lIns="0" tIns="0" rIns="0" bIns="0" rtlCol="0" anchor="t"/>
          <a:lstStyle/>
          <a:p>
            <a:pPr indent="0" marL="0">
              <a:buNone/>
            </a:pPr>
            <a:r>
              <a:rPr lang="en-US" sz="1000" b="1" dirty="0">
                <a:solidFill>
                  <a:srgbClr val="6A4C93"/>
                </a:solidFill>
                <a:latin typeface="Calibri" pitchFamily="34" charset="0"/>
                <a:ea typeface="Calibri" pitchFamily="34" charset="-122"/>
                <a:cs typeface="Calibri" pitchFamily="34" charset="-120"/>
              </a:rPr>
              <a:t>4  Pool → e_dyn (256-D, int8)</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the dynamic embedding: the state at the anchor, with its tendency and its context.</a:t>
            </a:r>
            <a:endParaRPr lang="en-US" sz="950" dirty="0"/>
          </a:p>
        </p:txBody>
      </p:sp>
      <p:sp>
        <p:nvSpPr>
          <p:cNvPr id="51" name="Shape 49"/>
          <p:cNvSpPr/>
          <p:nvPr/>
        </p:nvSpPr>
        <p:spPr>
          <a:xfrm flipV="1">
            <a:off x="4206240" y="1920240"/>
            <a:ext cx="365760" cy="1211580"/>
          </a:xfrm>
          <a:prstGeom prst="line">
            <a:avLst/>
          </a:prstGeom>
          <a:noFill/>
          <a:ln w="15875">
            <a:solidFill>
              <a:srgbClr val="6B7A8F"/>
            </a:solidFill>
            <a:prstDash val="solid"/>
            <a:tailEnd type="triangle"/>
          </a:ln>
        </p:spPr>
      </p:sp>
      <p:sp>
        <p:nvSpPr>
          <p:cNvPr id="52" name="Shape 50"/>
          <p:cNvSpPr/>
          <p:nvPr/>
        </p:nvSpPr>
        <p:spPr>
          <a:xfrm>
            <a:off x="6240780" y="2377440"/>
            <a:ext cx="0" cy="91440"/>
          </a:xfrm>
          <a:prstGeom prst="line">
            <a:avLst/>
          </a:prstGeom>
          <a:noFill/>
          <a:ln w="15875">
            <a:solidFill>
              <a:srgbClr val="6B7A8F"/>
            </a:solidFill>
            <a:prstDash val="solid"/>
            <a:tailEnd type="triangle"/>
          </a:ln>
        </p:spPr>
      </p:sp>
      <p:sp>
        <p:nvSpPr>
          <p:cNvPr id="53" name="Shape 51"/>
          <p:cNvSpPr/>
          <p:nvPr/>
        </p:nvSpPr>
        <p:spPr>
          <a:xfrm>
            <a:off x="6240780" y="3246120"/>
            <a:ext cx="0" cy="91440"/>
          </a:xfrm>
          <a:prstGeom prst="line">
            <a:avLst/>
          </a:prstGeom>
          <a:noFill/>
          <a:ln w="15875">
            <a:solidFill>
              <a:srgbClr val="6B7A8F"/>
            </a:solidFill>
            <a:prstDash val="solid"/>
            <a:tailEnd type="triangle"/>
          </a:ln>
        </p:spPr>
      </p:sp>
      <p:sp>
        <p:nvSpPr>
          <p:cNvPr id="54" name="Shape 52"/>
          <p:cNvSpPr/>
          <p:nvPr/>
        </p:nvSpPr>
        <p:spPr>
          <a:xfrm>
            <a:off x="6240780" y="4251960"/>
            <a:ext cx="0" cy="91440"/>
          </a:xfrm>
          <a:prstGeom prst="line">
            <a:avLst/>
          </a:prstGeom>
          <a:noFill/>
          <a:ln w="15875">
            <a:solidFill>
              <a:srgbClr val="6B7A8F"/>
            </a:solidFill>
            <a:prstDash val="solid"/>
            <a:tailEnd type="triangle"/>
          </a:ln>
        </p:spPr>
      </p:sp>
      <p:sp>
        <p:nvSpPr>
          <p:cNvPr id="55" name="Shape 53"/>
          <p:cNvSpPr/>
          <p:nvPr/>
        </p:nvSpPr>
        <p:spPr>
          <a:xfrm>
            <a:off x="8138160" y="1463040"/>
            <a:ext cx="3474720" cy="3337560"/>
          </a:xfrm>
          <a:prstGeom prst="roundRect">
            <a:avLst>
              <a:gd name="adj" fmla="val 2192"/>
            </a:avLst>
          </a:prstGeom>
          <a:solidFill>
            <a:srgbClr val="FFF6EE"/>
          </a:solidFill>
          <a:ln w="15875">
            <a:solidFill>
              <a:srgbClr val="E07A2F"/>
            </a:solidFill>
            <a:prstDash val="solid"/>
          </a:ln>
        </p:spPr>
      </p:sp>
      <p:sp>
        <p:nvSpPr>
          <p:cNvPr id="56" name="Text 54"/>
          <p:cNvSpPr txBox="1"/>
          <p:nvPr/>
        </p:nvSpPr>
        <p:spPr>
          <a:xfrm>
            <a:off x="8275320" y="1536192"/>
            <a:ext cx="3246120" cy="3200400"/>
          </a:xfrm>
          <a:prstGeom prst="rect">
            <a:avLst/>
          </a:prstGeom>
          <a:noFill/>
          <a:ln/>
        </p:spPr>
        <p:txBody>
          <a:bodyPr wrap="square" lIns="0" tIns="0" rIns="0" bIns="0" rtlCol="0" anchor="t"/>
          <a:lstStyle/>
          <a:p>
            <a:pPr indent="0" marL="0">
              <a:spcAft>
                <a:spcPts val="400"/>
              </a:spcAft>
              <a:buNone/>
            </a:pPr>
            <a:r>
              <a:rPr lang="en-US" sz="1000" b="1" dirty="0">
                <a:solidFill>
                  <a:srgbClr val="E07A2F"/>
                </a:solidFill>
                <a:latin typeface="Calibri" pitchFamily="34" charset="0"/>
                <a:ea typeface="Calibri" pitchFamily="34" charset="-122"/>
                <a:cs typeface="Calibri" pitchFamily="34" charset="-120"/>
              </a:rPr>
              <a:t>5  Objective: masked dots, including the future</a:t>
            </a:r>
            <a:endParaRPr lang="en-US" sz="950" dirty="0"/>
          </a:p>
          <a:p>
            <a:pPr indent="0" marL="0">
              <a:spcAft>
                <a:spcPts val="400"/>
              </a:spcAft>
              <a:buNone/>
            </a:pPr>
            <a:r>
              <a:rPr lang="en-US" sz="850" dirty="0">
                <a:solidFill>
                  <a:srgbClr val="1B2430"/>
                </a:solidFill>
                <a:latin typeface="Calibri" pitchFamily="34" charset="0"/>
                <a:ea typeface="Calibri" pitchFamily="34" charset="-122"/>
                <a:cs typeface="Calibri" pitchFamily="34" charset="-120"/>
              </a:rPr>
              <a:t>A held-out dot is a query token (coordinates + channel, no value); a light decoder cross-attends from queries to the latents and predicts a distribution (Gaussian or bins; NLL / CRPS). Masking schemes mixed per batch:</a:t>
            </a:r>
            <a:endParaRPr lang="en-US" sz="950" dirty="0"/>
          </a:p>
          <a:p>
            <a:pPr marL="342900" indent="-342900">
              <a:buSzPct val="100000"/>
              <a:buChar char="•"/>
            </a:pPr>
            <a:r>
              <a:rPr lang="en-US" sz="850" dirty="0">
                <a:solidFill>
                  <a:srgbClr val="1B2430"/>
                </a:solidFill>
                <a:latin typeface="Calibri" pitchFamily="34" charset="0"/>
                <a:ea typeface="Calibri" pitchFamily="34" charset="-122"/>
                <a:cs typeface="Calibri" pitchFamily="34" charset="-120"/>
              </a:rPr>
              <a:t>channel drop — remove a whole channel group (derived ones more often)</a:t>
            </a:r>
            <a:endParaRPr lang="en-US" sz="950" dirty="0"/>
          </a:p>
          <a:p>
            <a:pPr marL="342900" indent="-342900">
              <a:buSzPct val="100000"/>
              <a:buChar char="•"/>
            </a:pPr>
            <a:r>
              <a:rPr lang="en-US" sz="850" dirty="0">
                <a:solidFill>
                  <a:srgbClr val="1B2430"/>
                </a:solidFill>
                <a:latin typeface="Calibri" pitchFamily="34" charset="0"/>
                <a:ea typeface="Calibri" pitchFamily="34" charset="-122"/>
                <a:cs typeface="Calibri" pitchFamily="34" charset="-120"/>
              </a:rPr>
              <a:t>lag-band drop — hide the recent past, predict it from the older past = forecasting inside pretraining</a:t>
            </a:r>
            <a:endParaRPr lang="en-US" sz="950" dirty="0"/>
          </a:p>
          <a:p>
            <a:pPr marL="342900" indent="-342900">
              <a:buSzPct val="100000"/>
              <a:buChar char="•"/>
            </a:pPr>
            <a:r>
              <a:rPr lang="en-US" sz="850" dirty="0">
                <a:solidFill>
                  <a:srgbClr val="1B2430"/>
                </a:solidFill>
                <a:latin typeface="Calibri" pitchFamily="34" charset="0"/>
                <a:ea typeface="Calibri" pitchFamily="34" charset="-122"/>
                <a:cs typeface="Calibri" pitchFamily="34" charset="-120"/>
              </a:rPr>
              <a:t>future dots — queries at negative lags; the embedding becomes state + tendency</a:t>
            </a:r>
            <a:endParaRPr lang="en-US" sz="950" dirty="0"/>
          </a:p>
          <a:p>
            <a:pPr marL="342900" indent="-342900">
              <a:buSzPct val="100000"/>
              <a:buChar char="•"/>
            </a:pPr>
            <a:r>
              <a:rPr lang="en-US" sz="850" dirty="0">
                <a:solidFill>
                  <a:srgbClr val="1B2430"/>
                </a:solidFill>
                <a:latin typeface="Calibri" pitchFamily="34" charset="0"/>
                <a:ea typeface="Calibri" pitchFamily="34" charset="-122"/>
                <a:cs typeface="Calibri" pitchFamily="34" charset="-120"/>
              </a:rPr>
              <a:t>sector drop — hide upstream; depth-band drop — predict interior from surface and back</a:t>
            </a:r>
            <a:endParaRPr lang="en-US" sz="950" dirty="0"/>
          </a:p>
          <a:p>
            <a:pPr marL="342900" indent="-342900">
              <a:spcAft>
                <a:spcPts val="400"/>
              </a:spcAft>
              <a:buSzPct val="100000"/>
              <a:buChar char="•"/>
            </a:pPr>
            <a:r>
              <a:rPr lang="en-US" sz="850" dirty="0">
                <a:solidFill>
                  <a:srgbClr val="1B2430"/>
                </a:solidFill>
                <a:latin typeface="Calibri" pitchFamily="34" charset="0"/>
                <a:ea typeface="Calibri" pitchFamily="34" charset="-122"/>
                <a:cs typeface="Calibri" pitchFamily="34" charset="-120"/>
              </a:rPr>
              <a:t>anchor reconstruction — always predict the anchor's own channels</a:t>
            </a:r>
            <a:endParaRPr lang="en-US" sz="950" dirty="0"/>
          </a:p>
          <a:p>
            <a:pPr indent="0" marL="0">
              <a:buNone/>
            </a:pPr>
            <a:r>
              <a:rPr lang="en-US" sz="800" i="1" dirty="0">
                <a:solidFill>
                  <a:srgbClr val="6B7A8F"/>
                </a:solidFill>
                <a:latin typeface="Calibri" pitchFamily="34" charset="0"/>
                <a:ea typeface="Calibri" pitchFamily="34" charset="-122"/>
                <a:cs typeface="Calibri" pitchFamily="34" charset="-120"/>
              </a:rPr>
              <a:t>Never-measured vs masked survives on the target side: no loss where nothing was ever observed. Slow fields up-weighted (AIFS-ocean practice).</a:t>
            </a:r>
            <a:endParaRPr lang="en-US" sz="950" dirty="0"/>
          </a:p>
        </p:txBody>
      </p:sp>
      <p:sp>
        <p:nvSpPr>
          <p:cNvPr id="57" name="Text 55"/>
          <p:cNvSpPr txBox="1"/>
          <p:nvPr/>
        </p:nvSpPr>
        <p:spPr>
          <a:xfrm>
            <a:off x="548640" y="5257800"/>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Why a set encoder and not a 4-D transformer over (x, y, z, t) grids: the input is ragged — a profile here, a swath there, a 10 m tile in the corner — and the cone is not a box. A set of dots handles both without padding, and retires the 'never-measured vs masked' distinction on the input side. Two products per anchor: an NRT embedding (observations + near-real-time streams) and a final one, exactly as ERA5T and ERA5; because the cone only looks backwards, an embedding is final once its sources have arrived and never needs recomputing.</a:t>
            </a:r>
            <a:endParaRPr lang="en-US" sz="850" dirty="0"/>
          </a:p>
        </p:txBody>
      </p:sp>
      <p:sp>
        <p:nvSpPr>
          <p:cNvPr id="58" name="Text 5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Where velocity comes from — two dots of the same field at two lags</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A photograph does not show speed; two photographs a known time apart do. Attention over dots with relative coordinates can implement feature tracking.</a:t>
            </a:r>
            <a:endParaRPr lang="en-US" sz="1250" dirty="0"/>
          </a:p>
        </p:txBody>
      </p:sp>
      <p:sp>
        <p:nvSpPr>
          <p:cNvPr id="4" name="Shape 2"/>
          <p:cNvSpPr/>
          <p:nvPr/>
        </p:nvSpPr>
        <p:spPr>
          <a:xfrm>
            <a:off x="548640" y="1463040"/>
            <a:ext cx="4754880" cy="4663440"/>
          </a:xfrm>
          <a:prstGeom prst="rect">
            <a:avLst/>
          </a:prstGeom>
          <a:solidFill>
            <a:srgbClr val="FBFCFD"/>
          </a:solidFill>
          <a:ln w="6350">
            <a:solidFill>
              <a:srgbClr val="B8C4D3"/>
            </a:solidFill>
            <a:prstDash val="solid"/>
          </a:ln>
        </p:spPr>
      </p:sp>
      <p:sp>
        <p:nvSpPr>
          <p:cNvPr id="5" name="Shape 3"/>
          <p:cNvSpPr/>
          <p:nvPr/>
        </p:nvSpPr>
        <p:spPr>
          <a:xfrm>
            <a:off x="1051560" y="5669280"/>
            <a:ext cx="3977640" cy="0"/>
          </a:xfrm>
          <a:prstGeom prst="line">
            <a:avLst/>
          </a:prstGeom>
          <a:noFill/>
          <a:ln w="12700">
            <a:solidFill>
              <a:srgbClr val="1B2430"/>
            </a:solidFill>
            <a:prstDash val="solid"/>
            <a:tailEnd type="triangle"/>
          </a:ln>
        </p:spPr>
      </p:sp>
      <p:sp>
        <p:nvSpPr>
          <p:cNvPr id="6" name="Shape 4"/>
          <p:cNvSpPr/>
          <p:nvPr/>
        </p:nvSpPr>
        <p:spPr>
          <a:xfrm flipV="1">
            <a:off x="1051560" y="1783080"/>
            <a:ext cx="0" cy="3886200"/>
          </a:xfrm>
          <a:prstGeom prst="line">
            <a:avLst/>
          </a:prstGeom>
          <a:noFill/>
          <a:ln w="12700">
            <a:solidFill>
              <a:srgbClr val="1B2430"/>
            </a:solidFill>
            <a:prstDash val="solid"/>
            <a:tailEnd type="triangle"/>
          </a:ln>
        </p:spPr>
      </p:sp>
      <p:sp>
        <p:nvSpPr>
          <p:cNvPr id="7" name="Text 5"/>
          <p:cNvSpPr txBox="1"/>
          <p:nvPr/>
        </p:nvSpPr>
        <p:spPr>
          <a:xfrm>
            <a:off x="1051560" y="5715000"/>
            <a:ext cx="3977640" cy="228600"/>
          </a:xfrm>
          <a:prstGeom prst="rect">
            <a:avLst/>
          </a:prstGeom>
          <a:noFill/>
          <a:ln/>
        </p:spPr>
        <p:txBody>
          <a:bodyPr wrap="square" lIns="0" tIns="0" rIns="0" bIns="0" rtlCol="0" anchor="ctr"/>
          <a:lstStyle/>
          <a:p>
            <a:pPr algn="ctr" indent="0" marL="0">
              <a:buNone/>
            </a:pPr>
            <a:r>
              <a:rPr lang="en-US" sz="750" dirty="0">
                <a:solidFill>
                  <a:srgbClr val="6B7A8F"/>
                </a:solidFill>
                <a:latin typeface="Calibri" pitchFamily="34" charset="0"/>
                <a:ea typeface="Calibri" pitchFamily="34" charset="-122"/>
                <a:cs typeface="Calibri" pitchFamily="34" charset="-120"/>
              </a:rPr>
              <a:t>position x (upstream ← → downstream)</a:t>
            </a:r>
            <a:endParaRPr lang="en-US" sz="750" dirty="0"/>
          </a:p>
        </p:txBody>
      </p:sp>
      <p:sp>
        <p:nvSpPr>
          <p:cNvPr id="8" name="Text 6"/>
          <p:cNvSpPr txBox="1"/>
          <p:nvPr/>
        </p:nvSpPr>
        <p:spPr>
          <a:xfrm rot="16200000">
            <a:off x="-137160" y="3616452"/>
            <a:ext cx="2011680" cy="228600"/>
          </a:xfrm>
          <a:prstGeom prst="rect">
            <a:avLst/>
          </a:prstGeom>
          <a:noFill/>
          <a:ln/>
        </p:spPr>
        <p:txBody>
          <a:bodyPr wrap="square" lIns="0" tIns="0" rIns="0" bIns="0" rtlCol="0" anchor="ctr"/>
          <a:lstStyle/>
          <a:p>
            <a:pPr algn="ctr" indent="0" marL="0">
              <a:buNone/>
            </a:pPr>
            <a:r>
              <a:rPr lang="en-US" sz="750" dirty="0">
                <a:solidFill>
                  <a:srgbClr val="6B7A8F"/>
                </a:solidFill>
                <a:latin typeface="Calibri" pitchFamily="34" charset="0"/>
                <a:ea typeface="Calibri" pitchFamily="34" charset="-122"/>
                <a:cs typeface="Calibri" pitchFamily="34" charset="-120"/>
              </a:rPr>
              <a:t>lag ℓ (past ↑, present at the bottom)</a:t>
            </a:r>
            <a:endParaRPr lang="en-US" sz="750" dirty="0"/>
          </a:p>
        </p:txBody>
      </p:sp>
      <p:sp>
        <p:nvSpPr>
          <p:cNvPr id="9" name="Shape 7"/>
          <p:cNvSpPr/>
          <p:nvPr/>
        </p:nvSpPr>
        <p:spPr>
          <a:xfrm>
            <a:off x="1051560" y="1783080"/>
            <a:ext cx="3977640" cy="3886200"/>
          </a:xfrm>
          <a:custGeom>
            <a:avLst/>
            <a:gdLst/>
            <a:ahLst/>
            <a:cxnLst/>
            <a:rect l="l" t="t" r="r" b="b"/>
            <a:pathLst>
              <a:path w="3977640" h="3886200">
                <a:moveTo>
                  <a:pt x="318211" y="0"/>
                </a:moveTo>
                <a:lnTo>
                  <a:pt x="875081" y="0"/>
                </a:lnTo>
                <a:lnTo>
                  <a:pt x="2863901" y="3886200"/>
                </a:lnTo>
                <a:lnTo>
                  <a:pt x="2307031" y="3886200"/>
                </a:lnTo>
                <a:close/>
              </a:path>
            </a:pathLst>
          </a:custGeom>
          <a:solidFill>
            <a:srgbClr val="1C7293">
              <a:alpha val="45000"/>
            </a:srgbClr>
          </a:solidFill>
          <a:ln w="12700">
            <a:solidFill>
              <a:srgbClr val="333333"/>
            </a:solidFill>
            <a:prstDash val="solid"/>
          </a:ln>
        </p:spPr>
      </p:sp>
      <p:sp>
        <p:nvSpPr>
          <p:cNvPr id="10" name="Shape 8"/>
          <p:cNvSpPr/>
          <p:nvPr/>
        </p:nvSpPr>
        <p:spPr>
          <a:xfrm>
            <a:off x="1051560" y="1783080"/>
            <a:ext cx="3977640" cy="3886200"/>
          </a:xfrm>
          <a:custGeom>
            <a:avLst/>
            <a:gdLst/>
            <a:ahLst/>
            <a:cxnLst/>
            <a:rect l="l" t="t" r="r" b="b"/>
            <a:pathLst>
              <a:path w="3977640" h="3886200">
                <a:moveTo>
                  <a:pt x="1193292" y="0"/>
                </a:moveTo>
                <a:lnTo>
                  <a:pt x="1591056" y="0"/>
                </a:lnTo>
                <a:lnTo>
                  <a:pt x="3579876" y="3886200"/>
                </a:lnTo>
                <a:lnTo>
                  <a:pt x="3182112" y="3886200"/>
                </a:lnTo>
                <a:close/>
              </a:path>
            </a:pathLst>
          </a:custGeom>
          <a:solidFill>
            <a:srgbClr val="1C7293">
              <a:alpha val="30000"/>
            </a:srgbClr>
          </a:solidFill>
          <a:ln w="12700">
            <a:solidFill>
              <a:srgbClr val="333333"/>
            </a:solidFill>
            <a:prstDash val="solid"/>
          </a:ln>
        </p:spPr>
      </p:sp>
      <p:sp>
        <p:nvSpPr>
          <p:cNvPr id="11" name="Shape 9"/>
          <p:cNvSpPr/>
          <p:nvPr/>
        </p:nvSpPr>
        <p:spPr>
          <a:xfrm>
            <a:off x="3245663" y="5596128"/>
            <a:ext cx="146304" cy="146304"/>
          </a:xfrm>
          <a:prstGeom prst="ellipse">
            <a:avLst/>
          </a:prstGeom>
          <a:solidFill>
            <a:srgbClr val="F2C14E"/>
          </a:solidFill>
          <a:ln w="9525">
            <a:solidFill>
              <a:srgbClr val="FFFFFF"/>
            </a:solidFill>
            <a:prstDash val="solid"/>
          </a:ln>
        </p:spPr>
      </p:sp>
      <p:sp>
        <p:nvSpPr>
          <p:cNvPr id="12" name="Shape 10"/>
          <p:cNvSpPr/>
          <p:nvPr/>
        </p:nvSpPr>
        <p:spPr>
          <a:xfrm>
            <a:off x="1853489" y="2875788"/>
            <a:ext cx="146304" cy="146304"/>
          </a:xfrm>
          <a:prstGeom prst="ellipse">
            <a:avLst/>
          </a:prstGeom>
          <a:solidFill>
            <a:srgbClr val="2E86AB"/>
          </a:solidFill>
          <a:ln w="9525">
            <a:solidFill>
              <a:srgbClr val="FFFFFF"/>
            </a:solidFill>
            <a:prstDash val="solid"/>
          </a:ln>
        </p:spPr>
      </p:sp>
      <p:sp>
        <p:nvSpPr>
          <p:cNvPr id="13" name="Shape 11"/>
          <p:cNvSpPr/>
          <p:nvPr/>
        </p:nvSpPr>
        <p:spPr>
          <a:xfrm>
            <a:off x="1195578" y="2894076"/>
            <a:ext cx="109728" cy="109728"/>
          </a:xfrm>
          <a:prstGeom prst="ellipse">
            <a:avLst/>
          </a:prstGeom>
          <a:solidFill>
            <a:srgbClr val="B8C4D3"/>
          </a:solidFill>
          <a:ln w="9525">
            <a:solidFill>
              <a:srgbClr val="FFFFFF"/>
            </a:solidFill>
            <a:prstDash val="solid"/>
          </a:ln>
        </p:spPr>
      </p:sp>
      <p:sp>
        <p:nvSpPr>
          <p:cNvPr id="14" name="Shape 12"/>
          <p:cNvSpPr/>
          <p:nvPr/>
        </p:nvSpPr>
        <p:spPr>
          <a:xfrm>
            <a:off x="2667305" y="2894076"/>
            <a:ext cx="109728" cy="109728"/>
          </a:xfrm>
          <a:prstGeom prst="ellipse">
            <a:avLst/>
          </a:prstGeom>
          <a:solidFill>
            <a:srgbClr val="B8C4D3"/>
          </a:solidFill>
          <a:ln w="9525">
            <a:solidFill>
              <a:srgbClr val="FFFFFF"/>
            </a:solidFill>
            <a:prstDash val="solid"/>
          </a:ln>
        </p:spPr>
      </p:sp>
      <p:sp>
        <p:nvSpPr>
          <p:cNvPr id="15" name="Shape 13"/>
          <p:cNvSpPr/>
          <p:nvPr/>
        </p:nvSpPr>
        <p:spPr>
          <a:xfrm>
            <a:off x="3462833" y="2894076"/>
            <a:ext cx="109728" cy="109728"/>
          </a:xfrm>
          <a:prstGeom prst="ellipse">
            <a:avLst/>
          </a:prstGeom>
          <a:solidFill>
            <a:srgbClr val="B8C4D3"/>
          </a:solidFill>
          <a:ln w="9525">
            <a:solidFill>
              <a:srgbClr val="FFFFFF"/>
            </a:solidFill>
            <a:prstDash val="solid"/>
          </a:ln>
        </p:spPr>
      </p:sp>
      <p:sp>
        <p:nvSpPr>
          <p:cNvPr id="16" name="Shape 14"/>
          <p:cNvSpPr/>
          <p:nvPr/>
        </p:nvSpPr>
        <p:spPr>
          <a:xfrm>
            <a:off x="4178808" y="2894076"/>
            <a:ext cx="109728" cy="109728"/>
          </a:xfrm>
          <a:prstGeom prst="ellipse">
            <a:avLst/>
          </a:prstGeom>
          <a:solidFill>
            <a:srgbClr val="B8C4D3"/>
          </a:solidFill>
          <a:ln w="9525">
            <a:solidFill>
              <a:srgbClr val="FFFFFF"/>
            </a:solidFill>
            <a:prstDash val="solid"/>
          </a:ln>
        </p:spPr>
      </p:sp>
      <p:sp>
        <p:nvSpPr>
          <p:cNvPr id="17" name="Shape 15"/>
          <p:cNvSpPr/>
          <p:nvPr/>
        </p:nvSpPr>
        <p:spPr>
          <a:xfrm>
            <a:off x="2189988" y="4254246"/>
            <a:ext cx="109728" cy="109728"/>
          </a:xfrm>
          <a:prstGeom prst="ellipse">
            <a:avLst/>
          </a:prstGeom>
          <a:solidFill>
            <a:srgbClr val="B8C4D3"/>
          </a:solidFill>
          <a:ln w="9525">
            <a:solidFill>
              <a:srgbClr val="FFFFFF"/>
            </a:solidFill>
            <a:prstDash val="solid"/>
          </a:ln>
        </p:spPr>
      </p:sp>
      <p:sp>
        <p:nvSpPr>
          <p:cNvPr id="18" name="Shape 16"/>
          <p:cNvSpPr/>
          <p:nvPr/>
        </p:nvSpPr>
        <p:spPr>
          <a:xfrm>
            <a:off x="3184398" y="4254246"/>
            <a:ext cx="109728" cy="109728"/>
          </a:xfrm>
          <a:prstGeom prst="ellipse">
            <a:avLst/>
          </a:prstGeom>
          <a:solidFill>
            <a:srgbClr val="B8C4D3"/>
          </a:solidFill>
          <a:ln w="9525">
            <a:solidFill>
              <a:srgbClr val="FFFFFF"/>
            </a:solidFill>
            <a:prstDash val="solid"/>
          </a:ln>
        </p:spPr>
      </p:sp>
      <p:sp>
        <p:nvSpPr>
          <p:cNvPr id="19" name="Shape 17"/>
          <p:cNvSpPr/>
          <p:nvPr/>
        </p:nvSpPr>
        <p:spPr>
          <a:xfrm>
            <a:off x="4377690" y="4254246"/>
            <a:ext cx="109728" cy="109728"/>
          </a:xfrm>
          <a:prstGeom prst="ellipse">
            <a:avLst/>
          </a:prstGeom>
          <a:solidFill>
            <a:srgbClr val="B8C4D3"/>
          </a:solidFill>
          <a:ln w="9525">
            <a:solidFill>
              <a:srgbClr val="FFFFFF"/>
            </a:solidFill>
            <a:prstDash val="solid"/>
          </a:ln>
        </p:spPr>
      </p:sp>
      <p:sp>
        <p:nvSpPr>
          <p:cNvPr id="20" name="Shape 18"/>
          <p:cNvSpPr/>
          <p:nvPr/>
        </p:nvSpPr>
        <p:spPr>
          <a:xfrm>
            <a:off x="1926641" y="2948940"/>
            <a:ext cx="1392174" cy="2720340"/>
          </a:xfrm>
          <a:prstGeom prst="line">
            <a:avLst/>
          </a:prstGeom>
          <a:noFill/>
          <a:ln w="15875">
            <a:solidFill>
              <a:srgbClr val="2E86AB"/>
            </a:solidFill>
            <a:prstDash val="dash"/>
          </a:ln>
        </p:spPr>
      </p:sp>
      <p:sp>
        <p:nvSpPr>
          <p:cNvPr id="21" name="Shape 19"/>
          <p:cNvSpPr/>
          <p:nvPr/>
        </p:nvSpPr>
        <p:spPr>
          <a:xfrm>
            <a:off x="1926641" y="5961888"/>
            <a:ext cx="1392174" cy="0"/>
          </a:xfrm>
          <a:prstGeom prst="line">
            <a:avLst/>
          </a:prstGeom>
          <a:noFill/>
          <a:ln w="9525">
            <a:solidFill>
              <a:srgbClr val="1B2430"/>
            </a:solidFill>
            <a:prstDash val="solid"/>
            <a:headEnd type="triangle"/>
            <a:tailEnd type="triangle"/>
          </a:ln>
        </p:spPr>
      </p:sp>
      <p:sp>
        <p:nvSpPr>
          <p:cNvPr id="22" name="Text 20"/>
          <p:cNvSpPr txBox="1"/>
          <p:nvPr/>
        </p:nvSpPr>
        <p:spPr>
          <a:xfrm>
            <a:off x="1926641" y="5971032"/>
            <a:ext cx="1392174" cy="201168"/>
          </a:xfrm>
          <a:prstGeom prst="rect">
            <a:avLst/>
          </a:prstGeom>
          <a:noFill/>
          <a:ln/>
        </p:spPr>
        <p:txBody>
          <a:bodyPr wrap="square" lIns="0" tIns="0" rIns="0" bIns="0" rtlCol="0" anchor="ctr"/>
          <a:lstStyle/>
          <a:p>
            <a:pPr algn="ctr" indent="0" marL="0">
              <a:buNone/>
            </a:pPr>
            <a:r>
              <a:rPr lang="en-US" sz="800" b="1" dirty="0">
                <a:solidFill>
                  <a:srgbClr val="1B2430"/>
                </a:solidFill>
                <a:latin typeface="Calibri" pitchFamily="34" charset="0"/>
                <a:ea typeface="Calibri" pitchFamily="34" charset="-122"/>
                <a:cs typeface="Calibri" pitchFamily="34" charset="-120"/>
              </a:rPr>
              <a:t>Δx = v·ℓ</a:t>
            </a:r>
            <a:endParaRPr lang="en-US" sz="800" dirty="0"/>
          </a:p>
        </p:txBody>
      </p:sp>
      <p:sp>
        <p:nvSpPr>
          <p:cNvPr id="23" name="Shape 21"/>
          <p:cNvSpPr/>
          <p:nvPr/>
        </p:nvSpPr>
        <p:spPr>
          <a:xfrm>
            <a:off x="3821735" y="2948940"/>
            <a:ext cx="0" cy="2720340"/>
          </a:xfrm>
          <a:prstGeom prst="line">
            <a:avLst/>
          </a:prstGeom>
          <a:noFill/>
          <a:ln w="9525">
            <a:solidFill>
              <a:srgbClr val="1B2430"/>
            </a:solidFill>
            <a:prstDash val="solid"/>
            <a:headEnd type="triangle"/>
            <a:tailEnd type="triangle"/>
          </a:ln>
        </p:spPr>
      </p:sp>
      <p:sp>
        <p:nvSpPr>
          <p:cNvPr id="24" name="Text 22"/>
          <p:cNvSpPr txBox="1"/>
          <p:nvPr/>
        </p:nvSpPr>
        <p:spPr>
          <a:xfrm>
            <a:off x="3867455" y="4199382"/>
            <a:ext cx="365760" cy="219456"/>
          </a:xfrm>
          <a:prstGeom prst="rect">
            <a:avLst/>
          </a:prstGeom>
          <a:noFill/>
          <a:ln/>
        </p:spPr>
        <p:txBody>
          <a:bodyPr wrap="square" lIns="0" tIns="0" rIns="0" bIns="0" rtlCol="0" anchor="ctr"/>
          <a:lstStyle/>
          <a:p>
            <a:pPr indent="0" marL="0">
              <a:buNone/>
            </a:pPr>
            <a:r>
              <a:rPr lang="en-US" sz="900" b="1" dirty="0">
                <a:solidFill>
                  <a:srgbClr val="1B2430"/>
                </a:solidFill>
                <a:latin typeface="Calibri" pitchFamily="34" charset="0"/>
                <a:ea typeface="Calibri" pitchFamily="34" charset="-122"/>
                <a:cs typeface="Calibri" pitchFamily="34" charset="-120"/>
              </a:rPr>
              <a:t>ℓ</a:t>
            </a:r>
            <a:endParaRPr lang="en-US" sz="900" dirty="0"/>
          </a:p>
        </p:txBody>
      </p:sp>
      <p:sp>
        <p:nvSpPr>
          <p:cNvPr id="25" name="Text 23"/>
          <p:cNvSpPr txBox="1"/>
          <p:nvPr/>
        </p:nvSpPr>
        <p:spPr>
          <a:xfrm>
            <a:off x="3227375" y="5358384"/>
            <a:ext cx="1097280" cy="201168"/>
          </a:xfrm>
          <a:prstGeom prst="rect">
            <a:avLst/>
          </a:prstGeom>
          <a:noFill/>
          <a:ln/>
        </p:spPr>
        <p:txBody>
          <a:bodyPr wrap="square" lIns="0" tIns="0" rIns="0" bIns="0" rtlCol="0" anchor="ctr"/>
          <a:lstStyle/>
          <a:p>
            <a:pPr indent="0" marL="0">
              <a:buNone/>
            </a:pPr>
            <a:r>
              <a:rPr lang="en-US" sz="750" b="1" dirty="0">
                <a:solidFill>
                  <a:srgbClr val="1B2430"/>
                </a:solidFill>
                <a:latin typeface="Calibri" pitchFamily="34" charset="0"/>
                <a:ea typeface="Calibri" pitchFamily="34" charset="-122"/>
                <a:cs typeface="Calibri" pitchFamily="34" charset="-120"/>
              </a:rPr>
              <a:t>anchor, now</a:t>
            </a:r>
            <a:endParaRPr lang="en-US" sz="750" dirty="0"/>
          </a:p>
        </p:txBody>
      </p:sp>
      <p:sp>
        <p:nvSpPr>
          <p:cNvPr id="26" name="Text 24"/>
          <p:cNvSpPr txBox="1"/>
          <p:nvPr/>
        </p:nvSpPr>
        <p:spPr>
          <a:xfrm>
            <a:off x="555041" y="2601468"/>
            <a:ext cx="1280160" cy="201168"/>
          </a:xfrm>
          <a:prstGeom prst="rect">
            <a:avLst/>
          </a:prstGeom>
          <a:noFill/>
          <a:ln/>
        </p:spPr>
        <p:txBody>
          <a:bodyPr wrap="square" lIns="0" tIns="0" rIns="0" bIns="0" rtlCol="0" anchor="ctr"/>
          <a:lstStyle/>
          <a:p>
            <a:pPr algn="r" indent="0" marL="0">
              <a:buNone/>
            </a:pPr>
            <a:r>
              <a:rPr lang="en-US" sz="750" b="1" dirty="0">
                <a:solidFill>
                  <a:srgbClr val="2E86AB"/>
                </a:solidFill>
                <a:latin typeface="Calibri" pitchFamily="34" charset="0"/>
                <a:ea typeface="Calibri" pitchFamily="34" charset="-122"/>
                <a:cs typeface="Calibri" pitchFamily="34" charset="-120"/>
              </a:rPr>
              <a:t>same water, ℓ ago</a:t>
            </a:r>
            <a:endParaRPr lang="en-US" sz="750" dirty="0"/>
          </a:p>
        </p:txBody>
      </p:sp>
      <p:sp>
        <p:nvSpPr>
          <p:cNvPr id="27" name="Text 25"/>
          <p:cNvSpPr txBox="1"/>
          <p:nvPr/>
        </p:nvSpPr>
        <p:spPr>
          <a:xfrm>
            <a:off x="640080" y="1508760"/>
            <a:ext cx="4572000" cy="320040"/>
          </a:xfrm>
          <a:prstGeom prst="rect">
            <a:avLst/>
          </a:prstGeom>
          <a:noFill/>
          <a:ln/>
        </p:spPr>
        <p:txBody>
          <a:bodyPr wrap="square" lIns="0" tIns="0" rIns="0" bIns="0" rtlCol="0" anchor="ctr"/>
          <a:lstStyle/>
          <a:p>
            <a:pPr indent="0" marL="0">
              <a:buNone/>
            </a:pPr>
            <a:r>
              <a:rPr lang="en-US" sz="750" i="1" dirty="0">
                <a:solidFill>
                  <a:srgbClr val="6B7A8F"/>
                </a:solidFill>
                <a:latin typeface="Calibri" pitchFamily="34" charset="0"/>
                <a:ea typeface="Calibri" pitchFamily="34" charset="-122"/>
                <a:cs typeface="Calibri" pitchFamily="34" charset="-120"/>
              </a:rPr>
              <a:t>a feature carried at speed v traces a tilted band; grey dots are candidates the attention has to reject</a:t>
            </a:r>
            <a:endParaRPr lang="en-US" sz="750" dirty="0"/>
          </a:p>
        </p:txBody>
      </p:sp>
      <p:sp>
        <p:nvSpPr>
          <p:cNvPr id="28" name="Text 26"/>
          <p:cNvSpPr txBox="1"/>
          <p:nvPr/>
        </p:nvSpPr>
        <p:spPr>
          <a:xfrm>
            <a:off x="5577840" y="1463040"/>
            <a:ext cx="6035040" cy="4846320"/>
          </a:xfrm>
          <a:prstGeom prst="rect">
            <a:avLst/>
          </a:prstGeom>
          <a:noFill/>
          <a:ln/>
        </p:spPr>
        <p:txBody>
          <a:bodyPr wrap="square" lIns="0" tIns="0" rIns="0" bIns="0" rtlCol="0" anchor="t"/>
          <a:lstStyle/>
          <a:p>
            <a:pPr indent="0" marL="0">
              <a:spcAft>
                <a:spcPts val="400"/>
              </a:spcAft>
              <a:buNone/>
            </a:pPr>
            <a:r>
              <a:rPr lang="en-US" sz="1250" b="1" dirty="0">
                <a:solidFill>
                  <a:srgbClr val="0B1F3A"/>
                </a:solidFill>
                <a:latin typeface="Calibri" pitchFamily="34" charset="0"/>
                <a:ea typeface="Calibri" pitchFamily="34" charset="-122"/>
                <a:cs typeface="Calibri" pitchFamily="34" charset="-120"/>
              </a:rPr>
              <a:t>The argument</a:t>
            </a:r>
            <a:endParaRPr lang="en-US" sz="950" dirty="0"/>
          </a:p>
          <a:p>
            <a:pPr indent="0" marL="0">
              <a:spcAft>
                <a:spcPts val="1000"/>
              </a:spcAft>
              <a:buNone/>
            </a:pPr>
            <a:r>
              <a:rPr lang="en-US" sz="1100" dirty="0">
                <a:solidFill>
                  <a:srgbClr val="1B2430"/>
                </a:solidFill>
                <a:latin typeface="Calibri" pitchFamily="34" charset="0"/>
                <a:ea typeface="Calibri" pitchFamily="34" charset="-122"/>
                <a:cs typeface="Calibri" pitchFamily="34" charset="-120"/>
              </a:rPr>
              <a:t>If a field is carried along, f(x, t + ℓ) ≈ f(x − v·ℓ, t): the best predictor of the anchor's value is the dot at displacement −v·ℓ at lag ℓ. The cross-correlation between the anchor's neighbourhood now and the field ℓ ago peaks at Δx = v·ℓ. That is the maximum-cross-correlation method oceanographers use to track features in SST images (Emery et al. 1986). A query attending over dots with relative (Δx, ℓ) encodings can implement exactly this search — and the winning ratio Δx / ℓ is a velocity readout. Tendency (two lags at one place) and convergence (dots around the anchor) follow the same way. A per-pixel snapshot codec cannot do any of this; it has one lag.</a:t>
            </a:r>
            <a:endParaRPr lang="en-US" sz="950" dirty="0"/>
          </a:p>
          <a:p>
            <a:pPr indent="0" marL="0">
              <a:spcAft>
                <a:spcPts val="400"/>
              </a:spcAft>
              <a:buNone/>
            </a:pPr>
            <a:r>
              <a:rPr lang="en-US" sz="1250" b="1" dirty="0">
                <a:solidFill>
                  <a:srgbClr val="0B1F3A"/>
                </a:solidFill>
                <a:latin typeface="Calibri" pitchFamily="34" charset="0"/>
                <a:ea typeface="Calibri" pitchFamily="34" charset="-122"/>
                <a:cs typeface="Calibri" pitchFamily="34" charset="-120"/>
              </a:rPr>
              <a:t>Making sure the capacity is used, not merely available</a:t>
            </a:r>
            <a:endParaRPr lang="en-US" sz="950" dirty="0"/>
          </a:p>
          <a:p>
            <a:pPr marL="342900" indent="-3429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Flow as maskable channels — drifter velocities, sea-ice drift, ASCAT / ERA5 wind, river discharge, and (flagged) OSCAR / GLORYS u, v are inputs, so the masked objective asks the embedding to produce velocity whenever the velocity channel is hidden.</a:t>
            </a:r>
            <a:endParaRPr lang="en-US" sz="950" dirty="0"/>
          </a:p>
          <a:p>
            <a:pPr marL="342900" indent="-342900">
              <a:spcAft>
                <a:spcPts val="400"/>
              </a:spcAft>
              <a:buSzPct val="100000"/>
              <a:buChar char="•"/>
            </a:pPr>
            <a:r>
              <a:rPr lang="en-US" sz="1100" dirty="0">
                <a:solidFill>
                  <a:srgbClr val="1B2430"/>
                </a:solidFill>
                <a:latin typeface="Calibri" pitchFamily="34" charset="0"/>
                <a:ea typeface="Calibri" pitchFamily="34" charset="-122"/>
                <a:cs typeface="Calibri" pitchFamily="34" charset="-120"/>
              </a:rPr>
              <a:t>Multiple lags of the same field by construction — the B and C budgets always contain lags &gt; 0, and the cone guarantees the upstream dots are in the set.</a:t>
            </a:r>
            <a:endParaRPr lang="en-US" sz="950" dirty="0"/>
          </a:p>
          <a:p>
            <a:pPr marL="342900" indent="-342900">
              <a:spcAft>
                <a:spcPts val="1000"/>
              </a:spcAft>
              <a:buSzPct val="100000"/>
              <a:buChar char="•"/>
            </a:pPr>
            <a:r>
              <a:rPr lang="en-US" sz="1100" dirty="0">
                <a:solidFill>
                  <a:srgbClr val="1B2430"/>
                </a:solidFill>
                <a:latin typeface="Calibri" pitchFamily="34" charset="0"/>
                <a:ea typeface="Calibri" pitchFamily="34" charset="-122"/>
                <a:cs typeface="Calibri" pitchFamily="34" charset="-120"/>
              </a:rPr>
              <a:t>Optional advected-sampling prior — draw a fraction of the dots along x − v̂·ℓ using a first-guess velocity (geostrophic u, v; ERA5 wind): PARADIS's semi-Lagrangian gather used as a sampler, not a layer.</a:t>
            </a:r>
            <a:endParaRPr lang="en-US" sz="950" dirty="0"/>
          </a:p>
          <a:p>
            <a:pPr indent="0" marL="0">
              <a:spcAft>
                <a:spcPts val="400"/>
              </a:spcAft>
              <a:buNone/>
            </a:pPr>
            <a:r>
              <a:rPr lang="en-US" sz="1250" b="1" dirty="0">
                <a:solidFill>
                  <a:srgbClr val="E07A2F"/>
                </a:solidFill>
                <a:latin typeface="Calibri" pitchFamily="34" charset="0"/>
                <a:ea typeface="Calibri" pitchFamily="34" charset="-122"/>
                <a:cs typeface="Calibri" pitchFamily="34" charset="-120"/>
              </a:rPr>
              <a:t>The test: a velocity probe</a:t>
            </a:r>
            <a:endParaRPr lang="en-US" sz="950" dirty="0"/>
          </a:p>
          <a:p>
            <a:pPr indent="0" marL="0">
              <a:buNone/>
            </a:pPr>
            <a:r>
              <a:rPr lang="en-US" sz="1100" dirty="0">
                <a:solidFill>
                  <a:srgbClr val="1B2430"/>
                </a:solidFill>
                <a:latin typeface="Calibri" pitchFamily="34" charset="0"/>
                <a:ea typeface="Calibri" pitchFamily="34" charset="-122"/>
                <a:cs typeface="Calibri" pitchFamily="34" charset="-120"/>
              </a:rPr>
              <a:t>A ridge head from the frozen embedding to drifter velocity or GLORYS u, v at the anchor, with derived channels masked at test time. Prediction: the snapshot embedding scores near climatology (R² ≈ 0); the cone codec does not. This is the cheapest decisive experiment on the list.</a:t>
            </a:r>
            <a:endParaRPr lang="en-US" sz="950" dirty="0"/>
          </a:p>
        </p:txBody>
      </p:sp>
      <p:sp>
        <p:nvSpPr>
          <p:cNvPr id="29" name="Text 2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100" b="1" dirty="0">
                <a:solidFill>
                  <a:srgbClr val="0B1F3A"/>
                </a:solidFill>
                <a:latin typeface="Georgia" pitchFamily="34" charset="0"/>
                <a:ea typeface="Georgia" pitchFamily="34" charset="-122"/>
                <a:cs typeface="Georgia" pitchFamily="34" charset="-120"/>
              </a:rPr>
              <a:t>Is it zero-sum? Thin codec + thick stage 2 vs cone codec + thin stage 2</a:t>
            </a:r>
            <a:endParaRPr lang="en-US" sz="21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A: embed one pixel-month, let a stage-2 stencil connect embeddings (today's Earth 2 and every GeoFM in the survey). B: embed the cone, keep stage 2 thin.</a:t>
            </a:r>
            <a:endParaRPr lang="en-US" sz="12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4480560"/>
                <a:gridCol w="4480560"/>
              </a:tblGrid>
              <a:tr h="256032">
                <a:tc>
                  <a:txBody>
                    <a:bodyPr/>
                    <a:lstStyle/>
                    <a:p>
                      <a:pPr indent="0" marL="0">
                        <a:buNone/>
                      </a:pP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 — thin codec, thick stage 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 — thick (cone) codec, thin stage 2</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34747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Cost per embedding</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Minimal: one pixel-month (27 tokens for 3 × 3 × 3 months)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30–100 × more input per anchor (≈ 3,000 dots) — still ≈ one ViT-B image forward</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Reusability, caching</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Embedding = this place, this time; computed once, never changes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Embedding = this place, this time and its past context; final once its sources have arrived (NRT and final versions)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29184">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Interpretability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Clear provenance: this pixel</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Provenance is a set of dots; attention maps recover it, with more work</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4747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Dynamics: velocity, tendency, transport</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Not representable from a snapshot; stage 2 must rebuild it from compressed codes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Representable in the codec (previous slide); supervised by flow channels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4864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Information bottleneck</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Codec compresses before it can know what stage 2 needs; sub-pixel phase and small gradients that carry velocity may be dropped as noise — what the code drops, stage 2 cannot recover</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Compression happens after the dynamics are visible; the objective (predict future and upstream dots) tells the codec what to keep</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8404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Sparse channels: Argo, tracks, stations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A lone profile with no context yields a near-empty code; gridding loses depth resolution</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Points enter natively as dots and are contextualised at encode time</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8404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Cone geometry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Re-learned per task and per channel by stage 2 (24 × 89 × channels tokens, each time)</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Fixed once by physics, shared by all tasks; 7 % of the cylinder's slots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8404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Sample efficiency of probes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Attention head must learn the geometry from labels (AMOC: ~20 years of monthly labels)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Geometry already inside; ridge / linear probes should suffice more often</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8404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Static and mapping tasks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Ideal: snapshot semantics (land cover, LCZ, canopy)</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Neutral to slightly worse — context can blur a static class; expose the local code alongside</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9260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Forecasting in pretraining</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Not available: no time axis in the codec</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Native: future dots as targets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389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Training complexity, shortcut risk</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Simple per-pixel pipeline; nothing to copy</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Heterogeneous dot sampler, bucketing, leakage control; derived channels can be copied — needs source flags and drop rates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9260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Comparability with published GeoFMs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F7A4D"/>
                          </a:solidFill>
                          <a:latin typeface="Calibri" pitchFamily="34" charset="0"/>
                          <a:ea typeface="Calibri" pitchFamily="34" charset="-122"/>
                          <a:cs typeface="Calibri" pitchFamily="34" charset="-120"/>
                        </a:rPr>
                        <a:t>Direct</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A23B3B"/>
                          </a:solidFill>
                          <a:latin typeface="Calibri" pitchFamily="34" charset="0"/>
                          <a:ea typeface="Calibri" pitchFamily="34" charset="-122"/>
                          <a:cs typeface="Calibri" pitchFamily="34" charset="-120"/>
                        </a:rPr>
                        <a:t>Indirect: a different unit of embedding</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6217920"/>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Green = advantage, red = cost. A wins on cost, caching, provenance, simplicity; B on everything that involves time. Next slide: why this is not a symmetric trade.</a:t>
            </a:r>
            <a:endParaRPr lang="en-US" sz="85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Not zero-sum — the asymmetry, and the split that follows from it</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The trade is about where the bottleneck sits relative to the dynamics, not about how much work there is in total</a:t>
            </a:r>
            <a:endParaRPr lang="en-US" sz="1400" dirty="0"/>
          </a:p>
        </p:txBody>
      </p:sp>
      <p:sp>
        <p:nvSpPr>
          <p:cNvPr id="4" name="Shape 2"/>
          <p:cNvSpPr/>
          <p:nvPr/>
        </p:nvSpPr>
        <p:spPr>
          <a:xfrm>
            <a:off x="548640" y="1417320"/>
            <a:ext cx="5394960" cy="2148840"/>
          </a:xfrm>
          <a:prstGeom prst="roundRect">
            <a:avLst>
              <a:gd name="adj" fmla="val 3404"/>
            </a:avLst>
          </a:prstGeom>
          <a:solidFill>
            <a:srgbClr val="F4F6F9"/>
          </a:solidFill>
          <a:ln w="15875">
            <a:solidFill>
              <a:srgbClr val="0B1F3A"/>
            </a:solidFill>
            <a:prstDash val="solid"/>
          </a:ln>
        </p:spPr>
      </p:sp>
      <p:sp>
        <p:nvSpPr>
          <p:cNvPr id="5" name="Text 3"/>
          <p:cNvSpPr txBox="1"/>
          <p:nvPr/>
        </p:nvSpPr>
        <p:spPr>
          <a:xfrm>
            <a:off x="685800" y="1490472"/>
            <a:ext cx="5120640" cy="2057400"/>
          </a:xfrm>
          <a:prstGeom prst="rect">
            <a:avLst/>
          </a:prstGeom>
          <a:noFill/>
          <a:ln/>
        </p:spPr>
        <p:txBody>
          <a:bodyPr wrap="square" lIns="0" tIns="0" rIns="0" bIns="0" rtlCol="0" anchor="t"/>
          <a:lstStyle/>
          <a:p>
            <a:pPr indent="0" marL="0">
              <a:spcAft>
                <a:spcPts val="400"/>
              </a:spcAft>
              <a:buNone/>
            </a:pPr>
            <a:r>
              <a:rPr lang="en-US" sz="1150" b="1" dirty="0">
                <a:solidFill>
                  <a:srgbClr val="0B1F3A"/>
                </a:solidFill>
                <a:latin typeface="Calibri" pitchFamily="34" charset="0"/>
                <a:ea typeface="Calibri" pitchFamily="34" charset="-122"/>
                <a:cs typeface="Calibri" pitchFamily="34" charset="-120"/>
              </a:rPr>
              <a:t>Two facts break the symmetry</a:t>
            </a:r>
            <a:endParaRPr lang="en-US" sz="950" dirty="0"/>
          </a:p>
          <a:p>
            <a:pPr indent="0" marL="0">
              <a:buNone/>
            </a:pPr>
            <a:r>
              <a:rPr lang="en-US" sz="1050" b="1" dirty="0">
                <a:solidFill>
                  <a:srgbClr val="1B2430"/>
                </a:solidFill>
                <a:latin typeface="Calibri" pitchFamily="34" charset="0"/>
                <a:ea typeface="Calibri" pitchFamily="34" charset="-122"/>
                <a:cs typeface="Calibri" pitchFamily="34" charset="-120"/>
              </a:rPr>
              <a:t>1  B contains A. </a:t>
            </a:r>
            <a:pPr indent="0" marL="0">
              <a:spcAft>
                <a:spcPts val="500"/>
              </a:spcAft>
              <a:buNone/>
            </a:pPr>
            <a:r>
              <a:rPr lang="en-US" sz="1050" dirty="0">
                <a:solidFill>
                  <a:srgbClr val="1B2430"/>
                </a:solidFill>
                <a:latin typeface="Calibri" pitchFamily="34" charset="0"/>
                <a:ea typeface="Calibri" pitchFamily="34" charset="-122"/>
                <a:cs typeface="Calibri" pitchFamily="34" charset="-120"/>
              </a:rPr>
              <a:t>A cone codec that ignores every dot but the anchor's own is a per-pixel codec. Whatever A can represent, B can; the reverse fails because of the bottleneck: information the per-pixel code discards before the dynamics are visible is gone for stage 2 (data-processing inequality). In capability the trade is one-sided; the price is compute and the cleanliness of the embedding's meaning.</a:t>
            </a:r>
            <a:endParaRPr lang="en-US" sz="950" dirty="0"/>
          </a:p>
          <a:p>
            <a:pPr indent="0" marL="0">
              <a:buNone/>
            </a:pPr>
            <a:r>
              <a:rPr lang="en-US" sz="1050" b="1" dirty="0">
                <a:solidFill>
                  <a:srgbClr val="1B2430"/>
                </a:solidFill>
                <a:latin typeface="Calibri" pitchFamily="34" charset="0"/>
                <a:ea typeface="Calibri" pitchFamily="34" charset="-122"/>
                <a:cs typeface="Calibri" pitchFamily="34" charset="-120"/>
              </a:rPr>
              <a:t>2  Compute is paid in different places. </a:t>
            </a:r>
            <a:pPr indent="0" marL="0">
              <a:buNone/>
            </a:pPr>
            <a:r>
              <a:rPr lang="en-US" sz="1050" dirty="0">
                <a:solidFill>
                  <a:srgbClr val="1B2430"/>
                </a:solidFill>
                <a:latin typeface="Calibri" pitchFamily="34" charset="0"/>
                <a:ea typeface="Calibri" pitchFamily="34" charset="-122"/>
                <a:cs typeface="Calibri" pitchFamily="34" charset="-120"/>
              </a:rPr>
              <a:t>A pays little per embedding but re-pays the context assembly in every stage-2 model, for every task, every time. B pays once per anchor and amortises across tasks — provided the cone is generic, which is exactly what a physics-set support promises: it depends on the channel, not on the task.</a:t>
            </a:r>
            <a:endParaRPr lang="en-US" sz="950" dirty="0"/>
          </a:p>
        </p:txBody>
      </p:sp>
      <p:sp>
        <p:nvSpPr>
          <p:cNvPr id="6" name="Shape 4"/>
          <p:cNvSpPr/>
          <p:nvPr/>
        </p:nvSpPr>
        <p:spPr>
          <a:xfrm>
            <a:off x="548640" y="3703320"/>
            <a:ext cx="5394960" cy="2606040"/>
          </a:xfrm>
          <a:prstGeom prst="roundRect">
            <a:avLst>
              <a:gd name="adj" fmla="val 2807"/>
            </a:avLst>
          </a:prstGeom>
          <a:solidFill>
            <a:srgbClr val="EEF3F8"/>
          </a:solidFill>
          <a:ln w="15875">
            <a:solidFill>
              <a:srgbClr val="1C7293"/>
            </a:solidFill>
            <a:prstDash val="solid"/>
          </a:ln>
        </p:spPr>
      </p:sp>
      <p:sp>
        <p:nvSpPr>
          <p:cNvPr id="7" name="Text 5"/>
          <p:cNvSpPr txBox="1"/>
          <p:nvPr/>
        </p:nvSpPr>
        <p:spPr>
          <a:xfrm>
            <a:off x="685800" y="3776472"/>
            <a:ext cx="5120640" cy="2514600"/>
          </a:xfrm>
          <a:prstGeom prst="rect">
            <a:avLst/>
          </a:prstGeom>
          <a:noFill/>
          <a:ln/>
        </p:spPr>
        <p:txBody>
          <a:bodyPr wrap="square" lIns="0" tIns="0" rIns="0" bIns="0" rtlCol="0" anchor="t"/>
          <a:lstStyle/>
          <a:p>
            <a:pPr indent="0" marL="0">
              <a:spcAft>
                <a:spcPts val="400"/>
              </a:spcAft>
              <a:buNone/>
            </a:pPr>
            <a:r>
              <a:rPr lang="en-US" sz="1150" b="1" dirty="0">
                <a:solidFill>
                  <a:srgbClr val="1C7293"/>
                </a:solidFill>
                <a:latin typeface="Calibri" pitchFamily="34" charset="0"/>
                <a:ea typeface="Calibri" pitchFamily="34" charset="-122"/>
                <a:cs typeface="Calibri" pitchFamily="34" charset="-120"/>
              </a:rPr>
              <a:t>The principled split</a:t>
            </a:r>
            <a:endParaRPr lang="en-US" sz="950" dirty="0"/>
          </a:p>
          <a:p>
            <a:pPr indent="0" marL="0">
              <a:buNone/>
            </a:pPr>
            <a:r>
              <a:rPr lang="en-US" sz="1050" b="1" dirty="0">
                <a:solidFill>
                  <a:srgbClr val="1B2430"/>
                </a:solidFill>
                <a:latin typeface="Calibri" pitchFamily="34" charset="0"/>
                <a:ea typeface="Calibri" pitchFamily="34" charset="-122"/>
                <a:cs typeface="Calibri" pitchFamily="34" charset="-120"/>
              </a:rPr>
              <a:t>Into the embedding: </a:t>
            </a:r>
            <a:pPr indent="0" marL="0">
              <a:spcAft>
                <a:spcPts val="400"/>
              </a:spcAft>
              <a:buNone/>
            </a:pPr>
            <a:r>
              <a:rPr lang="en-US" sz="1050" dirty="0">
                <a:solidFill>
                  <a:srgbClr val="1B2430"/>
                </a:solidFill>
                <a:latin typeface="Calibri" pitchFamily="34" charset="0"/>
                <a:ea typeface="Calibri" pitchFamily="34" charset="-122"/>
                <a:cs typeface="Calibri" pitchFamily="34" charset="-120"/>
              </a:rPr>
              <a:t>everything whose relevance is decided by physics — the cone (v, τ per channel), depth coupling, the local past. Identical for every task.</a:t>
            </a:r>
            <a:endParaRPr lang="en-US" sz="950" dirty="0"/>
          </a:p>
          <a:p>
            <a:pPr indent="0" marL="0">
              <a:buNone/>
            </a:pPr>
            <a:r>
              <a:rPr lang="en-US" sz="1050" b="1" dirty="0">
                <a:solidFill>
                  <a:srgbClr val="1B2430"/>
                </a:solidFill>
                <a:latin typeface="Calibri" pitchFamily="34" charset="0"/>
                <a:ea typeface="Calibri" pitchFamily="34" charset="-122"/>
                <a:cs typeface="Calibri" pitchFamily="34" charset="-120"/>
              </a:rPr>
              <a:t>Into stage 2: </a:t>
            </a:r>
            <a:pPr indent="0" marL="0">
              <a:spcAft>
                <a:spcPts val="400"/>
              </a:spcAft>
              <a:buNone/>
            </a:pPr>
            <a:r>
              <a:rPr lang="en-US" sz="1050" dirty="0">
                <a:solidFill>
                  <a:srgbClr val="1B2430"/>
                </a:solidFill>
                <a:latin typeface="Calibri" pitchFamily="34" charset="0"/>
                <a:ea typeface="Calibri" pitchFamily="34" charset="-122"/>
                <a:cs typeface="Calibri" pitchFamily="34" charset="-120"/>
              </a:rPr>
              <a:t>everything whose relevance is decided by the task — which section to integrate over (AMOC), which basin to sum (carbon), which teleconnection matters (ENSO's Pacific state, 10,000 km and six months away, outside any single cone), which label.</a:t>
            </a:r>
            <a:endParaRPr lang="en-US" sz="950" dirty="0"/>
          </a:p>
          <a:p>
            <a:pPr indent="0" marL="0">
              <a:buNone/>
            </a:pPr>
            <a:r>
              <a:rPr lang="en-US" sz="1050" b="1" dirty="0">
                <a:solidFill>
                  <a:srgbClr val="1B2430"/>
                </a:solidFill>
                <a:latin typeface="Calibri" pitchFamily="34" charset="0"/>
                <a:ea typeface="Calibri" pitchFamily="34" charset="-122"/>
                <a:cs typeface="Calibri" pitchFamily="34" charset="-120"/>
              </a:rPr>
              <a:t>Where A stays right: </a:t>
            </a:r>
            <a:pPr indent="0" marL="0">
              <a:spcAft>
                <a:spcPts val="400"/>
              </a:spcAft>
              <a:buNone/>
            </a:pPr>
            <a:r>
              <a:rPr lang="en-US" sz="1050" dirty="0">
                <a:solidFill>
                  <a:srgbClr val="1B2430"/>
                </a:solidFill>
                <a:latin typeface="Calibri" pitchFamily="34" charset="0"/>
                <a:ea typeface="Calibri" pitchFamily="34" charset="-122"/>
                <a:cs typeface="Calibri" pitchFamily="34" charset="-120"/>
              </a:rPr>
              <a:t>purely static targets (land cover, soil, canopy height, LCZ), pixel-level anomaly detection, and very-high-volume or on-board inference (Prithvi-EO's in-orbit deployment). Keep the local code for these.</a:t>
            </a:r>
            <a:endParaRPr lang="en-US" sz="950" dirty="0"/>
          </a:p>
          <a:p>
            <a:pPr indent="0" marL="0">
              <a:buNone/>
            </a:pPr>
            <a:r>
              <a:rPr lang="en-US" sz="950" i="1" dirty="0">
                <a:solidFill>
                  <a:srgbClr val="6B7A8F"/>
                </a:solidFill>
                <a:latin typeface="Calibri" pitchFamily="34" charset="0"/>
                <a:ea typeface="Calibri" pitchFamily="34" charset="-122"/>
                <a:cs typeface="Calibri" pitchFamily="34" charset="-120"/>
              </a:rPr>
              <a:t>What existing evidence says: nothing yet. The attribution matrix's 3 × 3 codec-vs-raw contrast (0.672 vs 0.659) is a single-seed probe number inside the probe noise band, so it is consistent with parity; and every rolled-skill number from before 2 Sep 2026 was withdrawn with the paper reset (heads trained under the endpoint pool had seen the held-out years). The v8 paper's null ladder — a Linear Inverse Model in pixel space against one in embedding space — is the first measurement of the bottleneck row, and Phase 0 is built to run after it.</a:t>
            </a:r>
            <a:endParaRPr lang="en-US" sz="950" dirty="0"/>
          </a:p>
        </p:txBody>
      </p:sp>
      <p:sp>
        <p:nvSpPr>
          <p:cNvPr id="8" name="Text 6"/>
          <p:cNvSpPr txBox="1"/>
          <p:nvPr/>
        </p:nvSpPr>
        <p:spPr>
          <a:xfrm>
            <a:off x="6263640" y="1417320"/>
            <a:ext cx="5349240" cy="27432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The hybrid: split by scale, not by fiat</a:t>
            </a:r>
            <a:endParaRPr lang="en-US" sz="1150" dirty="0"/>
          </a:p>
        </p:txBody>
      </p:sp>
      <p:sp>
        <p:nvSpPr>
          <p:cNvPr id="9" name="Shape 7"/>
          <p:cNvSpPr/>
          <p:nvPr/>
        </p:nvSpPr>
        <p:spPr>
          <a:xfrm>
            <a:off x="6263640" y="1783080"/>
            <a:ext cx="5349240" cy="868680"/>
          </a:xfrm>
          <a:prstGeom prst="roundRect">
            <a:avLst>
              <a:gd name="adj" fmla="val 8421"/>
            </a:avLst>
          </a:prstGeom>
          <a:solidFill>
            <a:srgbClr val="FFFFFF"/>
          </a:solidFill>
          <a:ln w="15875">
            <a:solidFill>
              <a:srgbClr val="7A8797"/>
            </a:solidFill>
            <a:prstDash val="solid"/>
          </a:ln>
        </p:spPr>
      </p:sp>
      <p:sp>
        <p:nvSpPr>
          <p:cNvPr id="10" name="Text 8"/>
          <p:cNvSpPr txBox="1"/>
          <p:nvPr/>
        </p:nvSpPr>
        <p:spPr>
          <a:xfrm>
            <a:off x="6400800" y="1847088"/>
            <a:ext cx="3749040" cy="758952"/>
          </a:xfrm>
          <a:prstGeom prst="rect">
            <a:avLst/>
          </a:prstGeom>
          <a:noFill/>
          <a:ln/>
        </p:spPr>
        <p:txBody>
          <a:bodyPr wrap="square" lIns="0" tIns="0" rIns="0" bIns="0" rtlCol="0" anchor="t"/>
          <a:lstStyle/>
          <a:p>
            <a:pPr indent="0" marL="0">
              <a:buNone/>
            </a:pPr>
            <a:r>
              <a:rPr lang="en-US" sz="1000" b="1" dirty="0">
                <a:solidFill>
                  <a:srgbClr val="7A8797"/>
                </a:solidFill>
                <a:latin typeface="Calibri" pitchFamily="34" charset="0"/>
                <a:ea typeface="Calibri" pitchFamily="34" charset="-122"/>
                <a:cs typeface="Calibri" pitchFamily="34" charset="-120"/>
              </a:rPr>
              <a:t>Raw observations and admitted derived products</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the thirteen rungs; point observations stay points; every dot carries a source flag</a:t>
            </a:r>
            <a:endParaRPr lang="en-US" sz="950" dirty="0"/>
          </a:p>
        </p:txBody>
      </p:sp>
      <p:sp>
        <p:nvSpPr>
          <p:cNvPr id="11" name="Shape 9"/>
          <p:cNvSpPr/>
          <p:nvPr/>
        </p:nvSpPr>
        <p:spPr>
          <a:xfrm>
            <a:off x="10241280" y="1892808"/>
            <a:ext cx="1234440" cy="649224"/>
          </a:xfrm>
          <a:prstGeom prst="roundRect">
            <a:avLst>
              <a:gd name="adj" fmla="val 8451"/>
            </a:avLst>
          </a:prstGeom>
          <a:solidFill>
            <a:srgbClr val="7A8797">
              <a:alpha val="15000"/>
            </a:srgbClr>
          </a:solidFill>
          <a:ln w="12700">
            <a:solidFill>
              <a:srgbClr val="333333"/>
            </a:solidFill>
            <a:prstDash val="solid"/>
          </a:ln>
        </p:spPr>
      </p:sp>
      <p:sp>
        <p:nvSpPr>
          <p:cNvPr id="12" name="Text 10"/>
          <p:cNvSpPr txBox="1"/>
          <p:nvPr/>
        </p:nvSpPr>
        <p:spPr>
          <a:xfrm>
            <a:off x="10241280" y="1892808"/>
            <a:ext cx="1234440" cy="649224"/>
          </a:xfrm>
          <a:prstGeom prst="rect">
            <a:avLst/>
          </a:prstGeom>
          <a:noFill/>
          <a:ln/>
        </p:spPr>
        <p:txBody>
          <a:bodyPr wrap="square" lIns="381" tIns="381" rIns="381" bIns="381" rtlCol="0" anchor="ctr"/>
          <a:lstStyle/>
          <a:p>
            <a:pPr algn="ctr" indent="0" marL="0">
              <a:buNone/>
            </a:pPr>
            <a:r>
              <a:rPr lang="en-US" sz="800" b="1" dirty="0">
                <a:solidFill>
                  <a:srgbClr val="7A8797"/>
                </a:solidFill>
                <a:latin typeface="Calibri" pitchFamily="34" charset="0"/>
                <a:ea typeface="Calibri" pitchFamily="34" charset="-122"/>
                <a:cs typeface="Calibri" pitchFamily="34" charset="-120"/>
              </a:rPr>
              <a:t>ladder</a:t>
            </a:r>
            <a:endParaRPr lang="en-US" sz="800" dirty="0"/>
          </a:p>
          <a:p>
            <a:pPr algn="ctr" indent="0" marL="0">
              <a:buNone/>
            </a:pPr>
            <a:r>
              <a:rPr lang="en-US" sz="800" b="1" dirty="0">
                <a:solidFill>
                  <a:srgbClr val="7A8797"/>
                </a:solidFill>
                <a:latin typeface="Calibri" pitchFamily="34" charset="0"/>
                <a:ea typeface="Calibri" pitchFamily="34" charset="-122"/>
                <a:cs typeface="Calibri" pitchFamily="34" charset="-120"/>
              </a:rPr>
              <a:t>rungs 0–13</a:t>
            </a:r>
            <a:endParaRPr lang="en-US" sz="800" dirty="0"/>
          </a:p>
        </p:txBody>
      </p:sp>
      <p:sp>
        <p:nvSpPr>
          <p:cNvPr id="13" name="Shape 11"/>
          <p:cNvSpPr/>
          <p:nvPr/>
        </p:nvSpPr>
        <p:spPr>
          <a:xfrm>
            <a:off x="6263640" y="2788920"/>
            <a:ext cx="5349240" cy="960120"/>
          </a:xfrm>
          <a:prstGeom prst="roundRect">
            <a:avLst>
              <a:gd name="adj" fmla="val 7619"/>
            </a:avLst>
          </a:prstGeom>
          <a:solidFill>
            <a:srgbClr val="FFFFFF"/>
          </a:solidFill>
          <a:ln w="15875">
            <a:solidFill>
              <a:srgbClr val="4E8A3E"/>
            </a:solidFill>
            <a:prstDash val="solid"/>
          </a:ln>
        </p:spPr>
      </p:sp>
      <p:sp>
        <p:nvSpPr>
          <p:cNvPr id="14" name="Text 12"/>
          <p:cNvSpPr txBox="1"/>
          <p:nvPr/>
        </p:nvSpPr>
        <p:spPr>
          <a:xfrm>
            <a:off x="6400800" y="2852928"/>
            <a:ext cx="3749040" cy="850392"/>
          </a:xfrm>
          <a:prstGeom prst="rect">
            <a:avLst/>
          </a:prstGeom>
          <a:noFill/>
          <a:ln/>
        </p:spPr>
        <p:txBody>
          <a:bodyPr wrap="square" lIns="0" tIns="0" rIns="0" bIns="0" rtlCol="0" anchor="t"/>
          <a:lstStyle/>
          <a:p>
            <a:pPr indent="0" marL="0">
              <a:buNone/>
            </a:pPr>
            <a:r>
              <a:rPr lang="en-US" sz="1000" b="1" dirty="0">
                <a:solidFill>
                  <a:srgbClr val="4E8A3E"/>
                </a:solidFill>
                <a:latin typeface="Calibri" pitchFamily="34" charset="0"/>
                <a:ea typeface="Calibri" pitchFamily="34" charset="-122"/>
                <a:cs typeface="Calibri" pitchFamily="34" charset="-120"/>
              </a:rPr>
              <a:t>Local codec — per tile-date, cached, snapshot semantics</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the existing per-pixel / 3 × 3 MAE codec generalised to a tile (64 × 64 px at 10 m, STP-style pyramid or FlexiViT tokens); masked-pixel objective; a few 64-D tokens per tile-date reused by every anchor whose cone contains the tile</a:t>
            </a:r>
            <a:endParaRPr lang="en-US" sz="950" dirty="0"/>
          </a:p>
        </p:txBody>
      </p:sp>
      <p:sp>
        <p:nvSpPr>
          <p:cNvPr id="15" name="Shape 13"/>
          <p:cNvSpPr/>
          <p:nvPr/>
        </p:nvSpPr>
        <p:spPr>
          <a:xfrm>
            <a:off x="10241280" y="2898648"/>
            <a:ext cx="1234440" cy="740664"/>
          </a:xfrm>
          <a:prstGeom prst="roundRect">
            <a:avLst>
              <a:gd name="adj" fmla="val 7407"/>
            </a:avLst>
          </a:prstGeom>
          <a:solidFill>
            <a:srgbClr val="4E8A3E">
              <a:alpha val="15000"/>
            </a:srgbClr>
          </a:solidFill>
          <a:ln w="12700">
            <a:solidFill>
              <a:srgbClr val="333333"/>
            </a:solidFill>
            <a:prstDash val="solid"/>
          </a:ln>
        </p:spPr>
      </p:sp>
      <p:sp>
        <p:nvSpPr>
          <p:cNvPr id="16" name="Text 14"/>
          <p:cNvSpPr txBox="1"/>
          <p:nvPr/>
        </p:nvSpPr>
        <p:spPr>
          <a:xfrm>
            <a:off x="10241280" y="2898648"/>
            <a:ext cx="1234440" cy="740664"/>
          </a:xfrm>
          <a:prstGeom prst="rect">
            <a:avLst/>
          </a:prstGeom>
          <a:noFill/>
          <a:ln/>
        </p:spPr>
        <p:txBody>
          <a:bodyPr wrap="square" lIns="381" tIns="381" rIns="381" bIns="381" rtlCol="0" anchor="ctr"/>
          <a:lstStyle/>
          <a:p>
            <a:pPr algn="ctr" indent="0" marL="0">
              <a:buNone/>
            </a:pPr>
            <a:r>
              <a:rPr lang="en-US" sz="800" b="1" dirty="0">
                <a:solidFill>
                  <a:srgbClr val="4E8A3E"/>
                </a:solidFill>
                <a:latin typeface="Calibri" pitchFamily="34" charset="0"/>
                <a:ea typeface="Calibri" pitchFamily="34" charset="-122"/>
                <a:cs typeface="Calibri" pitchFamily="34" charset="-120"/>
              </a:rPr>
              <a:t>e_loc 64-D</a:t>
            </a:r>
            <a:endParaRPr lang="en-US" sz="800" dirty="0"/>
          </a:p>
          <a:p>
            <a:pPr algn="ctr" indent="0" marL="0">
              <a:buNone/>
            </a:pPr>
            <a:r>
              <a:rPr lang="en-US" sz="800" b="1" dirty="0">
                <a:solidFill>
                  <a:srgbClr val="4E8A3E"/>
                </a:solidFill>
                <a:latin typeface="Calibri" pitchFamily="34" charset="0"/>
                <a:ea typeface="Calibri" pitchFamily="34" charset="-122"/>
                <a:cs typeface="Calibri" pitchFamily="34" charset="-120"/>
              </a:rPr>
              <a:t>mapping tasks</a:t>
            </a:r>
            <a:endParaRPr lang="en-US" sz="800" dirty="0"/>
          </a:p>
        </p:txBody>
      </p:sp>
      <p:sp>
        <p:nvSpPr>
          <p:cNvPr id="17" name="Shape 15"/>
          <p:cNvSpPr/>
          <p:nvPr/>
        </p:nvSpPr>
        <p:spPr>
          <a:xfrm>
            <a:off x="6263640" y="3886200"/>
            <a:ext cx="5349240" cy="1051560"/>
          </a:xfrm>
          <a:prstGeom prst="roundRect">
            <a:avLst>
              <a:gd name="adj" fmla="val 6957"/>
            </a:avLst>
          </a:prstGeom>
          <a:solidFill>
            <a:srgbClr val="FFFFFF"/>
          </a:solidFill>
          <a:ln w="15875">
            <a:solidFill>
              <a:srgbClr val="6A4C93"/>
            </a:solidFill>
            <a:prstDash val="solid"/>
          </a:ln>
        </p:spPr>
      </p:sp>
      <p:sp>
        <p:nvSpPr>
          <p:cNvPr id="18" name="Text 16"/>
          <p:cNvSpPr txBox="1"/>
          <p:nvPr/>
        </p:nvSpPr>
        <p:spPr>
          <a:xfrm>
            <a:off x="6400800" y="3950208"/>
            <a:ext cx="3749040" cy="941832"/>
          </a:xfrm>
          <a:prstGeom prst="rect">
            <a:avLst/>
          </a:prstGeom>
          <a:noFill/>
          <a:ln/>
        </p:spPr>
        <p:txBody>
          <a:bodyPr wrap="square" lIns="0" tIns="0" rIns="0" bIns="0" rtlCol="0" anchor="t"/>
          <a:lstStyle/>
          <a:p>
            <a:pPr indent="0" marL="0">
              <a:buNone/>
            </a:pPr>
            <a:r>
              <a:rPr lang="en-US" sz="1000" b="1" dirty="0">
                <a:solidFill>
                  <a:srgbClr val="6A4C93"/>
                </a:solidFill>
                <a:latin typeface="Calibri" pitchFamily="34" charset="0"/>
                <a:ea typeface="Calibri" pitchFamily="34" charset="-122"/>
                <a:cs typeface="Calibri" pitchFamily="34" charset="-120"/>
              </a:rPr>
              <a:t>Cone codec — per anchor, dynamic semantics</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reads local tokens + coarse dots + native point observations inside each channel's cone; masked-dot objective with future dots; the momentum features live here</a:t>
            </a:r>
            <a:endParaRPr lang="en-US" sz="950" dirty="0"/>
          </a:p>
        </p:txBody>
      </p:sp>
      <p:sp>
        <p:nvSpPr>
          <p:cNvPr id="19" name="Shape 17"/>
          <p:cNvSpPr/>
          <p:nvPr/>
        </p:nvSpPr>
        <p:spPr>
          <a:xfrm>
            <a:off x="10241280" y="3995928"/>
            <a:ext cx="1234440" cy="832104"/>
          </a:xfrm>
          <a:prstGeom prst="roundRect">
            <a:avLst>
              <a:gd name="adj" fmla="val 6593"/>
            </a:avLst>
          </a:prstGeom>
          <a:solidFill>
            <a:srgbClr val="6A4C93">
              <a:alpha val="15000"/>
            </a:srgbClr>
          </a:solidFill>
          <a:ln w="12700">
            <a:solidFill>
              <a:srgbClr val="333333"/>
            </a:solidFill>
            <a:prstDash val="solid"/>
          </a:ln>
        </p:spPr>
      </p:sp>
      <p:sp>
        <p:nvSpPr>
          <p:cNvPr id="20" name="Text 18"/>
          <p:cNvSpPr txBox="1"/>
          <p:nvPr/>
        </p:nvSpPr>
        <p:spPr>
          <a:xfrm>
            <a:off x="10241280" y="3995928"/>
            <a:ext cx="1234440" cy="832104"/>
          </a:xfrm>
          <a:prstGeom prst="rect">
            <a:avLst/>
          </a:prstGeom>
          <a:noFill/>
          <a:ln/>
        </p:spPr>
        <p:txBody>
          <a:bodyPr wrap="square" lIns="381" tIns="381" rIns="381" bIns="381" rtlCol="0" anchor="ctr"/>
          <a:lstStyle/>
          <a:p>
            <a:pPr algn="ctr" indent="0" marL="0">
              <a:buNone/>
            </a:pPr>
            <a:r>
              <a:rPr lang="en-US" sz="800" b="1" dirty="0">
                <a:solidFill>
                  <a:srgbClr val="6A4C93"/>
                </a:solidFill>
                <a:latin typeface="Calibri" pitchFamily="34" charset="0"/>
                <a:ea typeface="Calibri" pitchFamily="34" charset="-122"/>
                <a:cs typeface="Calibri" pitchFamily="34" charset="-120"/>
              </a:rPr>
              <a:t>e_dyn 256-D</a:t>
            </a:r>
            <a:endParaRPr lang="en-US" sz="800" dirty="0"/>
          </a:p>
          <a:p>
            <a:pPr algn="ctr" indent="0" marL="0">
              <a:buNone/>
            </a:pPr>
            <a:r>
              <a:rPr lang="en-US" sz="800" b="1" dirty="0">
                <a:solidFill>
                  <a:srgbClr val="6A4C93"/>
                </a:solidFill>
                <a:latin typeface="Calibri" pitchFamily="34" charset="0"/>
                <a:ea typeface="Calibri" pitchFamily="34" charset="-122"/>
                <a:cs typeface="Calibri" pitchFamily="34" charset="-120"/>
              </a:rPr>
              <a:t>prediction tasks</a:t>
            </a:r>
            <a:endParaRPr lang="en-US" sz="800" dirty="0"/>
          </a:p>
        </p:txBody>
      </p:sp>
      <p:sp>
        <p:nvSpPr>
          <p:cNvPr id="21" name="Shape 19"/>
          <p:cNvSpPr/>
          <p:nvPr/>
        </p:nvSpPr>
        <p:spPr>
          <a:xfrm>
            <a:off x="6263640" y="5074920"/>
            <a:ext cx="5349240" cy="1188720"/>
          </a:xfrm>
          <a:prstGeom prst="roundRect">
            <a:avLst>
              <a:gd name="adj" fmla="val 6154"/>
            </a:avLst>
          </a:prstGeom>
          <a:solidFill>
            <a:srgbClr val="FFFFFF"/>
          </a:solidFill>
          <a:ln w="15875">
            <a:solidFill>
              <a:srgbClr val="E07A2F"/>
            </a:solidFill>
            <a:prstDash val="solid"/>
          </a:ln>
        </p:spPr>
      </p:sp>
      <p:sp>
        <p:nvSpPr>
          <p:cNvPr id="22" name="Text 20"/>
          <p:cNvSpPr txBox="1"/>
          <p:nvPr/>
        </p:nvSpPr>
        <p:spPr>
          <a:xfrm>
            <a:off x="6400800" y="5138928"/>
            <a:ext cx="3749040" cy="1078992"/>
          </a:xfrm>
          <a:prstGeom prst="rect">
            <a:avLst/>
          </a:prstGeom>
          <a:noFill/>
          <a:ln/>
        </p:spPr>
        <p:txBody>
          <a:bodyPr wrap="square" lIns="0" tIns="0" rIns="0" bIns="0" rtlCol="0" anchor="t"/>
          <a:lstStyle/>
          <a:p>
            <a:pPr indent="0" marL="0">
              <a:buNone/>
            </a:pPr>
            <a:r>
              <a:rPr lang="en-US" sz="1000" b="1" dirty="0">
                <a:solidFill>
                  <a:srgbClr val="E07A2F"/>
                </a:solidFill>
                <a:latin typeface="Calibri" pitchFamily="34" charset="0"/>
                <a:ea typeface="Calibri" pitchFamily="34" charset="-122"/>
                <a:cs typeface="Calibri" pitchFamily="34" charset="-120"/>
              </a:rPr>
              <a:t>Stage 2 — thin</a:t>
            </a:r>
            <a:endParaRPr lang="en-US" sz="950" dirty="0"/>
          </a:p>
          <a:p>
            <a:pPr indent="0" marL="0">
              <a:buNone/>
            </a:pPr>
            <a:r>
              <a:rPr lang="en-US" sz="850" dirty="0">
                <a:solidFill>
                  <a:srgbClr val="1B2430"/>
                </a:solidFill>
                <a:latin typeface="Calibri" pitchFamily="34" charset="0"/>
                <a:ea typeface="Calibri" pitchFamily="34" charset="-122"/>
                <a:cs typeface="Calibri" pitchFamily="34" charset="-120"/>
              </a:rPr>
              <a:t>teleconnections beyond the cone (attention over distant anchors' e_dyn), aggregation along sections and over basins, task heads; the probe ladder stays (ridge → MLP → attention) with the expectation that more tasks stop at ridge</a:t>
            </a:r>
            <a:endParaRPr lang="en-US" sz="950" dirty="0"/>
          </a:p>
        </p:txBody>
      </p:sp>
      <p:sp>
        <p:nvSpPr>
          <p:cNvPr id="23" name="Shape 21"/>
          <p:cNvSpPr/>
          <p:nvPr/>
        </p:nvSpPr>
        <p:spPr>
          <a:xfrm>
            <a:off x="10241280" y="5184648"/>
            <a:ext cx="1234440" cy="969264"/>
          </a:xfrm>
          <a:prstGeom prst="roundRect">
            <a:avLst>
              <a:gd name="adj" fmla="val 5660"/>
            </a:avLst>
          </a:prstGeom>
          <a:solidFill>
            <a:srgbClr val="E07A2F">
              <a:alpha val="15000"/>
            </a:srgbClr>
          </a:solidFill>
          <a:ln w="12700">
            <a:solidFill>
              <a:srgbClr val="333333"/>
            </a:solidFill>
            <a:prstDash val="solid"/>
          </a:ln>
        </p:spPr>
      </p:sp>
      <p:sp>
        <p:nvSpPr>
          <p:cNvPr id="24" name="Text 22"/>
          <p:cNvSpPr txBox="1"/>
          <p:nvPr/>
        </p:nvSpPr>
        <p:spPr>
          <a:xfrm>
            <a:off x="10241280" y="5184648"/>
            <a:ext cx="1234440" cy="969264"/>
          </a:xfrm>
          <a:prstGeom prst="rect">
            <a:avLst/>
          </a:prstGeom>
          <a:noFill/>
          <a:ln/>
        </p:spPr>
        <p:txBody>
          <a:bodyPr wrap="square" lIns="381" tIns="381" rIns="381" bIns="381" rtlCol="0" anchor="ctr"/>
          <a:lstStyle/>
          <a:p>
            <a:pPr algn="ctr" indent="0" marL="0">
              <a:buNone/>
            </a:pPr>
            <a:r>
              <a:rPr lang="en-US" sz="800" b="1" dirty="0">
                <a:solidFill>
                  <a:srgbClr val="E07A2F"/>
                </a:solidFill>
                <a:latin typeface="Calibri" pitchFamily="34" charset="0"/>
                <a:ea typeface="Calibri" pitchFamily="34" charset="-122"/>
                <a:cs typeface="Calibri" pitchFamily="34" charset="-120"/>
              </a:rPr>
              <a:t>AMOC, carbon,</a:t>
            </a:r>
            <a:endParaRPr lang="en-US" sz="800" dirty="0"/>
          </a:p>
          <a:p>
            <a:pPr algn="ctr" indent="0" marL="0">
              <a:buNone/>
            </a:pPr>
            <a:r>
              <a:rPr lang="en-US" sz="800" b="1" dirty="0">
                <a:solidFill>
                  <a:srgbClr val="E07A2F"/>
                </a:solidFill>
                <a:latin typeface="Calibri" pitchFamily="34" charset="0"/>
                <a:ea typeface="Calibri" pitchFamily="34" charset="-122"/>
                <a:cs typeface="Calibri" pitchFamily="34" charset="-120"/>
              </a:rPr>
              <a:t>warming, biosphere</a:t>
            </a:r>
            <a:endParaRPr lang="en-US" sz="800" dirty="0"/>
          </a:p>
        </p:txBody>
      </p:sp>
      <p:sp>
        <p:nvSpPr>
          <p:cNvPr id="25" name="Shape 23"/>
          <p:cNvSpPr/>
          <p:nvPr/>
        </p:nvSpPr>
        <p:spPr>
          <a:xfrm>
            <a:off x="8092440" y="2651760"/>
            <a:ext cx="0" cy="137160"/>
          </a:xfrm>
          <a:prstGeom prst="line">
            <a:avLst/>
          </a:prstGeom>
          <a:noFill/>
          <a:ln w="19050">
            <a:solidFill>
              <a:srgbClr val="6B7A8F"/>
            </a:solidFill>
            <a:prstDash val="solid"/>
            <a:tailEnd type="triangle"/>
          </a:ln>
        </p:spPr>
      </p:sp>
      <p:sp>
        <p:nvSpPr>
          <p:cNvPr id="26" name="Shape 24"/>
          <p:cNvSpPr/>
          <p:nvPr/>
        </p:nvSpPr>
        <p:spPr>
          <a:xfrm>
            <a:off x="8092440" y="3749040"/>
            <a:ext cx="0" cy="137160"/>
          </a:xfrm>
          <a:prstGeom prst="line">
            <a:avLst/>
          </a:prstGeom>
          <a:noFill/>
          <a:ln w="19050">
            <a:solidFill>
              <a:srgbClr val="6B7A8F"/>
            </a:solidFill>
            <a:prstDash val="solid"/>
            <a:tailEnd type="triangle"/>
          </a:ln>
        </p:spPr>
      </p:sp>
      <p:sp>
        <p:nvSpPr>
          <p:cNvPr id="27" name="Shape 25"/>
          <p:cNvSpPr/>
          <p:nvPr/>
        </p:nvSpPr>
        <p:spPr>
          <a:xfrm>
            <a:off x="8092440" y="4937760"/>
            <a:ext cx="0" cy="137160"/>
          </a:xfrm>
          <a:prstGeom prst="line">
            <a:avLst/>
          </a:prstGeom>
          <a:noFill/>
          <a:ln w="19050">
            <a:solidFill>
              <a:srgbClr val="6B7A8F"/>
            </a:solidFill>
            <a:prstDash val="solid"/>
            <a:tailEnd type="triangle"/>
          </a:ln>
        </p:spPr>
      </p:sp>
      <p:sp>
        <p:nvSpPr>
          <p:cNvPr id="28" name="Text 2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Two stencils, one cone — built, run, and re-cut for v2</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E-069 ran five seeds (3 + 2 objectives) on the 0.3 m/s geometry; H1 is refuted, history buys persistence, not velocity. Under cone v2 the split between the stencils moves from distance to time — E-071 §4.5.</a:t>
            </a:r>
            <a:endParaRPr lang="en-US" sz="1250" dirty="0"/>
          </a:p>
        </p:txBody>
      </p:sp>
      <p:sp>
        <p:nvSpPr>
          <p:cNvPr id="4" name="Shape 2"/>
          <p:cNvSpPr/>
          <p:nvPr/>
        </p:nvSpPr>
        <p:spPr>
          <a:xfrm>
            <a:off x="548640" y="1463040"/>
            <a:ext cx="5120640" cy="3611880"/>
          </a:xfrm>
          <a:prstGeom prst="rect">
            <a:avLst/>
          </a:prstGeom>
          <a:solidFill>
            <a:srgbClr val="FBFCFD"/>
          </a:solidFill>
          <a:ln w="6350">
            <a:solidFill>
              <a:srgbClr val="B8C4D3"/>
            </a:solidFill>
            <a:prstDash val="solid"/>
          </a:ln>
        </p:spPr>
      </p:sp>
      <p:sp>
        <p:nvSpPr>
          <p:cNvPr id="5" name="Shape 3"/>
          <p:cNvSpPr/>
          <p:nvPr/>
        </p:nvSpPr>
        <p:spPr>
          <a:xfrm>
            <a:off x="1316736" y="2176272"/>
            <a:ext cx="4151376" cy="2478024"/>
          </a:xfrm>
          <a:custGeom>
            <a:avLst/>
            <a:gdLst/>
            <a:ahLst/>
            <a:cxnLst/>
            <a:rect l="l" t="t" r="r" b="b"/>
            <a:pathLst>
              <a:path w="4151376" h="2478024">
                <a:moveTo>
                  <a:pt x="1625454" y="26383"/>
                </a:moveTo>
                <a:lnTo>
                  <a:pt x="2003006" y="0"/>
                </a:lnTo>
                <a:lnTo>
                  <a:pt x="2262084" y="0"/>
                </a:lnTo>
                <a:lnTo>
                  <a:pt x="2459544" y="0"/>
                </a:lnTo>
                <a:lnTo>
                  <a:pt x="2619136" y="0"/>
                </a:lnTo>
                <a:lnTo>
                  <a:pt x="2753073" y="0"/>
                </a:lnTo>
                <a:lnTo>
                  <a:pt x="2868472" y="0"/>
                </a:lnTo>
                <a:lnTo>
                  <a:pt x="2969847" y="0"/>
                </a:lnTo>
                <a:lnTo>
                  <a:pt x="3060240" y="0"/>
                </a:lnTo>
                <a:lnTo>
                  <a:pt x="3141799" y="0"/>
                </a:lnTo>
                <a:lnTo>
                  <a:pt x="3216099" y="0"/>
                </a:lnTo>
                <a:lnTo>
                  <a:pt x="3284326" y="0"/>
                </a:lnTo>
                <a:lnTo>
                  <a:pt x="3347399" y="0"/>
                </a:lnTo>
                <a:lnTo>
                  <a:pt x="3406042" y="0"/>
                </a:lnTo>
                <a:lnTo>
                  <a:pt x="3460836" y="0"/>
                </a:lnTo>
                <a:lnTo>
                  <a:pt x="3512257" y="0"/>
                </a:lnTo>
                <a:lnTo>
                  <a:pt x="3560695" y="0"/>
                </a:lnTo>
                <a:lnTo>
                  <a:pt x="3606477" y="0"/>
                </a:lnTo>
                <a:lnTo>
                  <a:pt x="3649880" y="0"/>
                </a:lnTo>
                <a:lnTo>
                  <a:pt x="3691138" y="0"/>
                </a:lnTo>
                <a:lnTo>
                  <a:pt x="3730455" y="0"/>
                </a:lnTo>
                <a:lnTo>
                  <a:pt x="3768003" y="0"/>
                </a:lnTo>
                <a:lnTo>
                  <a:pt x="3803937" y="0"/>
                </a:lnTo>
                <a:lnTo>
                  <a:pt x="3838388" y="0"/>
                </a:lnTo>
                <a:lnTo>
                  <a:pt x="3871474" y="0"/>
                </a:lnTo>
                <a:lnTo>
                  <a:pt x="3903299" y="0"/>
                </a:lnTo>
                <a:lnTo>
                  <a:pt x="3933957" y="0"/>
                </a:lnTo>
                <a:lnTo>
                  <a:pt x="3963529" y="0"/>
                </a:lnTo>
                <a:lnTo>
                  <a:pt x="3992089" y="0"/>
                </a:lnTo>
                <a:lnTo>
                  <a:pt x="4019706" y="0"/>
                </a:lnTo>
                <a:lnTo>
                  <a:pt x="4046438" y="0"/>
                </a:lnTo>
                <a:lnTo>
                  <a:pt x="4072342" y="0"/>
                </a:lnTo>
                <a:lnTo>
                  <a:pt x="4097466" y="0"/>
                </a:lnTo>
                <a:lnTo>
                  <a:pt x="4121856" y="0"/>
                </a:lnTo>
                <a:lnTo>
                  <a:pt x="4145555" y="0"/>
                </a:lnTo>
                <a:lnTo>
                  <a:pt x="4145555" y="0"/>
                </a:lnTo>
                <a:lnTo>
                  <a:pt x="4145555" y="1958695"/>
                </a:lnTo>
                <a:lnTo>
                  <a:pt x="1625454" y="1958695"/>
                </a:lnTo>
                <a:close/>
              </a:path>
            </a:pathLst>
          </a:custGeom>
          <a:solidFill>
            <a:srgbClr val="1F7A4D">
              <a:alpha val="12000"/>
            </a:srgbClr>
          </a:solidFill>
          <a:ln w="12700">
            <a:solidFill>
              <a:srgbClr val="1F7A4D"/>
            </a:solidFill>
            <a:prstDash val="dash"/>
          </a:ln>
        </p:spPr>
      </p:sp>
      <p:sp>
        <p:nvSpPr>
          <p:cNvPr id="6" name="Shape 4"/>
          <p:cNvSpPr/>
          <p:nvPr/>
        </p:nvSpPr>
        <p:spPr>
          <a:xfrm>
            <a:off x="1316736" y="2176272"/>
            <a:ext cx="4151376" cy="2478024"/>
          </a:xfrm>
          <a:custGeom>
            <a:avLst/>
            <a:gdLst/>
            <a:ahLst/>
            <a:cxnLst/>
            <a:rect l="l" t="t" r="r" b="b"/>
            <a:pathLst>
              <a:path w="4151376" h="2478024">
                <a:moveTo>
                  <a:pt x="0" y="2478024"/>
                </a:moveTo>
                <a:lnTo>
                  <a:pt x="0" y="549094"/>
                </a:lnTo>
                <a:lnTo>
                  <a:pt x="570696" y="549094"/>
                </a:lnTo>
                <a:lnTo>
                  <a:pt x="578999" y="396211"/>
                </a:lnTo>
                <a:lnTo>
                  <a:pt x="909388" y="396211"/>
                </a:lnTo>
                <a:lnTo>
                  <a:pt x="917691" y="287738"/>
                </a:lnTo>
                <a:lnTo>
                  <a:pt x="1149694" y="287738"/>
                </a:lnTo>
                <a:lnTo>
                  <a:pt x="1157997" y="203601"/>
                </a:lnTo>
                <a:lnTo>
                  <a:pt x="1336090" y="203601"/>
                </a:lnTo>
                <a:lnTo>
                  <a:pt x="1344393" y="134855"/>
                </a:lnTo>
                <a:lnTo>
                  <a:pt x="1488387" y="134855"/>
                </a:lnTo>
                <a:lnTo>
                  <a:pt x="1496689" y="76732"/>
                </a:lnTo>
                <a:lnTo>
                  <a:pt x="1617152" y="76732"/>
                </a:lnTo>
                <a:lnTo>
                  <a:pt x="1617152" y="2478024"/>
                </a:lnTo>
                <a:close/>
              </a:path>
            </a:pathLst>
          </a:custGeom>
          <a:solidFill>
            <a:srgbClr val="1F7A4D">
              <a:alpha val="22000"/>
            </a:srgbClr>
          </a:solidFill>
          <a:ln w="12700">
            <a:solidFill>
              <a:srgbClr val="1F7A4D"/>
            </a:solidFill>
            <a:prstDash val="dash"/>
          </a:ln>
        </p:spPr>
      </p:sp>
      <p:sp>
        <p:nvSpPr>
          <p:cNvPr id="7" name="Shape 5"/>
          <p:cNvSpPr/>
          <p:nvPr/>
        </p:nvSpPr>
        <p:spPr>
          <a:xfrm>
            <a:off x="1316736" y="2176272"/>
            <a:ext cx="4151376" cy="2478024"/>
          </a:xfrm>
          <a:custGeom>
            <a:avLst/>
            <a:gdLst/>
            <a:ahLst/>
            <a:cxnLst/>
            <a:rect l="l" t="t" r="r" b="b"/>
            <a:pathLst>
              <a:path w="4151376" h="2478024">
                <a:moveTo>
                  <a:pt x="1625454" y="1116215"/>
                </a:moveTo>
                <a:lnTo>
                  <a:pt x="2003006" y="963332"/>
                </a:lnTo>
                <a:lnTo>
                  <a:pt x="2262084" y="854860"/>
                </a:lnTo>
                <a:lnTo>
                  <a:pt x="2459544" y="770722"/>
                </a:lnTo>
                <a:lnTo>
                  <a:pt x="2619136" y="701977"/>
                </a:lnTo>
                <a:lnTo>
                  <a:pt x="2753073" y="643853"/>
                </a:lnTo>
                <a:lnTo>
                  <a:pt x="2868472" y="593504"/>
                </a:lnTo>
                <a:lnTo>
                  <a:pt x="2969847" y="567442"/>
                </a:lnTo>
                <a:lnTo>
                  <a:pt x="3060240" y="567442"/>
                </a:lnTo>
                <a:lnTo>
                  <a:pt x="3141799" y="567442"/>
                </a:lnTo>
                <a:lnTo>
                  <a:pt x="3216099" y="567442"/>
                </a:lnTo>
                <a:lnTo>
                  <a:pt x="3284326" y="567442"/>
                </a:lnTo>
                <a:lnTo>
                  <a:pt x="3347399" y="567442"/>
                </a:lnTo>
                <a:lnTo>
                  <a:pt x="3406042" y="567442"/>
                </a:lnTo>
                <a:lnTo>
                  <a:pt x="3460836" y="567442"/>
                </a:lnTo>
                <a:lnTo>
                  <a:pt x="3512257" y="567442"/>
                </a:lnTo>
                <a:lnTo>
                  <a:pt x="3560695" y="567442"/>
                </a:lnTo>
                <a:lnTo>
                  <a:pt x="3606477" y="567442"/>
                </a:lnTo>
                <a:lnTo>
                  <a:pt x="3649880" y="567442"/>
                </a:lnTo>
                <a:lnTo>
                  <a:pt x="3691138" y="567442"/>
                </a:lnTo>
                <a:lnTo>
                  <a:pt x="3730455" y="567442"/>
                </a:lnTo>
                <a:lnTo>
                  <a:pt x="3768003" y="567442"/>
                </a:lnTo>
                <a:lnTo>
                  <a:pt x="3803937" y="567442"/>
                </a:lnTo>
                <a:lnTo>
                  <a:pt x="3838388" y="567442"/>
                </a:lnTo>
                <a:lnTo>
                  <a:pt x="3871474" y="567442"/>
                </a:lnTo>
                <a:lnTo>
                  <a:pt x="3903299" y="567442"/>
                </a:lnTo>
                <a:lnTo>
                  <a:pt x="3933957" y="567442"/>
                </a:lnTo>
                <a:lnTo>
                  <a:pt x="3963529" y="567442"/>
                </a:lnTo>
                <a:lnTo>
                  <a:pt x="3992089" y="567442"/>
                </a:lnTo>
                <a:lnTo>
                  <a:pt x="4019706" y="567442"/>
                </a:lnTo>
                <a:lnTo>
                  <a:pt x="4046438" y="567442"/>
                </a:lnTo>
                <a:lnTo>
                  <a:pt x="4072342" y="567442"/>
                </a:lnTo>
                <a:lnTo>
                  <a:pt x="4097466" y="567442"/>
                </a:lnTo>
                <a:lnTo>
                  <a:pt x="4121856" y="567442"/>
                </a:lnTo>
                <a:lnTo>
                  <a:pt x="4145555" y="567442"/>
                </a:lnTo>
                <a:lnTo>
                  <a:pt x="4145555" y="567442"/>
                </a:lnTo>
                <a:lnTo>
                  <a:pt x="4145555" y="1958695"/>
                </a:lnTo>
                <a:lnTo>
                  <a:pt x="1625454" y="1958695"/>
                </a:lnTo>
                <a:close/>
              </a:path>
            </a:pathLst>
          </a:custGeom>
          <a:solidFill>
            <a:srgbClr val="E07A2F">
              <a:alpha val="45000"/>
            </a:srgbClr>
          </a:solidFill>
          <a:ln w="9525">
            <a:solidFill>
              <a:srgbClr val="E07A2F"/>
            </a:solidFill>
            <a:prstDash val="solid"/>
          </a:ln>
        </p:spPr>
      </p:sp>
      <p:sp>
        <p:nvSpPr>
          <p:cNvPr id="8" name="Shape 6"/>
          <p:cNvSpPr/>
          <p:nvPr/>
        </p:nvSpPr>
        <p:spPr>
          <a:xfrm>
            <a:off x="1316736" y="2176272"/>
            <a:ext cx="4151376" cy="2478024"/>
          </a:xfrm>
          <a:custGeom>
            <a:avLst/>
            <a:gdLst/>
            <a:ahLst/>
            <a:cxnLst/>
            <a:rect l="l" t="t" r="r" b="b"/>
            <a:pathLst>
              <a:path w="4151376" h="2478024">
                <a:moveTo>
                  <a:pt x="0" y="2478024"/>
                </a:moveTo>
                <a:lnTo>
                  <a:pt x="0" y="1638925"/>
                </a:lnTo>
                <a:lnTo>
                  <a:pt x="570696" y="1638925"/>
                </a:lnTo>
                <a:lnTo>
                  <a:pt x="578999" y="1486042"/>
                </a:lnTo>
                <a:lnTo>
                  <a:pt x="909388" y="1486042"/>
                </a:lnTo>
                <a:lnTo>
                  <a:pt x="917691" y="1377570"/>
                </a:lnTo>
                <a:lnTo>
                  <a:pt x="1149694" y="1377570"/>
                </a:lnTo>
                <a:lnTo>
                  <a:pt x="1157997" y="1293433"/>
                </a:lnTo>
                <a:lnTo>
                  <a:pt x="1336090" y="1293433"/>
                </a:lnTo>
                <a:lnTo>
                  <a:pt x="1344393" y="1224687"/>
                </a:lnTo>
                <a:lnTo>
                  <a:pt x="1488387" y="1224687"/>
                </a:lnTo>
                <a:lnTo>
                  <a:pt x="1496689" y="1166564"/>
                </a:lnTo>
                <a:lnTo>
                  <a:pt x="1617152" y="1166564"/>
                </a:lnTo>
                <a:lnTo>
                  <a:pt x="1617152" y="2478024"/>
                </a:lnTo>
                <a:close/>
              </a:path>
            </a:pathLst>
          </a:custGeom>
          <a:solidFill>
            <a:srgbClr val="6A4C93">
              <a:alpha val="45000"/>
            </a:srgbClr>
          </a:solidFill>
          <a:ln w="9525">
            <a:solidFill>
              <a:srgbClr val="6A4C93"/>
            </a:solidFill>
            <a:prstDash val="solid"/>
          </a:ln>
        </p:spPr>
      </p:sp>
      <p:sp>
        <p:nvSpPr>
          <p:cNvPr id="9" name="Shape 7"/>
          <p:cNvSpPr/>
          <p:nvPr/>
        </p:nvSpPr>
        <p:spPr>
          <a:xfrm>
            <a:off x="1316736" y="2743714"/>
            <a:ext cx="4151376" cy="0"/>
          </a:xfrm>
          <a:prstGeom prst="line">
            <a:avLst/>
          </a:prstGeom>
          <a:noFill/>
          <a:ln w="11430">
            <a:solidFill>
              <a:srgbClr val="A23B3B"/>
            </a:solidFill>
            <a:prstDash val="sysDot"/>
          </a:ln>
        </p:spPr>
      </p:sp>
      <p:sp>
        <p:nvSpPr>
          <p:cNvPr id="10" name="Text 8"/>
          <p:cNvSpPr txBox="1"/>
          <p:nvPr/>
        </p:nvSpPr>
        <p:spPr>
          <a:xfrm>
            <a:off x="566928" y="2661418"/>
            <a:ext cx="731520" cy="164592"/>
          </a:xfrm>
          <a:prstGeom prst="rect">
            <a:avLst/>
          </a:prstGeom>
          <a:noFill/>
          <a:ln/>
        </p:spPr>
        <p:txBody>
          <a:bodyPr wrap="square" lIns="0" tIns="0" rIns="0" bIns="0" rtlCol="0" anchor="t"/>
          <a:lstStyle/>
          <a:p>
            <a:pPr algn="r" indent="0" marL="0">
              <a:buNone/>
            </a:pPr>
            <a:r>
              <a:rPr lang="en-US" sz="650" b="1" dirty="0">
                <a:solidFill>
                  <a:srgbClr val="A23B3B"/>
                </a:solidFill>
                <a:latin typeface="Calibri" pitchFamily="34" charset="0"/>
                <a:ea typeface="Calibri" pitchFamily="34" charset="-122"/>
                <a:cs typeface="Calibri" pitchFamily="34" charset="-120"/>
              </a:rPr>
              <a:t>4,444 km</a:t>
            </a:r>
            <a:endParaRPr lang="en-US" sz="950" dirty="0"/>
          </a:p>
        </p:txBody>
      </p:sp>
      <p:sp>
        <p:nvSpPr>
          <p:cNvPr id="11" name="Text 9"/>
          <p:cNvSpPr txBox="1"/>
          <p:nvPr/>
        </p:nvSpPr>
        <p:spPr>
          <a:xfrm>
            <a:off x="3184855" y="2762002"/>
            <a:ext cx="1005840" cy="137160"/>
          </a:xfrm>
          <a:prstGeom prst="rect">
            <a:avLst/>
          </a:prstGeom>
          <a:noFill/>
          <a:ln/>
        </p:spPr>
        <p:txBody>
          <a:bodyPr wrap="square" lIns="0" tIns="0" rIns="0" bIns="0" rtlCol="0" anchor="t"/>
          <a:lstStyle/>
          <a:p>
            <a:pPr indent="0" marL="0">
              <a:buNone/>
            </a:pPr>
            <a:r>
              <a:rPr lang="en-US" sz="600" b="1" i="1" dirty="0">
                <a:solidFill>
                  <a:srgbClr val="A23B3B"/>
                </a:solidFill>
                <a:latin typeface="Calibri" pitchFamily="34" charset="0"/>
                <a:ea typeface="Calibri" pitchFamily="34" charset="-122"/>
                <a:cs typeface="Calibri" pitchFamily="34" charset="-120"/>
              </a:rPr>
              <a:t>E-069's outer cap</a:t>
            </a:r>
            <a:endParaRPr lang="en-US" sz="950" dirty="0"/>
          </a:p>
        </p:txBody>
      </p:sp>
      <p:sp>
        <p:nvSpPr>
          <p:cNvPr id="12" name="Shape 10"/>
          <p:cNvSpPr/>
          <p:nvPr/>
        </p:nvSpPr>
        <p:spPr>
          <a:xfrm>
            <a:off x="1316736" y="2176272"/>
            <a:ext cx="4151376" cy="0"/>
          </a:xfrm>
          <a:prstGeom prst="line">
            <a:avLst/>
          </a:prstGeom>
          <a:noFill/>
          <a:ln w="11430">
            <a:solidFill>
              <a:srgbClr val="A23B3B"/>
            </a:solidFill>
            <a:prstDash val="sysDot"/>
          </a:ln>
        </p:spPr>
      </p:sp>
      <p:sp>
        <p:nvSpPr>
          <p:cNvPr id="13" name="Text 11"/>
          <p:cNvSpPr txBox="1"/>
          <p:nvPr/>
        </p:nvSpPr>
        <p:spPr>
          <a:xfrm>
            <a:off x="566928" y="2093976"/>
            <a:ext cx="731520" cy="164592"/>
          </a:xfrm>
          <a:prstGeom prst="rect">
            <a:avLst/>
          </a:prstGeom>
          <a:noFill/>
          <a:ln/>
        </p:spPr>
        <p:txBody>
          <a:bodyPr wrap="square" lIns="0" tIns="0" rIns="0" bIns="0" rtlCol="0" anchor="t"/>
          <a:lstStyle/>
          <a:p>
            <a:pPr algn="r" indent="0" marL="0">
              <a:buNone/>
            </a:pPr>
            <a:r>
              <a:rPr lang="en-US" sz="650" b="1" dirty="0">
                <a:solidFill>
                  <a:srgbClr val="A23B3B"/>
                </a:solidFill>
                <a:latin typeface="Calibri" pitchFamily="34" charset="0"/>
                <a:ea typeface="Calibri" pitchFamily="34" charset="-122"/>
                <a:cs typeface="Calibri" pitchFamily="34" charset="-120"/>
              </a:rPr>
              <a:t>20,015 km</a:t>
            </a:r>
            <a:endParaRPr lang="en-US" sz="950" dirty="0"/>
          </a:p>
        </p:txBody>
      </p:sp>
      <p:sp>
        <p:nvSpPr>
          <p:cNvPr id="14" name="Text 12"/>
          <p:cNvSpPr txBox="1"/>
          <p:nvPr/>
        </p:nvSpPr>
        <p:spPr>
          <a:xfrm>
            <a:off x="4388754" y="2020824"/>
            <a:ext cx="1005840" cy="137160"/>
          </a:xfrm>
          <a:prstGeom prst="rect">
            <a:avLst/>
          </a:prstGeom>
          <a:noFill/>
          <a:ln/>
        </p:spPr>
        <p:txBody>
          <a:bodyPr wrap="square" lIns="0" tIns="0" rIns="0" bIns="0" rtlCol="0" anchor="t"/>
          <a:lstStyle/>
          <a:p>
            <a:pPr indent="0" marL="0">
              <a:buNone/>
            </a:pPr>
            <a:r>
              <a:rPr lang="en-US" sz="600" b="1" i="1" dirty="0">
                <a:solidFill>
                  <a:srgbClr val="A23B3B"/>
                </a:solidFill>
                <a:latin typeface="Calibri" pitchFamily="34" charset="0"/>
                <a:ea typeface="Calibri" pitchFamily="34" charset="-122"/>
                <a:cs typeface="Calibri" pitchFamily="34" charset="-120"/>
              </a:rPr>
              <a:t>antipode</a:t>
            </a:r>
            <a:endParaRPr lang="en-US" sz="950" dirty="0"/>
          </a:p>
        </p:txBody>
      </p:sp>
      <p:sp>
        <p:nvSpPr>
          <p:cNvPr id="15" name="Shape 13"/>
          <p:cNvSpPr/>
          <p:nvPr/>
        </p:nvSpPr>
        <p:spPr>
          <a:xfrm>
            <a:off x="1316736" y="4608576"/>
            <a:ext cx="4151376" cy="45720"/>
          </a:xfrm>
          <a:prstGeom prst="rect">
            <a:avLst/>
          </a:prstGeom>
          <a:solidFill>
            <a:srgbClr val="F2C14E"/>
          </a:solidFill>
          <a:ln w="12700">
            <a:solidFill>
              <a:srgbClr val="333333"/>
            </a:solidFill>
            <a:prstDash val="solid"/>
          </a:ln>
        </p:spPr>
      </p:sp>
      <p:sp>
        <p:nvSpPr>
          <p:cNvPr id="16" name="Shape 14"/>
          <p:cNvSpPr/>
          <p:nvPr/>
        </p:nvSpPr>
        <p:spPr>
          <a:xfrm>
            <a:off x="1316736" y="4654296"/>
            <a:ext cx="4151376" cy="0"/>
          </a:xfrm>
          <a:prstGeom prst="line">
            <a:avLst/>
          </a:prstGeom>
          <a:noFill/>
          <a:ln w="12700">
            <a:solidFill>
              <a:srgbClr val="1B2430"/>
            </a:solidFill>
            <a:prstDash val="solid"/>
            <a:tailEnd type="triangle"/>
          </a:ln>
        </p:spPr>
      </p:sp>
      <p:sp>
        <p:nvSpPr>
          <p:cNvPr id="17" name="Shape 15"/>
          <p:cNvSpPr/>
          <p:nvPr/>
        </p:nvSpPr>
        <p:spPr>
          <a:xfrm flipV="1">
            <a:off x="1316736" y="2176272"/>
            <a:ext cx="0" cy="2478024"/>
          </a:xfrm>
          <a:prstGeom prst="line">
            <a:avLst/>
          </a:prstGeom>
          <a:noFill/>
          <a:ln w="12700">
            <a:solidFill>
              <a:srgbClr val="1B2430"/>
            </a:solidFill>
            <a:prstDash val="solid"/>
            <a:tailEnd type="triangle"/>
          </a:ln>
        </p:spPr>
      </p:sp>
      <p:sp>
        <p:nvSpPr>
          <p:cNvPr id="18" name="Text 16"/>
          <p:cNvSpPr txBox="1"/>
          <p:nvPr/>
        </p:nvSpPr>
        <p:spPr>
          <a:xfrm>
            <a:off x="1133856" y="4672584"/>
            <a:ext cx="365760" cy="182880"/>
          </a:xfrm>
          <a:prstGeom prst="rect">
            <a:avLst/>
          </a:prstGeom>
          <a:noFill/>
          <a:ln/>
        </p:spPr>
        <p:txBody>
          <a:bodyPr wrap="square" lIns="0" tIns="0" rIns="0" bIns="0" rtlCol="0" anchor="ctr"/>
          <a:lstStyle/>
          <a:p>
            <a:pPr algn="ctr" indent="0" marL="0">
              <a:buNone/>
            </a:pPr>
            <a:r>
              <a:rPr lang="en-US" sz="700" dirty="0">
                <a:solidFill>
                  <a:srgbClr val="6B7A8F"/>
                </a:solidFill>
                <a:latin typeface="Calibri" pitchFamily="34" charset="0"/>
                <a:ea typeface="Calibri" pitchFamily="34" charset="-122"/>
                <a:cs typeface="Calibri" pitchFamily="34" charset="-120"/>
              </a:rPr>
              <a:t>1</a:t>
            </a:r>
            <a:endParaRPr lang="en-US" sz="700" dirty="0"/>
          </a:p>
        </p:txBody>
      </p:sp>
      <p:sp>
        <p:nvSpPr>
          <p:cNvPr id="19" name="Text 17"/>
          <p:cNvSpPr txBox="1"/>
          <p:nvPr/>
        </p:nvSpPr>
        <p:spPr>
          <a:xfrm>
            <a:off x="2630545" y="4672584"/>
            <a:ext cx="365760" cy="182880"/>
          </a:xfrm>
          <a:prstGeom prst="rect">
            <a:avLst/>
          </a:prstGeom>
          <a:noFill/>
          <a:ln/>
        </p:spPr>
        <p:txBody>
          <a:bodyPr wrap="square" lIns="0" tIns="0" rIns="0" bIns="0" rtlCol="0" anchor="ctr"/>
          <a:lstStyle/>
          <a:p>
            <a:pPr algn="ctr" indent="0" marL="0">
              <a:buNone/>
            </a:pPr>
            <a:r>
              <a:rPr lang="en-US" sz="700" dirty="0">
                <a:solidFill>
                  <a:srgbClr val="6B7A8F"/>
                </a:solidFill>
                <a:latin typeface="Calibri" pitchFamily="34" charset="0"/>
                <a:ea typeface="Calibri" pitchFamily="34" charset="-122"/>
                <a:cs typeface="Calibri" pitchFamily="34" charset="-120"/>
              </a:rPr>
              <a:t>6</a:t>
            </a:r>
            <a:endParaRPr lang="en-US" sz="700" dirty="0"/>
          </a:p>
        </p:txBody>
      </p:sp>
      <p:sp>
        <p:nvSpPr>
          <p:cNvPr id="20" name="Text 18"/>
          <p:cNvSpPr txBox="1"/>
          <p:nvPr/>
        </p:nvSpPr>
        <p:spPr>
          <a:xfrm>
            <a:off x="2759310" y="4672584"/>
            <a:ext cx="365760" cy="182880"/>
          </a:xfrm>
          <a:prstGeom prst="rect">
            <a:avLst/>
          </a:prstGeom>
          <a:noFill/>
          <a:ln/>
        </p:spPr>
        <p:txBody>
          <a:bodyPr wrap="square" lIns="0" tIns="0" rIns="0" bIns="0" rtlCol="0" anchor="ctr"/>
          <a:lstStyle/>
          <a:p>
            <a:pPr algn="ctr" indent="0" marL="0">
              <a:buNone/>
            </a:pPr>
            <a:r>
              <a:rPr lang="en-US" sz="700" dirty="0">
                <a:solidFill>
                  <a:srgbClr val="6B7A8F"/>
                </a:solidFill>
                <a:latin typeface="Calibri" pitchFamily="34" charset="0"/>
                <a:ea typeface="Calibri" pitchFamily="34" charset="-122"/>
                <a:cs typeface="Calibri" pitchFamily="34" charset="-120"/>
              </a:rPr>
              <a:t>7</a:t>
            </a:r>
            <a:endParaRPr lang="en-US" sz="700" dirty="0"/>
          </a:p>
        </p:txBody>
      </p:sp>
      <p:sp>
        <p:nvSpPr>
          <p:cNvPr id="21" name="Text 19"/>
          <p:cNvSpPr txBox="1"/>
          <p:nvPr/>
        </p:nvSpPr>
        <p:spPr>
          <a:xfrm>
            <a:off x="4127235" y="4672584"/>
            <a:ext cx="365760" cy="182880"/>
          </a:xfrm>
          <a:prstGeom prst="rect">
            <a:avLst/>
          </a:prstGeom>
          <a:noFill/>
          <a:ln/>
        </p:spPr>
        <p:txBody>
          <a:bodyPr wrap="square" lIns="0" tIns="0" rIns="0" bIns="0" rtlCol="0" anchor="ctr"/>
          <a:lstStyle/>
          <a:p>
            <a:pPr algn="ctr" indent="0" marL="0">
              <a:buNone/>
            </a:pPr>
            <a:r>
              <a:rPr lang="en-US" sz="700" dirty="0">
                <a:solidFill>
                  <a:srgbClr val="6B7A8F"/>
                </a:solidFill>
                <a:latin typeface="Calibri" pitchFamily="34" charset="0"/>
                <a:ea typeface="Calibri" pitchFamily="34" charset="-122"/>
                <a:cs typeface="Calibri" pitchFamily="34" charset="-120"/>
              </a:rPr>
              <a:t>36</a:t>
            </a:r>
            <a:endParaRPr lang="en-US" sz="700" dirty="0"/>
          </a:p>
        </p:txBody>
      </p:sp>
      <p:sp>
        <p:nvSpPr>
          <p:cNvPr id="22" name="Text 20"/>
          <p:cNvSpPr txBox="1"/>
          <p:nvPr/>
        </p:nvSpPr>
        <p:spPr>
          <a:xfrm>
            <a:off x="5285232" y="4672584"/>
            <a:ext cx="365760" cy="182880"/>
          </a:xfrm>
          <a:prstGeom prst="rect">
            <a:avLst/>
          </a:prstGeom>
          <a:noFill/>
          <a:ln/>
        </p:spPr>
        <p:txBody>
          <a:bodyPr wrap="square" lIns="0" tIns="0" rIns="0" bIns="0" rtlCol="0" anchor="ctr"/>
          <a:lstStyle/>
          <a:p>
            <a:pPr algn="ctr" indent="0" marL="0">
              <a:buNone/>
            </a:pPr>
            <a:r>
              <a:rPr lang="en-US" sz="700" dirty="0">
                <a:solidFill>
                  <a:srgbClr val="6B7A8F"/>
                </a:solidFill>
                <a:latin typeface="Calibri" pitchFamily="34" charset="0"/>
                <a:ea typeface="Calibri" pitchFamily="34" charset="-122"/>
                <a:cs typeface="Calibri" pitchFamily="34" charset="-120"/>
              </a:rPr>
              <a:t>144</a:t>
            </a:r>
            <a:endParaRPr lang="en-US" sz="700" dirty="0"/>
          </a:p>
        </p:txBody>
      </p:sp>
      <p:sp>
        <p:nvSpPr>
          <p:cNvPr id="23" name="Text 21"/>
          <p:cNvSpPr txBox="1"/>
          <p:nvPr/>
        </p:nvSpPr>
        <p:spPr>
          <a:xfrm>
            <a:off x="1316736" y="4846320"/>
            <a:ext cx="4151376"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lag k (pentads, log) — 1 pentad = 5 days; 144 = 2 years. Lag 0 is the 3 × 3 patch.</a:t>
            </a:r>
            <a:endParaRPr lang="en-US" sz="650" dirty="0"/>
          </a:p>
        </p:txBody>
      </p:sp>
      <p:sp>
        <p:nvSpPr>
          <p:cNvPr id="24" name="Text 22"/>
          <p:cNvSpPr txBox="1"/>
          <p:nvPr/>
        </p:nvSpPr>
        <p:spPr>
          <a:xfrm>
            <a:off x="566928" y="4092021"/>
            <a:ext cx="731520" cy="164592"/>
          </a:xfrm>
          <a:prstGeom prst="rect">
            <a:avLst/>
          </a:prstGeom>
          <a:noFill/>
          <a:ln/>
        </p:spPr>
        <p:txBody>
          <a:bodyPr wrap="square" lIns="0" tIns="0" rIns="0" bIns="0" rtlCol="0" anchor="t"/>
          <a:lstStyle/>
          <a:p>
            <a:pPr algn="r" indent="0" marL="0">
              <a:buNone/>
            </a:pPr>
            <a:r>
              <a:rPr lang="en-US" sz="650" dirty="0">
                <a:solidFill>
                  <a:srgbClr val="6B7A8F"/>
                </a:solidFill>
                <a:latin typeface="Calibri" pitchFamily="34" charset="0"/>
                <a:ea typeface="Calibri" pitchFamily="34" charset="-122"/>
                <a:cs typeface="Calibri" pitchFamily="34" charset="-120"/>
              </a:rPr>
              <a:t>100 km</a:t>
            </a:r>
            <a:endParaRPr lang="en-US" sz="950" dirty="0"/>
          </a:p>
        </p:txBody>
      </p:sp>
      <p:sp>
        <p:nvSpPr>
          <p:cNvPr id="25" name="Text 23"/>
          <p:cNvSpPr txBox="1"/>
          <p:nvPr/>
        </p:nvSpPr>
        <p:spPr>
          <a:xfrm>
            <a:off x="566928" y="3260623"/>
            <a:ext cx="731520" cy="164592"/>
          </a:xfrm>
          <a:prstGeom prst="rect">
            <a:avLst/>
          </a:prstGeom>
          <a:noFill/>
          <a:ln/>
        </p:spPr>
        <p:txBody>
          <a:bodyPr wrap="square" lIns="0" tIns="0" rIns="0" bIns="0" rtlCol="0" anchor="t"/>
          <a:lstStyle/>
          <a:p>
            <a:pPr algn="r" indent="0" marL="0">
              <a:buNone/>
            </a:pPr>
            <a:r>
              <a:rPr lang="en-US" sz="650" dirty="0">
                <a:solidFill>
                  <a:srgbClr val="6B7A8F"/>
                </a:solidFill>
                <a:latin typeface="Calibri" pitchFamily="34" charset="0"/>
                <a:ea typeface="Calibri" pitchFamily="34" charset="-122"/>
                <a:cs typeface="Calibri" pitchFamily="34" charset="-120"/>
              </a:rPr>
              <a:t>907 km</a:t>
            </a:r>
            <a:endParaRPr lang="en-US" sz="950" dirty="0"/>
          </a:p>
        </p:txBody>
      </p:sp>
      <p:sp>
        <p:nvSpPr>
          <p:cNvPr id="26" name="Text 24"/>
          <p:cNvSpPr txBox="1"/>
          <p:nvPr/>
        </p:nvSpPr>
        <p:spPr>
          <a:xfrm>
            <a:off x="640080" y="1508760"/>
            <a:ext cx="4937760" cy="566928"/>
          </a:xfrm>
          <a:prstGeom prst="rect">
            <a:avLst/>
          </a:prstGeom>
          <a:noFill/>
          <a:ln/>
        </p:spPr>
        <p:txBody>
          <a:bodyPr wrap="square" lIns="0" tIns="0" rIns="0" bIns="0" rtlCol="0" anchor="t"/>
          <a:lstStyle/>
          <a:p>
            <a:pPr indent="0" marL="0">
              <a:buNone/>
            </a:pPr>
            <a:r>
              <a:rPr lang="en-US" sz="680" b="1" dirty="0">
                <a:solidFill>
                  <a:srgbClr val="6A4C93"/>
                </a:solidFill>
                <a:latin typeface="Calibri" pitchFamily="34" charset="0"/>
                <a:ea typeface="Calibri" pitchFamily="34" charset="-122"/>
                <a:cs typeface="Calibri" pitchFamily="34" charset="-120"/>
              </a:rPr>
              <a:t>E-069 as built  </a:t>
            </a:r>
            <a:pPr indent="0" marL="0">
              <a:buNone/>
            </a:pPr>
            <a:r>
              <a:rPr lang="en-US" sz="680" dirty="0">
                <a:solidFill>
                  <a:srgbClr val="1B2430"/>
                </a:solidFill>
                <a:latin typeface="Calibri" pitchFamily="34" charset="0"/>
                <a:ea typeface="Calibri" pitchFamily="34" charset="-122"/>
                <a:cs typeface="Calibri" pitchFamily="34" charset="-120"/>
              </a:rPr>
              <a:t>inner (codec): raw channels, lags 1–6, 130 → 907 km · </a:t>
            </a:r>
            <a:pPr indent="0" marL="0">
              <a:buNone/>
            </a:pPr>
            <a:r>
              <a:rPr lang="en-US" sz="680" b="1" dirty="0">
                <a:solidFill>
                  <a:srgbClr val="E07A2F"/>
                </a:solidFill>
                <a:latin typeface="Calibri" pitchFamily="34" charset="0"/>
                <a:ea typeface="Calibri" pitchFamily="34" charset="-122"/>
                <a:cs typeface="Calibri" pitchFamily="34" charset="-120"/>
              </a:rPr>
              <a:t>outer (stage 2): </a:t>
            </a:r>
            <a:pPr indent="0" marL="0">
              <a:buNone/>
            </a:pPr>
            <a:r>
              <a:rPr lang="en-US" sz="680" dirty="0">
                <a:solidFill>
                  <a:srgbClr val="1B2430"/>
                </a:solidFill>
                <a:latin typeface="Calibri" pitchFamily="34" charset="0"/>
                <a:ea typeface="Calibri" pitchFamily="34" charset="-122"/>
                <a:cs typeface="Calibri" pitchFamily="34" charset="-120"/>
              </a:rPr>
              <a:t>embeddings, lags 7–143, 111 → 4,444 km</a:t>
            </a:r>
            <a:endParaRPr lang="en-US" sz="950" dirty="0"/>
          </a:p>
          <a:p>
            <a:pPr indent="0" marL="0">
              <a:buNone/>
            </a:pPr>
            <a:r>
              <a:rPr lang="en-US" sz="680" b="1" dirty="0">
                <a:solidFill>
                  <a:srgbClr val="1F7A4D"/>
                </a:solidFill>
                <a:latin typeface="Calibri" pitchFamily="34" charset="0"/>
                <a:ea typeface="Calibri" pitchFamily="34" charset="-122"/>
                <a:cs typeface="Calibri" pitchFamily="34" charset="-120"/>
              </a:rPr>
              <a:t>cone v2 (E-071 §4.5)  </a:t>
            </a:r>
            <a:pPr indent="0" marL="0">
              <a:buNone/>
            </a:pPr>
            <a:r>
              <a:rPr lang="en-US" sz="680" dirty="0">
                <a:solidFill>
                  <a:srgbClr val="1B2430"/>
                </a:solidFill>
                <a:latin typeface="Calibri" pitchFamily="34" charset="0"/>
                <a:ea typeface="Calibri" pitchFamily="34" charset="-122"/>
                <a:cs typeface="Calibri" pitchFamily="34" charset="-120"/>
              </a:rPr>
              <a:t>inner: 2,333 km already at lag 0, 16,330 km at lag 6 · outer: 18,664 km at lag 7, at the antipode from lag 8 — a global band</a:t>
            </a:r>
            <a:endParaRPr lang="en-US" sz="950" dirty="0"/>
          </a:p>
          <a:p>
            <a:pPr indent="0" marL="0">
              <a:buNone/>
            </a:pPr>
            <a:r>
              <a:rPr lang="en-US" sz="680" b="1" dirty="0">
                <a:solidFill>
                  <a:srgbClr val="9A7B1E"/>
                </a:solidFill>
                <a:latin typeface="Calibri" pitchFamily="34" charset="0"/>
                <a:ea typeface="Calibri" pitchFamily="34" charset="-122"/>
                <a:cs typeface="Calibri" pitchFamily="34" charset="-120"/>
              </a:rPr>
              <a:t>anchor column  </a:t>
            </a:r>
            <a:pPr indent="0" marL="0">
              <a:buNone/>
            </a:pPr>
            <a:r>
              <a:rPr lang="en-US" sz="680" dirty="0">
                <a:solidFill>
                  <a:srgbClr val="1B2430"/>
                </a:solidFill>
                <a:latin typeface="Calibri" pitchFamily="34" charset="0"/>
                <a:ea typeface="Calibri" pitchFamily="34" charset="-122"/>
                <a:cs typeface="Calibri" pitchFamily="34" charset="-120"/>
              </a:rPr>
              <a:t>the only overlap, in both geometries</a:t>
            </a:r>
            <a:endParaRPr lang="en-US" sz="950" dirty="0"/>
          </a:p>
        </p:txBody>
      </p:sp>
      <p:sp>
        <p:nvSpPr>
          <p:cNvPr id="27" name="Text 25"/>
          <p:cNvSpPr txBox="1"/>
          <p:nvPr/>
        </p:nvSpPr>
        <p:spPr>
          <a:xfrm>
            <a:off x="548640" y="5148072"/>
            <a:ext cx="5120640" cy="566928"/>
          </a:xfrm>
          <a:prstGeom prst="rect">
            <a:avLst/>
          </a:prstGeom>
          <a:noFill/>
          <a:ln/>
        </p:spPr>
        <p:txBody>
          <a:bodyPr wrap="square" lIns="0" tIns="0" rIns="0" bIns="0" rtlCol="0" anchor="t"/>
          <a:lstStyle/>
          <a:p>
            <a:pPr indent="0" marL="0">
              <a:buNone/>
            </a:pPr>
            <a:r>
              <a:rPr lang="en-US" sz="750" b="1" dirty="0">
                <a:solidFill>
                  <a:srgbClr val="6A4C93"/>
                </a:solidFill>
                <a:latin typeface="Calibri" pitchFamily="34" charset="0"/>
                <a:ea typeface="Calibri" pitchFamily="34" charset="-122"/>
                <a:cs typeface="Calibri" pitchFamily="34" charset="-120"/>
              </a:rPr>
              <a:t>E-069:  </a:t>
            </a:r>
            <a:pPr indent="0" marL="0">
              <a:buNone/>
            </a:pPr>
            <a:r>
              <a:rPr lang="en-US" sz="750" dirty="0">
                <a:solidFill>
                  <a:srgbClr val="1B2430"/>
                </a:solidFill>
                <a:latin typeface="Calibri" pitchFamily="34" charset="0"/>
                <a:ea typeface="Calibri" pitchFamily="34" charset="-122"/>
                <a:cs typeface="Calibri" pitchFamily="34" charset="-120"/>
              </a:rPr>
              <a:t>the codec owns the near field, stage 2 the far field.    </a:t>
            </a:r>
            <a:pPr indent="0" marL="0">
              <a:buNone/>
            </a:pPr>
            <a:r>
              <a:rPr lang="en-US" sz="750" b="1" dirty="0">
                <a:solidFill>
                  <a:srgbClr val="1F7A4D"/>
                </a:solidFill>
                <a:latin typeface="Calibri" pitchFamily="34" charset="0"/>
                <a:ea typeface="Calibri" pitchFamily="34" charset="-122"/>
                <a:cs typeface="Calibri" pitchFamily="34" charset="-120"/>
              </a:rPr>
              <a:t>v2:  </a:t>
            </a:r>
            <a:pPr indent="0" marL="0">
              <a:buNone/>
            </a:pPr>
            <a:r>
              <a:rPr lang="en-US" sz="750" dirty="0">
                <a:solidFill>
                  <a:srgbClr val="1B2430"/>
                </a:solidFill>
                <a:latin typeface="Calibri" pitchFamily="34" charset="0"/>
                <a:ea typeface="Calibri" pitchFamily="34" charset="-122"/>
                <a:cs typeface="Calibri" pitchFamily="34" charset="-120"/>
              </a:rPr>
              <a:t>the codec owns the last 30 days planet-wide; stage 2 owns 35 days – 2 years planet-wide. The overlap is still exactly the anchor column, and the empty annulus for k ≤ 6 still holds by construction.</a:t>
            </a:r>
            <a:endParaRPr lang="en-US" sz="950" dirty="0"/>
          </a:p>
        </p:txBody>
      </p:sp>
      <p:sp>
        <p:nvSpPr>
          <p:cNvPr id="28" name="Shape 26"/>
          <p:cNvSpPr/>
          <p:nvPr/>
        </p:nvSpPr>
        <p:spPr>
          <a:xfrm>
            <a:off x="5897880" y="1463040"/>
            <a:ext cx="5715000" cy="4251960"/>
          </a:xfrm>
          <a:prstGeom prst="roundRect">
            <a:avLst>
              <a:gd name="adj" fmla="val 1720"/>
            </a:avLst>
          </a:prstGeom>
          <a:solidFill>
            <a:srgbClr val="F4F6F9"/>
          </a:solidFill>
          <a:ln w="15875">
            <a:solidFill>
              <a:srgbClr val="0B1F3A"/>
            </a:solidFill>
            <a:prstDash val="solid"/>
          </a:ln>
        </p:spPr>
      </p:sp>
      <p:sp>
        <p:nvSpPr>
          <p:cNvPr id="29" name="Text 27"/>
          <p:cNvSpPr txBox="1"/>
          <p:nvPr/>
        </p:nvSpPr>
        <p:spPr>
          <a:xfrm>
            <a:off x="6035040" y="1554480"/>
            <a:ext cx="5440680" cy="4069080"/>
          </a:xfrm>
          <a:prstGeom prst="rect">
            <a:avLst/>
          </a:prstGeom>
          <a:noFill/>
          <a:ln/>
        </p:spPr>
        <p:txBody>
          <a:bodyPr wrap="square" lIns="0" tIns="0" rIns="0" bIns="0" rtlCol="0" anchor="t"/>
          <a:lstStyle/>
          <a:p>
            <a:pPr indent="0" marL="0">
              <a:spcAft>
                <a:spcPts val="600"/>
              </a:spcAft>
              <a:buNone/>
            </a:pPr>
            <a:r>
              <a:rPr lang="en-US" sz="1100" b="1" dirty="0">
                <a:solidFill>
                  <a:srgbClr val="0B1F3A"/>
                </a:solidFill>
                <a:latin typeface="Calibri" pitchFamily="34" charset="0"/>
                <a:ea typeface="Calibri" pitchFamily="34" charset="-122"/>
                <a:cs typeface="Calibri" pitchFamily="34" charset="-120"/>
              </a:rPr>
              <a:t>What five seeds said (EXPERIMENTS.md § E-069, 3–4 Sep)</a:t>
            </a:r>
            <a:endParaRPr lang="en-US" sz="950" dirty="0"/>
          </a:p>
          <a:p>
            <a:pPr indent="0" marL="0">
              <a:buNone/>
            </a:pPr>
            <a:r>
              <a:rPr lang="en-US" sz="860" b="1" dirty="0">
                <a:solidFill>
                  <a:srgbClr val="A23B3B"/>
                </a:solidFill>
                <a:latin typeface="Calibri" pitchFamily="34" charset="0"/>
                <a:ea typeface="Calibri" pitchFamily="34" charset="-122"/>
                <a:cs typeface="Calibri" pitchFamily="34" charset="-120"/>
              </a:rPr>
              <a:t>1 · H1 refuted.  </a:t>
            </a:r>
            <a:pPr indent="0" marL="0">
              <a:spcAft>
                <a:spcPts val="400"/>
              </a:spcAft>
              <a:buNone/>
            </a:pPr>
            <a:r>
              <a:rPr lang="en-US" sz="860" dirty="0">
                <a:solidFill>
                  <a:srgbClr val="1B2430"/>
                </a:solidFill>
                <a:latin typeface="Calibri" pitchFamily="34" charset="0"/>
                <a:ea typeface="Calibri" pitchFamily="34" charset="-122"/>
                <a:cs typeface="Calibri" pitchFamily="34" charset="-120"/>
              </a:rPr>
              <a:t>The velocity probe — a ridge from the 32-number embedding to the anchor's own current, with the current channels hidden from the encoder — reads AT OR BELOW the raw-patch bar for the cone on both components at every seed, while the snapshot twin sits at the bar. History buys no velocity beyond geostrophy-from-the-sea-surface-height-patch at 7.05M parameters and 20k steps, under either objective. E-069 masking: cone cur_u 0.60 / 0.10 / 0.62 against a twin at ≈ 0.70; cur_v ≈ 0 at every seed. E-069b lag0-drop objective: cone 0.63 / 0.66 and 0.58 / 0.59 against bars 0.64 / 0.71 and 0.67 / 0.70. A CPU synthetic-advection test finds no displacement primitive at the scales tried — a reading, not a closure: the field's certified ceiling was 0.16.</a:t>
            </a:r>
            <a:endParaRPr lang="en-US" sz="950" dirty="0"/>
          </a:p>
          <a:p>
            <a:pPr indent="0" marL="0">
              <a:buNone/>
            </a:pPr>
            <a:r>
              <a:rPr lang="en-US" sz="860" b="1" dirty="0">
                <a:solidFill>
                  <a:srgbClr val="1F7A4D"/>
                </a:solidFill>
                <a:latin typeface="Calibri" pitchFamily="34" charset="0"/>
                <a:ea typeface="Calibri" pitchFamily="34" charset="-122"/>
                <a:cs typeface="Calibri" pitchFamily="34" charset="-120"/>
              </a:rPr>
              <a:t>2 · What history DOES buy.  </a:t>
            </a:r>
            <a:pPr indent="0" marL="0">
              <a:spcAft>
                <a:spcPts val="400"/>
              </a:spcAft>
              <a:buNone/>
            </a:pPr>
            <a:r>
              <a:rPr lang="en-US" sz="860" dirty="0">
                <a:solidFill>
                  <a:srgbClr val="1B2430"/>
                </a:solidFill>
                <a:latin typeface="Calibri" pitchFamily="34" charset="0"/>
                <a:ea typeface="Calibri" pitchFamily="34" charset="-122"/>
                <a:cs typeface="Calibri" pitchFamily="34" charset="-120"/>
              </a:rPr>
              <a:t>A hidden sea-surface-height channel is reconstructed at ≈ 0.36 of its bar against the twin's 0.75–0.90; hidden sea surface temperature 0.53–0.66 against 0.99–1.27; forecasts at +1 and +2 pentads 7–8 % better. Persistence and one-step forecast, not velocity.</a:t>
            </a:r>
            <a:endParaRPr lang="en-US" sz="950" dirty="0"/>
          </a:p>
          <a:p>
            <a:pPr indent="0" marL="0">
              <a:buNone/>
            </a:pPr>
            <a:r>
              <a:rPr lang="en-US" sz="860" b="1" dirty="0">
                <a:solidFill>
                  <a:srgbClr val="1C7293"/>
                </a:solidFill>
                <a:latin typeface="Calibri" pitchFamily="34" charset="0"/>
                <a:ea typeface="Calibri" pitchFamily="34" charset="-122"/>
                <a:cs typeface="Calibri" pitchFamily="34" charset="-120"/>
              </a:rPr>
              <a:t>3 · Consequence for v2.  </a:t>
            </a:r>
            <a:pPr indent="0" marL="0">
              <a:spcAft>
                <a:spcPts val="400"/>
              </a:spcAft>
              <a:buNone/>
            </a:pPr>
            <a:r>
              <a:rPr lang="en-US" sz="860" dirty="0">
                <a:solidFill>
                  <a:srgbClr val="1B2430"/>
                </a:solidFill>
                <a:latin typeface="Calibri" pitchFamily="34" charset="0"/>
                <a:ea typeface="Calibri" pitchFamily="34" charset="-122"/>
                <a:cs typeface="Calibri" pitchFamily="34" charset="-120"/>
              </a:rPr>
              <a:t>Widening the reach 18× does not touch the mechanism H1 tested. v2's case rests on rolled skill (H2) from far-field context, and on the persistence signal being worth more when it is global, harmonic-anomaly and profile-aware. The velocity lever is capacity, the objective, or an explicit displacement primitive — not geometry.</a:t>
            </a:r>
            <a:endParaRPr lang="en-US" sz="950" dirty="0"/>
          </a:p>
          <a:p>
            <a:pPr indent="0" marL="0">
              <a:buNone/>
            </a:pPr>
            <a:r>
              <a:rPr lang="en-US" sz="860" b="1" dirty="0">
                <a:solidFill>
                  <a:srgbClr val="6B7A8F"/>
                </a:solidFill>
                <a:latin typeface="Calibri" pitchFamily="34" charset="0"/>
                <a:ea typeface="Calibri" pitchFamily="34" charset="-122"/>
                <a:cs typeface="Calibri" pitchFamily="34" charset="-120"/>
              </a:rPr>
              <a:t>4 · Two open decisions, deferred.  </a:t>
            </a:r>
            <a:pPr indent="0" marL="0">
              <a:buNone/>
            </a:pPr>
            <a:r>
              <a:rPr lang="en-US" sz="860" dirty="0">
                <a:solidFill>
                  <a:srgbClr val="1B2430"/>
                </a:solidFill>
                <a:latin typeface="Calibri" pitchFamily="34" charset="0"/>
                <a:ea typeface="Calibri" pitchFamily="34" charset="-122"/>
                <a:cs typeface="Calibri" pitchFamily="34" charset="-120"/>
              </a:rPr>
              <a:t>The outer ring's dot count per lag, on the same per-octave rule as the inner cone; and K = 144 pentads (two years) against a log-spaced eight-year outer window for the deep western boundary current's advective path.</a:t>
            </a:r>
            <a:endParaRPr lang="en-US" sz="950" dirty="0"/>
          </a:p>
        </p:txBody>
      </p:sp>
      <p:sp>
        <p:nvSpPr>
          <p:cNvPr id="30" name="Text 28"/>
          <p:cNvSpPr txBox="1"/>
          <p:nvPr/>
        </p:nvSpPr>
        <p:spPr>
          <a:xfrm>
            <a:off x="548640" y="5870448"/>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The original split gave the codec the near field and stage 2 the far field. With the reach sized from the fastest mechanism the codec sees the planet within a week, and the honest description of the two stencils becomes thirty days of raw channels against two years of embeddings — both global. The identities the coverage test asserts (union = the whole cone, overlap = the anchor column) survive unchanged; what changed is what they mean.</a:t>
            </a:r>
            <a:endParaRPr lang="en-US" sz="850" dirty="0"/>
          </a:p>
        </p:txBody>
      </p:sp>
      <p:sp>
        <p:nvSpPr>
          <p:cNvPr id="31" name="Text 2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100" b="1" dirty="0">
                <a:solidFill>
                  <a:srgbClr val="0B1F3A"/>
                </a:solidFill>
                <a:latin typeface="Georgia" pitchFamily="34" charset="0"/>
                <a:ea typeface="Georgia" pitchFamily="34" charset="-122"/>
                <a:cs typeface="Georgia" pitchFamily="34" charset="-120"/>
              </a:rPr>
              <a:t>What feeds the cone codec today — four products, 42 channels, one axis</a:t>
            </a:r>
            <a:endParaRPr lang="en-US" sz="21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family 4 recipe r3 — the tensor the codec eats: North Atlantic 100° W–20° E, 0–70° N · 0.25° · 5-day bins · 1982-01-01 → 2024-12-31 · 84,405 ocean cells · built once and sha-pinned (run #535)</a:t>
            </a:r>
            <a:endParaRPr lang="en-US" sz="1250" dirty="0"/>
          </a:p>
        </p:txBody>
      </p:sp>
      <p:sp>
        <p:nvSpPr>
          <p:cNvPr id="4" name="Text 2"/>
          <p:cNvSpPr txBox="1"/>
          <p:nvPr/>
        </p:nvSpPr>
        <p:spPr>
          <a:xfrm>
            <a:off x="548640" y="1371600"/>
            <a:ext cx="6629400" cy="118872"/>
          </a:xfrm>
          <a:prstGeom prst="rect">
            <a:avLst/>
          </a:prstGeom>
          <a:noFill/>
          <a:ln/>
        </p:spPr>
        <p:txBody>
          <a:bodyPr wrap="square" lIns="0" tIns="0" rIns="0" bIns="0" rtlCol="0" anchor="t"/>
          <a:lstStyle/>
          <a:p>
            <a:pPr indent="0" marL="0">
              <a:buNone/>
            </a:pPr>
            <a:r>
              <a:rPr lang="en-US" sz="800" b="1" spc="100" kern="0" dirty="0">
                <a:solidFill>
                  <a:srgbClr val="0B1F3A"/>
                </a:solidFill>
                <a:latin typeface="Calibri" pitchFamily="34" charset="0"/>
                <a:ea typeface="Calibri" pitchFamily="34" charset="-122"/>
                <a:cs typeface="Calibri" pitchFamily="34" charset="-120"/>
              </a:rPr>
              <a:t>0 · OBSERVATIONS</a:t>
            </a:r>
            <a:pPr indent="0" marL="0">
              <a:buNone/>
            </a:pPr>
            <a:r>
              <a:rPr lang="en-US" sz="750" i="1" dirty="0">
                <a:solidFill>
                  <a:srgbClr val="6B7A8F"/>
                </a:solidFill>
                <a:latin typeface="Calibri" pitchFamily="34" charset="0"/>
                <a:ea typeface="Calibri" pitchFamily="34" charset="-122"/>
                <a:cs typeface="Calibri" pitchFamily="34" charset="-120"/>
              </a:rPr>
              <a:t>   what an instrument actually measured</a:t>
            </a:r>
            <a:endParaRPr lang="en-US" sz="950" dirty="0"/>
          </a:p>
        </p:txBody>
      </p:sp>
      <p:sp>
        <p:nvSpPr>
          <p:cNvPr id="5" name="Shape 3"/>
          <p:cNvSpPr/>
          <p:nvPr/>
        </p:nvSpPr>
        <p:spPr>
          <a:xfrm>
            <a:off x="548640" y="1572768"/>
            <a:ext cx="1234440" cy="512064"/>
          </a:xfrm>
          <a:prstGeom prst="roundRect">
            <a:avLst>
              <a:gd name="adj" fmla="val 14286"/>
            </a:avLst>
          </a:prstGeom>
          <a:solidFill>
            <a:srgbClr val="F7F9FB"/>
          </a:solidFill>
          <a:ln w="15875">
            <a:solidFill>
              <a:srgbClr val="B8C4D3"/>
            </a:solidFill>
            <a:prstDash val="solid"/>
          </a:ln>
        </p:spPr>
      </p:sp>
      <p:sp>
        <p:nvSpPr>
          <p:cNvPr id="6" name="Text 4"/>
          <p:cNvSpPr txBox="1"/>
          <p:nvPr/>
        </p:nvSpPr>
        <p:spPr>
          <a:xfrm>
            <a:off x="612648" y="1618488"/>
            <a:ext cx="1106424" cy="420624"/>
          </a:xfrm>
          <a:prstGeom prst="rect">
            <a:avLst/>
          </a:prstGeom>
          <a:noFill/>
          <a:ln/>
        </p:spPr>
        <p:txBody>
          <a:bodyPr wrap="square" lIns="0" tIns="0" rIns="0" bIns="0" rtlCol="0" anchor="t"/>
          <a:lstStyle/>
          <a:p>
            <a:pPr indent="0" marL="0">
              <a:buNone/>
            </a:pPr>
            <a:r>
              <a:rPr lang="en-US" sz="700" dirty="0">
                <a:solidFill>
                  <a:srgbClr val="6B7A8F"/>
                </a:solidFill>
                <a:latin typeface="Calibri" pitchFamily="34" charset="0"/>
                <a:ea typeface="Calibri" pitchFamily="34" charset="-122"/>
                <a:cs typeface="Calibri" pitchFamily="34" charset="-120"/>
              </a:rPr>
              <a:t>satellite altimetry · satellite SST (AVHRR) · Argo floats · ships, buoys, drifters</a:t>
            </a:r>
            <a:endParaRPr lang="en-US" sz="950" dirty="0"/>
          </a:p>
        </p:txBody>
      </p:sp>
      <p:sp>
        <p:nvSpPr>
          <p:cNvPr id="7" name="Shape 5"/>
          <p:cNvSpPr/>
          <p:nvPr/>
        </p:nvSpPr>
        <p:spPr>
          <a:xfrm>
            <a:off x="1892808" y="1572768"/>
            <a:ext cx="1234440" cy="512064"/>
          </a:xfrm>
          <a:prstGeom prst="roundRect">
            <a:avLst>
              <a:gd name="adj" fmla="val 14286"/>
            </a:avLst>
          </a:prstGeom>
          <a:solidFill>
            <a:srgbClr val="F7F9FB"/>
          </a:solidFill>
          <a:ln w="15875">
            <a:solidFill>
              <a:srgbClr val="B8C4D3"/>
            </a:solidFill>
            <a:prstDash val="solid"/>
          </a:ln>
        </p:spPr>
      </p:sp>
      <p:sp>
        <p:nvSpPr>
          <p:cNvPr id="8" name="Text 6"/>
          <p:cNvSpPr txBox="1"/>
          <p:nvPr/>
        </p:nvSpPr>
        <p:spPr>
          <a:xfrm>
            <a:off x="1956816" y="1618488"/>
            <a:ext cx="1106424" cy="420624"/>
          </a:xfrm>
          <a:prstGeom prst="rect">
            <a:avLst/>
          </a:prstGeom>
          <a:noFill/>
          <a:ln/>
        </p:spPr>
        <p:txBody>
          <a:bodyPr wrap="square" lIns="0" tIns="0" rIns="0" bIns="0" rtlCol="0" anchor="t"/>
          <a:lstStyle/>
          <a:p>
            <a:pPr indent="0" marL="0">
              <a:buNone/>
            </a:pPr>
            <a:r>
              <a:rPr lang="en-US" sz="700" dirty="0">
                <a:solidFill>
                  <a:srgbClr val="6B7A8F"/>
                </a:solidFill>
                <a:latin typeface="Calibri" pitchFamily="34" charset="0"/>
                <a:ea typeface="Calibri" pitchFamily="34" charset="-122"/>
                <a:cs typeface="Calibri" pitchFamily="34" charset="-120"/>
              </a:rPr>
              <a:t>satellite SST (AVHRR) · ships, buoys, drifters</a:t>
            </a:r>
            <a:endParaRPr lang="en-US" sz="950" dirty="0"/>
          </a:p>
        </p:txBody>
      </p:sp>
      <p:sp>
        <p:nvSpPr>
          <p:cNvPr id="9" name="Shape 7"/>
          <p:cNvSpPr/>
          <p:nvPr/>
        </p:nvSpPr>
        <p:spPr>
          <a:xfrm>
            <a:off x="3236976" y="1572768"/>
            <a:ext cx="1234440" cy="512064"/>
          </a:xfrm>
          <a:prstGeom prst="roundRect">
            <a:avLst>
              <a:gd name="adj" fmla="val 14286"/>
            </a:avLst>
          </a:prstGeom>
          <a:solidFill>
            <a:srgbClr val="F7F9FB"/>
          </a:solidFill>
          <a:ln w="15875">
            <a:solidFill>
              <a:srgbClr val="B8C4D3"/>
            </a:solidFill>
            <a:prstDash val="solid"/>
          </a:ln>
        </p:spPr>
      </p:sp>
      <p:sp>
        <p:nvSpPr>
          <p:cNvPr id="10" name="Text 8"/>
          <p:cNvSpPr txBox="1"/>
          <p:nvPr/>
        </p:nvSpPr>
        <p:spPr>
          <a:xfrm>
            <a:off x="3300984" y="1618488"/>
            <a:ext cx="1106424" cy="420624"/>
          </a:xfrm>
          <a:prstGeom prst="rect">
            <a:avLst/>
          </a:prstGeom>
          <a:noFill/>
          <a:ln/>
        </p:spPr>
        <p:txBody>
          <a:bodyPr wrap="square" lIns="0" tIns="0" rIns="0" bIns="0" rtlCol="0" anchor="t"/>
          <a:lstStyle/>
          <a:p>
            <a:pPr indent="0" marL="0">
              <a:buNone/>
            </a:pPr>
            <a:r>
              <a:rPr lang="en-US" sz="700" dirty="0">
                <a:solidFill>
                  <a:srgbClr val="6B7A8F"/>
                </a:solidFill>
                <a:latin typeface="Calibri" pitchFamily="34" charset="0"/>
                <a:ea typeface="Calibri" pitchFamily="34" charset="-122"/>
                <a:cs typeface="Calibri" pitchFamily="34" charset="-120"/>
              </a:rPr>
              <a:t>Argo floats only</a:t>
            </a:r>
            <a:endParaRPr lang="en-US" sz="950" dirty="0"/>
          </a:p>
        </p:txBody>
      </p:sp>
      <p:sp>
        <p:nvSpPr>
          <p:cNvPr id="11" name="Shape 9"/>
          <p:cNvSpPr/>
          <p:nvPr/>
        </p:nvSpPr>
        <p:spPr>
          <a:xfrm>
            <a:off x="4581144" y="1572768"/>
            <a:ext cx="1234440" cy="512064"/>
          </a:xfrm>
          <a:prstGeom prst="roundRect">
            <a:avLst>
              <a:gd name="adj" fmla="val 14286"/>
            </a:avLst>
          </a:prstGeom>
          <a:solidFill>
            <a:srgbClr val="F7F9FB"/>
          </a:solidFill>
          <a:ln w="15875">
            <a:solidFill>
              <a:srgbClr val="B8C4D3"/>
            </a:solidFill>
            <a:prstDash val="solid"/>
          </a:ln>
        </p:spPr>
      </p:sp>
      <p:sp>
        <p:nvSpPr>
          <p:cNvPr id="12" name="Text 10"/>
          <p:cNvSpPr txBox="1"/>
          <p:nvPr/>
        </p:nvSpPr>
        <p:spPr>
          <a:xfrm>
            <a:off x="4645152" y="1618488"/>
            <a:ext cx="1106424" cy="420624"/>
          </a:xfrm>
          <a:prstGeom prst="rect">
            <a:avLst/>
          </a:prstGeom>
          <a:noFill/>
          <a:ln/>
        </p:spPr>
        <p:txBody>
          <a:bodyPr wrap="square" lIns="0" tIns="0" rIns="0" bIns="0" rtlCol="0" anchor="t"/>
          <a:lstStyle/>
          <a:p>
            <a:pPr indent="0" marL="0">
              <a:buNone/>
            </a:pPr>
            <a:r>
              <a:rPr lang="en-US" sz="700" dirty="0">
                <a:solidFill>
                  <a:srgbClr val="6B7A8F"/>
                </a:solidFill>
                <a:latin typeface="Calibri" pitchFamily="34" charset="0"/>
                <a:ea typeface="Calibri" pitchFamily="34" charset="-122"/>
                <a:cs typeface="Calibri" pitchFamily="34" charset="-120"/>
              </a:rPr>
              <a:t>radiosondes, aircraft, ships, satellite radiances</a:t>
            </a:r>
            <a:endParaRPr lang="en-US" sz="950" dirty="0"/>
          </a:p>
        </p:txBody>
      </p:sp>
      <p:sp>
        <p:nvSpPr>
          <p:cNvPr id="13" name="Shape 11"/>
          <p:cNvSpPr/>
          <p:nvPr/>
        </p:nvSpPr>
        <p:spPr>
          <a:xfrm>
            <a:off x="5925312" y="1572768"/>
            <a:ext cx="1234440" cy="512064"/>
          </a:xfrm>
          <a:prstGeom prst="roundRect">
            <a:avLst>
              <a:gd name="adj" fmla="val 14286"/>
            </a:avLst>
          </a:prstGeom>
          <a:solidFill>
            <a:srgbClr val="F7F9FB"/>
          </a:solidFill>
          <a:ln w="15875">
            <a:solidFill>
              <a:srgbClr val="B8C4D3"/>
            </a:solidFill>
            <a:prstDash val="solid"/>
          </a:ln>
        </p:spPr>
      </p:sp>
      <p:sp>
        <p:nvSpPr>
          <p:cNvPr id="14" name="Text 12"/>
          <p:cNvSpPr txBox="1"/>
          <p:nvPr/>
        </p:nvSpPr>
        <p:spPr>
          <a:xfrm>
            <a:off x="5989320" y="1618488"/>
            <a:ext cx="1106424" cy="420624"/>
          </a:xfrm>
          <a:prstGeom prst="rect">
            <a:avLst/>
          </a:prstGeom>
          <a:noFill/>
          <a:ln/>
        </p:spPr>
        <p:txBody>
          <a:bodyPr wrap="square" lIns="0" tIns="0" rIns="0" bIns="0" rtlCol="0" anchor="t"/>
          <a:lstStyle/>
          <a:p>
            <a:pPr indent="0" marL="0">
              <a:buNone/>
            </a:pPr>
            <a:r>
              <a:rPr lang="en-US" sz="700" dirty="0">
                <a:solidFill>
                  <a:srgbClr val="6B7A8F"/>
                </a:solidFill>
                <a:latin typeface="Calibri" pitchFamily="34" charset="0"/>
                <a:ea typeface="Calibri" pitchFamily="34" charset="-122"/>
                <a:cs typeface="Calibri" pitchFamily="34" charset="-120"/>
              </a:rPr>
              <a:t>moorings at 26.5° N · the Florida Straits cable</a:t>
            </a:r>
            <a:endParaRPr lang="en-US" sz="950" dirty="0"/>
          </a:p>
        </p:txBody>
      </p:sp>
      <p:sp>
        <p:nvSpPr>
          <p:cNvPr id="15" name="Text 13"/>
          <p:cNvSpPr txBox="1"/>
          <p:nvPr/>
        </p:nvSpPr>
        <p:spPr>
          <a:xfrm>
            <a:off x="548640" y="2103120"/>
            <a:ext cx="6629400" cy="118872"/>
          </a:xfrm>
          <a:prstGeom prst="rect">
            <a:avLst/>
          </a:prstGeom>
          <a:noFill/>
          <a:ln/>
        </p:spPr>
        <p:txBody>
          <a:bodyPr wrap="square" lIns="0" tIns="0" rIns="0" bIns="0" rtlCol="0" anchor="t"/>
          <a:lstStyle/>
          <a:p>
            <a:pPr indent="0" marL="0">
              <a:buNone/>
            </a:pPr>
            <a:r>
              <a:rPr lang="en-US" sz="800" b="1" spc="100" kern="0" dirty="0">
                <a:solidFill>
                  <a:srgbClr val="0B1F3A"/>
                </a:solidFill>
                <a:latin typeface="Calibri" pitchFamily="34" charset="0"/>
                <a:ea typeface="Calibri" pitchFamily="34" charset="-122"/>
                <a:cs typeface="Calibri" pitchFamily="34" charset="-120"/>
              </a:rPr>
              <a:t>1 · PRODUCTS WE DOWNLOAD</a:t>
            </a:r>
            <a:pPr indent="0" marL="0">
              <a:buNone/>
            </a:pPr>
            <a:r>
              <a:rPr lang="en-US" sz="750" i="1" dirty="0">
                <a:solidFill>
                  <a:srgbClr val="6B7A8F"/>
                </a:solidFill>
                <a:latin typeface="Calibri" pitchFamily="34" charset="0"/>
                <a:ea typeface="Calibri" pitchFamily="34" charset="-122"/>
                <a:cs typeface="Calibri" pitchFamily="34" charset="-120"/>
              </a:rPr>
              <a:t>   four inputs + two labels; green = observation-led, red = model-derived</a:t>
            </a:r>
            <a:endParaRPr lang="en-US" sz="950" dirty="0"/>
          </a:p>
        </p:txBody>
      </p:sp>
      <p:sp>
        <p:nvSpPr>
          <p:cNvPr id="16" name="Shape 14"/>
          <p:cNvSpPr/>
          <p:nvPr/>
        </p:nvSpPr>
        <p:spPr>
          <a:xfrm>
            <a:off x="1165860" y="2203704"/>
            <a:ext cx="0" cy="109728"/>
          </a:xfrm>
          <a:prstGeom prst="line">
            <a:avLst/>
          </a:prstGeom>
          <a:noFill/>
          <a:ln w="12700">
            <a:solidFill>
              <a:srgbClr val="B8C4D3"/>
            </a:solidFill>
            <a:prstDash val="solid"/>
            <a:tailEnd type="triangle"/>
          </a:ln>
        </p:spPr>
      </p:sp>
      <p:sp>
        <p:nvSpPr>
          <p:cNvPr id="17" name="Shape 15"/>
          <p:cNvSpPr/>
          <p:nvPr/>
        </p:nvSpPr>
        <p:spPr>
          <a:xfrm>
            <a:off x="2510028" y="2203704"/>
            <a:ext cx="0" cy="109728"/>
          </a:xfrm>
          <a:prstGeom prst="line">
            <a:avLst/>
          </a:prstGeom>
          <a:noFill/>
          <a:ln w="12700">
            <a:solidFill>
              <a:srgbClr val="B8C4D3"/>
            </a:solidFill>
            <a:prstDash val="solid"/>
            <a:tailEnd type="triangle"/>
          </a:ln>
        </p:spPr>
      </p:sp>
      <p:sp>
        <p:nvSpPr>
          <p:cNvPr id="18" name="Shape 16"/>
          <p:cNvSpPr/>
          <p:nvPr/>
        </p:nvSpPr>
        <p:spPr>
          <a:xfrm>
            <a:off x="3854196" y="2203704"/>
            <a:ext cx="0" cy="109728"/>
          </a:xfrm>
          <a:prstGeom prst="line">
            <a:avLst/>
          </a:prstGeom>
          <a:noFill/>
          <a:ln w="12700">
            <a:solidFill>
              <a:srgbClr val="B8C4D3"/>
            </a:solidFill>
            <a:prstDash val="solid"/>
            <a:tailEnd type="triangle"/>
          </a:ln>
        </p:spPr>
      </p:sp>
      <p:sp>
        <p:nvSpPr>
          <p:cNvPr id="19" name="Shape 17"/>
          <p:cNvSpPr/>
          <p:nvPr/>
        </p:nvSpPr>
        <p:spPr>
          <a:xfrm>
            <a:off x="5198364" y="2203704"/>
            <a:ext cx="0" cy="109728"/>
          </a:xfrm>
          <a:prstGeom prst="line">
            <a:avLst/>
          </a:prstGeom>
          <a:noFill/>
          <a:ln w="12700">
            <a:solidFill>
              <a:srgbClr val="B8C4D3"/>
            </a:solidFill>
            <a:prstDash val="solid"/>
            <a:tailEnd type="triangle"/>
          </a:ln>
        </p:spPr>
      </p:sp>
      <p:sp>
        <p:nvSpPr>
          <p:cNvPr id="20" name="Shape 18"/>
          <p:cNvSpPr/>
          <p:nvPr/>
        </p:nvSpPr>
        <p:spPr>
          <a:xfrm>
            <a:off x="6542532" y="2203704"/>
            <a:ext cx="0" cy="109728"/>
          </a:xfrm>
          <a:prstGeom prst="line">
            <a:avLst/>
          </a:prstGeom>
          <a:noFill/>
          <a:ln w="12700">
            <a:solidFill>
              <a:srgbClr val="B8C4D3"/>
            </a:solidFill>
            <a:prstDash val="solid"/>
            <a:tailEnd type="triangle"/>
          </a:ln>
        </p:spPr>
      </p:sp>
      <p:sp>
        <p:nvSpPr>
          <p:cNvPr id="21" name="Shape 19"/>
          <p:cNvSpPr/>
          <p:nvPr/>
        </p:nvSpPr>
        <p:spPr>
          <a:xfrm>
            <a:off x="548640" y="2322576"/>
            <a:ext cx="1234440" cy="969264"/>
          </a:xfrm>
          <a:prstGeom prst="roundRect">
            <a:avLst>
              <a:gd name="adj" fmla="val 7547"/>
            </a:avLst>
          </a:prstGeom>
          <a:solidFill>
            <a:srgbClr val="EEF3F8"/>
          </a:solidFill>
          <a:ln w="15875">
            <a:solidFill>
              <a:srgbClr val="A23B3B"/>
            </a:solidFill>
            <a:prstDash val="solid"/>
          </a:ln>
        </p:spPr>
      </p:sp>
      <p:sp>
        <p:nvSpPr>
          <p:cNvPr id="22" name="Text 20"/>
          <p:cNvSpPr txBox="1"/>
          <p:nvPr/>
        </p:nvSpPr>
        <p:spPr>
          <a:xfrm>
            <a:off x="612648" y="2359152"/>
            <a:ext cx="1106424" cy="914400"/>
          </a:xfrm>
          <a:prstGeom prst="rect">
            <a:avLst/>
          </a:prstGeom>
          <a:noFill/>
          <a:ln/>
        </p:spPr>
        <p:txBody>
          <a:bodyPr wrap="square" lIns="0" tIns="0" rIns="0" bIns="0" rtlCol="0" anchor="t"/>
          <a:lstStyle/>
          <a:p>
            <a:pPr indent="0" marL="0">
              <a:buNone/>
            </a:pPr>
            <a:r>
              <a:rPr lang="en-US" sz="750" b="1" dirty="0">
                <a:solidFill>
                  <a:srgbClr val="A23B3B"/>
                </a:solidFill>
                <a:latin typeface="Calibri" pitchFamily="34" charset="0"/>
                <a:ea typeface="Calibri" pitchFamily="34" charset="-122"/>
                <a:cs typeface="Calibri" pitchFamily="34" charset="-120"/>
              </a:rPr>
              <a:t>GLORYS12</a:t>
            </a:r>
            <a:endParaRPr lang="en-US" sz="950" dirty="0"/>
          </a:p>
          <a:p>
            <a:pPr indent="0" marL="0">
              <a:spcAft>
                <a:spcPts val="200"/>
              </a:spcAft>
              <a:buNone/>
            </a:pPr>
            <a:r>
              <a:rPr lang="en-US" sz="700" b="1" spc="50" kern="0" dirty="0">
                <a:solidFill>
                  <a:srgbClr val="A23B3B"/>
                </a:solidFill>
                <a:latin typeface="Calibri" pitchFamily="34" charset="0"/>
                <a:ea typeface="Calibri" pitchFamily="34" charset="-122"/>
                <a:cs typeface="Calibri" pitchFamily="34" charset="-120"/>
              </a:rPr>
              <a:t>DERIVED</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Copernicus Marine ocean reanalysis — a model nudged towards observations. 1/12°, daily, 1993→. Assimilates altimetry, SST and Argo on a 7-day cycle.</a:t>
            </a:r>
            <a:endParaRPr lang="en-US" sz="950" dirty="0"/>
          </a:p>
        </p:txBody>
      </p:sp>
      <p:sp>
        <p:nvSpPr>
          <p:cNvPr id="23" name="Shape 21"/>
          <p:cNvSpPr/>
          <p:nvPr/>
        </p:nvSpPr>
        <p:spPr>
          <a:xfrm>
            <a:off x="1892808" y="2322576"/>
            <a:ext cx="1234440" cy="969264"/>
          </a:xfrm>
          <a:prstGeom prst="roundRect">
            <a:avLst>
              <a:gd name="adj" fmla="val 7547"/>
            </a:avLst>
          </a:prstGeom>
          <a:solidFill>
            <a:srgbClr val="EEF3F8"/>
          </a:solidFill>
          <a:ln w="15875">
            <a:solidFill>
              <a:srgbClr val="1F7A4D"/>
            </a:solidFill>
            <a:prstDash val="solid"/>
          </a:ln>
        </p:spPr>
      </p:sp>
      <p:sp>
        <p:nvSpPr>
          <p:cNvPr id="24" name="Text 22"/>
          <p:cNvSpPr txBox="1"/>
          <p:nvPr/>
        </p:nvSpPr>
        <p:spPr>
          <a:xfrm>
            <a:off x="1956816" y="2359152"/>
            <a:ext cx="1106424" cy="914400"/>
          </a:xfrm>
          <a:prstGeom prst="rect">
            <a:avLst/>
          </a:prstGeom>
          <a:noFill/>
          <a:ln/>
        </p:spPr>
        <p:txBody>
          <a:bodyPr wrap="square" lIns="0" tIns="0" rIns="0" bIns="0" rtlCol="0" anchor="t"/>
          <a:lstStyle/>
          <a:p>
            <a:pPr indent="0" marL="0">
              <a:buNone/>
            </a:pPr>
            <a:r>
              <a:rPr lang="en-US" sz="750" b="1" dirty="0">
                <a:solidFill>
                  <a:srgbClr val="1F7A4D"/>
                </a:solidFill>
                <a:latin typeface="Calibri" pitchFamily="34" charset="0"/>
                <a:ea typeface="Calibri" pitchFamily="34" charset="-122"/>
                <a:cs typeface="Calibri" pitchFamily="34" charset="-120"/>
              </a:rPr>
              <a:t>NOAA OISST v2.1</a:t>
            </a:r>
            <a:endParaRPr lang="en-US" sz="950" dirty="0"/>
          </a:p>
          <a:p>
            <a:pPr indent="0" marL="0">
              <a:spcAft>
                <a:spcPts val="200"/>
              </a:spcAft>
              <a:buNone/>
            </a:pPr>
            <a:r>
              <a:rPr lang="en-US" sz="700" b="1" spc="50" kern="0" dirty="0">
                <a:solidFill>
                  <a:srgbClr val="1F7A4D"/>
                </a:solidFill>
                <a:latin typeface="Calibri" pitchFamily="34" charset="0"/>
                <a:ea typeface="Calibri" pitchFamily="34" charset="-122"/>
                <a:cs typeface="Calibri" pitchFamily="34" charset="-120"/>
              </a:rPr>
              <a:t>ANALYSED</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0.25°, daily, 1981-09→. Optimum interpolation of AVHRR radiances and in-situ measurements — an analysis of observations, no ocean model.</a:t>
            </a:r>
            <a:endParaRPr lang="en-US" sz="950" dirty="0"/>
          </a:p>
        </p:txBody>
      </p:sp>
      <p:sp>
        <p:nvSpPr>
          <p:cNvPr id="25" name="Shape 23"/>
          <p:cNvSpPr/>
          <p:nvPr/>
        </p:nvSpPr>
        <p:spPr>
          <a:xfrm>
            <a:off x="3236976" y="2322576"/>
            <a:ext cx="1234440" cy="969264"/>
          </a:xfrm>
          <a:prstGeom prst="roundRect">
            <a:avLst>
              <a:gd name="adj" fmla="val 7547"/>
            </a:avLst>
          </a:prstGeom>
          <a:solidFill>
            <a:srgbClr val="EEF3F8"/>
          </a:solidFill>
          <a:ln w="15875">
            <a:solidFill>
              <a:srgbClr val="1F7A4D"/>
            </a:solidFill>
            <a:prstDash val="solid"/>
          </a:ln>
        </p:spPr>
      </p:sp>
      <p:sp>
        <p:nvSpPr>
          <p:cNvPr id="26" name="Text 24"/>
          <p:cNvSpPr txBox="1"/>
          <p:nvPr/>
        </p:nvSpPr>
        <p:spPr>
          <a:xfrm>
            <a:off x="3300984" y="2359152"/>
            <a:ext cx="1106424" cy="914400"/>
          </a:xfrm>
          <a:prstGeom prst="rect">
            <a:avLst/>
          </a:prstGeom>
          <a:noFill/>
          <a:ln/>
        </p:spPr>
        <p:txBody>
          <a:bodyPr wrap="square" lIns="0" tIns="0" rIns="0" bIns="0" rtlCol="0" anchor="t"/>
          <a:lstStyle/>
          <a:p>
            <a:pPr indent="0" marL="0">
              <a:buNone/>
            </a:pPr>
            <a:r>
              <a:rPr lang="en-US" sz="750" b="1" dirty="0">
                <a:solidFill>
                  <a:srgbClr val="1F7A4D"/>
                </a:solidFill>
                <a:latin typeface="Calibri" pitchFamily="34" charset="0"/>
                <a:ea typeface="Calibri" pitchFamily="34" charset="-122"/>
                <a:cs typeface="Calibri" pitchFamily="34" charset="-120"/>
              </a:rPr>
              <a:t>Roemmich–Gilson Argo</a:t>
            </a:r>
            <a:endParaRPr lang="en-US" sz="950" dirty="0"/>
          </a:p>
          <a:p>
            <a:pPr indent="0" marL="0">
              <a:spcAft>
                <a:spcPts val="200"/>
              </a:spcAft>
              <a:buNone/>
            </a:pPr>
            <a:r>
              <a:rPr lang="en-US" sz="700" b="1" spc="50" kern="0" dirty="0">
                <a:solidFill>
                  <a:srgbClr val="1F7A4D"/>
                </a:solidFill>
                <a:latin typeface="Calibri" pitchFamily="34" charset="0"/>
                <a:ea typeface="Calibri" pitchFamily="34" charset="-122"/>
                <a:cs typeface="Calibri" pitchFamily="34" charset="-120"/>
              </a:rPr>
              <a:t>ANALYSED</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Scripps climatology, 1°, monthly, 2004→. Argo floats mapped onto a grid; nothing else enters it.</a:t>
            </a:r>
            <a:endParaRPr lang="en-US" sz="950" dirty="0"/>
          </a:p>
        </p:txBody>
      </p:sp>
      <p:sp>
        <p:nvSpPr>
          <p:cNvPr id="27" name="Shape 25"/>
          <p:cNvSpPr/>
          <p:nvPr/>
        </p:nvSpPr>
        <p:spPr>
          <a:xfrm>
            <a:off x="4581144" y="2322576"/>
            <a:ext cx="1234440" cy="969264"/>
          </a:xfrm>
          <a:prstGeom prst="roundRect">
            <a:avLst>
              <a:gd name="adj" fmla="val 7547"/>
            </a:avLst>
          </a:prstGeom>
          <a:solidFill>
            <a:srgbClr val="EEF3F8"/>
          </a:solidFill>
          <a:ln w="15875">
            <a:solidFill>
              <a:srgbClr val="A23B3B"/>
            </a:solidFill>
            <a:prstDash val="solid"/>
          </a:ln>
        </p:spPr>
      </p:sp>
      <p:sp>
        <p:nvSpPr>
          <p:cNvPr id="28" name="Text 26"/>
          <p:cNvSpPr txBox="1"/>
          <p:nvPr/>
        </p:nvSpPr>
        <p:spPr>
          <a:xfrm>
            <a:off x="4645152" y="2359152"/>
            <a:ext cx="1106424" cy="914400"/>
          </a:xfrm>
          <a:prstGeom prst="rect">
            <a:avLst/>
          </a:prstGeom>
          <a:noFill/>
          <a:ln/>
        </p:spPr>
        <p:txBody>
          <a:bodyPr wrap="square" lIns="0" tIns="0" rIns="0" bIns="0" rtlCol="0" anchor="t"/>
          <a:lstStyle/>
          <a:p>
            <a:pPr indent="0" marL="0">
              <a:buNone/>
            </a:pPr>
            <a:r>
              <a:rPr lang="en-US" sz="750" b="1" dirty="0">
                <a:solidFill>
                  <a:srgbClr val="A23B3B"/>
                </a:solidFill>
                <a:latin typeface="Calibri" pitchFamily="34" charset="0"/>
                <a:ea typeface="Calibri" pitchFamily="34" charset="-122"/>
                <a:cs typeface="Calibri" pitchFamily="34" charset="-120"/>
              </a:rPr>
              <a:t>NCEP/NCAR R1 momentum flux</a:t>
            </a:r>
            <a:endParaRPr lang="en-US" sz="950" dirty="0"/>
          </a:p>
          <a:p>
            <a:pPr indent="0" marL="0">
              <a:spcAft>
                <a:spcPts val="200"/>
              </a:spcAft>
              <a:buNone/>
            </a:pPr>
            <a:r>
              <a:rPr lang="en-US" sz="700" b="1" spc="50" kern="0" dirty="0">
                <a:solidFill>
                  <a:srgbClr val="A23B3B"/>
                </a:solidFill>
                <a:latin typeface="Calibri" pitchFamily="34" charset="0"/>
                <a:ea typeface="Calibri" pitchFamily="34" charset="-122"/>
                <a:cs typeface="Calibri" pitchFamily="34" charset="-120"/>
              </a:rPr>
              <a:t>DERIVED</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Atmospheric reanalysis 1, ~1.9°, daily, 1948→. The surface wind stress is model-diagnosed. Archive FROZEN since Mar 2026.</a:t>
            </a:r>
            <a:endParaRPr lang="en-US" sz="950" dirty="0"/>
          </a:p>
        </p:txBody>
      </p:sp>
      <p:sp>
        <p:nvSpPr>
          <p:cNvPr id="29" name="Shape 27"/>
          <p:cNvSpPr/>
          <p:nvPr/>
        </p:nvSpPr>
        <p:spPr>
          <a:xfrm>
            <a:off x="5925312" y="2322576"/>
            <a:ext cx="1234440" cy="969264"/>
          </a:xfrm>
          <a:prstGeom prst="roundRect">
            <a:avLst>
              <a:gd name="adj" fmla="val 7547"/>
            </a:avLst>
          </a:prstGeom>
          <a:solidFill>
            <a:srgbClr val="FFF6EE"/>
          </a:solidFill>
          <a:ln w="15875">
            <a:solidFill>
              <a:srgbClr val="E07A2F"/>
            </a:solidFill>
            <a:prstDash val="solid"/>
          </a:ln>
        </p:spPr>
      </p:sp>
      <p:sp>
        <p:nvSpPr>
          <p:cNvPr id="30" name="Text 28"/>
          <p:cNvSpPr txBox="1"/>
          <p:nvPr/>
        </p:nvSpPr>
        <p:spPr>
          <a:xfrm>
            <a:off x="5989320" y="2359152"/>
            <a:ext cx="1106424" cy="914400"/>
          </a:xfrm>
          <a:prstGeom prst="rect">
            <a:avLst/>
          </a:prstGeom>
          <a:noFill/>
          <a:ln/>
        </p:spPr>
        <p:txBody>
          <a:bodyPr wrap="square" lIns="0" tIns="0" rIns="0" bIns="0" rtlCol="0" anchor="t"/>
          <a:lstStyle/>
          <a:p>
            <a:pPr indent="0" marL="0">
              <a:buNone/>
            </a:pPr>
            <a:r>
              <a:rPr lang="en-US" sz="750" b="1" dirty="0">
                <a:solidFill>
                  <a:srgbClr val="E07A2F"/>
                </a:solidFill>
                <a:latin typeface="Calibri" pitchFamily="34" charset="0"/>
                <a:ea typeface="Calibri" pitchFamily="34" charset="-122"/>
                <a:cs typeface="Calibri" pitchFamily="34" charset="-120"/>
              </a:rPr>
              <a:t>RAPID 26.5° N + Florida Current</a:t>
            </a:r>
            <a:endParaRPr lang="en-US" sz="950" dirty="0"/>
          </a:p>
          <a:p>
            <a:pPr indent="0" marL="0">
              <a:spcAft>
                <a:spcPts val="200"/>
              </a:spcAft>
              <a:buNone/>
            </a:pPr>
            <a:r>
              <a:rPr lang="en-US" sz="700" b="1" spc="50" kern="0" dirty="0">
                <a:solidFill>
                  <a:srgbClr val="E07A2F"/>
                </a:solidFill>
                <a:latin typeface="Calibri" pitchFamily="34" charset="0"/>
                <a:ea typeface="Calibri" pitchFamily="34" charset="-122"/>
                <a:cs typeface="Calibri" pitchFamily="34" charset="-120"/>
              </a:rPr>
              <a:t>LABELS, NEVER INPUT</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Overturning transport 12-hourly 2004→; cable transport daily 1982→. Stored beside the tensor as truth; the trainer never reads them.</a:t>
            </a:r>
            <a:endParaRPr lang="en-US" sz="950" dirty="0"/>
          </a:p>
        </p:txBody>
      </p:sp>
      <p:sp>
        <p:nvSpPr>
          <p:cNvPr id="31" name="Text 29"/>
          <p:cNvSpPr txBox="1"/>
          <p:nvPr/>
        </p:nvSpPr>
        <p:spPr>
          <a:xfrm>
            <a:off x="548640" y="3300984"/>
            <a:ext cx="6629400" cy="118872"/>
          </a:xfrm>
          <a:prstGeom prst="rect">
            <a:avLst/>
          </a:prstGeom>
          <a:noFill/>
          <a:ln/>
        </p:spPr>
        <p:txBody>
          <a:bodyPr wrap="square" lIns="0" tIns="0" rIns="0" bIns="0" rtlCol="0" anchor="t"/>
          <a:lstStyle/>
          <a:p>
            <a:pPr indent="0" marL="0">
              <a:buNone/>
            </a:pPr>
            <a:r>
              <a:rPr lang="en-US" sz="800" b="1" spc="100" kern="0" dirty="0">
                <a:solidFill>
                  <a:srgbClr val="0B1F3A"/>
                </a:solidFill>
                <a:latin typeface="Calibri" pitchFamily="34" charset="0"/>
                <a:ea typeface="Calibri" pitchFamily="34" charset="-122"/>
                <a:cs typeface="Calibri" pitchFamily="34" charset="-120"/>
              </a:rPr>
              <a:t>2 · CHANNELS IN THE TENSOR</a:t>
            </a:r>
            <a:pPr indent="0" marL="0">
              <a:buNone/>
            </a:pPr>
            <a:r>
              <a:rPr lang="en-US" sz="750" i="1" dirty="0">
                <a:solidFill>
                  <a:srgbClr val="6B7A8F"/>
                </a:solidFill>
                <a:latin typeface="Calibri" pitchFamily="34" charset="0"/>
                <a:ea typeface="Calibri" pitchFamily="34" charset="-122"/>
                <a:cs typeface="Calibri" pitchFamily="34" charset="-120"/>
              </a:rPr>
              <a:t>   42 of them, plus the two labels; live-bin caveats in italics</a:t>
            </a:r>
            <a:endParaRPr lang="en-US" sz="950" dirty="0"/>
          </a:p>
        </p:txBody>
      </p:sp>
      <p:sp>
        <p:nvSpPr>
          <p:cNvPr id="32" name="Shape 30"/>
          <p:cNvSpPr/>
          <p:nvPr/>
        </p:nvSpPr>
        <p:spPr>
          <a:xfrm>
            <a:off x="1165860" y="3419856"/>
            <a:ext cx="0" cy="118872"/>
          </a:xfrm>
          <a:prstGeom prst="line">
            <a:avLst/>
          </a:prstGeom>
          <a:noFill/>
          <a:ln w="12700">
            <a:solidFill>
              <a:srgbClr val="B8C4D3"/>
            </a:solidFill>
            <a:prstDash val="solid"/>
            <a:tailEnd type="triangle"/>
          </a:ln>
        </p:spPr>
      </p:sp>
      <p:sp>
        <p:nvSpPr>
          <p:cNvPr id="33" name="Shape 31"/>
          <p:cNvSpPr/>
          <p:nvPr/>
        </p:nvSpPr>
        <p:spPr>
          <a:xfrm>
            <a:off x="2510028" y="3419856"/>
            <a:ext cx="0" cy="118872"/>
          </a:xfrm>
          <a:prstGeom prst="line">
            <a:avLst/>
          </a:prstGeom>
          <a:noFill/>
          <a:ln w="12700">
            <a:solidFill>
              <a:srgbClr val="B8C4D3"/>
            </a:solidFill>
            <a:prstDash val="solid"/>
            <a:tailEnd type="triangle"/>
          </a:ln>
        </p:spPr>
      </p:sp>
      <p:sp>
        <p:nvSpPr>
          <p:cNvPr id="34" name="Shape 32"/>
          <p:cNvSpPr/>
          <p:nvPr/>
        </p:nvSpPr>
        <p:spPr>
          <a:xfrm>
            <a:off x="3854196" y="3419856"/>
            <a:ext cx="0" cy="118872"/>
          </a:xfrm>
          <a:prstGeom prst="line">
            <a:avLst/>
          </a:prstGeom>
          <a:noFill/>
          <a:ln w="12700">
            <a:solidFill>
              <a:srgbClr val="B8C4D3"/>
            </a:solidFill>
            <a:prstDash val="solid"/>
            <a:tailEnd type="triangle"/>
          </a:ln>
        </p:spPr>
      </p:sp>
      <p:sp>
        <p:nvSpPr>
          <p:cNvPr id="35" name="Shape 33"/>
          <p:cNvSpPr/>
          <p:nvPr/>
        </p:nvSpPr>
        <p:spPr>
          <a:xfrm>
            <a:off x="5198364" y="3419856"/>
            <a:ext cx="0" cy="118872"/>
          </a:xfrm>
          <a:prstGeom prst="line">
            <a:avLst/>
          </a:prstGeom>
          <a:noFill/>
          <a:ln w="12700">
            <a:solidFill>
              <a:srgbClr val="B8C4D3"/>
            </a:solidFill>
            <a:prstDash val="solid"/>
            <a:tailEnd type="triangle"/>
          </a:ln>
        </p:spPr>
      </p:sp>
      <p:sp>
        <p:nvSpPr>
          <p:cNvPr id="36" name="Shape 34"/>
          <p:cNvSpPr/>
          <p:nvPr/>
        </p:nvSpPr>
        <p:spPr>
          <a:xfrm>
            <a:off x="6542532" y="3419856"/>
            <a:ext cx="0" cy="118872"/>
          </a:xfrm>
          <a:prstGeom prst="line">
            <a:avLst/>
          </a:prstGeom>
          <a:noFill/>
          <a:ln w="12700">
            <a:solidFill>
              <a:srgbClr val="B8C4D3"/>
            </a:solidFill>
            <a:prstDash val="solid"/>
            <a:tailEnd type="triangle"/>
          </a:ln>
        </p:spPr>
      </p:sp>
      <p:sp>
        <p:nvSpPr>
          <p:cNvPr id="37" name="Shape 35"/>
          <p:cNvSpPr/>
          <p:nvPr/>
        </p:nvSpPr>
        <p:spPr>
          <a:xfrm>
            <a:off x="548640" y="3547872"/>
            <a:ext cx="1234440" cy="859536"/>
          </a:xfrm>
          <a:prstGeom prst="roundRect">
            <a:avLst>
              <a:gd name="adj" fmla="val 8511"/>
            </a:avLst>
          </a:prstGeom>
          <a:solidFill>
            <a:srgbClr val="FBFCFD"/>
          </a:solidFill>
          <a:ln w="15875">
            <a:solidFill>
              <a:srgbClr val="A23B3B"/>
            </a:solidFill>
            <a:prstDash val="solid"/>
          </a:ln>
        </p:spPr>
      </p:sp>
      <p:sp>
        <p:nvSpPr>
          <p:cNvPr id="38" name="Text 36"/>
          <p:cNvSpPr txBox="1"/>
          <p:nvPr/>
        </p:nvSpPr>
        <p:spPr>
          <a:xfrm>
            <a:off x="612648" y="3584448"/>
            <a:ext cx="1106424" cy="804672"/>
          </a:xfrm>
          <a:prstGeom prst="rect">
            <a:avLst/>
          </a:prstGeom>
          <a:noFill/>
          <a:ln/>
        </p:spPr>
        <p:txBody>
          <a:bodyPr wrap="square" lIns="0" tIns="0" rIns="0" bIns="0" rtlCol="0" anchor="t"/>
          <a:lstStyle/>
          <a:p>
            <a:pPr indent="0" marL="0">
              <a:spcAft>
                <a:spcPts val="200"/>
              </a:spcAft>
              <a:buNone/>
            </a:pPr>
            <a:r>
              <a:rPr lang="en-US" sz="700" b="1" dirty="0">
                <a:solidFill>
                  <a:srgbClr val="A23B3B"/>
                </a:solidFill>
                <a:latin typeface="Calibri" pitchFamily="34" charset="0"/>
                <a:ea typeface="Calibri" pitchFamily="34" charset="-122"/>
                <a:cs typeface="Calibri" pitchFamily="34" charset="-120"/>
              </a:rPr>
              <a:t>cur_speed · cur_u · cur_v · log_mld · ssh</a:t>
            </a:r>
            <a:endParaRPr lang="en-US" sz="950" dirty="0"/>
          </a:p>
          <a:p>
            <a:pPr indent="0" marL="0">
              <a:buNone/>
            </a:pPr>
            <a:r>
              <a:rPr lang="en-US" sz="700" i="1" dirty="0">
                <a:solidFill>
                  <a:srgbClr val="1B2430"/>
                </a:solidFill>
                <a:latin typeface="Calibri" pitchFamily="34" charset="0"/>
                <a:ea typeface="Calibri" pitchFamily="34" charset="-122"/>
                <a:cs typeface="Calibri" pitchFamily="34" charset="-120"/>
              </a:rPr>
              <a:t>5 channels, 1993+ only. cur_speed = hypot(cur_u, cur_v) by construction, so it is not independent of the two components.</a:t>
            </a:r>
            <a:endParaRPr lang="en-US" sz="950" dirty="0"/>
          </a:p>
        </p:txBody>
      </p:sp>
      <p:sp>
        <p:nvSpPr>
          <p:cNvPr id="39" name="Shape 37"/>
          <p:cNvSpPr/>
          <p:nvPr/>
        </p:nvSpPr>
        <p:spPr>
          <a:xfrm>
            <a:off x="1892808" y="3547872"/>
            <a:ext cx="1234440" cy="859536"/>
          </a:xfrm>
          <a:prstGeom prst="roundRect">
            <a:avLst>
              <a:gd name="adj" fmla="val 8511"/>
            </a:avLst>
          </a:prstGeom>
          <a:solidFill>
            <a:srgbClr val="FBFCFD"/>
          </a:solidFill>
          <a:ln w="15875">
            <a:solidFill>
              <a:srgbClr val="1F7A4D"/>
            </a:solidFill>
            <a:prstDash val="solid"/>
          </a:ln>
        </p:spPr>
      </p:sp>
      <p:sp>
        <p:nvSpPr>
          <p:cNvPr id="40" name="Text 38"/>
          <p:cNvSpPr txBox="1"/>
          <p:nvPr/>
        </p:nvSpPr>
        <p:spPr>
          <a:xfrm>
            <a:off x="1956816" y="3584448"/>
            <a:ext cx="1106424" cy="804672"/>
          </a:xfrm>
          <a:prstGeom prst="rect">
            <a:avLst/>
          </a:prstGeom>
          <a:noFill/>
          <a:ln/>
        </p:spPr>
        <p:txBody>
          <a:bodyPr wrap="square" lIns="0" tIns="0" rIns="0" bIns="0" rtlCol="0" anchor="t"/>
          <a:lstStyle/>
          <a:p>
            <a:pPr indent="0" marL="0">
              <a:spcAft>
                <a:spcPts val="200"/>
              </a:spcAft>
              <a:buNone/>
            </a:pPr>
            <a:r>
              <a:rPr lang="en-US" sz="700" b="1" dirty="0">
                <a:solidFill>
                  <a:srgbClr val="1F7A4D"/>
                </a:solidFill>
                <a:latin typeface="Calibri" pitchFamily="34" charset="0"/>
                <a:ea typeface="Calibri" pitchFamily="34" charset="-122"/>
                <a:cs typeface="Calibri" pitchFamily="34" charset="-120"/>
              </a:rPr>
              <a:t>sst</a:t>
            </a:r>
            <a:endParaRPr lang="en-US" sz="950" dirty="0"/>
          </a:p>
          <a:p>
            <a:pPr indent="0" marL="0">
              <a:buNone/>
            </a:pPr>
            <a:r>
              <a:rPr lang="en-US" sz="700" i="1" dirty="0">
                <a:solidFill>
                  <a:srgbClr val="1B2430"/>
                </a:solidFill>
                <a:latin typeface="Calibri" pitchFamily="34" charset="0"/>
                <a:ea typeface="Calibri" pitchFamily="34" charset="-122"/>
                <a:cs typeface="Calibri" pitchFamily="34" charset="-120"/>
              </a:rPr>
              <a:t>1 channel, live on the whole axis (1982→). The only channel with no hole in it.</a:t>
            </a:r>
            <a:endParaRPr lang="en-US" sz="950" dirty="0"/>
          </a:p>
        </p:txBody>
      </p:sp>
      <p:sp>
        <p:nvSpPr>
          <p:cNvPr id="41" name="Shape 39"/>
          <p:cNvSpPr/>
          <p:nvPr/>
        </p:nvSpPr>
        <p:spPr>
          <a:xfrm>
            <a:off x="3236976" y="3547872"/>
            <a:ext cx="1234440" cy="859536"/>
          </a:xfrm>
          <a:prstGeom prst="roundRect">
            <a:avLst>
              <a:gd name="adj" fmla="val 8511"/>
            </a:avLst>
          </a:prstGeom>
          <a:solidFill>
            <a:srgbClr val="FBFCFD"/>
          </a:solidFill>
          <a:ln w="15875">
            <a:solidFill>
              <a:srgbClr val="1F7A4D"/>
            </a:solidFill>
            <a:prstDash val="solid"/>
          </a:ln>
        </p:spPr>
      </p:sp>
      <p:sp>
        <p:nvSpPr>
          <p:cNvPr id="42" name="Text 40"/>
          <p:cNvSpPr txBox="1"/>
          <p:nvPr/>
        </p:nvSpPr>
        <p:spPr>
          <a:xfrm>
            <a:off x="3300984" y="3584448"/>
            <a:ext cx="1106424" cy="804672"/>
          </a:xfrm>
          <a:prstGeom prst="rect">
            <a:avLst/>
          </a:prstGeom>
          <a:noFill/>
          <a:ln/>
        </p:spPr>
        <p:txBody>
          <a:bodyPr wrap="square" lIns="0" tIns="0" rIns="0" bIns="0" rtlCol="0" anchor="t"/>
          <a:lstStyle/>
          <a:p>
            <a:pPr indent="0" marL="0">
              <a:spcAft>
                <a:spcPts val="200"/>
              </a:spcAft>
              <a:buNone/>
            </a:pPr>
            <a:r>
              <a:rPr lang="en-US" sz="700" b="1" dirty="0">
                <a:solidFill>
                  <a:srgbClr val="1F7A4D"/>
                </a:solidFill>
                <a:latin typeface="Calibri" pitchFamily="34" charset="0"/>
                <a:ea typeface="Calibri" pitchFamily="34" charset="-122"/>
                <a:cs typeface="Calibri" pitchFamily="34" charset="-120"/>
              </a:rPr>
              <a:t>rg_t × 16 · rg_s × 16 (10–1900 dbar)</a:t>
            </a:r>
            <a:endParaRPr lang="en-US" sz="950" dirty="0"/>
          </a:p>
          <a:p>
            <a:pPr indent="0" marL="0">
              <a:buNone/>
            </a:pPr>
            <a:r>
              <a:rPr lang="en-US" sz="700" i="1" dirty="0">
                <a:solidFill>
                  <a:srgbClr val="1B2430"/>
                </a:solidFill>
                <a:latin typeface="Calibri" pitchFamily="34" charset="0"/>
                <a:ea typeface="Calibri" pitchFamily="34" charset="-122"/>
                <a:cs typeface="Calibri" pitchFamily="34" charset="-120"/>
              </a:rPr>
              <a:t>32 channels — 80 % of the bytes. 2004+, and ONE live 5-day bin in six; `missing` tokens in the other five.</a:t>
            </a:r>
            <a:endParaRPr lang="en-US" sz="950" dirty="0"/>
          </a:p>
        </p:txBody>
      </p:sp>
      <p:sp>
        <p:nvSpPr>
          <p:cNvPr id="43" name="Shape 41"/>
          <p:cNvSpPr/>
          <p:nvPr/>
        </p:nvSpPr>
        <p:spPr>
          <a:xfrm>
            <a:off x="4581144" y="3547872"/>
            <a:ext cx="1234440" cy="859536"/>
          </a:xfrm>
          <a:prstGeom prst="roundRect">
            <a:avLst>
              <a:gd name="adj" fmla="val 8511"/>
            </a:avLst>
          </a:prstGeom>
          <a:solidFill>
            <a:srgbClr val="FBFCFD"/>
          </a:solidFill>
          <a:ln w="15875">
            <a:solidFill>
              <a:srgbClr val="A23B3B"/>
            </a:solidFill>
            <a:prstDash val="solid"/>
          </a:ln>
        </p:spPr>
      </p:sp>
      <p:sp>
        <p:nvSpPr>
          <p:cNvPr id="44" name="Text 42"/>
          <p:cNvSpPr txBox="1"/>
          <p:nvPr/>
        </p:nvSpPr>
        <p:spPr>
          <a:xfrm>
            <a:off x="4645152" y="3584448"/>
            <a:ext cx="1106424" cy="804672"/>
          </a:xfrm>
          <a:prstGeom prst="rect">
            <a:avLst/>
          </a:prstGeom>
          <a:noFill/>
          <a:ln/>
        </p:spPr>
        <p:txBody>
          <a:bodyPr wrap="square" lIns="0" tIns="0" rIns="0" bIns="0" rtlCol="0" anchor="t"/>
          <a:lstStyle/>
          <a:p>
            <a:pPr indent="0" marL="0">
              <a:spcAft>
                <a:spcPts val="200"/>
              </a:spcAft>
              <a:buNone/>
            </a:pPr>
            <a:r>
              <a:rPr lang="en-US" sz="700" b="1" dirty="0">
                <a:solidFill>
                  <a:srgbClr val="A23B3B"/>
                </a:solidFill>
                <a:latin typeface="Calibri" pitchFamily="34" charset="0"/>
                <a:ea typeface="Calibri" pitchFamily="34" charset="-122"/>
                <a:cs typeface="Calibri" pitchFamily="34" charset="-120"/>
              </a:rPr>
              <a:t>tau_x · tau_y · tau_x_std · tau_y_std</a:t>
            </a:r>
            <a:endParaRPr lang="en-US" sz="950" dirty="0"/>
          </a:p>
          <a:p>
            <a:pPr indent="0" marL="0">
              <a:buNone/>
            </a:pPr>
            <a:r>
              <a:rPr lang="en-US" sz="700" i="1" dirty="0">
                <a:solidFill>
                  <a:srgbClr val="1B2430"/>
                </a:solidFill>
                <a:latin typeface="Calibri" pitchFamily="34" charset="0"/>
                <a:ea typeface="Calibri" pitchFamily="34" charset="-122"/>
                <a:cs typeface="Calibri" pitchFamily="34" charset="-120"/>
              </a:rPr>
              <a:t>4 channels, whole axis. The two σ channels are computed from the daily fields, never from the pentad mean.</a:t>
            </a:r>
            <a:endParaRPr lang="en-US" sz="950" dirty="0"/>
          </a:p>
        </p:txBody>
      </p:sp>
      <p:sp>
        <p:nvSpPr>
          <p:cNvPr id="45" name="Shape 43"/>
          <p:cNvSpPr/>
          <p:nvPr/>
        </p:nvSpPr>
        <p:spPr>
          <a:xfrm>
            <a:off x="5925312" y="3547872"/>
            <a:ext cx="1234440" cy="859536"/>
          </a:xfrm>
          <a:prstGeom prst="roundRect">
            <a:avLst>
              <a:gd name="adj" fmla="val 8511"/>
            </a:avLst>
          </a:prstGeom>
          <a:solidFill>
            <a:srgbClr val="FFF6EE"/>
          </a:solidFill>
          <a:ln w="15875">
            <a:solidFill>
              <a:srgbClr val="E07A2F"/>
            </a:solidFill>
            <a:prstDash val="solid"/>
          </a:ln>
        </p:spPr>
      </p:sp>
      <p:sp>
        <p:nvSpPr>
          <p:cNvPr id="46" name="Text 44"/>
          <p:cNvSpPr txBox="1"/>
          <p:nvPr/>
        </p:nvSpPr>
        <p:spPr>
          <a:xfrm>
            <a:off x="5989320" y="3584448"/>
            <a:ext cx="1106424" cy="804672"/>
          </a:xfrm>
          <a:prstGeom prst="rect">
            <a:avLst/>
          </a:prstGeom>
          <a:noFill/>
          <a:ln/>
        </p:spPr>
        <p:txBody>
          <a:bodyPr wrap="square" lIns="0" tIns="0" rIns="0" bIns="0" rtlCol="0" anchor="t"/>
          <a:lstStyle/>
          <a:p>
            <a:pPr indent="0" marL="0">
              <a:spcAft>
                <a:spcPts val="200"/>
              </a:spcAft>
              <a:buNone/>
            </a:pPr>
            <a:r>
              <a:rPr lang="en-US" sz="700" b="1" dirty="0">
                <a:solidFill>
                  <a:srgbClr val="E07A2F"/>
                </a:solidFill>
                <a:latin typeface="Calibri" pitchFamily="34" charset="0"/>
                <a:ea typeface="Calibri" pitchFamily="34" charset="-122"/>
                <a:cs typeface="Calibri" pitchFamily="34" charset="-120"/>
              </a:rPr>
              <a:t>truth_rapid · truth_fc</a:t>
            </a:r>
            <a:endParaRPr lang="en-US" sz="950" dirty="0"/>
          </a:p>
          <a:p>
            <a:pPr indent="0" marL="0">
              <a:buNone/>
            </a:pPr>
            <a:r>
              <a:rPr lang="en-US" sz="700" i="1" dirty="0">
                <a:solidFill>
                  <a:srgbClr val="1B2430"/>
                </a:solidFill>
                <a:latin typeface="Calibri" pitchFamily="34" charset="0"/>
                <a:ea typeface="Calibri" pitchFamily="34" charset="-122"/>
                <a:cs typeface="Calibri" pitchFamily="34" charset="-120"/>
              </a:rPr>
              <a:t>Two label series stored in the same file. Read by the probes, never by the encoder.</a:t>
            </a:r>
            <a:endParaRPr lang="en-US" sz="950" dirty="0"/>
          </a:p>
        </p:txBody>
      </p:sp>
      <p:sp>
        <p:nvSpPr>
          <p:cNvPr id="47" name="Text 45"/>
          <p:cNvSpPr txBox="1"/>
          <p:nvPr/>
        </p:nvSpPr>
        <p:spPr>
          <a:xfrm>
            <a:off x="548640" y="4416552"/>
            <a:ext cx="6629400" cy="118872"/>
          </a:xfrm>
          <a:prstGeom prst="rect">
            <a:avLst/>
          </a:prstGeom>
          <a:noFill/>
          <a:ln/>
        </p:spPr>
        <p:txBody>
          <a:bodyPr wrap="square" lIns="0" tIns="0" rIns="0" bIns="0" rtlCol="0" anchor="t"/>
          <a:lstStyle/>
          <a:p>
            <a:pPr indent="0" marL="0">
              <a:buNone/>
            </a:pPr>
            <a:r>
              <a:rPr lang="en-US" sz="800" b="1" spc="100" kern="0" dirty="0">
                <a:solidFill>
                  <a:srgbClr val="0B1F3A"/>
                </a:solidFill>
                <a:latin typeface="Calibri" pitchFamily="34" charset="0"/>
                <a:ea typeface="Calibri" pitchFamily="34" charset="-122"/>
                <a:cs typeface="Calibri" pitchFamily="34" charset="-120"/>
              </a:rPr>
              <a:t>3 · DERIVED INSIDE TRAINING</a:t>
            </a:r>
            <a:pPr indent="0" marL="0">
              <a:buNone/>
            </a:pPr>
            <a:r>
              <a:rPr lang="en-US" sz="750" i="1" dirty="0">
                <a:solidFill>
                  <a:srgbClr val="6B7A8F"/>
                </a:solidFill>
                <a:latin typeface="Calibri" pitchFamily="34" charset="0"/>
                <a:ea typeface="Calibri" pitchFamily="34" charset="-122"/>
                <a:cs typeface="Calibri" pitchFamily="34" charset="-120"/>
              </a:rPr>
              <a:t>   nothing here is downloaded — it is computed from the tensor itself</a:t>
            </a:r>
            <a:endParaRPr lang="en-US" sz="950" dirty="0"/>
          </a:p>
        </p:txBody>
      </p:sp>
      <p:sp>
        <p:nvSpPr>
          <p:cNvPr id="48" name="Shape 46"/>
          <p:cNvSpPr/>
          <p:nvPr/>
        </p:nvSpPr>
        <p:spPr>
          <a:xfrm>
            <a:off x="1165860" y="4535424"/>
            <a:ext cx="0" cy="118872"/>
          </a:xfrm>
          <a:prstGeom prst="line">
            <a:avLst/>
          </a:prstGeom>
          <a:noFill/>
          <a:ln w="12700">
            <a:solidFill>
              <a:srgbClr val="B8C4D3"/>
            </a:solidFill>
            <a:prstDash val="solid"/>
            <a:tailEnd type="triangle"/>
          </a:ln>
        </p:spPr>
      </p:sp>
      <p:sp>
        <p:nvSpPr>
          <p:cNvPr id="49" name="Shape 47"/>
          <p:cNvSpPr/>
          <p:nvPr/>
        </p:nvSpPr>
        <p:spPr>
          <a:xfrm>
            <a:off x="2510028" y="4535424"/>
            <a:ext cx="0" cy="118872"/>
          </a:xfrm>
          <a:prstGeom prst="line">
            <a:avLst/>
          </a:prstGeom>
          <a:noFill/>
          <a:ln w="12700">
            <a:solidFill>
              <a:srgbClr val="B8C4D3"/>
            </a:solidFill>
            <a:prstDash val="solid"/>
            <a:tailEnd type="triangle"/>
          </a:ln>
        </p:spPr>
      </p:sp>
      <p:sp>
        <p:nvSpPr>
          <p:cNvPr id="50" name="Shape 48"/>
          <p:cNvSpPr/>
          <p:nvPr/>
        </p:nvSpPr>
        <p:spPr>
          <a:xfrm>
            <a:off x="3854196" y="4535424"/>
            <a:ext cx="0" cy="118872"/>
          </a:xfrm>
          <a:prstGeom prst="line">
            <a:avLst/>
          </a:prstGeom>
          <a:noFill/>
          <a:ln w="12700">
            <a:solidFill>
              <a:srgbClr val="B8C4D3"/>
            </a:solidFill>
            <a:prstDash val="solid"/>
            <a:tailEnd type="triangle"/>
          </a:ln>
        </p:spPr>
      </p:sp>
      <p:sp>
        <p:nvSpPr>
          <p:cNvPr id="51" name="Shape 49"/>
          <p:cNvSpPr/>
          <p:nvPr/>
        </p:nvSpPr>
        <p:spPr>
          <a:xfrm>
            <a:off x="5198364" y="4535424"/>
            <a:ext cx="0" cy="118872"/>
          </a:xfrm>
          <a:prstGeom prst="line">
            <a:avLst/>
          </a:prstGeom>
          <a:noFill/>
          <a:ln w="12700">
            <a:solidFill>
              <a:srgbClr val="B8C4D3"/>
            </a:solidFill>
            <a:prstDash val="solid"/>
            <a:tailEnd type="triangle"/>
          </a:ln>
        </p:spPr>
      </p:sp>
      <p:sp>
        <p:nvSpPr>
          <p:cNvPr id="52" name="Shape 50"/>
          <p:cNvSpPr/>
          <p:nvPr/>
        </p:nvSpPr>
        <p:spPr>
          <a:xfrm>
            <a:off x="548640" y="4663440"/>
            <a:ext cx="1572768" cy="749808"/>
          </a:xfrm>
          <a:prstGeom prst="roundRect">
            <a:avLst>
              <a:gd name="adj" fmla="val 9756"/>
            </a:avLst>
          </a:prstGeom>
          <a:solidFill>
            <a:srgbClr val="F2F8FA"/>
          </a:solidFill>
          <a:ln w="15875">
            <a:solidFill>
              <a:srgbClr val="1C7293"/>
            </a:solidFill>
            <a:prstDash val="solid"/>
          </a:ln>
        </p:spPr>
      </p:sp>
      <p:sp>
        <p:nvSpPr>
          <p:cNvPr id="53" name="Text 51"/>
          <p:cNvSpPr txBox="1"/>
          <p:nvPr/>
        </p:nvSpPr>
        <p:spPr>
          <a:xfrm>
            <a:off x="612648" y="4700016"/>
            <a:ext cx="1444752" cy="694944"/>
          </a:xfrm>
          <a:prstGeom prst="rect">
            <a:avLst/>
          </a:prstGeom>
          <a:noFill/>
          <a:ln/>
        </p:spPr>
        <p:txBody>
          <a:bodyPr wrap="square" lIns="0" tIns="0" rIns="0" bIns="0" rtlCol="0" anchor="t"/>
          <a:lstStyle/>
          <a:p>
            <a:pPr indent="0" marL="0">
              <a:spcAft>
                <a:spcPts val="200"/>
              </a:spcAft>
              <a:buNone/>
            </a:pPr>
            <a:r>
              <a:rPr lang="en-US" sz="750" b="1" dirty="0">
                <a:solidFill>
                  <a:srgbClr val="1C7293"/>
                </a:solidFill>
                <a:latin typeface="Calibri" pitchFamily="34" charset="0"/>
                <a:ea typeface="Calibri" pitchFamily="34" charset="-122"/>
                <a:cs typeface="Calibri" pitchFamily="34" charset="-120"/>
              </a:rPr>
              <a:t>Anomaly, then z-score</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Each channel minus a per-calendar-month average built from TRAINING YEARS ONLY, then divided by its own spread. No outside climatology is used.</a:t>
            </a:r>
            <a:endParaRPr lang="en-US" sz="950" dirty="0"/>
          </a:p>
        </p:txBody>
      </p:sp>
      <p:sp>
        <p:nvSpPr>
          <p:cNvPr id="54" name="Shape 52"/>
          <p:cNvSpPr/>
          <p:nvPr/>
        </p:nvSpPr>
        <p:spPr>
          <a:xfrm>
            <a:off x="2231136" y="4663440"/>
            <a:ext cx="1572768" cy="749808"/>
          </a:xfrm>
          <a:prstGeom prst="roundRect">
            <a:avLst>
              <a:gd name="adj" fmla="val 9756"/>
            </a:avLst>
          </a:prstGeom>
          <a:solidFill>
            <a:srgbClr val="F2F8FA"/>
          </a:solidFill>
          <a:ln w="15875">
            <a:solidFill>
              <a:srgbClr val="1C7293"/>
            </a:solidFill>
            <a:prstDash val="solid"/>
          </a:ln>
        </p:spPr>
      </p:sp>
      <p:sp>
        <p:nvSpPr>
          <p:cNvPr id="55" name="Text 53"/>
          <p:cNvSpPr txBox="1"/>
          <p:nvPr/>
        </p:nvSpPr>
        <p:spPr>
          <a:xfrm>
            <a:off x="2295144" y="4700016"/>
            <a:ext cx="1444752" cy="694944"/>
          </a:xfrm>
          <a:prstGeom prst="rect">
            <a:avLst/>
          </a:prstGeom>
          <a:noFill/>
          <a:ln/>
        </p:spPr>
        <p:txBody>
          <a:bodyPr wrap="square" lIns="0" tIns="0" rIns="0" bIns="0" rtlCol="0" anchor="t"/>
          <a:lstStyle/>
          <a:p>
            <a:pPr indent="0" marL="0">
              <a:spcAft>
                <a:spcPts val="200"/>
              </a:spcAft>
              <a:buNone/>
            </a:pPr>
            <a:r>
              <a:rPr lang="en-US" sz="750" b="1" dirty="0">
                <a:solidFill>
                  <a:srgbClr val="1C7293"/>
                </a:solidFill>
                <a:latin typeface="Calibri" pitchFamily="34" charset="0"/>
                <a:ea typeface="Calibri" pitchFamily="34" charset="-122"/>
                <a:cs typeface="Calibri" pitchFamily="34" charset="-120"/>
              </a:rPr>
              <a:t>Mask · holdout · certificate</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The ocean mask is where channel 0 is finite (84,405 cells). Calendar years 2009, 2017 and 2023 are held out, certified 0 violations in 4,096 anchors.</a:t>
            </a:r>
            <a:endParaRPr lang="en-US" sz="950" dirty="0"/>
          </a:p>
        </p:txBody>
      </p:sp>
      <p:sp>
        <p:nvSpPr>
          <p:cNvPr id="56" name="Shape 54"/>
          <p:cNvSpPr/>
          <p:nvPr/>
        </p:nvSpPr>
        <p:spPr>
          <a:xfrm>
            <a:off x="3913632" y="4663440"/>
            <a:ext cx="1572768" cy="749808"/>
          </a:xfrm>
          <a:prstGeom prst="roundRect">
            <a:avLst>
              <a:gd name="adj" fmla="val 9756"/>
            </a:avLst>
          </a:prstGeom>
          <a:solidFill>
            <a:srgbClr val="F2F8FA"/>
          </a:solidFill>
          <a:ln w="15875">
            <a:solidFill>
              <a:srgbClr val="1C7293"/>
            </a:solidFill>
            <a:prstDash val="solid"/>
          </a:ln>
        </p:spPr>
      </p:sp>
      <p:sp>
        <p:nvSpPr>
          <p:cNvPr id="57" name="Text 55"/>
          <p:cNvSpPr txBox="1"/>
          <p:nvPr/>
        </p:nvSpPr>
        <p:spPr>
          <a:xfrm>
            <a:off x="3977640" y="4700016"/>
            <a:ext cx="1444752" cy="694944"/>
          </a:xfrm>
          <a:prstGeom prst="rect">
            <a:avLst/>
          </a:prstGeom>
          <a:noFill/>
          <a:ln/>
        </p:spPr>
        <p:txBody>
          <a:bodyPr wrap="square" lIns="0" tIns="0" rIns="0" bIns="0" rtlCol="0" anchor="t"/>
          <a:lstStyle/>
          <a:p>
            <a:pPr indent="0" marL="0">
              <a:spcAft>
                <a:spcPts val="200"/>
              </a:spcAft>
              <a:buNone/>
            </a:pPr>
            <a:r>
              <a:rPr lang="en-US" sz="750" b="1" dirty="0">
                <a:solidFill>
                  <a:srgbClr val="1C7293"/>
                </a:solidFill>
                <a:latin typeface="Calibri" pitchFamily="34" charset="0"/>
                <a:ea typeface="Calibri" pitchFamily="34" charset="-122"/>
                <a:cs typeface="Calibri" pitchFamily="34" charset="-120"/>
              </a:rPr>
              <a:t>Probe target · snapshot twin</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The velocity probe's target is the anchor's own cur_u, cur_v, hidden from the encoder. A second identical codec with no lags (L_in = 0) is the control.</a:t>
            </a:r>
            <a:endParaRPr lang="en-US" sz="950" dirty="0"/>
          </a:p>
        </p:txBody>
      </p:sp>
      <p:sp>
        <p:nvSpPr>
          <p:cNvPr id="58" name="Shape 56"/>
          <p:cNvSpPr/>
          <p:nvPr/>
        </p:nvSpPr>
        <p:spPr>
          <a:xfrm>
            <a:off x="5596128" y="4663440"/>
            <a:ext cx="1572768" cy="749808"/>
          </a:xfrm>
          <a:prstGeom prst="roundRect">
            <a:avLst>
              <a:gd name="adj" fmla="val 9756"/>
            </a:avLst>
          </a:prstGeom>
          <a:solidFill>
            <a:srgbClr val="F4F6F9"/>
          </a:solidFill>
          <a:ln w="15875">
            <a:solidFill>
              <a:srgbClr val="6B7A8F"/>
            </a:solidFill>
            <a:prstDash val="solid"/>
          </a:ln>
        </p:spPr>
      </p:sp>
      <p:sp>
        <p:nvSpPr>
          <p:cNvPr id="59" name="Text 57"/>
          <p:cNvSpPr txBox="1"/>
          <p:nvPr/>
        </p:nvSpPr>
        <p:spPr>
          <a:xfrm>
            <a:off x="5660136" y="4700016"/>
            <a:ext cx="1444752" cy="694944"/>
          </a:xfrm>
          <a:prstGeom prst="rect">
            <a:avLst/>
          </a:prstGeom>
          <a:noFill/>
          <a:ln/>
        </p:spPr>
        <p:txBody>
          <a:bodyPr wrap="square" lIns="0" tIns="0" rIns="0" bIns="0" rtlCol="0" anchor="t"/>
          <a:lstStyle/>
          <a:p>
            <a:pPr indent="0" marL="0">
              <a:spcAft>
                <a:spcPts val="200"/>
              </a:spcAft>
              <a:buNone/>
            </a:pPr>
            <a:r>
              <a:rPr lang="en-US" sz="750" b="1" dirty="0">
                <a:solidFill>
                  <a:srgbClr val="6B7A8F"/>
                </a:solidFill>
                <a:latin typeface="Calibri" pitchFamily="34" charset="0"/>
                <a:ea typeface="Calibri" pitchFamily="34" charset="-122"/>
                <a:cs typeface="Calibri" pitchFamily="34" charset="-120"/>
              </a:rPr>
              <a:t>Pinned for stage 2, unused yet</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The run-415 control embedding on recipe r2, the linear-inverse-model null (8 scoreable channels), and the AMOC evaluation mask.</a:t>
            </a:r>
            <a:endParaRPr lang="en-US" sz="950" dirty="0"/>
          </a:p>
        </p:txBody>
      </p:sp>
      <p:sp>
        <p:nvSpPr>
          <p:cNvPr id="60" name="Text 58"/>
          <p:cNvSpPr txBox="1"/>
          <p:nvPr/>
        </p:nvSpPr>
        <p:spPr>
          <a:xfrm>
            <a:off x="548640" y="5477256"/>
            <a:ext cx="6629400" cy="457200"/>
          </a:xfrm>
          <a:prstGeom prst="rect">
            <a:avLst/>
          </a:prstGeom>
          <a:noFill/>
          <a:ln/>
        </p:spPr>
        <p:txBody>
          <a:bodyPr wrap="square" lIns="0" tIns="0" rIns="0" bIns="0" rtlCol="0" anchor="t"/>
          <a:lstStyle/>
          <a:p>
            <a:pPr indent="0" marL="0">
              <a:buNone/>
            </a:pPr>
            <a:r>
              <a:rPr lang="en-US" sz="800" b="1" dirty="0">
                <a:solidFill>
                  <a:srgbClr val="A23B3B"/>
                </a:solidFill>
                <a:latin typeface="Calibri" pitchFamily="34" charset="0"/>
                <a:ea typeface="Calibri" pitchFamily="34" charset="-122"/>
                <a:cs typeface="Calibri" pitchFamily="34" charset="-120"/>
              </a:rPr>
              <a:t>▲ </a:t>
            </a:r>
            <a:pPr indent="0" marL="0">
              <a:spcAft>
                <a:spcPts val="200"/>
              </a:spcAft>
              <a:buNone/>
            </a:pPr>
            <a:r>
              <a:rPr lang="en-US" sz="750" dirty="0">
                <a:solidFill>
                  <a:srgbClr val="1B2430"/>
                </a:solidFill>
                <a:latin typeface="Calibri" pitchFamily="34" charset="0"/>
                <a:ea typeface="Calibri" pitchFamily="34" charset="-122"/>
                <a:cs typeface="Calibri" pitchFamily="34" charset="-120"/>
              </a:rPr>
              <a:t>The app's 1991–2020 sea-surface-temperature normal is deliberately NOT the anomaly baseline: it averages over the held-out years, so it would leak the test period into training.</a:t>
            </a:r>
            <a:endParaRPr lang="en-US" sz="950" dirty="0"/>
          </a:p>
          <a:p>
            <a:pPr indent="0" marL="0">
              <a:buNone/>
            </a:pPr>
            <a:r>
              <a:rPr lang="en-US" sz="800" b="1" dirty="0">
                <a:solidFill>
                  <a:srgbClr val="A23B3B"/>
                </a:solidFill>
                <a:latin typeface="Calibri" pitchFamily="34" charset="0"/>
                <a:ea typeface="Calibri" pitchFamily="34" charset="-122"/>
                <a:cs typeface="Calibri" pitchFamily="34" charset="-120"/>
              </a:rPr>
              <a:t>▲ </a:t>
            </a:r>
            <a:pPr indent="0" marL="0">
              <a:buNone/>
            </a:pPr>
            <a:r>
              <a:rPr lang="en-US" sz="750" dirty="0">
                <a:solidFill>
                  <a:srgbClr val="1B2430"/>
                </a:solidFill>
                <a:latin typeface="Calibri" pitchFamily="34" charset="0"/>
                <a:ea typeface="Calibri" pitchFamily="34" charset="-122"/>
                <a:cs typeface="Calibri" pitchFamily="34" charset="-120"/>
              </a:rPr>
              <a:t>Derived products peek forward by half their assimilation window — the observations a reanalysis may look at around each day (GLORYS: 7 days). 5 of the 42 channels; they need a time shift.</a:t>
            </a:r>
            <a:endParaRPr lang="en-US" sz="950" dirty="0"/>
          </a:p>
        </p:txBody>
      </p:sp>
      <p:sp>
        <p:nvSpPr>
          <p:cNvPr id="61" name="Shape 59"/>
          <p:cNvSpPr/>
          <p:nvPr/>
        </p:nvSpPr>
        <p:spPr>
          <a:xfrm>
            <a:off x="7269480" y="1371600"/>
            <a:ext cx="4343400" cy="4498848"/>
          </a:xfrm>
          <a:prstGeom prst="roundRect">
            <a:avLst>
              <a:gd name="adj" fmla="val 1684"/>
            </a:avLst>
          </a:prstGeom>
          <a:solidFill>
            <a:srgbClr val="F4F6F9"/>
          </a:solidFill>
          <a:ln w="15875">
            <a:solidFill>
              <a:srgbClr val="0B1F3A"/>
            </a:solidFill>
            <a:prstDash val="solid"/>
          </a:ln>
        </p:spPr>
      </p:sp>
      <p:sp>
        <p:nvSpPr>
          <p:cNvPr id="62" name="Text 60"/>
          <p:cNvSpPr txBox="1"/>
          <p:nvPr/>
        </p:nvSpPr>
        <p:spPr>
          <a:xfrm>
            <a:off x="7406640" y="1444752"/>
            <a:ext cx="4069080" cy="4370832"/>
          </a:xfrm>
          <a:prstGeom prst="rect">
            <a:avLst/>
          </a:prstGeom>
          <a:noFill/>
          <a:ln/>
        </p:spPr>
        <p:txBody>
          <a:bodyPr wrap="square" lIns="0" tIns="0" rIns="0" bIns="0" rtlCol="0" anchor="t"/>
          <a:lstStyle/>
          <a:p>
            <a:pPr indent="0" marL="0">
              <a:spcAft>
                <a:spcPts val="500"/>
              </a:spcAft>
              <a:buNone/>
            </a:pPr>
            <a:r>
              <a:rPr lang="en-US" sz="1100" b="1" dirty="0">
                <a:solidFill>
                  <a:srgbClr val="0B1F3A"/>
                </a:solidFill>
                <a:latin typeface="Calibri" pitchFamily="34" charset="0"/>
                <a:ea typeface="Calibri" pitchFamily="34" charset="-122"/>
                <a:cs typeface="Calibri" pitchFamily="34" charset="-120"/>
              </a:rPr>
              <a:t>Missing from “the ocean and its biosphere” — additions, ranked</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1  Buoyancy forcing — ERA5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net short- and long-wave radiation, sensible and latent heat, evaporation − precipitation, wind-stress curl. The only forcing entirely absent today, and it also replaces the frozen NCEP momentum flux.</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2  Ocean interior at 0.25°, in 3-D — GREP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temperature, salinity and both velocity components at 8 depths, 1993→ (+20 GB). Velocity at depth, and six times as many live subsurface bins. The data ladder's #1.</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3  Observed sea level — DUACS altimetry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sea-level anomaly, absolute dynamic topography and geostrophic velocities, 0.125°, daily, 1993→: the observation GLORYS is fitted to, as its own independent channel.</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4  Statics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bathymetry and its gradient, the Coriolis parameter f and its gradient β, distance to coast and to the 1000 m isobath, mean dynamic topography. ~3 MB; the ladder's #2.</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5  Sea-ice concentration — OSTIA / OSI SAF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the northern boundary condition of the window. Today the model sees ice-covered water as ordinary water.</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6  Drifters — Global Drifter Program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15 m velocity and SST as native dots: the observed velocity the H1 probe (does the embedding know the current?) should really be scored on.</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7  Biosphere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ocean-colour chlorophyll (OC-CCI 4 km 1997→, PACE 2024→), BGC-Argo oxygen / nitrate / chlorophyll profiles as dots, SOCAT surface CO₂. The ladder rejected chlorophyll as an INPUT for the overturning head — “no mechanistic path at these timescales” — so the biosphere enters first as what the embedding must PREDICT, and as a held-out sphere.</a:t>
            </a:r>
            <a:endParaRPr lang="en-US" sz="950" dirty="0"/>
          </a:p>
          <a:p>
            <a:pPr indent="0" marL="0">
              <a:buNone/>
            </a:pPr>
            <a:r>
              <a:rPr lang="en-US" sz="850" b="1" dirty="0">
                <a:solidFill>
                  <a:srgbClr val="1C7293"/>
                </a:solidFill>
                <a:latin typeface="Calibri" pitchFamily="34" charset="0"/>
                <a:ea typeface="Calibri" pitchFamily="34" charset="-122"/>
                <a:cs typeface="Calibri" pitchFamily="34" charset="-120"/>
              </a:rPr>
              <a:t>8  Sea-surface salinity — SMOS / SMAP  </a:t>
            </a:r>
            <a:pPr indent="0" marL="0">
              <a:spcAft>
                <a:spcPts val="400"/>
              </a:spcAft>
              <a:buNone/>
            </a:pPr>
            <a:r>
              <a:rPr lang="en-US" sz="850" dirty="0">
                <a:solidFill>
                  <a:srgbClr val="1B2430"/>
                </a:solidFill>
                <a:latin typeface="Calibri" pitchFamily="34" charset="0"/>
                <a:ea typeface="Calibri" pitchFamily="34" charset="-122"/>
                <a:cs typeface="Calibri" pitchFamily="34" charset="-120"/>
              </a:rPr>
              <a:t>2010→, short, but it is the freshwater lid. And RAPID's depth-resolved moc_vertical and boundary T/S files are already downloaded and unused.</a:t>
            </a:r>
            <a:endParaRPr lang="en-US" sz="950" dirty="0"/>
          </a:p>
          <a:p>
            <a:pPr indent="0" marL="0">
              <a:buNone/>
            </a:pPr>
            <a:r>
              <a:rPr lang="en-US" sz="800" i="1" dirty="0">
                <a:solidFill>
                  <a:srgbClr val="6B7A8F"/>
                </a:solidFill>
                <a:latin typeface="Calibri" pitchFamily="34" charset="0"/>
                <a:ea typeface="Calibri" pitchFamily="34" charset="-122"/>
                <a:cs typeface="Calibri" pitchFamily="34" charset="-120"/>
              </a:rPr>
              <a:t>Ranked by information per byte and by what the model cannot derive from what it already holds.</a:t>
            </a:r>
            <a:endParaRPr lang="en-US" sz="950" dirty="0"/>
          </a:p>
        </p:txBody>
      </p:sp>
      <p:sp>
        <p:nvSpPr>
          <p:cNvPr id="63" name="Text 61"/>
          <p:cNvSpPr txBox="1"/>
          <p:nvPr/>
        </p:nvSpPr>
        <p:spPr>
          <a:xfrm>
            <a:off x="548640" y="6035040"/>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Today's codec sees the ocean's momentum forcing (wind stress) and its density structure in one column, and nothing else: no heat or freshwater forcing, no observed velocity, no boundaries — no ice, no bathymetry — and nothing living. Two thirds of the channel count is a single monthly Argo product that is live in one 5-day bin out of six. The additions on the right are ordered by information per byte and by what the model cannot derive from what it already has; the first three are also the three the E-069 plan (the cone codec being trained now) would use unchanged.</a:t>
            </a:r>
            <a:endParaRPr lang="en-US" sz="850" dirty="0"/>
          </a:p>
        </p:txBody>
      </p:sp>
      <p:sp>
        <p:nvSpPr>
          <p:cNvPr id="64" name="Text 6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Boundaries — four edges, four rules, and two of them now change</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Findings of 3 Sep; decisions of 4 Sep (Chris): the dataset is global, and the anomaly baseline is a day-of-year harmonic fit — E-071.</a:t>
            </a:r>
            <a:endParaRPr lang="en-US" sz="1250" dirty="0"/>
          </a:p>
        </p:txBody>
      </p:sp>
      <p:sp>
        <p:nvSpPr>
          <p:cNvPr id="4" name="Shape 2"/>
          <p:cNvSpPr/>
          <p:nvPr/>
        </p:nvSpPr>
        <p:spPr>
          <a:xfrm>
            <a:off x="548640" y="1335024"/>
            <a:ext cx="5440680" cy="2231136"/>
          </a:xfrm>
          <a:prstGeom prst="roundRect">
            <a:avLst>
              <a:gd name="adj" fmla="val 3279"/>
            </a:avLst>
          </a:prstGeom>
          <a:solidFill>
            <a:srgbClr val="F7FAFC"/>
          </a:solidFill>
          <a:ln w="15875">
            <a:solidFill>
              <a:srgbClr val="2E86AB"/>
            </a:solidFill>
            <a:prstDash val="solid"/>
          </a:ln>
        </p:spPr>
      </p:sp>
      <p:sp>
        <p:nvSpPr>
          <p:cNvPr id="5" name="Text 3"/>
          <p:cNvSpPr txBox="1"/>
          <p:nvPr/>
        </p:nvSpPr>
        <p:spPr>
          <a:xfrm>
            <a:off x="667512" y="1389888"/>
            <a:ext cx="5202936" cy="219456"/>
          </a:xfrm>
          <a:prstGeom prst="rect">
            <a:avLst/>
          </a:prstGeom>
          <a:noFill/>
          <a:ln/>
        </p:spPr>
        <p:txBody>
          <a:bodyPr wrap="square" lIns="0" tIns="0" rIns="0" bIns="0" rtlCol="0" anchor="t"/>
          <a:lstStyle/>
          <a:p>
            <a:pPr indent="0" marL="0">
              <a:buNone/>
            </a:pPr>
            <a:r>
              <a:rPr lang="en-US" sz="950" b="1" dirty="0">
                <a:solidFill>
                  <a:srgbClr val="2E86AB"/>
                </a:solidFill>
                <a:latin typeface="Calibri" pitchFamily="34" charset="0"/>
                <a:ea typeface="Calibri" pitchFamily="34" charset="-122"/>
                <a:cs typeface="Calibri" pitchFamily="34" charset="-120"/>
              </a:rPr>
              <a:t>A · SPACE — the window edge (100° W – 20° E, 0–70° N)</a:t>
            </a:r>
            <a:endParaRPr lang="en-US" sz="950" dirty="0"/>
          </a:p>
        </p:txBody>
      </p:sp>
      <p:sp>
        <p:nvSpPr>
          <p:cNvPr id="6" name="Text 4"/>
          <p:cNvSpPr txBox="1"/>
          <p:nvPr/>
        </p:nvSpPr>
        <p:spPr>
          <a:xfrm>
            <a:off x="667512" y="1627632"/>
            <a:ext cx="5202936" cy="731520"/>
          </a:xfrm>
          <a:prstGeom prst="rect">
            <a:avLst/>
          </a:prstGeom>
          <a:noFill/>
          <a:ln/>
        </p:spPr>
        <p:txBody>
          <a:bodyPr wrap="square" lIns="0" tIns="0" rIns="0" bIns="0" rtlCol="0" anchor="t"/>
          <a:lstStyle/>
          <a:p>
            <a:pPr indent="0" marL="0">
              <a:buNone/>
            </a:pPr>
            <a:r>
              <a:rPr lang="en-US" sz="700" b="1" spc="30" kern="0" dirty="0">
                <a:solidFill>
                  <a:srgbClr val="1C7293"/>
                </a:solidFill>
                <a:latin typeface="Calibri" pitchFamily="34" charset="0"/>
                <a:ea typeface="Calibri" pitchFamily="34" charset="-122"/>
                <a:cs typeface="Calibri" pitchFamily="34" charset="-120"/>
              </a:rPr>
              <a:t>FINDING, 3 SEP  </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a dot outside the rectangle is INVALID, never wrapped: the tensor is a basin, so a wrap “would put the Iberian shelf one cell west of Florida” (ml/cone_sampler.py:19–23). The index is clipped, the value discarded, and valid = False becomes the ATTENTION MASK (ConeSampler.sample :293; the lag-0 3×3 patch likewise, _patch :263). Anchors are drawn uniformly over ocean cells with NO edge margin (ml/train_cone.py:358), so an edge anchor sees a truncated, one-sided cone.</a:t>
            </a:r>
            <a:endParaRPr lang="en-US" sz="950" dirty="0"/>
          </a:p>
          <a:p>
            <a:pPr indent="0" marL="0">
              <a:buNone/>
            </a:pPr>
            <a:r>
              <a:rPr lang="en-US" sz="700" b="1" dirty="0">
                <a:solidFill>
                  <a:srgbClr val="A23B3B"/>
                </a:solidFill>
                <a:latin typeface="Calibri" pitchFamily="34" charset="0"/>
                <a:ea typeface="Calibri" pitchFamily="34" charset="-122"/>
                <a:cs typeface="Calibri" pitchFamily="34" charset="-120"/>
              </a:rPr>
              <a:t>The asymmetry: </a:t>
            </a:r>
            <a:pPr indent="0" marL="0">
              <a:buNone/>
            </a:pPr>
            <a:r>
              <a:rPr lang="en-US" sz="700" dirty="0">
                <a:solidFill>
                  <a:srgbClr val="1B2430"/>
                </a:solidFill>
                <a:latin typeface="Calibri" pitchFamily="34" charset="0"/>
                <a:ea typeface="Calibri" pitchFamily="34" charset="-122"/>
                <a:cs typeface="Calibri" pitchFamily="34" charset="-120"/>
              </a:rPr>
              <a:t>nothing tells the model that the missing dots are missing because of OUR rectangle rather than because of the ocean.</a:t>
            </a:r>
            <a:endParaRPr lang="en-US" sz="950" dirty="0"/>
          </a:p>
        </p:txBody>
      </p:sp>
      <p:sp>
        <p:nvSpPr>
          <p:cNvPr id="7" name="Shape 5"/>
          <p:cNvSpPr/>
          <p:nvPr/>
        </p:nvSpPr>
        <p:spPr>
          <a:xfrm>
            <a:off x="676656" y="2395728"/>
            <a:ext cx="2011680" cy="402336"/>
          </a:xfrm>
          <a:prstGeom prst="rect">
            <a:avLst/>
          </a:prstGeom>
          <a:solidFill>
            <a:srgbClr val="FFFFFF"/>
          </a:solidFill>
          <a:ln w="12700">
            <a:solidFill>
              <a:srgbClr val="2E86AB"/>
            </a:solidFill>
            <a:prstDash val="solid"/>
          </a:ln>
        </p:spPr>
      </p:sp>
      <p:sp>
        <p:nvSpPr>
          <p:cNvPr id="8" name="Shape 6"/>
          <p:cNvSpPr/>
          <p:nvPr/>
        </p:nvSpPr>
        <p:spPr>
          <a:xfrm>
            <a:off x="2653589" y="2571293"/>
            <a:ext cx="51206" cy="51206"/>
          </a:xfrm>
          <a:prstGeom prst="ellipse">
            <a:avLst/>
          </a:prstGeom>
          <a:ln w="11430">
            <a:solidFill>
              <a:srgbClr val="A23B3B"/>
            </a:solidFill>
            <a:prstDash val="solid"/>
          </a:ln>
        </p:spPr>
      </p:sp>
      <p:sp>
        <p:nvSpPr>
          <p:cNvPr id="9" name="Shape 7"/>
          <p:cNvSpPr/>
          <p:nvPr/>
        </p:nvSpPr>
        <p:spPr>
          <a:xfrm>
            <a:off x="2618772" y="2623407"/>
            <a:ext cx="51206" cy="51206"/>
          </a:xfrm>
          <a:prstGeom prst="ellipse">
            <a:avLst/>
          </a:prstGeom>
          <a:solidFill>
            <a:srgbClr val="2E86AB"/>
          </a:solidFill>
          <a:ln w="12700">
            <a:solidFill>
              <a:srgbClr val="2E86AB"/>
            </a:solidFill>
            <a:prstDash val="solid"/>
          </a:ln>
        </p:spPr>
      </p:sp>
      <p:sp>
        <p:nvSpPr>
          <p:cNvPr id="10" name="Shape 8"/>
          <p:cNvSpPr/>
          <p:nvPr/>
        </p:nvSpPr>
        <p:spPr>
          <a:xfrm>
            <a:off x="2534717" y="2644993"/>
            <a:ext cx="51206" cy="51206"/>
          </a:xfrm>
          <a:prstGeom prst="ellipse">
            <a:avLst/>
          </a:prstGeom>
          <a:solidFill>
            <a:srgbClr val="2E86AB"/>
          </a:solidFill>
          <a:ln w="12700">
            <a:solidFill>
              <a:srgbClr val="2E86AB"/>
            </a:solidFill>
            <a:prstDash val="solid"/>
          </a:ln>
        </p:spPr>
      </p:sp>
      <p:sp>
        <p:nvSpPr>
          <p:cNvPr id="11" name="Shape 9"/>
          <p:cNvSpPr/>
          <p:nvPr/>
        </p:nvSpPr>
        <p:spPr>
          <a:xfrm>
            <a:off x="2450662" y="2623407"/>
            <a:ext cx="51206" cy="51206"/>
          </a:xfrm>
          <a:prstGeom prst="ellipse">
            <a:avLst/>
          </a:prstGeom>
          <a:solidFill>
            <a:srgbClr val="2E86AB"/>
          </a:solidFill>
          <a:ln w="12700">
            <a:solidFill>
              <a:srgbClr val="2E86AB"/>
            </a:solidFill>
            <a:prstDash val="solid"/>
          </a:ln>
        </p:spPr>
      </p:sp>
      <p:sp>
        <p:nvSpPr>
          <p:cNvPr id="12" name="Shape 10"/>
          <p:cNvSpPr/>
          <p:nvPr/>
        </p:nvSpPr>
        <p:spPr>
          <a:xfrm>
            <a:off x="2415845" y="2571293"/>
            <a:ext cx="51206" cy="51206"/>
          </a:xfrm>
          <a:prstGeom prst="ellipse">
            <a:avLst/>
          </a:prstGeom>
          <a:solidFill>
            <a:srgbClr val="2E86AB"/>
          </a:solidFill>
          <a:ln w="12700">
            <a:solidFill>
              <a:srgbClr val="2E86AB"/>
            </a:solidFill>
            <a:prstDash val="solid"/>
          </a:ln>
        </p:spPr>
      </p:sp>
      <p:sp>
        <p:nvSpPr>
          <p:cNvPr id="13" name="Shape 11"/>
          <p:cNvSpPr/>
          <p:nvPr/>
        </p:nvSpPr>
        <p:spPr>
          <a:xfrm>
            <a:off x="2450662" y="2519179"/>
            <a:ext cx="51206" cy="51206"/>
          </a:xfrm>
          <a:prstGeom prst="ellipse">
            <a:avLst/>
          </a:prstGeom>
          <a:solidFill>
            <a:srgbClr val="2E86AB"/>
          </a:solidFill>
          <a:ln w="12700">
            <a:solidFill>
              <a:srgbClr val="2E86AB"/>
            </a:solidFill>
            <a:prstDash val="solid"/>
          </a:ln>
        </p:spPr>
      </p:sp>
      <p:sp>
        <p:nvSpPr>
          <p:cNvPr id="14" name="Shape 12"/>
          <p:cNvSpPr/>
          <p:nvPr/>
        </p:nvSpPr>
        <p:spPr>
          <a:xfrm>
            <a:off x="2534717" y="2497592"/>
            <a:ext cx="51206" cy="51206"/>
          </a:xfrm>
          <a:prstGeom prst="ellipse">
            <a:avLst/>
          </a:prstGeom>
          <a:solidFill>
            <a:srgbClr val="2E86AB"/>
          </a:solidFill>
          <a:ln w="12700">
            <a:solidFill>
              <a:srgbClr val="2E86AB"/>
            </a:solidFill>
            <a:prstDash val="solid"/>
          </a:ln>
        </p:spPr>
      </p:sp>
      <p:sp>
        <p:nvSpPr>
          <p:cNvPr id="15" name="Shape 13"/>
          <p:cNvSpPr/>
          <p:nvPr/>
        </p:nvSpPr>
        <p:spPr>
          <a:xfrm>
            <a:off x="2618772" y="2519179"/>
            <a:ext cx="51206" cy="51206"/>
          </a:xfrm>
          <a:prstGeom prst="ellipse">
            <a:avLst/>
          </a:prstGeom>
          <a:solidFill>
            <a:srgbClr val="2E86AB"/>
          </a:solidFill>
          <a:ln w="12700">
            <a:solidFill>
              <a:srgbClr val="2E86AB"/>
            </a:solidFill>
            <a:prstDash val="solid"/>
          </a:ln>
        </p:spPr>
      </p:sp>
      <p:sp>
        <p:nvSpPr>
          <p:cNvPr id="16" name="Shape 14"/>
          <p:cNvSpPr/>
          <p:nvPr/>
        </p:nvSpPr>
        <p:spPr>
          <a:xfrm>
            <a:off x="2772461" y="2571293"/>
            <a:ext cx="51206" cy="51206"/>
          </a:xfrm>
          <a:prstGeom prst="ellipse">
            <a:avLst/>
          </a:prstGeom>
          <a:ln w="11430">
            <a:solidFill>
              <a:srgbClr val="A23B3B"/>
            </a:solidFill>
            <a:prstDash val="solid"/>
          </a:ln>
        </p:spPr>
      </p:sp>
      <p:sp>
        <p:nvSpPr>
          <p:cNvPr id="17" name="Shape 15"/>
          <p:cNvSpPr/>
          <p:nvPr/>
        </p:nvSpPr>
        <p:spPr>
          <a:xfrm>
            <a:off x="2727056" y="2657933"/>
            <a:ext cx="51206" cy="51206"/>
          </a:xfrm>
          <a:prstGeom prst="ellipse">
            <a:avLst/>
          </a:prstGeom>
          <a:ln w="11430">
            <a:solidFill>
              <a:srgbClr val="A23B3B"/>
            </a:solidFill>
            <a:prstDash val="solid"/>
          </a:ln>
        </p:spPr>
      </p:sp>
      <p:sp>
        <p:nvSpPr>
          <p:cNvPr id="18" name="Shape 16"/>
          <p:cNvSpPr/>
          <p:nvPr/>
        </p:nvSpPr>
        <p:spPr>
          <a:xfrm>
            <a:off x="2608184" y="2711480"/>
            <a:ext cx="51206" cy="51206"/>
          </a:xfrm>
          <a:prstGeom prst="ellipse">
            <a:avLst/>
          </a:prstGeom>
          <a:solidFill>
            <a:srgbClr val="2E86AB"/>
          </a:solidFill>
          <a:ln w="12700">
            <a:solidFill>
              <a:srgbClr val="2E86AB"/>
            </a:solidFill>
            <a:prstDash val="solid"/>
          </a:ln>
        </p:spPr>
      </p:sp>
      <p:sp>
        <p:nvSpPr>
          <p:cNvPr id="19" name="Shape 17"/>
          <p:cNvSpPr/>
          <p:nvPr/>
        </p:nvSpPr>
        <p:spPr>
          <a:xfrm>
            <a:off x="2461250" y="2711480"/>
            <a:ext cx="51206" cy="51206"/>
          </a:xfrm>
          <a:prstGeom prst="ellipse">
            <a:avLst/>
          </a:prstGeom>
          <a:solidFill>
            <a:srgbClr val="2E86AB"/>
          </a:solidFill>
          <a:ln w="12700">
            <a:solidFill>
              <a:srgbClr val="2E86AB"/>
            </a:solidFill>
            <a:prstDash val="solid"/>
          </a:ln>
        </p:spPr>
      </p:sp>
      <p:sp>
        <p:nvSpPr>
          <p:cNvPr id="20" name="Shape 18"/>
          <p:cNvSpPr/>
          <p:nvPr/>
        </p:nvSpPr>
        <p:spPr>
          <a:xfrm>
            <a:off x="2342378" y="2657933"/>
            <a:ext cx="51206" cy="51206"/>
          </a:xfrm>
          <a:prstGeom prst="ellipse">
            <a:avLst/>
          </a:prstGeom>
          <a:solidFill>
            <a:srgbClr val="2E86AB"/>
          </a:solidFill>
          <a:ln w="12700">
            <a:solidFill>
              <a:srgbClr val="2E86AB"/>
            </a:solidFill>
            <a:prstDash val="solid"/>
          </a:ln>
        </p:spPr>
      </p:sp>
      <p:sp>
        <p:nvSpPr>
          <p:cNvPr id="21" name="Shape 19"/>
          <p:cNvSpPr/>
          <p:nvPr/>
        </p:nvSpPr>
        <p:spPr>
          <a:xfrm>
            <a:off x="2296973" y="2571293"/>
            <a:ext cx="51206" cy="51206"/>
          </a:xfrm>
          <a:prstGeom prst="ellipse">
            <a:avLst/>
          </a:prstGeom>
          <a:solidFill>
            <a:srgbClr val="2E86AB"/>
          </a:solidFill>
          <a:ln w="12700">
            <a:solidFill>
              <a:srgbClr val="2E86AB"/>
            </a:solidFill>
            <a:prstDash val="solid"/>
          </a:ln>
        </p:spPr>
      </p:sp>
      <p:sp>
        <p:nvSpPr>
          <p:cNvPr id="22" name="Shape 20"/>
          <p:cNvSpPr/>
          <p:nvPr/>
        </p:nvSpPr>
        <p:spPr>
          <a:xfrm>
            <a:off x="2342378" y="2484653"/>
            <a:ext cx="51206" cy="51206"/>
          </a:xfrm>
          <a:prstGeom prst="ellipse">
            <a:avLst/>
          </a:prstGeom>
          <a:solidFill>
            <a:srgbClr val="2E86AB"/>
          </a:solidFill>
          <a:ln w="12700">
            <a:solidFill>
              <a:srgbClr val="2E86AB"/>
            </a:solidFill>
            <a:prstDash val="solid"/>
          </a:ln>
        </p:spPr>
      </p:sp>
      <p:sp>
        <p:nvSpPr>
          <p:cNvPr id="23" name="Shape 21"/>
          <p:cNvSpPr/>
          <p:nvPr/>
        </p:nvSpPr>
        <p:spPr>
          <a:xfrm>
            <a:off x="2461250" y="2431106"/>
            <a:ext cx="51206" cy="51206"/>
          </a:xfrm>
          <a:prstGeom prst="ellipse">
            <a:avLst/>
          </a:prstGeom>
          <a:solidFill>
            <a:srgbClr val="2E86AB"/>
          </a:solidFill>
          <a:ln w="12700">
            <a:solidFill>
              <a:srgbClr val="2E86AB"/>
            </a:solidFill>
            <a:prstDash val="solid"/>
          </a:ln>
        </p:spPr>
      </p:sp>
      <p:sp>
        <p:nvSpPr>
          <p:cNvPr id="24" name="Shape 22"/>
          <p:cNvSpPr/>
          <p:nvPr/>
        </p:nvSpPr>
        <p:spPr>
          <a:xfrm>
            <a:off x="2608184" y="2431106"/>
            <a:ext cx="51206" cy="51206"/>
          </a:xfrm>
          <a:prstGeom prst="ellipse">
            <a:avLst/>
          </a:prstGeom>
          <a:solidFill>
            <a:srgbClr val="2E86AB"/>
          </a:solidFill>
          <a:ln w="12700">
            <a:solidFill>
              <a:srgbClr val="2E86AB"/>
            </a:solidFill>
            <a:prstDash val="solid"/>
          </a:ln>
        </p:spPr>
      </p:sp>
      <p:sp>
        <p:nvSpPr>
          <p:cNvPr id="25" name="Shape 23"/>
          <p:cNvSpPr/>
          <p:nvPr/>
        </p:nvSpPr>
        <p:spPr>
          <a:xfrm>
            <a:off x="2727056" y="2484653"/>
            <a:ext cx="51206" cy="51206"/>
          </a:xfrm>
          <a:prstGeom prst="ellipse">
            <a:avLst/>
          </a:prstGeom>
          <a:ln w="11430">
            <a:solidFill>
              <a:srgbClr val="A23B3B"/>
            </a:solidFill>
            <a:prstDash val="solid"/>
          </a:ln>
        </p:spPr>
      </p:sp>
      <p:sp>
        <p:nvSpPr>
          <p:cNvPr id="26" name="Shape 24"/>
          <p:cNvSpPr/>
          <p:nvPr/>
        </p:nvSpPr>
        <p:spPr>
          <a:xfrm>
            <a:off x="2528316" y="2564892"/>
            <a:ext cx="64008" cy="64008"/>
          </a:xfrm>
          <a:prstGeom prst="ellipse">
            <a:avLst/>
          </a:prstGeom>
          <a:solidFill>
            <a:srgbClr val="F2C14E"/>
          </a:solidFill>
          <a:ln w="9525">
            <a:solidFill>
              <a:srgbClr val="0B1F3A"/>
            </a:solidFill>
            <a:prstDash val="solid"/>
          </a:ln>
        </p:spPr>
      </p:sp>
      <p:sp>
        <p:nvSpPr>
          <p:cNvPr id="27" name="Text 25"/>
          <p:cNvSpPr txBox="1"/>
          <p:nvPr/>
        </p:nvSpPr>
        <p:spPr>
          <a:xfrm>
            <a:off x="676656" y="2816352"/>
            <a:ext cx="2286000" cy="146304"/>
          </a:xfrm>
          <a:prstGeom prst="rect">
            <a:avLst/>
          </a:prstGeom>
          <a:noFill/>
          <a:ln/>
        </p:spPr>
        <p:txBody>
          <a:bodyPr wrap="square" lIns="0" tIns="0" rIns="0" bIns="0" rtlCol="0" anchor="t"/>
          <a:lstStyle/>
          <a:p>
            <a:pPr indent="0" marL="0">
              <a:buNone/>
            </a:pPr>
            <a:r>
              <a:rPr lang="en-US" sz="650" i="1" dirty="0">
                <a:solidFill>
                  <a:srgbClr val="6B7A8F"/>
                </a:solidFill>
                <a:latin typeface="Calibri" pitchFamily="34" charset="0"/>
                <a:ea typeface="Calibri" pitchFamily="34" charset="-122"/>
                <a:cs typeface="Calibri" pitchFamily="34" charset="-120"/>
              </a:rPr>
              <a:t>the tensor window — the dots do not wrap</a:t>
            </a:r>
            <a:endParaRPr lang="en-US" sz="950" dirty="0"/>
          </a:p>
        </p:txBody>
      </p:sp>
      <p:sp>
        <p:nvSpPr>
          <p:cNvPr id="28" name="Text 26"/>
          <p:cNvSpPr txBox="1"/>
          <p:nvPr/>
        </p:nvSpPr>
        <p:spPr>
          <a:xfrm>
            <a:off x="2834640" y="2377440"/>
            <a:ext cx="3008376" cy="603504"/>
          </a:xfrm>
          <a:prstGeom prst="rect">
            <a:avLst/>
          </a:prstGeom>
          <a:noFill/>
          <a:ln/>
        </p:spPr>
        <p:txBody>
          <a:bodyPr wrap="square" lIns="0" tIns="0" rIns="0" bIns="0" rtlCol="0" anchor="t"/>
          <a:lstStyle/>
          <a:p>
            <a:pPr indent="0" marL="0">
              <a:buNone/>
            </a:pPr>
            <a:r>
              <a:rPr lang="en-US" sz="700" b="1" dirty="0">
                <a:solidFill>
                  <a:srgbClr val="2E86AB"/>
                </a:solidFill>
                <a:latin typeface="Calibri" pitchFamily="34" charset="0"/>
                <a:ea typeface="Calibri" pitchFamily="34" charset="-122"/>
                <a:cs typeface="Calibri" pitchFamily="34" charset="-120"/>
              </a:rPr>
              <a:t>Filled </a:t>
            </a:r>
            <a:pPr indent="0" marL="0">
              <a:buNone/>
            </a:pPr>
            <a:r>
              <a:rPr lang="en-US" sz="700" dirty="0">
                <a:solidFill>
                  <a:srgbClr val="1B2430"/>
                </a:solidFill>
                <a:latin typeface="Calibri" pitchFamily="34" charset="0"/>
                <a:ea typeface="Calibri" pitchFamily="34" charset="-122"/>
                <a:cs typeface="Calibri" pitchFamily="34" charset="-120"/>
              </a:rPr>
              <a:t>= read. </a:t>
            </a:r>
            <a:pPr indent="0" marL="0">
              <a:buNone/>
            </a:pPr>
            <a:r>
              <a:rPr lang="en-US" sz="700" b="1" dirty="0">
                <a:solidFill>
                  <a:srgbClr val="A23B3B"/>
                </a:solidFill>
                <a:latin typeface="Calibri" pitchFamily="34" charset="0"/>
                <a:ea typeface="Calibri" pitchFamily="34" charset="-122"/>
                <a:cs typeface="Calibri" pitchFamily="34" charset="-120"/>
              </a:rPr>
              <a:t>Hollow </a:t>
            </a:r>
            <a:pPr indent="0" marL="0">
              <a:spcAft>
                <a:spcPts val="200"/>
              </a:spcAft>
              <a:buNone/>
            </a:pPr>
            <a:r>
              <a:rPr lang="en-US" sz="700" dirty="0">
                <a:solidFill>
                  <a:srgbClr val="1B2430"/>
                </a:solidFill>
                <a:latin typeface="Calibri" pitchFamily="34" charset="0"/>
                <a:ea typeface="Calibri" pitchFamily="34" charset="-122"/>
                <a:cs typeface="Calibri" pitchFamily="34" charset="-120"/>
              </a:rPr>
              <a:t>= off the rectangle: clipped, discarded, masked out of attention.</a:t>
            </a:r>
            <a:endParaRPr lang="en-US" sz="950" dirty="0"/>
          </a:p>
          <a:p>
            <a:pPr indent="0" marL="0">
              <a:buNone/>
            </a:pPr>
            <a:r>
              <a:rPr lang="en-US" sz="700" b="1" dirty="0">
                <a:solidFill>
                  <a:srgbClr val="1C7293"/>
                </a:solidFill>
                <a:latin typeface="Calibri" pitchFamily="34" charset="0"/>
                <a:ea typeface="Calibri" pitchFamily="34" charset="-122"/>
                <a:cs typeface="Calibri" pitchFamily="34" charset="-120"/>
              </a:rPr>
              <a:t>COST  </a:t>
            </a:r>
            <a:pPr indent="0" marL="0">
              <a:buNone/>
            </a:pPr>
            <a:r>
              <a:rPr lang="en-US" sz="700" dirty="0">
                <a:solidFill>
                  <a:srgbClr val="1B2430"/>
                </a:solidFill>
                <a:latin typeface="Calibri" pitchFamily="34" charset="0"/>
                <a:ea typeface="Calibri" pitchFamily="34" charset="-122"/>
                <a:cs typeface="Calibri" pitchFamily="34" charset="-120"/>
              </a:rPr>
              <a:t>over all 84,405 ocean anchors with the real 706-dot stencil: 22.0 % of anchors have at least one off-grid dot; 2.68 % of all dots are off-grid.</a:t>
            </a:r>
            <a:endParaRPr lang="en-US" sz="950" dirty="0"/>
          </a:p>
        </p:txBody>
      </p:sp>
      <p:sp>
        <p:nvSpPr>
          <p:cNvPr id="29" name="Text 27"/>
          <p:cNvSpPr txBox="1"/>
          <p:nvPr/>
        </p:nvSpPr>
        <p:spPr>
          <a:xfrm>
            <a:off x="667512" y="2999232"/>
            <a:ext cx="5202936" cy="530352"/>
          </a:xfrm>
          <a:prstGeom prst="rect">
            <a:avLst/>
          </a:prstGeom>
          <a:noFill/>
          <a:ln/>
        </p:spPr>
        <p:txBody>
          <a:bodyPr wrap="square" lIns="0" tIns="0" rIns="0" bIns="0" rtlCol="0" anchor="t"/>
          <a:lstStyle/>
          <a:p>
            <a:pPr indent="0" marL="0">
              <a:buNone/>
            </a:pPr>
            <a:r>
              <a:rPr lang="en-US" sz="700" b="1" spc="40" kern="0" dirty="0">
                <a:solidFill>
                  <a:srgbClr val="1F7A4D"/>
                </a:solidFill>
                <a:latin typeface="Calibri" pitchFamily="34" charset="0"/>
                <a:ea typeface="Calibri" pitchFamily="34" charset="-122"/>
                <a:cs typeface="Calibri" pitchFamily="34" charset="-120"/>
              </a:rPr>
              <a:t>DECISION → GLOBAL (E-071 §1)  </a:t>
            </a:r>
            <a:pPr indent="0" marL="0">
              <a:buNone/>
            </a:pPr>
            <a:r>
              <a:rPr lang="en-US" sz="700" dirty="0">
                <a:solidFill>
                  <a:srgbClr val="1B2430"/>
                </a:solidFill>
                <a:latin typeface="Calibri" pitchFamily="34" charset="0"/>
                <a:ea typeface="Calibri" pitchFamily="34" charset="-122"/>
                <a:cs typeface="Calibri" pitchFamily="34" charset="-120"/>
              </a:rPr>
              <a:t>family 7 — the first tensor covering the whole globe rather than the North Atlantic window — runs to the POLES: 721 × 1,440 cells, −90…90° N; longitude WRAPS (xx = (x + dx) mod W), and every dot is placed on the sphere as a destination point, so a pole crossing falls out of the formula and nothing is ever clipped. The 2.68 % off-grid dots become real dots and the 22 % truncated anchors see a full cone. ASPECT = 0.71 was measured on the North Atlantic and is re-measured per latitude band.</a:t>
            </a:r>
            <a:endParaRPr lang="en-US" sz="950" dirty="0"/>
          </a:p>
        </p:txBody>
      </p:sp>
      <p:sp>
        <p:nvSpPr>
          <p:cNvPr id="30" name="Shape 28"/>
          <p:cNvSpPr/>
          <p:nvPr/>
        </p:nvSpPr>
        <p:spPr>
          <a:xfrm>
            <a:off x="6172200" y="1335024"/>
            <a:ext cx="5440680" cy="2231136"/>
          </a:xfrm>
          <a:prstGeom prst="roundRect">
            <a:avLst>
              <a:gd name="adj" fmla="val 3279"/>
            </a:avLst>
          </a:prstGeom>
          <a:solidFill>
            <a:srgbClr val="F7FBF6"/>
          </a:solidFill>
          <a:ln w="15875">
            <a:solidFill>
              <a:srgbClr val="4E8A3E"/>
            </a:solidFill>
            <a:prstDash val="solid"/>
          </a:ln>
        </p:spPr>
      </p:sp>
      <p:sp>
        <p:nvSpPr>
          <p:cNvPr id="31" name="Text 29"/>
          <p:cNvSpPr txBox="1"/>
          <p:nvPr/>
        </p:nvSpPr>
        <p:spPr>
          <a:xfrm>
            <a:off x="6291072" y="1389888"/>
            <a:ext cx="5202936" cy="219456"/>
          </a:xfrm>
          <a:prstGeom prst="rect">
            <a:avLst/>
          </a:prstGeom>
          <a:noFill/>
          <a:ln/>
        </p:spPr>
        <p:txBody>
          <a:bodyPr wrap="square" lIns="0" tIns="0" rIns="0" bIns="0" rtlCol="0" anchor="t"/>
          <a:lstStyle/>
          <a:p>
            <a:pPr indent="0" marL="0">
              <a:buNone/>
            </a:pPr>
            <a:r>
              <a:rPr lang="en-US" sz="950" b="1" dirty="0">
                <a:solidFill>
                  <a:srgbClr val="4E8A3E"/>
                </a:solidFill>
                <a:latin typeface="Calibri" pitchFamily="34" charset="0"/>
                <a:ea typeface="Calibri" pitchFamily="34" charset="-122"/>
                <a:cs typeface="Calibri" pitchFamily="34" charset="-120"/>
              </a:rPr>
              <a:t>B · SPACE — land</a:t>
            </a:r>
            <a:endParaRPr lang="en-US" sz="950" dirty="0"/>
          </a:p>
        </p:txBody>
      </p:sp>
      <p:sp>
        <p:nvSpPr>
          <p:cNvPr id="32" name="Text 30"/>
          <p:cNvSpPr txBox="1"/>
          <p:nvPr/>
        </p:nvSpPr>
        <p:spPr>
          <a:xfrm>
            <a:off x="6291072" y="1609344"/>
            <a:ext cx="5202936" cy="146304"/>
          </a:xfrm>
          <a:prstGeom prst="rect">
            <a:avLst/>
          </a:prstGeom>
          <a:noFill/>
          <a:ln/>
        </p:spPr>
        <p:txBody>
          <a:bodyPr wrap="square" lIns="0" tIns="0" rIns="0" bIns="0" rtlCol="0" anchor="t"/>
          <a:lstStyle/>
          <a:p>
            <a:pPr indent="0" marL="0">
              <a:buNone/>
            </a:pPr>
            <a:r>
              <a:rPr lang="en-US" sz="650" b="1" spc="40" kern="0" dirty="0">
                <a:solidFill>
                  <a:srgbClr val="6B7A8F"/>
                </a:solidFill>
                <a:latin typeface="Calibri" pitchFamily="34" charset="0"/>
                <a:ea typeface="Calibri" pitchFamily="34" charset="-122"/>
                <a:cs typeface="Calibri" pitchFamily="34" charset="-120"/>
              </a:rPr>
              <a:t>UNCHANGED — these rules were right</a:t>
            </a:r>
            <a:endParaRPr lang="en-US" sz="950" dirty="0"/>
          </a:p>
        </p:txBody>
      </p:sp>
      <p:sp>
        <p:nvSpPr>
          <p:cNvPr id="33" name="Text 31"/>
          <p:cNvSpPr txBox="1"/>
          <p:nvPr/>
        </p:nvSpPr>
        <p:spPr>
          <a:xfrm>
            <a:off x="6291072" y="1792224"/>
            <a:ext cx="5202936" cy="1005840"/>
          </a:xfrm>
          <a:prstGeom prst="rect">
            <a:avLst/>
          </a:prstGeom>
          <a:noFill/>
          <a:ln/>
        </p:spPr>
        <p:txBody>
          <a:bodyPr wrap="square" lIns="0" tIns="0" rIns="0" bIns="0" rtlCol="0" anchor="t"/>
          <a:lstStyle/>
          <a:p>
            <a:pPr indent="0" marL="0">
              <a:buNone/>
            </a:pPr>
            <a:r>
              <a:rPr lang="en-US" sz="700" b="1" spc="30" kern="0" dirty="0">
                <a:solidFill>
                  <a:srgbClr val="1C7293"/>
                </a:solidFill>
                <a:latin typeface="Calibri" pitchFamily="34" charset="0"/>
                <a:ea typeface="Calibri" pitchFamily="34" charset="-122"/>
                <a:cs typeface="Calibri" pitchFamily="34" charset="-120"/>
              </a:rPr>
              <a:t>RULE  </a:t>
            </a:r>
            <a:pPr indent="0" marL="0">
              <a:buNone/>
            </a:pPr>
            <a:r>
              <a:rPr lang="en-US" sz="700" dirty="0">
                <a:solidFill>
                  <a:srgbClr val="1B2430"/>
                </a:solidFill>
                <a:latin typeface="Calibri" pitchFamily="34" charset="0"/>
                <a:ea typeface="Calibri" pitchFamily="34" charset="-122"/>
                <a:cs typeface="Calibri" pitchFamily="34" charset="-120"/>
              </a:rPr>
              <a:t>a dot on land is a REAL token whose value was never observed: obs = False → the codec’s </a:t>
            </a:r>
            <a:pPr indent="0" marL="0">
              <a:buNone/>
            </a:pPr>
            <a:r>
              <a:rPr lang="en-US" sz="700" b="1" dirty="0">
                <a:solidFill>
                  <a:srgbClr val="4E8A3E"/>
                </a:solidFill>
                <a:latin typeface="Calibri" pitchFamily="34" charset="0"/>
                <a:ea typeface="Calibri" pitchFamily="34" charset="-122"/>
                <a:cs typeface="Calibri" pitchFamily="34" charset="-120"/>
              </a:rPr>
              <a:t>miss</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 token — the same miss_tok PixelMAE (the pixel-level masked auto-encoder this codec inherits) uses — NOT an invalid/masked token.</a:t>
            </a:r>
            <a:endParaRPr lang="en-US" sz="950" dirty="0"/>
          </a:p>
          <a:p>
            <a:pPr indent="0" marL="0">
              <a:spcAft>
                <a:spcPts val="300"/>
              </a:spcAft>
              <a:buNone/>
            </a:pPr>
            <a:r>
              <a:rPr lang="en-US" sz="700" dirty="0">
                <a:solidFill>
                  <a:srgbClr val="1B2430"/>
                </a:solidFill>
                <a:latin typeface="Calibri" pitchFamily="34" charset="0"/>
                <a:ea typeface="Calibri" pitchFamily="34" charset="-122"/>
                <a:cs typeface="Calibri" pitchFamily="34" charset="-120"/>
              </a:rPr>
              <a:t>The distinction is the one the whole architecture rests on: “the data never observed this” is information; “this dot does not exist” is not. One is a token the model can learn from, the other is a hole in the attention matrix.</a:t>
            </a:r>
            <a:endParaRPr lang="en-US" sz="950" dirty="0"/>
          </a:p>
          <a:p>
            <a:pPr indent="0" marL="0">
              <a:buNone/>
            </a:pPr>
            <a:r>
              <a:rPr lang="en-US" sz="700" b="1" spc="30" kern="0" dirty="0">
                <a:solidFill>
                  <a:srgbClr val="1C7293"/>
                </a:solidFill>
                <a:latin typeface="Calibri" pitchFamily="34" charset="0"/>
                <a:ea typeface="Calibri" pitchFamily="34" charset="-122"/>
                <a:cs typeface="Calibri" pitchFamily="34" charset="-120"/>
              </a:rPr>
              <a:t>COST  </a:t>
            </a:r>
            <a:pPr indent="0" marL="0">
              <a:buNone/>
            </a:pPr>
            <a:r>
              <a:rPr lang="en-US" sz="700" dirty="0">
                <a:solidFill>
                  <a:srgbClr val="1B2430"/>
                </a:solidFill>
                <a:latin typeface="Calibri" pitchFamily="34" charset="0"/>
                <a:ea typeface="Calibri" pitchFamily="34" charset="-122"/>
                <a:cs typeface="Calibri" pitchFamily="34" charset="-120"/>
              </a:rPr>
              <a:t>8.17 % of all dots land on land — on-grid, unobserved. Combined with the edge, </a:t>
            </a:r>
            <a:pPr indent="0" marL="0">
              <a:spcAft>
                <a:spcPts val="300"/>
              </a:spcAft>
              <a:buNone/>
            </a:pPr>
            <a:r>
              <a:rPr lang="en-US" sz="700" b="1" dirty="0">
                <a:solidFill>
                  <a:srgbClr val="A23B3B"/>
                </a:solidFill>
                <a:latin typeface="Calibri" pitchFamily="34" charset="0"/>
                <a:ea typeface="Calibri" pitchFamily="34" charset="-122"/>
                <a:cs typeface="Calibri" pitchFamily="34" charset="-120"/>
              </a:rPr>
              <a:t>10.85 % of the 706 dots at a typical anchor carry no value.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Land dots are still spent from the budget: they occupy their slot and are attended to, so a coastal anchor pays for its geography twice.</a:t>
            </a:r>
            <a:endParaRPr lang="en-US" sz="950" dirty="0"/>
          </a:p>
        </p:txBody>
      </p:sp>
      <p:sp>
        <p:nvSpPr>
          <p:cNvPr id="34" name="Shape 32"/>
          <p:cNvSpPr/>
          <p:nvPr/>
        </p:nvSpPr>
        <p:spPr>
          <a:xfrm>
            <a:off x="6300216" y="2834640"/>
            <a:ext cx="4622114" cy="164592"/>
          </a:xfrm>
          <a:prstGeom prst="rect">
            <a:avLst/>
          </a:prstGeom>
          <a:solidFill>
            <a:srgbClr val="1C7293">
              <a:alpha val="85000"/>
            </a:srgbClr>
          </a:solidFill>
          <a:ln w="7620">
            <a:solidFill>
              <a:srgbClr val="FFFFFF"/>
            </a:solidFill>
            <a:prstDash val="solid"/>
          </a:ln>
        </p:spPr>
      </p:sp>
      <p:sp>
        <p:nvSpPr>
          <p:cNvPr id="35" name="Shape 33"/>
          <p:cNvSpPr/>
          <p:nvPr/>
        </p:nvSpPr>
        <p:spPr>
          <a:xfrm>
            <a:off x="10922330" y="2834640"/>
            <a:ext cx="423586" cy="164592"/>
          </a:xfrm>
          <a:prstGeom prst="rect">
            <a:avLst/>
          </a:prstGeom>
          <a:solidFill>
            <a:srgbClr val="4E8A3E">
              <a:alpha val="85000"/>
            </a:srgbClr>
          </a:solidFill>
          <a:ln w="7620">
            <a:solidFill>
              <a:srgbClr val="FFFFFF"/>
            </a:solidFill>
            <a:prstDash val="solid"/>
          </a:ln>
        </p:spPr>
      </p:sp>
      <p:sp>
        <p:nvSpPr>
          <p:cNvPr id="36" name="Shape 34"/>
          <p:cNvSpPr/>
          <p:nvPr/>
        </p:nvSpPr>
        <p:spPr>
          <a:xfrm>
            <a:off x="11345915" y="2834640"/>
            <a:ext cx="138949" cy="164592"/>
          </a:xfrm>
          <a:prstGeom prst="rect">
            <a:avLst/>
          </a:prstGeom>
          <a:solidFill>
            <a:srgbClr val="A23B3B">
              <a:alpha val="85000"/>
            </a:srgbClr>
          </a:solidFill>
          <a:ln w="7620">
            <a:solidFill>
              <a:srgbClr val="FFFFFF"/>
            </a:solidFill>
            <a:prstDash val="solid"/>
          </a:ln>
        </p:spPr>
      </p:sp>
      <p:sp>
        <p:nvSpPr>
          <p:cNvPr id="37" name="Text 35"/>
          <p:cNvSpPr txBox="1"/>
          <p:nvPr/>
        </p:nvSpPr>
        <p:spPr>
          <a:xfrm>
            <a:off x="6300216" y="3008376"/>
            <a:ext cx="5184648" cy="146304"/>
          </a:xfrm>
          <a:prstGeom prst="rect">
            <a:avLst/>
          </a:prstGeom>
          <a:noFill/>
          <a:ln/>
        </p:spPr>
        <p:txBody>
          <a:bodyPr wrap="square" lIns="0" tIns="0" rIns="0" bIns="0" rtlCol="0" anchor="t"/>
          <a:lstStyle/>
          <a:p>
            <a:pPr indent="0" marL="0">
              <a:buNone/>
            </a:pPr>
            <a:r>
              <a:rPr lang="en-US" sz="650" i="1" dirty="0">
                <a:solidFill>
                  <a:srgbClr val="6B7A8F"/>
                </a:solidFill>
                <a:latin typeface="Calibri" pitchFamily="34" charset="0"/>
                <a:ea typeface="Calibri" pitchFamily="34" charset="-122"/>
                <a:cs typeface="Calibri" pitchFamily="34" charset="-120"/>
              </a:rPr>
              <a:t>the 706 dots at one anchor</a:t>
            </a:r>
            <a:endParaRPr lang="en-US" sz="950" dirty="0"/>
          </a:p>
        </p:txBody>
      </p:sp>
      <p:sp>
        <p:nvSpPr>
          <p:cNvPr id="38" name="Text 36"/>
          <p:cNvSpPr txBox="1"/>
          <p:nvPr/>
        </p:nvSpPr>
        <p:spPr>
          <a:xfrm>
            <a:off x="6300216" y="3163824"/>
            <a:ext cx="5184648" cy="182880"/>
          </a:xfrm>
          <a:prstGeom prst="rect">
            <a:avLst/>
          </a:prstGeom>
          <a:noFill/>
          <a:ln/>
        </p:spPr>
        <p:txBody>
          <a:bodyPr wrap="square" lIns="0" tIns="0" rIns="0" bIns="0" rtlCol="0" anchor="t"/>
          <a:lstStyle/>
          <a:p>
            <a:pPr indent="0" marL="0">
              <a:buNone/>
            </a:pPr>
            <a:r>
              <a:rPr lang="en-US" sz="800" dirty="0">
                <a:solidFill>
                  <a:srgbClr val="1C7293"/>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89.15 % carry a value    </a:t>
            </a:r>
            <a:pPr indent="0" marL="0">
              <a:buNone/>
            </a:pPr>
            <a:r>
              <a:rPr lang="en-US" sz="800" dirty="0">
                <a:solidFill>
                  <a:srgbClr val="4E8A3E"/>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8.17 % land → miss token    </a:t>
            </a:r>
            <a:pPr indent="0" marL="0">
              <a:buNone/>
            </a:pPr>
            <a:r>
              <a:rPr lang="en-US" sz="800" dirty="0">
                <a:solidFill>
                  <a:srgbClr val="A23B3B"/>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2.68 % off-grid → invalid</a:t>
            </a:r>
            <a:endParaRPr lang="en-US" sz="950" dirty="0"/>
          </a:p>
        </p:txBody>
      </p:sp>
      <p:sp>
        <p:nvSpPr>
          <p:cNvPr id="39" name="Shape 37"/>
          <p:cNvSpPr/>
          <p:nvPr/>
        </p:nvSpPr>
        <p:spPr>
          <a:xfrm>
            <a:off x="548640" y="3621024"/>
            <a:ext cx="5440680" cy="2249424"/>
          </a:xfrm>
          <a:prstGeom prst="roundRect">
            <a:avLst>
              <a:gd name="adj" fmla="val 3252"/>
            </a:avLst>
          </a:prstGeom>
          <a:solidFill>
            <a:srgbClr val="FFF9F3"/>
          </a:solidFill>
          <a:ln w="15875">
            <a:solidFill>
              <a:srgbClr val="E07A2F"/>
            </a:solidFill>
            <a:prstDash val="solid"/>
          </a:ln>
        </p:spPr>
      </p:sp>
      <p:sp>
        <p:nvSpPr>
          <p:cNvPr id="40" name="Text 38"/>
          <p:cNvSpPr txBox="1"/>
          <p:nvPr/>
        </p:nvSpPr>
        <p:spPr>
          <a:xfrm>
            <a:off x="667512" y="3675888"/>
            <a:ext cx="5202936" cy="219456"/>
          </a:xfrm>
          <a:prstGeom prst="rect">
            <a:avLst/>
          </a:prstGeom>
          <a:noFill/>
          <a:ln/>
        </p:spPr>
        <p:txBody>
          <a:bodyPr wrap="square" lIns="0" tIns="0" rIns="0" bIns="0" rtlCol="0" anchor="t"/>
          <a:lstStyle/>
          <a:p>
            <a:pPr indent="0" marL="0">
              <a:buNone/>
            </a:pPr>
            <a:r>
              <a:rPr lang="en-US" sz="950" b="1" dirty="0">
                <a:solidFill>
                  <a:srgbClr val="E07A2F"/>
                </a:solidFill>
                <a:latin typeface="Calibri" pitchFamily="34" charset="0"/>
                <a:ea typeface="Calibri" pitchFamily="34" charset="-122"/>
                <a:cs typeface="Calibri" pitchFamily="34" charset="-120"/>
              </a:rPr>
              <a:t>C · TIME — the archive ends, and the holdout blocks</a:t>
            </a:r>
            <a:endParaRPr lang="en-US" sz="950" dirty="0"/>
          </a:p>
        </p:txBody>
      </p:sp>
      <p:sp>
        <p:nvSpPr>
          <p:cNvPr id="41" name="Text 39"/>
          <p:cNvSpPr txBox="1"/>
          <p:nvPr/>
        </p:nvSpPr>
        <p:spPr>
          <a:xfrm>
            <a:off x="667512" y="3895344"/>
            <a:ext cx="5202936" cy="146304"/>
          </a:xfrm>
          <a:prstGeom prst="rect">
            <a:avLst/>
          </a:prstGeom>
          <a:noFill/>
          <a:ln/>
        </p:spPr>
        <p:txBody>
          <a:bodyPr wrap="square" lIns="0" tIns="0" rIns="0" bIns="0" rtlCol="0" anchor="t"/>
          <a:lstStyle/>
          <a:p>
            <a:pPr indent="0" marL="0">
              <a:buNone/>
            </a:pPr>
            <a:r>
              <a:rPr lang="en-US" sz="650" b="1" spc="40" kern="0" dirty="0">
                <a:solidFill>
                  <a:srgbClr val="6B7A8F"/>
                </a:solidFill>
                <a:latin typeface="Calibri" pitchFamily="34" charset="0"/>
                <a:ea typeface="Calibri" pitchFamily="34" charset="-122"/>
                <a:cs typeface="Calibri" pitchFamily="34" charset="-120"/>
              </a:rPr>
              <a:t>UNCHANGED — these rules were right</a:t>
            </a:r>
            <a:endParaRPr lang="en-US" sz="950" dirty="0"/>
          </a:p>
        </p:txBody>
      </p:sp>
      <p:sp>
        <p:nvSpPr>
          <p:cNvPr id="42" name="Text 40"/>
          <p:cNvSpPr txBox="1"/>
          <p:nvPr/>
        </p:nvSpPr>
        <p:spPr>
          <a:xfrm>
            <a:off x="667512" y="4078224"/>
            <a:ext cx="5202936" cy="1737360"/>
          </a:xfrm>
          <a:prstGeom prst="rect">
            <a:avLst/>
          </a:prstGeom>
          <a:noFill/>
          <a:ln/>
        </p:spPr>
        <p:txBody>
          <a:bodyPr wrap="square" lIns="0" tIns="0" rIns="0" bIns="0" rtlCol="0" anchor="t"/>
          <a:lstStyle/>
          <a:p>
            <a:pPr indent="0" marL="0">
              <a:buNone/>
            </a:pPr>
            <a:r>
              <a:rPr lang="en-US" sz="700" b="1" spc="30" kern="0" dirty="0">
                <a:solidFill>
                  <a:srgbClr val="1C7293"/>
                </a:solidFill>
                <a:latin typeface="Calibri" pitchFamily="34" charset="0"/>
                <a:ea typeface="Calibri" pitchFamily="34" charset="-122"/>
                <a:cs typeface="Calibri" pitchFamily="34" charset="-120"/>
              </a:rPr>
              <a:t>RULE 1 — the ends of the axis  </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an anchor whose cone runs off either end of the tensor — it needs bins t−6 … t+2 — is INADMISSIBLE, not silently short (ConeSampler.admissible, :314). Nothing is padded and nothing is trained on half a cone.</a:t>
            </a:r>
            <a:endParaRPr lang="en-US" sz="950" dirty="0"/>
          </a:p>
          <a:p>
            <a:pPr indent="0" marL="0">
              <a:buNone/>
            </a:pPr>
            <a:r>
              <a:rPr lang="en-US" sz="700" b="1" spc="30" kern="0" dirty="0">
                <a:solidFill>
                  <a:srgbClr val="1C7293"/>
                </a:solidFill>
                <a:latin typeface="Calibri" pitchFamily="34" charset="0"/>
                <a:ea typeface="Calibri" pitchFamily="34" charset="-122"/>
                <a:cs typeface="Calibri" pitchFamily="34" charset="-120"/>
              </a:rPr>
              <a:t>RULE 2 — the holdout  </a:t>
            </a:r>
            <a:pPr indent="0" marL="0">
              <a:buNone/>
            </a:pPr>
            <a:r>
              <a:rPr lang="en-US" sz="700" dirty="0">
                <a:solidFill>
                  <a:srgbClr val="1B2430"/>
                </a:solidFill>
                <a:latin typeface="Calibri" pitchFamily="34" charset="0"/>
                <a:ea typeface="Calibri" pitchFamily="34" charset="-122"/>
                <a:cs typeface="Calibri" pitchFamily="34" charset="-120"/>
              </a:rPr>
              <a:t>--holdout-scope window (the only scope implemented, ml/train_cone.py:116) says every bin the cone touches — six pentads back and both future targets — must be a training bin. A held-out year therefore casts a </a:t>
            </a:r>
            <a:pPr indent="0" marL="0">
              <a:buNone/>
            </a:pPr>
            <a:r>
              <a:rPr lang="en-US" sz="700" b="1" dirty="0">
                <a:solidFill>
                  <a:srgbClr val="E07A2F"/>
                </a:solidFill>
                <a:latin typeface="Calibri" pitchFamily="34" charset="0"/>
                <a:ea typeface="Calibri" pitchFamily="34" charset="-122"/>
                <a:cs typeface="Calibri" pitchFamily="34" charset="-120"/>
              </a:rPr>
              <a:t>shadow of eight pentads</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 around itself — six back and two forward, the exact span of the cone — and no training anchor can peek into it by any path. A brute-force certify() (:337), written deliberately as a separate loop rather than as a reuse of the admissibility test, counts violations; run #537 (the E-069 cone-codec build) measured 0 violations in 4,096 anchors.</a:t>
            </a:r>
            <a:endParaRPr lang="en-US" sz="950" dirty="0"/>
          </a:p>
          <a:p>
            <a:pPr indent="0" marL="0">
              <a:buNone/>
            </a:pPr>
            <a:r>
              <a:rPr lang="en-US" sz="700" b="1" spc="30" kern="0" dirty="0">
                <a:solidFill>
                  <a:srgbClr val="1C7293"/>
                </a:solidFill>
                <a:latin typeface="Calibri" pitchFamily="34" charset="0"/>
                <a:ea typeface="Calibri" pitchFamily="34" charset="-122"/>
                <a:cs typeface="Calibri" pitchFamily="34" charset="-120"/>
              </a:rPr>
              <a:t>COST OF THE SHADOW  </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development split (calendar years 2009, 2017, 2023 held out): 2,923 training bins → 2,891 admissible anchor bins, 32 bins lost (1.1 %). Frozen protocol (2008–09, 2016–17, 2021–24 — train ≤ 2020, test the terminal years): 2,557 → 2,533, 24 bins lost (0.9 %). Cheap, and it is what makes the holdout real.</a:t>
            </a:r>
            <a:endParaRPr lang="en-US" sz="950" dirty="0"/>
          </a:p>
          <a:p>
            <a:pPr indent="0" marL="0">
              <a:buNone/>
            </a:pPr>
            <a:r>
              <a:rPr lang="en-US" sz="700" b="1" dirty="0">
                <a:solidFill>
                  <a:srgbClr val="A23B3B"/>
                </a:solidFill>
                <a:latin typeface="Calibri" pitchFamily="34" charset="0"/>
                <a:ea typeface="Calibri" pitchFamily="34" charset="-122"/>
                <a:cs typeface="Calibri" pitchFamily="34" charset="-120"/>
              </a:rPr>
              <a:t>Held-out EVALUATION anchors are different on purpose: </a:t>
            </a:r>
            <a:pPr indent="0" marL="0">
              <a:buNone/>
            </a:pPr>
            <a:r>
              <a:rPr lang="en-US" sz="700" dirty="0">
                <a:solidFill>
                  <a:srgbClr val="1B2430"/>
                </a:solidFill>
                <a:latin typeface="Calibri" pitchFamily="34" charset="0"/>
                <a:ea typeface="Calibri" pitchFamily="34" charset="-122"/>
                <a:cs typeface="Calibri" pitchFamily="34" charset="-120"/>
              </a:rPr>
              <a:t>their dots MAY come from held-out bins — otherwise the held-out set would be a second training pool, not a measurement.</a:t>
            </a:r>
            <a:endParaRPr lang="en-US" sz="950" dirty="0"/>
          </a:p>
        </p:txBody>
      </p:sp>
      <p:sp>
        <p:nvSpPr>
          <p:cNvPr id="43" name="Shape 41"/>
          <p:cNvSpPr/>
          <p:nvPr/>
        </p:nvSpPr>
        <p:spPr>
          <a:xfrm>
            <a:off x="6172200" y="3621024"/>
            <a:ext cx="5440680" cy="2249424"/>
          </a:xfrm>
          <a:prstGeom prst="roundRect">
            <a:avLst>
              <a:gd name="adj" fmla="val 3252"/>
            </a:avLst>
          </a:prstGeom>
          <a:solidFill>
            <a:srgbClr val="FDF6F6"/>
          </a:solidFill>
          <a:ln w="15875">
            <a:solidFill>
              <a:srgbClr val="A23B3B"/>
            </a:solidFill>
            <a:prstDash val="solid"/>
          </a:ln>
        </p:spPr>
      </p:sp>
      <p:sp>
        <p:nvSpPr>
          <p:cNvPr id="44" name="Text 42"/>
          <p:cNvSpPr txBox="1"/>
          <p:nvPr/>
        </p:nvSpPr>
        <p:spPr>
          <a:xfrm>
            <a:off x="6291072" y="3675888"/>
            <a:ext cx="5202936" cy="219456"/>
          </a:xfrm>
          <a:prstGeom prst="rect">
            <a:avLst/>
          </a:prstGeom>
          <a:noFill/>
          <a:ln/>
        </p:spPr>
        <p:txBody>
          <a:bodyPr wrap="square" lIns="0" tIns="0" rIns="0" bIns="0" rtlCol="0" anchor="t"/>
          <a:lstStyle/>
          <a:p>
            <a:pPr indent="0" marL="0">
              <a:buNone/>
            </a:pPr>
            <a:r>
              <a:rPr lang="en-US" sz="950" b="1" dirty="0">
                <a:solidFill>
                  <a:srgbClr val="A23B3B"/>
                </a:solidFill>
                <a:latin typeface="Calibri" pitchFamily="34" charset="0"/>
                <a:ea typeface="Calibri" pitchFamily="34" charset="-122"/>
                <a:cs typeface="Calibri" pitchFamily="34" charset="-120"/>
              </a:rPr>
              <a:t>D · TIME — the calendar month: the edge we introduced ourselves</a:t>
            </a:r>
            <a:endParaRPr lang="en-US" sz="950" dirty="0"/>
          </a:p>
        </p:txBody>
      </p:sp>
      <p:sp>
        <p:nvSpPr>
          <p:cNvPr id="45" name="Text 43"/>
          <p:cNvSpPr txBox="1"/>
          <p:nvPr/>
        </p:nvSpPr>
        <p:spPr>
          <a:xfrm>
            <a:off x="6291072" y="3913632"/>
            <a:ext cx="5202936" cy="1152144"/>
          </a:xfrm>
          <a:prstGeom prst="rect">
            <a:avLst/>
          </a:prstGeom>
          <a:noFill/>
          <a:ln/>
        </p:spPr>
        <p:txBody>
          <a:bodyPr wrap="square" lIns="0" tIns="0" rIns="0" bIns="0" rtlCol="0" anchor="t"/>
          <a:lstStyle/>
          <a:p>
            <a:pPr indent="0" marL="0">
              <a:buNone/>
            </a:pPr>
            <a:r>
              <a:rPr lang="en-US" sz="700" b="1" dirty="0">
                <a:solidFill>
                  <a:srgbClr val="1C7293"/>
                </a:solidFill>
                <a:latin typeface="Calibri" pitchFamily="34" charset="0"/>
                <a:ea typeface="Calibri" pitchFamily="34" charset="-122"/>
                <a:cs typeface="Calibri" pitchFamily="34" charset="-120"/>
              </a:rPr>
              <a:t>(i) The anomaly baseline.  </a:t>
            </a:r>
            <a:pPr indent="0" marL="0">
              <a:buNone/>
            </a:pPr>
            <a:r>
              <a:rPr lang="en-US" sz="700" dirty="0">
                <a:solidFill>
                  <a:srgbClr val="1B2430"/>
                </a:solidFill>
                <a:latin typeface="Calibri" pitchFamily="34" charset="0"/>
                <a:ea typeface="Calibri" pitchFamily="34" charset="-122"/>
                <a:cs typeface="Calibri" pitchFamily="34" charset="-120"/>
              </a:rPr>
              <a:t>Every channel is a departure from a per-calendar-month climatology built on TRAINING YEARS ONLY (ml/trainprobe.py::anomaly_transform :140), and a pentad’s month label is the month of its FIRST day (ml/build_family4.py:960). So </a:t>
            </a:r>
            <a:pPr indent="0" marL="0">
              <a:buNone/>
            </a:pPr>
            <a:r>
              <a:rPr lang="en-US" sz="700" b="1" dirty="0">
                <a:solidFill>
                  <a:srgbClr val="A23B3B"/>
                </a:solidFill>
                <a:latin typeface="Calibri" pitchFamily="34" charset="0"/>
                <a:ea typeface="Calibri" pitchFamily="34" charset="-122"/>
                <a:cs typeface="Calibri" pitchFamily="34" charset="-120"/>
              </a:rPr>
              <a:t>411 of the 3,142 bins (13.1 %) straddle a month boundary</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 and 106 of those have only ONE of their five days inside the month whose climatology is subtracted — a sawtooth at every boundary, of order the month-to-month climatology difference, which in the seasonal thermocline is not negligible.</a:t>
            </a:r>
            <a:endParaRPr lang="en-US" sz="950" dirty="0"/>
          </a:p>
          <a:p>
            <a:pPr indent="0" marL="0">
              <a:buNone/>
            </a:pPr>
            <a:r>
              <a:rPr lang="en-US" sz="700" b="1" dirty="0">
                <a:solidFill>
                  <a:srgbClr val="1C7293"/>
                </a:solidFill>
                <a:latin typeface="Calibri" pitchFamily="34" charset="0"/>
                <a:ea typeface="Calibri" pitchFamily="34" charset="-122"/>
                <a:cs typeface="Calibri" pitchFamily="34" charset="-120"/>
              </a:rPr>
              <a:t>(ii) Argo’s monthly cadence.  </a:t>
            </a:r>
            <a:pPr indent="0" marL="0">
              <a:buNone/>
            </a:pPr>
            <a:r>
              <a:rPr lang="en-US" sz="700" dirty="0">
                <a:solidFill>
                  <a:srgbClr val="1B2430"/>
                </a:solidFill>
                <a:latin typeface="Calibri" pitchFamily="34" charset="0"/>
                <a:ea typeface="Calibri" pitchFamily="34" charset="-122"/>
                <a:cs typeface="Calibri" pitchFamily="34" charset="-120"/>
              </a:rPr>
              <a:t>Roemmich–Gilson is written into the single pentad holding the 15th of each month and is missing in the other five; forward-filling was REJECTED (E034_pentad_tensor.md:88–100). </a:t>
            </a:r>
            <a:pPr indent="0" marL="0">
              <a:buNone/>
            </a:pPr>
            <a:r>
              <a:rPr lang="en-US" sz="700" b="1" dirty="0">
                <a:solidFill>
                  <a:srgbClr val="A23B3B"/>
                </a:solidFill>
                <a:latin typeface="Calibri" pitchFamily="34" charset="0"/>
                <a:ea typeface="Calibri" pitchFamily="34" charset="-122"/>
                <a:cs typeface="Calibri" pitchFamily="34" charset="-120"/>
              </a:rPr>
              <a:t>252 live pentads, 2004–2024 — one in six.</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 A 35-day inner window holds ONE live Argo bin, occasionally two, and which one depends on where the anchor sits inside the month.</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The seasonal context token itself is the bin’s opening day-of-year (cone_sampler.pentad_doy), so it crosses month and year boundaries smoothly — that one is fine.</a:t>
            </a:r>
            <a:endParaRPr lang="en-US" sz="950" dirty="0"/>
          </a:p>
        </p:txBody>
      </p:sp>
      <p:sp>
        <p:nvSpPr>
          <p:cNvPr id="46" name="Text 44"/>
          <p:cNvSpPr txBox="1"/>
          <p:nvPr/>
        </p:nvSpPr>
        <p:spPr>
          <a:xfrm>
            <a:off x="6291072" y="5084064"/>
            <a:ext cx="5202936" cy="749808"/>
          </a:xfrm>
          <a:prstGeom prst="rect">
            <a:avLst/>
          </a:prstGeom>
          <a:noFill/>
          <a:ln/>
        </p:spPr>
        <p:txBody>
          <a:bodyPr wrap="square" lIns="0" tIns="0" rIns="0" bIns="0" rtlCol="0" anchor="t"/>
          <a:lstStyle/>
          <a:p>
            <a:pPr indent="0" marL="0">
              <a:buNone/>
            </a:pPr>
            <a:r>
              <a:rPr lang="en-US" sz="700" b="1" spc="40" kern="0" dirty="0">
                <a:solidFill>
                  <a:srgbClr val="1F7A4D"/>
                </a:solidFill>
                <a:latin typeface="Calibri" pitchFamily="34" charset="0"/>
                <a:ea typeface="Calibri" pitchFamily="34" charset="-122"/>
                <a:cs typeface="Calibri" pitchFamily="34" charset="-120"/>
              </a:rPr>
              <a:t>DECISION → DAY-OF-YEAR HARMONIC CLIMATOLOGY (E-071 §2)  </a:t>
            </a:r>
            <a:pPr indent="0" marL="0">
              <a:buNone/>
            </a:pPr>
            <a:r>
              <a:rPr lang="en-US" sz="700" dirty="0">
                <a:solidFill>
                  <a:srgbClr val="1B2430"/>
                </a:solidFill>
                <a:latin typeface="Calibri" pitchFamily="34" charset="0"/>
                <a:ea typeface="Calibri" pitchFamily="34" charset="-122"/>
                <a:cs typeface="Calibri" pitchFamily="34" charset="-120"/>
              </a:rPr>
              <a:t>clim(τ) = a₀ + Σₖ₌₁..₃ [aₖ cos kτ + bₖ sin kτ], with τ taken from the pentad’s MID-day over a 365.2422-day year, fitted per cell and per channel on training bins only: 7 coefficients instead of 12 box means, one pass with 35 accumulators instead of 24. K per channel is chosen by held-out variance explained (the mixed-layer depth’s spring step may need K = 4–6). No bin is ever charged for a month it barely touches, and Argo’s 252 live pentads are fitted together instead of ~21 per box. Verification: the last-pentad-of-month minus first-of-next residual, a sawtooth today, should be zero.</a:t>
            </a:r>
            <a:endParaRPr lang="en-US" sz="950" dirty="0"/>
          </a:p>
        </p:txBody>
      </p:sp>
      <p:sp>
        <p:nvSpPr>
          <p:cNvPr id="47" name="Text 45"/>
          <p:cNvSpPr txBox="1"/>
          <p:nvPr/>
        </p:nvSpPr>
        <p:spPr>
          <a:xfrm>
            <a:off x="548640" y="5907024"/>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Three of the four edges were handled by making the missing thing explicitly missing — an invalid token is dropped from attention, a miss token says the world was not observed, an inadmissible anchor is not trained on — and those three rules stay. The other two edges do not get handled better; they disappear. The window edge goes with the global tensor (E-071 §1); the month edge goes with the harmonic baseline (E-071 §2). Both are decided and specified, and both are UNIMPLEMENTED — nothing here is measured yet.</a:t>
            </a:r>
            <a:endParaRPr lang="en-US" sz="850" dirty="0"/>
          </a:p>
        </p:txBody>
      </p:sp>
      <p:sp>
        <p:nvSpPr>
          <p:cNvPr id="48" name="Text 4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The speeds the cone did not have — and the speeds it will</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Decision (Chris, 4 Sep): size every family from the MAXIMUM measured speed of its fastest mechanism, × 1.5 — not a typical speed, not an estimate (E-071 §4).</a:t>
            </a:r>
            <a:endParaRPr lang="en-US" sz="1250" dirty="0"/>
          </a:p>
        </p:txBody>
      </p:sp>
      <p:sp>
        <p:nvSpPr>
          <p:cNvPr id="4" name="Text 2"/>
          <p:cNvSpPr txBox="1"/>
          <p:nvPr/>
        </p:nvSpPr>
        <p:spPr>
          <a:xfrm>
            <a:off x="548640" y="1207008"/>
            <a:ext cx="2880360" cy="310896"/>
          </a:xfrm>
          <a:prstGeom prst="rect">
            <a:avLst/>
          </a:prstGeom>
          <a:noFill/>
          <a:ln/>
        </p:spPr>
        <p:txBody>
          <a:bodyPr wrap="square" lIns="0" tIns="0" rIns="0" bIns="0" rtlCol="0" anchor="t"/>
          <a:lstStyle/>
          <a:p>
            <a:pPr indent="0" marL="0">
              <a:buNone/>
            </a:pPr>
            <a:r>
              <a:rPr lang="en-US" sz="800" b="1" spc="40" kern="0" dirty="0">
                <a:solidFill>
                  <a:srgbClr val="0B1F3A"/>
                </a:solidFill>
                <a:latin typeface="Calibri" pitchFamily="34" charset="0"/>
                <a:ea typeface="Calibri" pitchFamily="34" charset="-122"/>
                <a:cs typeface="Calibri" pitchFamily="34" charset="-120"/>
              </a:rPr>
              <a:t>MEASURED MAXIMA — what moves an overturning anomaly between latitudes. Log axis, 0.01 → 10 m/s</a:t>
            </a:r>
            <a:endParaRPr lang="en-US" sz="950" dirty="0"/>
          </a:p>
        </p:txBody>
      </p:sp>
      <p:sp>
        <p:nvSpPr>
          <p:cNvPr id="5" name="Shape 3"/>
          <p:cNvSpPr/>
          <p:nvPr/>
        </p:nvSpPr>
        <p:spPr>
          <a:xfrm>
            <a:off x="2880360" y="1536192"/>
            <a:ext cx="0" cy="2441448"/>
          </a:xfrm>
          <a:prstGeom prst="line">
            <a:avLst/>
          </a:prstGeom>
          <a:noFill/>
          <a:ln w="6350">
            <a:solidFill>
              <a:srgbClr val="B8C4D3"/>
            </a:solidFill>
            <a:prstDash val="sysDot"/>
          </a:ln>
        </p:spPr>
      </p:sp>
      <p:sp>
        <p:nvSpPr>
          <p:cNvPr id="6" name="Shape 4"/>
          <p:cNvSpPr/>
          <p:nvPr/>
        </p:nvSpPr>
        <p:spPr>
          <a:xfrm>
            <a:off x="3855720" y="1536192"/>
            <a:ext cx="0" cy="2441448"/>
          </a:xfrm>
          <a:prstGeom prst="line">
            <a:avLst/>
          </a:prstGeom>
          <a:noFill/>
          <a:ln w="6350">
            <a:solidFill>
              <a:srgbClr val="B8C4D3"/>
            </a:solidFill>
            <a:prstDash val="sysDot"/>
          </a:ln>
        </p:spPr>
      </p:sp>
      <p:sp>
        <p:nvSpPr>
          <p:cNvPr id="7" name="Shape 5"/>
          <p:cNvSpPr/>
          <p:nvPr/>
        </p:nvSpPr>
        <p:spPr>
          <a:xfrm>
            <a:off x="4831080" y="1536192"/>
            <a:ext cx="0" cy="2441448"/>
          </a:xfrm>
          <a:prstGeom prst="line">
            <a:avLst/>
          </a:prstGeom>
          <a:noFill/>
          <a:ln w="6350">
            <a:solidFill>
              <a:srgbClr val="B8C4D3"/>
            </a:solidFill>
            <a:prstDash val="sysDot"/>
          </a:ln>
        </p:spPr>
      </p:sp>
      <p:sp>
        <p:nvSpPr>
          <p:cNvPr id="8" name="Shape 6"/>
          <p:cNvSpPr/>
          <p:nvPr/>
        </p:nvSpPr>
        <p:spPr>
          <a:xfrm>
            <a:off x="5806440" y="1536192"/>
            <a:ext cx="0" cy="2441448"/>
          </a:xfrm>
          <a:prstGeom prst="line">
            <a:avLst/>
          </a:prstGeom>
          <a:noFill/>
          <a:ln w="6350">
            <a:solidFill>
              <a:srgbClr val="B8C4D3"/>
            </a:solidFill>
            <a:prstDash val="sysDot"/>
          </a:ln>
        </p:spPr>
      </p:sp>
      <p:sp>
        <p:nvSpPr>
          <p:cNvPr id="9" name="Shape 7"/>
          <p:cNvSpPr/>
          <p:nvPr/>
        </p:nvSpPr>
        <p:spPr>
          <a:xfrm>
            <a:off x="4321085" y="1408176"/>
            <a:ext cx="0" cy="2569464"/>
          </a:xfrm>
          <a:prstGeom prst="line">
            <a:avLst/>
          </a:prstGeom>
          <a:noFill/>
          <a:ln w="13970">
            <a:solidFill>
              <a:srgbClr val="E07A2F"/>
            </a:solidFill>
            <a:prstDash val="dash"/>
          </a:ln>
        </p:spPr>
      </p:sp>
      <p:sp>
        <p:nvSpPr>
          <p:cNvPr id="10" name="Shape 8"/>
          <p:cNvSpPr/>
          <p:nvPr/>
        </p:nvSpPr>
        <p:spPr>
          <a:xfrm>
            <a:off x="5545428" y="1408176"/>
            <a:ext cx="0" cy="2569464"/>
          </a:xfrm>
          <a:prstGeom prst="line">
            <a:avLst/>
          </a:prstGeom>
          <a:noFill/>
          <a:ln w="20320">
            <a:solidFill>
              <a:srgbClr val="1F7A4D"/>
            </a:solidFill>
            <a:prstDash val="dash"/>
          </a:ln>
        </p:spPr>
      </p:sp>
      <p:sp>
        <p:nvSpPr>
          <p:cNvPr id="11" name="Text 9"/>
          <p:cNvSpPr txBox="1"/>
          <p:nvPr/>
        </p:nvSpPr>
        <p:spPr>
          <a:xfrm>
            <a:off x="3845597" y="1243584"/>
            <a:ext cx="950976" cy="155448"/>
          </a:xfrm>
          <a:prstGeom prst="rect">
            <a:avLst/>
          </a:prstGeom>
          <a:noFill/>
          <a:ln/>
        </p:spPr>
        <p:txBody>
          <a:bodyPr wrap="square" lIns="0" tIns="0" rIns="0" bIns="0" rtlCol="0" anchor="t"/>
          <a:lstStyle/>
          <a:p>
            <a:pPr algn="ctr" indent="0" marL="0">
              <a:buNone/>
            </a:pPr>
            <a:r>
              <a:rPr lang="en-US" sz="700" b="1" dirty="0">
                <a:solidFill>
                  <a:srgbClr val="E07A2F"/>
                </a:solidFill>
                <a:latin typeface="Calibri" pitchFamily="34" charset="0"/>
                <a:ea typeface="Calibri" pitchFamily="34" charset="-122"/>
                <a:cs typeface="Calibri" pitchFamily="34" charset="-120"/>
              </a:rPr>
              <a:t>cone TODAY · 0.3 m/s</a:t>
            </a:r>
            <a:endParaRPr lang="en-US" sz="950" dirty="0"/>
          </a:p>
        </p:txBody>
      </p:sp>
      <p:sp>
        <p:nvSpPr>
          <p:cNvPr id="12" name="Text 10"/>
          <p:cNvSpPr txBox="1"/>
          <p:nvPr/>
        </p:nvSpPr>
        <p:spPr>
          <a:xfrm>
            <a:off x="4996788" y="1243584"/>
            <a:ext cx="1097280" cy="155448"/>
          </a:xfrm>
          <a:prstGeom prst="rect">
            <a:avLst/>
          </a:prstGeom>
          <a:noFill/>
          <a:ln/>
        </p:spPr>
        <p:txBody>
          <a:bodyPr wrap="square" lIns="0" tIns="0" rIns="0" bIns="0" rtlCol="0" anchor="t"/>
          <a:lstStyle/>
          <a:p>
            <a:pPr algn="ctr" indent="0" marL="0">
              <a:buNone/>
            </a:pPr>
            <a:r>
              <a:rPr lang="en-US" sz="750" b="1" dirty="0">
                <a:solidFill>
                  <a:srgbClr val="1F7A4D"/>
                </a:solidFill>
                <a:latin typeface="Calibri" pitchFamily="34" charset="0"/>
                <a:ea typeface="Calibri" pitchFamily="34" charset="-122"/>
                <a:cs typeface="Calibri" pitchFamily="34" charset="-120"/>
              </a:rPr>
              <a:t>CONE v2 · 5.4 m/s</a:t>
            </a:r>
            <a:endParaRPr lang="en-US" sz="950" dirty="0"/>
          </a:p>
        </p:txBody>
      </p:sp>
      <p:sp>
        <p:nvSpPr>
          <p:cNvPr id="13" name="Text 11"/>
          <p:cNvSpPr txBox="1"/>
          <p:nvPr/>
        </p:nvSpPr>
        <p:spPr>
          <a:xfrm>
            <a:off x="5897880" y="1389888"/>
            <a:ext cx="731520" cy="155448"/>
          </a:xfrm>
          <a:prstGeom prst="rect">
            <a:avLst/>
          </a:prstGeom>
          <a:noFill/>
          <a:ln/>
        </p:spPr>
        <p:txBody>
          <a:bodyPr wrap="square" lIns="0" tIns="0" rIns="0" bIns="0" rtlCol="0" anchor="t"/>
          <a:lstStyle/>
          <a:p>
            <a:pPr indent="0" marL="0">
              <a:buNone/>
            </a:pPr>
            <a:r>
              <a:rPr lang="en-US" sz="700" b="1" dirty="0">
                <a:solidFill>
                  <a:srgbClr val="6B7A8F"/>
                </a:solidFill>
                <a:latin typeface="Calibri" pitchFamily="34" charset="0"/>
                <a:ea typeface="Calibri" pitchFamily="34" charset="-122"/>
                <a:cs typeface="Calibri" pitchFamily="34" charset="-120"/>
              </a:rPr>
              <a:t>m/s</a:t>
            </a:r>
            <a:endParaRPr lang="en-US" sz="950" dirty="0"/>
          </a:p>
        </p:txBody>
      </p:sp>
      <p:sp>
        <p:nvSpPr>
          <p:cNvPr id="14" name="Text 12"/>
          <p:cNvSpPr txBox="1"/>
          <p:nvPr/>
        </p:nvSpPr>
        <p:spPr>
          <a:xfrm>
            <a:off x="548640" y="1563624"/>
            <a:ext cx="2240280" cy="237744"/>
          </a:xfrm>
          <a:prstGeom prst="rect">
            <a:avLst/>
          </a:prstGeom>
          <a:noFill/>
          <a:ln/>
        </p:spPr>
        <p:txBody>
          <a:bodyPr wrap="square" lIns="0" tIns="0" rIns="0" bIns="0" rtlCol="0" anchor="t"/>
          <a:lstStyle/>
          <a:p>
            <a:pPr indent="0" marL="0">
              <a:buNone/>
            </a:pPr>
            <a:r>
              <a:rPr lang="en-US" sz="750" b="1" dirty="0">
                <a:solidFill>
                  <a:srgbClr val="1C7293"/>
                </a:solidFill>
                <a:latin typeface="Calibri" pitchFamily="34" charset="0"/>
                <a:ea typeface="Calibri" pitchFamily="34" charset="-122"/>
                <a:cs typeface="Calibri" pitchFamily="34" charset="-120"/>
              </a:rPr>
              <a:t>Deep Western Boundary Current</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standard oceanography — the slow return limb</a:t>
            </a:r>
            <a:endParaRPr lang="en-US" sz="950" dirty="0"/>
          </a:p>
        </p:txBody>
      </p:sp>
      <p:sp>
        <p:nvSpPr>
          <p:cNvPr id="15" name="Shape 13"/>
          <p:cNvSpPr/>
          <p:nvPr/>
        </p:nvSpPr>
        <p:spPr>
          <a:xfrm>
            <a:off x="3173973" y="1641348"/>
            <a:ext cx="681747" cy="91440"/>
          </a:xfrm>
          <a:prstGeom prst="rect">
            <a:avLst/>
          </a:prstGeom>
          <a:solidFill>
            <a:srgbClr val="1C7293">
              <a:alpha val="75000"/>
            </a:srgbClr>
          </a:solidFill>
          <a:ln w="12700">
            <a:solidFill>
              <a:srgbClr val="333333"/>
            </a:solidFill>
            <a:prstDash val="solid"/>
          </a:ln>
        </p:spPr>
      </p:sp>
      <p:sp>
        <p:nvSpPr>
          <p:cNvPr id="16" name="Shape 14"/>
          <p:cNvSpPr/>
          <p:nvPr/>
        </p:nvSpPr>
        <p:spPr>
          <a:xfrm>
            <a:off x="3805428" y="1636776"/>
            <a:ext cx="100584" cy="100584"/>
          </a:xfrm>
          <a:prstGeom prst="ellipse">
            <a:avLst/>
          </a:prstGeom>
          <a:solidFill>
            <a:srgbClr val="1C7293"/>
          </a:solidFill>
          <a:ln w="7620">
            <a:solidFill>
              <a:srgbClr val="FFFFFF"/>
            </a:solidFill>
            <a:prstDash val="solid"/>
          </a:ln>
        </p:spPr>
      </p:sp>
      <p:sp>
        <p:nvSpPr>
          <p:cNvPr id="17" name="Text 15"/>
          <p:cNvSpPr txBox="1"/>
          <p:nvPr/>
        </p:nvSpPr>
        <p:spPr>
          <a:xfrm>
            <a:off x="5897880" y="1609344"/>
            <a:ext cx="731520" cy="173736"/>
          </a:xfrm>
          <a:prstGeom prst="rect">
            <a:avLst/>
          </a:prstGeom>
          <a:noFill/>
          <a:ln/>
        </p:spPr>
        <p:txBody>
          <a:bodyPr wrap="square" lIns="0" tIns="0" rIns="0" bIns="0" rtlCol="0" anchor="t"/>
          <a:lstStyle/>
          <a:p>
            <a:pPr indent="0" marL="0">
              <a:buNone/>
            </a:pPr>
            <a:r>
              <a:rPr lang="en-US" sz="700" b="1" dirty="0">
                <a:solidFill>
                  <a:srgbClr val="1C7293"/>
                </a:solidFill>
                <a:latin typeface="Calibri" pitchFamily="34" charset="0"/>
                <a:ea typeface="Calibri" pitchFamily="34" charset="-122"/>
                <a:cs typeface="Calibri" pitchFamily="34" charset="-120"/>
              </a:rPr>
              <a:t>0.02–0.1</a:t>
            </a:r>
            <a:endParaRPr lang="en-US" sz="950" dirty="0"/>
          </a:p>
        </p:txBody>
      </p:sp>
      <p:sp>
        <p:nvSpPr>
          <p:cNvPr id="18" name="Text 16"/>
          <p:cNvSpPr txBox="1"/>
          <p:nvPr/>
        </p:nvSpPr>
        <p:spPr>
          <a:xfrm>
            <a:off x="548640" y="1828800"/>
            <a:ext cx="2240280" cy="237744"/>
          </a:xfrm>
          <a:prstGeom prst="rect">
            <a:avLst/>
          </a:prstGeom>
          <a:noFill/>
          <a:ln/>
        </p:spPr>
        <p:txBody>
          <a:bodyPr wrap="square" lIns="0" tIns="0" rIns="0" bIns="0" rtlCol="0" anchor="t"/>
          <a:lstStyle/>
          <a:p>
            <a:pPr indent="0" marL="0">
              <a:buNone/>
            </a:pPr>
            <a:r>
              <a:rPr lang="en-US" sz="750" b="1" dirty="0">
                <a:solidFill>
                  <a:srgbClr val="2E86AB"/>
                </a:solidFill>
                <a:latin typeface="Calibri" pitchFamily="34" charset="0"/>
                <a:ea typeface="Calibri" pitchFamily="34" charset="-122"/>
                <a:cs typeface="Calibri" pitchFamily="34" charset="-120"/>
              </a:rPr>
              <a:t>Long baroclinic Rossby wave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Chelton et al. 2011 — westward, the interior</a:t>
            </a:r>
            <a:endParaRPr lang="en-US" sz="950" dirty="0"/>
          </a:p>
        </p:txBody>
      </p:sp>
      <p:sp>
        <p:nvSpPr>
          <p:cNvPr id="19" name="Shape 17"/>
          <p:cNvSpPr/>
          <p:nvPr/>
        </p:nvSpPr>
        <p:spPr>
          <a:xfrm>
            <a:off x="3295433" y="1901952"/>
            <a:ext cx="100584" cy="100584"/>
          </a:xfrm>
          <a:prstGeom prst="ellipse">
            <a:avLst/>
          </a:prstGeom>
          <a:solidFill>
            <a:srgbClr val="2E86AB"/>
          </a:solidFill>
          <a:ln w="7620">
            <a:solidFill>
              <a:srgbClr val="FFFFFF"/>
            </a:solidFill>
            <a:prstDash val="solid"/>
          </a:ln>
        </p:spPr>
      </p:sp>
      <p:sp>
        <p:nvSpPr>
          <p:cNvPr id="20" name="Text 18"/>
          <p:cNvSpPr txBox="1"/>
          <p:nvPr/>
        </p:nvSpPr>
        <p:spPr>
          <a:xfrm>
            <a:off x="5897880" y="1874520"/>
            <a:ext cx="731520" cy="173736"/>
          </a:xfrm>
          <a:prstGeom prst="rect">
            <a:avLst/>
          </a:prstGeom>
          <a:noFill/>
          <a:ln/>
        </p:spPr>
        <p:txBody>
          <a:bodyPr wrap="square" lIns="0" tIns="0" rIns="0" bIns="0" rtlCol="0" anchor="t"/>
          <a:lstStyle/>
          <a:p>
            <a:pPr indent="0" marL="0">
              <a:buNone/>
            </a:pPr>
            <a:r>
              <a:rPr lang="en-US" sz="700" b="1" dirty="0">
                <a:solidFill>
                  <a:srgbClr val="2E86AB"/>
                </a:solidFill>
                <a:latin typeface="Calibri" pitchFamily="34" charset="0"/>
                <a:ea typeface="Calibri" pitchFamily="34" charset="-122"/>
                <a:cs typeface="Calibri" pitchFamily="34" charset="-120"/>
              </a:rPr>
              <a:t>0.03</a:t>
            </a:r>
            <a:endParaRPr lang="en-US" sz="950" dirty="0"/>
          </a:p>
        </p:txBody>
      </p:sp>
      <p:sp>
        <p:nvSpPr>
          <p:cNvPr id="21" name="Text 19"/>
          <p:cNvSpPr txBox="1"/>
          <p:nvPr/>
        </p:nvSpPr>
        <p:spPr>
          <a:xfrm>
            <a:off x="548640" y="2093976"/>
            <a:ext cx="2240280" cy="237744"/>
          </a:xfrm>
          <a:prstGeom prst="rect">
            <a:avLst/>
          </a:prstGeom>
          <a:noFill/>
          <a:ln/>
        </p:spPr>
        <p:txBody>
          <a:bodyPr wrap="square" lIns="0" tIns="0" rIns="0" bIns="0" rtlCol="0" anchor="t"/>
          <a:lstStyle/>
          <a:p>
            <a:pPr indent="0" marL="0">
              <a:buNone/>
            </a:pPr>
            <a:r>
              <a:rPr lang="en-US" sz="750" b="1" dirty="0">
                <a:solidFill>
                  <a:srgbClr val="E07A2F"/>
                </a:solidFill>
                <a:latin typeface="Calibri" pitchFamily="34" charset="0"/>
                <a:ea typeface="Calibri" pitchFamily="34" charset="-122"/>
                <a:cs typeface="Calibri" pitchFamily="34" charset="-120"/>
              </a:rPr>
              <a:t>Eddies &amp; boundary currents</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family B TODAY — ml/cone.py:97, v_ms = 0.3</a:t>
            </a:r>
            <a:endParaRPr lang="en-US" sz="950" dirty="0"/>
          </a:p>
        </p:txBody>
      </p:sp>
      <p:sp>
        <p:nvSpPr>
          <p:cNvPr id="22" name="Shape 20"/>
          <p:cNvSpPr/>
          <p:nvPr/>
        </p:nvSpPr>
        <p:spPr>
          <a:xfrm>
            <a:off x="3855720" y="2171700"/>
            <a:ext cx="465365" cy="91440"/>
          </a:xfrm>
          <a:prstGeom prst="rect">
            <a:avLst/>
          </a:prstGeom>
          <a:solidFill>
            <a:srgbClr val="E07A2F">
              <a:alpha val="75000"/>
            </a:srgbClr>
          </a:solidFill>
          <a:ln w="12700">
            <a:solidFill>
              <a:srgbClr val="333333"/>
            </a:solidFill>
            <a:prstDash val="solid"/>
          </a:ln>
        </p:spPr>
      </p:sp>
      <p:sp>
        <p:nvSpPr>
          <p:cNvPr id="23" name="Shape 21"/>
          <p:cNvSpPr/>
          <p:nvPr/>
        </p:nvSpPr>
        <p:spPr>
          <a:xfrm>
            <a:off x="4270793" y="2167128"/>
            <a:ext cx="100584" cy="100584"/>
          </a:xfrm>
          <a:prstGeom prst="ellipse">
            <a:avLst/>
          </a:prstGeom>
          <a:solidFill>
            <a:srgbClr val="E07A2F"/>
          </a:solidFill>
          <a:ln w="7620">
            <a:solidFill>
              <a:srgbClr val="FFFFFF"/>
            </a:solidFill>
            <a:prstDash val="solid"/>
          </a:ln>
        </p:spPr>
      </p:sp>
      <p:sp>
        <p:nvSpPr>
          <p:cNvPr id="24" name="Text 22"/>
          <p:cNvSpPr txBox="1"/>
          <p:nvPr/>
        </p:nvSpPr>
        <p:spPr>
          <a:xfrm>
            <a:off x="5897880" y="2139696"/>
            <a:ext cx="731520" cy="173736"/>
          </a:xfrm>
          <a:prstGeom prst="rect">
            <a:avLst/>
          </a:prstGeom>
          <a:noFill/>
          <a:ln/>
        </p:spPr>
        <p:txBody>
          <a:bodyPr wrap="square" lIns="0" tIns="0" rIns="0" bIns="0" rtlCol="0" anchor="t"/>
          <a:lstStyle/>
          <a:p>
            <a:pPr indent="0" marL="0">
              <a:buNone/>
            </a:pPr>
            <a:r>
              <a:rPr lang="en-US" sz="700" b="1" dirty="0">
                <a:solidFill>
                  <a:srgbClr val="E07A2F"/>
                </a:solidFill>
                <a:latin typeface="Calibri" pitchFamily="34" charset="0"/>
                <a:ea typeface="Calibri" pitchFamily="34" charset="-122"/>
                <a:cs typeface="Calibri" pitchFamily="34" charset="-120"/>
              </a:rPr>
              <a:t>0.1–0.3</a:t>
            </a:r>
            <a:endParaRPr lang="en-US" sz="950" dirty="0"/>
          </a:p>
        </p:txBody>
      </p:sp>
      <p:sp>
        <p:nvSpPr>
          <p:cNvPr id="25" name="Text 23"/>
          <p:cNvSpPr txBox="1"/>
          <p:nvPr/>
        </p:nvSpPr>
        <p:spPr>
          <a:xfrm>
            <a:off x="548640" y="2359152"/>
            <a:ext cx="2240280" cy="237744"/>
          </a:xfrm>
          <a:prstGeom prst="rect">
            <a:avLst/>
          </a:prstGeom>
          <a:noFill/>
          <a:ln/>
        </p:spPr>
        <p:txBody>
          <a:bodyPr wrap="square" lIns="0" tIns="0" rIns="0" bIns="0" rtlCol="0" anchor="t"/>
          <a:lstStyle/>
          <a:p>
            <a:pPr indent="0" marL="0">
              <a:buNone/>
            </a:pPr>
            <a:r>
              <a:rPr lang="en-US" sz="750" b="1" dirty="0">
                <a:solidFill>
                  <a:srgbClr val="2E86AB"/>
                </a:solidFill>
                <a:latin typeface="Calibri" pitchFamily="34" charset="0"/>
                <a:ea typeface="Calibri" pitchFamily="34" charset="-122"/>
                <a:cs typeface="Calibri" pitchFamily="34" charset="-120"/>
              </a:rPr>
              <a:t>Kuroshio off Taiwan</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our GLORYS bake, monthly 1° · data/currents_y</a:t>
            </a:r>
            <a:endParaRPr lang="en-US" sz="950" dirty="0"/>
          </a:p>
        </p:txBody>
      </p:sp>
      <p:sp>
        <p:nvSpPr>
          <p:cNvPr id="26" name="Shape 24"/>
          <p:cNvSpPr/>
          <p:nvPr/>
        </p:nvSpPr>
        <p:spPr>
          <a:xfrm>
            <a:off x="4985141" y="2432304"/>
            <a:ext cx="100584" cy="100584"/>
          </a:xfrm>
          <a:prstGeom prst="ellipse">
            <a:avLst/>
          </a:prstGeom>
          <a:solidFill>
            <a:srgbClr val="2E86AB"/>
          </a:solidFill>
          <a:ln w="7620">
            <a:solidFill>
              <a:srgbClr val="FFFFFF"/>
            </a:solidFill>
            <a:prstDash val="solid"/>
          </a:ln>
        </p:spPr>
      </p:sp>
      <p:sp>
        <p:nvSpPr>
          <p:cNvPr id="27" name="Text 25"/>
          <p:cNvSpPr txBox="1"/>
          <p:nvPr/>
        </p:nvSpPr>
        <p:spPr>
          <a:xfrm>
            <a:off x="5897880" y="2404872"/>
            <a:ext cx="731520" cy="173736"/>
          </a:xfrm>
          <a:prstGeom prst="rect">
            <a:avLst/>
          </a:prstGeom>
          <a:noFill/>
          <a:ln/>
        </p:spPr>
        <p:txBody>
          <a:bodyPr wrap="square" lIns="0" tIns="0" rIns="0" bIns="0" rtlCol="0" anchor="t"/>
          <a:lstStyle/>
          <a:p>
            <a:pPr indent="0" marL="0">
              <a:buNone/>
            </a:pPr>
            <a:r>
              <a:rPr lang="en-US" sz="700" b="1" dirty="0">
                <a:solidFill>
                  <a:srgbClr val="2E86AB"/>
                </a:solidFill>
                <a:latin typeface="Calibri" pitchFamily="34" charset="0"/>
                <a:ea typeface="Calibri" pitchFamily="34" charset="-122"/>
                <a:cs typeface="Calibri" pitchFamily="34" charset="-120"/>
              </a:rPr>
              <a:t>1.62</a:t>
            </a:r>
            <a:endParaRPr lang="en-US" sz="950" dirty="0"/>
          </a:p>
        </p:txBody>
      </p:sp>
      <p:sp>
        <p:nvSpPr>
          <p:cNvPr id="28" name="Text 26"/>
          <p:cNvSpPr txBox="1"/>
          <p:nvPr/>
        </p:nvSpPr>
        <p:spPr>
          <a:xfrm>
            <a:off x="548640" y="2624328"/>
            <a:ext cx="2240280" cy="237744"/>
          </a:xfrm>
          <a:prstGeom prst="rect">
            <a:avLst/>
          </a:prstGeom>
          <a:noFill/>
          <a:ln/>
        </p:spPr>
        <p:txBody>
          <a:bodyPr wrap="square" lIns="0" tIns="0" rIns="0" bIns="0" rtlCol="0" anchor="t"/>
          <a:lstStyle/>
          <a:p>
            <a:pPr indent="0" marL="0">
              <a:buNone/>
            </a:pPr>
            <a:r>
              <a:rPr lang="en-US" sz="750" b="1" dirty="0">
                <a:solidFill>
                  <a:srgbClr val="2E86AB"/>
                </a:solidFill>
                <a:latin typeface="Calibri" pitchFamily="34" charset="0"/>
                <a:ea typeface="Calibri" pitchFamily="34" charset="-122"/>
                <a:cs typeface="Calibri" pitchFamily="34" charset="-120"/>
              </a:rPr>
              <a:t>Agulhas Current core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Wikipedia, Agulhas Current</a:t>
            </a:r>
            <a:endParaRPr lang="en-US" sz="950" dirty="0"/>
          </a:p>
        </p:txBody>
      </p:sp>
      <p:sp>
        <p:nvSpPr>
          <p:cNvPr id="29" name="Shape 27"/>
          <p:cNvSpPr/>
          <p:nvPr/>
        </p:nvSpPr>
        <p:spPr>
          <a:xfrm>
            <a:off x="5160365" y="2697480"/>
            <a:ext cx="100584" cy="100584"/>
          </a:xfrm>
          <a:prstGeom prst="ellipse">
            <a:avLst/>
          </a:prstGeom>
          <a:solidFill>
            <a:srgbClr val="2E86AB"/>
          </a:solidFill>
          <a:ln w="7620">
            <a:solidFill>
              <a:srgbClr val="FFFFFF"/>
            </a:solidFill>
            <a:prstDash val="solid"/>
          </a:ln>
        </p:spPr>
      </p:sp>
      <p:sp>
        <p:nvSpPr>
          <p:cNvPr id="30" name="Text 28"/>
          <p:cNvSpPr txBox="1"/>
          <p:nvPr/>
        </p:nvSpPr>
        <p:spPr>
          <a:xfrm>
            <a:off x="5897880" y="2670048"/>
            <a:ext cx="731520" cy="173736"/>
          </a:xfrm>
          <a:prstGeom prst="rect">
            <a:avLst/>
          </a:prstGeom>
          <a:noFill/>
          <a:ln/>
        </p:spPr>
        <p:txBody>
          <a:bodyPr wrap="square" lIns="0" tIns="0" rIns="0" bIns="0" rtlCol="0" anchor="t"/>
          <a:lstStyle/>
          <a:p>
            <a:pPr indent="0" marL="0">
              <a:buNone/>
            </a:pPr>
            <a:r>
              <a:rPr lang="en-US" sz="700" b="1" dirty="0">
                <a:solidFill>
                  <a:srgbClr val="2E86AB"/>
                </a:solidFill>
                <a:latin typeface="Calibri" pitchFamily="34" charset="0"/>
                <a:ea typeface="Calibri" pitchFamily="34" charset="-122"/>
                <a:cs typeface="Calibri" pitchFamily="34" charset="-120"/>
              </a:rPr>
              <a:t>2.45</a:t>
            </a:r>
            <a:endParaRPr lang="en-US" sz="950" dirty="0"/>
          </a:p>
        </p:txBody>
      </p:sp>
      <p:sp>
        <p:nvSpPr>
          <p:cNvPr id="31" name="Text 29"/>
          <p:cNvSpPr txBox="1"/>
          <p:nvPr/>
        </p:nvSpPr>
        <p:spPr>
          <a:xfrm>
            <a:off x="548640" y="2889504"/>
            <a:ext cx="2240280" cy="237744"/>
          </a:xfrm>
          <a:prstGeom prst="rect">
            <a:avLst/>
          </a:prstGeom>
          <a:noFill/>
          <a:ln/>
        </p:spPr>
        <p:txBody>
          <a:bodyPr wrap="square" lIns="0" tIns="0" rIns="0" bIns="0" rtlCol="0" anchor="t"/>
          <a:lstStyle/>
          <a:p>
            <a:pPr indent="0" marL="0">
              <a:buNone/>
            </a:pPr>
            <a:r>
              <a:rPr lang="en-US" sz="750" b="1" dirty="0">
                <a:solidFill>
                  <a:srgbClr val="2E86AB"/>
                </a:solidFill>
                <a:latin typeface="Calibri" pitchFamily="34" charset="0"/>
                <a:ea typeface="Calibri" pitchFamily="34" charset="-122"/>
                <a:cs typeface="Calibri" pitchFamily="34" charset="-120"/>
              </a:rPr>
              <a:t>Gulf Stream core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NOAA Ocean Service — about 9 km/h</a:t>
            </a:r>
            <a:endParaRPr lang="en-US" sz="950" dirty="0"/>
          </a:p>
        </p:txBody>
      </p:sp>
      <p:sp>
        <p:nvSpPr>
          <p:cNvPr id="32" name="Shape 30"/>
          <p:cNvSpPr/>
          <p:nvPr/>
        </p:nvSpPr>
        <p:spPr>
          <a:xfrm>
            <a:off x="5168923" y="2962656"/>
            <a:ext cx="100584" cy="100584"/>
          </a:xfrm>
          <a:prstGeom prst="ellipse">
            <a:avLst/>
          </a:prstGeom>
          <a:solidFill>
            <a:srgbClr val="2E86AB"/>
          </a:solidFill>
          <a:ln w="7620">
            <a:solidFill>
              <a:srgbClr val="FFFFFF"/>
            </a:solidFill>
            <a:prstDash val="solid"/>
          </a:ln>
        </p:spPr>
      </p:sp>
      <p:sp>
        <p:nvSpPr>
          <p:cNvPr id="33" name="Text 31"/>
          <p:cNvSpPr txBox="1"/>
          <p:nvPr/>
        </p:nvSpPr>
        <p:spPr>
          <a:xfrm>
            <a:off x="5897880" y="2935224"/>
            <a:ext cx="731520" cy="173736"/>
          </a:xfrm>
          <a:prstGeom prst="rect">
            <a:avLst/>
          </a:prstGeom>
          <a:noFill/>
          <a:ln/>
        </p:spPr>
        <p:txBody>
          <a:bodyPr wrap="square" lIns="0" tIns="0" rIns="0" bIns="0" rtlCol="0" anchor="t"/>
          <a:lstStyle/>
          <a:p>
            <a:pPr indent="0" marL="0">
              <a:buNone/>
            </a:pPr>
            <a:r>
              <a:rPr lang="en-US" sz="700" b="1" dirty="0">
                <a:solidFill>
                  <a:srgbClr val="2E86AB"/>
                </a:solidFill>
                <a:latin typeface="Calibri" pitchFamily="34" charset="0"/>
                <a:ea typeface="Calibri" pitchFamily="34" charset="-122"/>
                <a:cs typeface="Calibri" pitchFamily="34" charset="-120"/>
              </a:rPr>
              <a:t>~2.5</a:t>
            </a:r>
            <a:endParaRPr lang="en-US" sz="950" dirty="0"/>
          </a:p>
        </p:txBody>
      </p:sp>
      <p:sp>
        <p:nvSpPr>
          <p:cNvPr id="34" name="Text 32"/>
          <p:cNvSpPr txBox="1"/>
          <p:nvPr/>
        </p:nvSpPr>
        <p:spPr>
          <a:xfrm>
            <a:off x="548640" y="3154680"/>
            <a:ext cx="2240280" cy="237744"/>
          </a:xfrm>
          <a:prstGeom prst="rect">
            <a:avLst/>
          </a:prstGeom>
          <a:noFill/>
          <a:ln/>
        </p:spPr>
        <p:txBody>
          <a:bodyPr wrap="square" lIns="0" tIns="0" rIns="0" bIns="0" rtlCol="0" anchor="t"/>
          <a:lstStyle/>
          <a:p>
            <a:pPr indent="0" marL="0">
              <a:buNone/>
            </a:pPr>
            <a:r>
              <a:rPr lang="en-US" sz="750" b="1" dirty="0">
                <a:solidFill>
                  <a:srgbClr val="6A4C93"/>
                </a:solidFill>
                <a:latin typeface="Calibri" pitchFamily="34" charset="0"/>
                <a:ea typeface="Calibri" pitchFamily="34" charset="-122"/>
                <a:cs typeface="Calibri" pitchFamily="34" charset="-120"/>
              </a:rPr>
              <a:t>Somali Current, our own bake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July 2020, 2.5° N 47.5° E · data/currents_y</a:t>
            </a:r>
            <a:endParaRPr lang="en-US" sz="950" dirty="0"/>
          </a:p>
        </p:txBody>
      </p:sp>
      <p:sp>
        <p:nvSpPr>
          <p:cNvPr id="35" name="Shape 33"/>
          <p:cNvSpPr/>
          <p:nvPr/>
        </p:nvSpPr>
        <p:spPr>
          <a:xfrm>
            <a:off x="5215413" y="3227832"/>
            <a:ext cx="100584" cy="100584"/>
          </a:xfrm>
          <a:prstGeom prst="ellipse">
            <a:avLst/>
          </a:prstGeom>
          <a:solidFill>
            <a:srgbClr val="6A4C93"/>
          </a:solidFill>
          <a:ln w="7620">
            <a:solidFill>
              <a:srgbClr val="FFFFFF"/>
            </a:solidFill>
            <a:prstDash val="solid"/>
          </a:ln>
        </p:spPr>
      </p:sp>
      <p:sp>
        <p:nvSpPr>
          <p:cNvPr id="36" name="Text 34"/>
          <p:cNvSpPr txBox="1"/>
          <p:nvPr/>
        </p:nvSpPr>
        <p:spPr>
          <a:xfrm>
            <a:off x="5897880" y="3200400"/>
            <a:ext cx="731520" cy="173736"/>
          </a:xfrm>
          <a:prstGeom prst="rect">
            <a:avLst/>
          </a:prstGeom>
          <a:noFill/>
          <a:ln/>
        </p:spPr>
        <p:txBody>
          <a:bodyPr wrap="square" lIns="0" tIns="0" rIns="0" bIns="0" rtlCol="0" anchor="t"/>
          <a:lstStyle/>
          <a:p>
            <a:pPr indent="0" marL="0">
              <a:buNone/>
            </a:pPr>
            <a:r>
              <a:rPr lang="en-US" sz="700" b="1" dirty="0">
                <a:solidFill>
                  <a:srgbClr val="6A4C93"/>
                </a:solidFill>
                <a:latin typeface="Calibri" pitchFamily="34" charset="0"/>
                <a:ea typeface="Calibri" pitchFamily="34" charset="-122"/>
                <a:cs typeface="Calibri" pitchFamily="34" charset="-120"/>
              </a:rPr>
              <a:t>2.79</a:t>
            </a:r>
            <a:endParaRPr lang="en-US" sz="950" dirty="0"/>
          </a:p>
        </p:txBody>
      </p:sp>
      <p:sp>
        <p:nvSpPr>
          <p:cNvPr id="37" name="Text 35"/>
          <p:cNvSpPr txBox="1"/>
          <p:nvPr/>
        </p:nvSpPr>
        <p:spPr>
          <a:xfrm>
            <a:off x="548640" y="3419856"/>
            <a:ext cx="2240280" cy="237744"/>
          </a:xfrm>
          <a:prstGeom prst="rect">
            <a:avLst/>
          </a:prstGeom>
          <a:noFill/>
          <a:ln/>
        </p:spPr>
        <p:txBody>
          <a:bodyPr wrap="square" lIns="0" tIns="0" rIns="0" bIns="0" rtlCol="0" anchor="t"/>
          <a:lstStyle/>
          <a:p>
            <a:pPr indent="0" marL="0">
              <a:buNone/>
            </a:pPr>
            <a:r>
              <a:rPr lang="en-US" sz="750" b="1" dirty="0">
                <a:solidFill>
                  <a:srgbClr val="6A4C93"/>
                </a:solidFill>
                <a:latin typeface="Calibri" pitchFamily="34" charset="0"/>
                <a:ea typeface="Calibri" pitchFamily="34" charset="-122"/>
                <a:cs typeface="Calibri" pitchFamily="34" charset="-120"/>
              </a:rPr>
              <a:t>First-baroclinic Kelvin wave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Wikipedia; Chelton 1998 · Pacific in ~2 months</a:t>
            </a:r>
            <a:endParaRPr lang="en-US" sz="950" dirty="0"/>
          </a:p>
        </p:txBody>
      </p:sp>
      <p:sp>
        <p:nvSpPr>
          <p:cNvPr id="38" name="Shape 36"/>
          <p:cNvSpPr/>
          <p:nvPr/>
        </p:nvSpPr>
        <p:spPr>
          <a:xfrm>
            <a:off x="5216928" y="3493008"/>
            <a:ext cx="100584" cy="100584"/>
          </a:xfrm>
          <a:prstGeom prst="ellipse">
            <a:avLst/>
          </a:prstGeom>
          <a:solidFill>
            <a:srgbClr val="6A4C93"/>
          </a:solidFill>
          <a:ln w="7620">
            <a:solidFill>
              <a:srgbClr val="FFFFFF"/>
            </a:solidFill>
            <a:prstDash val="solid"/>
          </a:ln>
        </p:spPr>
      </p:sp>
      <p:sp>
        <p:nvSpPr>
          <p:cNvPr id="39" name="Text 37"/>
          <p:cNvSpPr txBox="1"/>
          <p:nvPr/>
        </p:nvSpPr>
        <p:spPr>
          <a:xfrm>
            <a:off x="5897880" y="3465576"/>
            <a:ext cx="731520" cy="173736"/>
          </a:xfrm>
          <a:prstGeom prst="rect">
            <a:avLst/>
          </a:prstGeom>
          <a:noFill/>
          <a:ln/>
        </p:spPr>
        <p:txBody>
          <a:bodyPr wrap="square" lIns="0" tIns="0" rIns="0" bIns="0" rtlCol="0" anchor="t"/>
          <a:lstStyle/>
          <a:p>
            <a:pPr indent="0" marL="0">
              <a:buNone/>
            </a:pPr>
            <a:r>
              <a:rPr lang="en-US" sz="700" b="1" dirty="0">
                <a:solidFill>
                  <a:srgbClr val="6A4C93"/>
                </a:solidFill>
                <a:latin typeface="Calibri" pitchFamily="34" charset="0"/>
                <a:ea typeface="Calibri" pitchFamily="34" charset="-122"/>
                <a:cs typeface="Calibri" pitchFamily="34" charset="-120"/>
              </a:rPr>
              <a:t>≈2.8</a:t>
            </a:r>
            <a:endParaRPr lang="en-US" sz="950" dirty="0"/>
          </a:p>
        </p:txBody>
      </p:sp>
      <p:sp>
        <p:nvSpPr>
          <p:cNvPr id="40" name="Text 38"/>
          <p:cNvSpPr txBox="1"/>
          <p:nvPr/>
        </p:nvSpPr>
        <p:spPr>
          <a:xfrm>
            <a:off x="548640" y="3685032"/>
            <a:ext cx="2240280" cy="237744"/>
          </a:xfrm>
          <a:prstGeom prst="rect">
            <a:avLst/>
          </a:prstGeom>
          <a:noFill/>
          <a:ln/>
        </p:spPr>
        <p:txBody>
          <a:bodyPr wrap="square" lIns="0" tIns="0" rIns="0" bIns="0" rtlCol="0" anchor="t"/>
          <a:lstStyle/>
          <a:p>
            <a:pPr indent="0" marL="0">
              <a:buNone/>
            </a:pPr>
            <a:r>
              <a:rPr lang="en-US" sz="750" b="1" dirty="0">
                <a:solidFill>
                  <a:srgbClr val="A23B3B"/>
                </a:solidFill>
                <a:latin typeface="Calibri" pitchFamily="34" charset="0"/>
                <a:ea typeface="Calibri" pitchFamily="34" charset="-122"/>
                <a:cs typeface="Calibri" pitchFamily="34" charset="-120"/>
              </a:rPr>
              <a:t>Somali Current, peak</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Wikipedia — 7 knots, south-west monsoon</a:t>
            </a:r>
            <a:endParaRPr lang="en-US" sz="950" dirty="0"/>
          </a:p>
        </p:txBody>
      </p:sp>
      <p:sp>
        <p:nvSpPr>
          <p:cNvPr id="41" name="Shape 39"/>
          <p:cNvSpPr/>
          <p:nvPr/>
        </p:nvSpPr>
        <p:spPr>
          <a:xfrm>
            <a:off x="5323383" y="3758184"/>
            <a:ext cx="100584" cy="100584"/>
          </a:xfrm>
          <a:prstGeom prst="ellipse">
            <a:avLst/>
          </a:prstGeom>
          <a:solidFill>
            <a:srgbClr val="A23B3B"/>
          </a:solidFill>
          <a:ln w="7620">
            <a:solidFill>
              <a:srgbClr val="FFFFFF"/>
            </a:solidFill>
            <a:prstDash val="solid"/>
          </a:ln>
        </p:spPr>
      </p:sp>
      <p:sp>
        <p:nvSpPr>
          <p:cNvPr id="42" name="Text 40"/>
          <p:cNvSpPr txBox="1"/>
          <p:nvPr/>
        </p:nvSpPr>
        <p:spPr>
          <a:xfrm>
            <a:off x="5897880" y="3730752"/>
            <a:ext cx="731520" cy="173736"/>
          </a:xfrm>
          <a:prstGeom prst="rect">
            <a:avLst/>
          </a:prstGeom>
          <a:noFill/>
          <a:ln/>
        </p:spPr>
        <p:txBody>
          <a:bodyPr wrap="square" lIns="0" tIns="0" rIns="0" bIns="0" rtlCol="0" anchor="t"/>
          <a:lstStyle/>
          <a:p>
            <a:pPr indent="0" marL="0">
              <a:buNone/>
            </a:pPr>
            <a:r>
              <a:rPr lang="en-US" sz="700" b="1" dirty="0">
                <a:solidFill>
                  <a:srgbClr val="A23B3B"/>
                </a:solidFill>
                <a:latin typeface="Calibri" pitchFamily="34" charset="0"/>
                <a:ea typeface="Calibri" pitchFamily="34" charset="-122"/>
                <a:cs typeface="Calibri" pitchFamily="34" charset="-120"/>
              </a:rPr>
              <a:t>3.6</a:t>
            </a:r>
            <a:endParaRPr lang="en-US" sz="950" dirty="0"/>
          </a:p>
        </p:txBody>
      </p:sp>
      <p:sp>
        <p:nvSpPr>
          <p:cNvPr id="43" name="Shape 41"/>
          <p:cNvSpPr/>
          <p:nvPr/>
        </p:nvSpPr>
        <p:spPr>
          <a:xfrm>
            <a:off x="2834640" y="3995928"/>
            <a:ext cx="3017520" cy="0"/>
          </a:xfrm>
          <a:prstGeom prst="line">
            <a:avLst/>
          </a:prstGeom>
          <a:noFill/>
          <a:ln w="9525">
            <a:solidFill>
              <a:srgbClr val="B8C4D3"/>
            </a:solidFill>
            <a:prstDash val="solid"/>
          </a:ln>
        </p:spPr>
      </p:sp>
      <p:sp>
        <p:nvSpPr>
          <p:cNvPr id="44" name="Text 42"/>
          <p:cNvSpPr txBox="1"/>
          <p:nvPr/>
        </p:nvSpPr>
        <p:spPr>
          <a:xfrm>
            <a:off x="2651760" y="4014216"/>
            <a:ext cx="457200" cy="155448"/>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0.01</a:t>
            </a:r>
            <a:endParaRPr lang="en-US" sz="950" dirty="0"/>
          </a:p>
        </p:txBody>
      </p:sp>
      <p:sp>
        <p:nvSpPr>
          <p:cNvPr id="45" name="Text 43"/>
          <p:cNvSpPr txBox="1"/>
          <p:nvPr/>
        </p:nvSpPr>
        <p:spPr>
          <a:xfrm>
            <a:off x="3627120" y="4014216"/>
            <a:ext cx="457200" cy="155448"/>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0.1</a:t>
            </a:r>
            <a:endParaRPr lang="en-US" sz="950" dirty="0"/>
          </a:p>
        </p:txBody>
      </p:sp>
      <p:sp>
        <p:nvSpPr>
          <p:cNvPr id="46" name="Text 44"/>
          <p:cNvSpPr txBox="1"/>
          <p:nvPr/>
        </p:nvSpPr>
        <p:spPr>
          <a:xfrm>
            <a:off x="4602480" y="4014216"/>
            <a:ext cx="457200" cy="155448"/>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1</a:t>
            </a:r>
            <a:endParaRPr lang="en-US" sz="950" dirty="0"/>
          </a:p>
        </p:txBody>
      </p:sp>
      <p:sp>
        <p:nvSpPr>
          <p:cNvPr id="47" name="Text 45"/>
          <p:cNvSpPr txBox="1"/>
          <p:nvPr/>
        </p:nvSpPr>
        <p:spPr>
          <a:xfrm>
            <a:off x="5577840" y="4014216"/>
            <a:ext cx="457200" cy="155448"/>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10</a:t>
            </a:r>
            <a:endParaRPr lang="en-US" sz="950" dirty="0"/>
          </a:p>
        </p:txBody>
      </p:sp>
      <p:sp>
        <p:nvSpPr>
          <p:cNvPr id="48" name="Text 46"/>
          <p:cNvSpPr txBox="1"/>
          <p:nvPr/>
        </p:nvSpPr>
        <p:spPr>
          <a:xfrm>
            <a:off x="548640" y="4206240"/>
            <a:ext cx="6126480" cy="329184"/>
          </a:xfrm>
          <a:prstGeom prst="rect">
            <a:avLst/>
          </a:prstGeom>
          <a:noFill/>
          <a:ln/>
        </p:spPr>
        <p:txBody>
          <a:bodyPr wrap="square" lIns="0" tIns="0" rIns="0" bIns="0" rtlCol="0" anchor="t"/>
          <a:lstStyle/>
          <a:p>
            <a:pPr indent="0" marL="0">
              <a:buNone/>
            </a:pPr>
            <a:r>
              <a:rPr lang="en-US" sz="700" b="1" spc="40" kern="0" dirty="0">
                <a:solidFill>
                  <a:srgbClr val="0B1F3A"/>
                </a:solidFill>
                <a:latin typeface="Calibri" pitchFamily="34" charset="0"/>
                <a:ea typeface="Calibri" pitchFamily="34" charset="-122"/>
                <a:cs typeface="Calibri" pitchFamily="34" charset="-120"/>
              </a:rPr>
              <a:t>OFF THIS RULER, TO THE RIGHT.  </a:t>
            </a:r>
            <a:pPr indent="0" marL="0">
              <a:buNone/>
            </a:pPr>
            <a:r>
              <a:rPr lang="en-US" sz="700" dirty="0">
                <a:solidFill>
                  <a:srgbClr val="1B2430"/>
                </a:solidFill>
                <a:latin typeface="Calibri" pitchFamily="34" charset="0"/>
                <a:ea typeface="Calibri" pitchFamily="34" charset="-122"/>
                <a:cs typeface="Calibri" pitchFamily="34" charset="-120"/>
              </a:rPr>
              <a:t>Barotropic (surface) gravity wave ≈ 200 m/s and the jet stream ≈ 100 m/s (family A, wind stress). Both cross the planet inside one 5-day bin, so neither is a cone at all: E-071 §4.3 gives those families a RING of 24 dots at log-spaced radii out to the antipode — bearings, not density.</a:t>
            </a:r>
            <a:endParaRPr lang="en-US" sz="950" dirty="0"/>
          </a:p>
        </p:txBody>
      </p:sp>
      <p:sp>
        <p:nvSpPr>
          <p:cNvPr id="49" name="Text 47"/>
          <p:cNvSpPr txBox="1"/>
          <p:nvPr/>
        </p:nvSpPr>
        <p:spPr>
          <a:xfrm>
            <a:off x="548640" y="4590288"/>
            <a:ext cx="4297680" cy="182880"/>
          </a:xfrm>
          <a:prstGeom prst="rect">
            <a:avLst/>
          </a:prstGeom>
          <a:noFill/>
          <a:ln/>
        </p:spPr>
        <p:txBody>
          <a:bodyPr wrap="square" lIns="0" tIns="0" rIns="0" bIns="0" rtlCol="0" anchor="t"/>
          <a:lstStyle/>
          <a:p>
            <a:pPr indent="0" marL="0">
              <a:buNone/>
            </a:pPr>
            <a:r>
              <a:rPr lang="en-US" sz="800" b="1" spc="40" kern="0" dirty="0">
                <a:solidFill>
                  <a:srgbClr val="0B1F3A"/>
                </a:solidFill>
                <a:latin typeface="Calibri" pitchFamily="34" charset="0"/>
                <a:ea typeface="Calibri" pitchFamily="34" charset="-122"/>
                <a:cs typeface="Calibri" pitchFamily="34" charset="-120"/>
              </a:rPr>
              <a:t>HOW FAR A SIGNAL GETS IN SIX PENTADS — reach = v · Δt · (1 + ℓ), capped at the antipode</a:t>
            </a:r>
            <a:endParaRPr lang="en-US" sz="950" dirty="0"/>
          </a:p>
        </p:txBody>
      </p:sp>
      <p:sp>
        <p:nvSpPr>
          <p:cNvPr id="50" name="Shape 48"/>
          <p:cNvSpPr/>
          <p:nvPr/>
        </p:nvSpPr>
        <p:spPr>
          <a:xfrm>
            <a:off x="1097280" y="5559552"/>
            <a:ext cx="2651760" cy="0"/>
          </a:xfrm>
          <a:prstGeom prst="line">
            <a:avLst/>
          </a:prstGeom>
          <a:noFill/>
          <a:ln w="9525">
            <a:solidFill>
              <a:srgbClr val="B8C4D3"/>
            </a:solidFill>
            <a:prstDash val="solid"/>
          </a:ln>
        </p:spPr>
      </p:sp>
      <p:sp>
        <p:nvSpPr>
          <p:cNvPr id="51" name="Shape 49"/>
          <p:cNvSpPr/>
          <p:nvPr/>
        </p:nvSpPr>
        <p:spPr>
          <a:xfrm>
            <a:off x="1097280" y="4800600"/>
            <a:ext cx="0" cy="758952"/>
          </a:xfrm>
          <a:prstGeom prst="line">
            <a:avLst/>
          </a:prstGeom>
          <a:noFill/>
          <a:ln w="9525">
            <a:solidFill>
              <a:srgbClr val="B8C4D3"/>
            </a:solidFill>
            <a:prstDash val="solid"/>
          </a:ln>
        </p:spPr>
      </p:sp>
      <p:sp>
        <p:nvSpPr>
          <p:cNvPr id="52" name="Shape 50"/>
          <p:cNvSpPr/>
          <p:nvPr/>
        </p:nvSpPr>
        <p:spPr>
          <a:xfrm>
            <a:off x="1097280" y="5559552"/>
            <a:ext cx="2651760" cy="0"/>
          </a:xfrm>
          <a:prstGeom prst="line">
            <a:avLst/>
          </a:prstGeom>
          <a:noFill/>
          <a:ln w="5080">
            <a:solidFill>
              <a:srgbClr val="B8C4D3"/>
            </a:solidFill>
            <a:prstDash val="sysDot"/>
          </a:ln>
        </p:spPr>
      </p:sp>
      <p:sp>
        <p:nvSpPr>
          <p:cNvPr id="53" name="Text 51"/>
          <p:cNvSpPr txBox="1"/>
          <p:nvPr/>
        </p:nvSpPr>
        <p:spPr>
          <a:xfrm>
            <a:off x="274320" y="5486400"/>
            <a:ext cx="786384" cy="146304"/>
          </a:xfrm>
          <a:prstGeom prst="rect">
            <a:avLst/>
          </a:prstGeom>
          <a:noFill/>
          <a:ln/>
        </p:spPr>
        <p:txBody>
          <a:bodyPr wrap="square" lIns="0" tIns="0" rIns="0" bIns="0" rtlCol="0" anchor="t"/>
          <a:lstStyle/>
          <a:p>
            <a:pPr algn="r" indent="0" marL="0">
              <a:buNone/>
            </a:pPr>
            <a:r>
              <a:rPr lang="en-US" sz="650" dirty="0">
                <a:solidFill>
                  <a:srgbClr val="6B7A8F"/>
                </a:solidFill>
                <a:latin typeface="Calibri" pitchFamily="34" charset="0"/>
                <a:ea typeface="Calibri" pitchFamily="34" charset="-122"/>
                <a:cs typeface="Calibri" pitchFamily="34" charset="-120"/>
              </a:rPr>
              <a:t>0</a:t>
            </a:r>
            <a:endParaRPr lang="en-US" sz="950" dirty="0"/>
          </a:p>
        </p:txBody>
      </p:sp>
      <p:sp>
        <p:nvSpPr>
          <p:cNvPr id="54" name="Shape 52"/>
          <p:cNvSpPr/>
          <p:nvPr/>
        </p:nvSpPr>
        <p:spPr>
          <a:xfrm>
            <a:off x="1097280" y="5401191"/>
            <a:ext cx="2651760" cy="0"/>
          </a:xfrm>
          <a:prstGeom prst="line">
            <a:avLst/>
          </a:prstGeom>
          <a:noFill/>
          <a:ln w="11430">
            <a:solidFill>
              <a:srgbClr val="E07A2F"/>
            </a:solidFill>
            <a:prstDash val="sysDot"/>
          </a:ln>
        </p:spPr>
      </p:sp>
      <p:sp>
        <p:nvSpPr>
          <p:cNvPr id="55" name="Text 53"/>
          <p:cNvSpPr txBox="1"/>
          <p:nvPr/>
        </p:nvSpPr>
        <p:spPr>
          <a:xfrm>
            <a:off x="274320" y="5328039"/>
            <a:ext cx="786384" cy="146304"/>
          </a:xfrm>
          <a:prstGeom prst="rect">
            <a:avLst/>
          </a:prstGeom>
          <a:noFill/>
          <a:ln/>
        </p:spPr>
        <p:txBody>
          <a:bodyPr wrap="square" lIns="0" tIns="0" rIns="0" bIns="0" rtlCol="0" anchor="t"/>
          <a:lstStyle/>
          <a:p>
            <a:pPr algn="r" indent="0" marL="0">
              <a:buNone/>
            </a:pPr>
            <a:r>
              <a:rPr lang="en-US" sz="600" b="1" dirty="0">
                <a:solidFill>
                  <a:srgbClr val="E07A2F"/>
                </a:solidFill>
                <a:latin typeface="Calibri" pitchFamily="34" charset="0"/>
                <a:ea typeface="Calibri" pitchFamily="34" charset="-122"/>
                <a:cs typeface="Calibri" pitchFamily="34" charset="-120"/>
              </a:rPr>
              <a:t>4,444 — E-069 cap</a:t>
            </a:r>
            <a:endParaRPr lang="en-US" sz="950" dirty="0"/>
          </a:p>
        </p:txBody>
      </p:sp>
      <p:sp>
        <p:nvSpPr>
          <p:cNvPr id="56" name="Shape 54"/>
          <p:cNvSpPr/>
          <p:nvPr/>
        </p:nvSpPr>
        <p:spPr>
          <a:xfrm>
            <a:off x="1097280" y="5203203"/>
            <a:ext cx="2651760" cy="0"/>
          </a:xfrm>
          <a:prstGeom prst="line">
            <a:avLst/>
          </a:prstGeom>
          <a:noFill/>
          <a:ln w="5080">
            <a:solidFill>
              <a:srgbClr val="B8C4D3"/>
            </a:solidFill>
            <a:prstDash val="sysDot"/>
          </a:ln>
        </p:spPr>
      </p:sp>
      <p:sp>
        <p:nvSpPr>
          <p:cNvPr id="57" name="Text 55"/>
          <p:cNvSpPr txBox="1"/>
          <p:nvPr/>
        </p:nvSpPr>
        <p:spPr>
          <a:xfrm>
            <a:off x="274320" y="5130051"/>
            <a:ext cx="786384" cy="146304"/>
          </a:xfrm>
          <a:prstGeom prst="rect">
            <a:avLst/>
          </a:prstGeom>
          <a:noFill/>
          <a:ln/>
        </p:spPr>
        <p:txBody>
          <a:bodyPr wrap="square" lIns="0" tIns="0" rIns="0" bIns="0" rtlCol="0" anchor="t"/>
          <a:lstStyle/>
          <a:p>
            <a:pPr algn="r" indent="0" marL="0">
              <a:buNone/>
            </a:pPr>
            <a:r>
              <a:rPr lang="en-US" sz="650" dirty="0">
                <a:solidFill>
                  <a:srgbClr val="6B7A8F"/>
                </a:solidFill>
                <a:latin typeface="Calibri" pitchFamily="34" charset="0"/>
                <a:ea typeface="Calibri" pitchFamily="34" charset="-122"/>
                <a:cs typeface="Calibri" pitchFamily="34" charset="-120"/>
              </a:rPr>
              <a:t>10,000</a:t>
            </a:r>
            <a:endParaRPr lang="en-US" sz="950" dirty="0"/>
          </a:p>
        </p:txBody>
      </p:sp>
      <p:sp>
        <p:nvSpPr>
          <p:cNvPr id="58" name="Shape 56"/>
          <p:cNvSpPr/>
          <p:nvPr/>
        </p:nvSpPr>
        <p:spPr>
          <a:xfrm>
            <a:off x="1097280" y="5025029"/>
            <a:ext cx="2651760" cy="0"/>
          </a:xfrm>
          <a:prstGeom prst="line">
            <a:avLst/>
          </a:prstGeom>
          <a:noFill/>
          <a:ln w="5080">
            <a:solidFill>
              <a:srgbClr val="B8C4D3"/>
            </a:solidFill>
            <a:prstDash val="sysDot"/>
          </a:ln>
        </p:spPr>
      </p:sp>
      <p:sp>
        <p:nvSpPr>
          <p:cNvPr id="59" name="Text 57"/>
          <p:cNvSpPr txBox="1"/>
          <p:nvPr/>
        </p:nvSpPr>
        <p:spPr>
          <a:xfrm>
            <a:off x="274320" y="4951877"/>
            <a:ext cx="786384" cy="146304"/>
          </a:xfrm>
          <a:prstGeom prst="rect">
            <a:avLst/>
          </a:prstGeom>
          <a:noFill/>
          <a:ln/>
        </p:spPr>
        <p:txBody>
          <a:bodyPr wrap="square" lIns="0" tIns="0" rIns="0" bIns="0" rtlCol="0" anchor="t"/>
          <a:lstStyle/>
          <a:p>
            <a:pPr algn="r" indent="0" marL="0">
              <a:buNone/>
            </a:pPr>
            <a:r>
              <a:rPr lang="en-US" sz="650" dirty="0">
                <a:solidFill>
                  <a:srgbClr val="6B7A8F"/>
                </a:solidFill>
                <a:latin typeface="Calibri" pitchFamily="34" charset="0"/>
                <a:ea typeface="Calibri" pitchFamily="34" charset="-122"/>
                <a:cs typeface="Calibri" pitchFamily="34" charset="-120"/>
              </a:rPr>
              <a:t>15,000</a:t>
            </a:r>
            <a:endParaRPr lang="en-US" sz="950" dirty="0"/>
          </a:p>
        </p:txBody>
      </p:sp>
      <p:sp>
        <p:nvSpPr>
          <p:cNvPr id="60" name="Shape 58"/>
          <p:cNvSpPr/>
          <p:nvPr/>
        </p:nvSpPr>
        <p:spPr>
          <a:xfrm>
            <a:off x="1097280" y="4846320"/>
            <a:ext cx="2651760" cy="0"/>
          </a:xfrm>
          <a:prstGeom prst="line">
            <a:avLst/>
          </a:prstGeom>
          <a:noFill/>
          <a:ln w="11430">
            <a:solidFill>
              <a:srgbClr val="A23B3B"/>
            </a:solidFill>
            <a:prstDash val="sysDot"/>
          </a:ln>
        </p:spPr>
      </p:sp>
      <p:sp>
        <p:nvSpPr>
          <p:cNvPr id="61" name="Text 59"/>
          <p:cNvSpPr txBox="1"/>
          <p:nvPr/>
        </p:nvSpPr>
        <p:spPr>
          <a:xfrm>
            <a:off x="274320" y="4773168"/>
            <a:ext cx="786384" cy="146304"/>
          </a:xfrm>
          <a:prstGeom prst="rect">
            <a:avLst/>
          </a:prstGeom>
          <a:noFill/>
          <a:ln/>
        </p:spPr>
        <p:txBody>
          <a:bodyPr wrap="square" lIns="0" tIns="0" rIns="0" bIns="0" rtlCol="0" anchor="t"/>
          <a:lstStyle/>
          <a:p>
            <a:pPr algn="r" indent="0" marL="0">
              <a:buNone/>
            </a:pPr>
            <a:r>
              <a:rPr lang="en-US" sz="600" b="1" dirty="0">
                <a:solidFill>
                  <a:srgbClr val="A23B3B"/>
                </a:solidFill>
                <a:latin typeface="Calibri" pitchFamily="34" charset="0"/>
                <a:ea typeface="Calibri" pitchFamily="34" charset="-122"/>
                <a:cs typeface="Calibri" pitchFamily="34" charset="-120"/>
              </a:rPr>
              <a:t>20,015 — antipode</a:t>
            </a:r>
            <a:endParaRPr lang="en-US" sz="950" dirty="0"/>
          </a:p>
        </p:txBody>
      </p:sp>
      <p:sp>
        <p:nvSpPr>
          <p:cNvPr id="62" name="Text 60"/>
          <p:cNvSpPr txBox="1"/>
          <p:nvPr/>
        </p:nvSpPr>
        <p:spPr>
          <a:xfrm>
            <a:off x="96926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0</a:t>
            </a:r>
            <a:endParaRPr lang="en-US" sz="950" dirty="0"/>
          </a:p>
        </p:txBody>
      </p:sp>
      <p:sp>
        <p:nvSpPr>
          <p:cNvPr id="63" name="Text 61"/>
          <p:cNvSpPr txBox="1"/>
          <p:nvPr/>
        </p:nvSpPr>
        <p:spPr>
          <a:xfrm>
            <a:off x="139598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1</a:t>
            </a:r>
            <a:endParaRPr lang="en-US" sz="950" dirty="0"/>
          </a:p>
        </p:txBody>
      </p:sp>
      <p:sp>
        <p:nvSpPr>
          <p:cNvPr id="64" name="Text 62"/>
          <p:cNvSpPr txBox="1"/>
          <p:nvPr/>
        </p:nvSpPr>
        <p:spPr>
          <a:xfrm>
            <a:off x="182270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2</a:t>
            </a:r>
            <a:endParaRPr lang="en-US" sz="950" dirty="0"/>
          </a:p>
        </p:txBody>
      </p:sp>
      <p:sp>
        <p:nvSpPr>
          <p:cNvPr id="65" name="Text 63"/>
          <p:cNvSpPr txBox="1"/>
          <p:nvPr/>
        </p:nvSpPr>
        <p:spPr>
          <a:xfrm>
            <a:off x="224942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3</a:t>
            </a:r>
            <a:endParaRPr lang="en-US" sz="950" dirty="0"/>
          </a:p>
        </p:txBody>
      </p:sp>
      <p:sp>
        <p:nvSpPr>
          <p:cNvPr id="66" name="Text 64"/>
          <p:cNvSpPr txBox="1"/>
          <p:nvPr/>
        </p:nvSpPr>
        <p:spPr>
          <a:xfrm>
            <a:off x="267614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4</a:t>
            </a:r>
            <a:endParaRPr lang="en-US" sz="950" dirty="0"/>
          </a:p>
        </p:txBody>
      </p:sp>
      <p:sp>
        <p:nvSpPr>
          <p:cNvPr id="67" name="Text 65"/>
          <p:cNvSpPr txBox="1"/>
          <p:nvPr/>
        </p:nvSpPr>
        <p:spPr>
          <a:xfrm>
            <a:off x="310286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5</a:t>
            </a:r>
            <a:endParaRPr lang="en-US" sz="950" dirty="0"/>
          </a:p>
        </p:txBody>
      </p:sp>
      <p:sp>
        <p:nvSpPr>
          <p:cNvPr id="68" name="Text 66"/>
          <p:cNvSpPr txBox="1"/>
          <p:nvPr/>
        </p:nvSpPr>
        <p:spPr>
          <a:xfrm>
            <a:off x="3529584" y="5577840"/>
            <a:ext cx="256032" cy="146304"/>
          </a:xfrm>
          <a:prstGeom prst="rect">
            <a:avLst/>
          </a:prstGeom>
          <a:noFill/>
          <a:ln/>
        </p:spPr>
        <p:txBody>
          <a:bodyPr wrap="square" lIns="0" tIns="0" rIns="0" bIns="0" rtlCol="0" anchor="t"/>
          <a:lstStyle/>
          <a:p>
            <a:pPr algn="ctr" indent="0" marL="0">
              <a:buNone/>
            </a:pPr>
            <a:r>
              <a:rPr lang="en-US" sz="700" dirty="0">
                <a:solidFill>
                  <a:srgbClr val="6B7A8F"/>
                </a:solidFill>
                <a:latin typeface="Calibri" pitchFamily="34" charset="0"/>
                <a:ea typeface="Calibri" pitchFamily="34" charset="-122"/>
                <a:cs typeface="Calibri" pitchFamily="34" charset="-120"/>
              </a:rPr>
              <a:t>6</a:t>
            </a:r>
            <a:endParaRPr lang="en-US" sz="950" dirty="0"/>
          </a:p>
        </p:txBody>
      </p:sp>
      <p:sp>
        <p:nvSpPr>
          <p:cNvPr id="69" name="Text 67"/>
          <p:cNvSpPr txBox="1"/>
          <p:nvPr/>
        </p:nvSpPr>
        <p:spPr>
          <a:xfrm>
            <a:off x="1152144" y="5724144"/>
            <a:ext cx="2194560" cy="146304"/>
          </a:xfrm>
          <a:prstGeom prst="rect">
            <a:avLst/>
          </a:prstGeom>
          <a:noFill/>
          <a:ln/>
        </p:spPr>
        <p:txBody>
          <a:bodyPr wrap="square" lIns="0" tIns="0" rIns="0" bIns="0" rtlCol="0" anchor="t"/>
          <a:lstStyle/>
          <a:p>
            <a:pPr indent="0" marL="0">
              <a:buNone/>
            </a:pPr>
            <a:r>
              <a:rPr lang="en-US" sz="650" i="1" dirty="0">
                <a:solidFill>
                  <a:srgbClr val="6B7A8F"/>
                </a:solidFill>
                <a:latin typeface="Calibri" pitchFamily="34" charset="0"/>
                <a:ea typeface="Calibri" pitchFamily="34" charset="-122"/>
                <a:cs typeface="Calibri" pitchFamily="34" charset="-120"/>
              </a:rPr>
              <a:t>lag ℓ, in pentads (one pentad = one 5-day bin)</a:t>
            </a:r>
            <a:endParaRPr lang="en-US" sz="950" dirty="0"/>
          </a:p>
        </p:txBody>
      </p:sp>
      <p:sp>
        <p:nvSpPr>
          <p:cNvPr id="70" name="Shape 68"/>
          <p:cNvSpPr/>
          <p:nvPr/>
        </p:nvSpPr>
        <p:spPr>
          <a:xfrm flipV="1">
            <a:off x="1097280" y="5393294"/>
            <a:ext cx="426720" cy="83129"/>
          </a:xfrm>
          <a:prstGeom prst="line">
            <a:avLst/>
          </a:prstGeom>
          <a:noFill/>
          <a:ln w="25400">
            <a:solidFill>
              <a:srgbClr val="1F7A4D"/>
            </a:solidFill>
            <a:prstDash val="solid"/>
          </a:ln>
        </p:spPr>
      </p:sp>
      <p:sp>
        <p:nvSpPr>
          <p:cNvPr id="71" name="Shape 69"/>
          <p:cNvSpPr/>
          <p:nvPr/>
        </p:nvSpPr>
        <p:spPr>
          <a:xfrm flipV="1">
            <a:off x="1524000" y="5310165"/>
            <a:ext cx="426720" cy="83129"/>
          </a:xfrm>
          <a:prstGeom prst="line">
            <a:avLst/>
          </a:prstGeom>
          <a:noFill/>
          <a:ln w="25400">
            <a:solidFill>
              <a:srgbClr val="1F7A4D"/>
            </a:solidFill>
            <a:prstDash val="solid"/>
          </a:ln>
        </p:spPr>
      </p:sp>
      <p:sp>
        <p:nvSpPr>
          <p:cNvPr id="72" name="Shape 70"/>
          <p:cNvSpPr/>
          <p:nvPr/>
        </p:nvSpPr>
        <p:spPr>
          <a:xfrm flipV="1">
            <a:off x="1950720" y="5227036"/>
            <a:ext cx="426720" cy="83129"/>
          </a:xfrm>
          <a:prstGeom prst="line">
            <a:avLst/>
          </a:prstGeom>
          <a:noFill/>
          <a:ln w="25400">
            <a:solidFill>
              <a:srgbClr val="1F7A4D"/>
            </a:solidFill>
            <a:prstDash val="solid"/>
          </a:ln>
        </p:spPr>
      </p:sp>
      <p:sp>
        <p:nvSpPr>
          <p:cNvPr id="73" name="Shape 71"/>
          <p:cNvSpPr/>
          <p:nvPr/>
        </p:nvSpPr>
        <p:spPr>
          <a:xfrm flipV="1">
            <a:off x="2377440" y="5143907"/>
            <a:ext cx="426720" cy="83129"/>
          </a:xfrm>
          <a:prstGeom prst="line">
            <a:avLst/>
          </a:prstGeom>
          <a:noFill/>
          <a:ln w="25400">
            <a:solidFill>
              <a:srgbClr val="1F7A4D"/>
            </a:solidFill>
            <a:prstDash val="solid"/>
          </a:ln>
        </p:spPr>
      </p:sp>
      <p:sp>
        <p:nvSpPr>
          <p:cNvPr id="74" name="Shape 72"/>
          <p:cNvSpPr/>
          <p:nvPr/>
        </p:nvSpPr>
        <p:spPr>
          <a:xfrm flipV="1">
            <a:off x="2804160" y="5060778"/>
            <a:ext cx="426720" cy="83129"/>
          </a:xfrm>
          <a:prstGeom prst="line">
            <a:avLst/>
          </a:prstGeom>
          <a:noFill/>
          <a:ln w="25400">
            <a:solidFill>
              <a:srgbClr val="1F7A4D"/>
            </a:solidFill>
            <a:prstDash val="solid"/>
          </a:ln>
        </p:spPr>
      </p:sp>
      <p:sp>
        <p:nvSpPr>
          <p:cNvPr id="75" name="Shape 73"/>
          <p:cNvSpPr/>
          <p:nvPr/>
        </p:nvSpPr>
        <p:spPr>
          <a:xfrm flipV="1">
            <a:off x="3230880" y="4977649"/>
            <a:ext cx="426720" cy="83129"/>
          </a:xfrm>
          <a:prstGeom prst="line">
            <a:avLst/>
          </a:prstGeom>
          <a:noFill/>
          <a:ln w="25400">
            <a:solidFill>
              <a:srgbClr val="1F7A4D"/>
            </a:solidFill>
            <a:prstDash val="solid"/>
          </a:ln>
        </p:spPr>
      </p:sp>
      <p:sp>
        <p:nvSpPr>
          <p:cNvPr id="76" name="Shape 74"/>
          <p:cNvSpPr/>
          <p:nvPr/>
        </p:nvSpPr>
        <p:spPr>
          <a:xfrm>
            <a:off x="3611880" y="4931929"/>
            <a:ext cx="91440" cy="91440"/>
          </a:xfrm>
          <a:prstGeom prst="ellipse">
            <a:avLst/>
          </a:prstGeom>
          <a:solidFill>
            <a:srgbClr val="1F7A4D"/>
          </a:solidFill>
          <a:ln w="12700">
            <a:solidFill>
              <a:srgbClr val="333333"/>
            </a:solidFill>
            <a:prstDash val="solid"/>
          </a:ln>
        </p:spPr>
      </p:sp>
      <p:sp>
        <p:nvSpPr>
          <p:cNvPr id="77" name="Text 75"/>
          <p:cNvSpPr txBox="1"/>
          <p:nvPr/>
        </p:nvSpPr>
        <p:spPr>
          <a:xfrm>
            <a:off x="3767328" y="4867921"/>
            <a:ext cx="1207008" cy="237744"/>
          </a:xfrm>
          <a:prstGeom prst="rect">
            <a:avLst/>
          </a:prstGeom>
          <a:noFill/>
          <a:ln/>
        </p:spPr>
        <p:txBody>
          <a:bodyPr wrap="square" lIns="0" tIns="0" rIns="0" bIns="0" rtlCol="0" anchor="t"/>
          <a:lstStyle/>
          <a:p>
            <a:pPr indent="0" marL="0">
              <a:buNone/>
            </a:pPr>
            <a:r>
              <a:rPr lang="en-US" sz="700" b="1" dirty="0">
                <a:solidFill>
                  <a:srgbClr val="1F7A4D"/>
                </a:solidFill>
                <a:latin typeface="Calibri" pitchFamily="34" charset="0"/>
                <a:ea typeface="Calibri" pitchFamily="34" charset="-122"/>
                <a:cs typeface="Calibri" pitchFamily="34" charset="-120"/>
              </a:rPr>
              <a:t>5.4 m/s — CONE v2</a:t>
            </a:r>
            <a:endParaRPr lang="en-US" sz="950" dirty="0"/>
          </a:p>
          <a:p>
            <a:pPr indent="0" marL="0">
              <a:buNone/>
            </a:pPr>
            <a:r>
              <a:rPr lang="en-US" sz="650" i="1" dirty="0">
                <a:solidFill>
                  <a:srgbClr val="1F7A4D"/>
                </a:solidFill>
                <a:latin typeface="Calibri" pitchFamily="34" charset="0"/>
                <a:ea typeface="Calibri" pitchFamily="34" charset="-122"/>
                <a:cs typeface="Calibri" pitchFamily="34" charset="-120"/>
              </a:rPr>
              <a:t>2,333 → 16,330 km</a:t>
            </a:r>
            <a:endParaRPr lang="en-US" sz="950" dirty="0"/>
          </a:p>
        </p:txBody>
      </p:sp>
      <p:sp>
        <p:nvSpPr>
          <p:cNvPr id="78" name="Shape 76"/>
          <p:cNvSpPr/>
          <p:nvPr/>
        </p:nvSpPr>
        <p:spPr>
          <a:xfrm flipV="1">
            <a:off x="1097280" y="5473344"/>
            <a:ext cx="426720" cy="43104"/>
          </a:xfrm>
          <a:prstGeom prst="line">
            <a:avLst/>
          </a:prstGeom>
          <a:noFill/>
          <a:ln w="17780">
            <a:solidFill>
              <a:srgbClr val="6A4C93"/>
            </a:solidFill>
            <a:prstDash val="solid"/>
          </a:ln>
        </p:spPr>
      </p:sp>
      <p:sp>
        <p:nvSpPr>
          <p:cNvPr id="79" name="Shape 77"/>
          <p:cNvSpPr/>
          <p:nvPr/>
        </p:nvSpPr>
        <p:spPr>
          <a:xfrm flipV="1">
            <a:off x="1524000" y="5430240"/>
            <a:ext cx="426720" cy="43104"/>
          </a:xfrm>
          <a:prstGeom prst="line">
            <a:avLst/>
          </a:prstGeom>
          <a:noFill/>
          <a:ln w="17780">
            <a:solidFill>
              <a:srgbClr val="6A4C93"/>
            </a:solidFill>
            <a:prstDash val="solid"/>
          </a:ln>
        </p:spPr>
      </p:sp>
      <p:sp>
        <p:nvSpPr>
          <p:cNvPr id="80" name="Shape 78"/>
          <p:cNvSpPr/>
          <p:nvPr/>
        </p:nvSpPr>
        <p:spPr>
          <a:xfrm flipV="1">
            <a:off x="1950720" y="5387136"/>
            <a:ext cx="426720" cy="43104"/>
          </a:xfrm>
          <a:prstGeom prst="line">
            <a:avLst/>
          </a:prstGeom>
          <a:noFill/>
          <a:ln w="17780">
            <a:solidFill>
              <a:srgbClr val="6A4C93"/>
            </a:solidFill>
            <a:prstDash val="solid"/>
          </a:ln>
        </p:spPr>
      </p:sp>
      <p:sp>
        <p:nvSpPr>
          <p:cNvPr id="81" name="Shape 79"/>
          <p:cNvSpPr/>
          <p:nvPr/>
        </p:nvSpPr>
        <p:spPr>
          <a:xfrm flipV="1">
            <a:off x="2377440" y="5344032"/>
            <a:ext cx="426720" cy="43104"/>
          </a:xfrm>
          <a:prstGeom prst="line">
            <a:avLst/>
          </a:prstGeom>
          <a:noFill/>
          <a:ln w="17780">
            <a:solidFill>
              <a:srgbClr val="6A4C93"/>
            </a:solidFill>
            <a:prstDash val="solid"/>
          </a:ln>
        </p:spPr>
      </p:sp>
      <p:sp>
        <p:nvSpPr>
          <p:cNvPr id="82" name="Shape 80"/>
          <p:cNvSpPr/>
          <p:nvPr/>
        </p:nvSpPr>
        <p:spPr>
          <a:xfrm flipV="1">
            <a:off x="2804160" y="5300928"/>
            <a:ext cx="426720" cy="43104"/>
          </a:xfrm>
          <a:prstGeom prst="line">
            <a:avLst/>
          </a:prstGeom>
          <a:noFill/>
          <a:ln w="17780">
            <a:solidFill>
              <a:srgbClr val="6A4C93"/>
            </a:solidFill>
            <a:prstDash val="solid"/>
          </a:ln>
        </p:spPr>
      </p:sp>
      <p:sp>
        <p:nvSpPr>
          <p:cNvPr id="83" name="Shape 81"/>
          <p:cNvSpPr/>
          <p:nvPr/>
        </p:nvSpPr>
        <p:spPr>
          <a:xfrm flipV="1">
            <a:off x="3230880" y="5257824"/>
            <a:ext cx="426720" cy="43104"/>
          </a:xfrm>
          <a:prstGeom prst="line">
            <a:avLst/>
          </a:prstGeom>
          <a:noFill/>
          <a:ln w="17780">
            <a:solidFill>
              <a:srgbClr val="6A4C93"/>
            </a:solidFill>
            <a:prstDash val="solid"/>
          </a:ln>
        </p:spPr>
      </p:sp>
      <p:sp>
        <p:nvSpPr>
          <p:cNvPr id="84" name="Shape 82"/>
          <p:cNvSpPr/>
          <p:nvPr/>
        </p:nvSpPr>
        <p:spPr>
          <a:xfrm>
            <a:off x="3611880" y="5212104"/>
            <a:ext cx="91440" cy="91440"/>
          </a:xfrm>
          <a:prstGeom prst="ellipse">
            <a:avLst/>
          </a:prstGeom>
          <a:solidFill>
            <a:srgbClr val="6A4C93"/>
          </a:solidFill>
          <a:ln w="12700">
            <a:solidFill>
              <a:srgbClr val="333333"/>
            </a:solidFill>
            <a:prstDash val="solid"/>
          </a:ln>
        </p:spPr>
      </p:sp>
      <p:sp>
        <p:nvSpPr>
          <p:cNvPr id="85" name="Text 83"/>
          <p:cNvSpPr txBox="1"/>
          <p:nvPr/>
        </p:nvSpPr>
        <p:spPr>
          <a:xfrm>
            <a:off x="3767328" y="5148096"/>
            <a:ext cx="1207008" cy="237744"/>
          </a:xfrm>
          <a:prstGeom prst="rect">
            <a:avLst/>
          </a:prstGeom>
          <a:noFill/>
          <a:ln/>
        </p:spPr>
        <p:txBody>
          <a:bodyPr wrap="square" lIns="0" tIns="0" rIns="0" bIns="0" rtlCol="0" anchor="t"/>
          <a:lstStyle/>
          <a:p>
            <a:pPr indent="0" marL="0">
              <a:buNone/>
            </a:pPr>
            <a:r>
              <a:rPr lang="en-US" sz="700" b="1" dirty="0">
                <a:solidFill>
                  <a:srgbClr val="6A4C93"/>
                </a:solidFill>
                <a:latin typeface="Calibri" pitchFamily="34" charset="0"/>
                <a:ea typeface="Calibri" pitchFamily="34" charset="-122"/>
                <a:cs typeface="Calibri" pitchFamily="34" charset="-120"/>
              </a:rPr>
              <a:t>2.8 m/s — Kelvin</a:t>
            </a:r>
            <a:endParaRPr lang="en-US" sz="950" dirty="0"/>
          </a:p>
          <a:p>
            <a:pPr indent="0" marL="0">
              <a:buNone/>
            </a:pPr>
            <a:r>
              <a:rPr lang="en-US" sz="650" i="1" dirty="0">
                <a:solidFill>
                  <a:srgbClr val="6A4C93"/>
                </a:solidFill>
                <a:latin typeface="Calibri" pitchFamily="34" charset="0"/>
                <a:ea typeface="Calibri" pitchFamily="34" charset="-122"/>
                <a:cs typeface="Calibri" pitchFamily="34" charset="-120"/>
              </a:rPr>
              <a:t>8,467 km at lag 6</a:t>
            </a:r>
            <a:endParaRPr lang="en-US" sz="950" dirty="0"/>
          </a:p>
        </p:txBody>
      </p:sp>
      <p:sp>
        <p:nvSpPr>
          <p:cNvPr id="86" name="Shape 84"/>
          <p:cNvSpPr/>
          <p:nvPr/>
        </p:nvSpPr>
        <p:spPr>
          <a:xfrm flipV="1">
            <a:off x="1097280" y="5550315"/>
            <a:ext cx="426720" cy="4618"/>
          </a:xfrm>
          <a:prstGeom prst="line">
            <a:avLst/>
          </a:prstGeom>
          <a:noFill/>
          <a:ln w="17780">
            <a:solidFill>
              <a:srgbClr val="E07A2F"/>
            </a:solidFill>
            <a:prstDash val="solid"/>
          </a:ln>
        </p:spPr>
      </p:sp>
      <p:sp>
        <p:nvSpPr>
          <p:cNvPr id="87" name="Shape 85"/>
          <p:cNvSpPr/>
          <p:nvPr/>
        </p:nvSpPr>
        <p:spPr>
          <a:xfrm flipV="1">
            <a:off x="1524000" y="5545697"/>
            <a:ext cx="426720" cy="4618"/>
          </a:xfrm>
          <a:prstGeom prst="line">
            <a:avLst/>
          </a:prstGeom>
          <a:noFill/>
          <a:ln w="17780">
            <a:solidFill>
              <a:srgbClr val="E07A2F"/>
            </a:solidFill>
            <a:prstDash val="solid"/>
          </a:ln>
        </p:spPr>
      </p:sp>
      <p:sp>
        <p:nvSpPr>
          <p:cNvPr id="88" name="Shape 86"/>
          <p:cNvSpPr/>
          <p:nvPr/>
        </p:nvSpPr>
        <p:spPr>
          <a:xfrm flipV="1">
            <a:off x="1950720" y="5541079"/>
            <a:ext cx="426720" cy="4618"/>
          </a:xfrm>
          <a:prstGeom prst="line">
            <a:avLst/>
          </a:prstGeom>
          <a:noFill/>
          <a:ln w="17780">
            <a:solidFill>
              <a:srgbClr val="E07A2F"/>
            </a:solidFill>
            <a:prstDash val="solid"/>
          </a:ln>
        </p:spPr>
      </p:sp>
      <p:sp>
        <p:nvSpPr>
          <p:cNvPr id="89" name="Shape 87"/>
          <p:cNvSpPr/>
          <p:nvPr/>
        </p:nvSpPr>
        <p:spPr>
          <a:xfrm flipV="1">
            <a:off x="2377440" y="5536461"/>
            <a:ext cx="426720" cy="4618"/>
          </a:xfrm>
          <a:prstGeom prst="line">
            <a:avLst/>
          </a:prstGeom>
          <a:noFill/>
          <a:ln w="17780">
            <a:solidFill>
              <a:srgbClr val="E07A2F"/>
            </a:solidFill>
            <a:prstDash val="solid"/>
          </a:ln>
        </p:spPr>
      </p:sp>
      <p:sp>
        <p:nvSpPr>
          <p:cNvPr id="90" name="Shape 88"/>
          <p:cNvSpPr/>
          <p:nvPr/>
        </p:nvSpPr>
        <p:spPr>
          <a:xfrm flipV="1">
            <a:off x="2804160" y="5531842"/>
            <a:ext cx="426720" cy="4618"/>
          </a:xfrm>
          <a:prstGeom prst="line">
            <a:avLst/>
          </a:prstGeom>
          <a:noFill/>
          <a:ln w="17780">
            <a:solidFill>
              <a:srgbClr val="E07A2F"/>
            </a:solidFill>
            <a:prstDash val="solid"/>
          </a:ln>
        </p:spPr>
      </p:sp>
      <p:sp>
        <p:nvSpPr>
          <p:cNvPr id="91" name="Shape 89"/>
          <p:cNvSpPr/>
          <p:nvPr/>
        </p:nvSpPr>
        <p:spPr>
          <a:xfrm flipV="1">
            <a:off x="3230880" y="5527224"/>
            <a:ext cx="426720" cy="4618"/>
          </a:xfrm>
          <a:prstGeom prst="line">
            <a:avLst/>
          </a:prstGeom>
          <a:noFill/>
          <a:ln w="17780">
            <a:solidFill>
              <a:srgbClr val="E07A2F"/>
            </a:solidFill>
            <a:prstDash val="solid"/>
          </a:ln>
        </p:spPr>
      </p:sp>
      <p:sp>
        <p:nvSpPr>
          <p:cNvPr id="92" name="Shape 90"/>
          <p:cNvSpPr/>
          <p:nvPr/>
        </p:nvSpPr>
        <p:spPr>
          <a:xfrm>
            <a:off x="3611880" y="5481504"/>
            <a:ext cx="91440" cy="91440"/>
          </a:xfrm>
          <a:prstGeom prst="ellipse">
            <a:avLst/>
          </a:prstGeom>
          <a:solidFill>
            <a:srgbClr val="E07A2F"/>
          </a:solidFill>
          <a:ln w="12700">
            <a:solidFill>
              <a:srgbClr val="333333"/>
            </a:solidFill>
            <a:prstDash val="solid"/>
          </a:ln>
        </p:spPr>
      </p:sp>
      <p:sp>
        <p:nvSpPr>
          <p:cNvPr id="93" name="Text 91"/>
          <p:cNvSpPr txBox="1"/>
          <p:nvPr/>
        </p:nvSpPr>
        <p:spPr>
          <a:xfrm>
            <a:off x="3767328" y="5417496"/>
            <a:ext cx="1207008" cy="237744"/>
          </a:xfrm>
          <a:prstGeom prst="rect">
            <a:avLst/>
          </a:prstGeom>
          <a:noFill/>
          <a:ln/>
        </p:spPr>
        <p:txBody>
          <a:bodyPr wrap="square" lIns="0" tIns="0" rIns="0" bIns="0" rtlCol="0" anchor="t"/>
          <a:lstStyle/>
          <a:p>
            <a:pPr indent="0" marL="0">
              <a:buNone/>
            </a:pPr>
            <a:r>
              <a:rPr lang="en-US" sz="700" b="1" dirty="0">
                <a:solidFill>
                  <a:srgbClr val="E07A2F"/>
                </a:solidFill>
                <a:latin typeface="Calibri" pitchFamily="34" charset="0"/>
                <a:ea typeface="Calibri" pitchFamily="34" charset="-122"/>
                <a:cs typeface="Calibri" pitchFamily="34" charset="-120"/>
              </a:rPr>
              <a:t>0.3 m/s — E-069 today</a:t>
            </a:r>
            <a:endParaRPr lang="en-US" sz="950" dirty="0"/>
          </a:p>
          <a:p>
            <a:pPr indent="0" marL="0">
              <a:buNone/>
            </a:pPr>
            <a:r>
              <a:rPr lang="en-US" sz="650" i="1" dirty="0">
                <a:solidFill>
                  <a:srgbClr val="E07A2F"/>
                </a:solidFill>
                <a:latin typeface="Calibri" pitchFamily="34" charset="0"/>
                <a:ea typeface="Calibri" pitchFamily="34" charset="-122"/>
                <a:cs typeface="Calibri" pitchFamily="34" charset="-120"/>
              </a:rPr>
              <a:t>907 km at lag 6</a:t>
            </a:r>
            <a:endParaRPr lang="en-US" sz="950" dirty="0"/>
          </a:p>
        </p:txBody>
      </p:sp>
      <p:sp>
        <p:nvSpPr>
          <p:cNvPr id="94" name="Text 92"/>
          <p:cNvSpPr txBox="1"/>
          <p:nvPr/>
        </p:nvSpPr>
        <p:spPr>
          <a:xfrm>
            <a:off x="5010912" y="4590288"/>
            <a:ext cx="1664208" cy="1243584"/>
          </a:xfrm>
          <a:prstGeom prst="rect">
            <a:avLst/>
          </a:prstGeom>
          <a:noFill/>
          <a:ln/>
        </p:spPr>
        <p:txBody>
          <a:bodyPr wrap="square" lIns="0" tIns="0" rIns="0" bIns="0" rtlCol="0" anchor="t"/>
          <a:lstStyle/>
          <a:p>
            <a:pPr indent="0" marL="0">
              <a:buNone/>
            </a:pPr>
            <a:r>
              <a:rPr lang="en-US" sz="700" b="1" dirty="0">
                <a:solidFill>
                  <a:srgbClr val="A23B3B"/>
                </a:solidFill>
                <a:latin typeface="Calibri" pitchFamily="34" charset="0"/>
                <a:ea typeface="Calibri" pitchFamily="34" charset="-122"/>
                <a:cs typeface="Calibri" pitchFamily="34" charset="-120"/>
              </a:rPr>
              <a:t>Why the buffer is 1.5, and why it is spent on the WIDE side. </a:t>
            </a:r>
            <a:pPr indent="0" marL="0">
              <a:buNone/>
            </a:pPr>
            <a:r>
              <a:rPr lang="en-US" sz="700" dirty="0">
                <a:solidFill>
                  <a:srgbClr val="1B2430"/>
                </a:solidFill>
                <a:latin typeface="Calibri" pitchFamily="34" charset="0"/>
                <a:ea typeface="Calibri" pitchFamily="34" charset="-122"/>
                <a:cs typeface="Calibri" pitchFamily="34" charset="-120"/>
              </a:rPr>
              <a:t>The tensor is a 5-day mean on a 0.25° grid and under-reads peaks; the maxima above are literature and reanalysis values, not the true extreme; and a warming ocean may run faster. A cone that is too WIDE only costs tokens. A cone that is too NARROW asserts that the driver cannot have arrived, and the model has no way to discover that the assertion was wrong.</a:t>
            </a:r>
            <a:endParaRPr lang="en-US" sz="950" dirty="0"/>
          </a:p>
        </p:txBody>
      </p:sp>
      <p:sp>
        <p:nvSpPr>
          <p:cNvPr id="95" name="Shape 93"/>
          <p:cNvSpPr/>
          <p:nvPr/>
        </p:nvSpPr>
        <p:spPr>
          <a:xfrm>
            <a:off x="6812280" y="1280160"/>
            <a:ext cx="4800600" cy="1975104"/>
          </a:xfrm>
          <a:prstGeom prst="roundRect">
            <a:avLst>
              <a:gd name="adj" fmla="val 3704"/>
            </a:avLst>
          </a:prstGeom>
          <a:solidFill>
            <a:srgbClr val="FDF6F6"/>
          </a:solidFill>
          <a:ln w="15875">
            <a:solidFill>
              <a:srgbClr val="A23B3B"/>
            </a:solidFill>
            <a:prstDash val="solid"/>
          </a:ln>
        </p:spPr>
      </p:sp>
      <p:sp>
        <p:nvSpPr>
          <p:cNvPr id="96" name="Text 94"/>
          <p:cNvSpPr txBox="1"/>
          <p:nvPr/>
        </p:nvSpPr>
        <p:spPr>
          <a:xfrm>
            <a:off x="6931152" y="1335024"/>
            <a:ext cx="4562856" cy="201168"/>
          </a:xfrm>
          <a:prstGeom prst="rect">
            <a:avLst/>
          </a:prstGeom>
          <a:noFill/>
          <a:ln/>
        </p:spPr>
        <p:txBody>
          <a:bodyPr wrap="square" lIns="0" tIns="0" rIns="0" bIns="0" rtlCol="0" anchor="t"/>
          <a:lstStyle/>
          <a:p>
            <a:pPr indent="0" marL="0">
              <a:buNone/>
            </a:pPr>
            <a:r>
              <a:rPr lang="en-US" sz="950" b="1" dirty="0">
                <a:solidFill>
                  <a:srgbClr val="A23B3B"/>
                </a:solidFill>
                <a:latin typeface="Calibri" pitchFamily="34" charset="0"/>
                <a:ea typeface="Calibri" pitchFamily="34" charset="-122"/>
                <a:cs typeface="Calibri" pitchFamily="34" charset="-120"/>
              </a:rPr>
              <a:t>1 · Argo had no spatial reach at all — now it has 26 profile tokens</a:t>
            </a:r>
            <a:endParaRPr lang="en-US" sz="950" dirty="0"/>
          </a:p>
        </p:txBody>
      </p:sp>
      <p:sp>
        <p:nvSpPr>
          <p:cNvPr id="97" name="Text 95"/>
          <p:cNvSpPr txBox="1"/>
          <p:nvPr/>
        </p:nvSpPr>
        <p:spPr>
          <a:xfrm>
            <a:off x="6931152" y="1554480"/>
            <a:ext cx="4562856" cy="658368"/>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ml/cone.py::channel_family (:122) assigns rg_t* / rg_s* — the 32 Roemmich–Gilson temperature and salinity channels — to family B (0.3 m/s), but channel_dots (:261) OVERRIDES that and returns the ANCHOR COLUMN ONLY. Their effective reach is </a:t>
            </a:r>
            <a:pPr indent="0" marL="0">
              <a:buNone/>
            </a:pPr>
            <a:r>
              <a:rPr lang="en-US" sz="700" b="1" dirty="0">
                <a:solidFill>
                  <a:srgbClr val="A23B3B"/>
                </a:solidFill>
                <a:latin typeface="Calibri" pitchFamily="34" charset="0"/>
                <a:ea typeface="Calibri" pitchFamily="34" charset="-122"/>
                <a:cs typeface="Calibri" pitchFamily="34" charset="-120"/>
              </a:rPr>
              <a:t>0 km at every lag</a:t>
            </a:r>
            <a:pPr indent="0" marL="0">
              <a:buNone/>
            </a:pPr>
            <a:r>
              <a:rPr lang="en-US" sz="700" dirty="0">
                <a:solidFill>
                  <a:srgbClr val="1B2430"/>
                </a:solidFill>
                <a:latin typeface="Calibri" pitchFamily="34" charset="0"/>
                <a:ea typeface="Calibri" pitchFamily="34" charset="-122"/>
                <a:cs typeface="Calibri" pitchFamily="34" charset="-120"/>
              </a:rPr>
              <a:t>, so no propagation of a subsurface anomaly toward the anchor is visible at any speed — and those channels are still </a:t>
            </a:r>
            <a:pPr indent="0" marL="0">
              <a:buNone/>
            </a:pPr>
            <a:r>
              <a:rPr lang="en-US" sz="700" b="1" dirty="0">
                <a:solidFill>
                  <a:srgbClr val="A23B3B"/>
                </a:solidFill>
                <a:latin typeface="Calibri" pitchFamily="34" charset="0"/>
                <a:ea typeface="Calibri" pitchFamily="34" charset="-122"/>
                <a:cs typeface="Calibri" pitchFamily="34" charset="-120"/>
              </a:rPr>
              <a:t>192 of the 706 dots (27.2 %)</a:t>
            </a:r>
            <a:pPr indent="0" marL="0">
              <a:buNone/>
            </a:pPr>
            <a:r>
              <a:rPr lang="en-US" sz="700" dirty="0">
                <a:solidFill>
                  <a:srgbClr val="1B2430"/>
                </a:solidFill>
                <a:latin typeface="Calibri" pitchFamily="34" charset="0"/>
                <a:ea typeface="Calibri" pitchFamily="34" charset="-122"/>
                <a:cs typeface="Calibri" pitchFamily="34" charset="-120"/>
              </a:rPr>
              <a:t>, a quarter of the budget on one vertical column. The stated reason was token economy: Argo is live one pentad in six.</a:t>
            </a:r>
            <a:endParaRPr lang="en-US" sz="950" dirty="0"/>
          </a:p>
        </p:txBody>
      </p:sp>
      <p:sp>
        <p:nvSpPr>
          <p:cNvPr id="98" name="Text 96"/>
          <p:cNvSpPr txBox="1"/>
          <p:nvPr/>
        </p:nvSpPr>
        <p:spPr>
          <a:xfrm>
            <a:off x="6931152" y="2249424"/>
            <a:ext cx="4562856" cy="548640"/>
          </a:xfrm>
          <a:prstGeom prst="rect">
            <a:avLst/>
          </a:prstGeom>
          <a:noFill/>
          <a:ln/>
        </p:spPr>
        <p:txBody>
          <a:bodyPr wrap="square" lIns="0" tIns="0" rIns="0" bIns="0" rtlCol="0" anchor="t"/>
          <a:lstStyle/>
          <a:p>
            <a:pPr indent="0" marL="0">
              <a:buNone/>
            </a:pPr>
            <a:r>
              <a:rPr lang="en-US" sz="700" b="1" spc="40" kern="0" dirty="0">
                <a:solidFill>
                  <a:srgbClr val="1F7A4D"/>
                </a:solidFill>
                <a:latin typeface="Calibri" pitchFamily="34" charset="0"/>
                <a:ea typeface="Calibri" pitchFamily="34" charset="-122"/>
                <a:cs typeface="Calibri" pitchFamily="34" charset="-120"/>
              </a:rPr>
              <a:t>DECISION → E-071 §3  </a:t>
            </a:r>
            <a:pPr indent="0" marL="0">
              <a:buNone/>
            </a:pPr>
            <a:r>
              <a:rPr lang="en-US" sz="700" dirty="0">
                <a:solidFill>
                  <a:srgbClr val="1B2430"/>
                </a:solidFill>
                <a:latin typeface="Calibri" pitchFamily="34" charset="0"/>
                <a:ea typeface="Calibri" pitchFamily="34" charset="-122"/>
                <a:cs typeface="Calibri" pitchFamily="34" charset="-120"/>
              </a:rPr>
              <a:t>the two most recent LIVE pentads (lags 0…11, known from the calendar, not from the data), 13 locations each — the anchor plus a 12-dot sunflower at the v2 reach — and each location is ONE profile token carrying 16 T + 16 S values with the pressure ladder as an inner axis. That is 26 tokens instead of 192, every one of them observed. Later, with native floats: the k nearest live profiles inside the cone, no sunflower at all.</a:t>
            </a:r>
            <a:endParaRPr lang="en-US" sz="950" dirty="0"/>
          </a:p>
        </p:txBody>
      </p:sp>
      <p:sp>
        <p:nvSpPr>
          <p:cNvPr id="99" name="Shape 97"/>
          <p:cNvSpPr/>
          <p:nvPr/>
        </p:nvSpPr>
        <p:spPr>
          <a:xfrm>
            <a:off x="6931152" y="2834640"/>
            <a:ext cx="2066974" cy="137160"/>
          </a:xfrm>
          <a:prstGeom prst="rect">
            <a:avLst/>
          </a:prstGeom>
          <a:solidFill>
            <a:srgbClr val="2E86AB">
              <a:alpha val="85000"/>
            </a:srgbClr>
          </a:solidFill>
          <a:ln w="7620">
            <a:solidFill>
              <a:srgbClr val="FFFFFF"/>
            </a:solidFill>
            <a:prstDash val="solid"/>
          </a:ln>
        </p:spPr>
      </p:sp>
      <p:sp>
        <p:nvSpPr>
          <p:cNvPr id="100" name="Shape 98"/>
          <p:cNvSpPr/>
          <p:nvPr/>
        </p:nvSpPr>
        <p:spPr>
          <a:xfrm>
            <a:off x="8998126" y="2834640"/>
            <a:ext cx="1241097" cy="137160"/>
          </a:xfrm>
          <a:prstGeom prst="rect">
            <a:avLst/>
          </a:prstGeom>
          <a:solidFill>
            <a:srgbClr val="A23B3B">
              <a:alpha val="85000"/>
            </a:srgbClr>
          </a:solidFill>
          <a:ln w="7620">
            <a:solidFill>
              <a:srgbClr val="FFFFFF"/>
            </a:solidFill>
            <a:prstDash val="solid"/>
          </a:ln>
        </p:spPr>
      </p:sp>
      <p:sp>
        <p:nvSpPr>
          <p:cNvPr id="101" name="Shape 99"/>
          <p:cNvSpPr/>
          <p:nvPr/>
        </p:nvSpPr>
        <p:spPr>
          <a:xfrm>
            <a:off x="10239223" y="2834640"/>
            <a:ext cx="1044894" cy="137160"/>
          </a:xfrm>
          <a:prstGeom prst="rect">
            <a:avLst/>
          </a:prstGeom>
          <a:solidFill>
            <a:srgbClr val="E07A2F">
              <a:alpha val="85000"/>
            </a:srgbClr>
          </a:solidFill>
          <a:ln w="7620">
            <a:solidFill>
              <a:srgbClr val="FFFFFF"/>
            </a:solidFill>
            <a:prstDash val="solid"/>
          </a:ln>
        </p:spPr>
      </p:sp>
      <p:sp>
        <p:nvSpPr>
          <p:cNvPr id="102" name="Shape 100"/>
          <p:cNvSpPr/>
          <p:nvPr/>
        </p:nvSpPr>
        <p:spPr>
          <a:xfrm>
            <a:off x="11284117" y="2834640"/>
            <a:ext cx="205329" cy="137160"/>
          </a:xfrm>
          <a:prstGeom prst="rect">
            <a:avLst/>
          </a:prstGeom>
          <a:solidFill>
            <a:srgbClr val="6B7A8F">
              <a:alpha val="85000"/>
            </a:srgbClr>
          </a:solidFill>
          <a:ln w="7620">
            <a:solidFill>
              <a:srgbClr val="FFFFFF"/>
            </a:solidFill>
            <a:prstDash val="solid"/>
          </a:ln>
        </p:spPr>
      </p:sp>
      <p:sp>
        <p:nvSpPr>
          <p:cNvPr id="103" name="Text 101"/>
          <p:cNvSpPr txBox="1"/>
          <p:nvPr/>
        </p:nvSpPr>
        <p:spPr>
          <a:xfrm>
            <a:off x="6931152" y="2990088"/>
            <a:ext cx="4562856" cy="182880"/>
          </a:xfrm>
          <a:prstGeom prst="rect">
            <a:avLst/>
          </a:prstGeom>
          <a:noFill/>
          <a:ln/>
        </p:spPr>
        <p:txBody>
          <a:bodyPr wrap="square" lIns="0" tIns="0" rIns="0" bIns="0" rtlCol="0" anchor="t"/>
          <a:lstStyle/>
          <a:p>
            <a:pPr indent="0" marL="0">
              <a:buNone/>
            </a:pPr>
            <a:r>
              <a:rPr lang="en-US" sz="800" dirty="0">
                <a:solidFill>
                  <a:srgbClr val="2E86AB"/>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currents + SSH 320 (45.3 %)   </a:t>
            </a:r>
            <a:pPr indent="0" marL="0">
              <a:buNone/>
            </a:pPr>
            <a:r>
              <a:rPr lang="en-US" sz="800" dirty="0">
                <a:solidFill>
                  <a:srgbClr val="A23B3B"/>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Argo depth 192 (27.2 %)   </a:t>
            </a:r>
            <a:pPr indent="0" marL="0">
              <a:buNone/>
            </a:pPr>
            <a:r>
              <a:rPr lang="en-US" sz="800" dirty="0">
                <a:solidFill>
                  <a:srgbClr val="E07A2F"/>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SST + MLD 162 (22.9 %)   </a:t>
            </a:r>
            <a:pPr indent="0" marL="0">
              <a:buNone/>
            </a:pPr>
            <a:r>
              <a:rPr lang="en-US" sz="800" dirty="0">
                <a:solidFill>
                  <a:srgbClr val="6B7A8F"/>
                </a:solidFill>
                <a:latin typeface="Calibri" pitchFamily="34" charset="0"/>
                <a:ea typeface="Calibri" pitchFamily="34" charset="-122"/>
                <a:cs typeface="Calibri" pitchFamily="34" charset="-120"/>
              </a:rPr>
              <a:t>■ </a:t>
            </a:r>
            <a:pPr indent="0" marL="0">
              <a:buNone/>
            </a:pPr>
            <a:r>
              <a:rPr lang="en-US" sz="700" dirty="0">
                <a:solidFill>
                  <a:srgbClr val="1B2430"/>
                </a:solidFill>
                <a:latin typeface="Calibri" pitchFamily="34" charset="0"/>
                <a:ea typeface="Calibri" pitchFamily="34" charset="-122"/>
                <a:cs typeface="Calibri" pitchFamily="34" charset="-120"/>
              </a:rPr>
              <a:t>wind 32 (4.5 %)</a:t>
            </a:r>
            <a:endParaRPr lang="en-US" sz="950" dirty="0"/>
          </a:p>
        </p:txBody>
      </p:sp>
      <p:sp>
        <p:nvSpPr>
          <p:cNvPr id="104" name="Shape 102"/>
          <p:cNvSpPr/>
          <p:nvPr/>
        </p:nvSpPr>
        <p:spPr>
          <a:xfrm>
            <a:off x="6812280" y="3328416"/>
            <a:ext cx="4800600" cy="2505456"/>
          </a:xfrm>
          <a:prstGeom prst="roundRect">
            <a:avLst>
              <a:gd name="adj" fmla="val 2920"/>
            </a:avLst>
          </a:prstGeom>
          <a:solidFill>
            <a:srgbClr val="F5FBF7"/>
          </a:solidFill>
          <a:ln w="15875">
            <a:solidFill>
              <a:srgbClr val="1F7A4D"/>
            </a:solidFill>
            <a:prstDash val="solid"/>
          </a:ln>
        </p:spPr>
      </p:sp>
      <p:sp>
        <p:nvSpPr>
          <p:cNvPr id="105" name="Text 103"/>
          <p:cNvSpPr txBox="1"/>
          <p:nvPr/>
        </p:nvSpPr>
        <p:spPr>
          <a:xfrm>
            <a:off x="6931152" y="3383280"/>
            <a:ext cx="4562856" cy="201168"/>
          </a:xfrm>
          <a:prstGeom prst="rect">
            <a:avLst/>
          </a:prstGeom>
          <a:noFill/>
          <a:ln/>
        </p:spPr>
        <p:txBody>
          <a:bodyPr wrap="square" lIns="0" tIns="0" rIns="0" bIns="0" rtlCol="0" anchor="t"/>
          <a:lstStyle/>
          <a:p>
            <a:pPr indent="0" marL="0">
              <a:buNone/>
            </a:pPr>
            <a:r>
              <a:rPr lang="en-US" sz="950" b="1" dirty="0">
                <a:solidFill>
                  <a:srgbClr val="1F7A4D"/>
                </a:solidFill>
                <a:latin typeface="Calibri" pitchFamily="34" charset="0"/>
                <a:ea typeface="Calibri" pitchFamily="34" charset="-122"/>
                <a:cs typeface="Calibri" pitchFamily="34" charset="-120"/>
              </a:rPr>
              <a:t>2 · The design speeds — one per family, E-071 §4.2</a:t>
            </a:r>
            <a:endParaRPr lang="en-US" sz="9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931152" y="3602736"/>
          <a:ext cx="4562856" cy="914400"/>
        </p:xfrm>
        <a:graphic>
          <a:graphicData uri="http://schemas.openxmlformats.org/drawingml/2006/table">
            <a:tbl>
              <a:tblPr/>
              <a:tblGrid>
                <a:gridCol w="658368"/>
                <a:gridCol w="1700784"/>
                <a:gridCol w="502920"/>
                <a:gridCol w="786384"/>
                <a:gridCol w="914400"/>
              </a:tblGrid>
              <a:tr h="182880">
                <a:tc>
                  <a:txBody>
                    <a:bodyPr/>
                    <a:lstStyle/>
                    <a:p>
                      <a:pPr indent="0" marL="0">
                        <a:buNone/>
                      </a:pPr>
                      <a:r>
                        <a:rPr lang="en-US" sz="650" b="1" dirty="0">
                          <a:solidFill>
                            <a:srgbClr val="FFFFFF"/>
                          </a:solidFill>
                          <a:latin typeface="Calibri" pitchFamily="34" charset="0"/>
                          <a:ea typeface="Calibri" pitchFamily="34" charset="-122"/>
                          <a:cs typeface="Calibri" pitchFamily="34" charset="-120"/>
                        </a:rPr>
                        <a:t>family</a:t>
                      </a:r>
                      <a:endParaRPr lang="en-US" sz="6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650" b="1" dirty="0">
                          <a:solidFill>
                            <a:srgbClr val="FFFFFF"/>
                          </a:solidFill>
                          <a:latin typeface="Calibri" pitchFamily="34" charset="0"/>
                          <a:ea typeface="Calibri" pitchFamily="34" charset="-122"/>
                          <a:cs typeface="Calibri" pitchFamily="34" charset="-120"/>
                        </a:rPr>
                        <a:t>fastest mechanism that carries it</a:t>
                      </a:r>
                      <a:endParaRPr lang="en-US" sz="6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650" b="1" dirty="0">
                          <a:solidFill>
                            <a:srgbClr val="FFFFFF"/>
                          </a:solidFill>
                          <a:latin typeface="Calibri" pitchFamily="34" charset="0"/>
                          <a:ea typeface="Calibri" pitchFamily="34" charset="-122"/>
                          <a:cs typeface="Calibri" pitchFamily="34" charset="-120"/>
                        </a:rPr>
                        <a:t>max</a:t>
                      </a:r>
                      <a:endParaRPr lang="en-US" sz="6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650" b="1" dirty="0">
                          <a:solidFill>
                            <a:srgbClr val="FFFFFF"/>
                          </a:solidFill>
                          <a:latin typeface="Calibri" pitchFamily="34" charset="0"/>
                          <a:ea typeface="Calibri" pitchFamily="34" charset="-122"/>
                          <a:cs typeface="Calibri" pitchFamily="34" charset="-120"/>
                        </a:rPr>
                        <a:t>× 1.5 = v_design</a:t>
                      </a:r>
                      <a:endParaRPr lang="en-US" sz="6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650" b="1" dirty="0">
                          <a:solidFill>
                            <a:srgbClr val="FFFFFF"/>
                          </a:solidFill>
                          <a:latin typeface="Calibri" pitchFamily="34" charset="0"/>
                          <a:ea typeface="Calibri" pitchFamily="34" charset="-122"/>
                          <a:cs typeface="Calibri" pitchFamily="34" charset="-120"/>
                        </a:rPr>
                        <a:t>reach / pentad</a:t>
                      </a:r>
                      <a:endParaRPr lang="en-US" sz="6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74320">
                <a:tc>
                  <a:txBody>
                    <a:bodyPr/>
                    <a:lstStyle/>
                    <a:p>
                      <a:pPr indent="0" marL="0">
                        <a:buNone/>
                      </a:pPr>
                      <a:r>
                        <a:rPr lang="en-US" sz="650" b="1" dirty="0">
                          <a:solidFill>
                            <a:srgbClr val="2E86AB"/>
                          </a:solidFill>
                          <a:latin typeface="Calibri" pitchFamily="34" charset="0"/>
                          <a:ea typeface="Calibri" pitchFamily="34" charset="-122"/>
                          <a:cs typeface="Calibri" pitchFamily="34" charset="-120"/>
                        </a:rPr>
                        <a:t>B — ocean</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Somali Current (advection) ≥ first-baroclinic Kelvin (adjustment)</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3.6 m/s</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b="1" dirty="0">
                          <a:solidFill>
                            <a:srgbClr val="1F7A4D"/>
                          </a:solidFill>
                          <a:latin typeface="Calibri" pitchFamily="34" charset="0"/>
                          <a:ea typeface="Calibri" pitchFamily="34" charset="-122"/>
                          <a:cs typeface="Calibri" pitchFamily="34" charset="-120"/>
                        </a:rPr>
                        <a:t>5.4 m/s</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2,333 km</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9456">
                <a:tc>
                  <a:txBody>
                    <a:bodyPr/>
                    <a:lstStyle/>
                    <a:p>
                      <a:pPr indent="0" marL="0">
                        <a:buNone/>
                      </a:pPr>
                      <a:r>
                        <a:rPr lang="en-US" sz="650" b="1" dirty="0">
                          <a:solidFill>
                            <a:srgbClr val="E07A2F"/>
                          </a:solidFill>
                          <a:latin typeface="Calibri" pitchFamily="34" charset="0"/>
                          <a:ea typeface="Calibri" pitchFamily="34" charset="-122"/>
                          <a:cs typeface="Calibri" pitchFamily="34" charset="-120"/>
                        </a:rPr>
                        <a:t>C — surface</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atmosphere at lags 0–1, then the ocean</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 / 3.6</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b="1" dirty="0">
                          <a:solidFill>
                            <a:srgbClr val="1F7A4D"/>
                          </a:solidFill>
                          <a:latin typeface="Calibri" pitchFamily="34" charset="0"/>
                          <a:ea typeface="Calibri" pitchFamily="34" charset="-122"/>
                          <a:cs typeface="Calibri" pitchFamily="34" charset="-120"/>
                        </a:rPr>
                        <a:t>global / 5.4 m/s</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 / 2,333 km</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9456">
                <a:tc>
                  <a:txBody>
                    <a:bodyPr/>
                    <a:lstStyle/>
                    <a:p>
                      <a:pPr indent="0" marL="0">
                        <a:buNone/>
                      </a:pPr>
                      <a:r>
                        <a:rPr lang="en-US" sz="650" b="1" dirty="0">
                          <a:solidFill>
                            <a:srgbClr val="6B7A8F"/>
                          </a:solidFill>
                          <a:latin typeface="Calibri" pitchFamily="34" charset="0"/>
                          <a:ea typeface="Calibri" pitchFamily="34" charset="-122"/>
                          <a:cs typeface="Calibri" pitchFamily="34" charset="-120"/>
                        </a:rPr>
                        <a:t>A — wind</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the jet stream (storms translate at 10–20 m/s)</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~100 m/s</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b="1" dirty="0">
                          <a:solidFill>
                            <a:srgbClr val="1F7A4D"/>
                          </a:solidFill>
                          <a:latin typeface="Calibri" pitchFamily="34" charset="0"/>
                          <a:ea typeface="Calibri" pitchFamily="34" charset="-122"/>
                          <a:cs typeface="Calibri" pitchFamily="34" charset="-120"/>
                        </a:rPr>
                        <a:t>global</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650" dirty="0">
                          <a:solidFill>
                            <a:srgbClr val="1B2430"/>
                          </a:solidFill>
                          <a:latin typeface="Calibri" pitchFamily="34" charset="0"/>
                          <a:ea typeface="Calibri" pitchFamily="34" charset="-122"/>
                          <a:cs typeface="Calibri" pitchFamily="34" charset="-120"/>
                        </a:rPr>
                        <a:t>within one pentad</a:t>
                      </a:r>
                      <a:endParaRPr lang="en-US" sz="65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107" name="Text 104"/>
          <p:cNvSpPr txBox="1"/>
          <p:nvPr/>
        </p:nvSpPr>
        <p:spPr>
          <a:xfrm>
            <a:off x="6931152" y="4626864"/>
            <a:ext cx="4562856" cy="1152144"/>
          </a:xfrm>
          <a:prstGeom prst="rect">
            <a:avLst/>
          </a:prstGeom>
          <a:noFill/>
          <a:ln/>
        </p:spPr>
        <p:txBody>
          <a:bodyPr wrap="square" lIns="0" tIns="0" rIns="0" bIns="0" rtlCol="0" anchor="t"/>
          <a:lstStyle/>
          <a:p>
            <a:pPr indent="0" marL="0">
              <a:buNone/>
            </a:pPr>
            <a:r>
              <a:rPr lang="en-US" sz="700" b="1" dirty="0">
                <a:solidFill>
                  <a:srgbClr val="0B1F3A"/>
                </a:solidFill>
                <a:latin typeface="Calibri" pitchFamily="34" charset="0"/>
                <a:ea typeface="Calibri" pitchFamily="34" charset="-122"/>
                <a:cs typeface="Calibri" pitchFamily="34" charset="-120"/>
              </a:rPr>
              <a:t>(i) Dot placement becomes LOG-RADIAL, 36 dots per lag for the ocean families.  </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Uniform-area placement at 24 dots gives 4.8 dots per octave of distance over 907 km but only 2.5 over 16,330 km — the near field, where the eddies live, would be starved by a wider cone at the same budget.</a:t>
            </a:r>
            <a:endParaRPr lang="en-US" sz="950" dirty="0"/>
          </a:p>
          <a:p>
            <a:pPr indent="0" marL="0">
              <a:buNone/>
            </a:pPr>
            <a:r>
              <a:rPr lang="en-US" sz="700" b="1" dirty="0">
                <a:solidFill>
                  <a:srgbClr val="0B1F3A"/>
                </a:solidFill>
                <a:latin typeface="Calibri" pitchFamily="34" charset="0"/>
                <a:ea typeface="Calibri" pitchFamily="34" charset="-122"/>
                <a:cs typeface="Calibri" pitchFamily="34" charset="-120"/>
              </a:rPr>
              <a:t>(ii) Token budget 748 → 1,600 per anchor  </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(B 888 · C 444 · A 200 · Argo 26 · lag-0 patch 42): about 2.1× the encoder cost, and linear in a Perceiver (64 latents cross-attend to the tokens). The fallback that brings it back to ~500 is one token per (lag, location) carrying all channels as a value vector — kept OUT of v2 so that v2 measures the geometry and nothing else.</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E-069 keeps its geometry — its five seeds are done and its H1 verdict stands (slide 44). Cone v2 lands on family 7 — the first tensor covering the whole globe rather than the North Atlantic window.</a:t>
            </a:r>
            <a:endParaRPr lang="en-US" sz="950" dirty="0"/>
          </a:p>
        </p:txBody>
      </p:sp>
      <p:sp>
        <p:nvSpPr>
          <p:cNvPr id="108" name="Text 105"/>
          <p:cNvSpPr txBox="1"/>
          <p:nvPr/>
        </p:nvSpPr>
        <p:spPr>
          <a:xfrm>
            <a:off x="548640" y="5907024"/>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The cone was a one-speed model of a multi-speed ocean. Cone v2 sizes each family from the fastest thing that actually carries it — the Somali Current’s 3.6 m/s for the ocean, the jet stream for the wind — with the 1.5 buffer spent on the wide side, because a cone that is too narrow excludes true causes silently while one that is too wide only costs tokens. Nothing here is measured. And after E-069’s H1 (slide 44), the case for v2 is rolled skill and persistence context, not velocity: a codec that could not read a displacement at 130 km will not read one at 2,333 km.</a:t>
            </a:r>
            <a:endParaRPr lang="en-US" sz="850" dirty="0"/>
          </a:p>
        </p:txBody>
      </p:sp>
      <p:sp>
        <p:nvSpPr>
          <p:cNvPr id="109" name="Text 10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Land, ice and air — nothing is dark by design</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Chris, 4 Sep: “why not add some data on land, too? … sparse for now … land surface temperature, satellite imagery, radar reflection, air temperature across heights” and “some of our channels should be available for both the oceans and the land”. E-071 §6: a channel is a quantity and an instrument, never a sphere.</a:t>
            </a:r>
            <a:endParaRPr lang="en-US" sz="1250" dirty="0"/>
          </a:p>
        </p:txBody>
      </p:sp>
      <p:sp>
        <p:nvSpPr>
          <p:cNvPr id="4" name="Text 2"/>
          <p:cNvSpPr txBox="1"/>
          <p:nvPr/>
        </p:nvSpPr>
        <p:spPr>
          <a:xfrm>
            <a:off x="548640" y="1353312"/>
            <a:ext cx="6629400" cy="274320"/>
          </a:xfrm>
          <a:prstGeom prst="rect">
            <a:avLst/>
          </a:prstGeom>
          <a:noFill/>
          <a:ln/>
        </p:spPr>
        <p:txBody>
          <a:bodyPr wrap="square" lIns="0" tIns="0" rIns="0" bIns="0" rtlCol="0" anchor="t"/>
          <a:lstStyle/>
          <a:p>
            <a:pPr indent="0" marL="0">
              <a:buNone/>
            </a:pPr>
            <a:r>
              <a:rPr lang="en-US" sz="800" b="1" spc="40" kern="0" dirty="0">
                <a:solidFill>
                  <a:srgbClr val="0B1F3A"/>
                </a:solidFill>
                <a:latin typeface="Calibri" pitchFamily="34" charset="0"/>
                <a:ea typeface="Calibri" pitchFamily="34" charset="-122"/>
                <a:cs typeface="Calibri" pitchFamily="34" charset="-120"/>
              </a:rPr>
              <a:t>THE SHARED SET — one quantity, one instrument, two surfaces.  </a:t>
            </a:r>
            <a:pPr indent="0" marL="0">
              <a:buNone/>
            </a:pPr>
            <a:r>
              <a:rPr lang="en-US" sz="700" dirty="0">
                <a:solidFill>
                  <a:srgbClr val="1B2430"/>
                </a:solidFill>
                <a:latin typeface="Calibri" pitchFamily="34" charset="0"/>
                <a:ea typeface="Calibri" pitchFamily="34" charset="-122"/>
                <a:cs typeface="Calibri" pitchFamily="34" charset="-120"/>
              </a:rPr>
              <a:t>A per-cell SPHERE CODE (ocean · land · ice sheet · inland water) says which retrieval filled the cell, so one channel means sea-surface temperature at one anchor and land-surface temperature at the next.</a:t>
            </a:r>
            <a:endParaRPr lang="en-US" sz="9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629400" cy="914400"/>
        </p:xfrm>
        <a:graphic>
          <a:graphicData uri="http://schemas.openxmlformats.org/drawingml/2006/table">
            <a:tbl>
              <a:tblPr/>
              <a:tblGrid>
                <a:gridCol w="1097280"/>
                <a:gridCol w="1325880"/>
                <a:gridCol w="1444752"/>
                <a:gridCol w="2761488"/>
              </a:tblGrid>
              <a:tr h="164592">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quantity</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over ocean</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over land / ice</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source, at 0.25° pentads</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548640">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surface (skin) temperature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ERA5 skin T (shared); SST stays its own observed channel</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ERA5 skin T (shared); LST stays its own observed channel</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ERA5 skin temperature is the ONE shared channel (same model field everywhere); OSTIA/OISST SST (a foundation temperature, tiny diurnal range) and MODIS LST (clear-sky radiometric skin at overpass, 10–20 K diurnal swing) measure different things and stay separate — shared only when measurand AND instrument match (Chris, 4 Sep)</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near-surface air</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2 m T, 2 m dew point, 10 m wind</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the same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ERA5 — this row retires the FROZEN NCEP R1 wind source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air aloft — “across heights”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 wind, humidity at 850 / 500 / 250 hPa</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the same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ERA5 pressure levels; IGRA radiosondes (~800 stations, 00/12 UTC) as native dots later</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pressure, precipitation, radiation, fluxes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pressure, precip, net SW + LW, latent + sensible heat</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the same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ERA5; IMERG 0.1° as the observed precipitation channel, 2000→</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frozen fraction</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sea-ice concentration</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snow-cover fraction; ice sheet ≡ 1</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OSI SAF / NSIDC sea ice 25 km 1978→ · MOD10A1 snow 500 m daily 2000→ — ONE channel</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albedo</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 constant, plus the ice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vegetation, snow, soil, ice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MCD43A3 500 m daily 2000→ — one channel; the ocean value is the constant plus the ice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radar cross-section σ⁰</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wind and waves roughen it</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soil moisture and vegetation set it</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ASCAT 25 km twice daily 2007→ — the SAME instrument over both. The “radar reflection” channel, raw</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optical reflectance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ocean colour</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vegetation, snow, soil</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MODIS / VIIRS 500 m — red, near-IR, one short-wave IR, raw, 2000→. Chlorophyll and NDVI become TARGETS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L-band brightness temperature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sea-surface salinity</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soil moisture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SMAP 36 km 2015→ — one instrument; the raw T_B is the channel, both retrievals are targets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mass / water storage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ocean bottom pressure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terrestrial water storage; ice-sheet mass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GRACE / GRACE-FO mascons, monthly 2002→ (2017–18 gap) — already one global field</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surface height anomaly</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sea-level anomaly (DUACS 0.125°, 1993→)</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ice-sheet elevation change; lake and river height</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The same radar altimeters: DUACS over sea, CryoSat-2 (2010→) / ICESat-2 (2018→) over ice, Hydroweb over lakes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surface velocity</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currents (GLORYS u, v)</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ice velocity (ITS_LIVE); land ≡ 0</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One (u, v) pair. On land it is exactly zero — which is information: nothing advects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5603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the column below</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 S profiles (Argo, 0–2,000 m)</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D6E7F5"/>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soil layers (ERA5-Land, SMAP L4); firn on the ice sheets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E1EFD5"/>
                    </a:solidFill>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ONE profile-token type (E-071 §3) with a sphere-specific depth ladder</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6" name="Text 3"/>
          <p:cNvSpPr txBox="1"/>
          <p:nvPr/>
        </p:nvSpPr>
        <p:spPr>
          <a:xfrm>
            <a:off x="548640" y="5669280"/>
            <a:ext cx="6629400" cy="292608"/>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Sphere-specific channels stay sphere-specific, and are </a:t>
            </a:r>
            <a:pPr indent="0" marL="0">
              <a:buNone/>
            </a:pPr>
            <a:r>
              <a:rPr lang="en-US" sz="700" b="1" dirty="0">
                <a:solidFill>
                  <a:srgbClr val="4E8A3E"/>
                </a:solidFill>
                <a:latin typeface="Calibri" pitchFamily="34" charset="0"/>
                <a:ea typeface="Calibri" pitchFamily="34" charset="-122"/>
                <a:cs typeface="Calibri" pitchFamily="34" charset="-120"/>
              </a:rPr>
              <a:t>miss</a:t>
            </a:r>
            <a:pPr indent="0" marL="0">
              <a:buNone/>
            </a:pPr>
            <a:r>
              <a:rPr lang="en-US" sz="700" dirty="0">
                <a:solidFill>
                  <a:srgbClr val="1B2430"/>
                </a:solidFill>
                <a:latin typeface="Calibri" pitchFamily="34" charset="0"/>
                <a:ea typeface="Calibri" pitchFamily="34" charset="-122"/>
                <a:cs typeface="Calibri" pitchFamily="34" charset="-120"/>
              </a:rPr>
              <a:t> elsewhere with a clear conscience: mixed-layer depth and sea-surface height (ocean); ESA CCI soil moisture 0.25° daily 1978→ — it covers the whole axis — snow water equivalent, leaf area, GLEAM evapotranspiration (land); ice velocity and elevation change (ice).</a:t>
            </a:r>
            <a:endParaRPr lang="en-US" sz="950" dirty="0"/>
          </a:p>
        </p:txBody>
      </p:sp>
      <p:sp>
        <p:nvSpPr>
          <p:cNvPr id="7" name="Shape 4"/>
          <p:cNvSpPr/>
          <p:nvPr/>
        </p:nvSpPr>
        <p:spPr>
          <a:xfrm>
            <a:off x="7360920" y="1426464"/>
            <a:ext cx="4279392" cy="1389888"/>
          </a:xfrm>
          <a:prstGeom prst="roundRect">
            <a:avLst>
              <a:gd name="adj" fmla="val 5263"/>
            </a:avLst>
          </a:prstGeom>
          <a:solidFill>
            <a:srgbClr val="F7FAFC"/>
          </a:solidFill>
          <a:ln w="15875">
            <a:solidFill>
              <a:srgbClr val="2E86AB"/>
            </a:solidFill>
            <a:prstDash val="solid"/>
          </a:ln>
        </p:spPr>
      </p:sp>
      <p:sp>
        <p:nvSpPr>
          <p:cNvPr id="8" name="Text 5"/>
          <p:cNvSpPr txBox="1"/>
          <p:nvPr/>
        </p:nvSpPr>
        <p:spPr>
          <a:xfrm>
            <a:off x="7479792" y="1481328"/>
            <a:ext cx="4041648" cy="182880"/>
          </a:xfrm>
          <a:prstGeom prst="rect">
            <a:avLst/>
          </a:prstGeom>
          <a:noFill/>
          <a:ln/>
        </p:spPr>
        <p:txBody>
          <a:bodyPr wrap="square" lIns="0" tIns="0" rIns="0" bIns="0" rtlCol="0" anchor="t"/>
          <a:lstStyle/>
          <a:p>
            <a:pPr indent="0" marL="0">
              <a:buNone/>
            </a:pPr>
            <a:r>
              <a:rPr lang="en-US" sz="900" b="1" dirty="0">
                <a:solidFill>
                  <a:srgbClr val="2E86AB"/>
                </a:solidFill>
                <a:latin typeface="Calibri" pitchFamily="34" charset="0"/>
                <a:ea typeface="Calibri" pitchFamily="34" charset="-122"/>
                <a:cs typeface="Calibri" pitchFamily="34" charset="-120"/>
              </a:rPr>
              <a:t>1 · Antarctica was never unobserved — the GRID was</a:t>
            </a:r>
            <a:endParaRPr lang="en-US" sz="950" dirty="0"/>
          </a:p>
        </p:txBody>
      </p:sp>
      <p:sp>
        <p:nvSpPr>
          <p:cNvPr id="9" name="Text 6"/>
          <p:cNvSpPr txBox="1"/>
          <p:nvPr/>
        </p:nvSpPr>
        <p:spPr>
          <a:xfrm>
            <a:off x="7479792" y="1682496"/>
            <a:ext cx="4041648" cy="1078992"/>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E-070 chose −80…80° because that is GLORYS12’s extent — an ocean product stops where the ocean stops — and §1 of the plan wrongly let it read as </a:t>
            </a:r>
            <a:pPr indent="0" marL="0">
              <a:buNone/>
            </a:pPr>
            <a:r>
              <a:rPr lang="en-US" sz="700" b="1" dirty="0">
                <a:solidFill>
                  <a:srgbClr val="A23B3B"/>
                </a:solidFill>
                <a:latin typeface="Calibri" pitchFamily="34" charset="0"/>
                <a:ea typeface="Calibri" pitchFamily="34" charset="-122"/>
                <a:cs typeface="Calibri" pitchFamily="34" charset="-120"/>
              </a:rPr>
              <a:t>no data</a:t>
            </a:r>
            <a:pPr indent="0" marL="0">
              <a:buNone/>
            </a:pPr>
            <a:r>
              <a:rPr lang="en-US" sz="700" dirty="0">
                <a:solidFill>
                  <a:srgbClr val="1B2430"/>
                </a:solidFill>
                <a:latin typeface="Calibri" pitchFamily="34" charset="0"/>
                <a:ea typeface="Calibri" pitchFamily="34" charset="-122"/>
                <a:cs typeface="Calibri" pitchFamily="34" charset="-120"/>
              </a:rPr>
              <a:t>. Cone v2’s grid is </a:t>
            </a:r>
            <a:pPr indent="0" marL="0">
              <a:buNone/>
            </a:pPr>
            <a:r>
              <a:rPr lang="en-US" sz="700" b="1" dirty="0">
                <a:solidFill>
                  <a:srgbClr val="1F7A4D"/>
                </a:solidFill>
                <a:latin typeface="Calibri" pitchFamily="34" charset="0"/>
                <a:ea typeface="Calibri" pitchFamily="34" charset="-122"/>
                <a:cs typeface="Calibri" pitchFamily="34" charset="-120"/>
              </a:rPr>
              <a:t>−90 … 90°, 721 × 1,440</a:t>
            </a:r>
            <a:pPr indent="0" marL="0">
              <a:spcAft>
                <a:spcPts val="300"/>
              </a:spcAft>
              <a:buNone/>
            </a:pPr>
            <a:r>
              <a:rPr lang="en-US" sz="700" dirty="0">
                <a:solidFill>
                  <a:srgbClr val="1B2430"/>
                </a:solidFill>
                <a:latin typeface="Calibri" pitchFamily="34" charset="0"/>
                <a:ea typeface="Calibri" pitchFamily="34" charset="-122"/>
                <a:cs typeface="Calibri" pitchFamily="34" charset="-120"/>
              </a:rPr>
              <a:t>. The ice-sheet rows are filled by ERA5 (skin and 2 m temperature, winds, pressure, snowfall, radiation — the surface mass balance’s inputs), MODIS LST and albedo in the clear-sky months, GRACE mass, CryoSat-2 (2010→) and ICESat-2 (2018→) elevation change, ITS_LIVE velocity, and around the continent the sea-ice concentration and drift.</a:t>
            </a:r>
            <a:endParaRPr lang="en-US" sz="950" dirty="0"/>
          </a:p>
          <a:p>
            <a:pPr indent="0" marL="0">
              <a:buNone/>
            </a:pPr>
            <a:r>
              <a:rPr lang="en-US" sz="700" b="1" dirty="0">
                <a:solidFill>
                  <a:srgbClr val="2E86AB"/>
                </a:solidFill>
                <a:latin typeface="Calibri" pitchFamily="34" charset="0"/>
                <a:ea typeface="Calibri" pitchFamily="34" charset="-122"/>
                <a:cs typeface="Calibri" pitchFamily="34" charset="-120"/>
              </a:rPr>
              <a:t>Why it matters for the overturning: </a:t>
            </a:r>
            <a:pPr indent="0" marL="0">
              <a:buNone/>
            </a:pPr>
            <a:r>
              <a:rPr lang="en-US" sz="700" dirty="0">
                <a:solidFill>
                  <a:srgbClr val="1B2430"/>
                </a:solidFill>
                <a:latin typeface="Calibri" pitchFamily="34" charset="0"/>
                <a:ea typeface="Calibri" pitchFamily="34" charset="-122"/>
                <a:cs typeface="Calibri" pitchFamily="34" charset="-120"/>
              </a:rPr>
              <a:t>Antarctic meltwater and sea-ice formation set Antarctic Bottom Water, the lower limb of the global overturning — and the ice sheet’s freshwater flux is its largest uncertainty.</a:t>
            </a:r>
            <a:endParaRPr lang="en-US" sz="950" dirty="0"/>
          </a:p>
        </p:txBody>
      </p:sp>
      <p:sp>
        <p:nvSpPr>
          <p:cNvPr id="10" name="Shape 7"/>
          <p:cNvSpPr/>
          <p:nvPr/>
        </p:nvSpPr>
        <p:spPr>
          <a:xfrm>
            <a:off x="7360920" y="2862072"/>
            <a:ext cx="4279392" cy="1243584"/>
          </a:xfrm>
          <a:prstGeom prst="roundRect">
            <a:avLst>
              <a:gd name="adj" fmla="val 5882"/>
            </a:avLst>
          </a:prstGeom>
          <a:solidFill>
            <a:srgbClr val="F7FBF6"/>
          </a:solidFill>
          <a:ln w="15875">
            <a:solidFill>
              <a:srgbClr val="4E8A3E"/>
            </a:solidFill>
            <a:prstDash val="solid"/>
          </a:ln>
        </p:spPr>
      </p:sp>
      <p:sp>
        <p:nvSpPr>
          <p:cNvPr id="11" name="Text 8"/>
          <p:cNvSpPr txBox="1"/>
          <p:nvPr/>
        </p:nvSpPr>
        <p:spPr>
          <a:xfrm>
            <a:off x="7479792" y="2916936"/>
            <a:ext cx="4041648" cy="182880"/>
          </a:xfrm>
          <a:prstGeom prst="rect">
            <a:avLst/>
          </a:prstGeom>
          <a:noFill/>
          <a:ln/>
        </p:spPr>
        <p:txBody>
          <a:bodyPr wrap="square" lIns="0" tIns="0" rIns="0" bIns="0" rtlCol="0" anchor="t"/>
          <a:lstStyle/>
          <a:p>
            <a:pPr indent="0" marL="0">
              <a:buNone/>
            </a:pPr>
            <a:r>
              <a:rPr lang="en-US" sz="900" b="1" dirty="0">
                <a:solidFill>
                  <a:srgbClr val="4E8A3E"/>
                </a:solidFill>
                <a:latin typeface="Calibri" pitchFamily="34" charset="0"/>
                <a:ea typeface="Calibri" pitchFamily="34" charset="-122"/>
                <a:cs typeface="Calibri" pitchFamily="34" charset="-120"/>
              </a:rPr>
              <a:t>2 · Cone families for the new spheres (E-071 §6.3)</a:t>
            </a:r>
            <a:endParaRPr lang="en-US" sz="950" dirty="0"/>
          </a:p>
        </p:txBody>
      </p:sp>
      <p:sp>
        <p:nvSpPr>
          <p:cNvPr id="12" name="Text 9"/>
          <p:cNvSpPr txBox="1"/>
          <p:nvPr/>
        </p:nvSpPr>
        <p:spPr>
          <a:xfrm>
            <a:off x="7479792" y="3118104"/>
            <a:ext cx="4041648" cy="932688"/>
          </a:xfrm>
          <a:prstGeom prst="rect">
            <a:avLst/>
          </a:prstGeom>
          <a:noFill/>
          <a:ln/>
        </p:spPr>
        <p:txBody>
          <a:bodyPr wrap="square" lIns="0" tIns="0" rIns="0" bIns="0" rtlCol="0" anchor="t"/>
          <a:lstStyle/>
          <a:p>
            <a:pPr indent="0" marL="0">
              <a:buNone/>
            </a:pPr>
            <a:r>
              <a:rPr lang="en-US" sz="700" b="1" dirty="0">
                <a:solidFill>
                  <a:srgbClr val="E07A2F"/>
                </a:solidFill>
                <a:latin typeface="Calibri" pitchFamily="34" charset="0"/>
                <a:ea typeface="Calibri" pitchFamily="34" charset="-122"/>
                <a:cs typeface="Calibri" pitchFamily="34" charset="-120"/>
              </a:rPr>
              <a:t>atmosphere A′ </a:t>
            </a:r>
            <a:pPr indent="0" marL="0">
              <a:spcAft>
                <a:spcPts val="200"/>
              </a:spcAft>
              <a:buNone/>
            </a:pPr>
            <a:r>
              <a:rPr lang="en-US" sz="700" dirty="0">
                <a:solidFill>
                  <a:srgbClr val="1B2430"/>
                </a:solidFill>
                <a:latin typeface="Calibri" pitchFamily="34" charset="0"/>
                <a:ea typeface="Calibri" pitchFamily="34" charset="-122"/>
                <a:cs typeface="Calibri" pitchFamily="34" charset="-120"/>
              </a:rPr>
              <a:t>— global at once, lags 0–2, the 24-dot log-spaced ring to the antipode.</a:t>
            </a:r>
            <a:endParaRPr lang="en-US" sz="950" dirty="0"/>
          </a:p>
          <a:p>
            <a:pPr indent="0" marL="0">
              <a:buNone/>
            </a:pPr>
            <a:r>
              <a:rPr lang="en-US" sz="700" b="1" dirty="0">
                <a:solidFill>
                  <a:srgbClr val="4E8A3E"/>
                </a:solidFill>
                <a:latin typeface="Calibri" pitchFamily="34" charset="0"/>
                <a:ea typeface="Calibri" pitchFamily="34" charset="-122"/>
                <a:cs typeface="Calibri" pitchFamily="34" charset="-120"/>
              </a:rPr>
              <a:t>land surface state L </a:t>
            </a:r>
            <a:pPr indent="0" marL="0">
              <a:spcAft>
                <a:spcPts val="200"/>
              </a:spcAft>
              <a:buNone/>
            </a:pPr>
            <a:r>
              <a:rPr lang="en-US" sz="700" dirty="0">
                <a:solidFill>
                  <a:srgbClr val="1B2430"/>
                </a:solidFill>
                <a:latin typeface="Calibri" pitchFamily="34" charset="0"/>
                <a:ea typeface="Calibri" pitchFamily="34" charset="-122"/>
                <a:cs typeface="Calibri" pitchFamily="34" charset="-120"/>
              </a:rPr>
              <a:t>— v = 0: the land does not advect, so the reach is the correlation length alone (~300–500 km) and the memory is months. A column plus a 12-dot disc at every inner lag and into the outer window. The SAME channel over an OCEAN anchor follows family C at 5.4 m/s — the one place a family depends on the anchor’s sphere.</a:t>
            </a:r>
            <a:endParaRPr lang="en-US" sz="950" dirty="0"/>
          </a:p>
          <a:p>
            <a:pPr indent="0" marL="0">
              <a:buNone/>
            </a:pPr>
            <a:r>
              <a:rPr lang="en-US" sz="700" b="1" dirty="0">
                <a:solidFill>
                  <a:srgbClr val="2E86AB"/>
                </a:solidFill>
                <a:latin typeface="Calibri" pitchFamily="34" charset="0"/>
                <a:ea typeface="Calibri" pitchFamily="34" charset="-122"/>
                <a:cs typeface="Calibri" pitchFamily="34" charset="-120"/>
              </a:rPr>
              <a:t>ice sheet I </a:t>
            </a:r>
            <a:pPr indent="0" marL="0">
              <a:spcAft>
                <a:spcPts val="200"/>
              </a:spcAft>
              <a:buNone/>
            </a:pPr>
            <a:r>
              <a:rPr lang="en-US" sz="700" dirty="0">
                <a:solidFill>
                  <a:srgbClr val="1B2430"/>
                </a:solidFill>
                <a:latin typeface="Calibri" pitchFamily="34" charset="0"/>
                <a:ea typeface="Calibri" pitchFamily="34" charset="-122"/>
                <a:cs typeface="Calibri" pitchFamily="34" charset="-120"/>
              </a:rPr>
              <a:t>— column only, monthly cadence, the firn profile token.</a:t>
            </a:r>
            <a:endParaRPr lang="en-US" sz="950" dirty="0"/>
          </a:p>
          <a:p>
            <a:pPr indent="0" marL="0">
              <a:buNone/>
            </a:pPr>
            <a:r>
              <a:rPr lang="en-US" sz="700" i="1" dirty="0">
                <a:solidFill>
                  <a:srgbClr val="6B7A8F"/>
                </a:solidFill>
                <a:latin typeface="Calibri" pitchFamily="34" charset="0"/>
                <a:ea typeface="Calibri" pitchFamily="34" charset="-122"/>
                <a:cs typeface="Calibri" pitchFamily="34" charset="-120"/>
              </a:rPr>
              <a:t>The sphere code (ocean · land · ice · inland water, from the rung-12 static mask) is a coordinate the codec reads, exactly as depth is.</a:t>
            </a:r>
            <a:endParaRPr lang="en-US" sz="950" dirty="0"/>
          </a:p>
        </p:txBody>
      </p:sp>
      <p:sp>
        <p:nvSpPr>
          <p:cNvPr id="13" name="Shape 10"/>
          <p:cNvSpPr/>
          <p:nvPr/>
        </p:nvSpPr>
        <p:spPr>
          <a:xfrm>
            <a:off x="7360920" y="4151376"/>
            <a:ext cx="4279392" cy="1700784"/>
          </a:xfrm>
          <a:prstGeom prst="roundRect">
            <a:avLst>
              <a:gd name="adj" fmla="val 4301"/>
            </a:avLst>
          </a:prstGeom>
          <a:solidFill>
            <a:srgbClr val="F5FBF7"/>
          </a:solidFill>
          <a:ln w="15875">
            <a:solidFill>
              <a:srgbClr val="1F7A4D"/>
            </a:solidFill>
            <a:prstDash val="solid"/>
          </a:ln>
        </p:spPr>
      </p:sp>
      <p:sp>
        <p:nvSpPr>
          <p:cNvPr id="14" name="Text 11"/>
          <p:cNvSpPr txBox="1"/>
          <p:nvPr/>
        </p:nvSpPr>
        <p:spPr>
          <a:xfrm>
            <a:off x="7479792" y="4206240"/>
            <a:ext cx="4041648" cy="182880"/>
          </a:xfrm>
          <a:prstGeom prst="rect">
            <a:avLst/>
          </a:prstGeom>
          <a:noFill/>
          <a:ln/>
        </p:spPr>
        <p:txBody>
          <a:bodyPr wrap="square" lIns="0" tIns="0" rIns="0" bIns="0" rtlCol="0" anchor="t"/>
          <a:lstStyle/>
          <a:p>
            <a:pPr indent="0" marL="0">
              <a:buNone/>
            </a:pPr>
            <a:r>
              <a:rPr lang="en-US" sz="900" b="1" dirty="0">
                <a:solidFill>
                  <a:srgbClr val="1F7A4D"/>
                </a:solidFill>
                <a:latin typeface="Calibri" pitchFamily="34" charset="0"/>
                <a:ea typeface="Calibri" pitchFamily="34" charset="-122"/>
                <a:cs typeface="Calibri" pitchFamily="34" charset="-120"/>
              </a:rPr>
              <a:t>3 · Cost, and the token change this forces (§6.4–6.5)</a:t>
            </a:r>
            <a:endParaRPr lang="en-US" sz="950" dirty="0"/>
          </a:p>
        </p:txBody>
      </p:sp>
      <p:sp>
        <p:nvSpPr>
          <p:cNvPr id="15" name="Text 12"/>
          <p:cNvSpPr txBox="1"/>
          <p:nvPr/>
        </p:nvSpPr>
        <p:spPr>
          <a:xfrm>
            <a:off x="7479792" y="4407408"/>
            <a:ext cx="4041648" cy="1389888"/>
          </a:xfrm>
          <a:prstGeom prst="rect">
            <a:avLst/>
          </a:prstGeom>
          <a:noFill/>
          <a:ln/>
        </p:spPr>
        <p:txBody>
          <a:bodyPr wrap="square" lIns="0" tIns="0" rIns="0" bIns="0" rtlCol="0" anchor="t"/>
          <a:lstStyle/>
          <a:p>
            <a:pPr indent="0" marL="0">
              <a:spcAft>
                <a:spcPts val="200"/>
              </a:spcAft>
              <a:buNone/>
            </a:pPr>
            <a:r>
              <a:rPr lang="en-US" sz="700" dirty="0">
                <a:solidFill>
                  <a:srgbClr val="1B2430"/>
                </a:solidFill>
                <a:latin typeface="Calibri" pitchFamily="34" charset="0"/>
                <a:ea typeface="Calibri" pitchFamily="34" charset="-122"/>
                <a:cs typeface="Calibri" pitchFamily="34" charset="-120"/>
              </a:rPr>
              <a:t>One global channel at 0.25° × 5 d × 1982–2024 ≈ 6.5 GB float16; the shared set of ~20 channels ≈ 130 GB, plus ~5 land-only ≈ 33 GB, on top of the 62 GB ocean tensor. Two sources — ERA5 and MODIS — supply three quarters; ERA5 needs the free CDS account.</a:t>
            </a:r>
            <a:endParaRPr lang="en-US" sz="950" dirty="0"/>
          </a:p>
          <a:p>
            <a:pPr indent="0" marL="0">
              <a:buNone/>
            </a:pPr>
            <a:r>
              <a:rPr lang="en-US" sz="700" dirty="0">
                <a:solidFill>
                  <a:srgbClr val="1B2430"/>
                </a:solidFill>
                <a:latin typeface="Calibri" pitchFamily="34" charset="0"/>
                <a:ea typeface="Calibri" pitchFamily="34" charset="-122"/>
                <a:cs typeface="Calibri" pitchFamily="34" charset="-120"/>
              </a:rPr>
              <a:t>With ~65 channels, per-channel tokens would be ~14,000 per anchor. So v2 makes a TOKEN = one (lag, location) carrying the full value vector of EVERY channel there, with a per-channel observed mask inside and the sphere code as a coordinate — the §3 profile token generalised. </a:t>
            </a:r>
            <a:pPr indent="0" marL="0">
              <a:spcAft>
                <a:spcPts val="200"/>
              </a:spcAft>
              <a:buNone/>
            </a:pPr>
            <a:r>
              <a:rPr lang="en-US" sz="700" b="1" dirty="0">
                <a:solidFill>
                  <a:srgbClr val="1F7A4D"/>
                </a:solidFill>
                <a:latin typeface="Calibri" pitchFamily="34" charset="0"/>
                <a:ea typeface="Calibri" pitchFamily="34" charset="-122"/>
                <a:cs typeface="Calibri" pitchFamily="34" charset="-120"/>
              </a:rPr>
              <a:t>≈ 300 tokens per anchor whatever the channel count, below E-069’s 748.</a:t>
            </a:r>
            <a:endParaRPr lang="en-US" sz="950" dirty="0"/>
          </a:p>
          <a:p>
            <a:pPr indent="0" marL="0">
              <a:buNone/>
            </a:pPr>
            <a:r>
              <a:rPr lang="en-US" sz="700" b="1" dirty="0">
                <a:solidFill>
                  <a:srgbClr val="0B1F3A"/>
                </a:solidFill>
                <a:latin typeface="Calibri" pitchFamily="34" charset="0"/>
                <a:ea typeface="Calibri" pitchFamily="34" charset="-122"/>
                <a:cs typeface="Calibri" pitchFamily="34" charset="-120"/>
              </a:rPr>
              <a:t>PHASE L0 — “sparse for now”: </a:t>
            </a:r>
            <a:pPr indent="0" marL="0">
              <a:buNone/>
            </a:pPr>
            <a:r>
              <a:rPr lang="en-US" sz="700" dirty="0">
                <a:solidFill>
                  <a:srgbClr val="1B2430"/>
                </a:solidFill>
                <a:latin typeface="Calibri" pitchFamily="34" charset="0"/>
                <a:ea typeface="Calibri" pitchFamily="34" charset="-122"/>
                <a:cs typeface="Calibri" pitchFamily="34" charset="-120"/>
              </a:rPr>
              <a:t>six channels, two sources, all gap-free, all 1982→, all global to the poles, ~40 GB — ERA5 skin T, 2 m T, 10 m u/v (retiring the frozen NCEP R1), surface pressure, precipitation; plus the frozen fraction and ESA CCI soil moisture. MODIS / GRACE / SMAP / ASCAT (2000→) follow as L1, once the harmonic climatology has shown it handles a channel that starts eighteen years into the axis.</a:t>
            </a:r>
            <a:endParaRPr lang="en-US" sz="950" dirty="0"/>
          </a:p>
        </p:txBody>
      </p:sp>
      <p:sp>
        <p:nvSpPr>
          <p:cNvPr id="16" name="Text 13"/>
          <p:cNvSpPr txBox="1"/>
          <p:nvPr/>
        </p:nvSpPr>
        <p:spPr>
          <a:xfrm>
            <a:off x="548640" y="5961888"/>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Today a land cell is told “the world was not observed here” 42 times per pentad, which is false. Cone v2 defines channels by what is measured and by which instrument, and lets a sphere code say what surface lies under the cell — so most of the input ladder already crosses the coastline: the same radar, the same reflectance, the same altimeter, the same column token. Chris’s correction of 4 Sep sets the bar for “shared”: the measurand AND the instrument must match. ERA5 skin temperature is therefore the one shared temperature channel, and the observed SST and land-surface temperature stay separate.</a:t>
            </a:r>
            <a:endParaRPr lang="en-US" sz="850" dirty="0"/>
          </a:p>
        </p:txBody>
      </p:sp>
      <p:sp>
        <p:nvSpPr>
          <p:cNvPr id="17"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600" b="1" dirty="0">
                <a:solidFill>
                  <a:srgbClr val="0B1F3A"/>
                </a:solidFill>
                <a:latin typeface="Georgia" pitchFamily="34" charset="0"/>
                <a:ea typeface="Georgia" pitchFamily="34" charset="-122"/>
                <a:cs typeface="Georgia" pitchFamily="34" charset="-120"/>
              </a:rPr>
              <a:t>The Earth foundation model — the data decides the size</a:t>
            </a:r>
            <a:endParaRPr lang="en-US" sz="26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Chris, 4 Sep: a 1–10 B model, maybe MoE, a Chinchilla ladder, and a study of how to design the training data. E-072: at today’s data the size is small and measured; the ladder is a ladder of DATA.</a:t>
            </a:r>
            <a:endParaRPr lang="en-US" sz="1250" dirty="0"/>
          </a:p>
        </p:txBody>
      </p:sp>
      <p:sp>
        <p:nvSpPr>
          <p:cNvPr id="4" name="Text 2"/>
          <p:cNvSpPr txBox="1"/>
          <p:nvPr/>
        </p:nvSpPr>
        <p:spPr>
          <a:xfrm>
            <a:off x="548640" y="1371600"/>
            <a:ext cx="6583680" cy="292608"/>
          </a:xfrm>
          <a:prstGeom prst="rect">
            <a:avLst/>
          </a:prstGeom>
          <a:noFill/>
          <a:ln/>
        </p:spPr>
        <p:txBody>
          <a:bodyPr wrap="square" lIns="0" tIns="0" rIns="0" bIns="0" rtlCol="0" anchor="t"/>
          <a:lstStyle/>
          <a:p>
            <a:pPr indent="0" marL="0">
              <a:buNone/>
            </a:pPr>
            <a:r>
              <a:rPr lang="en-US" sz="700" b="1" spc="30" kern="0" dirty="0">
                <a:solidFill>
                  <a:srgbClr val="0B1F3A"/>
                </a:solidFill>
                <a:latin typeface="Calibri" pitchFamily="34" charset="0"/>
                <a:ea typeface="Calibri" pitchFamily="34" charset="-122"/>
                <a:cs typeface="Calibri" pitchFamily="34" charset="-120"/>
              </a:rPr>
              <a:t>ASSUMPTIONS (E-072 §2.2). </a:t>
            </a:r>
            <a:pPr indent="0" marL="0">
              <a:buNone/>
            </a:pPr>
            <a:r>
              <a:rPr lang="en-US" sz="700" dirty="0">
                <a:solidFill>
                  <a:srgbClr val="1B2430"/>
                </a:solidFill>
                <a:latin typeface="Calibri" pitchFamily="34" charset="0"/>
                <a:ea typeface="Calibri" pitchFamily="34" charset="-122"/>
                <a:cs typeface="Calibri" pitchFamily="34" charset="-120"/>
              </a:rPr>
              <a:t>0.25° pentads 1982-01 → 2024-12 (3,142 bins); the global grid 721 × 1,440; ~686 k ocean and ~352 k land + ice cells; channel sets as in E-071 §6; a token carries 65 channels. “Ceiling” is values ÷ 20, the programme’s stated Chinchilla anchor — and it IS a ceiling, because 0.25° cells are correlated over hundreds of kilometres.</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6583680" cy="914400"/>
        </p:xfrm>
        <a:graphic>
          <a:graphicData uri="http://schemas.openxmlformats.org/drawingml/2006/table">
            <a:tbl>
              <a:tblPr/>
              <a:tblGrid>
                <a:gridCol w="1920240"/>
                <a:gridCol w="786384"/>
                <a:gridCol w="713232"/>
                <a:gridCol w="877824"/>
                <a:gridCol w="2286000"/>
              </a:tblGrid>
              <a:tr h="164592">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rung of data</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observed values</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tokens (÷ 65)</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ceiling, values / 20</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what it takes</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74320">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North Atlantic ocean pentads, r3 — today</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2.5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0.04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0.12 B params</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exists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74320">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global ocean pentads, family 7</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20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0.31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1.0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E-070 Phases B–F (the pull is done; the tensor is not built)</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47472">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 the shared 20 and land-only 5 channels of E-071 §6</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91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1.4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4.5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ERA5 (needs the CDS account), MODIS, ASCAT, SMAP, GRACE, OSI SAF, CCI soil moisture: ~170 GB</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10896">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daily cadence, all spheres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455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7.0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23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the daily global tensor is 1.3 TB (E-070 §8); the streaming loader E-033 Phase 3 deferred</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74320">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1 km daily, all spheres (rung 3 radiometers)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350,000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B2430"/>
                          </a:solidFill>
                          <a:latin typeface="Calibri" pitchFamily="34" charset="0"/>
                          <a:ea typeface="Calibri" pitchFamily="34" charset="-122"/>
                          <a:cs typeface="Calibri" pitchFamily="34" charset="-120"/>
                        </a:rPr>
                        <a:t>5,400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50" b="1" dirty="0">
                          <a:solidFill>
                            <a:srgbClr val="1F7A4D"/>
                          </a:solidFill>
                          <a:latin typeface="Calibri" pitchFamily="34" charset="0"/>
                          <a:ea typeface="Calibri" pitchFamily="34" charset="-122"/>
                          <a:cs typeface="Calibri" pitchFamily="34" charset="-120"/>
                        </a:rPr>
                        <a:t>17,000 B</a:t>
                      </a:r>
                      <a:endParaRPr lang="en-US" sz="75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not a tensor: a patch-encoder feed (§2.1); compute-bound for the first time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6" name="Text 3"/>
          <p:cNvSpPr txBox="1"/>
          <p:nvPr/>
        </p:nvSpPr>
        <p:spPr>
          <a:xfrm>
            <a:off x="548640" y="3383280"/>
            <a:ext cx="6583680" cy="182880"/>
          </a:xfrm>
          <a:prstGeom prst="rect">
            <a:avLst/>
          </a:prstGeom>
          <a:noFill/>
          <a:ln/>
        </p:spPr>
        <p:txBody>
          <a:bodyPr wrap="square" lIns="0" tIns="0" rIns="0" bIns="0" rtlCol="0" anchor="t"/>
          <a:lstStyle/>
          <a:p>
            <a:pPr indent="0" marL="0">
              <a:buNone/>
            </a:pPr>
            <a:r>
              <a:rPr lang="en-US" sz="750" b="1" dirty="0">
                <a:solidFill>
                  <a:srgbClr val="0B1F3A"/>
                </a:solidFill>
                <a:latin typeface="Calibri" pitchFamily="34" charset="0"/>
                <a:ea typeface="Calibri" pitchFamily="34" charset="-122"/>
                <a:cs typeface="Calibri" pitchFamily="34" charset="-120"/>
              </a:rPr>
              <a:t>The same ladder on a log axis — observed values, in billions. </a:t>
            </a:r>
            <a:pPr indent="0" marL="0">
              <a:buNone/>
            </a:pPr>
            <a:r>
              <a:rPr lang="en-US" sz="700" dirty="0">
                <a:solidFill>
                  <a:srgbClr val="1B2430"/>
                </a:solidFill>
                <a:latin typeface="Calibri" pitchFamily="34" charset="0"/>
                <a:ea typeface="Calibri" pitchFamily="34" charset="-122"/>
                <a:cs typeface="Calibri" pitchFamily="34" charset="-120"/>
              </a:rPr>
              <a:t>A ceiling of N parameters needs 20·N values, so the 1 B and 10 B targets are the two guides: 20 B and 200 B.</a:t>
            </a:r>
            <a:endParaRPr lang="en-US" sz="950" dirty="0"/>
          </a:p>
        </p:txBody>
      </p:sp>
      <p:sp>
        <p:nvSpPr>
          <p:cNvPr id="7" name="Shape 4"/>
          <p:cNvSpPr/>
          <p:nvPr/>
        </p:nvSpPr>
        <p:spPr>
          <a:xfrm>
            <a:off x="2212848" y="3749040"/>
            <a:ext cx="0" cy="1700784"/>
          </a:xfrm>
          <a:prstGeom prst="line">
            <a:avLst/>
          </a:prstGeom>
          <a:noFill/>
          <a:ln w="6350">
            <a:solidFill>
              <a:srgbClr val="B8C4D3"/>
            </a:solidFill>
            <a:prstDash val="sysDot"/>
          </a:ln>
        </p:spPr>
      </p:sp>
      <p:sp>
        <p:nvSpPr>
          <p:cNvPr id="8" name="Text 5"/>
          <p:cNvSpPr txBox="1"/>
          <p:nvPr/>
        </p:nvSpPr>
        <p:spPr>
          <a:xfrm>
            <a:off x="189280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a:t>
            </a:r>
            <a:endParaRPr lang="en-US" sz="650" dirty="0"/>
          </a:p>
        </p:txBody>
      </p:sp>
      <p:sp>
        <p:nvSpPr>
          <p:cNvPr id="9" name="Shape 6"/>
          <p:cNvSpPr/>
          <p:nvPr/>
        </p:nvSpPr>
        <p:spPr>
          <a:xfrm>
            <a:off x="3005328" y="3749040"/>
            <a:ext cx="0" cy="1700784"/>
          </a:xfrm>
          <a:prstGeom prst="line">
            <a:avLst/>
          </a:prstGeom>
          <a:noFill/>
          <a:ln w="6350">
            <a:solidFill>
              <a:srgbClr val="B8C4D3"/>
            </a:solidFill>
            <a:prstDash val="sysDot"/>
          </a:ln>
        </p:spPr>
      </p:sp>
      <p:sp>
        <p:nvSpPr>
          <p:cNvPr id="10" name="Text 7"/>
          <p:cNvSpPr txBox="1"/>
          <p:nvPr/>
        </p:nvSpPr>
        <p:spPr>
          <a:xfrm>
            <a:off x="268528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10</a:t>
            </a:r>
            <a:endParaRPr lang="en-US" sz="650" dirty="0"/>
          </a:p>
        </p:txBody>
      </p:sp>
      <p:sp>
        <p:nvSpPr>
          <p:cNvPr id="11" name="Shape 8"/>
          <p:cNvSpPr/>
          <p:nvPr/>
        </p:nvSpPr>
        <p:spPr>
          <a:xfrm>
            <a:off x="3797808" y="3749040"/>
            <a:ext cx="0" cy="1700784"/>
          </a:xfrm>
          <a:prstGeom prst="line">
            <a:avLst/>
          </a:prstGeom>
          <a:noFill/>
          <a:ln w="6350">
            <a:solidFill>
              <a:srgbClr val="B8C4D3"/>
            </a:solidFill>
            <a:prstDash val="sysDot"/>
          </a:ln>
        </p:spPr>
      </p:sp>
      <p:sp>
        <p:nvSpPr>
          <p:cNvPr id="12" name="Text 9"/>
          <p:cNvSpPr txBox="1"/>
          <p:nvPr/>
        </p:nvSpPr>
        <p:spPr>
          <a:xfrm>
            <a:off x="347776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100</a:t>
            </a:r>
            <a:endParaRPr lang="en-US" sz="650" dirty="0"/>
          </a:p>
        </p:txBody>
      </p:sp>
      <p:sp>
        <p:nvSpPr>
          <p:cNvPr id="13" name="Shape 10"/>
          <p:cNvSpPr/>
          <p:nvPr/>
        </p:nvSpPr>
        <p:spPr>
          <a:xfrm>
            <a:off x="4590288" y="3749040"/>
            <a:ext cx="0" cy="1700784"/>
          </a:xfrm>
          <a:prstGeom prst="line">
            <a:avLst/>
          </a:prstGeom>
          <a:noFill/>
          <a:ln w="6350">
            <a:solidFill>
              <a:srgbClr val="B8C4D3"/>
            </a:solidFill>
            <a:prstDash val="sysDot"/>
          </a:ln>
        </p:spPr>
      </p:sp>
      <p:sp>
        <p:nvSpPr>
          <p:cNvPr id="14" name="Text 11"/>
          <p:cNvSpPr txBox="1"/>
          <p:nvPr/>
        </p:nvSpPr>
        <p:spPr>
          <a:xfrm>
            <a:off x="427024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1,000</a:t>
            </a:r>
            <a:endParaRPr lang="en-US" sz="650" dirty="0"/>
          </a:p>
        </p:txBody>
      </p:sp>
      <p:sp>
        <p:nvSpPr>
          <p:cNvPr id="15" name="Shape 12"/>
          <p:cNvSpPr/>
          <p:nvPr/>
        </p:nvSpPr>
        <p:spPr>
          <a:xfrm>
            <a:off x="5382768" y="3749040"/>
            <a:ext cx="0" cy="1700784"/>
          </a:xfrm>
          <a:prstGeom prst="line">
            <a:avLst/>
          </a:prstGeom>
          <a:noFill/>
          <a:ln w="6350">
            <a:solidFill>
              <a:srgbClr val="B8C4D3"/>
            </a:solidFill>
            <a:prstDash val="sysDot"/>
          </a:ln>
        </p:spPr>
      </p:sp>
      <p:sp>
        <p:nvSpPr>
          <p:cNvPr id="16" name="Text 13"/>
          <p:cNvSpPr txBox="1"/>
          <p:nvPr/>
        </p:nvSpPr>
        <p:spPr>
          <a:xfrm>
            <a:off x="506272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10,000</a:t>
            </a:r>
            <a:endParaRPr lang="en-US" sz="650" dirty="0"/>
          </a:p>
        </p:txBody>
      </p:sp>
      <p:sp>
        <p:nvSpPr>
          <p:cNvPr id="17" name="Shape 14"/>
          <p:cNvSpPr/>
          <p:nvPr/>
        </p:nvSpPr>
        <p:spPr>
          <a:xfrm>
            <a:off x="6175248" y="3749040"/>
            <a:ext cx="0" cy="1700784"/>
          </a:xfrm>
          <a:prstGeom prst="line">
            <a:avLst/>
          </a:prstGeom>
          <a:noFill/>
          <a:ln w="6350">
            <a:solidFill>
              <a:srgbClr val="B8C4D3"/>
            </a:solidFill>
            <a:prstDash val="sysDot"/>
          </a:ln>
        </p:spPr>
      </p:sp>
      <p:sp>
        <p:nvSpPr>
          <p:cNvPr id="18" name="Text 15"/>
          <p:cNvSpPr txBox="1"/>
          <p:nvPr/>
        </p:nvSpPr>
        <p:spPr>
          <a:xfrm>
            <a:off x="585520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100,000</a:t>
            </a:r>
            <a:endParaRPr lang="en-US" sz="650" dirty="0"/>
          </a:p>
        </p:txBody>
      </p:sp>
      <p:sp>
        <p:nvSpPr>
          <p:cNvPr id="19" name="Shape 16"/>
          <p:cNvSpPr/>
          <p:nvPr/>
        </p:nvSpPr>
        <p:spPr>
          <a:xfrm>
            <a:off x="6967728" y="3749040"/>
            <a:ext cx="0" cy="1700784"/>
          </a:xfrm>
          <a:prstGeom prst="line">
            <a:avLst/>
          </a:prstGeom>
          <a:noFill/>
          <a:ln w="6350">
            <a:solidFill>
              <a:srgbClr val="B8C4D3"/>
            </a:solidFill>
            <a:prstDash val="sysDot"/>
          </a:ln>
        </p:spPr>
      </p:sp>
      <p:sp>
        <p:nvSpPr>
          <p:cNvPr id="20" name="Text 17"/>
          <p:cNvSpPr txBox="1"/>
          <p:nvPr/>
        </p:nvSpPr>
        <p:spPr>
          <a:xfrm>
            <a:off x="6647688" y="5486400"/>
            <a:ext cx="640080" cy="182880"/>
          </a:xfrm>
          <a:prstGeom prst="rect">
            <a:avLst/>
          </a:prstGeom>
          <a:noFill/>
          <a:ln/>
        </p:spPr>
        <p:txBody>
          <a:bodyPr wrap="square" lIns="0" tIns="0" rIns="0" bIns="0" rtlCol="0" anchor="ctr"/>
          <a:lstStyle/>
          <a:p>
            <a:pPr algn="ctr" indent="0" marL="0">
              <a:buNone/>
            </a:pPr>
            <a:r>
              <a:rPr lang="en-US" sz="650" dirty="0">
                <a:solidFill>
                  <a:srgbClr val="6B7A8F"/>
                </a:solidFill>
                <a:latin typeface="Calibri" pitchFamily="34" charset="0"/>
                <a:ea typeface="Calibri" pitchFamily="34" charset="-122"/>
                <a:cs typeface="Calibri" pitchFamily="34" charset="-120"/>
              </a:rPr>
              <a:t>1,000,000</a:t>
            </a:r>
            <a:endParaRPr lang="en-US" sz="650" dirty="0"/>
          </a:p>
        </p:txBody>
      </p:sp>
      <p:sp>
        <p:nvSpPr>
          <p:cNvPr id="21" name="Text 18"/>
          <p:cNvSpPr txBox="1"/>
          <p:nvPr/>
        </p:nvSpPr>
        <p:spPr>
          <a:xfrm>
            <a:off x="2212848" y="5669280"/>
            <a:ext cx="4754880" cy="182880"/>
          </a:xfrm>
          <a:prstGeom prst="rect">
            <a:avLst/>
          </a:prstGeom>
          <a:noFill/>
          <a:ln/>
        </p:spPr>
        <p:txBody>
          <a:bodyPr wrap="square" lIns="0" tIns="0" rIns="0" bIns="0" rtlCol="0" anchor="ctr"/>
          <a:lstStyle/>
          <a:p>
            <a:pPr algn="ctr" indent="0" marL="0">
              <a:buNone/>
            </a:pPr>
            <a:r>
              <a:rPr lang="en-US" sz="650" i="1" dirty="0">
                <a:solidFill>
                  <a:srgbClr val="6B7A8F"/>
                </a:solidFill>
                <a:latin typeface="Calibri" pitchFamily="34" charset="0"/>
                <a:ea typeface="Calibri" pitchFamily="34" charset="-122"/>
                <a:cs typeface="Calibri" pitchFamily="34" charset="-120"/>
              </a:rPr>
              <a:t>observed values (billions, log scale)</a:t>
            </a:r>
            <a:endParaRPr lang="en-US" sz="650" dirty="0"/>
          </a:p>
        </p:txBody>
      </p:sp>
      <p:sp>
        <p:nvSpPr>
          <p:cNvPr id="22" name="Shape 19"/>
          <p:cNvSpPr/>
          <p:nvPr/>
        </p:nvSpPr>
        <p:spPr>
          <a:xfrm>
            <a:off x="3243888" y="3621024"/>
            <a:ext cx="0" cy="1810512"/>
          </a:xfrm>
          <a:prstGeom prst="line">
            <a:avLst/>
          </a:prstGeom>
          <a:noFill/>
          <a:ln w="13970">
            <a:solidFill>
              <a:srgbClr val="A23B3B"/>
            </a:solidFill>
            <a:prstDash val="solid"/>
          </a:ln>
        </p:spPr>
      </p:sp>
      <p:sp>
        <p:nvSpPr>
          <p:cNvPr id="23" name="Text 20"/>
          <p:cNvSpPr txBox="1"/>
          <p:nvPr/>
        </p:nvSpPr>
        <p:spPr>
          <a:xfrm>
            <a:off x="2439216" y="3474720"/>
            <a:ext cx="768096" cy="146304"/>
          </a:xfrm>
          <a:prstGeom prst="rect">
            <a:avLst/>
          </a:prstGeom>
          <a:noFill/>
          <a:ln/>
        </p:spPr>
        <p:txBody>
          <a:bodyPr wrap="square" lIns="0" tIns="0" rIns="0" bIns="0" rtlCol="0" anchor="ctr"/>
          <a:lstStyle/>
          <a:p>
            <a:pPr algn="r" indent="0" marL="0">
              <a:buNone/>
            </a:pPr>
            <a:r>
              <a:rPr lang="en-US" sz="650" b="1" dirty="0">
                <a:solidFill>
                  <a:srgbClr val="A23B3B"/>
                </a:solidFill>
                <a:latin typeface="Calibri" pitchFamily="34" charset="0"/>
                <a:ea typeface="Calibri" pitchFamily="34" charset="-122"/>
                <a:cs typeface="Calibri" pitchFamily="34" charset="-120"/>
              </a:rPr>
              <a:t>1 B params →</a:t>
            </a:r>
            <a:endParaRPr lang="en-US" sz="650" dirty="0"/>
          </a:p>
        </p:txBody>
      </p:sp>
      <p:sp>
        <p:nvSpPr>
          <p:cNvPr id="24" name="Shape 21"/>
          <p:cNvSpPr/>
          <p:nvPr/>
        </p:nvSpPr>
        <p:spPr>
          <a:xfrm>
            <a:off x="4036368" y="3621024"/>
            <a:ext cx="0" cy="1810512"/>
          </a:xfrm>
          <a:prstGeom prst="line">
            <a:avLst/>
          </a:prstGeom>
          <a:noFill/>
          <a:ln w="13970">
            <a:solidFill>
              <a:srgbClr val="A23B3B"/>
            </a:solidFill>
            <a:prstDash val="solid"/>
          </a:ln>
        </p:spPr>
      </p:sp>
      <p:sp>
        <p:nvSpPr>
          <p:cNvPr id="25" name="Text 22"/>
          <p:cNvSpPr txBox="1"/>
          <p:nvPr/>
        </p:nvSpPr>
        <p:spPr>
          <a:xfrm>
            <a:off x="4072944" y="3474720"/>
            <a:ext cx="768096" cy="146304"/>
          </a:xfrm>
          <a:prstGeom prst="rect">
            <a:avLst/>
          </a:prstGeom>
          <a:noFill/>
          <a:ln/>
        </p:spPr>
        <p:txBody>
          <a:bodyPr wrap="square" lIns="0" tIns="0" rIns="0" bIns="0" rtlCol="0" anchor="ctr"/>
          <a:lstStyle/>
          <a:p>
            <a:pPr algn="l" indent="0" marL="0">
              <a:buNone/>
            </a:pPr>
            <a:r>
              <a:rPr lang="en-US" sz="650" b="1" dirty="0">
                <a:solidFill>
                  <a:srgbClr val="A23B3B"/>
                </a:solidFill>
                <a:latin typeface="Calibri" pitchFamily="34" charset="0"/>
                <a:ea typeface="Calibri" pitchFamily="34" charset="-122"/>
                <a:cs typeface="Calibri" pitchFamily="34" charset="-120"/>
              </a:rPr>
              <a:t>← 10 B params</a:t>
            </a:r>
            <a:endParaRPr lang="en-US" sz="650" dirty="0"/>
          </a:p>
        </p:txBody>
      </p:sp>
      <p:sp>
        <p:nvSpPr>
          <p:cNvPr id="26" name="Text 23"/>
          <p:cNvSpPr txBox="1"/>
          <p:nvPr/>
        </p:nvSpPr>
        <p:spPr>
          <a:xfrm>
            <a:off x="548640" y="3767328"/>
            <a:ext cx="1591056" cy="214884"/>
          </a:xfrm>
          <a:prstGeom prst="rect">
            <a:avLst/>
          </a:prstGeom>
          <a:noFill/>
          <a:ln/>
        </p:spPr>
        <p:txBody>
          <a:bodyPr wrap="square" lIns="0" tIns="0" rIns="0" bIns="0" rtlCol="0" anchor="ctr"/>
          <a:lstStyle/>
          <a:p>
            <a:pPr algn="r" indent="0" marL="0">
              <a:buNone/>
            </a:pPr>
            <a:r>
              <a:rPr lang="en-US" sz="700" b="1" dirty="0">
                <a:solidFill>
                  <a:srgbClr val="1B2430"/>
                </a:solidFill>
                <a:latin typeface="Calibri" pitchFamily="34" charset="0"/>
                <a:ea typeface="Calibri" pitchFamily="34" charset="-122"/>
                <a:cs typeface="Calibri" pitchFamily="34" charset="-120"/>
              </a:rPr>
              <a:t>today · NA ocean</a:t>
            </a:r>
            <a:endParaRPr lang="en-US" sz="700" dirty="0"/>
          </a:p>
        </p:txBody>
      </p:sp>
      <p:sp>
        <p:nvSpPr>
          <p:cNvPr id="27" name="Shape 24"/>
          <p:cNvSpPr/>
          <p:nvPr/>
        </p:nvSpPr>
        <p:spPr>
          <a:xfrm>
            <a:off x="2212848" y="3767328"/>
            <a:ext cx="315359" cy="214884"/>
          </a:xfrm>
          <a:prstGeom prst="rect">
            <a:avLst/>
          </a:prstGeom>
          <a:solidFill>
            <a:srgbClr val="2E86AB">
              <a:alpha val="78000"/>
            </a:srgbClr>
          </a:solidFill>
          <a:ln w="12700">
            <a:solidFill>
              <a:srgbClr val="333333"/>
            </a:solidFill>
            <a:prstDash val="solid"/>
          </a:ln>
        </p:spPr>
      </p:sp>
      <p:sp>
        <p:nvSpPr>
          <p:cNvPr id="28" name="Text 25"/>
          <p:cNvSpPr txBox="1"/>
          <p:nvPr/>
        </p:nvSpPr>
        <p:spPr>
          <a:xfrm>
            <a:off x="2583071" y="3767328"/>
            <a:ext cx="914400" cy="214884"/>
          </a:xfrm>
          <a:prstGeom prst="rect">
            <a:avLst/>
          </a:prstGeom>
          <a:noFill/>
          <a:ln/>
        </p:spPr>
        <p:txBody>
          <a:bodyPr wrap="square" lIns="0" tIns="0" rIns="0" bIns="0" rtlCol="0" anchor="ctr"/>
          <a:lstStyle/>
          <a:p>
            <a:pPr indent="0" marL="0">
              <a:buNone/>
            </a:pPr>
            <a:r>
              <a:rPr lang="en-US" sz="700" b="1" dirty="0">
                <a:solidFill>
                  <a:srgbClr val="2E86AB"/>
                </a:solidFill>
                <a:latin typeface="Calibri" pitchFamily="34" charset="0"/>
                <a:ea typeface="Calibri" pitchFamily="34" charset="-122"/>
                <a:cs typeface="Calibri" pitchFamily="34" charset="-120"/>
              </a:rPr>
              <a:t>2.5 B</a:t>
            </a:r>
            <a:endParaRPr lang="en-US" sz="700" dirty="0"/>
          </a:p>
        </p:txBody>
      </p:sp>
      <p:sp>
        <p:nvSpPr>
          <p:cNvPr id="29" name="Text 26"/>
          <p:cNvSpPr txBox="1"/>
          <p:nvPr/>
        </p:nvSpPr>
        <p:spPr>
          <a:xfrm>
            <a:off x="548640" y="4133088"/>
            <a:ext cx="1591056" cy="214884"/>
          </a:xfrm>
          <a:prstGeom prst="rect">
            <a:avLst/>
          </a:prstGeom>
          <a:noFill/>
          <a:ln/>
        </p:spPr>
        <p:txBody>
          <a:bodyPr wrap="square" lIns="0" tIns="0" rIns="0" bIns="0" rtlCol="0" anchor="ctr"/>
          <a:lstStyle/>
          <a:p>
            <a:pPr algn="r" indent="0" marL="0">
              <a:buNone/>
            </a:pPr>
            <a:r>
              <a:rPr lang="en-US" sz="700" b="1" dirty="0">
                <a:solidFill>
                  <a:srgbClr val="1B2430"/>
                </a:solidFill>
                <a:latin typeface="Calibri" pitchFamily="34" charset="0"/>
                <a:ea typeface="Calibri" pitchFamily="34" charset="-122"/>
                <a:cs typeface="Calibri" pitchFamily="34" charset="-120"/>
              </a:rPr>
              <a:t>+ the globe</a:t>
            </a:r>
            <a:endParaRPr lang="en-US" sz="700" dirty="0"/>
          </a:p>
        </p:txBody>
      </p:sp>
      <p:sp>
        <p:nvSpPr>
          <p:cNvPr id="30" name="Shape 27"/>
          <p:cNvSpPr/>
          <p:nvPr/>
        </p:nvSpPr>
        <p:spPr>
          <a:xfrm>
            <a:off x="2212848" y="4133088"/>
            <a:ext cx="1031040" cy="214884"/>
          </a:xfrm>
          <a:prstGeom prst="rect">
            <a:avLst/>
          </a:prstGeom>
          <a:solidFill>
            <a:srgbClr val="2E86AB">
              <a:alpha val="78000"/>
            </a:srgbClr>
          </a:solidFill>
          <a:ln w="12700">
            <a:solidFill>
              <a:srgbClr val="333333"/>
            </a:solidFill>
            <a:prstDash val="solid"/>
          </a:ln>
        </p:spPr>
      </p:sp>
      <p:sp>
        <p:nvSpPr>
          <p:cNvPr id="31" name="Text 28"/>
          <p:cNvSpPr txBox="1"/>
          <p:nvPr/>
        </p:nvSpPr>
        <p:spPr>
          <a:xfrm>
            <a:off x="3298752" y="4133088"/>
            <a:ext cx="914400" cy="214884"/>
          </a:xfrm>
          <a:prstGeom prst="rect">
            <a:avLst/>
          </a:prstGeom>
          <a:noFill/>
          <a:ln/>
        </p:spPr>
        <p:txBody>
          <a:bodyPr wrap="square" lIns="0" tIns="0" rIns="0" bIns="0" rtlCol="0" anchor="ctr"/>
          <a:lstStyle/>
          <a:p>
            <a:pPr indent="0" marL="0">
              <a:buNone/>
            </a:pPr>
            <a:r>
              <a:rPr lang="en-US" sz="700" b="1" dirty="0">
                <a:solidFill>
                  <a:srgbClr val="2E86AB"/>
                </a:solidFill>
                <a:latin typeface="Calibri" pitchFamily="34" charset="0"/>
                <a:ea typeface="Calibri" pitchFamily="34" charset="-122"/>
                <a:cs typeface="Calibri" pitchFamily="34" charset="-120"/>
              </a:rPr>
              <a:t>20 B</a:t>
            </a:r>
            <a:endParaRPr lang="en-US" sz="700" dirty="0"/>
          </a:p>
        </p:txBody>
      </p:sp>
      <p:sp>
        <p:nvSpPr>
          <p:cNvPr id="32" name="Text 29"/>
          <p:cNvSpPr txBox="1"/>
          <p:nvPr/>
        </p:nvSpPr>
        <p:spPr>
          <a:xfrm>
            <a:off x="548640" y="4498848"/>
            <a:ext cx="1591056" cy="214884"/>
          </a:xfrm>
          <a:prstGeom prst="rect">
            <a:avLst/>
          </a:prstGeom>
          <a:noFill/>
          <a:ln/>
        </p:spPr>
        <p:txBody>
          <a:bodyPr wrap="square" lIns="0" tIns="0" rIns="0" bIns="0" rtlCol="0" anchor="ctr"/>
          <a:lstStyle/>
          <a:p>
            <a:pPr algn="r" indent="0" marL="0">
              <a:buNone/>
            </a:pPr>
            <a:r>
              <a:rPr lang="en-US" sz="700" b="1" dirty="0">
                <a:solidFill>
                  <a:srgbClr val="1B2430"/>
                </a:solidFill>
                <a:latin typeface="Calibri" pitchFamily="34" charset="0"/>
                <a:ea typeface="Calibri" pitchFamily="34" charset="-122"/>
                <a:cs typeface="Calibri" pitchFamily="34" charset="-120"/>
              </a:rPr>
              <a:t>+ all spheres</a:t>
            </a:r>
            <a:endParaRPr lang="en-US" sz="700" dirty="0"/>
          </a:p>
        </p:txBody>
      </p:sp>
      <p:sp>
        <p:nvSpPr>
          <p:cNvPr id="33" name="Shape 30"/>
          <p:cNvSpPr/>
          <p:nvPr/>
        </p:nvSpPr>
        <p:spPr>
          <a:xfrm>
            <a:off x="2212848" y="4498848"/>
            <a:ext cx="1552501" cy="214884"/>
          </a:xfrm>
          <a:prstGeom prst="rect">
            <a:avLst/>
          </a:prstGeom>
          <a:solidFill>
            <a:srgbClr val="4E8A3E">
              <a:alpha val="78000"/>
            </a:srgbClr>
          </a:solidFill>
          <a:ln w="12700">
            <a:solidFill>
              <a:srgbClr val="333333"/>
            </a:solidFill>
            <a:prstDash val="solid"/>
          </a:ln>
        </p:spPr>
      </p:sp>
      <p:sp>
        <p:nvSpPr>
          <p:cNvPr id="34" name="Text 31"/>
          <p:cNvSpPr txBox="1"/>
          <p:nvPr/>
        </p:nvSpPr>
        <p:spPr>
          <a:xfrm>
            <a:off x="3820213" y="4498848"/>
            <a:ext cx="914400" cy="214884"/>
          </a:xfrm>
          <a:prstGeom prst="rect">
            <a:avLst/>
          </a:prstGeom>
          <a:noFill/>
          <a:ln/>
        </p:spPr>
        <p:txBody>
          <a:bodyPr wrap="square" lIns="0" tIns="0" rIns="0" bIns="0" rtlCol="0" anchor="ctr"/>
          <a:lstStyle/>
          <a:p>
            <a:pPr indent="0" marL="0">
              <a:buNone/>
            </a:pPr>
            <a:r>
              <a:rPr lang="en-US" sz="700" b="1" dirty="0">
                <a:solidFill>
                  <a:srgbClr val="4E8A3E"/>
                </a:solidFill>
                <a:latin typeface="Calibri" pitchFamily="34" charset="0"/>
                <a:ea typeface="Calibri" pitchFamily="34" charset="-122"/>
                <a:cs typeface="Calibri" pitchFamily="34" charset="-120"/>
              </a:rPr>
              <a:t>91 B</a:t>
            </a:r>
            <a:endParaRPr lang="en-US" sz="700" dirty="0"/>
          </a:p>
        </p:txBody>
      </p:sp>
      <p:sp>
        <p:nvSpPr>
          <p:cNvPr id="35" name="Text 32"/>
          <p:cNvSpPr txBox="1"/>
          <p:nvPr/>
        </p:nvSpPr>
        <p:spPr>
          <a:xfrm>
            <a:off x="548640" y="4864608"/>
            <a:ext cx="1591056" cy="214884"/>
          </a:xfrm>
          <a:prstGeom prst="rect">
            <a:avLst/>
          </a:prstGeom>
          <a:noFill/>
          <a:ln/>
        </p:spPr>
        <p:txBody>
          <a:bodyPr wrap="square" lIns="0" tIns="0" rIns="0" bIns="0" rtlCol="0" anchor="ctr"/>
          <a:lstStyle/>
          <a:p>
            <a:pPr algn="r" indent="0" marL="0">
              <a:buNone/>
            </a:pPr>
            <a:r>
              <a:rPr lang="en-US" sz="700" b="1" dirty="0">
                <a:solidFill>
                  <a:srgbClr val="1B2430"/>
                </a:solidFill>
                <a:latin typeface="Calibri" pitchFamily="34" charset="0"/>
                <a:ea typeface="Calibri" pitchFamily="34" charset="-122"/>
                <a:cs typeface="Calibri" pitchFamily="34" charset="-120"/>
              </a:rPr>
              <a:t>+ daily cadence</a:t>
            </a:r>
            <a:endParaRPr lang="en-US" sz="700" dirty="0"/>
          </a:p>
        </p:txBody>
      </p:sp>
      <p:sp>
        <p:nvSpPr>
          <p:cNvPr id="36" name="Shape 33"/>
          <p:cNvSpPr/>
          <p:nvPr/>
        </p:nvSpPr>
        <p:spPr>
          <a:xfrm>
            <a:off x="2212848" y="4864608"/>
            <a:ext cx="2106421" cy="214884"/>
          </a:xfrm>
          <a:prstGeom prst="rect">
            <a:avLst/>
          </a:prstGeom>
          <a:solidFill>
            <a:srgbClr val="E07A2F">
              <a:alpha val="78000"/>
            </a:srgbClr>
          </a:solidFill>
          <a:ln w="12700">
            <a:solidFill>
              <a:srgbClr val="333333"/>
            </a:solidFill>
            <a:prstDash val="solid"/>
          </a:ln>
        </p:spPr>
      </p:sp>
      <p:sp>
        <p:nvSpPr>
          <p:cNvPr id="37" name="Text 34"/>
          <p:cNvSpPr txBox="1"/>
          <p:nvPr/>
        </p:nvSpPr>
        <p:spPr>
          <a:xfrm>
            <a:off x="4374133" y="4864608"/>
            <a:ext cx="914400" cy="214884"/>
          </a:xfrm>
          <a:prstGeom prst="rect">
            <a:avLst/>
          </a:prstGeom>
          <a:noFill/>
          <a:ln/>
        </p:spPr>
        <p:txBody>
          <a:bodyPr wrap="square" lIns="0" tIns="0" rIns="0" bIns="0" rtlCol="0" anchor="ctr"/>
          <a:lstStyle/>
          <a:p>
            <a:pPr indent="0" marL="0">
              <a:buNone/>
            </a:pPr>
            <a:r>
              <a:rPr lang="en-US" sz="700" b="1" dirty="0">
                <a:solidFill>
                  <a:srgbClr val="E07A2F"/>
                </a:solidFill>
                <a:latin typeface="Calibri" pitchFamily="34" charset="0"/>
                <a:ea typeface="Calibri" pitchFamily="34" charset="-122"/>
                <a:cs typeface="Calibri" pitchFamily="34" charset="-120"/>
              </a:rPr>
              <a:t>455 B</a:t>
            </a:r>
            <a:endParaRPr lang="en-US" sz="700" dirty="0"/>
          </a:p>
        </p:txBody>
      </p:sp>
      <p:sp>
        <p:nvSpPr>
          <p:cNvPr id="38" name="Text 35"/>
          <p:cNvSpPr txBox="1"/>
          <p:nvPr/>
        </p:nvSpPr>
        <p:spPr>
          <a:xfrm>
            <a:off x="548640" y="5230368"/>
            <a:ext cx="1591056" cy="214884"/>
          </a:xfrm>
          <a:prstGeom prst="rect">
            <a:avLst/>
          </a:prstGeom>
          <a:noFill/>
          <a:ln/>
        </p:spPr>
        <p:txBody>
          <a:bodyPr wrap="square" lIns="0" tIns="0" rIns="0" bIns="0" rtlCol="0" anchor="ctr"/>
          <a:lstStyle/>
          <a:p>
            <a:pPr algn="r" indent="0" marL="0">
              <a:buNone/>
            </a:pPr>
            <a:r>
              <a:rPr lang="en-US" sz="700" b="1" dirty="0">
                <a:solidFill>
                  <a:srgbClr val="1B2430"/>
                </a:solidFill>
                <a:latin typeface="Calibri" pitchFamily="34" charset="0"/>
                <a:ea typeface="Calibri" pitchFamily="34" charset="-122"/>
                <a:cs typeface="Calibri" pitchFamily="34" charset="-120"/>
              </a:rPr>
              <a:t>+ 1 km patches</a:t>
            </a:r>
            <a:endParaRPr lang="en-US" sz="700" dirty="0"/>
          </a:p>
        </p:txBody>
      </p:sp>
      <p:sp>
        <p:nvSpPr>
          <p:cNvPr id="39" name="Shape 36"/>
          <p:cNvSpPr/>
          <p:nvPr/>
        </p:nvSpPr>
        <p:spPr>
          <a:xfrm>
            <a:off x="2212848" y="5230368"/>
            <a:ext cx="4393563" cy="214884"/>
          </a:xfrm>
          <a:prstGeom prst="rect">
            <a:avLst/>
          </a:prstGeom>
          <a:solidFill>
            <a:srgbClr val="1F9E89">
              <a:alpha val="78000"/>
            </a:srgbClr>
          </a:solidFill>
          <a:ln w="12700">
            <a:solidFill>
              <a:srgbClr val="333333"/>
            </a:solidFill>
            <a:prstDash val="solid"/>
          </a:ln>
        </p:spPr>
      </p:sp>
      <p:sp>
        <p:nvSpPr>
          <p:cNvPr id="40" name="Text 37"/>
          <p:cNvSpPr txBox="1"/>
          <p:nvPr/>
        </p:nvSpPr>
        <p:spPr>
          <a:xfrm>
            <a:off x="6661275" y="5230368"/>
            <a:ext cx="914400" cy="214884"/>
          </a:xfrm>
          <a:prstGeom prst="rect">
            <a:avLst/>
          </a:prstGeom>
          <a:noFill/>
          <a:ln/>
        </p:spPr>
        <p:txBody>
          <a:bodyPr wrap="square" lIns="0" tIns="0" rIns="0" bIns="0" rtlCol="0" anchor="ctr"/>
          <a:lstStyle/>
          <a:p>
            <a:pPr indent="0" marL="0">
              <a:buNone/>
            </a:pPr>
            <a:r>
              <a:rPr lang="en-US" sz="700" b="1" dirty="0">
                <a:solidFill>
                  <a:srgbClr val="1F9E89"/>
                </a:solidFill>
                <a:latin typeface="Calibri" pitchFamily="34" charset="0"/>
                <a:ea typeface="Calibri" pitchFamily="34" charset="-122"/>
                <a:cs typeface="Calibri" pitchFamily="34" charset="-120"/>
              </a:rPr>
              <a:t>350,000 B</a:t>
            </a:r>
            <a:endParaRPr lang="en-US" sz="700" dirty="0"/>
          </a:p>
        </p:txBody>
      </p:sp>
      <p:sp>
        <p:nvSpPr>
          <p:cNvPr id="41" name="Shape 38"/>
          <p:cNvSpPr/>
          <p:nvPr/>
        </p:nvSpPr>
        <p:spPr>
          <a:xfrm>
            <a:off x="7269480" y="1371600"/>
            <a:ext cx="4343400" cy="1773936"/>
          </a:xfrm>
          <a:prstGeom prst="roundRect">
            <a:avLst>
              <a:gd name="adj" fmla="val 4124"/>
            </a:avLst>
          </a:prstGeom>
          <a:solidFill>
            <a:srgbClr val="F5FBF7"/>
          </a:solidFill>
          <a:ln w="15875">
            <a:solidFill>
              <a:srgbClr val="1F7A4D"/>
            </a:solidFill>
            <a:prstDash val="solid"/>
          </a:ln>
        </p:spPr>
      </p:sp>
      <p:sp>
        <p:nvSpPr>
          <p:cNvPr id="42" name="Text 39"/>
          <p:cNvSpPr txBox="1"/>
          <p:nvPr/>
        </p:nvSpPr>
        <p:spPr>
          <a:xfrm>
            <a:off x="7388352" y="1426464"/>
            <a:ext cx="4105656" cy="182880"/>
          </a:xfrm>
          <a:prstGeom prst="rect">
            <a:avLst/>
          </a:prstGeom>
          <a:noFill/>
          <a:ln/>
        </p:spPr>
        <p:txBody>
          <a:bodyPr wrap="square" lIns="0" tIns="0" rIns="0" bIns="0" rtlCol="0" anchor="t"/>
          <a:lstStyle/>
          <a:p>
            <a:pPr indent="0" marL="0">
              <a:buNone/>
            </a:pPr>
            <a:r>
              <a:rPr lang="en-US" sz="900" b="1" dirty="0">
                <a:solidFill>
                  <a:srgbClr val="1F7A4D"/>
                </a:solidFill>
                <a:latin typeface="Calibri" pitchFamily="34" charset="0"/>
                <a:ea typeface="Calibri" pitchFamily="34" charset="-122"/>
                <a:cs typeface="Calibri" pitchFamily="34" charset="-120"/>
              </a:rPr>
              <a:t>What the programme has MEASURED (E-072 §1)</a:t>
            </a:r>
            <a:endParaRPr lang="en-US" sz="950" dirty="0"/>
          </a:p>
        </p:txBody>
      </p:sp>
      <p:sp>
        <p:nvSpPr>
          <p:cNvPr id="43" name="Text 40"/>
          <p:cNvSpPr txBox="1"/>
          <p:nvPr/>
        </p:nvSpPr>
        <p:spPr>
          <a:xfrm>
            <a:off x="7388352" y="1627632"/>
            <a:ext cx="4105656" cy="1463040"/>
          </a:xfrm>
          <a:prstGeom prst="rect">
            <a:avLst/>
          </a:prstGeom>
          <a:noFill/>
          <a:ln/>
        </p:spPr>
        <p:txBody>
          <a:bodyPr wrap="square" lIns="0" tIns="0" rIns="0" bIns="0" rtlCol="0" anchor="t"/>
          <a:lstStyle/>
          <a:p>
            <a:pPr indent="0" marL="0">
              <a:buNone/>
            </a:pPr>
            <a:r>
              <a:rPr lang="en-US" sz="750" b="1" dirty="0">
                <a:solidFill>
                  <a:srgbClr val="0B1F3A"/>
                </a:solidFill>
                <a:latin typeface="Calibri" pitchFamily="34" charset="0"/>
                <a:ea typeface="Calibri" pitchFamily="34" charset="-122"/>
                <a:cs typeface="Calibri" pitchFamily="34" charset="-120"/>
              </a:rPr>
              <a:t>The width ladder is flat. </a:t>
            </a:r>
            <a:pPr indent="0" marL="0">
              <a:spcAft>
                <a:spcPts val="300"/>
              </a:spcAft>
              <a:buNone/>
            </a:pPr>
            <a:r>
              <a:rPr lang="en-US" sz="750" dirty="0">
                <a:solidFill>
                  <a:srgbClr val="1B2430"/>
                </a:solidFill>
                <a:latin typeface="Calibri" pitchFamily="34" charset="0"/>
                <a:ea typeface="Calibri" pitchFamily="34" charset="-122"/>
                <a:cs typeface="Calibri" pitchFamily="34" charset="-120"/>
              </a:rPr>
              <a:t>7.6 M → 40.4 M → 206.66 M stage-2 heads roll at corridor accuracy 0.103 / 0.104 / 0.105 (E-062-R0). At today’s data, capacity is not the axis — more parameters buy nothing until the data grows.</a:t>
            </a:r>
            <a:endParaRPr lang="en-US" sz="950" dirty="0"/>
          </a:p>
          <a:p>
            <a:pPr indent="0" marL="0">
              <a:buNone/>
            </a:pPr>
            <a:r>
              <a:rPr lang="en-US" sz="750" b="1" dirty="0">
                <a:solidFill>
                  <a:srgbClr val="0B1F3A"/>
                </a:solidFill>
                <a:latin typeface="Calibri" pitchFamily="34" charset="0"/>
                <a:ea typeface="Calibri" pitchFamily="34" charset="-122"/>
                <a:cs typeface="Calibri" pitchFamily="34" charset="-120"/>
              </a:rPr>
              <a:t>The LIM beats every head from 15 days. </a:t>
            </a:r>
            <a:pPr indent="0" marL="0">
              <a:spcAft>
                <a:spcPts val="300"/>
              </a:spcAft>
              <a:buNone/>
            </a:pPr>
            <a:r>
              <a:rPr lang="en-US" sz="750" dirty="0">
                <a:solidFill>
                  <a:srgbClr val="1B2430"/>
                </a:solidFill>
                <a:latin typeface="Calibri" pitchFamily="34" charset="0"/>
                <a:ea typeface="Calibri" pitchFamily="34" charset="-122"/>
                <a:cs typeface="Calibri" pitchFamily="34" charset="-120"/>
              </a:rPr>
              <a:t>A 200-mode linear inverse model — a plain linear forecast fitted to the same field — out-forecasts the learned head at every lead ≥ 15 d and beats damped persistence from 30 d (E-066). The null ladder is mandatory at every rung.</a:t>
            </a:r>
            <a:endParaRPr lang="en-US" sz="950" dirty="0"/>
          </a:p>
          <a:p>
            <a:pPr indent="0" marL="0">
              <a:buNone/>
            </a:pPr>
            <a:r>
              <a:rPr lang="en-US" sz="750" b="1" dirty="0">
                <a:solidFill>
                  <a:srgbClr val="0B1F3A"/>
                </a:solidFill>
                <a:latin typeface="Calibri" pitchFamily="34" charset="0"/>
                <a:ea typeface="Calibri" pitchFamily="34" charset="-122"/>
                <a:cs typeface="Calibri" pitchFamily="34" charset="-120"/>
              </a:rPr>
              <a:t>Held-out minima arrive inside 2,000 steps </a:t>
            </a:r>
            <a:pPr indent="0" marL="0">
              <a:spcAft>
                <a:spcPts val="300"/>
              </a:spcAft>
              <a:buNone/>
            </a:pPr>
            <a:r>
              <a:rPr lang="en-US" sz="750" dirty="0">
                <a:solidFill>
                  <a:srgbClr val="1B2430"/>
                </a:solidFill>
                <a:latin typeface="Calibri" pitchFamily="34" charset="0"/>
                <a:ea typeface="Calibri" pitchFamily="34" charset="-122"/>
                <a:cs typeface="Calibri" pitchFamily="34" charset="-120"/>
              </a:rPr>
              <a:t>and the next 198,000 make it worse (E-059, E-060) — the regime is data-limited: early stopping, ≤ 4 epochs, never a long schedule.</a:t>
            </a:r>
            <a:endParaRPr lang="en-US" sz="950" dirty="0"/>
          </a:p>
          <a:p>
            <a:pPr indent="0" marL="0">
              <a:buNone/>
            </a:pPr>
            <a:r>
              <a:rPr lang="en-US" sz="750" b="1" dirty="0">
                <a:solidFill>
                  <a:srgbClr val="0B1F3A"/>
                </a:solidFill>
                <a:latin typeface="Calibri" pitchFamily="34" charset="0"/>
                <a:ea typeface="Calibri" pitchFamily="34" charset="-122"/>
                <a:cs typeface="Calibri" pitchFamily="34" charset="-120"/>
              </a:rPr>
              <a:t>Argo is 80 % of the bytes for ~1 % of the information. </a:t>
            </a:r>
            <a:pPr indent="0" marL="0">
              <a:buNone/>
            </a:pPr>
            <a:r>
              <a:rPr lang="en-US" sz="750" dirty="0">
                <a:solidFill>
                  <a:srgbClr val="1B2430"/>
                </a:solidFill>
                <a:latin typeface="Calibri" pitchFamily="34" charset="0"/>
                <a:ea typeface="Calibri" pitchFamily="34" charset="-122"/>
                <a:cs typeface="Calibri" pitchFamily="34" charset="-120"/>
              </a:rPr>
              <a:t>The 32 upsampled Argo channels carry ~0.28 GB of information and are null at every lead (E-062). Information per byte decides the data design — never bytes.</a:t>
            </a:r>
            <a:endParaRPr lang="en-US" sz="950" dirty="0"/>
          </a:p>
        </p:txBody>
      </p:sp>
      <p:sp>
        <p:nvSpPr>
          <p:cNvPr id="44" name="Shape 41"/>
          <p:cNvSpPr/>
          <p:nvPr/>
        </p:nvSpPr>
        <p:spPr>
          <a:xfrm>
            <a:off x="7269480" y="3255264"/>
            <a:ext cx="4343400" cy="2505456"/>
          </a:xfrm>
          <a:prstGeom prst="roundRect">
            <a:avLst>
              <a:gd name="adj" fmla="val 2920"/>
            </a:avLst>
          </a:prstGeom>
          <a:solidFill>
            <a:srgbClr val="FFF6EE"/>
          </a:solidFill>
          <a:ln w="15875">
            <a:solidFill>
              <a:srgbClr val="E07A2F"/>
            </a:solidFill>
            <a:prstDash val="solid"/>
          </a:ln>
        </p:spPr>
      </p:sp>
      <p:sp>
        <p:nvSpPr>
          <p:cNvPr id="45" name="Text 42"/>
          <p:cNvSpPr txBox="1"/>
          <p:nvPr/>
        </p:nvSpPr>
        <p:spPr>
          <a:xfrm>
            <a:off x="7388352" y="3310128"/>
            <a:ext cx="4105656" cy="182880"/>
          </a:xfrm>
          <a:prstGeom prst="rect">
            <a:avLst/>
          </a:prstGeom>
          <a:noFill/>
          <a:ln/>
        </p:spPr>
        <p:txBody>
          <a:bodyPr wrap="square" lIns="0" tIns="0" rIns="0" bIns="0" rtlCol="0" anchor="t"/>
          <a:lstStyle/>
          <a:p>
            <a:pPr indent="0" marL="0">
              <a:buNone/>
            </a:pPr>
            <a:r>
              <a:rPr lang="en-US" sz="900" b="1" dirty="0">
                <a:solidFill>
                  <a:srgbClr val="E07A2F"/>
                </a:solidFill>
                <a:latin typeface="Calibri" pitchFamily="34" charset="0"/>
                <a:ea typeface="Calibri" pitchFamily="34" charset="-122"/>
                <a:cs typeface="Calibri" pitchFamily="34" charset="-120"/>
              </a:rPr>
              <a:t>The independence correction (E-072 §2.3)</a:t>
            </a:r>
            <a:endParaRPr lang="en-US" sz="950" dirty="0"/>
          </a:p>
        </p:txBody>
      </p:sp>
      <p:sp>
        <p:nvSpPr>
          <p:cNvPr id="46" name="Text 43"/>
          <p:cNvSpPr txBox="1"/>
          <p:nvPr/>
        </p:nvSpPr>
        <p:spPr>
          <a:xfrm>
            <a:off x="7388352" y="3511296"/>
            <a:ext cx="4105656" cy="2176272"/>
          </a:xfrm>
          <a:prstGeom prst="rect">
            <a:avLst/>
          </a:prstGeom>
          <a:noFill/>
          <a:ln/>
        </p:spPr>
        <p:txBody>
          <a:bodyPr wrap="square" lIns="0" tIns="0" rIns="0" bIns="0" rtlCol="0" anchor="t"/>
          <a:lstStyle/>
          <a:p>
            <a:pPr indent="0" marL="0">
              <a:buNone/>
            </a:pPr>
            <a:r>
              <a:rPr lang="en-US" sz="750" dirty="0">
                <a:solidFill>
                  <a:srgbClr val="1B2430"/>
                </a:solidFill>
                <a:latin typeface="Calibri" pitchFamily="34" charset="0"/>
                <a:ea typeface="Calibri" pitchFamily="34" charset="-122"/>
                <a:cs typeface="Calibri" pitchFamily="34" charset="-120"/>
              </a:rPr>
              <a:t>A 0.25° cell is correlated with its neighbours over ~300 km and, at the surface, over 2–6 months. In the North Atlantic that is </a:t>
            </a:r>
            <a:pPr indent="0" marL="0">
              <a:buNone/>
            </a:pPr>
            <a:r>
              <a:rPr lang="en-US" sz="750" b="1" dirty="0">
                <a:solidFill>
                  <a:srgbClr val="E07A2F"/>
                </a:solidFill>
                <a:latin typeface="Calibri" pitchFamily="34" charset="0"/>
                <a:ea typeface="Calibri" pitchFamily="34" charset="-122"/>
                <a:cs typeface="Calibri" pitchFamily="34" charset="-120"/>
              </a:rPr>
              <a:t>~150 cells × ~15 pentads per independent sample</a:t>
            </a:r>
            <a:pPr indent="0" marL="0">
              <a:spcAft>
                <a:spcPts val="300"/>
              </a:spcAft>
              <a:buNone/>
            </a:pPr>
            <a:r>
              <a:rPr lang="en-US" sz="750" dirty="0">
                <a:solidFill>
                  <a:srgbClr val="1B2430"/>
                </a:solidFill>
                <a:latin typeface="Calibri" pitchFamily="34" charset="0"/>
                <a:ea typeface="Calibri" pitchFamily="34" charset="-122"/>
                <a:cs typeface="Calibri" pitchFamily="34" charset="-120"/>
              </a:rPr>
              <a:t>, so the 2.5 B raw values are of order 1–10 M INDEPENDENT ones — which is exactly the regime in which a 7.6 M head equals a 206 M one.</a:t>
            </a:r>
            <a:endParaRPr lang="en-US" sz="950" dirty="0"/>
          </a:p>
          <a:p>
            <a:pPr indent="0" marL="0">
              <a:spcAft>
                <a:spcPts val="300"/>
              </a:spcAft>
              <a:buNone/>
            </a:pPr>
            <a:r>
              <a:rPr lang="en-US" sz="750" dirty="0">
                <a:solidFill>
                  <a:srgbClr val="1B2430"/>
                </a:solidFill>
                <a:latin typeface="Calibri" pitchFamily="34" charset="0"/>
                <a:ea typeface="Calibri" pitchFamily="34" charset="-122"/>
                <a:cs typeface="Calibri" pitchFamily="34" charset="-120"/>
              </a:rPr>
              <a:t>So the multipliers buy less than they say. The globe adds new REGIMES and the spheres add new PHYSICS (land does not advect; the atmosphere decorrelates in days) — both worth their face value. Daily cadence inside a pentad is mostly the same sample five times and is worth perhaps ×1.5. The kilometre rung adds genuinely new fine-scale variance.</a:t>
            </a:r>
            <a:endParaRPr lang="en-US" sz="950" dirty="0"/>
          </a:p>
          <a:p>
            <a:pPr indent="0" marL="0">
              <a:buNone/>
            </a:pPr>
            <a:r>
              <a:rPr lang="en-US" sz="750" b="1" dirty="0">
                <a:solidFill>
                  <a:srgbClr val="E07A2F"/>
                </a:solidFill>
                <a:latin typeface="Calibri" pitchFamily="34" charset="0"/>
                <a:ea typeface="Calibri" pitchFamily="34" charset="-122"/>
                <a:cs typeface="Calibri" pitchFamily="34" charset="-120"/>
              </a:rPr>
              <a:t>The honest reading: globe and spheres first, then resolution, cadence last.</a:t>
            </a:r>
            <a:endParaRPr lang="en-US" sz="950" dirty="0"/>
          </a:p>
        </p:txBody>
      </p:sp>
      <p:sp>
        <p:nvSpPr>
          <p:cNvPr id="47" name="Text 44"/>
          <p:cNvSpPr txBox="1"/>
          <p:nvPr/>
        </p:nvSpPr>
        <p:spPr>
          <a:xfrm>
            <a:off x="548640" y="5888736"/>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At one basin, a quarter degree, five-day bins and 42 ocean channels, the model size is set by the data and it is small — the width ladder is flat from 7.6 M to 206.66 M, the linear model wins from 15 days out, and every held-out minimum arrives inside 2,000 steps. A 1–10 B model is therefore not a training decision but a DATA-DESIGN decision: the globe, the other spheres, daily cadence and the kilometre rungs are what raise the value-count ceiling from ~0.12 B parameters to 1 B, 4.5 B, 23 B and beyond — and the compute stays cheap until the kilometre rung.</a:t>
            </a:r>
            <a:endParaRPr lang="en-US" sz="850" dirty="0"/>
          </a:p>
        </p:txBody>
      </p:sp>
      <p:sp>
        <p:nvSpPr>
          <p:cNvPr id="48" name="Text 4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The scaling ladder and the recipe</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E-072 §3–4. Six rungs, each bought only on the previous rung’s read-out under the frozen protocol; and the training recipe this programme has already paid to learn, plus the two things the new data forces.</a:t>
            </a:r>
            <a:endParaRPr lang="en-US" sz="1250" dirty="0"/>
          </a:p>
        </p:txBody>
      </p:sp>
      <p:sp>
        <p:nvSpPr>
          <p:cNvPr id="4" name="Text 2"/>
          <p:cNvSpPr txBox="1"/>
          <p:nvPr/>
        </p:nvSpPr>
        <p:spPr>
          <a:xfrm>
            <a:off x="548640" y="1371600"/>
            <a:ext cx="6446520" cy="274320"/>
          </a:xfrm>
          <a:prstGeom prst="rect">
            <a:avLst/>
          </a:prstGeom>
          <a:noFill/>
          <a:ln/>
        </p:spPr>
        <p:txBody>
          <a:bodyPr wrap="square" lIns="0" tIns="0" rIns="0" bIns="0" rtlCol="0" anchor="t"/>
          <a:lstStyle/>
          <a:p>
            <a:pPr indent="0" marL="0">
              <a:buNone/>
            </a:pPr>
            <a:r>
              <a:rPr lang="en-US" sz="700" b="1" spc="30" kern="0" dirty="0">
                <a:solidFill>
                  <a:srgbClr val="0B1F3A"/>
                </a:solidFill>
                <a:latin typeface="Calibri" pitchFamily="34" charset="0"/>
                <a:ea typeface="Calibri" pitchFamily="34" charset="-122"/>
                <a:cs typeface="Calibri" pitchFamily="34" charset="-120"/>
              </a:rPr>
              <a:t>COMPUTE PRICING. </a:t>
            </a:r>
            <a:pPr indent="0" marL="0">
              <a:buNone/>
            </a:pPr>
            <a:r>
              <a:rPr lang="en-US" sz="700" dirty="0">
                <a:solidFill>
                  <a:srgbClr val="1B2430"/>
                </a:solidFill>
                <a:latin typeface="Calibri" pitchFamily="34" charset="0"/>
                <a:ea typeface="Calibri" pitchFamily="34" charset="-122"/>
                <a:cs typeface="Calibri" pitchFamily="34" charset="-120"/>
              </a:rPr>
              <a:t>6·N·T·epochs FLOPs; an RTX 4090 at 165 TFLOP/s bf16 (E-033’s measurement) at 40 % utilisation; a v5e-4 TPU node at 4 × 197 TFLOP/s at the same utilisation. Four epochs — the data-constrained limit (Muennighoff et al. 2023) — except at the top rung.</a:t>
            </a:r>
            <a:endParaRPr lang="en-US" sz="9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6446520" cy="914400"/>
        </p:xfrm>
        <a:graphic>
          <a:graphicData uri="http://schemas.openxmlformats.org/drawingml/2006/table">
            <a:tbl>
              <a:tblPr/>
              <a:tblGrid>
                <a:gridCol w="365760"/>
                <a:gridCol w="713232"/>
                <a:gridCol w="1234440"/>
                <a:gridCol w="658368"/>
                <a:gridCol w="548640"/>
                <a:gridCol w="502920"/>
                <a:gridCol w="2423160"/>
              </a:tblGrid>
              <a:tr h="274320">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rung</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N</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data</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tokens × epochs</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4090-h</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v5e-4 h</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the question it must answer before the next rung is bought</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219456">
                <a:tc>
                  <a:txBody>
                    <a:bodyPr/>
                    <a:lstStyle/>
                    <a:p>
                      <a:pPr algn="ctr" indent="0" marL="0">
                        <a:buNone/>
                      </a:pPr>
                      <a:r>
                        <a:rPr lang="en-US" sz="900" b="1" dirty="0">
                          <a:solidFill>
                            <a:srgbClr val="6A4C93"/>
                          </a:solidFill>
                          <a:latin typeface="Calibri" pitchFamily="34" charset="0"/>
                          <a:ea typeface="Calibri" pitchFamily="34" charset="-122"/>
                          <a:cs typeface="Calibri" pitchFamily="34" charset="-120"/>
                        </a:rPr>
                        <a:t>L0</a:t>
                      </a:r>
                      <a:endParaRPr lang="en-US" sz="9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7 M</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NA pentads (E-069’s ConeMAE)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0.15 B</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&lt; 1</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&lt; 1</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done: persistence yes, velocity no</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02336">
                <a:tc>
                  <a:txBody>
                    <a:bodyPr/>
                    <a:lstStyle/>
                    <a:p>
                      <a:pPr algn="ctr" indent="0" marL="0">
                        <a:buNone/>
                      </a:pPr>
                      <a:r>
                        <a:rPr lang="en-US" sz="900" b="1" dirty="0">
                          <a:solidFill>
                            <a:srgbClr val="6A4C93"/>
                          </a:solidFill>
                          <a:latin typeface="Calibri" pitchFamily="34" charset="0"/>
                          <a:ea typeface="Calibri" pitchFamily="34" charset="-122"/>
                          <a:cs typeface="Calibri" pitchFamily="34" charset="-120"/>
                        </a:rPr>
                        <a:t>L1</a:t>
                      </a:r>
                      <a:endParaRPr lang="en-US" sz="9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30–125 M</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NA pentads, cone v2 geometry + harmonic anomaly + profile tokens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0.15 B</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&lt; 1</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&lt; 1</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does the geometry change (E-071) move the per-family held-out loss and the rolled skill at leads 1–3 beyond the LIM?</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02336">
                <a:tc>
                  <a:txBody>
                    <a:bodyPr/>
                    <a:lstStyle/>
                    <a:p>
                      <a:pPr algn="ctr" indent="0" marL="0">
                        <a:buNone/>
                      </a:pPr>
                      <a:r>
                        <a:rPr lang="en-US" sz="900" b="1" dirty="0">
                          <a:solidFill>
                            <a:srgbClr val="6A4C93"/>
                          </a:solidFill>
                          <a:latin typeface="Calibri" pitchFamily="34" charset="0"/>
                          <a:ea typeface="Calibri" pitchFamily="34" charset="-122"/>
                          <a:cs typeface="Calibri" pitchFamily="34" charset="-120"/>
                        </a:rPr>
                        <a:t>L2</a:t>
                      </a:r>
                      <a:endParaRPr lang="en-US" sz="9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0.3–1 B</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global ocean pentads (family 7)</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1.2 B</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~30</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G1–G3 of E-070: does the globe transfer (Kuroshio, ACC), and does the North Atlantic number hold at matched steps?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75488">
                <a:tc>
                  <a:txBody>
                    <a:bodyPr/>
                    <a:lstStyle/>
                    <a:p>
                      <a:pPr algn="ctr" indent="0" marL="0">
                        <a:buNone/>
                      </a:pPr>
                      <a:r>
                        <a:rPr lang="en-US" sz="900" b="1" dirty="0">
                          <a:solidFill>
                            <a:srgbClr val="6A4C93"/>
                          </a:solidFill>
                          <a:latin typeface="Calibri" pitchFamily="34" charset="0"/>
                          <a:ea typeface="Calibri" pitchFamily="34" charset="-122"/>
                          <a:cs typeface="Calibri" pitchFamily="34" charset="-120"/>
                        </a:rPr>
                        <a:t>L3</a:t>
                      </a:r>
                      <a:endParaRPr lang="en-US" sz="9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1–4.5 B, MoE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 all spheres (E-071 §6)</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5.6 B</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~570</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~120</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does a sphere-routed mixture of experts beat a dense model of the same ACTIVE parameters; do land and atmosphere improve the ocean’s rolled skill, and vice versa?</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29184">
                <a:tc>
                  <a:txBody>
                    <a:bodyPr/>
                    <a:lstStyle/>
                    <a:p>
                      <a:pPr algn="ctr" indent="0" marL="0">
                        <a:buNone/>
                      </a:pPr>
                      <a:r>
                        <a:rPr lang="en-US" sz="900" b="1" dirty="0">
                          <a:solidFill>
                            <a:srgbClr val="6A4C93"/>
                          </a:solidFill>
                          <a:latin typeface="Calibri" pitchFamily="34" charset="0"/>
                          <a:ea typeface="Calibri" pitchFamily="34" charset="-122"/>
                          <a:cs typeface="Calibri" pitchFamily="34" charset="-120"/>
                        </a:rPr>
                        <a:t>L4</a:t>
                      </a:r>
                      <a:endParaRPr lang="en-US" sz="9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4–23 B, MoE</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daily, all spheres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14 B (2 epochs)</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~3,500</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~740</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the first compute-bound rung; is the daily cadence worth ×5 bytes on the terminal holdout?</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219456">
                <a:tc>
                  <a:txBody>
                    <a:bodyPr/>
                    <a:lstStyle/>
                    <a:p>
                      <a:pPr algn="ctr" indent="0" marL="0">
                        <a:buNone/>
                      </a:pPr>
                      <a:r>
                        <a:rPr lang="en-US" sz="900" b="1" dirty="0">
                          <a:solidFill>
                            <a:srgbClr val="6A4C93"/>
                          </a:solidFill>
                          <a:latin typeface="Calibri" pitchFamily="34" charset="0"/>
                          <a:ea typeface="Calibri" pitchFamily="34" charset="-122"/>
                          <a:cs typeface="Calibri" pitchFamily="34" charset="-120"/>
                        </a:rPr>
                        <a:t>L5</a:t>
                      </a:r>
                      <a:endParaRPr lang="en-US" sz="9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b="1" dirty="0">
                          <a:solidFill>
                            <a:srgbClr val="0B1F3A"/>
                          </a:solidFill>
                          <a:latin typeface="Calibri" pitchFamily="34" charset="0"/>
                          <a:ea typeface="Calibri" pitchFamily="34" charset="-122"/>
                          <a:cs typeface="Calibri" pitchFamily="34" charset="-120"/>
                        </a:rPr>
                        <a:t>10 B+</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 kilometre patches</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compute-bound</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algn="ctr" indent="0" marL="0">
                        <a:buNone/>
                      </a:pPr>
                      <a:r>
                        <a:rPr lang="en-US" sz="700" dirty="0">
                          <a:solidFill>
                            <a:srgbClr val="1B24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only after L4 has a positive answer</a:t>
                      </a:r>
                      <a:endParaRPr lang="en-US" sz="7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6" name="Shape 3"/>
          <p:cNvSpPr/>
          <p:nvPr/>
        </p:nvSpPr>
        <p:spPr>
          <a:xfrm>
            <a:off x="548640" y="4224528"/>
            <a:ext cx="6446520" cy="1426464"/>
          </a:xfrm>
          <a:prstGeom prst="roundRect">
            <a:avLst>
              <a:gd name="adj" fmla="val 5128"/>
            </a:avLst>
          </a:prstGeom>
          <a:solidFill>
            <a:srgbClr val="F7F4FB"/>
          </a:solidFill>
          <a:ln w="15875">
            <a:solidFill>
              <a:srgbClr val="6A4C93"/>
            </a:solidFill>
            <a:prstDash val="solid"/>
          </a:ln>
        </p:spPr>
      </p:sp>
      <p:sp>
        <p:nvSpPr>
          <p:cNvPr id="7" name="Text 4"/>
          <p:cNvSpPr txBox="1"/>
          <p:nvPr/>
        </p:nvSpPr>
        <p:spPr>
          <a:xfrm>
            <a:off x="667512" y="4279392"/>
            <a:ext cx="6208776" cy="182880"/>
          </a:xfrm>
          <a:prstGeom prst="rect">
            <a:avLst/>
          </a:prstGeom>
          <a:noFill/>
          <a:ln/>
        </p:spPr>
        <p:txBody>
          <a:bodyPr wrap="square" lIns="0" tIns="0" rIns="0" bIns="0" rtlCol="0" anchor="t"/>
          <a:lstStyle/>
          <a:p>
            <a:pPr indent="0" marL="0">
              <a:spcAft>
                <a:spcPts val="300"/>
              </a:spcAft>
              <a:buNone/>
            </a:pPr>
            <a:r>
              <a:rPr lang="en-US" sz="900" b="1" dirty="0">
                <a:solidFill>
                  <a:srgbClr val="6A4C93"/>
                </a:solidFill>
                <a:latin typeface="Calibri" pitchFamily="34" charset="0"/>
                <a:ea typeface="Calibri" pitchFamily="34" charset="-122"/>
                <a:cs typeface="Calibri" pitchFamily="34" charset="-120"/>
              </a:rPr>
              <a:t>Rules of the ladder</a:t>
            </a:r>
            <a:endParaRPr lang="en-US" sz="950" dirty="0"/>
          </a:p>
        </p:txBody>
      </p:sp>
      <p:sp>
        <p:nvSpPr>
          <p:cNvPr id="8" name="Text 5"/>
          <p:cNvSpPr txBox="1"/>
          <p:nvPr/>
        </p:nvSpPr>
        <p:spPr>
          <a:xfrm>
            <a:off x="667512" y="4480560"/>
            <a:ext cx="6208776" cy="1115568"/>
          </a:xfrm>
          <a:prstGeom prst="rect">
            <a:avLst/>
          </a:prstGeom>
          <a:noFill/>
          <a:ln/>
        </p:spPr>
        <p:txBody>
          <a:bodyPr wrap="square" lIns="0" tIns="0" rIns="0" bIns="0" rtlCol="0" anchor="t"/>
          <a:lstStyle/>
          <a:p>
            <a:pPr indent="0" marL="0">
              <a:buNone/>
            </a:pPr>
            <a:r>
              <a:rPr lang="en-US" sz="800" b="1" dirty="0">
                <a:solidFill>
                  <a:srgbClr val="6A4C93"/>
                </a:solidFill>
                <a:latin typeface="Calibri" pitchFamily="34" charset="0"/>
                <a:ea typeface="Calibri" pitchFamily="34" charset="-122"/>
                <a:cs typeface="Calibri" pitchFamily="34" charset="-120"/>
              </a:rPr>
              <a:t>1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Each rung is bought only on the PREVIOUS rung’s read-out, under the frozen protocol (train ≤ 2020, test 2021–2024, longitude holes), with the null ladder beside it — climatology, persistence, damped persistence, the LIM in pixel space and in the rung’s own embedding space, nearest-analogue retrieval, and the rung below.</a:t>
            </a:r>
            <a:endParaRPr lang="en-US" sz="950" dirty="0"/>
          </a:p>
          <a:p>
            <a:pPr indent="0" marL="0">
              <a:buNone/>
            </a:pPr>
            <a:r>
              <a:rPr lang="en-US" sz="800" b="1" dirty="0">
                <a:solidFill>
                  <a:srgbClr val="6A4C93"/>
                </a:solidFill>
                <a:latin typeface="Calibri" pitchFamily="34" charset="0"/>
                <a:ea typeface="Calibri" pitchFamily="34" charset="-122"/>
                <a:cs typeface="Calibri" pitchFamily="34" charset="-120"/>
              </a:rPr>
              <a:t>2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A rung whose held-out minimum arrives inside 2,000 steps at FULL data is over-parameterised — and the next rung is not bought.</a:t>
            </a:r>
            <a:endParaRPr lang="en-US" sz="950" dirty="0"/>
          </a:p>
          <a:p>
            <a:pPr indent="0" marL="0">
              <a:buNone/>
            </a:pPr>
            <a:r>
              <a:rPr lang="en-US" sz="800" b="1" dirty="0">
                <a:solidFill>
                  <a:srgbClr val="6A4C93"/>
                </a:solidFill>
                <a:latin typeface="Calibri" pitchFamily="34" charset="0"/>
                <a:ea typeface="Calibri" pitchFamily="34" charset="-122"/>
                <a:cs typeface="Calibri" pitchFamily="34" charset="-120"/>
              </a:rPr>
              <a:t>3  </a:t>
            </a:r>
            <a:pPr indent="0" marL="0">
              <a:buNone/>
            </a:pPr>
            <a:r>
              <a:rPr lang="en-US" sz="800" dirty="0">
                <a:solidFill>
                  <a:srgbClr val="1B2430"/>
                </a:solidFill>
                <a:latin typeface="Calibri" pitchFamily="34" charset="0"/>
                <a:ea typeface="Calibri" pitchFamily="34" charset="-122"/>
                <a:cs typeface="Calibri" pitchFamily="34" charset="-120"/>
              </a:rPr>
              <a:t>The width ladder (flat 7.6 M → 206 M today) is RE-MEASURED at L2 before L3 exists: it is the one measurement that separates a data-limited rung from a compute-limited one.</a:t>
            </a:r>
            <a:endParaRPr lang="en-US" sz="950" dirty="0"/>
          </a:p>
        </p:txBody>
      </p:sp>
      <p:sp>
        <p:nvSpPr>
          <p:cNvPr id="9" name="Shape 6"/>
          <p:cNvSpPr/>
          <p:nvPr/>
        </p:nvSpPr>
        <p:spPr>
          <a:xfrm>
            <a:off x="7205472" y="1335024"/>
            <a:ext cx="4407408" cy="1133856"/>
          </a:xfrm>
          <a:prstGeom prst="roundRect">
            <a:avLst>
              <a:gd name="adj" fmla="val 6452"/>
            </a:avLst>
          </a:prstGeom>
          <a:solidFill>
            <a:srgbClr val="F7FAFC"/>
          </a:solidFill>
          <a:ln w="15875">
            <a:solidFill>
              <a:srgbClr val="2E86AB"/>
            </a:solidFill>
            <a:prstDash val="solid"/>
          </a:ln>
        </p:spPr>
      </p:sp>
      <p:sp>
        <p:nvSpPr>
          <p:cNvPr id="10" name="Text 7"/>
          <p:cNvSpPr txBox="1"/>
          <p:nvPr/>
        </p:nvSpPr>
        <p:spPr>
          <a:xfrm>
            <a:off x="7315200" y="1380744"/>
            <a:ext cx="4187952" cy="164592"/>
          </a:xfrm>
          <a:prstGeom prst="rect">
            <a:avLst/>
          </a:prstGeom>
          <a:noFill/>
          <a:ln/>
        </p:spPr>
        <p:txBody>
          <a:bodyPr wrap="square" lIns="0" tIns="0" rIns="0" bIns="0" rtlCol="0" anchor="t"/>
          <a:lstStyle/>
          <a:p>
            <a:pPr indent="0" marL="0">
              <a:buNone/>
            </a:pPr>
            <a:r>
              <a:rPr lang="en-US" sz="850" b="1" dirty="0">
                <a:solidFill>
                  <a:srgbClr val="2E86AB"/>
                </a:solidFill>
                <a:latin typeface="Calibri" pitchFamily="34" charset="0"/>
                <a:ea typeface="Calibri" pitchFamily="34" charset="-122"/>
                <a:cs typeface="Calibri" pitchFamily="34" charset="-120"/>
              </a:rPr>
              <a:t>Architecture (§4.1)</a:t>
            </a:r>
            <a:endParaRPr lang="en-US" sz="950" dirty="0"/>
          </a:p>
        </p:txBody>
      </p:sp>
      <p:sp>
        <p:nvSpPr>
          <p:cNvPr id="11" name="Text 8"/>
          <p:cNvSpPr txBox="1"/>
          <p:nvPr/>
        </p:nvSpPr>
        <p:spPr>
          <a:xfrm>
            <a:off x="7315200" y="1563624"/>
            <a:ext cx="4187952" cy="850392"/>
          </a:xfrm>
          <a:prstGeom prst="rect">
            <a:avLst/>
          </a:prstGeom>
          <a:noFill/>
          <a:ln/>
        </p:spPr>
        <p:txBody>
          <a:bodyPr wrap="square" lIns="0" tIns="0" rIns="0" bIns="0" rtlCol="0" anchor="t"/>
          <a:lstStyle/>
          <a:p>
            <a:pPr indent="0" marL="0">
              <a:buNone/>
            </a:pPr>
            <a:r>
              <a:rPr lang="en-US" sz="700" b="1" dirty="0">
                <a:solidFill>
                  <a:srgbClr val="2E86AB"/>
                </a:solidFill>
                <a:latin typeface="Calibri" pitchFamily="34" charset="0"/>
                <a:ea typeface="Calibri" pitchFamily="34" charset="-122"/>
                <a:cs typeface="Calibri" pitchFamily="34" charset="-120"/>
              </a:rPr>
              <a:t>Encoder: </a:t>
            </a:r>
            <a:pPr indent="0" marL="0">
              <a:buNone/>
            </a:pPr>
            <a:r>
              <a:rPr lang="en-US" sz="700" dirty="0">
                <a:solidFill>
                  <a:srgbClr val="1B2430"/>
                </a:solidFill>
                <a:latin typeface="Calibri" pitchFamily="34" charset="0"/>
                <a:ea typeface="Calibri" pitchFamily="34" charset="-122"/>
                <a:cs typeface="Calibri" pitchFamily="34" charset="-120"/>
              </a:rPr>
              <a:t>a Perceiver-style transformer over LOCATION TOKENS — cross-attention into a fixed latent set, 64 × 256 latents at 7 M, widening with the ladder. At L3 the feed-forward block becomes a </a:t>
            </a:r>
            <a:pPr indent="0" marL="0">
              <a:buNone/>
            </a:pPr>
            <a:r>
              <a:rPr lang="en-US" sz="700" b="1" dirty="0">
                <a:solidFill>
                  <a:srgbClr val="2E86AB"/>
                </a:solidFill>
                <a:latin typeface="Calibri" pitchFamily="34" charset="0"/>
                <a:ea typeface="Calibri" pitchFamily="34" charset="-122"/>
                <a:cs typeface="Calibri" pitchFamily="34" charset="-120"/>
              </a:rPr>
              <a:t>mixture of experts routed by sphere code and channel group</a:t>
            </a:r>
            <a:pPr indent="0" marL="0">
              <a:spcAft>
                <a:spcPts val="200"/>
              </a:spcAft>
              <a:buNone/>
            </a:pPr>
            <a:r>
              <a:rPr lang="en-US" sz="700" dirty="0">
                <a:solidFill>
                  <a:srgbClr val="1B2430"/>
                </a:solidFill>
                <a:latin typeface="Calibri" pitchFamily="34" charset="0"/>
                <a:ea typeface="Calibri" pitchFamily="34" charset="-122"/>
                <a:cs typeface="Calibri" pitchFamily="34" charset="-120"/>
              </a:rPr>
              <a:t> (ocean / land / ice / atmosphere), top-2, with a small load-balancing loss — the router already sees the sphere, so routing is partly deterministic.</a:t>
            </a:r>
            <a:endParaRPr lang="en-US" sz="950" dirty="0"/>
          </a:p>
          <a:p>
            <a:pPr indent="0" marL="0">
              <a:buNone/>
            </a:pPr>
            <a:r>
              <a:rPr lang="en-US" sz="700" b="1" dirty="0">
                <a:solidFill>
                  <a:srgbClr val="2E86AB"/>
                </a:solidFill>
                <a:latin typeface="Calibri" pitchFamily="34" charset="0"/>
                <a:ea typeface="Calibri" pitchFamily="34" charset="-122"/>
                <a:cs typeface="Calibri" pitchFamily="34" charset="-120"/>
              </a:rPr>
              <a:t>Decoder: </a:t>
            </a:r>
            <a:pPr indent="0" marL="0">
              <a:buNone/>
            </a:pPr>
            <a:r>
              <a:rPr lang="en-US" sz="700" dirty="0">
                <a:solidFill>
                  <a:srgbClr val="1B2430"/>
                </a:solidFill>
                <a:latin typeface="Calibri" pitchFamily="34" charset="0"/>
                <a:ea typeface="Calibri" pitchFamily="34" charset="-122"/>
                <a:cs typeface="Calibri" pitchFamily="34" charset="-120"/>
              </a:rPr>
              <a:t>the queryable Gaussian decoder reading z ALONE (E-069 closed the degeneracy where a [z + latents] memory lets the bottleneck carry nothing). Stage 2 stays a separate sequence model over embeddings — global rings, K = 144 pentads.</a:t>
            </a:r>
            <a:endParaRPr lang="en-US" sz="950" dirty="0"/>
          </a:p>
        </p:txBody>
      </p:sp>
      <p:sp>
        <p:nvSpPr>
          <p:cNvPr id="12" name="Shape 9"/>
          <p:cNvSpPr/>
          <p:nvPr/>
        </p:nvSpPr>
        <p:spPr>
          <a:xfrm>
            <a:off x="7205472" y="2523744"/>
            <a:ext cx="4407408" cy="877824"/>
          </a:xfrm>
          <a:prstGeom prst="roundRect">
            <a:avLst>
              <a:gd name="adj" fmla="val 8333"/>
            </a:avLst>
          </a:prstGeom>
          <a:solidFill>
            <a:srgbClr val="F4F9FB"/>
          </a:solidFill>
          <a:ln w="15875">
            <a:solidFill>
              <a:srgbClr val="1C7293"/>
            </a:solidFill>
            <a:prstDash val="solid"/>
          </a:ln>
        </p:spPr>
      </p:sp>
      <p:sp>
        <p:nvSpPr>
          <p:cNvPr id="13" name="Text 10"/>
          <p:cNvSpPr txBox="1"/>
          <p:nvPr/>
        </p:nvSpPr>
        <p:spPr>
          <a:xfrm>
            <a:off x="7315200" y="2569464"/>
            <a:ext cx="4187952" cy="164592"/>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Objective (§4.2)</a:t>
            </a:r>
            <a:endParaRPr lang="en-US" sz="950" dirty="0"/>
          </a:p>
        </p:txBody>
      </p:sp>
      <p:sp>
        <p:nvSpPr>
          <p:cNvPr id="14" name="Text 11"/>
          <p:cNvSpPr txBox="1"/>
          <p:nvPr/>
        </p:nvSpPr>
        <p:spPr>
          <a:xfrm>
            <a:off x="7315200" y="2752344"/>
            <a:ext cx="4187952" cy="594360"/>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Masked reconstruction under the E-069b masking plan (a dropped channel hidden at the present-day patch; hidden dots from the recent-lag band and a bearing wedge) </a:t>
            </a:r>
            <a:pPr indent="0" marL="0">
              <a:buNone/>
            </a:pPr>
            <a:r>
              <a:rPr lang="en-US" sz="700" b="1" dirty="0">
                <a:solidFill>
                  <a:srgbClr val="1C7293"/>
                </a:solidFill>
                <a:latin typeface="Calibri" pitchFamily="34" charset="0"/>
                <a:ea typeface="Calibri" pitchFamily="34" charset="-122"/>
                <a:cs typeface="Calibri" pitchFamily="34" charset="-120"/>
              </a:rPr>
              <a:t>plus future targets at +1 and +2 pentads, scored by Gaussian negative log-likelihood</a:t>
            </a:r>
            <a:pPr indent="0" marL="0">
              <a:buNone/>
            </a:pPr>
            <a:r>
              <a:rPr lang="en-US" sz="700" dirty="0">
                <a:solidFill>
                  <a:srgbClr val="1B2430"/>
                </a:solidFill>
                <a:latin typeface="Calibri" pitchFamily="34" charset="0"/>
                <a:ea typeface="Calibri" pitchFamily="34" charset="-122"/>
                <a:cs typeface="Calibri" pitchFamily="34" charset="-120"/>
              </a:rPr>
              <a:t>, so the model is graded on its stated uncertainty. The per-family predict-the-mean bar is logged at every eval. The fair-CRPS FGN head (E-052 / E-057) is the probabilistic option once a deterministic level exists.</a:t>
            </a:r>
            <a:endParaRPr lang="en-US" sz="950" dirty="0"/>
          </a:p>
        </p:txBody>
      </p:sp>
      <p:sp>
        <p:nvSpPr>
          <p:cNvPr id="15" name="Shape 12"/>
          <p:cNvSpPr/>
          <p:nvPr/>
        </p:nvSpPr>
        <p:spPr>
          <a:xfrm>
            <a:off x="7205472" y="3456432"/>
            <a:ext cx="4407408" cy="1024128"/>
          </a:xfrm>
          <a:prstGeom prst="roundRect">
            <a:avLst>
              <a:gd name="adj" fmla="val 7143"/>
            </a:avLst>
          </a:prstGeom>
          <a:solidFill>
            <a:srgbClr val="F4F6F9"/>
          </a:solidFill>
          <a:ln w="15875">
            <a:solidFill>
              <a:srgbClr val="0B1F3A"/>
            </a:solidFill>
            <a:prstDash val="solid"/>
          </a:ln>
        </p:spPr>
      </p:sp>
      <p:sp>
        <p:nvSpPr>
          <p:cNvPr id="16" name="Text 13"/>
          <p:cNvSpPr txBox="1"/>
          <p:nvPr/>
        </p:nvSpPr>
        <p:spPr>
          <a:xfrm>
            <a:off x="7315200" y="3502152"/>
            <a:ext cx="4187952" cy="164592"/>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Optimiser &amp; schedule (§4.3)</a:t>
            </a:r>
            <a:endParaRPr lang="en-US" sz="950" dirty="0"/>
          </a:p>
        </p:txBody>
      </p:sp>
      <p:sp>
        <p:nvSpPr>
          <p:cNvPr id="17" name="Text 14"/>
          <p:cNvSpPr txBox="1"/>
          <p:nvPr/>
        </p:nvSpPr>
        <p:spPr>
          <a:xfrm>
            <a:off x="7315200" y="3685032"/>
            <a:ext cx="4187952" cy="740664"/>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AdamW, β₁ 0.9, β₂ 0.95, weight decay 0.1, gradient clip 1.0 on standardised inputs; bf16 with fp32 master weights; </a:t>
            </a:r>
            <a:pPr indent="0" marL="0">
              <a:buNone/>
            </a:pPr>
            <a:r>
              <a:rPr lang="en-US" sz="700" b="1" dirty="0">
                <a:solidFill>
                  <a:srgbClr val="0B1F3A"/>
                </a:solidFill>
                <a:latin typeface="Calibri" pitchFamily="34" charset="0"/>
                <a:ea typeface="Calibri" pitchFamily="34" charset="-122"/>
                <a:cs typeface="Calibri" pitchFamily="34" charset="-120"/>
              </a:rPr>
              <a:t>2,000 warm-up steps, cosine to 10 % of peak</a:t>
            </a:r>
            <a:pPr indent="0" marL="0">
              <a:buNone/>
            </a:pPr>
            <a:r>
              <a:rPr lang="en-US" sz="700" dirty="0">
                <a:solidFill>
                  <a:srgbClr val="1B2430"/>
                </a:solidFill>
                <a:latin typeface="Calibri" pitchFamily="34" charset="0"/>
                <a:ea typeface="Calibri" pitchFamily="34" charset="-122"/>
                <a:cs typeface="Calibri" pitchFamily="34" charset="-120"/>
              </a:rPr>
              <a:t>. Peak learning rate 3 × 10⁻⁴ at 7 M (E-069) and 4 × 10⁻⁴ at the 1280 × 20 heads (E-054); at L2 a three-point sweep at the smallest width, carried up by μP-style scaling — the per-layer parametrisation that keeps the optimal learning rate fixed across width, and the one thing that makes a 4.5 B run a one-shot rather than a search. </a:t>
            </a:r>
            <a:pPr indent="0" marL="0">
              <a:buNone/>
            </a:pPr>
            <a:r>
              <a:rPr lang="en-US" sz="700" b="1" dirty="0">
                <a:solidFill>
                  <a:srgbClr val="0B1F3A"/>
                </a:solidFill>
                <a:latin typeface="Calibri" pitchFamily="34" charset="0"/>
                <a:ea typeface="Calibri" pitchFamily="34" charset="-122"/>
                <a:cs typeface="Calibri" pitchFamily="34" charset="-120"/>
              </a:rPr>
              <a:t>Early stopping at the held-out minimum, its step recorded; ≤ 4 epochs.</a:t>
            </a:r>
            <a:endParaRPr lang="en-US" sz="950" dirty="0"/>
          </a:p>
        </p:txBody>
      </p:sp>
      <p:sp>
        <p:nvSpPr>
          <p:cNvPr id="18" name="Shape 15"/>
          <p:cNvSpPr/>
          <p:nvPr/>
        </p:nvSpPr>
        <p:spPr>
          <a:xfrm>
            <a:off x="7205472" y="4535424"/>
            <a:ext cx="4407408" cy="676656"/>
          </a:xfrm>
          <a:prstGeom prst="roundRect">
            <a:avLst>
              <a:gd name="adj" fmla="val 10811"/>
            </a:avLst>
          </a:prstGeom>
          <a:solidFill>
            <a:srgbClr val="F5FBF7"/>
          </a:solidFill>
          <a:ln w="15875">
            <a:solidFill>
              <a:srgbClr val="1F7A4D"/>
            </a:solidFill>
            <a:prstDash val="solid"/>
          </a:ln>
        </p:spPr>
      </p:sp>
      <p:sp>
        <p:nvSpPr>
          <p:cNvPr id="19" name="Text 16"/>
          <p:cNvSpPr txBox="1"/>
          <p:nvPr/>
        </p:nvSpPr>
        <p:spPr>
          <a:xfrm>
            <a:off x="7315200" y="4581144"/>
            <a:ext cx="4187952" cy="164592"/>
          </a:xfrm>
          <a:prstGeom prst="rect">
            <a:avLst/>
          </a:prstGeom>
          <a:noFill/>
          <a:ln/>
        </p:spPr>
        <p:txBody>
          <a:bodyPr wrap="square" lIns="0" tIns="0" rIns="0" bIns="0" rtlCol="0" anchor="t"/>
          <a:lstStyle/>
          <a:p>
            <a:pPr indent="0" marL="0">
              <a:buNone/>
            </a:pPr>
            <a:r>
              <a:rPr lang="en-US" sz="850" b="1" dirty="0">
                <a:solidFill>
                  <a:srgbClr val="1F7A4D"/>
                </a:solidFill>
                <a:latin typeface="Calibri" pitchFamily="34" charset="0"/>
                <a:ea typeface="Calibri" pitchFamily="34" charset="-122"/>
                <a:cs typeface="Calibri" pitchFamily="34" charset="-120"/>
              </a:rPr>
              <a:t>Noise (§4.4)</a:t>
            </a:r>
            <a:endParaRPr lang="en-US" sz="950" dirty="0"/>
          </a:p>
        </p:txBody>
      </p:sp>
      <p:sp>
        <p:nvSpPr>
          <p:cNvPr id="20" name="Text 17"/>
          <p:cNvSpPr txBox="1"/>
          <p:nvPr/>
        </p:nvSpPr>
        <p:spPr>
          <a:xfrm>
            <a:off x="7315200" y="4764024"/>
            <a:ext cx="4187952" cy="393192"/>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z-noise 0.7 on the forecaster’s input embeddings stays — measured +0.045 / +0.050 on the rolled field (E-036 / E-037). Its mechanism is DENOISING: the forecaster learns the manifold of plausible embeddings rather than the identity. Re-measure the dose at L3+; the optimum moved with the lattice in E-065 and will move with width.</a:t>
            </a:r>
            <a:endParaRPr lang="en-US" sz="950" dirty="0"/>
          </a:p>
        </p:txBody>
      </p:sp>
      <p:sp>
        <p:nvSpPr>
          <p:cNvPr id="21" name="Shape 18"/>
          <p:cNvSpPr/>
          <p:nvPr/>
        </p:nvSpPr>
        <p:spPr>
          <a:xfrm>
            <a:off x="7205472" y="5266944"/>
            <a:ext cx="4407408" cy="621792"/>
          </a:xfrm>
          <a:prstGeom prst="roundRect">
            <a:avLst>
              <a:gd name="adj" fmla="val 11765"/>
            </a:avLst>
          </a:prstGeom>
          <a:solidFill>
            <a:srgbClr val="FBF5F5"/>
          </a:solidFill>
          <a:ln w="15875">
            <a:solidFill>
              <a:srgbClr val="A23B3B"/>
            </a:solidFill>
            <a:prstDash val="solid"/>
          </a:ln>
        </p:spPr>
      </p:sp>
      <p:sp>
        <p:nvSpPr>
          <p:cNvPr id="22" name="Text 19"/>
          <p:cNvSpPr txBox="1"/>
          <p:nvPr/>
        </p:nvSpPr>
        <p:spPr>
          <a:xfrm>
            <a:off x="7315200" y="5312664"/>
            <a:ext cx="4187952" cy="164592"/>
          </a:xfrm>
          <a:prstGeom prst="rect">
            <a:avLst/>
          </a:prstGeom>
          <a:noFill/>
          <a:ln/>
        </p:spPr>
        <p:txBody>
          <a:bodyPr wrap="square" lIns="0" tIns="0" rIns="0" bIns="0" rtlCol="0" anchor="t"/>
          <a:lstStyle/>
          <a:p>
            <a:pPr indent="0" marL="0">
              <a:buNone/>
            </a:pPr>
            <a:r>
              <a:rPr lang="en-US" sz="850" b="1" dirty="0">
                <a:solidFill>
                  <a:srgbClr val="A23B3B"/>
                </a:solidFill>
                <a:latin typeface="Calibri" pitchFamily="34" charset="0"/>
                <a:ea typeface="Calibri" pitchFamily="34" charset="-122"/>
                <a:cs typeface="Calibri" pitchFamily="34" charset="-120"/>
              </a:rPr>
              <a:t>What scale does NOT fix (§4.5)</a:t>
            </a:r>
            <a:endParaRPr lang="en-US" sz="950" dirty="0"/>
          </a:p>
        </p:txBody>
      </p:sp>
      <p:sp>
        <p:nvSpPr>
          <p:cNvPr id="23" name="Text 20"/>
          <p:cNvSpPr txBox="1"/>
          <p:nvPr/>
        </p:nvSpPr>
        <p:spPr>
          <a:xfrm>
            <a:off x="7315200" y="5495544"/>
            <a:ext cx="4187952" cy="338328"/>
          </a:xfrm>
          <a:prstGeom prst="rect">
            <a:avLst/>
          </a:prstGeom>
          <a:noFill/>
          <a:ln/>
        </p:spPr>
        <p:txBody>
          <a:bodyPr wrap="square" lIns="0" tIns="0" rIns="0" bIns="0" rtlCol="0" anchor="t"/>
          <a:lstStyle/>
          <a:p>
            <a:pPr indent="0" marL="0">
              <a:buNone/>
            </a:pPr>
            <a:r>
              <a:rPr lang="en-US" sz="700" dirty="0">
                <a:solidFill>
                  <a:srgbClr val="1B2430"/>
                </a:solidFill>
                <a:latin typeface="Calibri" pitchFamily="34" charset="0"/>
                <a:ea typeface="Calibri" pitchFamily="34" charset="-122"/>
                <a:cs typeface="Calibri" pitchFamily="34" charset="-120"/>
              </a:rPr>
              <a:t>H1 — recovering the anchor’s own velocity from the displacement of tracers across the cone — FAILED at 7 M under two objectives, five seeds, and on a synthetic advection field. A displacement head or a relative-position attention bias is a MODELLING arm, tested at L1 on the synthetic field first; never promised from scale.</a:t>
            </a:r>
            <a:endParaRPr lang="en-US" sz="950" dirty="0"/>
          </a:p>
        </p:txBody>
      </p:sp>
      <p:sp>
        <p:nvSpPr>
          <p:cNvPr id="24" name="Text 21"/>
          <p:cNvSpPr txBox="1"/>
          <p:nvPr/>
        </p:nvSpPr>
        <p:spPr>
          <a:xfrm>
            <a:off x="548640" y="5961888"/>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Every rung reports the same null ladder — climatology, persistence, damped persistence, the LIM at K = 200 in pixel space and in the rung’s embedding space, nearest-analogue retrieval and the rung below — as MSSS per lead, per channel, per scope, with block-bootstrap intervals and amplitude calibration reported separately. And the arithmetic on the left says the rest: compute is cheap until the kilometre rung; the data is the expensive part.</a:t>
            </a:r>
            <a:endParaRPr lang="en-US" sz="850" dirty="0"/>
          </a:p>
        </p:txBody>
      </p:sp>
      <p:sp>
        <p:nvSpPr>
          <p:cNvPr id="25"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Read-outs: El Niño, AMOC, colour — and what each needs first</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E-072 §5–6. Six read-outs, one frozen representation. Each row names the label it is scored against, the data that must land before the head is worth training, and the null it must beat.</a:t>
            </a:r>
            <a:endParaRPr lang="en-US" sz="1250" dirty="0"/>
          </a:p>
        </p:txBody>
      </p:sp>
      <p:sp>
        <p:nvSpPr>
          <p:cNvPr id="4" name="Shape 2"/>
          <p:cNvSpPr/>
          <p:nvPr/>
        </p:nvSpPr>
        <p:spPr>
          <a:xfrm>
            <a:off x="548640" y="1353312"/>
            <a:ext cx="7543800" cy="310896"/>
          </a:xfrm>
          <a:prstGeom prst="roundRect">
            <a:avLst>
              <a:gd name="adj" fmla="val 23529"/>
            </a:avLst>
          </a:prstGeom>
          <a:solidFill>
            <a:srgbClr val="F7F4FB"/>
          </a:solidFill>
          <a:ln w="15875">
            <a:solidFill>
              <a:srgbClr val="6A4C93"/>
            </a:solidFill>
            <a:prstDash val="solid"/>
          </a:ln>
        </p:spPr>
      </p:sp>
      <p:sp>
        <p:nvSpPr>
          <p:cNvPr id="5" name="Text 3"/>
          <p:cNvSpPr txBox="1"/>
          <p:nvPr/>
        </p:nvSpPr>
        <p:spPr>
          <a:xfrm>
            <a:off x="658368" y="1417320"/>
            <a:ext cx="7324344" cy="201168"/>
          </a:xfrm>
          <a:prstGeom prst="rect">
            <a:avLst/>
          </a:prstGeom>
          <a:noFill/>
          <a:ln/>
        </p:spPr>
        <p:txBody>
          <a:bodyPr wrap="square" lIns="0" tIns="0" rIns="0" bIns="0" rtlCol="0" anchor="t"/>
          <a:lstStyle/>
          <a:p>
            <a:pPr indent="0" marL="0">
              <a:buNone/>
            </a:pPr>
            <a:r>
              <a:rPr lang="en-US" sz="800" b="1" dirty="0">
                <a:solidFill>
                  <a:srgbClr val="6A4C93"/>
                </a:solidFill>
                <a:latin typeface="Calibri" pitchFamily="34" charset="0"/>
                <a:ea typeface="Calibri" pitchFamily="34" charset="-122"/>
                <a:cs typeface="Calibri" pitchFamily="34" charset="-120"/>
              </a:rPr>
              <a:t>Every read-out is a head on the frozen representation plus the rolled forecast — never a separate model — so adding one costs a probe, not a run.</a:t>
            </a:r>
            <a:endParaRPr lang="en-US" sz="9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543800" cy="914400"/>
        </p:xfrm>
        <a:graphic>
          <a:graphicData uri="http://schemas.openxmlformats.org/drawingml/2006/table">
            <a:tbl>
              <a:tblPr/>
              <a:tblGrid>
                <a:gridCol w="969264"/>
                <a:gridCol w="1956816"/>
                <a:gridCol w="2788920"/>
                <a:gridCol w="1828800"/>
              </a:tblGrid>
              <a:tr h="201168">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read-out</a:t>
                      </a:r>
                      <a:endParaRPr lang="en-US" sz="70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the label</a:t>
                      </a:r>
                      <a:endParaRPr lang="en-US" sz="70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the data prerequisite</a:t>
                      </a:r>
                      <a:endParaRPr lang="en-US" sz="70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the null it must beat</a:t>
                      </a:r>
                      <a:endParaRPr lang="en-US" sz="70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841248">
                <a:tc>
                  <a:txBody>
                    <a:bodyPr/>
                    <a:lstStyle/>
                    <a:p>
                      <a:pPr indent="0" marL="0">
                        <a:buNone/>
                      </a:pPr>
                      <a:r>
                        <a:rPr lang="en-US" sz="850" b="1" dirty="0">
                          <a:solidFill>
                            <a:srgbClr val="E07A2F"/>
                          </a:solidFill>
                          <a:latin typeface="Calibri" pitchFamily="34" charset="0"/>
                          <a:ea typeface="Calibri" pitchFamily="34" charset="-122"/>
                          <a:cs typeface="Calibri" pitchFamily="34" charset="-120"/>
                        </a:rPr>
                        <a:t>El Niño</a:t>
                      </a:r>
                      <a:endParaRPr lang="en-US" sz="85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2F6FA"/>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Niño-3.4 / ONI, and the 2026 event’s peak and exit — our own OISST bake (−0.57 Jan → +2.09 Jul 2026) reconciled with CPC’s ONI</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the tropical Pacific is already in family 7 (E-070); the SUBSURFACE (GODAS / ORAS5, or the warm-water volume) and daily winds are the additions ranked in CONE_DATA_AND_ENSO §4.5 — without them the head is an SST-persistence forecast</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the IRI/CPC plume; the LIM; the spring-barrier skill curve</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822960">
                <a:tc>
                  <a:txBody>
                    <a:bodyPr/>
                    <a:lstStyle/>
                    <a:p>
                      <a:pPr indent="0" marL="0">
                        <a:buNone/>
                      </a:pPr>
                      <a:r>
                        <a:rPr lang="en-US" sz="850" b="1" dirty="0">
                          <a:solidFill>
                            <a:srgbClr val="2E86AB"/>
                          </a:solidFill>
                          <a:latin typeface="Calibri" pitchFamily="34" charset="0"/>
                          <a:ea typeface="Calibri" pitchFamily="34" charset="-122"/>
                          <a:cs typeface="Calibri" pitchFamily="34" charset="-120"/>
                        </a:rPr>
                        <a:t>AMOC</a:t>
                      </a:r>
                      <a:endParaRPr lang="en-US" sz="85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2F6FA"/>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RAPID at 26.5° N, then MOVE, OSNAP, SAMBA and the Florida cable — the truth series is already in the tensor (truth_rapid, truth_fc)</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E-071’s buoyancy forcing (ERA5 heat and freshwater fluxes) and the 3-D interior (GREP) — the two additions the data ladder ranks first; and the terminal holdout, because the number is low-frequency (E-062’s 3-year roll finding)</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damped persistence; the LIM; the wind-stress ridge bar</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640080">
                <a:tc>
                  <a:txBody>
                    <a:bodyPr/>
                    <a:lstStyle/>
                    <a:p>
                      <a:pPr indent="0" marL="0">
                        <a:buNone/>
                      </a:pPr>
                      <a:r>
                        <a:rPr lang="en-US" sz="850" b="1" dirty="0">
                          <a:solidFill>
                            <a:srgbClr val="1F9E89"/>
                          </a:solidFill>
                          <a:latin typeface="Calibri" pitchFamily="34" charset="0"/>
                          <a:ea typeface="Calibri" pitchFamily="34" charset="-122"/>
                          <a:cs typeface="Calibri" pitchFamily="34" charset="-120"/>
                        </a:rPr>
                        <a:t>surface colour</a:t>
                      </a:r>
                      <a:endParaRPr lang="en-US" sz="85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2F6FA"/>
                    </a:solidFill>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chlorophyll — OC-CCI 4 km from 1997, PACE from 2024 — as a TARGET channel: reflectance is the input, colour the target (E-071 §6.1)</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the reflectance bands in the shared set, and BGC-Argo profile tokens</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persistence; the seasonal harmonic; a ridge on reflectance</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93776">
                <a:tc>
                  <a:txBody>
                    <a:bodyPr/>
                    <a:lstStyle/>
                    <a:p>
                      <a:pPr indent="0" marL="0">
                        <a:buNone/>
                      </a:pPr>
                      <a:r>
                        <a:rPr lang="en-US" sz="750" b="1" dirty="0">
                          <a:solidFill>
                            <a:srgbClr val="2E86AB"/>
                          </a:solidFill>
                          <a:latin typeface="Calibri" pitchFamily="34" charset="0"/>
                          <a:ea typeface="Calibri" pitchFamily="34" charset="-122"/>
                          <a:cs typeface="Calibri" pitchFamily="34" charset="-120"/>
                        </a:rPr>
                        <a:t>sea ice</a:t>
                      </a:r>
                      <a:endParaRPr lang="en-US" sz="75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concentration, extent, the September minimum — OSI SAF / NSIDC, already the frozen-fraction channel</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nothing new: it is in Phase L0</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damped persistence; the LIM</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38912">
                <a:tc>
                  <a:txBody>
                    <a:bodyPr/>
                    <a:lstStyle/>
                    <a:p>
                      <a:pPr indent="0" marL="0">
                        <a:buNone/>
                      </a:pPr>
                      <a:r>
                        <a:rPr lang="en-US" sz="750" b="1" dirty="0">
                          <a:solidFill>
                            <a:srgbClr val="4E8A3E"/>
                          </a:solidFill>
                          <a:latin typeface="Calibri" pitchFamily="34" charset="0"/>
                          <a:ea typeface="Calibri" pitchFamily="34" charset="-122"/>
                          <a:cs typeface="Calibri" pitchFamily="34" charset="-120"/>
                        </a:rPr>
                        <a:t>land water</a:t>
                      </a:r>
                      <a:endParaRPr lang="en-US" sz="75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GRACE storage, soil moisture, snow</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GRACE, ESA CCI soil moisture, MOD10 snow — Phase L0 / L1 of E-071 §6.5</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persistence; the harmonic</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38912">
                <a:tc>
                  <a:txBody>
                    <a:bodyPr/>
                    <a:lstStyle/>
                    <a:p>
                      <a:pPr indent="0" marL="0">
                        <a:buNone/>
                      </a:pPr>
                      <a:r>
                        <a:rPr lang="en-US" sz="750" b="1" dirty="0">
                          <a:solidFill>
                            <a:srgbClr val="E07A2F"/>
                          </a:solidFill>
                          <a:latin typeface="Calibri" pitchFamily="34" charset="0"/>
                          <a:ea typeface="Calibri" pitchFamily="34" charset="-122"/>
                          <a:cs typeface="Calibri" pitchFamily="34" charset="-120"/>
                        </a:rPr>
                        <a:t>the atmosphere</a:t>
                      </a:r>
                      <a:endParaRPr lang="en-US" sz="750" dirty="0">
                        <a:latin typeface="Calibri" charset="0"/>
                        <a:ea typeface="Calibri" charset="0"/>
                        <a:cs typeface="Calibri" charset="0"/>
                      </a:endParaRPr>
                    </a:p>
                  </a:txBody>
                  <a:tcPr marL="32004" marR="32004" marT="32004" marB="32004"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2 m temperature and precipitation at 5–30 days — ERA5, IMERG</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1B2430"/>
                          </a:solidFill>
                          <a:latin typeface="Calibri" pitchFamily="34" charset="0"/>
                          <a:ea typeface="Calibri" pitchFamily="34" charset="-122"/>
                          <a:cs typeface="Calibri" pitchFamily="34" charset="-120"/>
                        </a:rPr>
                        <a:t>Phase L0</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700" dirty="0">
                          <a:solidFill>
                            <a:srgbClr val="6B7A8F"/>
                          </a:solidFill>
                          <a:latin typeface="Calibri" pitchFamily="34" charset="0"/>
                          <a:ea typeface="Calibri" pitchFamily="34" charset="-122"/>
                          <a:cs typeface="Calibri" pitchFamily="34" charset="-120"/>
                        </a:rPr>
                        <a:t>ECMWF’s own open-data forecast — a strong, free null</a:t>
                      </a:r>
                      <a:endParaRPr lang="en-US" sz="700" dirty="0">
                        <a:latin typeface="Calibri" charset="0"/>
                        <a:ea typeface="Calibri" charset="0"/>
                        <a:cs typeface="Calibri" charset="0"/>
                      </a:endParaRPr>
                    </a:p>
                  </a:txBody>
                  <a:tcPr marL="32004" marR="32004" marT="32004" marB="32004"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7" name="Shape 4"/>
          <p:cNvSpPr/>
          <p:nvPr/>
        </p:nvSpPr>
        <p:spPr>
          <a:xfrm>
            <a:off x="8321040" y="1353312"/>
            <a:ext cx="3291840" cy="1133856"/>
          </a:xfrm>
          <a:prstGeom prst="roundRect">
            <a:avLst>
              <a:gd name="adj" fmla="val 6452"/>
            </a:avLst>
          </a:prstGeom>
          <a:solidFill>
            <a:srgbClr val="FFF6EE"/>
          </a:solidFill>
          <a:ln w="15875">
            <a:solidFill>
              <a:srgbClr val="E07A2F"/>
            </a:solidFill>
            <a:prstDash val="solid"/>
          </a:ln>
        </p:spPr>
      </p:sp>
      <p:sp>
        <p:nvSpPr>
          <p:cNvPr id="8" name="Text 5"/>
          <p:cNvSpPr txBox="1"/>
          <p:nvPr/>
        </p:nvSpPr>
        <p:spPr>
          <a:xfrm>
            <a:off x="8430768" y="1408176"/>
            <a:ext cx="3072384" cy="274320"/>
          </a:xfrm>
          <a:prstGeom prst="rect">
            <a:avLst/>
          </a:prstGeom>
          <a:noFill/>
          <a:ln/>
        </p:spPr>
        <p:txBody>
          <a:bodyPr wrap="square" lIns="0" tIns="0" rIns="0" bIns="0" rtlCol="0" anchor="t"/>
          <a:lstStyle/>
          <a:p>
            <a:pPr indent="0" marL="0">
              <a:buNone/>
            </a:pPr>
            <a:r>
              <a:rPr lang="en-US" sz="900" b="1" dirty="0">
                <a:solidFill>
                  <a:srgbClr val="E07A2F"/>
                </a:solidFill>
                <a:latin typeface="Calibri" pitchFamily="34" charset="0"/>
                <a:ea typeface="Calibri" pitchFamily="34" charset="-122"/>
                <a:cs typeface="Calibri" pitchFamily="34" charset="-120"/>
              </a:rPr>
              <a:t>The order of work is the order of the prerequisites</a:t>
            </a:r>
            <a:endParaRPr lang="en-US" sz="950" dirty="0"/>
          </a:p>
        </p:txBody>
      </p:sp>
      <p:sp>
        <p:nvSpPr>
          <p:cNvPr id="9" name="Text 6"/>
          <p:cNvSpPr txBox="1"/>
          <p:nvPr/>
        </p:nvSpPr>
        <p:spPr>
          <a:xfrm>
            <a:off x="8430768" y="1755648"/>
            <a:ext cx="3072384" cy="932688"/>
          </a:xfrm>
          <a:prstGeom prst="rect">
            <a:avLst/>
          </a:prstGeom>
          <a:noFill/>
          <a:ln/>
        </p:spPr>
        <p:txBody>
          <a:bodyPr wrap="square" lIns="0" tIns="0" rIns="0" bIns="0" rtlCol="0" anchor="t"/>
          <a:lstStyle/>
          <a:p>
            <a:pPr indent="0" marL="0">
              <a:buNone/>
            </a:pPr>
            <a:r>
              <a:rPr lang="en-US" sz="750" dirty="0">
                <a:solidFill>
                  <a:srgbClr val="1B2430"/>
                </a:solidFill>
                <a:latin typeface="Calibri" pitchFamily="34" charset="0"/>
                <a:ea typeface="Calibri" pitchFamily="34" charset="-122"/>
                <a:cs typeface="Calibri" pitchFamily="34" charset="-120"/>
              </a:rPr>
              <a:t>Sea ice and land water are FREE the day Phase L0 exists — six gap-free ERA5 / ice / soil channels, ~40 GB. </a:t>
            </a:r>
            <a:pPr indent="0" marL="0">
              <a:buNone/>
            </a:pPr>
            <a:r>
              <a:rPr lang="en-US" sz="750" b="1" dirty="0">
                <a:solidFill>
                  <a:srgbClr val="E07A2F"/>
                </a:solidFill>
                <a:latin typeface="Calibri" pitchFamily="34" charset="0"/>
                <a:ea typeface="Calibri" pitchFamily="34" charset="-122"/>
                <a:cs typeface="Calibri" pitchFamily="34" charset="-120"/>
              </a:rPr>
              <a:t>El Niño</a:t>
            </a:r>
            <a:pPr indent="0" marL="0">
              <a:buNone/>
            </a:pPr>
            <a:r>
              <a:rPr lang="en-US" sz="750" dirty="0">
                <a:solidFill>
                  <a:srgbClr val="1B2430"/>
                </a:solidFill>
                <a:latin typeface="Calibri" pitchFamily="34" charset="0"/>
                <a:ea typeface="Calibri" pitchFamily="34" charset="-122"/>
                <a:cs typeface="Calibri" pitchFamily="34" charset="-120"/>
              </a:rPr>
              <a:t> needs the Pacific subsurface. </a:t>
            </a:r>
            <a:pPr indent="0" marL="0">
              <a:buNone/>
            </a:pPr>
            <a:r>
              <a:rPr lang="en-US" sz="750" b="1" dirty="0">
                <a:solidFill>
                  <a:srgbClr val="2E86AB"/>
                </a:solidFill>
                <a:latin typeface="Calibri" pitchFamily="34" charset="0"/>
                <a:ea typeface="Calibri" pitchFamily="34" charset="-122"/>
                <a:cs typeface="Calibri" pitchFamily="34" charset="-120"/>
              </a:rPr>
              <a:t>AMOC</a:t>
            </a:r>
            <a:pPr indent="0" marL="0">
              <a:buNone/>
            </a:pPr>
            <a:r>
              <a:rPr lang="en-US" sz="750" dirty="0">
                <a:solidFill>
                  <a:srgbClr val="1B2430"/>
                </a:solidFill>
                <a:latin typeface="Calibri" pitchFamily="34" charset="0"/>
                <a:ea typeface="Calibri" pitchFamily="34" charset="-122"/>
                <a:cs typeface="Calibri" pitchFamily="34" charset="-120"/>
              </a:rPr>
              <a:t> needs the buoyancy forcing and the interior. </a:t>
            </a:r>
            <a:pPr indent="0" marL="0">
              <a:buNone/>
            </a:pPr>
            <a:r>
              <a:rPr lang="en-US" sz="750" b="1" dirty="0">
                <a:solidFill>
                  <a:srgbClr val="1F9E89"/>
                </a:solidFill>
                <a:latin typeface="Calibri" pitchFamily="34" charset="0"/>
                <a:ea typeface="Calibri" pitchFamily="34" charset="-122"/>
                <a:cs typeface="Calibri" pitchFamily="34" charset="-120"/>
              </a:rPr>
              <a:t>Colour</a:t>
            </a:r>
            <a:pPr indent="0" marL="0">
              <a:buNone/>
            </a:pPr>
            <a:r>
              <a:rPr lang="en-US" sz="750" dirty="0">
                <a:solidFill>
                  <a:srgbClr val="1B2430"/>
                </a:solidFill>
                <a:latin typeface="Calibri" pitchFamily="34" charset="0"/>
                <a:ea typeface="Calibri" pitchFamily="34" charset="-122"/>
                <a:cs typeface="Calibri" pitchFamily="34" charset="-120"/>
              </a:rPr>
              <a:t> needs the reflectance bands and the biosphere sphere.</a:t>
            </a:r>
            <a:endParaRPr lang="en-US" sz="950" dirty="0"/>
          </a:p>
        </p:txBody>
      </p:sp>
      <p:sp>
        <p:nvSpPr>
          <p:cNvPr id="10" name="Shape 7"/>
          <p:cNvSpPr/>
          <p:nvPr/>
        </p:nvSpPr>
        <p:spPr>
          <a:xfrm>
            <a:off x="8321040" y="2560320"/>
            <a:ext cx="3291840" cy="3072384"/>
          </a:xfrm>
          <a:prstGeom prst="roundRect">
            <a:avLst>
              <a:gd name="adj" fmla="val 2381"/>
            </a:avLst>
          </a:prstGeom>
          <a:solidFill>
            <a:srgbClr val="F4F6F9"/>
          </a:solidFill>
          <a:ln w="15875">
            <a:solidFill>
              <a:srgbClr val="0B1F3A"/>
            </a:solidFill>
            <a:prstDash val="solid"/>
          </a:ln>
        </p:spPr>
      </p:sp>
      <p:sp>
        <p:nvSpPr>
          <p:cNvPr id="11" name="Text 8"/>
          <p:cNvSpPr txBox="1"/>
          <p:nvPr/>
        </p:nvSpPr>
        <p:spPr>
          <a:xfrm>
            <a:off x="8430768" y="2615184"/>
            <a:ext cx="3072384" cy="182880"/>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What to do first, in one list (E-072 §6)</a:t>
            </a:r>
            <a:endParaRPr lang="en-US" sz="950" dirty="0"/>
          </a:p>
        </p:txBody>
      </p:sp>
      <p:sp>
        <p:nvSpPr>
          <p:cNvPr id="12" name="Text 9"/>
          <p:cNvSpPr txBox="1"/>
          <p:nvPr/>
        </p:nvSpPr>
        <p:spPr>
          <a:xfrm>
            <a:off x="8430768" y="2816352"/>
            <a:ext cx="3072384" cy="2743200"/>
          </a:xfrm>
          <a:prstGeom prst="rect">
            <a:avLst/>
          </a:prstGeom>
          <a:noFill/>
          <a:ln/>
        </p:spPr>
        <p:txBody>
          <a:bodyPr wrap="square" lIns="0" tIns="0" rIns="0" bIns="0" rtlCol="0" anchor="t"/>
          <a:lstStyle/>
          <a:p>
            <a:pPr indent="0" marL="0">
              <a:buNone/>
            </a:pPr>
            <a:r>
              <a:rPr lang="en-US" sz="800" b="1" dirty="0">
                <a:solidFill>
                  <a:srgbClr val="6A4C93"/>
                </a:solidFill>
                <a:latin typeface="Calibri" pitchFamily="34" charset="0"/>
                <a:ea typeface="Calibri" pitchFamily="34" charset="-122"/>
                <a:cs typeface="Calibri" pitchFamily="34" charset="-120"/>
              </a:rPr>
              <a:t>1  </a:t>
            </a:r>
            <a:pPr indent="0" marL="0">
              <a:spcAft>
                <a:spcPts val="400"/>
              </a:spcAft>
              <a:buNone/>
            </a:pPr>
            <a:r>
              <a:rPr lang="en-US" sz="750" dirty="0">
                <a:solidFill>
                  <a:srgbClr val="1B2430"/>
                </a:solidFill>
                <a:latin typeface="Calibri" pitchFamily="34" charset="0"/>
                <a:ea typeface="Calibri" pitchFamily="34" charset="-122"/>
                <a:cs typeface="Calibri" pitchFamily="34" charset="-120"/>
              </a:rPr>
              <a:t>E-071 on the North Atlantic (rung L1): cone v2 geometry + harmonic anomaly + profile tokens, per-family loss and rolled skill against the LIM — the cheapest measurement that says whether the data half of this plan moves anything.</a:t>
            </a:r>
            <a:endParaRPr lang="en-US" sz="950" dirty="0"/>
          </a:p>
          <a:p>
            <a:pPr indent="0" marL="0">
              <a:buNone/>
            </a:pPr>
            <a:r>
              <a:rPr lang="en-US" sz="800" b="1" dirty="0">
                <a:solidFill>
                  <a:srgbClr val="6A4C93"/>
                </a:solidFill>
                <a:latin typeface="Calibri" pitchFamily="34" charset="0"/>
                <a:ea typeface="Calibri" pitchFamily="34" charset="-122"/>
                <a:cs typeface="Calibri" pitchFamily="34" charset="-120"/>
              </a:rPr>
              <a:t>2  </a:t>
            </a:r>
            <a:pPr indent="0" marL="0">
              <a:spcAft>
                <a:spcPts val="400"/>
              </a:spcAft>
              <a:buNone/>
            </a:pPr>
            <a:r>
              <a:rPr lang="en-US" sz="750" dirty="0">
                <a:solidFill>
                  <a:srgbClr val="1B2430"/>
                </a:solidFill>
                <a:latin typeface="Calibri" pitchFamily="34" charset="0"/>
                <a:ea typeface="Calibri" pitchFamily="34" charset="-122"/>
                <a:cs typeface="Calibri" pitchFamily="34" charset="-120"/>
              </a:rPr>
              <a:t>Family 7’s Phases B–F (the global tensor is pulled, not built) and the L2 rung with E-070’s gates G1–G3 — with the width ladder re-measured there.</a:t>
            </a:r>
            <a:endParaRPr lang="en-US" sz="950" dirty="0"/>
          </a:p>
          <a:p>
            <a:pPr indent="0" marL="0">
              <a:buNone/>
            </a:pPr>
            <a:r>
              <a:rPr lang="en-US" sz="800" b="1" dirty="0">
                <a:solidFill>
                  <a:srgbClr val="6A4C93"/>
                </a:solidFill>
                <a:latin typeface="Calibri" pitchFamily="34" charset="0"/>
                <a:ea typeface="Calibri" pitchFamily="34" charset="-122"/>
                <a:cs typeface="Calibri" pitchFamily="34" charset="-120"/>
              </a:rPr>
              <a:t>3  </a:t>
            </a:r>
            <a:pPr indent="0" marL="0">
              <a:spcAft>
                <a:spcPts val="400"/>
              </a:spcAft>
              <a:buNone/>
            </a:pPr>
            <a:r>
              <a:rPr lang="en-US" sz="750" dirty="0">
                <a:solidFill>
                  <a:srgbClr val="1B2430"/>
                </a:solidFill>
                <a:latin typeface="Calibri" pitchFamily="34" charset="0"/>
                <a:ea typeface="Calibri" pitchFamily="34" charset="-122"/>
                <a:cs typeface="Calibri" pitchFamily="34" charset="-120"/>
              </a:rPr>
              <a:t>Phase L0 of E-071 §6 (six ERA5 / ice / soil channels, ~40 GB) and the first sea-ice and land-water heads — the cheapest new read-outs.</a:t>
            </a:r>
            <a:endParaRPr lang="en-US" sz="950" dirty="0"/>
          </a:p>
          <a:p>
            <a:pPr indent="0" marL="0">
              <a:buNone/>
            </a:pPr>
            <a:r>
              <a:rPr lang="en-US" sz="800" b="1" dirty="0">
                <a:solidFill>
                  <a:srgbClr val="6A4C93"/>
                </a:solidFill>
                <a:latin typeface="Calibri" pitchFamily="34" charset="0"/>
                <a:ea typeface="Calibri" pitchFamily="34" charset="-122"/>
                <a:cs typeface="Calibri" pitchFamily="34" charset="-120"/>
              </a:rPr>
              <a:t>4  </a:t>
            </a:r>
            <a:pPr indent="0" marL="0">
              <a:spcAft>
                <a:spcPts val="400"/>
              </a:spcAft>
              <a:buNone/>
            </a:pPr>
            <a:r>
              <a:rPr lang="en-US" sz="750" dirty="0">
                <a:solidFill>
                  <a:srgbClr val="1B2430"/>
                </a:solidFill>
                <a:latin typeface="Calibri" pitchFamily="34" charset="0"/>
                <a:ea typeface="Calibri" pitchFamily="34" charset="-122"/>
                <a:cs typeface="Calibri" pitchFamily="34" charset="-120"/>
              </a:rPr>
              <a:t>The Pacific subsurface and daily winds → the El Niño head, scored on the 2026 event’s peak and exit against the IRI plume — the read-out with a public benchmark.</a:t>
            </a:r>
            <a:endParaRPr lang="en-US" sz="950" dirty="0"/>
          </a:p>
          <a:p>
            <a:pPr indent="0" marL="0">
              <a:buNone/>
            </a:pPr>
            <a:r>
              <a:rPr lang="en-US" sz="800" b="1" dirty="0">
                <a:solidFill>
                  <a:srgbClr val="6A4C93"/>
                </a:solidFill>
                <a:latin typeface="Calibri" pitchFamily="34" charset="0"/>
                <a:ea typeface="Calibri" pitchFamily="34" charset="-122"/>
                <a:cs typeface="Calibri" pitchFamily="34" charset="-120"/>
              </a:rPr>
              <a:t>5  </a:t>
            </a:r>
            <a:pPr indent="0" marL="0">
              <a:spcAft>
                <a:spcPts val="400"/>
              </a:spcAft>
              <a:buNone/>
            </a:pPr>
            <a:r>
              <a:rPr lang="en-US" sz="750" dirty="0">
                <a:solidFill>
                  <a:srgbClr val="1B2430"/>
                </a:solidFill>
                <a:latin typeface="Calibri" pitchFamily="34" charset="0"/>
                <a:ea typeface="Calibri" pitchFamily="34" charset="-122"/>
                <a:cs typeface="Calibri" pitchFamily="34" charset="-120"/>
              </a:rPr>
              <a:t>L3: the sphere-routed mixture of experts at 1–4.5 B on the all-spheres tensor, with the μP learning-rate transfer measured at L2.</a:t>
            </a:r>
            <a:endParaRPr lang="en-US" sz="950" dirty="0"/>
          </a:p>
          <a:p>
            <a:pPr indent="0" marL="0">
              <a:buNone/>
            </a:pPr>
            <a:r>
              <a:rPr lang="en-US" sz="750" i="1" dirty="0">
                <a:solidFill>
                  <a:srgbClr val="6B7A8F"/>
                </a:solidFill>
                <a:latin typeface="Calibri" pitchFamily="34" charset="0"/>
                <a:ea typeface="Calibri" pitchFamily="34" charset="-122"/>
                <a:cs typeface="Calibri" pitchFamily="34" charset="-120"/>
              </a:rPr>
              <a:t>Nothing above rung L1 is dispatched by this plan; each rung is bought on the one below it.</a:t>
            </a:r>
            <a:endParaRPr lang="en-US" sz="950" dirty="0"/>
          </a:p>
        </p:txBody>
      </p:sp>
      <p:sp>
        <p:nvSpPr>
          <p:cNvPr id="13" name="Text 10"/>
          <p:cNvSpPr txBox="1"/>
          <p:nvPr/>
        </p:nvSpPr>
        <p:spPr>
          <a:xfrm>
            <a:off x="548640" y="5888736"/>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Every read-out is a head on ONE frozen representation plus the rolled forecast, never a separate model — which is why the list can grow without a new training run each time. The order of work is therefore the order of the prerequisites, not the order of how interesting the read-out is: sea ice and land water the day Phase L0 lands, El Niño once the Pacific subsurface is in, AMOC once the buoyancy forcing and the interior are, colour once the reflectance bands are.</a:t>
            </a:r>
            <a:endParaRPr lang="en-US" sz="850" dirty="0"/>
          </a:p>
        </p:txBody>
      </p:sp>
      <p:sp>
        <p:nvSpPr>
          <p:cNvPr id="14"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100" b="1" dirty="0">
                <a:solidFill>
                  <a:srgbClr val="0B1F3A"/>
                </a:solidFill>
                <a:latin typeface="Georgia" pitchFamily="34" charset="0"/>
                <a:ea typeface="Georgia" pitchFamily="34" charset="-122"/>
                <a:cs typeface="Georgia" pitchFamily="34" charset="-120"/>
              </a:rPr>
              <a:t>Phase 0 first — the decisive experiment fits the data we already have</a:t>
            </a:r>
            <a:endParaRPr lang="en-US" sz="21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Then one sphere per phase, in the agreed order: ocean surface + atmosphere as forcing, interior, ocean biosphere, land, fast atmosphere</a:t>
            </a:r>
            <a:endParaRPr lang="en-US" sz="1250" dirty="0"/>
          </a:p>
        </p:txBody>
      </p:sp>
      <p:sp>
        <p:nvSpPr>
          <p:cNvPr id="4" name="Shape 2"/>
          <p:cNvSpPr/>
          <p:nvPr/>
        </p:nvSpPr>
        <p:spPr>
          <a:xfrm>
            <a:off x="548640" y="1417320"/>
            <a:ext cx="11064240" cy="1737360"/>
          </a:xfrm>
          <a:prstGeom prst="roundRect">
            <a:avLst>
              <a:gd name="adj" fmla="val 4211"/>
            </a:avLst>
          </a:prstGeom>
          <a:solidFill>
            <a:srgbClr val="FFF6EE"/>
          </a:solidFill>
          <a:ln w="15875">
            <a:solidFill>
              <a:srgbClr val="E07A2F"/>
            </a:solidFill>
            <a:prstDash val="solid"/>
          </a:ln>
        </p:spPr>
      </p:sp>
      <p:sp>
        <p:nvSpPr>
          <p:cNvPr id="5" name="Text 3"/>
          <p:cNvSpPr txBox="1"/>
          <p:nvPr/>
        </p:nvSpPr>
        <p:spPr>
          <a:xfrm>
            <a:off x="685800" y="1481328"/>
            <a:ext cx="10789920" cy="1645920"/>
          </a:xfrm>
          <a:prstGeom prst="rect">
            <a:avLst/>
          </a:prstGeom>
          <a:noFill/>
          <a:ln/>
        </p:spPr>
        <p:txBody>
          <a:bodyPr wrap="square" lIns="0" tIns="0" rIns="0" bIns="0" rtlCol="0" anchor="t"/>
          <a:lstStyle/>
          <a:p>
            <a:pPr indent="0" marL="0">
              <a:buNone/>
            </a:pPr>
            <a:r>
              <a:rPr lang="en-US" sz="1200" b="1" dirty="0">
                <a:solidFill>
                  <a:srgbClr val="E07A2F"/>
                </a:solidFill>
                <a:latin typeface="Calibri" pitchFamily="34" charset="0"/>
                <a:ea typeface="Calibri" pitchFamily="34" charset="-122"/>
                <a:cs typeface="Calibri" pitchFamily="34" charset="-120"/>
              </a:rPr>
              <a:t>Phase 0 — the A/B on today's tokens (weeks).  </a:t>
            </a:r>
            <a:pPr indent="0" marL="0">
              <a:spcAft>
                <a:spcPts val="500"/>
              </a:spcAft>
              <a:buNone/>
            </a:pPr>
            <a:r>
              <a:rPr lang="en-US" sz="1050" dirty="0">
                <a:solidFill>
                  <a:srgbClr val="1B2430"/>
                </a:solidFill>
                <a:latin typeface="Calibri" pitchFamily="34" charset="0"/>
                <a:ea typeface="Calibri" pitchFamily="34" charset="-122"/>
                <a:cs typeface="Calibri" pitchFamily="34" charset="-120"/>
              </a:rPr>
              <a:t>Same tokens the stage-2 pool reads today: Earth 2 ocean pixel-months, 3 × 3 codec, sunflower-89 × 24 months. Train a cone codec over those tokens with channel drop + lag-band drop + anchor reconstruction. Compare at equal total context under the corrected window-scope pool (paper v8, 2 Sep 2026), after its null ladder exists, with n ≥ 3 seeds per arm:</a:t>
            </a:r>
            <a:endParaRPr lang="en-US" sz="950" dirty="0"/>
          </a:p>
          <a:p>
            <a:pPr indent="0" marL="0">
              <a:spcAft>
                <a:spcPts val="500"/>
              </a:spcAft>
              <a:buNone/>
            </a:pPr>
            <a:r>
              <a:rPr lang="en-US" sz="1050" b="1" dirty="0">
                <a:solidFill>
                  <a:srgbClr val="1B2430"/>
                </a:solidFill>
                <a:latin typeface="Calibri" pitchFamily="34" charset="0"/>
                <a:ea typeface="Calibri" pitchFamily="34" charset="-122"/>
                <a:cs typeface="Calibri" pitchFamily="34" charset="-120"/>
              </a:rPr>
              <a:t>A  current codec + stage-2 attention head   ·   B  cone codec + ridge probe   ·   B′  cone codec + attention head</a:t>
            </a:r>
            <a:endParaRPr lang="en-US" sz="950" dirty="0"/>
          </a:p>
          <a:p>
            <a:pPr indent="0" marL="0">
              <a:spcAft>
                <a:spcPts val="500"/>
              </a:spcAft>
              <a:buNone/>
            </a:pPr>
            <a:r>
              <a:rPr lang="en-US" sz="1050" dirty="0">
                <a:solidFill>
                  <a:srgbClr val="1B2430"/>
                </a:solidFill>
                <a:latin typeface="Calibri" pitchFamily="34" charset="0"/>
                <a:ea typeface="Calibri" pitchFamily="34" charset="-122"/>
                <a:cs typeface="Calibri" pitchFamily="34" charset="-120"/>
              </a:rPr>
              <a:t>Verdict metric: rolled skill — MSSS vs climatology and vs damped persistence per lead, trained and held-out longitudes separately, block-bootstrap intervals, the LIM null beside every number. Diagnostics (not verdicts): a velocity probe (GLORYS u, v at the anchor; drifters where available; derived channels masked at test) and the RAPID transport probe.</a:t>
            </a:r>
            <a:endParaRPr lang="en-US" sz="950" dirty="0"/>
          </a:p>
          <a:p>
            <a:pPr indent="0" marL="0">
              <a:buNone/>
            </a:pPr>
            <a:r>
              <a:rPr lang="en-US" sz="1050" i="1" dirty="0">
                <a:solidFill>
                  <a:srgbClr val="1B2430"/>
                </a:solidFill>
                <a:latin typeface="Calibri" pitchFamily="34" charset="0"/>
                <a:ea typeface="Calibri" pitchFamily="34" charset="-122"/>
                <a:cs typeface="Calibri" pitchFamily="34" charset="-120"/>
              </a:rPr>
              <a:t>Predictions: B ≥ A on rolled skill with a linear head, and B beats the embedding-space LIM where A does not; velocity probe B ≫ A; static probes equal. If B needs B′ to match A, the 'work in the embedding' argument loses on sample efficiency and the hybrid keeps a thick stage 2. Effects inside the tier's replicate band are written as consistencies, never levels.</a:t>
            </a:r>
            <a:endParaRPr lang="en-US" sz="9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7498080" cy="914400"/>
        </p:xfrm>
        <a:graphic>
          <a:graphicData uri="http://schemas.openxmlformats.org/drawingml/2006/table">
            <a:tbl>
              <a:tblPr/>
              <a:tblGrid>
                <a:gridCol w="548640"/>
                <a:gridCol w="1554480"/>
                <a:gridCol w="3017520"/>
                <a:gridCol w="237744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Phase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Sphere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enters</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New probes</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502920">
                <a:tc>
                  <a:txBody>
                    <a:bodyPr/>
                    <a:lstStyle/>
                    <a:p>
                      <a:pPr algn="ctr" indent="0" marL="0">
                        <a:buNone/>
                      </a:pPr>
                      <a:r>
                        <a:rPr lang="en-US" sz="1200" b="1" dirty="0">
                          <a:solidFill>
                            <a:srgbClr val="2E86A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2E86AB"/>
                          </a:solidFill>
                          <a:latin typeface="Calibri" pitchFamily="34" charset="0"/>
                          <a:ea typeface="Calibri" pitchFamily="34" charset="-122"/>
                          <a:cs typeface="Calibri" pitchFamily="34" charset="-120"/>
                        </a:rPr>
                        <a:t>Ocean surface + atmosphere as forcing</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rungs 6 + 7 as gridded dots (OSTIA, DUACS, ASCAT, IMERG, AMSR2 ice; ERA5 / IFS open data); L-shaped and A-family cones; pentad anchors at 25 km</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SST and SSH forecast skill at 1–4 weeks vs persistence and vs the Copernicus 1/12° forecast; sea-ice edge</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algn="ctr" indent="0" marL="0">
                        <a:buNone/>
                      </a:pPr>
                      <a:r>
                        <a:rPr lang="en-US" sz="1200" b="1" dirty="0">
                          <a:solidFill>
                            <a:srgbClr val="2E86A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2E86AB"/>
                          </a:solidFill>
                          <a:latin typeface="Calibri" pitchFamily="34" charset="0"/>
                          <a:ea typeface="Calibri" pitchFamily="34" charset="-122"/>
                          <a:cs typeface="Calibri" pitchFamily="34" charset="-120"/>
                        </a:rPr>
                        <a:t>Interior</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Argo core / Deep / BGC and moorings as native dots; GLORYS flagged derived, dropped 50 %; depth-band drop objective</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AMOC again; mixed-layer depth; heat content 0–700 m</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384048">
                <a:tc>
                  <a:txBody>
                    <a:bodyPr/>
                    <a:lstStyle/>
                    <a:p>
                      <a:pPr algn="ctr" indent="0" marL="0">
                        <a:buNone/>
                      </a:pPr>
                      <a:r>
                        <a:rPr lang="en-US" sz="1200" b="1" dirty="0">
                          <a:solidFill>
                            <a:srgbClr val="1F9E8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1F9E89"/>
                          </a:solidFill>
                          <a:latin typeface="Calibri" pitchFamily="34" charset="0"/>
                          <a:ea typeface="Calibri" pitchFamily="34" charset="-122"/>
                          <a:cs typeface="Calibri" pitchFamily="34" charset="-120"/>
                        </a:rPr>
                        <a:t>Ocean biosphere</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ocean-colour L3 (gaps stay gaps), PACE, SOCAT, BGC-Argo variables</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carbon-flux reconstruction vs SeaFlux / Copernicus carbon (held out, not input)</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algn="ctr" indent="0" marL="0">
                        <a:buNone/>
                      </a:pPr>
                      <a:r>
                        <a:rPr lang="en-US" sz="1200" b="1" dirty="0">
                          <a:solidFill>
                            <a:srgbClr val="4E8A3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4E8A3E"/>
                          </a:solidFill>
                          <a:latin typeface="Calibri" pitchFamily="34" charset="0"/>
                          <a:ea typeface="Calibri" pitchFamily="34" charset="-122"/>
                          <a:cs typeface="Calibri" pitchFamily="34" charset="-120"/>
                        </a:rPr>
                        <a:t>Land</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local codec on Sentinel-2/-1 and Landsat tiles (rungs 1–2); rung-10 fields as dots; column cones with the atmosphere hat</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LAI / SIF and soil-moisture forecasts, fire risk; standard GeoFM benchmarks on e_loc for comparability</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algn="ctr" indent="0" marL="0">
                        <a:buNone/>
                      </a:pPr>
                      <a:r>
                        <a:rPr lang="en-US" sz="1200" b="1" dirty="0">
                          <a:solidFill>
                            <a:srgbClr val="E07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b="1" dirty="0">
                          <a:solidFill>
                            <a:srgbClr val="E07A2F"/>
                          </a:solidFill>
                          <a:latin typeface="Calibri" pitchFamily="34" charset="0"/>
                          <a:ea typeface="Calibri" pitchFamily="34" charset="-122"/>
                          <a:cs typeface="Calibri" pitchFamily="34" charset="-120"/>
                        </a:rPr>
                        <a:t>Fast atmosphere</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geostationary imagers and ground radar at 10-min cadence through a second local codec (spatio-temporal tubelets); family-A disc at hourly Δt</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50" dirty="0">
                          <a:solidFill>
                            <a:srgbClr val="1B2430"/>
                          </a:solidFill>
                          <a:latin typeface="Calibri" pitchFamily="34" charset="0"/>
                          <a:ea typeface="Calibri" pitchFamily="34" charset="-122"/>
                          <a:cs typeface="Calibri" pitchFamily="34" charset="-120"/>
                        </a:rPr>
                        <a:t>nowcasting skill; wind-driven SST and ice response</a:t>
                      </a:r>
                      <a:endParaRPr lang="en-US" sz="85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7" name="Shape 4"/>
          <p:cNvSpPr/>
          <p:nvPr/>
        </p:nvSpPr>
        <p:spPr>
          <a:xfrm>
            <a:off x="8229600" y="3291840"/>
            <a:ext cx="3383280" cy="2971800"/>
          </a:xfrm>
          <a:prstGeom prst="roundRect">
            <a:avLst>
              <a:gd name="adj" fmla="val 2462"/>
            </a:avLst>
          </a:prstGeom>
          <a:solidFill>
            <a:srgbClr val="F4F6F9"/>
          </a:solidFill>
          <a:ln w="15875">
            <a:solidFill>
              <a:srgbClr val="0B1F3A"/>
            </a:solidFill>
            <a:prstDash val="solid"/>
          </a:ln>
        </p:spPr>
      </p:sp>
      <p:sp>
        <p:nvSpPr>
          <p:cNvPr id="8" name="Text 5"/>
          <p:cNvSpPr txBox="1"/>
          <p:nvPr/>
        </p:nvSpPr>
        <p:spPr>
          <a:xfrm>
            <a:off x="8366760" y="3364992"/>
            <a:ext cx="3154680" cy="2880360"/>
          </a:xfrm>
          <a:prstGeom prst="rect">
            <a:avLst/>
          </a:prstGeom>
          <a:noFill/>
          <a:ln/>
        </p:spPr>
        <p:txBody>
          <a:bodyPr wrap="square" lIns="0" tIns="0" rIns="0" bIns="0" rtlCol="0" anchor="t"/>
          <a:lstStyle/>
          <a:p>
            <a:pPr indent="0" marL="0">
              <a:spcAft>
                <a:spcPts val="400"/>
              </a:spcAft>
              <a:buNone/>
            </a:pPr>
            <a:r>
              <a:rPr lang="en-US" sz="1050" b="1" dirty="0">
                <a:solidFill>
                  <a:srgbClr val="0B1F3A"/>
                </a:solidFill>
                <a:latin typeface="Calibri" pitchFamily="34" charset="0"/>
                <a:ea typeface="Calibri" pitchFamily="34" charset="-122"/>
                <a:cs typeface="Calibri" pitchFamily="34" charset="-120"/>
              </a:rPr>
              <a:t>Ablations that run in every phase</a:t>
            </a:r>
            <a:endParaRPr lang="en-US" sz="950" dirty="0"/>
          </a:p>
          <a:p>
            <a:pPr indent="0" marL="0">
              <a:spcAft>
                <a:spcPts val="400"/>
              </a:spcAft>
              <a:buNone/>
            </a:pPr>
            <a:r>
              <a:rPr lang="en-US" sz="1000" dirty="0">
                <a:solidFill>
                  <a:srgbClr val="1B2430"/>
                </a:solidFill>
                <a:latin typeface="Calibri" pitchFamily="34" charset="0"/>
                <a:ea typeface="Calibri" pitchFamily="34" charset="-122"/>
                <a:cs typeface="Calibri" pitchFamily="34" charset="-120"/>
              </a:rPr>
              <a:t>1  cone-in vs cone-on-top at equal context</a:t>
            </a:r>
            <a:endParaRPr lang="en-US" sz="950" dirty="0"/>
          </a:p>
          <a:p>
            <a:pPr indent="0" marL="0">
              <a:spcAft>
                <a:spcPts val="400"/>
              </a:spcAft>
              <a:buNone/>
            </a:pPr>
            <a:r>
              <a:rPr lang="en-US" sz="1000" dirty="0">
                <a:solidFill>
                  <a:srgbClr val="1B2430"/>
                </a:solidFill>
                <a:latin typeface="Calibri" pitchFamily="34" charset="0"/>
                <a:ea typeface="Calibri" pitchFamily="34" charset="-122"/>
                <a:cs typeface="Calibri" pitchFamily="34" charset="-120"/>
              </a:rPr>
              <a:t>2  drop lag bands</a:t>
            </a:r>
            <a:endParaRPr lang="en-US" sz="950" dirty="0"/>
          </a:p>
          <a:p>
            <a:pPr indent="0" marL="0">
              <a:spcAft>
                <a:spcPts val="400"/>
              </a:spcAft>
              <a:buNone/>
            </a:pPr>
            <a:r>
              <a:rPr lang="en-US" sz="1000" dirty="0">
                <a:solidFill>
                  <a:srgbClr val="1B2430"/>
                </a:solidFill>
                <a:latin typeface="Calibri" pitchFamily="34" charset="0"/>
                <a:ea typeface="Calibri" pitchFamily="34" charset="-122"/>
                <a:cs typeface="Calibri" pitchFamily="34" charset="-120"/>
              </a:rPr>
              <a:t>3  drop the far field</a:t>
            </a:r>
            <a:endParaRPr lang="en-US" sz="950" dirty="0"/>
          </a:p>
          <a:p>
            <a:pPr indent="0" marL="0">
              <a:spcAft>
                <a:spcPts val="400"/>
              </a:spcAft>
              <a:buNone/>
            </a:pPr>
            <a:r>
              <a:rPr lang="en-US" sz="1000" dirty="0">
                <a:solidFill>
                  <a:srgbClr val="1B2430"/>
                </a:solidFill>
                <a:latin typeface="Calibri" pitchFamily="34" charset="0"/>
                <a:ea typeface="Calibri" pitchFamily="34" charset="-122"/>
                <a:cs typeface="Calibri" pitchFamily="34" charset="-120"/>
              </a:rPr>
              <a:t>4  drop depth</a:t>
            </a:r>
            <a:endParaRPr lang="en-US" sz="950" dirty="0"/>
          </a:p>
          <a:p>
            <a:pPr indent="0" marL="0">
              <a:spcAft>
                <a:spcPts val="400"/>
              </a:spcAft>
              <a:buNone/>
            </a:pPr>
            <a:r>
              <a:rPr lang="en-US" sz="1000" dirty="0">
                <a:solidFill>
                  <a:srgbClr val="1B2430"/>
                </a:solidFill>
                <a:latin typeface="Calibri" pitchFamily="34" charset="0"/>
                <a:ea typeface="Calibri" pitchFamily="34" charset="-122"/>
                <a:cs typeface="Calibri" pitchFamily="34" charset="-120"/>
              </a:rPr>
              <a:t>5  derived channels masked at test</a:t>
            </a:r>
            <a:endParaRPr lang="en-US" sz="950" dirty="0"/>
          </a:p>
          <a:p>
            <a:pPr indent="0" marL="0">
              <a:spcAft>
                <a:spcPts val="400"/>
              </a:spcAft>
              <a:buNone/>
            </a:pPr>
            <a:r>
              <a:rPr lang="en-US" sz="1000" dirty="0">
                <a:solidFill>
                  <a:srgbClr val="1B2430"/>
                </a:solidFill>
                <a:latin typeface="Calibri" pitchFamily="34" charset="0"/>
                <a:ea typeface="Calibri" pitchFamily="34" charset="-122"/>
                <a:cs typeface="Calibri" pitchFamily="34" charset="-120"/>
              </a:rPr>
              <a:t>6  cone × 2 vs cone × ½ on v and τ</a:t>
            </a:r>
            <a:endParaRPr lang="en-US" sz="950" dirty="0"/>
          </a:p>
          <a:p>
            <a:pPr indent="0" marL="0">
              <a:buNone/>
            </a:pPr>
            <a:r>
              <a:rPr lang="en-US" sz="850" i="1" dirty="0">
                <a:solidFill>
                  <a:srgbClr val="6B7A8F"/>
                </a:solidFill>
                <a:latin typeface="Calibri" pitchFamily="34" charset="0"/>
                <a:ea typeface="Calibri" pitchFamily="34" charset="-122"/>
                <a:cs typeface="Calibri" pitchFamily="34" charset="-120"/>
              </a:rPr>
              <a:t>Engineering first: a pre-materialised cone index per channel family (which tiles, dates and profiles fall in which anchors' cones). The sampler, not the network, is the bottleneck — the network is under an hour per year of 25 km pentad ocean embeddings at 100 TFLOP/s, about a day for 1 km monthly land.</a:t>
            </a:r>
            <a:endParaRPr lang="en-US" sz="95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Data continuity 2026–27 — build the archive sensor-agnostic</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What the verification pass found switching off or changing (agency notices, 2 Sep 2026). Channel-drop training turns a missing sensor into a masked channel, not a failure.</a:t>
            </a:r>
            <a:endParaRPr lang="en-US" sz="12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846320"/>
                <a:gridCol w="448056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changes</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Consequence for the ladder</a:t>
                      </a:r>
                      <a:endParaRPr lang="en-US" sz="900" dirty="0">
                        <a:latin typeface="Calibri" charset="0"/>
                        <a:ea typeface="Calibri" charset="0"/>
                        <a:cs typeface="Calibri" charset="0"/>
                      </a:endParaRPr>
                    </a:p>
                  </a:txBody>
                  <a:tcPr marL="36576" marR="36576" marT="36576" marB="36576"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502920">
                <a:tc>
                  <a:txBody>
                    <a:bodyPr/>
                    <a:lstStyle/>
                    <a:p>
                      <a:pPr indent="0" marL="0">
                        <a:buNone/>
                      </a:pPr>
                      <a:r>
                        <a:rPr lang="en-US" sz="800" b="1" dirty="0">
                          <a:solidFill>
                            <a:srgbClr val="4E8A3E"/>
                          </a:solidFill>
                          <a:latin typeface="Calibri" pitchFamily="34" charset="0"/>
                          <a:ea typeface="Calibri" pitchFamily="34" charset="-122"/>
                          <a:cs typeface="Calibri" pitchFamily="34" charset="-120"/>
                        </a:rPr>
                        <a:t>Sentinel-1</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S1B failed Dec 2021; S1C launched 5 Dec 2024, S1D 4 Nov 2025 (data open 17 Apr 2026); S1A terminated 29 Jun 2026</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Constellation is S1C + S1D at 6-day repeat, timeline shifted one day; radar record has a 2022–24 single-satellite gap</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411480">
                <a:tc>
                  <a:txBody>
                    <a:bodyPr/>
                    <a:lstStyle/>
                    <a:p>
                      <a:pPr indent="0" marL="0">
                        <a:buNone/>
                      </a:pPr>
                      <a:r>
                        <a:rPr lang="en-US" sz="800" b="1" dirty="0">
                          <a:solidFill>
                            <a:srgbClr val="4E8A3E"/>
                          </a:solidFill>
                          <a:latin typeface="Calibri" pitchFamily="34" charset="0"/>
                          <a:ea typeface="Calibri" pitchFamily="34" charset="-122"/>
                          <a:cs typeface="Calibri" pitchFamily="34" charset="-120"/>
                        </a:rPr>
                        <a:t>Sentinel-2</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Three satellites (S2A/B/C) only until end-2026; S2C is prime</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Revisit drops back to 5 days in 2027 — do not tune the local codec to the 2025–26 cadence</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indent="0" marL="0">
                        <a:buNone/>
                      </a:pPr>
                      <a:r>
                        <a:rPr lang="en-US" sz="800" b="1" dirty="0">
                          <a:solidFill>
                            <a:srgbClr val="2E86AB"/>
                          </a:solidFill>
                          <a:latin typeface="Calibri" pitchFamily="34" charset="0"/>
                          <a:ea typeface="Calibri" pitchFamily="34" charset="-122"/>
                          <a:cs typeface="Calibri" pitchFamily="34" charset="-120"/>
                        </a:rPr>
                        <a:t>MODIS → VIIRS</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Terra/Aqua shut down late 2026 / early 2027; Suomi-NPP data delivery ends 1 Nov 2026</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Rung 3 continues on NOAA-21 (primary) and NOAA-20; the 2000–2026 MODIS archive is training data with a hard end</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94360">
                <a:tc>
                  <a:txBody>
                    <a:bodyPr/>
                    <a:lstStyle/>
                    <a:p>
                      <a:pPr indent="0" marL="0">
                        <a:buNone/>
                      </a:pPr>
                      <a:r>
                        <a:rPr lang="en-US" sz="800" b="1" dirty="0">
                          <a:solidFill>
                            <a:srgbClr val="2E86AB"/>
                          </a:solidFill>
                          <a:latin typeface="Calibri" pitchFamily="34" charset="0"/>
                          <a:ea typeface="Calibri" pitchFamily="34" charset="-122"/>
                          <a:cs typeface="Calibri" pitchFamily="34" charset="-120"/>
                        </a:rPr>
                        <a:t>Passive microwave</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DMSP SSMIS retiring ~Sep 2026; NSIDC NRT SSMIS sea ice retired 18 Jun 2026; NOAA AMSR2 NRT ends Sep 2026 for AMSR3 (GOSAT-GW, launched 28 Jun 2025)</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NRT sea-ice concentration and drift now depend on one 2012 satellite (AMSR2) until AMSR3 products are operational</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02920">
                <a:tc>
                  <a:txBody>
                    <a:bodyPr/>
                    <a:lstStyle/>
                    <a:p>
                      <a:pPr indent="0" marL="0">
                        <a:buNone/>
                      </a:pPr>
                      <a:r>
                        <a:rPr lang="en-US" sz="800" b="1" dirty="0">
                          <a:solidFill>
                            <a:srgbClr val="2E86AB"/>
                          </a:solidFill>
                          <a:latin typeface="Calibri" pitchFamily="34" charset="0"/>
                          <a:ea typeface="Calibri" pitchFamily="34" charset="-122"/>
                          <a:cs typeface="Calibri" pitchFamily="34" charset="-120"/>
                        </a:rPr>
                        <a:t>Altimetry</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Sentinel-6B launched 17 Nov 2025, reference hand-over date not yet published; DUACS L4 now 0.125°; SWOT L4 only experimental</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Sea-level rung stable; treat the 0.25° legacy grid and the new 0.125° grid as one channel with a resolution flag</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94360">
                <a:tc>
                  <a:txBody>
                    <a:bodyPr/>
                    <a:lstStyle/>
                    <a:p>
                      <a:pPr indent="0" marL="0">
                        <a:buNone/>
                      </a:pPr>
                      <a:r>
                        <a:rPr lang="en-US" sz="800" b="1" dirty="0">
                          <a:solidFill>
                            <a:srgbClr val="1F9E89"/>
                          </a:solidFill>
                          <a:latin typeface="Calibri" pitchFamily="34" charset="0"/>
                          <a:ea typeface="Calibri" pitchFamily="34" charset="-122"/>
                          <a:cs typeface="Calibri" pitchFamily="34" charset="-120"/>
                        </a:rPr>
                        <a:t>Climate records that stop</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OC-CCI v6 ends 31 Dec 2024; ESA CCI soil moisture and snow are annual retrospective releases; OSCAR final ends Aug 2022; FLUXNET2015 frozen (Feb 2020)</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Use the NRT twins for 2025+ (GlobColour L3, ASCAT / SMAP, OSCAR NRT, ICOS / AmeriFlux); expect version seams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r h="594360">
                <a:tc>
                  <a:txBody>
                    <a:bodyPr/>
                    <a:lstStyle/>
                    <a:p>
                      <a:pPr indent="0" marL="0">
                        <a:buNone/>
                      </a:pPr>
                      <a:r>
                        <a:rPr lang="en-US" sz="800" b="1" dirty="0">
                          <a:solidFill>
                            <a:srgbClr val="7A8797"/>
                          </a:solidFill>
                          <a:latin typeface="Calibri" pitchFamily="34" charset="0"/>
                          <a:ea typeface="Calibri" pitchFamily="34" charset="-122"/>
                          <a:cs typeface="Calibri" pitchFamily="34" charset="-120"/>
                        </a:rPr>
                        <a:t>Licences to watch</a:t>
                      </a:r>
                      <a:endParaRPr lang="en-US" sz="8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EN4 non-commercial; GRDC research-only, no redistribution; OPERA radar for EUMETNET members; GLEAM commercial use by approval; ECMWF 9 km IFS licensed (0.25° open data free)</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Keep licensed sources out of any embedding meant for release; they can still supervise probes</a:t>
                      </a:r>
                      <a:endParaRPr lang="en-US" sz="900" dirty="0">
                        <a:latin typeface="Calibri" charset="0"/>
                        <a:ea typeface="Calibri" charset="0"/>
                        <a:cs typeface="Calibri" charset="0"/>
                      </a:endParaRPr>
                    </a:p>
                  </a:txBody>
                  <a:tcPr marL="36576" marR="36576" marT="36576" marB="36576"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r>
            </a:tbl>
          </a:graphicData>
        </a:graphic>
      </p:graphicFrame>
      <p:sp>
        <p:nvSpPr>
          <p:cNvPr id="5" name="Text 2"/>
          <p:cNvSpPr txBox="1"/>
          <p:nvPr/>
        </p:nvSpPr>
        <p:spPr>
          <a:xfrm>
            <a:off x="548640" y="5623560"/>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Also verified: ERA5's SST and sea ice are prescribed inputs (HadISST2, OSI SAF, OSTIA), so they must never be scored as ocean observations; ERA5-Land has no data assimilation at all — a land model replayed on ERA5 forcing; Copernicus waves are MFWAM, not WAVEWATCH; Copernicus surface carbon is 0.25°, not 1°; the OPERA composite is now 1 km / 5 min (CIRRUS), not the retired 2 km / 15 min ODYSSEY. Float counts are the live OceanOPS figures of 2 Sep 2026 and move daily.</a:t>
            </a:r>
            <a:endParaRPr lang="en-US" sz="85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El Niño 2026 — what the catalog predicts, and what to add</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Our own OISST bake says Niño-3.4 (the central-Pacific sea-temperature anomaly that defines the event) went −0.6 °C in January to +2.1 °C in July 2026; NOAA's Climate Prediction Center, 13 Aug: El Niño Advisory, &gt; 90 % chance of a very strong event, 69 % chance of exceeding +2.5 °C in Oct–Dec — stronger than any event since 1950</a:t>
            </a:r>
            <a:endParaRPr lang="en-US" sz="1250" dirty="0"/>
          </a:p>
        </p:txBody>
      </p:sp>
      <p:sp>
        <p:nvSpPr>
          <p:cNvPr id="4" name="Shape 2"/>
          <p:cNvSpPr/>
          <p:nvPr/>
        </p:nvSpPr>
        <p:spPr>
          <a:xfrm>
            <a:off x="960120" y="1627632"/>
            <a:ext cx="2743200" cy="2286000"/>
          </a:xfrm>
          <a:prstGeom prst="rect">
            <a:avLst/>
          </a:prstGeom>
          <a:solidFill>
            <a:srgbClr val="FBFCFD"/>
          </a:solidFill>
          <a:ln w="6350">
            <a:solidFill>
              <a:srgbClr val="B8C4D3"/>
            </a:solidFill>
            <a:prstDash val="solid"/>
          </a:ln>
        </p:spPr>
      </p:sp>
      <p:sp>
        <p:nvSpPr>
          <p:cNvPr id="5" name="Shape 3"/>
          <p:cNvSpPr/>
          <p:nvPr/>
        </p:nvSpPr>
        <p:spPr>
          <a:xfrm>
            <a:off x="960120" y="3913632"/>
            <a:ext cx="2743200" cy="0"/>
          </a:xfrm>
          <a:prstGeom prst="line">
            <a:avLst/>
          </a:prstGeom>
          <a:noFill/>
          <a:ln w="6350">
            <a:solidFill>
              <a:srgbClr val="B8C4D3"/>
            </a:solidFill>
            <a:prstDash val="solid"/>
          </a:ln>
        </p:spPr>
      </p:sp>
      <p:sp>
        <p:nvSpPr>
          <p:cNvPr id="6" name="Text 4"/>
          <p:cNvSpPr txBox="1"/>
          <p:nvPr/>
        </p:nvSpPr>
        <p:spPr>
          <a:xfrm>
            <a:off x="548640" y="3831336"/>
            <a:ext cx="365760" cy="164592"/>
          </a:xfrm>
          <a:prstGeom prst="rect">
            <a:avLst/>
          </a:prstGeom>
          <a:noFill/>
          <a:ln/>
        </p:spPr>
        <p:txBody>
          <a:bodyPr wrap="square" lIns="0" tIns="0" rIns="0" bIns="0" rtlCol="0" anchor="ctr"/>
          <a:lstStyle/>
          <a:p>
            <a:pPr algn="r" indent="0" marL="0">
              <a:buNone/>
            </a:pPr>
            <a:r>
              <a:rPr lang="en-US" sz="700" dirty="0">
                <a:solidFill>
                  <a:srgbClr val="6B7A8F"/>
                </a:solidFill>
                <a:latin typeface="Calibri" pitchFamily="34" charset="0"/>
                <a:ea typeface="Calibri" pitchFamily="34" charset="-122"/>
                <a:cs typeface="Calibri" pitchFamily="34" charset="-120"/>
              </a:rPr>
              <a:t>-1</a:t>
            </a:r>
            <a:endParaRPr lang="en-US" sz="700" dirty="0"/>
          </a:p>
        </p:txBody>
      </p:sp>
      <p:sp>
        <p:nvSpPr>
          <p:cNvPr id="7" name="Shape 5"/>
          <p:cNvSpPr/>
          <p:nvPr/>
        </p:nvSpPr>
        <p:spPr>
          <a:xfrm>
            <a:off x="960120" y="3278632"/>
            <a:ext cx="2743200" cy="0"/>
          </a:xfrm>
          <a:prstGeom prst="line">
            <a:avLst/>
          </a:prstGeom>
          <a:noFill/>
          <a:ln w="12700">
            <a:solidFill>
              <a:srgbClr val="6B7A8F"/>
            </a:solidFill>
            <a:prstDash val="solid"/>
          </a:ln>
        </p:spPr>
      </p:sp>
      <p:sp>
        <p:nvSpPr>
          <p:cNvPr id="8" name="Text 6"/>
          <p:cNvSpPr txBox="1"/>
          <p:nvPr/>
        </p:nvSpPr>
        <p:spPr>
          <a:xfrm>
            <a:off x="548640" y="3196336"/>
            <a:ext cx="365760" cy="164592"/>
          </a:xfrm>
          <a:prstGeom prst="rect">
            <a:avLst/>
          </a:prstGeom>
          <a:noFill/>
          <a:ln/>
        </p:spPr>
        <p:txBody>
          <a:bodyPr wrap="square" lIns="0" tIns="0" rIns="0" bIns="0" rtlCol="0" anchor="ctr"/>
          <a:lstStyle/>
          <a:p>
            <a:pPr algn="r" indent="0" marL="0">
              <a:buNone/>
            </a:pPr>
            <a:r>
              <a:rPr lang="en-US" sz="700" dirty="0">
                <a:solidFill>
                  <a:srgbClr val="6B7A8F"/>
                </a:solidFill>
                <a:latin typeface="Calibri" pitchFamily="34" charset="0"/>
                <a:ea typeface="Calibri" pitchFamily="34" charset="-122"/>
                <a:cs typeface="Calibri" pitchFamily="34" charset="-120"/>
              </a:rPr>
              <a:t>0</a:t>
            </a:r>
            <a:endParaRPr lang="en-US" sz="700" dirty="0"/>
          </a:p>
        </p:txBody>
      </p:sp>
      <p:sp>
        <p:nvSpPr>
          <p:cNvPr id="9" name="Shape 7"/>
          <p:cNvSpPr/>
          <p:nvPr/>
        </p:nvSpPr>
        <p:spPr>
          <a:xfrm>
            <a:off x="960120" y="2643632"/>
            <a:ext cx="2743200" cy="0"/>
          </a:xfrm>
          <a:prstGeom prst="line">
            <a:avLst/>
          </a:prstGeom>
          <a:noFill/>
          <a:ln w="6350">
            <a:solidFill>
              <a:srgbClr val="B8C4D3"/>
            </a:solidFill>
            <a:prstDash val="solid"/>
          </a:ln>
        </p:spPr>
      </p:sp>
      <p:sp>
        <p:nvSpPr>
          <p:cNvPr id="10" name="Text 8"/>
          <p:cNvSpPr txBox="1"/>
          <p:nvPr/>
        </p:nvSpPr>
        <p:spPr>
          <a:xfrm>
            <a:off x="548640" y="2561336"/>
            <a:ext cx="365760" cy="164592"/>
          </a:xfrm>
          <a:prstGeom prst="rect">
            <a:avLst/>
          </a:prstGeom>
          <a:noFill/>
          <a:ln/>
        </p:spPr>
        <p:txBody>
          <a:bodyPr wrap="square" lIns="0" tIns="0" rIns="0" bIns="0" rtlCol="0" anchor="ctr"/>
          <a:lstStyle/>
          <a:p>
            <a:pPr algn="r" indent="0" marL="0">
              <a:buNone/>
            </a:pPr>
            <a:r>
              <a:rPr lang="en-US" sz="700" dirty="0">
                <a:solidFill>
                  <a:srgbClr val="6B7A8F"/>
                </a:solidFill>
                <a:latin typeface="Calibri" pitchFamily="34" charset="0"/>
                <a:ea typeface="Calibri" pitchFamily="34" charset="-122"/>
                <a:cs typeface="Calibri" pitchFamily="34" charset="-120"/>
              </a:rPr>
              <a:t>+1</a:t>
            </a:r>
            <a:endParaRPr lang="en-US" sz="700" dirty="0"/>
          </a:p>
        </p:txBody>
      </p:sp>
      <p:sp>
        <p:nvSpPr>
          <p:cNvPr id="11" name="Shape 9"/>
          <p:cNvSpPr/>
          <p:nvPr/>
        </p:nvSpPr>
        <p:spPr>
          <a:xfrm>
            <a:off x="960120" y="2008632"/>
            <a:ext cx="2743200" cy="0"/>
          </a:xfrm>
          <a:prstGeom prst="line">
            <a:avLst/>
          </a:prstGeom>
          <a:noFill/>
          <a:ln w="6350">
            <a:solidFill>
              <a:srgbClr val="B8C4D3"/>
            </a:solidFill>
            <a:prstDash val="solid"/>
          </a:ln>
        </p:spPr>
      </p:sp>
      <p:sp>
        <p:nvSpPr>
          <p:cNvPr id="12" name="Text 10"/>
          <p:cNvSpPr txBox="1"/>
          <p:nvPr/>
        </p:nvSpPr>
        <p:spPr>
          <a:xfrm>
            <a:off x="548640" y="1926336"/>
            <a:ext cx="365760" cy="164592"/>
          </a:xfrm>
          <a:prstGeom prst="rect">
            <a:avLst/>
          </a:prstGeom>
          <a:noFill/>
          <a:ln/>
        </p:spPr>
        <p:txBody>
          <a:bodyPr wrap="square" lIns="0" tIns="0" rIns="0" bIns="0" rtlCol="0" anchor="ctr"/>
          <a:lstStyle/>
          <a:p>
            <a:pPr algn="r" indent="0" marL="0">
              <a:buNone/>
            </a:pPr>
            <a:r>
              <a:rPr lang="en-US" sz="700" dirty="0">
                <a:solidFill>
                  <a:srgbClr val="6B7A8F"/>
                </a:solidFill>
                <a:latin typeface="Calibri" pitchFamily="34" charset="0"/>
                <a:ea typeface="Calibri" pitchFamily="34" charset="-122"/>
                <a:cs typeface="Calibri" pitchFamily="34" charset="-120"/>
              </a:rPr>
              <a:t>+2</a:t>
            </a:r>
            <a:endParaRPr lang="en-US" sz="700" dirty="0"/>
          </a:p>
        </p:txBody>
      </p:sp>
      <p:sp>
        <p:nvSpPr>
          <p:cNvPr id="13" name="Shape 11"/>
          <p:cNvSpPr/>
          <p:nvPr/>
        </p:nvSpPr>
        <p:spPr>
          <a:xfrm>
            <a:off x="960120" y="1716532"/>
            <a:ext cx="2743200" cy="0"/>
          </a:xfrm>
          <a:prstGeom prst="line">
            <a:avLst/>
          </a:prstGeom>
          <a:noFill/>
          <a:ln w="9525">
            <a:solidFill>
              <a:srgbClr val="6B7A8F"/>
            </a:solidFill>
            <a:prstDash val="dash"/>
          </a:ln>
        </p:spPr>
      </p:sp>
      <p:sp>
        <p:nvSpPr>
          <p:cNvPr id="14" name="Text 12"/>
          <p:cNvSpPr txBox="1"/>
          <p:nvPr/>
        </p:nvSpPr>
        <p:spPr>
          <a:xfrm>
            <a:off x="1005840" y="1593088"/>
            <a:ext cx="1371600" cy="128016"/>
          </a:xfrm>
          <a:prstGeom prst="rect">
            <a:avLst/>
          </a:prstGeom>
          <a:noFill/>
          <a:ln/>
        </p:spPr>
        <p:txBody>
          <a:bodyPr wrap="square" lIns="0" tIns="0" rIns="0" bIns="0" rtlCol="0" anchor="ctr"/>
          <a:lstStyle/>
          <a:p>
            <a:pPr indent="0" marL="0">
              <a:buNone/>
            </a:pPr>
            <a:r>
              <a:rPr lang="en-US" sz="700" dirty="0">
                <a:solidFill>
                  <a:srgbClr val="6B7A8F"/>
                </a:solidFill>
                <a:latin typeface="Calibri" pitchFamily="34" charset="0"/>
                <a:ea typeface="Calibri" pitchFamily="34" charset="-122"/>
                <a:cs typeface="Calibri" pitchFamily="34" charset="-120"/>
              </a:rPr>
              <a:t>Dec 2015  +2.46</a:t>
            </a:r>
            <a:endParaRPr lang="en-US" sz="700" dirty="0"/>
          </a:p>
        </p:txBody>
      </p:sp>
      <p:sp>
        <p:nvSpPr>
          <p:cNvPr id="15" name="Shape 13"/>
          <p:cNvSpPr/>
          <p:nvPr/>
        </p:nvSpPr>
        <p:spPr>
          <a:xfrm>
            <a:off x="960120" y="1894332"/>
            <a:ext cx="2743200" cy="0"/>
          </a:xfrm>
          <a:prstGeom prst="line">
            <a:avLst/>
          </a:prstGeom>
          <a:noFill/>
          <a:ln w="9525">
            <a:solidFill>
              <a:srgbClr val="6B7A8F"/>
            </a:solidFill>
            <a:prstDash val="dash"/>
          </a:ln>
        </p:spPr>
      </p:sp>
      <p:sp>
        <p:nvSpPr>
          <p:cNvPr id="16" name="Text 14"/>
          <p:cNvSpPr txBox="1"/>
          <p:nvPr/>
        </p:nvSpPr>
        <p:spPr>
          <a:xfrm>
            <a:off x="1005840" y="1770888"/>
            <a:ext cx="1371600" cy="128016"/>
          </a:xfrm>
          <a:prstGeom prst="rect">
            <a:avLst/>
          </a:prstGeom>
          <a:noFill/>
          <a:ln/>
        </p:spPr>
        <p:txBody>
          <a:bodyPr wrap="square" lIns="0" tIns="0" rIns="0" bIns="0" rtlCol="0" anchor="ctr"/>
          <a:lstStyle/>
          <a:p>
            <a:pPr indent="0" marL="0">
              <a:buNone/>
            </a:pPr>
            <a:r>
              <a:rPr lang="en-US" sz="700" dirty="0">
                <a:solidFill>
                  <a:srgbClr val="6B7A8F"/>
                </a:solidFill>
                <a:latin typeface="Calibri" pitchFamily="34" charset="0"/>
                <a:ea typeface="Calibri" pitchFamily="34" charset="-122"/>
                <a:cs typeface="Calibri" pitchFamily="34" charset="-120"/>
              </a:rPr>
              <a:t>Dec 1997  +2.18</a:t>
            </a:r>
            <a:endParaRPr lang="en-US" sz="700" dirty="0"/>
          </a:p>
        </p:txBody>
      </p:sp>
      <p:sp>
        <p:nvSpPr>
          <p:cNvPr id="17" name="Shape 15"/>
          <p:cNvSpPr/>
          <p:nvPr/>
        </p:nvSpPr>
        <p:spPr>
          <a:xfrm>
            <a:off x="960120" y="2002282"/>
            <a:ext cx="2743200" cy="0"/>
          </a:xfrm>
          <a:prstGeom prst="line">
            <a:avLst/>
          </a:prstGeom>
          <a:noFill/>
          <a:ln w="9525">
            <a:solidFill>
              <a:srgbClr val="6B7A8F"/>
            </a:solidFill>
            <a:prstDash val="dash"/>
          </a:ln>
        </p:spPr>
      </p:sp>
      <p:sp>
        <p:nvSpPr>
          <p:cNvPr id="18" name="Text 16"/>
          <p:cNvSpPr txBox="1"/>
          <p:nvPr/>
        </p:nvSpPr>
        <p:spPr>
          <a:xfrm>
            <a:off x="1005840" y="1878838"/>
            <a:ext cx="1371600" cy="128016"/>
          </a:xfrm>
          <a:prstGeom prst="rect">
            <a:avLst/>
          </a:prstGeom>
          <a:noFill/>
          <a:ln/>
        </p:spPr>
        <p:txBody>
          <a:bodyPr wrap="square" lIns="0" tIns="0" rIns="0" bIns="0" rtlCol="0" anchor="ctr"/>
          <a:lstStyle/>
          <a:p>
            <a:pPr indent="0" marL="0">
              <a:buNone/>
            </a:pPr>
            <a:r>
              <a:rPr lang="en-US" sz="700" dirty="0">
                <a:solidFill>
                  <a:srgbClr val="6B7A8F"/>
                </a:solidFill>
                <a:latin typeface="Calibri" pitchFamily="34" charset="0"/>
                <a:ea typeface="Calibri" pitchFamily="34" charset="-122"/>
                <a:cs typeface="Calibri" pitchFamily="34" charset="-120"/>
              </a:rPr>
              <a:t>Dec 2023  +2.01</a:t>
            </a:r>
            <a:endParaRPr lang="en-US" sz="700" dirty="0"/>
          </a:p>
        </p:txBody>
      </p:sp>
      <p:sp>
        <p:nvSpPr>
          <p:cNvPr id="19" name="Shape 17"/>
          <p:cNvSpPr/>
          <p:nvPr/>
        </p:nvSpPr>
        <p:spPr>
          <a:xfrm>
            <a:off x="1018903" y="3278632"/>
            <a:ext cx="274320" cy="361950"/>
          </a:xfrm>
          <a:prstGeom prst="rect">
            <a:avLst/>
          </a:prstGeom>
          <a:solidFill>
            <a:srgbClr val="2E86AB"/>
          </a:solidFill>
          <a:ln w="12700">
            <a:solidFill>
              <a:srgbClr val="333333"/>
            </a:solidFill>
            <a:prstDash val="solid"/>
          </a:ln>
        </p:spPr>
      </p:sp>
      <p:sp>
        <p:nvSpPr>
          <p:cNvPr id="20" name="Text 18"/>
          <p:cNvSpPr txBox="1"/>
          <p:nvPr/>
        </p:nvSpPr>
        <p:spPr>
          <a:xfrm>
            <a:off x="881743" y="3658870"/>
            <a:ext cx="548640" cy="146304"/>
          </a:xfrm>
          <a:prstGeom prst="rect">
            <a:avLst/>
          </a:prstGeom>
          <a:noFill/>
          <a:ln/>
        </p:spPr>
        <p:txBody>
          <a:bodyPr wrap="square" lIns="0" tIns="0" rIns="0" bIns="0" rtlCol="0" anchor="ctr"/>
          <a:lstStyle/>
          <a:p>
            <a:pPr algn="ctr" indent="0" marL="0">
              <a:buNone/>
            </a:pPr>
            <a:r>
              <a:rPr lang="en-US" sz="700" b="1" dirty="0">
                <a:solidFill>
                  <a:srgbClr val="2E86AB"/>
                </a:solidFill>
                <a:latin typeface="Calibri" pitchFamily="34" charset="0"/>
                <a:ea typeface="Calibri" pitchFamily="34" charset="-122"/>
                <a:cs typeface="Calibri" pitchFamily="34" charset="-120"/>
              </a:rPr>
              <a:t>-0.57</a:t>
            </a:r>
            <a:endParaRPr lang="en-US" sz="700" dirty="0"/>
          </a:p>
        </p:txBody>
      </p:sp>
      <p:sp>
        <p:nvSpPr>
          <p:cNvPr id="21" name="Text 19"/>
          <p:cNvSpPr txBox="1"/>
          <p:nvPr/>
        </p:nvSpPr>
        <p:spPr>
          <a:xfrm>
            <a:off x="927463"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Jan</a:t>
            </a:r>
            <a:endParaRPr lang="en-US" sz="750" dirty="0"/>
          </a:p>
        </p:txBody>
      </p:sp>
      <p:sp>
        <p:nvSpPr>
          <p:cNvPr id="22" name="Shape 20"/>
          <p:cNvSpPr/>
          <p:nvPr/>
        </p:nvSpPr>
        <p:spPr>
          <a:xfrm>
            <a:off x="1410789" y="3278632"/>
            <a:ext cx="274320" cy="120650"/>
          </a:xfrm>
          <a:prstGeom prst="rect">
            <a:avLst/>
          </a:prstGeom>
          <a:solidFill>
            <a:srgbClr val="2E86AB"/>
          </a:solidFill>
          <a:ln w="12700">
            <a:solidFill>
              <a:srgbClr val="333333"/>
            </a:solidFill>
            <a:prstDash val="solid"/>
          </a:ln>
        </p:spPr>
      </p:sp>
      <p:sp>
        <p:nvSpPr>
          <p:cNvPr id="23" name="Text 21"/>
          <p:cNvSpPr txBox="1"/>
          <p:nvPr/>
        </p:nvSpPr>
        <p:spPr>
          <a:xfrm>
            <a:off x="1273629" y="3417570"/>
            <a:ext cx="548640" cy="146304"/>
          </a:xfrm>
          <a:prstGeom prst="rect">
            <a:avLst/>
          </a:prstGeom>
          <a:noFill/>
          <a:ln/>
        </p:spPr>
        <p:txBody>
          <a:bodyPr wrap="square" lIns="0" tIns="0" rIns="0" bIns="0" rtlCol="0" anchor="ctr"/>
          <a:lstStyle/>
          <a:p>
            <a:pPr algn="ctr" indent="0" marL="0">
              <a:buNone/>
            </a:pPr>
            <a:r>
              <a:rPr lang="en-US" sz="700" b="1" dirty="0">
                <a:solidFill>
                  <a:srgbClr val="2E86AB"/>
                </a:solidFill>
                <a:latin typeface="Calibri" pitchFamily="34" charset="0"/>
                <a:ea typeface="Calibri" pitchFamily="34" charset="-122"/>
                <a:cs typeface="Calibri" pitchFamily="34" charset="-120"/>
              </a:rPr>
              <a:t>-0.19</a:t>
            </a:r>
            <a:endParaRPr lang="en-US" sz="700" dirty="0"/>
          </a:p>
        </p:txBody>
      </p:sp>
      <p:sp>
        <p:nvSpPr>
          <p:cNvPr id="24" name="Text 22"/>
          <p:cNvSpPr txBox="1"/>
          <p:nvPr/>
        </p:nvSpPr>
        <p:spPr>
          <a:xfrm>
            <a:off x="1319349"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Feb</a:t>
            </a:r>
            <a:endParaRPr lang="en-US" sz="750" dirty="0"/>
          </a:p>
        </p:txBody>
      </p:sp>
      <p:sp>
        <p:nvSpPr>
          <p:cNvPr id="25" name="Shape 23"/>
          <p:cNvSpPr/>
          <p:nvPr/>
        </p:nvSpPr>
        <p:spPr>
          <a:xfrm>
            <a:off x="1802674" y="3265932"/>
            <a:ext cx="274320" cy="12700"/>
          </a:xfrm>
          <a:prstGeom prst="rect">
            <a:avLst/>
          </a:prstGeom>
          <a:solidFill>
            <a:srgbClr val="C0443A"/>
          </a:solidFill>
          <a:ln w="12700">
            <a:solidFill>
              <a:srgbClr val="333333"/>
            </a:solidFill>
            <a:prstDash val="solid"/>
          </a:ln>
        </p:spPr>
      </p:sp>
      <p:sp>
        <p:nvSpPr>
          <p:cNvPr id="26" name="Text 24"/>
          <p:cNvSpPr txBox="1"/>
          <p:nvPr/>
        </p:nvSpPr>
        <p:spPr>
          <a:xfrm>
            <a:off x="1665514" y="3110484"/>
            <a:ext cx="548640" cy="146304"/>
          </a:xfrm>
          <a:prstGeom prst="rect">
            <a:avLst/>
          </a:prstGeom>
          <a:noFill/>
          <a:ln/>
        </p:spPr>
        <p:txBody>
          <a:bodyPr wrap="square" lIns="0" tIns="0" rIns="0" bIns="0" rtlCol="0" anchor="ctr"/>
          <a:lstStyle/>
          <a:p>
            <a:pPr algn="ctr" indent="0" marL="0">
              <a:buNone/>
            </a:pPr>
            <a:r>
              <a:rPr lang="en-US" sz="700" b="1" dirty="0">
                <a:solidFill>
                  <a:srgbClr val="C0443A"/>
                </a:solidFill>
                <a:latin typeface="Calibri" pitchFamily="34" charset="0"/>
                <a:ea typeface="Calibri" pitchFamily="34" charset="-122"/>
                <a:cs typeface="Calibri" pitchFamily="34" charset="-120"/>
              </a:rPr>
              <a:t>+0.02</a:t>
            </a:r>
            <a:endParaRPr lang="en-US" sz="700" dirty="0"/>
          </a:p>
        </p:txBody>
      </p:sp>
      <p:sp>
        <p:nvSpPr>
          <p:cNvPr id="27" name="Text 25"/>
          <p:cNvSpPr txBox="1"/>
          <p:nvPr/>
        </p:nvSpPr>
        <p:spPr>
          <a:xfrm>
            <a:off x="1711234"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Mar</a:t>
            </a:r>
            <a:endParaRPr lang="en-US" sz="750" dirty="0"/>
          </a:p>
        </p:txBody>
      </p:sp>
      <p:sp>
        <p:nvSpPr>
          <p:cNvPr id="28" name="Shape 26"/>
          <p:cNvSpPr/>
          <p:nvPr/>
        </p:nvSpPr>
        <p:spPr>
          <a:xfrm>
            <a:off x="2194560" y="2980182"/>
            <a:ext cx="274320" cy="298450"/>
          </a:xfrm>
          <a:prstGeom prst="rect">
            <a:avLst/>
          </a:prstGeom>
          <a:solidFill>
            <a:srgbClr val="C0443A"/>
          </a:solidFill>
          <a:ln w="12700">
            <a:solidFill>
              <a:srgbClr val="333333"/>
            </a:solidFill>
            <a:prstDash val="solid"/>
          </a:ln>
        </p:spPr>
      </p:sp>
      <p:sp>
        <p:nvSpPr>
          <p:cNvPr id="29" name="Text 27"/>
          <p:cNvSpPr txBox="1"/>
          <p:nvPr/>
        </p:nvSpPr>
        <p:spPr>
          <a:xfrm>
            <a:off x="2057400" y="2824734"/>
            <a:ext cx="548640" cy="146304"/>
          </a:xfrm>
          <a:prstGeom prst="rect">
            <a:avLst/>
          </a:prstGeom>
          <a:noFill/>
          <a:ln/>
        </p:spPr>
        <p:txBody>
          <a:bodyPr wrap="square" lIns="0" tIns="0" rIns="0" bIns="0" rtlCol="0" anchor="ctr"/>
          <a:lstStyle/>
          <a:p>
            <a:pPr algn="ctr" indent="0" marL="0">
              <a:buNone/>
            </a:pPr>
            <a:r>
              <a:rPr lang="en-US" sz="700" b="1" dirty="0">
                <a:solidFill>
                  <a:srgbClr val="C0443A"/>
                </a:solidFill>
                <a:latin typeface="Calibri" pitchFamily="34" charset="0"/>
                <a:ea typeface="Calibri" pitchFamily="34" charset="-122"/>
                <a:cs typeface="Calibri" pitchFamily="34" charset="-120"/>
              </a:rPr>
              <a:t>+0.47</a:t>
            </a:r>
            <a:endParaRPr lang="en-US" sz="700" dirty="0"/>
          </a:p>
        </p:txBody>
      </p:sp>
      <p:sp>
        <p:nvSpPr>
          <p:cNvPr id="30" name="Text 28"/>
          <p:cNvSpPr txBox="1"/>
          <p:nvPr/>
        </p:nvSpPr>
        <p:spPr>
          <a:xfrm>
            <a:off x="2103120"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Apr</a:t>
            </a:r>
            <a:endParaRPr lang="en-US" sz="750" dirty="0"/>
          </a:p>
        </p:txBody>
      </p:sp>
      <p:sp>
        <p:nvSpPr>
          <p:cNvPr id="31" name="Shape 29"/>
          <p:cNvSpPr/>
          <p:nvPr/>
        </p:nvSpPr>
        <p:spPr>
          <a:xfrm>
            <a:off x="2586446" y="2681732"/>
            <a:ext cx="274320" cy="596900"/>
          </a:xfrm>
          <a:prstGeom prst="rect">
            <a:avLst/>
          </a:prstGeom>
          <a:solidFill>
            <a:srgbClr val="C0443A"/>
          </a:solidFill>
          <a:ln w="12700">
            <a:solidFill>
              <a:srgbClr val="333333"/>
            </a:solidFill>
            <a:prstDash val="solid"/>
          </a:ln>
        </p:spPr>
      </p:sp>
      <p:sp>
        <p:nvSpPr>
          <p:cNvPr id="32" name="Text 30"/>
          <p:cNvSpPr txBox="1"/>
          <p:nvPr/>
        </p:nvSpPr>
        <p:spPr>
          <a:xfrm>
            <a:off x="2449286" y="2526284"/>
            <a:ext cx="548640" cy="146304"/>
          </a:xfrm>
          <a:prstGeom prst="rect">
            <a:avLst/>
          </a:prstGeom>
          <a:noFill/>
          <a:ln/>
        </p:spPr>
        <p:txBody>
          <a:bodyPr wrap="square" lIns="0" tIns="0" rIns="0" bIns="0" rtlCol="0" anchor="ctr"/>
          <a:lstStyle/>
          <a:p>
            <a:pPr algn="ctr" indent="0" marL="0">
              <a:buNone/>
            </a:pPr>
            <a:r>
              <a:rPr lang="en-US" sz="700" b="1" dirty="0">
                <a:solidFill>
                  <a:srgbClr val="C0443A"/>
                </a:solidFill>
                <a:latin typeface="Calibri" pitchFamily="34" charset="0"/>
                <a:ea typeface="Calibri" pitchFamily="34" charset="-122"/>
                <a:cs typeface="Calibri" pitchFamily="34" charset="-120"/>
              </a:rPr>
              <a:t>+0.94</a:t>
            </a:r>
            <a:endParaRPr lang="en-US" sz="700" dirty="0"/>
          </a:p>
        </p:txBody>
      </p:sp>
      <p:sp>
        <p:nvSpPr>
          <p:cNvPr id="33" name="Text 31"/>
          <p:cNvSpPr txBox="1"/>
          <p:nvPr/>
        </p:nvSpPr>
        <p:spPr>
          <a:xfrm>
            <a:off x="2495006"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May</a:t>
            </a:r>
            <a:endParaRPr lang="en-US" sz="750" dirty="0"/>
          </a:p>
        </p:txBody>
      </p:sp>
      <p:sp>
        <p:nvSpPr>
          <p:cNvPr id="34" name="Shape 32"/>
          <p:cNvSpPr/>
          <p:nvPr/>
        </p:nvSpPr>
        <p:spPr>
          <a:xfrm>
            <a:off x="2978331" y="2262632"/>
            <a:ext cx="274320" cy="1016000"/>
          </a:xfrm>
          <a:prstGeom prst="rect">
            <a:avLst/>
          </a:prstGeom>
          <a:solidFill>
            <a:srgbClr val="C0443A"/>
          </a:solidFill>
          <a:ln w="12700">
            <a:solidFill>
              <a:srgbClr val="333333"/>
            </a:solidFill>
            <a:prstDash val="solid"/>
          </a:ln>
        </p:spPr>
      </p:sp>
      <p:sp>
        <p:nvSpPr>
          <p:cNvPr id="35" name="Text 33"/>
          <p:cNvSpPr txBox="1"/>
          <p:nvPr/>
        </p:nvSpPr>
        <p:spPr>
          <a:xfrm>
            <a:off x="2841171" y="2107184"/>
            <a:ext cx="548640" cy="146304"/>
          </a:xfrm>
          <a:prstGeom prst="rect">
            <a:avLst/>
          </a:prstGeom>
          <a:noFill/>
          <a:ln/>
        </p:spPr>
        <p:txBody>
          <a:bodyPr wrap="square" lIns="0" tIns="0" rIns="0" bIns="0" rtlCol="0" anchor="ctr"/>
          <a:lstStyle/>
          <a:p>
            <a:pPr algn="ctr" indent="0" marL="0">
              <a:buNone/>
            </a:pPr>
            <a:r>
              <a:rPr lang="en-US" sz="700" b="1" dirty="0">
                <a:solidFill>
                  <a:srgbClr val="C0443A"/>
                </a:solidFill>
                <a:latin typeface="Calibri" pitchFamily="34" charset="0"/>
                <a:ea typeface="Calibri" pitchFamily="34" charset="-122"/>
                <a:cs typeface="Calibri" pitchFamily="34" charset="-120"/>
              </a:rPr>
              <a:t>+1.60</a:t>
            </a:r>
            <a:endParaRPr lang="en-US" sz="700" dirty="0"/>
          </a:p>
        </p:txBody>
      </p:sp>
      <p:sp>
        <p:nvSpPr>
          <p:cNvPr id="36" name="Text 34"/>
          <p:cNvSpPr txBox="1"/>
          <p:nvPr/>
        </p:nvSpPr>
        <p:spPr>
          <a:xfrm>
            <a:off x="2886891"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Jun</a:t>
            </a:r>
            <a:endParaRPr lang="en-US" sz="750" dirty="0"/>
          </a:p>
        </p:txBody>
      </p:sp>
      <p:sp>
        <p:nvSpPr>
          <p:cNvPr id="37" name="Shape 35"/>
          <p:cNvSpPr/>
          <p:nvPr/>
        </p:nvSpPr>
        <p:spPr>
          <a:xfrm>
            <a:off x="3370217" y="1951482"/>
            <a:ext cx="274320" cy="1327150"/>
          </a:xfrm>
          <a:prstGeom prst="rect">
            <a:avLst/>
          </a:prstGeom>
          <a:solidFill>
            <a:srgbClr val="C0443A"/>
          </a:solidFill>
          <a:ln w="12700">
            <a:solidFill>
              <a:srgbClr val="333333"/>
            </a:solidFill>
            <a:prstDash val="solid"/>
          </a:ln>
        </p:spPr>
      </p:sp>
      <p:sp>
        <p:nvSpPr>
          <p:cNvPr id="38" name="Text 36"/>
          <p:cNvSpPr txBox="1"/>
          <p:nvPr/>
        </p:nvSpPr>
        <p:spPr>
          <a:xfrm>
            <a:off x="3233057" y="1796034"/>
            <a:ext cx="548640" cy="146304"/>
          </a:xfrm>
          <a:prstGeom prst="rect">
            <a:avLst/>
          </a:prstGeom>
          <a:noFill/>
          <a:ln/>
        </p:spPr>
        <p:txBody>
          <a:bodyPr wrap="square" lIns="0" tIns="0" rIns="0" bIns="0" rtlCol="0" anchor="ctr"/>
          <a:lstStyle/>
          <a:p>
            <a:pPr algn="ctr" indent="0" marL="0">
              <a:buNone/>
            </a:pPr>
            <a:r>
              <a:rPr lang="en-US" sz="700" b="1" dirty="0">
                <a:solidFill>
                  <a:srgbClr val="C0443A"/>
                </a:solidFill>
                <a:latin typeface="Calibri" pitchFamily="34" charset="0"/>
                <a:ea typeface="Calibri" pitchFamily="34" charset="-122"/>
                <a:cs typeface="Calibri" pitchFamily="34" charset="-120"/>
              </a:rPr>
              <a:t>+2.09</a:t>
            </a:r>
            <a:endParaRPr lang="en-US" sz="700" dirty="0"/>
          </a:p>
        </p:txBody>
      </p:sp>
      <p:sp>
        <p:nvSpPr>
          <p:cNvPr id="39" name="Text 37"/>
          <p:cNvSpPr txBox="1"/>
          <p:nvPr/>
        </p:nvSpPr>
        <p:spPr>
          <a:xfrm>
            <a:off x="3278777" y="3941064"/>
            <a:ext cx="457200" cy="164592"/>
          </a:xfrm>
          <a:prstGeom prst="rect">
            <a:avLst/>
          </a:prstGeom>
          <a:noFill/>
          <a:ln/>
        </p:spPr>
        <p:txBody>
          <a:bodyPr wrap="square" lIns="0" tIns="0" rIns="0" bIns="0" rtlCol="0" anchor="ctr"/>
          <a:lstStyle/>
          <a:p>
            <a:pPr algn="ctr" indent="0" marL="0">
              <a:buNone/>
            </a:pPr>
            <a:r>
              <a:rPr lang="en-US" sz="750" dirty="0">
                <a:solidFill>
                  <a:srgbClr val="1B2430"/>
                </a:solidFill>
                <a:latin typeface="Calibri" pitchFamily="34" charset="0"/>
                <a:ea typeface="Calibri" pitchFamily="34" charset="-122"/>
                <a:cs typeface="Calibri" pitchFamily="34" charset="-120"/>
              </a:rPr>
              <a:t>Jul</a:t>
            </a:r>
            <a:endParaRPr lang="en-US" sz="750" dirty="0"/>
          </a:p>
        </p:txBody>
      </p:sp>
      <p:sp>
        <p:nvSpPr>
          <p:cNvPr id="40" name="Text 38"/>
          <p:cNvSpPr txBox="1"/>
          <p:nvPr/>
        </p:nvSpPr>
        <p:spPr>
          <a:xfrm>
            <a:off x="548640" y="1371600"/>
            <a:ext cx="3200400" cy="274320"/>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Niño-3.4 monthly anomaly, 2026</a:t>
            </a:r>
            <a:endParaRPr lang="en-US" sz="950" dirty="0"/>
          </a:p>
          <a:p>
            <a:pPr indent="0" marL="0">
              <a:buNone/>
            </a:pPr>
            <a:r>
              <a:rPr lang="en-US" sz="750" i="1" dirty="0">
                <a:solidFill>
                  <a:srgbClr val="6B7A8F"/>
                </a:solidFill>
                <a:latin typeface="Calibri" pitchFamily="34" charset="0"/>
                <a:ea typeface="Calibri" pitchFamily="34" charset="-122"/>
                <a:cs typeface="Calibri" pitchFamily="34" charset="-120"/>
              </a:rPr>
              <a:t>5° S–5° N, 170° W–120° W, 500 one-degree cells</a:t>
            </a:r>
            <a:endParaRPr lang="en-US" sz="950" dirty="0"/>
          </a:p>
        </p:txBody>
      </p:sp>
      <p:sp>
        <p:nvSpPr>
          <p:cNvPr id="41" name="Text 39"/>
          <p:cNvSpPr txBox="1"/>
          <p:nvPr/>
        </p:nvSpPr>
        <p:spPr>
          <a:xfrm>
            <a:off x="548640" y="4169664"/>
            <a:ext cx="3200400" cy="1645920"/>
          </a:xfrm>
          <a:prstGeom prst="rect">
            <a:avLst/>
          </a:prstGeom>
          <a:noFill/>
          <a:ln/>
        </p:spPr>
        <p:txBody>
          <a:bodyPr wrap="square" lIns="0" tIns="0" rIns="0" bIns="0" rtlCol="0" anchor="t"/>
          <a:lstStyle/>
          <a:p>
            <a:pPr indent="0" marL="0">
              <a:buNone/>
            </a:pPr>
            <a:r>
              <a:rPr lang="en-US" sz="800" dirty="0">
                <a:solidFill>
                  <a:srgbClr val="1B2430"/>
                </a:solidFill>
                <a:latin typeface="Calibri" pitchFamily="34" charset="0"/>
                <a:ea typeface="Calibri" pitchFamily="34" charset="-122"/>
                <a:cs typeface="Calibri" pitchFamily="34" charset="-120"/>
              </a:rPr>
              <a:t>Computed here from data/oisst_y (NOAA's daily satellite-and-buoy sea-temperature analysis, block-meaned to 1° monthly) against data/oisst_clim, the app's 1991–2020 normal. The Climate Prediction Center's July value is +1.4 °C — a different sea-temperature reconstruction (ERSSTv5), a different averaging and possibly the relative index CPC now favours; the 0.7 °C gap is unexplained here, and is itself the reason to carry the official index beside our own bake.</a:t>
            </a:r>
            <a:endParaRPr lang="en-US" sz="950" dirty="0"/>
          </a:p>
        </p:txBody>
      </p:sp>
      <p:sp>
        <p:nvSpPr>
          <p:cNvPr id="42" name="Shape 40"/>
          <p:cNvSpPr/>
          <p:nvPr/>
        </p:nvSpPr>
        <p:spPr>
          <a:xfrm>
            <a:off x="3886200" y="1371600"/>
            <a:ext cx="3383280" cy="4443984"/>
          </a:xfrm>
          <a:prstGeom prst="roundRect">
            <a:avLst>
              <a:gd name="adj" fmla="val 2162"/>
            </a:avLst>
          </a:prstGeom>
          <a:solidFill>
            <a:srgbClr val="F2F8FA"/>
          </a:solidFill>
          <a:ln w="15875">
            <a:solidFill>
              <a:srgbClr val="1C7293"/>
            </a:solidFill>
            <a:prstDash val="solid"/>
          </a:ln>
        </p:spPr>
      </p:sp>
      <p:sp>
        <p:nvSpPr>
          <p:cNvPr id="43" name="Text 41"/>
          <p:cNvSpPr txBox="1"/>
          <p:nvPr/>
        </p:nvSpPr>
        <p:spPr>
          <a:xfrm>
            <a:off x="4014216" y="1426464"/>
            <a:ext cx="3127248" cy="4334256"/>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Already in the catalog</a:t>
            </a:r>
            <a:endParaRPr lang="en-US" sz="950" dirty="0"/>
          </a:p>
          <a:p>
            <a:pPr indent="0" marL="0">
              <a:spcAft>
                <a:spcPts val="400"/>
              </a:spcAft>
              <a:buNone/>
            </a:pPr>
            <a:r>
              <a:rPr lang="en-US" sz="750" i="1" dirty="0">
                <a:solidFill>
                  <a:srgbClr val="6B7A8F"/>
                </a:solidFill>
                <a:latin typeface="Calibri" pitchFamily="34" charset="0"/>
                <a:ea typeface="Calibri" pitchFamily="34" charset="-122"/>
                <a:cs typeface="Calibri" pitchFamily="34" charset="-120"/>
              </a:rPr>
              <a:t>274 records, compiled for the Atlantic overturning circulation — its `amoc` flag mis-sorts for El Niño. what → signal · limit</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OISST v2.1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the label itself, all four Niño boxes. Baked global 1° monthly 1981-09 → 2026-07.</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GLORYS12 surface currents + mixed-layer depth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equatorial advection. Baked 1993 → 2026-05 · the depth levels are not baked.</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GPCP 1979→ / IMERG 2000→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the rainfall shift towards the dateline that is El Niño's atmospheric expression · only a climatology is baked from GPCP; IMERG is live.</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MERRA-2 10 m wind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trade winds · monthly tiles only, so a westerly wind burst (a 5–15 day reversal) is averaged away.</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NASA sea-surface height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Kelvin and Rossby waves · the app's tiles END 2019-01.</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OSCAR surface currents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zonal advection · tiles 2014-10 → 2024-07 only.</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CERES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convection · tiles end 2018-10, and it is monthly NET radiation, not the daily outgoing-longwave field the index needs.</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TAO/TRITON + PIRATA moorings (`gtmba`)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 the single most El-Niño-specific record in the catalog · catalogued only for its Atlantic side, and flagged not-renderable.</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Catalogued but unused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ORAS5 1958→ · SODA3 · ERSSTv5 (the substrate of the official index) · HadISST · EN4 1900→ · ERA5 · CFSR · the SEAS5 and NMME seasonal hindcasts 1981/82→.</a:t>
            </a:r>
            <a:endParaRPr lang="en-US" sz="950" dirty="0"/>
          </a:p>
          <a:p>
            <a:pPr indent="0" marL="0">
              <a:buNone/>
            </a:pPr>
            <a:r>
              <a:rPr lang="en-US" sz="800" b="1" dirty="0">
                <a:solidFill>
                  <a:srgbClr val="1C7293"/>
                </a:solidFill>
                <a:latin typeface="Calibri" pitchFamily="34" charset="0"/>
                <a:ea typeface="Calibri" pitchFamily="34" charset="-122"/>
                <a:cs typeface="Calibri" pitchFamily="34" charset="-120"/>
              </a:rPr>
              <a:t>The machine-learning tensors are North-Atlantic-only  </a:t>
            </a:r>
            <a:pPr indent="0" marL="0">
              <a:spcAft>
                <a:spcPts val="300"/>
              </a:spcAft>
              <a:buNone/>
            </a:pPr>
            <a:r>
              <a:rPr lang="en-US" sz="800" dirty="0">
                <a:solidFill>
                  <a:srgbClr val="1B2430"/>
                </a:solidFill>
                <a:latin typeface="Calibri" pitchFamily="34" charset="0"/>
                <a:ea typeface="Calibri" pitchFamily="34" charset="-122"/>
                <a:cs typeface="Calibri" pitchFamily="34" charset="-120"/>
              </a:rPr>
              <a:t>family 7 — the first tensor covering the whole globe at the same 0.25°, 5-day grid (experiment E-070) — is mid-fetch, and its own plan names the equatorial waveguide as a target regime.</a:t>
            </a:r>
            <a:endParaRPr lang="en-US" sz="950" dirty="0"/>
          </a:p>
        </p:txBody>
      </p:sp>
      <p:sp>
        <p:nvSpPr>
          <p:cNvPr id="44" name="Shape 42"/>
          <p:cNvSpPr/>
          <p:nvPr/>
        </p:nvSpPr>
        <p:spPr>
          <a:xfrm>
            <a:off x="7406640" y="1371600"/>
            <a:ext cx="4206240" cy="4443984"/>
          </a:xfrm>
          <a:prstGeom prst="roundRect">
            <a:avLst>
              <a:gd name="adj" fmla="val 1739"/>
            </a:avLst>
          </a:prstGeom>
          <a:solidFill>
            <a:srgbClr val="F4F6F9"/>
          </a:solidFill>
          <a:ln w="15875">
            <a:solidFill>
              <a:srgbClr val="0B1F3A"/>
            </a:solidFill>
            <a:prstDash val="solid"/>
          </a:ln>
        </p:spPr>
      </p:sp>
      <p:sp>
        <p:nvSpPr>
          <p:cNvPr id="45" name="Text 43"/>
          <p:cNvSpPr txBox="1"/>
          <p:nvPr/>
        </p:nvSpPr>
        <p:spPr>
          <a:xfrm>
            <a:off x="7534656" y="1426464"/>
            <a:ext cx="3950208" cy="4334256"/>
          </a:xfrm>
          <a:prstGeom prst="rect">
            <a:avLst/>
          </a:prstGeom>
          <a:noFill/>
          <a:ln/>
        </p:spPr>
        <p:txBody>
          <a:bodyPr wrap="square" lIns="0" tIns="0" rIns="0" bIns="0" rtlCol="0" anchor="t"/>
          <a:lstStyle/>
          <a:p>
            <a:pPr indent="0" marL="0">
              <a:spcAft>
                <a:spcPts val="400"/>
              </a:spcAft>
              <a:buNone/>
            </a:pPr>
            <a:r>
              <a:rPr lang="en-US" sz="1050" b="1" dirty="0">
                <a:solidFill>
                  <a:srgbClr val="0B1F3A"/>
                </a:solidFill>
                <a:latin typeface="Calibri" pitchFamily="34" charset="0"/>
                <a:ea typeface="Calibri" pitchFamily="34" charset="-122"/>
                <a:cs typeface="Calibri" pitchFamily="34" charset="-120"/>
              </a:rPr>
              <a:t>Add, ranked</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1  Warm Water Volume and 20 °C-isotherm depth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NOAA PMEL, monthly 1980→. How much warm water is stacked up in the equatorial Pacific — the ~6-month-lead predictor; recharge–discharge theory IS this number.</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2  GODAS or ORAS5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NOAA's operational ocean analysis (1/3° × 1°, 40 levels, 5-day and monthly, 1980→, keyless OPeNDAP), or ECMWF's ORAS5 (1958→, 5 members): the subsurface temperature and thermocline the tensor has nowhere in the Pacific.</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3  NOAA interpolated outgoing longwave radiation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2.5°, daily, 1974→. Cold cloud tops mark deep convection — the Walker-circulation and Madden–Julian-Oscillation diagnostic CERES does not replace.</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4  Index series, as labels and as nulls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the Oceanic Niño Index (the official definition, on ERSSTv5, 1950→), weekly Niño-1+2/3/3.4/4, the Southern Oscillation Index and its equatorial twin, the Multivariate ENSO Index, the RMM Madden–Julian index (the wind-burst trigger), the Pacific Decadal Oscillation and Pacific Meridional Mode (spring precursors).</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5  Daily winds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ERA5 10 m u and v (0.25°, hourly, 1940→) or CCMP 6-hourly 1987→ — westerly wind bursts and wind-stress curl at the cadence at which they actually happen.</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6  TAO/TRITON moorings as native dots on the Pacific side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temperature and salinity with depth, currents, winds along 137° E–95° W, 1980→. The array is already catalogued, as `gtmba`.</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7  DUACS sea level directly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daily 0.125°, 1993→ — equatorial Kelvin and Rossby waves, and a proxy for warm-water volume.</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8  Benchmarks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the IRI/CPC forecast plume (2002→) and the NMME and SEAS5 hindcasts already in the catalog and unused — what any El Niño head must beat, and the spring-barrier skill curve to beat it on.</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9  In the app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a `nino.json` bake beside eei.json and gistemp.json (~40 lines next to `oisst_monthly()` in scripts/refresh_data.py), and the four Niño boxes drawn on the globe.</a:t>
            </a:r>
            <a:endParaRPr lang="en-US" sz="950" dirty="0"/>
          </a:p>
          <a:p>
            <a:pPr indent="0" marL="0">
              <a:buNone/>
            </a:pPr>
            <a:r>
              <a:rPr lang="en-US" sz="840" b="1" dirty="0">
                <a:solidFill>
                  <a:srgbClr val="1C7293"/>
                </a:solidFill>
                <a:latin typeface="Calibri" pitchFamily="34" charset="0"/>
                <a:ea typeface="Calibri" pitchFamily="34" charset="-122"/>
                <a:cs typeface="Calibri" pitchFamily="34" charset="-120"/>
              </a:rPr>
              <a:t>10  The cone codec on family 7, with an El Niño head  </a:t>
            </a:r>
            <a:pPr indent="0" marL="0">
              <a:spcAft>
                <a:spcPts val="300"/>
              </a:spcAft>
              <a:buNone/>
            </a:pPr>
            <a:r>
              <a:rPr lang="en-US" sz="840" dirty="0">
                <a:solidFill>
                  <a:srgbClr val="1B2430"/>
                </a:solidFill>
                <a:latin typeface="Calibri" pitchFamily="34" charset="0"/>
                <a:ea typeface="Calibri" pitchFamily="34" charset="-122"/>
                <a:cs typeface="Calibri" pitchFamily="34" charset="-120"/>
              </a:rPr>
              <a:t>sea-surface height, mixed-layer depth, the temperature/salinity column and wind stress are already the classic feature set. What is missing is the rainfall/longwave channel and the label.</a:t>
            </a:r>
            <a:endParaRPr lang="en-US" sz="950" dirty="0"/>
          </a:p>
        </p:txBody>
      </p:sp>
      <p:sp>
        <p:nvSpPr>
          <p:cNvPr id="46" name="Text 44"/>
          <p:cNvSpPr txBox="1"/>
          <p:nvPr/>
        </p:nvSpPr>
        <p:spPr>
          <a:xfrm>
            <a:off x="548640" y="5925312"/>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Onset is behind us — the event began in March 2026 — so “predict this year's El Niño” now means three different things, and each needs different data. Hindcast the ONSET from the November 2025 state (a −0.6 °C, mildly La-Niña-ish surface with a recharged subsurface): that is a test of whether the subsurface memory was readable. Forecast the PEAK amplitude and month (October–December) and the 2027 exit. And forecast the TELECONNECTIONS — the rainfall, drought and cyclone shifts that are what anyone outside the Pacific actually feels. All three need the subsurface first, the daily winds second, and an honest null beside them: persistence, a linear inverse model, and the operational forecast plume.</a:t>
            </a:r>
            <a:endParaRPr lang="en-US" sz="850" dirty="0"/>
          </a:p>
        </p:txBody>
      </p:sp>
      <p:sp>
        <p:nvSpPr>
          <p:cNvPr id="47" name="Text 4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300" b="1" dirty="0">
                <a:solidFill>
                  <a:srgbClr val="0B1F3A"/>
                </a:solidFill>
                <a:latin typeface="Georgia" pitchFamily="34" charset="0"/>
                <a:ea typeface="Georgia" pitchFamily="34" charset="-122"/>
                <a:cs typeface="Georgia" pitchFamily="34" charset="-120"/>
              </a:rPr>
              <a:t>Family 8: the measurement is never missing, only far away</a:t>
            </a:r>
            <a:endParaRPr lang="en-US" sz="23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250" i="1" dirty="0">
                <a:solidFill>
                  <a:srgbClr val="6B7A8F"/>
                </a:solidFill>
                <a:latin typeface="Calibri" pitchFamily="34" charset="0"/>
                <a:ea typeface="Calibri" pitchFamily="34" charset="-122"/>
                <a:cs typeface="Calibri" pitchFamily="34" charset="-120"/>
              </a:rPr>
              <a:t>A proposal, 7 Sep 2026. For a sparse channel, carry the k nearest observations in the cone — with their distance — instead of a grid cell that is usually empty. Dense channels keep the sunflower.</a:t>
            </a:r>
            <a:endParaRPr lang="en-US" sz="1250" dirty="0"/>
          </a:p>
        </p:txBody>
      </p:sp>
      <p:sp>
        <p:nvSpPr>
          <p:cNvPr id="4" name="Shape 2"/>
          <p:cNvSpPr/>
          <p:nvPr/>
        </p:nvSpPr>
        <p:spPr>
          <a:xfrm>
            <a:off x="548640" y="1389888"/>
            <a:ext cx="5303520" cy="1956816"/>
          </a:xfrm>
          <a:prstGeom prst="roundRect">
            <a:avLst>
              <a:gd name="adj" fmla="val 3738"/>
            </a:avLst>
          </a:prstGeom>
          <a:solidFill>
            <a:srgbClr val="FBFCFD"/>
          </a:solidFill>
          <a:ln w="15875">
            <a:solidFill>
              <a:srgbClr val="B8C4D3"/>
            </a:solidFill>
            <a:prstDash val="solid"/>
          </a:ln>
        </p:spPr>
      </p:sp>
      <p:sp>
        <p:nvSpPr>
          <p:cNvPr id="5" name="Text 3"/>
          <p:cNvSpPr txBox="1"/>
          <p:nvPr/>
        </p:nvSpPr>
        <p:spPr>
          <a:xfrm>
            <a:off x="676656" y="1444752"/>
            <a:ext cx="5047488" cy="310896"/>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A · family 7 — a grid cell is present or absent</a:t>
            </a:r>
            <a:endParaRPr lang="en-US" sz="950" dirty="0"/>
          </a:p>
          <a:p>
            <a:pPr indent="0" marL="0">
              <a:buNone/>
            </a:pPr>
            <a:r>
              <a:rPr lang="en-US" sz="650" i="1" dirty="0">
                <a:solidFill>
                  <a:srgbClr val="2E86AB"/>
                </a:solidFill>
                <a:latin typeface="Calibri" pitchFamily="34" charset="0"/>
                <a:ea typeface="Calibri" pitchFamily="34" charset="-122"/>
                <a:cs typeface="Calibri" pitchFamily="34" charset="-120"/>
              </a:rPr>
              <a:t>the sunflower — the dense-channel stencil: a 3×3 patch plus dots, dense near the anchor, sparse far from it</a:t>
            </a:r>
            <a:endParaRPr lang="en-US" sz="950" dirty="0"/>
          </a:p>
        </p:txBody>
      </p:sp>
      <p:sp>
        <p:nvSpPr>
          <p:cNvPr id="6" name="Shape 4"/>
          <p:cNvSpPr/>
          <p:nvPr/>
        </p:nvSpPr>
        <p:spPr>
          <a:xfrm>
            <a:off x="1974340" y="2327148"/>
            <a:ext cx="64008" cy="64008"/>
          </a:xfrm>
          <a:prstGeom prst="ellipse">
            <a:avLst/>
          </a:prstGeom>
          <a:solidFill>
            <a:srgbClr val="2E86AB">
              <a:alpha val="80000"/>
            </a:srgbClr>
          </a:solidFill>
          <a:ln w="12700">
            <a:solidFill>
              <a:srgbClr val="333333"/>
            </a:solidFill>
            <a:prstDash val="solid"/>
          </a:ln>
        </p:spPr>
      </p:sp>
      <p:sp>
        <p:nvSpPr>
          <p:cNvPr id="7" name="Shape 5"/>
          <p:cNvSpPr/>
          <p:nvPr/>
        </p:nvSpPr>
        <p:spPr>
          <a:xfrm>
            <a:off x="1548979" y="2456745"/>
            <a:ext cx="64008" cy="64008"/>
          </a:xfrm>
          <a:prstGeom prst="ellipse">
            <a:avLst/>
          </a:prstGeom>
          <a:solidFill>
            <a:srgbClr val="2E86AB">
              <a:alpha val="80000"/>
            </a:srgbClr>
          </a:solidFill>
          <a:ln w="12700">
            <a:solidFill>
              <a:srgbClr val="333333"/>
            </a:solidFill>
            <a:prstDash val="solid"/>
          </a:ln>
        </p:spPr>
      </p:sp>
      <p:sp>
        <p:nvSpPr>
          <p:cNvPr id="8" name="Shape 6"/>
          <p:cNvSpPr/>
          <p:nvPr/>
        </p:nvSpPr>
        <p:spPr>
          <a:xfrm>
            <a:off x="1778444" y="2108837"/>
            <a:ext cx="64008" cy="64008"/>
          </a:xfrm>
          <a:prstGeom prst="ellipse">
            <a:avLst/>
          </a:prstGeom>
          <a:solidFill>
            <a:srgbClr val="2E86AB">
              <a:alpha val="80000"/>
            </a:srgbClr>
          </a:solidFill>
          <a:ln w="12700">
            <a:solidFill>
              <a:srgbClr val="333333"/>
            </a:solidFill>
            <a:prstDash val="solid"/>
          </a:ln>
        </p:spPr>
      </p:sp>
      <p:sp>
        <p:nvSpPr>
          <p:cNvPr id="9" name="Shape 7"/>
          <p:cNvSpPr/>
          <p:nvPr/>
        </p:nvSpPr>
        <p:spPr>
          <a:xfrm>
            <a:off x="1961564" y="2519325"/>
            <a:ext cx="64008" cy="64008"/>
          </a:xfrm>
          <a:prstGeom prst="ellipse">
            <a:avLst/>
          </a:prstGeom>
          <a:solidFill>
            <a:srgbClr val="2E86AB">
              <a:alpha val="80000"/>
            </a:srgbClr>
          </a:solidFill>
          <a:ln w="12700">
            <a:solidFill>
              <a:srgbClr val="333333"/>
            </a:solidFill>
            <a:prstDash val="solid"/>
          </a:ln>
        </p:spPr>
      </p:sp>
      <p:sp>
        <p:nvSpPr>
          <p:cNvPr id="10" name="Shape 8"/>
          <p:cNvSpPr/>
          <p:nvPr/>
        </p:nvSpPr>
        <p:spPr>
          <a:xfrm>
            <a:off x="1381902" y="2281440"/>
            <a:ext cx="64008" cy="64008"/>
          </a:xfrm>
          <a:prstGeom prst="ellipse">
            <a:avLst/>
          </a:prstGeom>
          <a:solidFill>
            <a:srgbClr val="2E86AB">
              <a:alpha val="80000"/>
            </a:srgbClr>
          </a:solidFill>
          <a:ln w="12700">
            <a:solidFill>
              <a:srgbClr val="333333"/>
            </a:solidFill>
            <a:prstDash val="solid"/>
          </a:ln>
        </p:spPr>
      </p:sp>
      <p:sp>
        <p:nvSpPr>
          <p:cNvPr id="11" name="Shape 9"/>
          <p:cNvSpPr/>
          <p:nvPr/>
        </p:nvSpPr>
        <p:spPr>
          <a:xfrm>
            <a:off x="2089491" y="2176452"/>
            <a:ext cx="64008" cy="64008"/>
          </a:xfrm>
          <a:prstGeom prst="ellipse">
            <a:avLst/>
          </a:prstGeom>
          <a:solidFill>
            <a:srgbClr val="2E86AB">
              <a:alpha val="80000"/>
            </a:srgbClr>
          </a:solidFill>
          <a:ln w="12700">
            <a:solidFill>
              <a:srgbClr val="333333"/>
            </a:solidFill>
            <a:prstDash val="solid"/>
          </a:ln>
        </p:spPr>
      </p:sp>
      <p:sp>
        <p:nvSpPr>
          <p:cNvPr id="12" name="Shape 10"/>
          <p:cNvSpPr/>
          <p:nvPr/>
        </p:nvSpPr>
        <p:spPr>
          <a:xfrm>
            <a:off x="1640710" y="2614560"/>
            <a:ext cx="64008" cy="64008"/>
          </a:xfrm>
          <a:prstGeom prst="ellipse">
            <a:avLst/>
          </a:prstGeom>
          <a:solidFill>
            <a:srgbClr val="2E86AB">
              <a:alpha val="80000"/>
            </a:srgbClr>
          </a:solidFill>
          <a:ln w="12700">
            <a:solidFill>
              <a:srgbClr val="333333"/>
            </a:solidFill>
            <a:prstDash val="solid"/>
          </a:ln>
        </p:spPr>
      </p:sp>
      <p:sp>
        <p:nvSpPr>
          <p:cNvPr id="13" name="Shape 11"/>
          <p:cNvSpPr/>
          <p:nvPr/>
        </p:nvSpPr>
        <p:spPr>
          <a:xfrm>
            <a:off x="1544777" y="2049112"/>
            <a:ext cx="64008" cy="64008"/>
          </a:xfrm>
          <a:prstGeom prst="ellipse">
            <a:avLst/>
          </a:prstGeom>
          <a:solidFill>
            <a:srgbClr val="2E86AB">
              <a:alpha val="80000"/>
            </a:srgbClr>
          </a:solidFill>
          <a:ln w="12700">
            <a:solidFill>
              <a:srgbClr val="333333"/>
            </a:solidFill>
            <a:prstDash val="solid"/>
          </a:ln>
        </p:spPr>
      </p:sp>
      <p:sp>
        <p:nvSpPr>
          <p:cNvPr id="14" name="Shape 12"/>
          <p:cNvSpPr/>
          <p:nvPr/>
        </p:nvSpPr>
        <p:spPr>
          <a:xfrm>
            <a:off x="2191268" y="2439669"/>
            <a:ext cx="64008" cy="64008"/>
          </a:xfrm>
          <a:prstGeom prst="ellipse">
            <a:avLst/>
          </a:prstGeom>
          <a:solidFill>
            <a:srgbClr val="2E86AB">
              <a:alpha val="80000"/>
            </a:srgbClr>
          </a:solidFill>
          <a:ln w="12700">
            <a:solidFill>
              <a:srgbClr val="333333"/>
            </a:solidFill>
            <a:prstDash val="solid"/>
          </a:ln>
        </p:spPr>
      </p:sp>
      <p:sp>
        <p:nvSpPr>
          <p:cNvPr id="15" name="Shape 13"/>
          <p:cNvSpPr/>
          <p:nvPr/>
        </p:nvSpPr>
        <p:spPr>
          <a:xfrm>
            <a:off x="1299510" y="2457639"/>
            <a:ext cx="64008" cy="64008"/>
          </a:xfrm>
          <a:prstGeom prst="ellipse">
            <a:avLst/>
          </a:prstGeom>
          <a:solidFill>
            <a:srgbClr val="2E86AB">
              <a:alpha val="80000"/>
            </a:srgbClr>
          </a:solidFill>
          <a:ln w="12700">
            <a:solidFill>
              <a:srgbClr val="333333"/>
            </a:solidFill>
            <a:prstDash val="solid"/>
          </a:ln>
        </p:spPr>
      </p:sp>
      <p:sp>
        <p:nvSpPr>
          <p:cNvPr id="16" name="Shape 14"/>
          <p:cNvSpPr/>
          <p:nvPr/>
        </p:nvSpPr>
        <p:spPr>
          <a:xfrm>
            <a:off x="1966149" y="2005402"/>
            <a:ext cx="64008" cy="64008"/>
          </a:xfrm>
          <a:prstGeom prst="ellipse">
            <a:avLst/>
          </a:prstGeom>
          <a:solidFill>
            <a:srgbClr val="2E86AB">
              <a:alpha val="80000"/>
            </a:srgbClr>
          </a:solidFill>
          <a:ln w="12700">
            <a:solidFill>
              <a:srgbClr val="333333"/>
            </a:solidFill>
            <a:prstDash val="solid"/>
          </a:ln>
        </p:spPr>
      </p:sp>
      <p:sp>
        <p:nvSpPr>
          <p:cNvPr id="17" name="Shape 15"/>
          <p:cNvSpPr/>
          <p:nvPr/>
        </p:nvSpPr>
        <p:spPr>
          <a:xfrm>
            <a:off x="1908385" y="2678173"/>
            <a:ext cx="64008" cy="64008"/>
          </a:xfrm>
          <a:prstGeom prst="ellipse">
            <a:avLst/>
          </a:prstGeom>
          <a:solidFill>
            <a:srgbClr val="2E86AB">
              <a:alpha val="80000"/>
            </a:srgbClr>
          </a:solidFill>
          <a:ln w="12700">
            <a:solidFill>
              <a:srgbClr val="333333"/>
            </a:solidFill>
            <a:prstDash val="solid"/>
          </a:ln>
        </p:spPr>
      </p:sp>
      <p:sp>
        <p:nvSpPr>
          <p:cNvPr id="18" name="Shape 16"/>
          <p:cNvSpPr/>
          <p:nvPr/>
        </p:nvSpPr>
        <p:spPr>
          <a:xfrm>
            <a:off x="1281332" y="2136607"/>
            <a:ext cx="64008" cy="64008"/>
          </a:xfrm>
          <a:prstGeom prst="ellipse">
            <a:avLst/>
          </a:prstGeom>
          <a:solidFill>
            <a:srgbClr val="2E86AB">
              <a:alpha val="80000"/>
            </a:srgbClr>
          </a:solidFill>
          <a:ln w="12700">
            <a:solidFill>
              <a:srgbClr val="333333"/>
            </a:solidFill>
            <a:prstDash val="solid"/>
          </a:ln>
        </p:spPr>
      </p:sp>
      <p:sp>
        <p:nvSpPr>
          <p:cNvPr id="19" name="Shape 17"/>
          <p:cNvSpPr/>
          <p:nvPr/>
        </p:nvSpPr>
        <p:spPr>
          <a:xfrm>
            <a:off x="2297628" y="2243021"/>
            <a:ext cx="64008" cy="64008"/>
          </a:xfrm>
          <a:prstGeom prst="ellipse">
            <a:avLst/>
          </a:prstGeom>
          <a:solidFill>
            <a:srgbClr val="2E86AB">
              <a:alpha val="80000"/>
            </a:srgbClr>
          </a:solidFill>
          <a:ln w="12700">
            <a:solidFill>
              <a:srgbClr val="333333"/>
            </a:solidFill>
            <a:prstDash val="solid"/>
          </a:ln>
        </p:spPr>
      </p:sp>
      <p:sp>
        <p:nvSpPr>
          <p:cNvPr id="20" name="Shape 18"/>
          <p:cNvSpPr/>
          <p:nvPr/>
        </p:nvSpPr>
        <p:spPr>
          <a:xfrm>
            <a:off x="1419984" y="2656841"/>
            <a:ext cx="64008" cy="64008"/>
          </a:xfrm>
          <a:prstGeom prst="ellipse">
            <a:avLst/>
          </a:prstGeom>
          <a:solidFill>
            <a:srgbClr val="2E86AB">
              <a:alpha val="80000"/>
            </a:srgbClr>
          </a:solidFill>
          <a:ln w="12700">
            <a:solidFill>
              <a:srgbClr val="333333"/>
            </a:solidFill>
            <a:prstDash val="solid"/>
          </a:ln>
        </p:spPr>
      </p:sp>
      <p:sp>
        <p:nvSpPr>
          <p:cNvPr id="21" name="Shape 19"/>
          <p:cNvSpPr/>
          <p:nvPr/>
        </p:nvSpPr>
        <p:spPr>
          <a:xfrm>
            <a:off x="1675059" y="1916671"/>
            <a:ext cx="64008" cy="64008"/>
          </a:xfrm>
          <a:prstGeom prst="ellipse">
            <a:avLst/>
          </a:prstGeom>
          <a:solidFill>
            <a:srgbClr val="2E86AB">
              <a:alpha val="80000"/>
            </a:srgbClr>
          </a:solidFill>
          <a:ln w="12700">
            <a:solidFill>
              <a:srgbClr val="333333"/>
            </a:solidFill>
            <a:prstDash val="solid"/>
          </a:ln>
        </p:spPr>
      </p:sp>
      <p:sp>
        <p:nvSpPr>
          <p:cNvPr id="22" name="Shape 20"/>
          <p:cNvSpPr/>
          <p:nvPr/>
        </p:nvSpPr>
        <p:spPr>
          <a:xfrm>
            <a:off x="2214783" y="2600688"/>
            <a:ext cx="64008" cy="64008"/>
          </a:xfrm>
          <a:prstGeom prst="ellipse">
            <a:avLst/>
          </a:prstGeom>
          <a:solidFill>
            <a:srgbClr val="2E86AB">
              <a:alpha val="80000"/>
            </a:srgbClr>
          </a:solidFill>
          <a:ln w="12700">
            <a:solidFill>
              <a:srgbClr val="333333"/>
            </a:solidFill>
            <a:prstDash val="solid"/>
          </a:ln>
        </p:spPr>
      </p:sp>
      <p:sp>
        <p:nvSpPr>
          <p:cNvPr id="23" name="Shape 21"/>
          <p:cNvSpPr/>
          <p:nvPr/>
        </p:nvSpPr>
        <p:spPr>
          <a:xfrm>
            <a:off x="1130538" y="2345135"/>
            <a:ext cx="64008" cy="64008"/>
          </a:xfrm>
          <a:prstGeom prst="ellipse">
            <a:avLst/>
          </a:prstGeom>
          <a:solidFill>
            <a:srgbClr val="2E86AB">
              <a:alpha val="80000"/>
            </a:srgbClr>
          </a:solidFill>
          <a:ln w="12700">
            <a:solidFill>
              <a:srgbClr val="333333"/>
            </a:solidFill>
            <a:prstDash val="solid"/>
          </a:ln>
        </p:spPr>
      </p:sp>
      <p:sp>
        <p:nvSpPr>
          <p:cNvPr id="24" name="Shape 22"/>
          <p:cNvSpPr/>
          <p:nvPr/>
        </p:nvSpPr>
        <p:spPr>
          <a:xfrm>
            <a:off x="2201392" y="2013424"/>
            <a:ext cx="64008" cy="64008"/>
          </a:xfrm>
          <a:prstGeom prst="ellipse">
            <a:avLst/>
          </a:prstGeom>
          <a:solidFill>
            <a:srgbClr val="2E86AB">
              <a:alpha val="80000"/>
            </a:srgbClr>
          </a:solidFill>
          <a:ln w="12700">
            <a:solidFill>
              <a:srgbClr val="333333"/>
            </a:solidFill>
            <a:prstDash val="solid"/>
          </a:ln>
        </p:spPr>
      </p:sp>
      <p:sp>
        <p:nvSpPr>
          <p:cNvPr id="25" name="Shape 23"/>
          <p:cNvSpPr/>
          <p:nvPr/>
        </p:nvSpPr>
        <p:spPr>
          <a:xfrm>
            <a:off x="1721127" y="2781121"/>
            <a:ext cx="64008" cy="64008"/>
          </a:xfrm>
          <a:prstGeom prst="ellipse">
            <a:avLst/>
          </a:prstGeom>
          <a:solidFill>
            <a:srgbClr val="2E86AB">
              <a:alpha val="80000"/>
            </a:srgbClr>
          </a:solidFill>
          <a:ln w="12700">
            <a:solidFill>
              <a:srgbClr val="333333"/>
            </a:solidFill>
            <a:prstDash val="solid"/>
          </a:ln>
        </p:spPr>
      </p:sp>
      <p:sp>
        <p:nvSpPr>
          <p:cNvPr id="26" name="Shape 24"/>
          <p:cNvSpPr/>
          <p:nvPr/>
        </p:nvSpPr>
        <p:spPr>
          <a:xfrm>
            <a:off x="1691640" y="2267712"/>
            <a:ext cx="182880" cy="182880"/>
          </a:xfrm>
          <a:prstGeom prst="ellipse">
            <a:avLst/>
          </a:prstGeom>
          <a:solidFill>
            <a:srgbClr val="FFFFFF"/>
          </a:solidFill>
          <a:ln w="22225">
            <a:solidFill>
              <a:srgbClr val="F85149"/>
            </a:solidFill>
            <a:prstDash val="solid"/>
          </a:ln>
        </p:spPr>
      </p:sp>
      <p:sp>
        <p:nvSpPr>
          <p:cNvPr id="27" name="Text 25"/>
          <p:cNvSpPr txBox="1"/>
          <p:nvPr/>
        </p:nvSpPr>
        <p:spPr>
          <a:xfrm>
            <a:off x="1280160" y="2459736"/>
            <a:ext cx="1005840" cy="146304"/>
          </a:xfrm>
          <a:prstGeom prst="rect">
            <a:avLst/>
          </a:prstGeom>
          <a:noFill/>
          <a:ln/>
        </p:spPr>
        <p:txBody>
          <a:bodyPr wrap="square" lIns="0" tIns="0" rIns="0" bIns="0" rtlCol="0" anchor="ctr"/>
          <a:lstStyle/>
          <a:p>
            <a:pPr algn="ctr" indent="0" marL="0">
              <a:buNone/>
            </a:pPr>
            <a:r>
              <a:rPr lang="en-US" sz="650" b="1" dirty="0">
                <a:solidFill>
                  <a:srgbClr val="F85149"/>
                </a:solidFill>
                <a:latin typeface="Calibri" pitchFamily="34" charset="0"/>
                <a:ea typeface="Calibri" pitchFamily="34" charset="-122"/>
                <a:cs typeface="Calibri" pitchFamily="34" charset="-120"/>
              </a:rPr>
              <a:t>anchor</a:t>
            </a:r>
            <a:endParaRPr lang="en-US" sz="650" dirty="0"/>
          </a:p>
        </p:txBody>
      </p:sp>
      <p:sp>
        <p:nvSpPr>
          <p:cNvPr id="28" name="Shape 26"/>
          <p:cNvSpPr/>
          <p:nvPr/>
        </p:nvSpPr>
        <p:spPr>
          <a:xfrm>
            <a:off x="3840480" y="2084832"/>
            <a:ext cx="713232" cy="548640"/>
          </a:xfrm>
          <a:prstGeom prst="rect">
            <a:avLst/>
          </a:prstGeom>
          <a:solidFill>
            <a:srgbClr val="DEE3EA"/>
          </a:solidFill>
          <a:ln w="9525">
            <a:solidFill>
              <a:srgbClr val="6B7A8F"/>
            </a:solidFill>
            <a:prstDash val="dash"/>
          </a:ln>
        </p:spPr>
      </p:sp>
      <p:sp>
        <p:nvSpPr>
          <p:cNvPr id="29" name="Text 27"/>
          <p:cNvSpPr txBox="1"/>
          <p:nvPr/>
        </p:nvSpPr>
        <p:spPr>
          <a:xfrm>
            <a:off x="3840480" y="2084832"/>
            <a:ext cx="713232" cy="548640"/>
          </a:xfrm>
          <a:prstGeom prst="rect">
            <a:avLst/>
          </a:prstGeom>
          <a:noFill/>
          <a:ln/>
        </p:spPr>
        <p:txBody>
          <a:bodyPr wrap="square" lIns="0" tIns="0" rIns="0" bIns="0" rtlCol="0" anchor="ctr"/>
          <a:lstStyle/>
          <a:p>
            <a:pPr algn="ctr" indent="0" marL="0">
              <a:buNone/>
            </a:pPr>
            <a:r>
              <a:rPr lang="en-US" sz="1000" b="1" dirty="0">
                <a:solidFill>
                  <a:srgbClr val="6B7A8F"/>
                </a:solidFill>
                <a:latin typeface="Calibri" pitchFamily="34" charset="0"/>
                <a:ea typeface="Calibri" pitchFamily="34" charset="-122"/>
                <a:cs typeface="Calibri" pitchFamily="34" charset="-120"/>
              </a:rPr>
              <a:t>NaN</a:t>
            </a:r>
            <a:endParaRPr lang="en-US" sz="1000" dirty="0"/>
          </a:p>
        </p:txBody>
      </p:sp>
      <p:sp>
        <p:nvSpPr>
          <p:cNvPr id="30" name="Text 28"/>
          <p:cNvSpPr txBox="1"/>
          <p:nvPr/>
        </p:nvSpPr>
        <p:spPr>
          <a:xfrm>
            <a:off x="3520440" y="1901952"/>
            <a:ext cx="1371600" cy="146304"/>
          </a:xfrm>
          <a:prstGeom prst="rect">
            <a:avLst/>
          </a:prstGeom>
          <a:noFill/>
          <a:ln/>
        </p:spPr>
        <p:txBody>
          <a:bodyPr wrap="square" lIns="0" tIns="0" rIns="0" bIns="0" rtlCol="0" anchor="ctr"/>
          <a:lstStyle/>
          <a:p>
            <a:pPr algn="ctr" indent="0" marL="0">
              <a:buNone/>
            </a:pPr>
            <a:r>
              <a:rPr lang="en-US" sz="650" i="1" dirty="0">
                <a:solidFill>
                  <a:srgbClr val="6B7A8F"/>
                </a:solidFill>
                <a:latin typeface="Calibri" pitchFamily="34" charset="0"/>
                <a:ea typeface="Calibri" pitchFamily="34" charset="-122"/>
                <a:cs typeface="Calibri" pitchFamily="34" charset="-120"/>
              </a:rPr>
              <a:t>the Argo group's 1° cell</a:t>
            </a:r>
            <a:endParaRPr lang="en-US" sz="650" dirty="0"/>
          </a:p>
        </p:txBody>
      </p:sp>
      <p:sp>
        <p:nvSpPr>
          <p:cNvPr id="31" name="Text 29"/>
          <p:cNvSpPr txBox="1"/>
          <p:nvPr/>
        </p:nvSpPr>
        <p:spPr>
          <a:xfrm>
            <a:off x="3566160" y="2679192"/>
            <a:ext cx="1280160" cy="146304"/>
          </a:xfrm>
          <a:prstGeom prst="rect">
            <a:avLst/>
          </a:prstGeom>
          <a:noFill/>
          <a:ln/>
        </p:spPr>
        <p:txBody>
          <a:bodyPr wrap="square" lIns="0" tIns="0" rIns="0" bIns="0" rtlCol="0" anchor="ctr"/>
          <a:lstStyle/>
          <a:p>
            <a:pPr algn="ctr" indent="0" marL="0">
              <a:buNone/>
            </a:pPr>
            <a:r>
              <a:rPr lang="en-US" sz="650" b="1" dirty="0">
                <a:solidFill>
                  <a:srgbClr val="6B7A8F"/>
                </a:solidFill>
                <a:latin typeface="Calibri" pitchFamily="34" charset="0"/>
                <a:ea typeface="Calibri" pitchFamily="34" charset="-122"/>
                <a:cs typeface="Calibri" pitchFamily="34" charset="-120"/>
              </a:rPr>
              <a:t>→ one miss token</a:t>
            </a:r>
            <a:endParaRPr lang="en-US" sz="650" dirty="0"/>
          </a:p>
        </p:txBody>
      </p:sp>
      <p:sp>
        <p:nvSpPr>
          <p:cNvPr id="32" name="Shape 30"/>
          <p:cNvSpPr/>
          <p:nvPr/>
        </p:nvSpPr>
        <p:spPr>
          <a:xfrm>
            <a:off x="2496312" y="2359152"/>
            <a:ext cx="1289304" cy="0"/>
          </a:xfrm>
          <a:prstGeom prst="line">
            <a:avLst/>
          </a:prstGeom>
          <a:noFill/>
          <a:ln w="9525">
            <a:solidFill>
              <a:srgbClr val="6B7A8F"/>
            </a:solidFill>
            <a:prstDash val="solid"/>
            <a:tailEnd type="triangle"/>
          </a:ln>
        </p:spPr>
      </p:sp>
      <p:sp>
        <p:nvSpPr>
          <p:cNvPr id="33" name="Text 31"/>
          <p:cNvSpPr txBox="1"/>
          <p:nvPr/>
        </p:nvSpPr>
        <p:spPr>
          <a:xfrm>
            <a:off x="676656" y="2962656"/>
            <a:ext cx="5047488" cy="329184"/>
          </a:xfrm>
          <a:prstGeom prst="rect">
            <a:avLst/>
          </a:prstGeom>
          <a:noFill/>
          <a:ln/>
        </p:spPr>
        <p:txBody>
          <a:bodyPr wrap="square" lIns="0" tIns="0" rIns="0" bIns="0" rtlCol="0" anchor="t"/>
          <a:lstStyle/>
          <a:p>
            <a:pPr indent="0" marL="0">
              <a:buNone/>
            </a:pPr>
            <a:r>
              <a:rPr lang="en-US" sz="750" dirty="0">
                <a:solidFill>
                  <a:srgbClr val="1B2430"/>
                </a:solidFill>
                <a:latin typeface="Calibri" pitchFamily="34" charset="0"/>
                <a:ea typeface="Calibri" pitchFamily="34" charset="-122"/>
                <a:cs typeface="Calibri" pitchFamily="34" charset="-120"/>
              </a:rPr>
              <a:t>the Argo group is written into 252 of 3,142 pentads (8 %); at every other bin the cone reads a </a:t>
            </a:r>
            <a:pPr indent="0" marL="0">
              <a:buNone/>
            </a:pPr>
            <a:r>
              <a:rPr lang="en-US" sz="750" b="1" dirty="0">
                <a:solidFill>
                  <a:srgbClr val="6B7A8F"/>
                </a:solidFill>
                <a:latin typeface="Calibri" pitchFamily="34" charset="0"/>
                <a:ea typeface="Calibri" pitchFamily="34" charset="-122"/>
                <a:cs typeface="Calibri" pitchFamily="34" charset="-120"/>
              </a:rPr>
              <a:t>miss</a:t>
            </a:r>
            <a:pPr indent="0" marL="0">
              <a:buNone/>
            </a:pPr>
            <a:r>
              <a:rPr lang="en-US" sz="750" dirty="0">
                <a:solidFill>
                  <a:srgbClr val="1B2430"/>
                </a:solidFill>
                <a:latin typeface="Calibri" pitchFamily="34" charset="0"/>
                <a:ea typeface="Calibri" pitchFamily="34" charset="-122"/>
                <a:cs typeface="Calibri" pitchFamily="34" charset="-120"/>
              </a:rPr>
              <a:t> token.</a:t>
            </a:r>
            <a:endParaRPr lang="en-US" sz="950" dirty="0"/>
          </a:p>
        </p:txBody>
      </p:sp>
      <p:sp>
        <p:nvSpPr>
          <p:cNvPr id="34" name="Shape 32"/>
          <p:cNvSpPr/>
          <p:nvPr/>
        </p:nvSpPr>
        <p:spPr>
          <a:xfrm>
            <a:off x="548640" y="3438144"/>
            <a:ext cx="5303520" cy="2286000"/>
          </a:xfrm>
          <a:prstGeom prst="roundRect">
            <a:avLst>
              <a:gd name="adj" fmla="val 3200"/>
            </a:avLst>
          </a:prstGeom>
          <a:solidFill>
            <a:srgbClr val="FFF8F2"/>
          </a:solidFill>
          <a:ln w="15875">
            <a:solidFill>
              <a:srgbClr val="E07A2F"/>
            </a:solidFill>
            <a:prstDash val="solid"/>
          </a:ln>
        </p:spPr>
      </p:sp>
      <p:sp>
        <p:nvSpPr>
          <p:cNvPr id="35" name="Text 33"/>
          <p:cNvSpPr txBox="1"/>
          <p:nvPr/>
        </p:nvSpPr>
        <p:spPr>
          <a:xfrm>
            <a:off x="676656" y="3493008"/>
            <a:ext cx="5047488" cy="182880"/>
          </a:xfrm>
          <a:prstGeom prst="rect">
            <a:avLst/>
          </a:prstGeom>
          <a:noFill/>
          <a:ln/>
        </p:spPr>
        <p:txBody>
          <a:bodyPr wrap="square" lIns="0" tIns="0" rIns="0" bIns="0" rtlCol="0" anchor="t"/>
          <a:lstStyle/>
          <a:p>
            <a:pPr indent="0" marL="0">
              <a:buNone/>
            </a:pPr>
            <a:r>
              <a:rPr lang="en-US" sz="900" b="1" dirty="0">
                <a:solidFill>
                  <a:srgbClr val="E07A2F"/>
                </a:solidFill>
                <a:latin typeface="Calibri" pitchFamily="34" charset="0"/>
                <a:ea typeface="Calibri" pitchFamily="34" charset="-122"/>
                <a:cs typeface="Calibri" pitchFamily="34" charset="-120"/>
              </a:rPr>
              <a:t>B · family 8 — the k nearest observations, however far</a:t>
            </a:r>
            <a:endParaRPr lang="en-US" sz="950" dirty="0"/>
          </a:p>
        </p:txBody>
      </p:sp>
      <p:sp>
        <p:nvSpPr>
          <p:cNvPr id="36" name="Shape 34"/>
          <p:cNvSpPr/>
          <p:nvPr/>
        </p:nvSpPr>
        <p:spPr>
          <a:xfrm flipV="1">
            <a:off x="1170432" y="4059936"/>
            <a:ext cx="649224" cy="530352"/>
          </a:xfrm>
          <a:prstGeom prst="line">
            <a:avLst/>
          </a:prstGeom>
          <a:noFill/>
          <a:ln w="9525">
            <a:solidFill>
              <a:srgbClr val="E07A2F"/>
            </a:solidFill>
            <a:prstDash val="solid"/>
            <a:tailEnd type="triangle"/>
          </a:ln>
        </p:spPr>
      </p:sp>
      <p:sp>
        <p:nvSpPr>
          <p:cNvPr id="37" name="Shape 35"/>
          <p:cNvSpPr/>
          <p:nvPr/>
        </p:nvSpPr>
        <p:spPr>
          <a:xfrm>
            <a:off x="1783080" y="3995928"/>
            <a:ext cx="128016" cy="128016"/>
          </a:xfrm>
          <a:prstGeom prst="triangle">
            <a:avLst/>
          </a:prstGeom>
          <a:solidFill>
            <a:srgbClr val="E07A2F"/>
          </a:solidFill>
          <a:ln w="12700">
            <a:solidFill>
              <a:srgbClr val="333333"/>
            </a:solidFill>
            <a:prstDash val="solid"/>
          </a:ln>
        </p:spPr>
      </p:sp>
      <p:sp>
        <p:nvSpPr>
          <p:cNvPr id="38" name="Text 36"/>
          <p:cNvSpPr txBox="1"/>
          <p:nvPr/>
        </p:nvSpPr>
        <p:spPr>
          <a:xfrm>
            <a:off x="1938528" y="3977640"/>
            <a:ext cx="1207008" cy="164592"/>
          </a:xfrm>
          <a:prstGeom prst="rect">
            <a:avLst/>
          </a:prstGeom>
          <a:noFill/>
          <a:ln/>
        </p:spPr>
        <p:txBody>
          <a:bodyPr wrap="square" lIns="0" tIns="0" rIns="0" bIns="0" rtlCol="0" anchor="ctr"/>
          <a:lstStyle/>
          <a:p>
            <a:pPr indent="0" marL="0">
              <a:buNone/>
            </a:pPr>
            <a:r>
              <a:rPr lang="en-US" sz="650" b="1" dirty="0">
                <a:solidFill>
                  <a:srgbClr val="E07A2F"/>
                </a:solidFill>
                <a:latin typeface="Calibri" pitchFamily="34" charset="0"/>
                <a:ea typeface="Calibri" pitchFamily="34" charset="-122"/>
                <a:cs typeface="Calibri" pitchFamily="34" charset="-120"/>
              </a:rPr>
              <a:t>88 km · 0 d</a:t>
            </a:r>
            <a:endParaRPr lang="en-US" sz="650" dirty="0"/>
          </a:p>
        </p:txBody>
      </p:sp>
      <p:sp>
        <p:nvSpPr>
          <p:cNvPr id="39" name="Shape 37"/>
          <p:cNvSpPr/>
          <p:nvPr/>
        </p:nvSpPr>
        <p:spPr>
          <a:xfrm>
            <a:off x="1170432" y="4590288"/>
            <a:ext cx="1033272" cy="548640"/>
          </a:xfrm>
          <a:prstGeom prst="line">
            <a:avLst/>
          </a:prstGeom>
          <a:noFill/>
          <a:ln w="9525">
            <a:solidFill>
              <a:srgbClr val="E07A2F"/>
            </a:solidFill>
            <a:prstDash val="solid"/>
            <a:tailEnd type="triangle"/>
          </a:ln>
        </p:spPr>
      </p:sp>
      <p:sp>
        <p:nvSpPr>
          <p:cNvPr id="40" name="Shape 38"/>
          <p:cNvSpPr/>
          <p:nvPr/>
        </p:nvSpPr>
        <p:spPr>
          <a:xfrm>
            <a:off x="2167128" y="5074920"/>
            <a:ext cx="128016" cy="128016"/>
          </a:xfrm>
          <a:prstGeom prst="triangle">
            <a:avLst/>
          </a:prstGeom>
          <a:solidFill>
            <a:srgbClr val="E07A2F"/>
          </a:solidFill>
          <a:ln w="12700">
            <a:solidFill>
              <a:srgbClr val="333333"/>
            </a:solidFill>
            <a:prstDash val="solid"/>
          </a:ln>
        </p:spPr>
      </p:sp>
      <p:sp>
        <p:nvSpPr>
          <p:cNvPr id="41" name="Text 39"/>
          <p:cNvSpPr txBox="1"/>
          <p:nvPr/>
        </p:nvSpPr>
        <p:spPr>
          <a:xfrm>
            <a:off x="2322576" y="5056632"/>
            <a:ext cx="1207008" cy="164592"/>
          </a:xfrm>
          <a:prstGeom prst="rect">
            <a:avLst/>
          </a:prstGeom>
          <a:noFill/>
          <a:ln/>
        </p:spPr>
        <p:txBody>
          <a:bodyPr wrap="square" lIns="0" tIns="0" rIns="0" bIns="0" rtlCol="0" anchor="ctr"/>
          <a:lstStyle/>
          <a:p>
            <a:pPr indent="0" marL="0">
              <a:buNone/>
            </a:pPr>
            <a:r>
              <a:rPr lang="en-US" sz="650" b="1" dirty="0">
                <a:solidFill>
                  <a:srgbClr val="E07A2F"/>
                </a:solidFill>
                <a:latin typeface="Calibri" pitchFamily="34" charset="0"/>
                <a:ea typeface="Calibri" pitchFamily="34" charset="-122"/>
                <a:cs typeface="Calibri" pitchFamily="34" charset="-120"/>
              </a:rPr>
              <a:t>143 km · −6 d</a:t>
            </a:r>
            <a:endParaRPr lang="en-US" sz="650" dirty="0"/>
          </a:p>
        </p:txBody>
      </p:sp>
      <p:sp>
        <p:nvSpPr>
          <p:cNvPr id="42" name="Shape 40"/>
          <p:cNvSpPr/>
          <p:nvPr/>
        </p:nvSpPr>
        <p:spPr>
          <a:xfrm flipV="1">
            <a:off x="1170432" y="3877056"/>
            <a:ext cx="1563624" cy="713232"/>
          </a:xfrm>
          <a:prstGeom prst="line">
            <a:avLst/>
          </a:prstGeom>
          <a:noFill/>
          <a:ln w="9525">
            <a:solidFill>
              <a:srgbClr val="E07A2F"/>
            </a:solidFill>
            <a:prstDash val="solid"/>
            <a:tailEnd type="triangle"/>
          </a:ln>
        </p:spPr>
      </p:sp>
      <p:sp>
        <p:nvSpPr>
          <p:cNvPr id="43" name="Shape 41"/>
          <p:cNvSpPr/>
          <p:nvPr/>
        </p:nvSpPr>
        <p:spPr>
          <a:xfrm>
            <a:off x="2697480" y="3813048"/>
            <a:ext cx="128016" cy="128016"/>
          </a:xfrm>
          <a:prstGeom prst="triangle">
            <a:avLst/>
          </a:prstGeom>
          <a:solidFill>
            <a:srgbClr val="E07A2F"/>
          </a:solidFill>
          <a:ln w="12700">
            <a:solidFill>
              <a:srgbClr val="333333"/>
            </a:solidFill>
            <a:prstDash val="solid"/>
          </a:ln>
        </p:spPr>
      </p:sp>
      <p:sp>
        <p:nvSpPr>
          <p:cNvPr id="44" name="Text 42"/>
          <p:cNvSpPr txBox="1"/>
          <p:nvPr/>
        </p:nvSpPr>
        <p:spPr>
          <a:xfrm>
            <a:off x="2852928" y="3794760"/>
            <a:ext cx="1207008" cy="164592"/>
          </a:xfrm>
          <a:prstGeom prst="rect">
            <a:avLst/>
          </a:prstGeom>
          <a:noFill/>
          <a:ln/>
        </p:spPr>
        <p:txBody>
          <a:bodyPr wrap="square" lIns="0" tIns="0" rIns="0" bIns="0" rtlCol="0" anchor="ctr"/>
          <a:lstStyle/>
          <a:p>
            <a:pPr indent="0" marL="0">
              <a:buNone/>
            </a:pPr>
            <a:r>
              <a:rPr lang="en-US" sz="650" b="1" dirty="0">
                <a:solidFill>
                  <a:srgbClr val="E07A2F"/>
                </a:solidFill>
                <a:latin typeface="Calibri" pitchFamily="34" charset="0"/>
                <a:ea typeface="Calibri" pitchFamily="34" charset="-122"/>
                <a:cs typeface="Calibri" pitchFamily="34" charset="-120"/>
              </a:rPr>
              <a:t>212 km · −3 d</a:t>
            </a:r>
            <a:endParaRPr lang="en-US" sz="650" dirty="0"/>
          </a:p>
        </p:txBody>
      </p:sp>
      <p:sp>
        <p:nvSpPr>
          <p:cNvPr id="45" name="Shape 43"/>
          <p:cNvSpPr/>
          <p:nvPr/>
        </p:nvSpPr>
        <p:spPr>
          <a:xfrm>
            <a:off x="1170432" y="4590288"/>
            <a:ext cx="2057400" cy="347472"/>
          </a:xfrm>
          <a:prstGeom prst="line">
            <a:avLst/>
          </a:prstGeom>
          <a:noFill/>
          <a:ln w="9525">
            <a:solidFill>
              <a:srgbClr val="E07A2F"/>
            </a:solidFill>
            <a:prstDash val="solid"/>
            <a:tailEnd type="triangle"/>
          </a:ln>
        </p:spPr>
      </p:sp>
      <p:sp>
        <p:nvSpPr>
          <p:cNvPr id="46" name="Shape 44"/>
          <p:cNvSpPr/>
          <p:nvPr/>
        </p:nvSpPr>
        <p:spPr>
          <a:xfrm>
            <a:off x="3191256" y="4873752"/>
            <a:ext cx="128016" cy="128016"/>
          </a:xfrm>
          <a:prstGeom prst="triangle">
            <a:avLst/>
          </a:prstGeom>
          <a:solidFill>
            <a:srgbClr val="E07A2F"/>
          </a:solidFill>
          <a:ln w="12700">
            <a:solidFill>
              <a:srgbClr val="333333"/>
            </a:solidFill>
            <a:prstDash val="solid"/>
          </a:ln>
        </p:spPr>
      </p:sp>
      <p:sp>
        <p:nvSpPr>
          <p:cNvPr id="47" name="Text 45"/>
          <p:cNvSpPr txBox="1"/>
          <p:nvPr/>
        </p:nvSpPr>
        <p:spPr>
          <a:xfrm>
            <a:off x="3346704" y="4855464"/>
            <a:ext cx="1207008" cy="164592"/>
          </a:xfrm>
          <a:prstGeom prst="rect">
            <a:avLst/>
          </a:prstGeom>
          <a:noFill/>
          <a:ln/>
        </p:spPr>
        <p:txBody>
          <a:bodyPr wrap="square" lIns="0" tIns="0" rIns="0" bIns="0" rtlCol="0" anchor="ctr"/>
          <a:lstStyle/>
          <a:p>
            <a:pPr indent="0" marL="0">
              <a:buNone/>
            </a:pPr>
            <a:r>
              <a:rPr lang="en-US" sz="650" b="1" dirty="0">
                <a:solidFill>
                  <a:srgbClr val="E07A2F"/>
                </a:solidFill>
                <a:latin typeface="Calibri" pitchFamily="34" charset="0"/>
                <a:ea typeface="Calibri" pitchFamily="34" charset="-122"/>
                <a:cs typeface="Calibri" pitchFamily="34" charset="-120"/>
              </a:rPr>
              <a:t>340 km · −11 d</a:t>
            </a:r>
            <a:endParaRPr lang="en-US" sz="650" dirty="0"/>
          </a:p>
        </p:txBody>
      </p:sp>
      <p:sp>
        <p:nvSpPr>
          <p:cNvPr id="48" name="Shape 46"/>
          <p:cNvSpPr/>
          <p:nvPr/>
        </p:nvSpPr>
        <p:spPr>
          <a:xfrm flipV="1">
            <a:off x="1170432" y="4389120"/>
            <a:ext cx="2551176" cy="201168"/>
          </a:xfrm>
          <a:prstGeom prst="line">
            <a:avLst/>
          </a:prstGeom>
          <a:noFill/>
          <a:ln w="9525">
            <a:solidFill>
              <a:srgbClr val="E07A2F"/>
            </a:solidFill>
            <a:prstDash val="solid"/>
            <a:tailEnd type="triangle"/>
          </a:ln>
        </p:spPr>
      </p:sp>
      <p:sp>
        <p:nvSpPr>
          <p:cNvPr id="49" name="Shape 47"/>
          <p:cNvSpPr/>
          <p:nvPr/>
        </p:nvSpPr>
        <p:spPr>
          <a:xfrm>
            <a:off x="3685032" y="4325112"/>
            <a:ext cx="128016" cy="128016"/>
          </a:xfrm>
          <a:prstGeom prst="triangle">
            <a:avLst/>
          </a:prstGeom>
          <a:solidFill>
            <a:srgbClr val="E07A2F"/>
          </a:solidFill>
          <a:ln w="12700">
            <a:solidFill>
              <a:srgbClr val="333333"/>
            </a:solidFill>
            <a:prstDash val="solid"/>
          </a:ln>
        </p:spPr>
      </p:sp>
      <p:sp>
        <p:nvSpPr>
          <p:cNvPr id="50" name="Text 48"/>
          <p:cNvSpPr txBox="1"/>
          <p:nvPr/>
        </p:nvSpPr>
        <p:spPr>
          <a:xfrm>
            <a:off x="3840480" y="4306824"/>
            <a:ext cx="1207008" cy="164592"/>
          </a:xfrm>
          <a:prstGeom prst="rect">
            <a:avLst/>
          </a:prstGeom>
          <a:noFill/>
          <a:ln/>
        </p:spPr>
        <p:txBody>
          <a:bodyPr wrap="square" lIns="0" tIns="0" rIns="0" bIns="0" rtlCol="0" anchor="ctr"/>
          <a:lstStyle/>
          <a:p>
            <a:pPr indent="0" marL="0">
              <a:buNone/>
            </a:pPr>
            <a:r>
              <a:rPr lang="en-US" sz="650" b="1" dirty="0">
                <a:solidFill>
                  <a:srgbClr val="E07A2F"/>
                </a:solidFill>
                <a:latin typeface="Calibri" pitchFamily="34" charset="0"/>
                <a:ea typeface="Calibri" pitchFamily="34" charset="-122"/>
                <a:cs typeface="Calibri" pitchFamily="34" charset="-120"/>
              </a:rPr>
              <a:t>397 km · −24 d</a:t>
            </a:r>
            <a:endParaRPr lang="en-US" sz="650" dirty="0"/>
          </a:p>
        </p:txBody>
      </p:sp>
      <p:sp>
        <p:nvSpPr>
          <p:cNvPr id="51" name="Shape 49"/>
          <p:cNvSpPr/>
          <p:nvPr/>
        </p:nvSpPr>
        <p:spPr>
          <a:xfrm>
            <a:off x="1078992" y="4498848"/>
            <a:ext cx="182880" cy="182880"/>
          </a:xfrm>
          <a:prstGeom prst="ellipse">
            <a:avLst/>
          </a:prstGeom>
          <a:solidFill>
            <a:srgbClr val="FFFFFF"/>
          </a:solidFill>
          <a:ln w="22225">
            <a:solidFill>
              <a:srgbClr val="F85149"/>
            </a:solidFill>
            <a:prstDash val="solid"/>
          </a:ln>
        </p:spPr>
      </p:sp>
      <p:sp>
        <p:nvSpPr>
          <p:cNvPr id="52" name="Text 50"/>
          <p:cNvSpPr txBox="1"/>
          <p:nvPr/>
        </p:nvSpPr>
        <p:spPr>
          <a:xfrm>
            <a:off x="667512" y="4700016"/>
            <a:ext cx="1005840" cy="146304"/>
          </a:xfrm>
          <a:prstGeom prst="rect">
            <a:avLst/>
          </a:prstGeom>
          <a:noFill/>
          <a:ln/>
        </p:spPr>
        <p:txBody>
          <a:bodyPr wrap="square" lIns="0" tIns="0" rIns="0" bIns="0" rtlCol="0" anchor="ctr"/>
          <a:lstStyle/>
          <a:p>
            <a:pPr algn="ctr" indent="0" marL="0">
              <a:buNone/>
            </a:pPr>
            <a:r>
              <a:rPr lang="en-US" sz="650" b="1" dirty="0">
                <a:solidFill>
                  <a:srgbClr val="F85149"/>
                </a:solidFill>
                <a:latin typeface="Calibri" pitchFamily="34" charset="0"/>
                <a:ea typeface="Calibri" pitchFamily="34" charset="-122"/>
                <a:cs typeface="Calibri" pitchFamily="34" charset="-120"/>
              </a:rPr>
              <a:t>anchor</a:t>
            </a:r>
            <a:endParaRPr lang="en-US" sz="650" dirty="0"/>
          </a:p>
        </p:txBody>
      </p:sp>
      <p:sp>
        <p:nvSpPr>
          <p:cNvPr id="53" name="Text 51"/>
          <p:cNvSpPr txBox="1"/>
          <p:nvPr/>
        </p:nvSpPr>
        <p:spPr>
          <a:xfrm>
            <a:off x="676656" y="5376672"/>
            <a:ext cx="2194560" cy="146304"/>
          </a:xfrm>
          <a:prstGeom prst="rect">
            <a:avLst/>
          </a:prstGeom>
          <a:noFill/>
          <a:ln/>
        </p:spPr>
        <p:txBody>
          <a:bodyPr wrap="square" lIns="0" tIns="0" rIns="0" bIns="0" rtlCol="0" anchor="ctr"/>
          <a:lstStyle/>
          <a:p>
            <a:pPr indent="0" marL="0">
              <a:buNone/>
            </a:pPr>
            <a:r>
              <a:rPr lang="en-US" sz="650" i="1" dirty="0">
                <a:solidFill>
                  <a:srgbClr val="E07A2F"/>
                </a:solidFill>
                <a:latin typeface="Calibri" pitchFamily="34" charset="0"/>
                <a:ea typeface="Calibri" pitchFamily="34" charset="-122"/>
                <a:cs typeface="Calibri" pitchFamily="34" charset="-120"/>
              </a:rPr>
              <a:t>▲ = an Argo profile, k = 5</a:t>
            </a:r>
            <a:endParaRPr lang="en-US" sz="650" dirty="0"/>
          </a:p>
        </p:txBody>
      </p:sp>
      <p:sp>
        <p:nvSpPr>
          <p:cNvPr id="54" name="Text 52"/>
          <p:cNvSpPr txBox="1"/>
          <p:nvPr/>
        </p:nvSpPr>
        <p:spPr>
          <a:xfrm>
            <a:off x="676656" y="5541264"/>
            <a:ext cx="5047488" cy="182880"/>
          </a:xfrm>
          <a:prstGeom prst="rect">
            <a:avLst/>
          </a:prstGeom>
          <a:noFill/>
          <a:ln/>
        </p:spPr>
        <p:txBody>
          <a:bodyPr wrap="square" lIns="0" tIns="0" rIns="0" bIns="0" rtlCol="0" anchor="t"/>
          <a:lstStyle/>
          <a:p>
            <a:pPr indent="0" marL="0">
              <a:buNone/>
            </a:pPr>
            <a:r>
              <a:rPr lang="en-US" sz="750" dirty="0">
                <a:solidFill>
                  <a:srgbClr val="1B2430"/>
                </a:solidFill>
                <a:latin typeface="Calibri" pitchFamily="34" charset="0"/>
                <a:ea typeface="Calibri" pitchFamily="34" charset="-122"/>
                <a:cs typeface="Calibri" pitchFamily="34" charset="-120"/>
              </a:rPr>
              <a:t>always k tokens per sparse channel; each carries (value, Δx, Δy, Δt, local density).</a:t>
            </a:r>
            <a:endParaRPr lang="en-US" sz="950" dirty="0"/>
          </a:p>
        </p:txBody>
      </p:sp>
      <p:sp>
        <p:nvSpPr>
          <p:cNvPr id="55" name="Shape 53"/>
          <p:cNvSpPr/>
          <p:nvPr/>
        </p:nvSpPr>
        <p:spPr>
          <a:xfrm>
            <a:off x="6126480" y="1389888"/>
            <a:ext cx="5486400" cy="694944"/>
          </a:xfrm>
          <a:prstGeom prst="roundRect">
            <a:avLst>
              <a:gd name="adj" fmla="val 10526"/>
            </a:avLst>
          </a:prstGeom>
          <a:solidFill>
            <a:srgbClr val="F7FAFC"/>
          </a:solidFill>
          <a:ln w="15875">
            <a:solidFill>
              <a:srgbClr val="2E86AB"/>
            </a:solidFill>
            <a:prstDash val="solid"/>
          </a:ln>
        </p:spPr>
      </p:sp>
      <p:sp>
        <p:nvSpPr>
          <p:cNvPr id="56" name="Text 54"/>
          <p:cNvSpPr txBox="1"/>
          <p:nvPr/>
        </p:nvSpPr>
        <p:spPr>
          <a:xfrm>
            <a:off x="6245352" y="1435608"/>
            <a:ext cx="5248656" cy="164592"/>
          </a:xfrm>
          <a:prstGeom prst="rect">
            <a:avLst/>
          </a:prstGeom>
          <a:noFill/>
          <a:ln/>
        </p:spPr>
        <p:txBody>
          <a:bodyPr wrap="square" lIns="0" tIns="0" rIns="0" bIns="0" rtlCol="0" anchor="t"/>
          <a:lstStyle/>
          <a:p>
            <a:pPr indent="0" marL="0">
              <a:buNone/>
            </a:pPr>
            <a:r>
              <a:rPr lang="en-US" sz="900" b="1" dirty="0">
                <a:solidFill>
                  <a:srgbClr val="2E86AB"/>
                </a:solidFill>
                <a:latin typeface="Calibri" pitchFamily="34" charset="0"/>
                <a:ea typeface="Calibri" pitchFamily="34" charset="-122"/>
                <a:cs typeface="Calibri" pitchFamily="34" charset="-120"/>
              </a:rPr>
              <a:t>The token</a:t>
            </a:r>
            <a:endParaRPr lang="en-US" sz="950" dirty="0"/>
          </a:p>
        </p:txBody>
      </p:sp>
      <p:sp>
        <p:nvSpPr>
          <p:cNvPr id="57" name="Text 55"/>
          <p:cNvSpPr txBox="1"/>
          <p:nvPr/>
        </p:nvSpPr>
        <p:spPr>
          <a:xfrm>
            <a:off x="6245352" y="1618488"/>
            <a:ext cx="5248656" cy="438912"/>
          </a:xfrm>
          <a:prstGeom prst="rect">
            <a:avLst/>
          </a:prstGeom>
          <a:noFill/>
          <a:ln/>
        </p:spPr>
        <p:txBody>
          <a:bodyPr wrap="square" lIns="0" tIns="0" rIns="0" bIns="0" rtlCol="0" anchor="t"/>
          <a:lstStyle/>
          <a:p>
            <a:pPr indent="0" marL="0">
              <a:buNone/>
            </a:pPr>
            <a:r>
              <a:rPr lang="en-US" sz="800" b="1" dirty="0">
                <a:solidFill>
                  <a:srgbClr val="0B1F3A"/>
                </a:solidFill>
                <a:latin typeface="Calibri" pitchFamily="34" charset="0"/>
                <a:ea typeface="Calibri" pitchFamily="34" charset="-122"/>
                <a:cs typeface="Calibri" pitchFamily="34" charset="-120"/>
              </a:rPr>
              <a:t>(value, Δx, Δy, Δt, n_R)</a:t>
            </a:r>
            <a:pPr indent="0" marL="0">
              <a:buNone/>
            </a:pPr>
            <a:r>
              <a:rPr lang="en-US" sz="800" dirty="0">
                <a:solidFill>
                  <a:srgbClr val="1B2430"/>
                </a:solidFill>
                <a:latin typeface="Calibri" pitchFamily="34" charset="0"/>
                <a:ea typeface="Calibri" pitchFamily="34" charset="-122"/>
                <a:cs typeface="Calibri" pitchFamily="34" charset="-120"/>
              </a:rPr>
              <a:t> — the observation, its offset east and north in km, how long ago in days, and how many observations lay within the search radius. </a:t>
            </a:r>
            <a:pPr indent="0" marL="0">
              <a:buNone/>
            </a:pPr>
            <a:r>
              <a:rPr lang="en-US" sz="800" b="1" dirty="0">
                <a:solidFill>
                  <a:srgbClr val="2E86AB"/>
                </a:solidFill>
                <a:latin typeface="Calibri" pitchFamily="34" charset="0"/>
                <a:ea typeface="Calibri" pitchFamily="34" charset="-122"/>
                <a:cs typeface="Calibri" pitchFamily="34" charset="-120"/>
              </a:rPr>
              <a:t>Distance is a feature, never a mask.</a:t>
            </a:r>
            <a:endParaRPr lang="en-US" sz="950" dirty="0"/>
          </a:p>
        </p:txBody>
      </p:sp>
      <p:sp>
        <p:nvSpPr>
          <p:cNvPr id="58" name="Shape 56"/>
          <p:cNvSpPr/>
          <p:nvPr/>
        </p:nvSpPr>
        <p:spPr>
          <a:xfrm>
            <a:off x="6126480" y="2157984"/>
            <a:ext cx="5486400" cy="1042416"/>
          </a:xfrm>
          <a:prstGeom prst="roundRect">
            <a:avLst>
              <a:gd name="adj" fmla="val 7018"/>
            </a:avLst>
          </a:prstGeom>
          <a:solidFill>
            <a:srgbClr val="F5FBF7"/>
          </a:solidFill>
          <a:ln w="15875">
            <a:solidFill>
              <a:srgbClr val="1F7A4D"/>
            </a:solidFill>
            <a:prstDash val="solid"/>
          </a:ln>
        </p:spPr>
      </p:sp>
      <p:sp>
        <p:nvSpPr>
          <p:cNvPr id="59" name="Text 57"/>
          <p:cNvSpPr txBox="1"/>
          <p:nvPr/>
        </p:nvSpPr>
        <p:spPr>
          <a:xfrm>
            <a:off x="6245352" y="2203704"/>
            <a:ext cx="5248656" cy="164592"/>
          </a:xfrm>
          <a:prstGeom prst="rect">
            <a:avLst/>
          </a:prstGeom>
          <a:noFill/>
          <a:ln/>
        </p:spPr>
        <p:txBody>
          <a:bodyPr wrap="square" lIns="0" tIns="0" rIns="0" bIns="0" rtlCol="0" anchor="t"/>
          <a:lstStyle/>
          <a:p>
            <a:pPr indent="0" marL="0">
              <a:buNone/>
            </a:pPr>
            <a:r>
              <a:rPr lang="en-US" sz="900" b="1" dirty="0">
                <a:solidFill>
                  <a:srgbClr val="1F7A4D"/>
                </a:solidFill>
                <a:latin typeface="Calibri" pitchFamily="34" charset="0"/>
                <a:ea typeface="Calibri" pitchFamily="34" charset="-122"/>
                <a:cs typeface="Calibri" pitchFamily="34" charset="-120"/>
              </a:rPr>
              <a:t>Three rules that make it safe</a:t>
            </a:r>
            <a:endParaRPr lang="en-US" sz="950" dirty="0"/>
          </a:p>
        </p:txBody>
      </p:sp>
      <p:sp>
        <p:nvSpPr>
          <p:cNvPr id="60" name="Text 58"/>
          <p:cNvSpPr txBox="1"/>
          <p:nvPr/>
        </p:nvSpPr>
        <p:spPr>
          <a:xfrm>
            <a:off x="6245352" y="2340864"/>
            <a:ext cx="5248656" cy="822960"/>
          </a:xfrm>
          <a:prstGeom prst="rect">
            <a:avLst/>
          </a:prstGeom>
          <a:noFill/>
          <a:ln/>
        </p:spPr>
        <p:txBody>
          <a:bodyPr wrap="square" lIns="0" tIns="0" rIns="0" bIns="0" rtlCol="0" anchor="t"/>
          <a:lstStyle/>
          <a:p>
            <a:pPr indent="0" marL="0">
              <a:buNone/>
            </a:pPr>
            <a:r>
              <a:rPr lang="en-US" sz="800" b="1" dirty="0">
                <a:solidFill>
                  <a:srgbClr val="0B1F3A"/>
                </a:solidFill>
                <a:latin typeface="Calibri" pitchFamily="34" charset="0"/>
                <a:ea typeface="Calibri" pitchFamily="34" charset="-122"/>
                <a:cs typeface="Calibri" pitchFamily="34" charset="-120"/>
              </a:rPr>
              <a:t>One-sided in time: </a:t>
            </a:r>
            <a:pPr indent="0" marL="0">
              <a:spcAft>
                <a:spcPts val="200"/>
              </a:spcAft>
              <a:buNone/>
            </a:pPr>
            <a:r>
              <a:rPr lang="en-US" sz="800" dirty="0">
                <a:solidFill>
                  <a:srgbClr val="1B2430"/>
                </a:solidFill>
                <a:latin typeface="Calibri" pitchFamily="34" charset="0"/>
                <a:ea typeface="Calibri" pitchFamily="34" charset="-122"/>
                <a:cs typeface="Calibri" pitchFamily="34" charset="-120"/>
              </a:rPr>
              <a:t>only observations at or before the anchor's pentad (no leakage into a forecast).</a:t>
            </a:r>
            <a:endParaRPr lang="en-US" sz="950" dirty="0"/>
          </a:p>
          <a:p>
            <a:pPr indent="0" marL="0">
              <a:buNone/>
            </a:pPr>
            <a:r>
              <a:rPr lang="en-US" sz="800" b="1" dirty="0">
                <a:solidFill>
                  <a:srgbClr val="0B1F3A"/>
                </a:solidFill>
                <a:latin typeface="Calibri" pitchFamily="34" charset="0"/>
                <a:ea typeface="Calibri" pitchFamily="34" charset="-122"/>
                <a:cs typeface="Calibri" pitchFamily="34" charset="-120"/>
              </a:rPr>
              <a:t>Bounded: </a:t>
            </a:r>
            <a:pPr indent="0" marL="0">
              <a:spcAft>
                <a:spcPts val="200"/>
              </a:spcAft>
              <a:buNone/>
            </a:pPr>
            <a:r>
              <a:rPr lang="en-US" sz="800" dirty="0">
                <a:solidFill>
                  <a:srgbClr val="1B2430"/>
                </a:solidFill>
                <a:latin typeface="Calibri" pitchFamily="34" charset="0"/>
                <a:ea typeface="Calibri" pitchFamily="34" charset="-122"/>
                <a:cs typeface="Calibri" pitchFamily="34" charset="-120"/>
              </a:rPr>
              <a:t>a search radius R_max and window T_max per channel; only past that bound does a “none within R” token appear — the same miss token as today, made rare.</a:t>
            </a:r>
            <a:endParaRPr lang="en-US" sz="950" dirty="0"/>
          </a:p>
          <a:p>
            <a:pPr indent="0" marL="0">
              <a:buNone/>
            </a:pPr>
            <a:r>
              <a:rPr lang="en-US" sz="800" b="1" dirty="0">
                <a:solidFill>
                  <a:srgbClr val="0B1F3A"/>
                </a:solidFill>
                <a:latin typeface="Calibri" pitchFamily="34" charset="0"/>
                <a:ea typeface="Calibri" pitchFamily="34" charset="-122"/>
                <a:cs typeface="Calibri" pitchFamily="34" charset="-120"/>
              </a:rPr>
              <a:t>k from the data, not by hand: </a:t>
            </a:r>
            <a:pPr indent="0" marL="0">
              <a:buNone/>
            </a:pPr>
            <a:r>
              <a:rPr lang="en-US" sz="800" dirty="0">
                <a:solidFill>
                  <a:srgbClr val="1B2430"/>
                </a:solidFill>
                <a:latin typeface="Calibri" pitchFamily="34" charset="0"/>
                <a:ea typeface="Calibri" pitchFamily="34" charset="-122"/>
                <a:cs typeface="Calibri" pitchFamily="34" charset="-120"/>
              </a:rPr>
              <a:t>choose k so that the k-th neighbour typically sits at one correlation length (~300 km at the surface).</a:t>
            </a:r>
            <a:endParaRPr lang="en-US" sz="950" dirty="0"/>
          </a:p>
        </p:txBody>
      </p:sp>
      <p:sp>
        <p:nvSpPr>
          <p:cNvPr id="61" name="Shape 59"/>
          <p:cNvSpPr/>
          <p:nvPr/>
        </p:nvSpPr>
        <p:spPr>
          <a:xfrm>
            <a:off x="6126480" y="3273552"/>
            <a:ext cx="5486400" cy="1170432"/>
          </a:xfrm>
          <a:prstGeom prst="roundRect">
            <a:avLst>
              <a:gd name="adj" fmla="val 6250"/>
            </a:avLst>
          </a:prstGeom>
          <a:solidFill>
            <a:srgbClr val="FFF8F2"/>
          </a:solidFill>
          <a:ln w="15875">
            <a:solidFill>
              <a:srgbClr val="E07A2F"/>
            </a:solidFill>
            <a:prstDash val="solid"/>
          </a:ln>
        </p:spPr>
      </p:sp>
      <p:sp>
        <p:nvSpPr>
          <p:cNvPr id="62" name="Text 60"/>
          <p:cNvSpPr txBox="1"/>
          <p:nvPr/>
        </p:nvSpPr>
        <p:spPr>
          <a:xfrm>
            <a:off x="6245352" y="3319272"/>
            <a:ext cx="5248656" cy="164592"/>
          </a:xfrm>
          <a:prstGeom prst="rect">
            <a:avLst/>
          </a:prstGeom>
          <a:noFill/>
          <a:ln/>
        </p:spPr>
        <p:txBody>
          <a:bodyPr wrap="square" lIns="0" tIns="0" rIns="0" bIns="0" rtlCol="0" anchor="t"/>
          <a:lstStyle/>
          <a:p>
            <a:pPr indent="0" marL="0">
              <a:buNone/>
            </a:pPr>
            <a:r>
              <a:rPr lang="en-US" sz="900" b="1" dirty="0">
                <a:solidFill>
                  <a:srgbClr val="E07A2F"/>
                </a:solidFill>
                <a:latin typeface="Calibri" pitchFamily="34" charset="0"/>
                <a:ea typeface="Calibri" pitchFamily="34" charset="-122"/>
                <a:cs typeface="Calibri" pitchFamily="34" charset="-120"/>
              </a:rPr>
              <a:t>The numbers for Argo</a:t>
            </a:r>
            <a:endParaRPr lang="en-US" sz="950" dirty="0"/>
          </a:p>
        </p:txBody>
      </p:sp>
      <p:sp>
        <p:nvSpPr>
          <p:cNvPr id="63" name="Text 61"/>
          <p:cNvSpPr txBox="1"/>
          <p:nvPr/>
        </p:nvSpPr>
        <p:spPr>
          <a:xfrm>
            <a:off x="6245352" y="3456432"/>
            <a:ext cx="5248656" cy="950976"/>
          </a:xfrm>
          <a:prstGeom prst="rect">
            <a:avLst/>
          </a:prstGeom>
          <a:noFill/>
          <a:ln/>
        </p:spPr>
        <p:txBody>
          <a:bodyPr wrap="square" lIns="0" tIns="0" rIns="0" bIns="0" rtlCol="0" anchor="t"/>
          <a:lstStyle/>
          <a:p>
            <a:pPr indent="0" marL="0">
              <a:buNone/>
            </a:pPr>
            <a:r>
              <a:rPr lang="en-US" sz="800" dirty="0">
                <a:solidFill>
                  <a:srgbClr val="1B2430"/>
                </a:solidFill>
                <a:latin typeface="Calibri" pitchFamily="34" charset="0"/>
                <a:ea typeface="Calibri" pitchFamily="34" charset="-122"/>
                <a:cs typeface="Calibri" pitchFamily="34" charset="-120"/>
              </a:rPr>
              <a:t>≈4,000 active floats on a 10-day cycle ⇒ ≈2,000 profiles per pentad worldwide, one per ≈180,000 km² of ocean ⇒ nearest profile of order 200 km in a single pentad; with T_max = 30 days, six pentads of profiles ⇒ ≈90 km, and the fifth neighbour at ≈200 km. </a:t>
            </a:r>
            <a:pPr indent="0" marL="0">
              <a:buNone/>
            </a:pPr>
            <a:r>
              <a:rPr lang="en-US" sz="800" b="1" dirty="0">
                <a:solidFill>
                  <a:srgbClr val="E07A2F"/>
                </a:solidFill>
                <a:latin typeface="Calibri" pitchFamily="34" charset="0"/>
                <a:ea typeface="Calibri" pitchFamily="34" charset="-122"/>
                <a:cs typeface="Calibri" pitchFamily="34" charset="-120"/>
              </a:rPr>
              <a:t>So k = 5 within 30 days is one correlation length.</a:t>
            </a:r>
            <a:pPr indent="0" marL="0">
              <a:buNone/>
            </a:pPr>
            <a:r>
              <a:rPr lang="en-US" sz="800" dirty="0">
                <a:solidFill>
                  <a:srgbClr val="1B2430"/>
                </a:solidFill>
                <a:latin typeface="Calibri" pitchFamily="34" charset="0"/>
                <a:ea typeface="Calibri" pitchFamily="34" charset="-122"/>
                <a:cs typeface="Calibri" pitchFamily="34" charset="-120"/>
              </a:rPr>
              <a:t> Before 2004 there is nothing to find — and “none within R” is then the honest, measured answer, not a gap.</a:t>
            </a:r>
            <a:endParaRPr lang="en-US" sz="950" dirty="0"/>
          </a:p>
        </p:txBody>
      </p:sp>
      <p:sp>
        <p:nvSpPr>
          <p:cNvPr id="64" name="Shape 62"/>
          <p:cNvSpPr/>
          <p:nvPr/>
        </p:nvSpPr>
        <p:spPr>
          <a:xfrm>
            <a:off x="6126480" y="4517136"/>
            <a:ext cx="5486400" cy="1207008"/>
          </a:xfrm>
          <a:prstGeom prst="roundRect">
            <a:avLst>
              <a:gd name="adj" fmla="val 6061"/>
            </a:avLst>
          </a:prstGeom>
          <a:solidFill>
            <a:srgbClr val="F4F6F9"/>
          </a:solidFill>
          <a:ln w="15875">
            <a:solidFill>
              <a:srgbClr val="0B1F3A"/>
            </a:solidFill>
            <a:prstDash val="solid"/>
          </a:ln>
        </p:spPr>
      </p:sp>
      <p:sp>
        <p:nvSpPr>
          <p:cNvPr id="65" name="Text 63"/>
          <p:cNvSpPr txBox="1"/>
          <p:nvPr/>
        </p:nvSpPr>
        <p:spPr>
          <a:xfrm>
            <a:off x="6245352" y="4562856"/>
            <a:ext cx="5248656" cy="164592"/>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What it is not</a:t>
            </a:r>
            <a:endParaRPr lang="en-US" sz="950" dirty="0"/>
          </a:p>
        </p:txBody>
      </p:sp>
      <p:sp>
        <p:nvSpPr>
          <p:cNvPr id="66" name="Text 64"/>
          <p:cNvSpPr txBox="1"/>
          <p:nvPr/>
        </p:nvSpPr>
        <p:spPr>
          <a:xfrm>
            <a:off x="6245352" y="4700016"/>
            <a:ext cx="5248656" cy="987552"/>
          </a:xfrm>
          <a:prstGeom prst="rect">
            <a:avLst/>
          </a:prstGeom>
          <a:noFill/>
          <a:ln/>
        </p:spPr>
        <p:txBody>
          <a:bodyPr wrap="square" lIns="0" tIns="0" rIns="0" bIns="0" rtlCol="0" anchor="t"/>
          <a:lstStyle/>
          <a:p>
            <a:pPr indent="0" marL="0">
              <a:buNone/>
            </a:pPr>
            <a:r>
              <a:rPr lang="en-US" sz="800" dirty="0">
                <a:solidFill>
                  <a:srgbClr val="1B2430"/>
                </a:solidFill>
                <a:latin typeface="Calibri" pitchFamily="34" charset="0"/>
                <a:ea typeface="Calibri" pitchFamily="34" charset="-122"/>
                <a:cs typeface="Calibri" pitchFamily="34" charset="-120"/>
              </a:rPr>
              <a:t>Not a replacement for the cone: dense gridded channels (currents, SST, the reanalysis) keep the sunflower, which encodes structure at several scales that k nearest neighbours would collapse to the 3×3. Family 8 is a </a:t>
            </a:r>
            <a:pPr indent="0" marL="0">
              <a:buNone/>
            </a:pPr>
            <a:r>
              <a:rPr lang="en-US" sz="800" b="1" dirty="0">
                <a:solidFill>
                  <a:srgbClr val="0B1F3A"/>
                </a:solidFill>
                <a:latin typeface="Calibri" pitchFamily="34" charset="0"/>
                <a:ea typeface="Calibri" pitchFamily="34" charset="-122"/>
                <a:cs typeface="Calibri" pitchFamily="34" charset="-120"/>
              </a:rPr>
              <a:t>HYBRID</a:t>
            </a:r>
            <a:pPr indent="0" marL="0">
              <a:buNone/>
            </a:pPr>
            <a:r>
              <a:rPr lang="en-US" sz="800" dirty="0">
                <a:solidFill>
                  <a:srgbClr val="1B2430"/>
                </a:solidFill>
                <a:latin typeface="Calibri" pitchFamily="34" charset="0"/>
                <a:ea typeface="Calibri" pitchFamily="34" charset="-122"/>
                <a:cs typeface="Calibri" pitchFamily="34" charset="-120"/>
              </a:rPr>
              <a:t> — and it is no longer a tensor: a tensor for the dense groups plus an observation store (t, lat, lon, channel, value) and a precomputed neighbour index. That is the door to raw observations — profiles, moorings, altimeter tracks — without gridding them first.</a:t>
            </a:r>
            <a:endParaRPr lang="en-US" sz="950" dirty="0"/>
          </a:p>
        </p:txBody>
      </p:sp>
      <p:sp>
        <p:nvSpPr>
          <p:cNvPr id="67" name="Text 65"/>
          <p:cNvSpPr txBox="1"/>
          <p:nvPr/>
        </p:nvSpPr>
        <p:spPr>
          <a:xfrm>
            <a:off x="548640" y="5870448"/>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Family 7 spends 80 % of its bytes on an Argo group that is absent in 92 % of pentads and gridded before the model sees it; family 8 spends a few tokens per anchor to make the interior always present and always honest about how far away the nearest measurement is. It is E-071's profile tokens taken to their conclusion, and the same primitive Aardvark and GraphDOP use to forecast from raw observations.</a:t>
            </a:r>
            <a:endParaRPr lang="en-US" sz="850" dirty="0"/>
          </a:p>
        </p:txBody>
      </p:sp>
      <p:sp>
        <p:nvSpPr>
          <p:cNvPr id="68" name="Text 6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2100" b="1" dirty="0">
                <a:solidFill>
                  <a:srgbClr val="0B1F3A"/>
                </a:solidFill>
                <a:latin typeface="Georgia" pitchFamily="34" charset="0"/>
                <a:ea typeface="Georgia" pitchFamily="34" charset="-122"/>
                <a:cs typeface="Georgia" pitchFamily="34" charset="-120"/>
              </a:rPr>
              <a:t>Family 7 vs family 8, side by side — and the one experiment that decides</a:t>
            </a:r>
            <a:endParaRPr lang="en-US" sz="21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Same grid, same pentads, same dense channels. What changes is how a SPARSE channel enters the cone.</a:t>
            </a:r>
            <a:endParaRPr lang="en-US" sz="14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4023360"/>
                <a:gridCol w="4937760"/>
              </a:tblGrid>
              <a:tr h="14630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aspect</a:t>
                      </a:r>
                      <a:endParaRPr lang="en-US" sz="8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family 7 (as built)</a:t>
                      </a:r>
                      <a:endParaRPr lang="en-US" sz="8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family 8 (proposed)</a:t>
                      </a:r>
                      <a:endParaRPr lang="en-US" sz="800" dirty="0">
                        <a:latin typeface="Calibri" charset="0"/>
                        <a:ea typeface="Calibri" charset="0"/>
                        <a:cs typeface="Calibri" charset="0"/>
                      </a:endParaRPr>
                    </a:p>
                  </a:txBody>
                  <a:tcPr marL="27432" marR="27432" marT="27432" marB="27432" anchor="ctr">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0B1F3A"/>
                    </a:solidFill>
                  </a:tcPr>
                </a:tc>
              </a:tr>
              <a:tr h="18288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Representation</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one array per group, [T,H,W,C] float16</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dense groups unchanged + an observation store + a neighbour index per anchor</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8288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A sparse channel at an anchor</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the nearest 1° cell, present in 8 % of pentads, else NaN → miss token</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always its k nearest observations, each with (Δx, Δy, Δt, n_R)</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46304">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What “missing” means</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absent at this cell and bin</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no observation within (R_max, T_max) — rare, and true</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46304">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Time direction</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the bin's own value</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one-sided: at or before the anchor's pentad, never after</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46304">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Tokens per sparse channel</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1 (mostly a miss token)</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k, fixed (3 / 5 / 7), regardless of density</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28016">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Dense channels</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sunflower + 3×3 patch</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unchanged</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8288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Anomaly</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per-channel harmonic climatology at the cell</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the same climatology evaluated at the observation's own (lat, lon, day)</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46304">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Argo source</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Roemmich–Gilson gridded, monthly, 1°</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raw profiles (the ~2,000 per pentad), no mapping step</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46304">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Storage</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52.9 GB</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52.9 GB + a point store of order 1–3 GB + the index</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182880">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Sampler cost</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a strided gather</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a k-NN lookup, precomputed once per anchor set; trivial with a per-bin KD-tree</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29260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What the model can learn from it</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value</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value AND how much to trust it — distance and density are the uncertainty proxy, and the model can learn that a 3-day-old profile 80 km away beats a 3-week-old one 400 km away</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r h="292608">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Risks</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miss tokens dominate the Argo channels (83–97 % missing in the North Atlantic mapping)</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tcPr>
                </a:tc>
                <a:tc>
                  <a:txBody>
                    <a:bodyPr/>
                    <a:lstStyle/>
                    <a:p>
                      <a:pPr indent="0" marL="0">
                        <a:buNone/>
                      </a:pPr>
                      <a:r>
                        <a:rPr lang="en-US" sz="800" dirty="0">
                          <a:solidFill>
                            <a:srgbClr val="1B2430"/>
                          </a:solidFill>
                          <a:latin typeface="Calibri" pitchFamily="34" charset="0"/>
                          <a:ea typeface="Calibri" pitchFamily="34" charset="-122"/>
                          <a:cs typeface="Calibri" pitchFamily="34" charset="-120"/>
                        </a:rPr>
                        <a:t>unbounded search returns junk (hence R_max, T_max); density bias between basins (hence n_R); dense channels do not benefit (hence hybrid); it stops being a single tensor</a:t>
                      </a:r>
                      <a:endParaRPr lang="en-US" sz="800" dirty="0">
                        <a:latin typeface="Calibri" charset="0"/>
                        <a:ea typeface="Calibri" charset="0"/>
                        <a:cs typeface="Calibri" charset="0"/>
                      </a:endParaRPr>
                    </a:p>
                  </a:txBody>
                  <a:tcPr marL="27432" marR="27432" marT="27432" marB="27432" anchor="t">
                    <a:lnL w="6350" cap="flat" cmpd="sng" algn="ctr">
                      <a:solidFill>
                        <a:srgbClr val="B8C4D3"/>
                      </a:solidFill>
                      <a:prstDash val="solid"/>
                      <a:round/>
                      <a:headEnd type="none" w="med" len="med"/>
                      <a:tailEnd type="none" w="med" len="med"/>
                    </a:lnL>
                    <a:lnR w="6350" cap="flat" cmpd="sng" algn="ctr">
                      <a:solidFill>
                        <a:srgbClr val="B8C4D3"/>
                      </a:solidFill>
                      <a:prstDash val="solid"/>
                      <a:round/>
                      <a:headEnd type="none" w="med" len="med"/>
                      <a:tailEnd type="none" w="med" len="med"/>
                    </a:lnR>
                    <a:lnT w="6350" cap="flat" cmpd="sng" algn="ctr">
                      <a:solidFill>
                        <a:srgbClr val="B8C4D3"/>
                      </a:solidFill>
                      <a:prstDash val="solid"/>
                      <a:round/>
                      <a:headEnd type="none" w="med" len="med"/>
                      <a:tailEnd type="none" w="med" len="med"/>
                    </a:lnT>
                    <a:lnB w="6350" cap="flat" cmpd="sng" algn="ctr">
                      <a:solidFill>
                        <a:srgbClr val="B8C4D3"/>
                      </a:solidFill>
                      <a:prstDash val="solid"/>
                      <a:round/>
                      <a:headEnd type="none" w="med" len="med"/>
                      <a:tailEnd type="none" w="med" len="med"/>
                    </a:lnB>
                    <a:solidFill>
                      <a:srgbClr val="FFF8F2"/>
                    </a:solidFill>
                  </a:tcPr>
                </a:tc>
              </a:tr>
            </a:tbl>
          </a:graphicData>
        </a:graphic>
      </p:graphicFrame>
      <p:sp>
        <p:nvSpPr>
          <p:cNvPr id="5" name="Shape 2"/>
          <p:cNvSpPr/>
          <p:nvPr/>
        </p:nvSpPr>
        <p:spPr>
          <a:xfrm>
            <a:off x="548640" y="4261104"/>
            <a:ext cx="11064240" cy="1115568"/>
          </a:xfrm>
          <a:prstGeom prst="roundRect">
            <a:avLst>
              <a:gd name="adj" fmla="val 6557"/>
            </a:avLst>
          </a:prstGeom>
          <a:solidFill>
            <a:srgbClr val="F5FBF7"/>
          </a:solidFill>
          <a:ln w="15875">
            <a:solidFill>
              <a:srgbClr val="1F7A4D"/>
            </a:solidFill>
            <a:prstDash val="solid"/>
          </a:ln>
        </p:spPr>
      </p:sp>
      <p:sp>
        <p:nvSpPr>
          <p:cNvPr id="6" name="Text 3"/>
          <p:cNvSpPr txBox="1"/>
          <p:nvPr/>
        </p:nvSpPr>
        <p:spPr>
          <a:xfrm>
            <a:off x="676656" y="4315968"/>
            <a:ext cx="10808208" cy="182880"/>
          </a:xfrm>
          <a:prstGeom prst="rect">
            <a:avLst/>
          </a:prstGeom>
          <a:noFill/>
          <a:ln/>
        </p:spPr>
        <p:txBody>
          <a:bodyPr wrap="square" lIns="0" tIns="0" rIns="0" bIns="0" rtlCol="0" anchor="t"/>
          <a:lstStyle/>
          <a:p>
            <a:pPr indent="0" marL="0">
              <a:buNone/>
            </a:pPr>
            <a:r>
              <a:rPr lang="en-US" sz="1000" b="1" dirty="0">
                <a:solidFill>
                  <a:srgbClr val="1F7A4D"/>
                </a:solidFill>
                <a:latin typeface="Calibri" pitchFamily="34" charset="0"/>
                <a:ea typeface="Calibri" pitchFamily="34" charset="-122"/>
                <a:cs typeface="Calibri" pitchFamily="34" charset="-120"/>
              </a:rPr>
              <a:t>The experiment that decides it, before any tensor is built</a:t>
            </a:r>
            <a:endParaRPr lang="en-US" sz="950" dirty="0"/>
          </a:p>
        </p:txBody>
      </p:sp>
      <p:sp>
        <p:nvSpPr>
          <p:cNvPr id="7" name="Text 4"/>
          <p:cNvSpPr txBox="1"/>
          <p:nvPr/>
        </p:nvSpPr>
        <p:spPr>
          <a:xfrm>
            <a:off x="676656" y="4517136"/>
            <a:ext cx="10808208" cy="822960"/>
          </a:xfrm>
          <a:prstGeom prst="rect">
            <a:avLst/>
          </a:prstGeom>
          <a:noFill/>
          <a:ln/>
        </p:spPr>
        <p:txBody>
          <a:bodyPr wrap="square" lIns="0" tIns="0" rIns="0" bIns="0" rtlCol="0" anchor="t"/>
          <a:lstStyle/>
          <a:p>
            <a:pPr indent="0" marL="0">
              <a:buNone/>
            </a:pPr>
            <a:r>
              <a:rPr lang="en-US" sz="850" dirty="0">
                <a:solidFill>
                  <a:srgbClr val="1B2430"/>
                </a:solidFill>
                <a:latin typeface="Calibri" pitchFamily="34" charset="0"/>
                <a:ea typeface="Calibri" pitchFamily="34" charset="-122"/>
                <a:cs typeface="Calibri" pitchFamily="34" charset="-120"/>
              </a:rPr>
              <a:t>One arm inside the next cone-codec wave on family 7: replace the Argo group's 32 grid channels by k = 5 profile tokens from the raw Argo archive (T_max 30 d, R_max 1,000 km), everything else identical to the continuous twin. </a:t>
            </a:r>
            <a:pPr indent="0" marL="0">
              <a:buNone/>
            </a:pPr>
            <a:r>
              <a:rPr lang="en-US" sz="850" b="1" dirty="0">
                <a:solidFill>
                  <a:srgbClr val="0B1F3A"/>
                </a:solidFill>
                <a:latin typeface="Calibri" pitchFamily="34" charset="0"/>
                <a:ea typeface="Calibri" pitchFamily="34" charset="-122"/>
                <a:cs typeface="Calibri" pitchFamily="34" charset="-120"/>
              </a:rPr>
              <a:t>Read-out: </a:t>
            </a:r>
            <a:pPr indent="0" marL="0">
              <a:buNone/>
            </a:pPr>
            <a:r>
              <a:rPr lang="en-US" sz="850" dirty="0">
                <a:solidFill>
                  <a:srgbClr val="1B2430"/>
                </a:solidFill>
                <a:latin typeface="Calibri" pitchFamily="34" charset="0"/>
                <a:ea typeface="Calibri" pitchFamily="34" charset="-122"/>
                <a:cs typeface="Calibri" pitchFamily="34" charset="-120"/>
              </a:rPr>
              <a:t>held-out per-family loss against the predict-the-mean bar (the E-069b decomposition), the subsurface probe, and — the falsifier — whether the anchor family's loss on hidden interior channels drops below the twin's. If it does not, distance-as-a-feature bought nothing and family 8 is not built. Cost ≈ one seed, ~1.7 h on a 4090. </a:t>
            </a:r>
            <a:pPr indent="0" marL="0">
              <a:buNone/>
            </a:pPr>
            <a:r>
              <a:rPr lang="en-US" sz="850" b="1" dirty="0">
                <a:solidFill>
                  <a:srgbClr val="A23B3B"/>
                </a:solidFill>
                <a:latin typeface="Calibri" pitchFamily="34" charset="0"/>
                <a:ea typeface="Calibri" pitchFamily="34" charset="-122"/>
                <a:cs typeface="Calibri" pitchFamily="34" charset="-120"/>
              </a:rPr>
              <a:t>What must not be forgotten: </a:t>
            </a:r>
            <a:pPr indent="0" marL="0">
              <a:buNone/>
            </a:pPr>
            <a:r>
              <a:rPr lang="en-US" sz="850" dirty="0">
                <a:solidFill>
                  <a:srgbClr val="1B2430"/>
                </a:solidFill>
                <a:latin typeface="Calibri" pitchFamily="34" charset="0"/>
                <a:ea typeface="Calibri" pitchFamily="34" charset="-122"/>
                <a:cs typeface="Calibri" pitchFamily="34" charset="-120"/>
              </a:rPr>
              <a:t>E-044c arm A3 measured that removing the Argo targets made the forecast WORSE (0.570 vs ~0.50) — the interior carries signal, and this is the cheapest way to carry more of it.</a:t>
            </a:r>
            <a:endParaRPr lang="en-US" sz="950" dirty="0"/>
          </a:p>
        </p:txBody>
      </p:sp>
      <p:sp>
        <p:nvSpPr>
          <p:cNvPr id="8" name="Text 5"/>
          <p:cNvSpPr txBox="1"/>
          <p:nvPr/>
        </p:nvSpPr>
        <p:spPr>
          <a:xfrm>
            <a:off x="548640" y="5870448"/>
            <a:ext cx="11064240" cy="502920"/>
          </a:xfrm>
          <a:prstGeom prst="rect">
            <a:avLst/>
          </a:prstGeom>
          <a:noFill/>
          <a:ln/>
        </p:spPr>
        <p:txBody>
          <a:bodyPr wrap="square" lIns="0" tIns="0" rIns="0" bIns="0" rtlCol="0" anchor="t"/>
          <a:lstStyle/>
          <a:p>
            <a:pPr indent="0" marL="0">
              <a:buNone/>
            </a:pPr>
            <a:r>
              <a:rPr lang="en-US" sz="850" i="1" dirty="0">
                <a:solidFill>
                  <a:srgbClr val="1B2430"/>
                </a:solidFill>
                <a:latin typeface="Calibri" pitchFamily="34" charset="0"/>
                <a:ea typeface="Calibri" pitchFamily="34" charset="-122"/>
                <a:cs typeface="Calibri" pitchFamily="34" charset="-120"/>
              </a:rPr>
              <a:t>Reading. Family 8 is not a bigger tensor; it is a different contract between the sampler and the observing system. The decision is one ablation away and costs about a dollar.</a:t>
            </a:r>
            <a:endParaRPr lang="en-US" sz="85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658368"/>
          </a:xfrm>
          <a:prstGeom prst="rect">
            <a:avLst/>
          </a:prstGeom>
          <a:noFill/>
          <a:ln/>
        </p:spPr>
        <p:txBody>
          <a:bodyPr wrap="square" lIns="0" tIns="0" rIns="0" bIns="0" rtlCol="0" anchor="ctr"/>
          <a:lstStyle/>
          <a:p>
            <a:pPr indent="0" marL="0">
              <a:buNone/>
            </a:pPr>
            <a:r>
              <a:rPr lang="en-US" sz="3000" b="1" dirty="0">
                <a:solidFill>
                  <a:srgbClr val="0B1F3A"/>
                </a:solidFill>
                <a:latin typeface="Georgia" pitchFamily="34" charset="0"/>
                <a:ea typeface="Georgia" pitchFamily="34" charset="-122"/>
                <a:cs typeface="Georgia" pitchFamily="34" charset="-120"/>
              </a:rPr>
              <a:t>Sources</a:t>
            </a:r>
            <a:endParaRPr lang="en-US" sz="3000" dirty="0"/>
          </a:p>
        </p:txBody>
      </p:sp>
      <p:sp>
        <p:nvSpPr>
          <p:cNvPr id="3" name="Text 1"/>
          <p:cNvSpPr txBox="1"/>
          <p:nvPr/>
        </p:nvSpPr>
        <p:spPr>
          <a:xfrm>
            <a:off x="548640" y="969264"/>
            <a:ext cx="11064240" cy="365760"/>
          </a:xfrm>
          <a:prstGeom prst="rect">
            <a:avLst/>
          </a:prstGeom>
          <a:noFill/>
          <a:ln/>
        </p:spPr>
        <p:txBody>
          <a:bodyPr wrap="square" lIns="0" tIns="0" rIns="0" bIns="0" rtlCol="0" anchor="ctr"/>
          <a:lstStyle/>
          <a:p>
            <a:pPr indent="0" marL="0">
              <a:buNone/>
            </a:pPr>
            <a:r>
              <a:rPr lang="en-US" sz="1400" i="1" dirty="0">
                <a:solidFill>
                  <a:srgbClr val="6B7A8F"/>
                </a:solidFill>
                <a:latin typeface="Calibri" pitchFamily="34" charset="0"/>
                <a:ea typeface="Calibri" pitchFamily="34" charset="-122"/>
                <a:cs typeface="Calibri" pitchFamily="34" charset="-120"/>
              </a:rPr>
              <a:t>Papers, model cards and repositories consulted (accessed 31 Aug – 2 Sep 2026)</a:t>
            </a:r>
            <a:endParaRPr lang="en-US" sz="1400" dirty="0"/>
          </a:p>
        </p:txBody>
      </p:sp>
      <p:sp>
        <p:nvSpPr>
          <p:cNvPr id="4" name="Text 2"/>
          <p:cNvSpPr txBox="1"/>
          <p:nvPr/>
        </p:nvSpPr>
        <p:spPr>
          <a:xfrm>
            <a:off x="548640" y="1417320"/>
            <a:ext cx="11064240" cy="4846320"/>
          </a:xfrm>
          <a:prstGeom prst="rect">
            <a:avLst/>
          </a:prstGeom>
          <a:noFill/>
          <a:ln/>
        </p:spPr>
        <p:txBody>
          <a:bodyPr wrap="square" lIns="25400" tIns="25400" rIns="25400" bIns="2540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Input ladder &amp; dataset specs (2 Sep 2026)  </a:t>
            </a:r>
            <a:pPr indent="0" marL="0">
              <a:buNone/>
            </a:pPr>
            <a:r>
              <a:rPr lang="en-US" sz="950" dirty="0">
                <a:solidFill>
                  <a:srgbClr val="1B2430"/>
                </a:solidFill>
                <a:latin typeface="Calibri" pitchFamily="34" charset="0"/>
                <a:ea typeface="Calibri" pitchFamily="34" charset="-122"/>
                <a:cs typeface="Calibri" pitchFamily="34" charset="-120"/>
              </a:rPr>
              <a:t>Verified against agency product pages (Copernicus Data Space / Sentinel Online, USGS, NASA Earthdata / LP DAAC / PO.DAAC / NSIDC, NOAA NESDIS / NCEI, WMO OSCAR, OSI SAF, EUMETNET, ECMWF / CDS, Copernicus Marine, Argo + OceanOPS API, AVISO, ESA CCI, SOCAT, GEBCO, Met Office, ISRIC, Copernicus Land, FLUXNET / ICOS / AmeriFlux, GRDC, GloFAS, Hydroweb, WorldPop, GHSL) — full spec sheet with URLs in generic-earth-embedding-inputs-proposal.md. Method refs: Emery et al. 1986 (JGR 91, 12865) · Perceiver IO </a:t>
            </a:r>
            <a:pPr indent="0" marL="0">
              <a:buNone/>
            </a:pPr>
            <a:r>
              <a:rPr lang="en-US" sz="9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arxiv.org/abs/2107.14795</a:t>
            </a:r>
            <a:pPr indent="0" marL="0">
              <a:buNone/>
            </a:pPr>
            <a:r>
              <a:rPr lang="en-US" sz="950" dirty="0">
                <a:solidFill>
                  <a:srgbClr val="1B2430"/>
                </a:solidFill>
                <a:latin typeface="Calibri" pitchFamily="34" charset="0"/>
                <a:ea typeface="Calibri" pitchFamily="34" charset="-122"/>
                <a:cs typeface="Calibri" pitchFamily="34" charset="-120"/>
              </a:rPr>
              <a:t> · PARADIS </a:t>
            </a:r>
            <a:pPr indent="0" marL="0">
              <a:buNone/>
            </a:pPr>
            <a:r>
              <a:rPr lang="en-US" sz="9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arxiv.org/abs/2601.21151</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AlphaEarth  </a:t>
            </a:r>
            <a:pPr indent="0" marL="0">
              <a:buNone/>
            </a:pPr>
            <a:r>
              <a:rPr lang="en-US" sz="9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arxiv.org/abs/2507.22291</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deepmind.google/blog/alphaearth-foundations-helps-map-our-planet-in-unprecedented-detail</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spcAft>
                <a:spcPts val="600"/>
              </a:spcAft>
              <a:buNone/>
            </a:pPr>
            <a:r>
              <a:rPr lang="en-US" sz="9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developers.google.com/earth-engine/datasets/catalog/GOOGLE_SATELLITE_EMBEDDING_V1_ANNUAL</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TESSERA  </a:t>
            </a:r>
            <a:pPr indent="0" marL="0">
              <a:buNone/>
            </a:pPr>
            <a:r>
              <a:rPr lang="en-US" sz="9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arxiv.org/abs/2506.20380</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github.com/ucam-eo/tessera</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github.com/ucam-eo/geotessera</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geotessera.org</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 · CVPR 2026 open-access page</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OlmoEarth  </a:t>
            </a:r>
            <a:pPr indent="0" marL="0">
              <a:buNone/>
            </a:pPr>
            <a:r>
              <a:rPr lang="en-US" sz="9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arxiv.org/abs/2511.13655</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allenai.org/blog/olmoearth-models</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github.com/allenai/olmoearth_pretrain</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huggingface.co/blog/allenai/olmoearth-v1-1</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spcAft>
                <a:spcPts val="600"/>
              </a:spcAft>
              <a:buNone/>
            </a:pPr>
            <a:r>
              <a:rPr lang="en-US" sz="9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allenai.org/papers/olmoearth-v1-2</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TerraMind  </a:t>
            </a:r>
            <a:pPr indent="0" marL="0">
              <a:buNone/>
            </a:pPr>
            <a:r>
              <a:rPr lang="en-US" sz="9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arxiv.org/abs/2504.11171</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arxiv.org/abs/2504.11172</a:t>
            </a:r>
            <a:pPr indent="0" marL="0">
              <a:buNone/>
            </a:pPr>
            <a:r>
              <a:rPr lang="en-US" sz="950" dirty="0">
                <a:solidFill>
                  <a:srgbClr val="1B2430"/>
                </a:solidFill>
                <a:latin typeface="Calibri" pitchFamily="34" charset="0"/>
                <a:ea typeface="Calibri" pitchFamily="34" charset="-122"/>
                <a:cs typeface="Calibri" pitchFamily="34" charset="-120"/>
              </a:rPr>
              <a:t> (TerraMesh) · </a:t>
            </a:r>
            <a:pPr indent="0" marL="0">
              <a:buNone/>
            </a:pPr>
            <a:r>
              <a:rPr lang="en-US" sz="9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github.com/IBM/terramind</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huggingface.co/ibm-esa-geospatial</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philab.esa.int</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 (tiny/small release)</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Prithvi-EO 2.0  </a:t>
            </a:r>
            <a:pPr indent="0" marL="0">
              <a:buNone/>
            </a:pPr>
            <a:r>
              <a:rPr lang="en-US" sz="9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arxiv.org/abs/2412.02732</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github.com/NASA-IMPACT/Prithvi-EO-2.0</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huggingface.co/ibm-nasa-geospatial</a:t>
            </a:r>
            <a:pPr indent="0" marL="0">
              <a:buNone/>
            </a:pPr>
            <a:r>
              <a:rPr lang="en-US" sz="950" dirty="0">
                <a:solidFill>
                  <a:srgbClr val="1B2430"/>
                </a:solidFill>
                <a:latin typeface="Calibri" pitchFamily="34" charset="0"/>
                <a:ea typeface="Calibri" pitchFamily="34" charset="-122"/>
                <a:cs typeface="Calibri" pitchFamily="34" charset="-120"/>
              </a:rPr>
              <a:t> (config.json for 300M/600M) · </a:t>
            </a:r>
            <a:pPr indent="0" marL="0">
              <a:buNone/>
            </a:pPr>
            <a:r>
              <a:rPr lang="en-US" sz="950" u="sng" dirty="0">
                <a:solidFill>
                  <a:srgbClr val="1C7293"/>
                </a:solidFill>
                <a:latin typeface="Calibri" pitchFamily="34" charset="0"/>
                <a:ea typeface="Calibri" pitchFamily="34" charset="-122"/>
                <a:cs typeface="Calibr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research.ibm.com/blog/prithvi2-geospatial</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science.nasa.gov</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 (in-orbit deployment)</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Granite-Geospatial-Ocean  </a:t>
            </a:r>
            <a:pPr indent="0" marL="0">
              <a:buNone/>
            </a:pPr>
            <a:r>
              <a:rPr lang="en-US" sz="950" u="sng" dirty="0">
                <a:solidFill>
                  <a:srgbClr val="1C7293"/>
                </a:solidFill>
                <a:latin typeface="Calibri" pitchFamily="34" charset="0"/>
                <a:ea typeface="Calibri" pitchFamily="34" charset="-122"/>
                <a:cs typeface="Calibri" pitchFamily="34" charset="-120"/>
                <a:hlinkClick r:id="rId25" invalidUrl="" action="" tgtFrame="" tooltip="" history="1" highlightClick="0" endSnd="0">
                  <a:extLst>
                    <a:ext uri="{A12FA001-AC4F-418D-AE19-62706E023703}">
                      <ahyp:hlinkClr xmlns:ahyp="http://schemas.microsoft.com/office/drawing/2018/hyperlinkcolor" val="tx"/>
                    </a:ext>
                  </a:extLst>
                </a:hlinkClick>
              </a:rPr>
              <a:t>arxiv.org/abs/2509.21273</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26" invalidUrl="" action="" tgtFrame="" tooltip="" history="1" highlightClick="0" endSnd="0">
                  <a:extLst>
                    <a:ext uri="{A12FA001-AC4F-418D-AE19-62706E023703}">
                      <ahyp:hlinkClr xmlns:ahyp="http://schemas.microsoft.com/office/drawing/2018/hyperlinkcolor" val="tx"/>
                    </a:ext>
                  </a:extLst>
                </a:hlinkClick>
              </a:rPr>
              <a:t>github.com/ibm-granite/geospatial</a:t>
            </a:r>
            <a:pPr indent="0" marL="0">
              <a:buNone/>
            </a:pPr>
            <a:r>
              <a:rPr lang="en-US" sz="950" dirty="0">
                <a:solidFill>
                  <a:srgbClr val="1B2430"/>
                </a:solidFill>
                <a:latin typeface="Calibri" pitchFamily="34" charset="0"/>
                <a:ea typeface="Calibri" pitchFamily="34" charset="-122"/>
                <a:cs typeface="Calibri" pitchFamily="34" charset="-120"/>
              </a:rPr>
              <a:t> (granite-geospatial-ocean: config + prithvi_vit_S3.py) · </a:t>
            </a:r>
            <a:pPr indent="0" marL="0">
              <a:buNone/>
            </a:pPr>
            <a:r>
              <a:rPr lang="en-US" sz="950" u="sng" dirty="0">
                <a:solidFill>
                  <a:srgbClr val="1C7293"/>
                </a:solidFill>
                <a:latin typeface="Calibri" pitchFamily="34" charset="0"/>
                <a:ea typeface="Calibri" pitchFamily="34" charset="-122"/>
                <a:cs typeface="Calibri" pitchFamily="34" charset="-120"/>
                <a:hlinkClick r:id="rId27" invalidUrl="" action="" tgtFrame="" tooltip="" history="1" highlightClick="0" endSnd="0">
                  <a:extLst>
                    <a:ext uri="{A12FA001-AC4F-418D-AE19-62706E023703}">
                      <ahyp:hlinkClr xmlns:ahyp="http://schemas.microsoft.com/office/drawing/2018/hyperlinkcolor" val="tx"/>
                    </a:ext>
                  </a:extLst>
                </a:hlinkClick>
              </a:rPr>
              <a:t>huggingface.co/ibm-granite/granite-geospatial-ocean</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28" invalidUrl="" action="" tgtFrame="" tooltip="" history="1" highlightClick="0" endSnd="0">
                  <a:extLst>
                    <a:ext uri="{A12FA001-AC4F-418D-AE19-62706E023703}">
                      <ahyp:hlinkClr xmlns:ahyp="http://schemas.microsoft.com/office/drawing/2018/hyperlinkcolor" val="tx"/>
                    </a:ext>
                  </a:extLst>
                </a:hlinkClick>
              </a:rPr>
              <a:t>research.ibm.com/blog/oceans-AI-model</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29" invalidUrl="" action="" tgtFrame="" tooltip="" history="1" highlightClick="0" endSnd="0">
                  <a:extLst>
                    <a:ext uri="{A12FA001-AC4F-418D-AE19-62706E023703}">
                      <ahyp:hlinkClr xmlns:ahyp="http://schemas.microsoft.com/office/drawing/2018/hyperlinkcolor" val="tx"/>
                    </a:ext>
                  </a:extLst>
                </a:hlinkClick>
              </a:rPr>
              <a:t>hartree.stfc.ac.uk</a:t>
            </a:r>
            <a:pPr indent="0" marL="0">
              <a:buNone/>
            </a:pPr>
            <a:r>
              <a:rPr lang="en-US" sz="950" dirty="0">
                <a:solidFill>
                  <a:srgbClr val="1B2430"/>
                </a:solidFill>
                <a:latin typeface="Calibri" pitchFamily="34" charset="0"/>
                <a:ea typeface="Calibri" pitchFamily="34" charset="-122"/>
                <a:cs typeface="Calibri" pitchFamily="34" charset="-120"/>
              </a:rPr>
              <a:t> case study (Jul 2026) · </a:t>
            </a:r>
            <a:pPr indent="0" marL="0">
              <a:buNone/>
            </a:pPr>
            <a:r>
              <a:rPr lang="en-US" sz="950" u="sng" dirty="0">
                <a:solidFill>
                  <a:srgbClr val="1C7293"/>
                </a:solidFill>
                <a:latin typeface="Calibri" pitchFamily="34" charset="0"/>
                <a:ea typeface="Calibri" pitchFamily="34" charset="-122"/>
                <a:cs typeface="Calibri" pitchFamily="34" charset="-120"/>
                <a:hlinkClick r:id="rId30" invalidUrl="" action="" tgtFrame="" tooltip="" history="1" highlightClick="0" endSnd="0">
                  <a:extLst>
                    <a:ext uri="{A12FA001-AC4F-418D-AE19-62706E023703}">
                      <ahyp:hlinkClr xmlns:ahyp="http://schemas.microsoft.com/office/drawing/2018/hyperlinkcolor" val="tx"/>
                    </a:ext>
                  </a:extLst>
                </a:hlinkClick>
              </a:rPr>
              <a:t>pml.ac.uk</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 news</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Ocean-including models  </a:t>
            </a:r>
            <a:pPr indent="0" marL="0">
              <a:buNone/>
            </a:pPr>
            <a:r>
              <a:rPr lang="en-US" sz="950" dirty="0">
                <a:solidFill>
                  <a:srgbClr val="1B2430"/>
                </a:solidFill>
                <a:latin typeface="Calibri" pitchFamily="34" charset="0"/>
                <a:ea typeface="Calibri" pitchFamily="34" charset="-122"/>
                <a:cs typeface="Calibri" pitchFamily="34" charset="-120"/>
              </a:rPr>
              <a:t>OceanSAR-1: </a:t>
            </a:r>
            <a:pPr indent="0" marL="0">
              <a:buNone/>
            </a:pPr>
            <a:r>
              <a:rPr lang="en-US" sz="950" u="sng" dirty="0">
                <a:solidFill>
                  <a:srgbClr val="1C7293"/>
                </a:solidFill>
                <a:latin typeface="Calibri" pitchFamily="34" charset="0"/>
                <a:ea typeface="Calibri" pitchFamily="34" charset="-122"/>
                <a:cs typeface="Calibri" pitchFamily="34" charset="-120"/>
                <a:hlinkClick r:id="rId31" invalidUrl="" action="" tgtFrame="" tooltip="" history="1" highlightClick="0" endSnd="0">
                  <a:extLst>
                    <a:ext uri="{A12FA001-AC4F-418D-AE19-62706E023703}">
                      <ahyp:hlinkClr xmlns:ahyp="http://schemas.microsoft.com/office/drawing/2018/hyperlinkcolor" val="tx"/>
                    </a:ext>
                  </a:extLst>
                </a:hlinkClick>
              </a:rPr>
              <a:t>huggingface.co/galeio-research/OceanSAR-1</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32" invalidUrl="" action="" tgtFrame="" tooltip="" history="1" highlightClick="0" endSnd="0">
                  <a:extLst>
                    <a:ext uri="{A12FA001-AC4F-418D-AE19-62706E023703}">
                      <ahyp:hlinkClr xmlns:ahyp="http://schemas.microsoft.com/office/drawing/2018/hyperlinkcolor" val="tx"/>
                    </a:ext>
                  </a:extLst>
                </a:hlinkClick>
              </a:rPr>
              <a:t>arxiv.org/abs/2504.06962</a:t>
            </a:r>
            <a:pPr indent="0" marL="0">
              <a:buNone/>
            </a:pPr>
            <a:r>
              <a:rPr lang="en-US" sz="950" dirty="0">
                <a:solidFill>
                  <a:srgbClr val="1B2430"/>
                </a:solidFill>
                <a:latin typeface="Calibri" pitchFamily="34" charset="0"/>
                <a:ea typeface="Calibri" pitchFamily="34" charset="-122"/>
                <a:cs typeface="Calibri" pitchFamily="34" charset="-120"/>
              </a:rPr>
              <a:t> · OceanSAR-2: </a:t>
            </a:r>
            <a:pPr indent="0" marL="0">
              <a:buNone/>
            </a:pPr>
            <a:r>
              <a:rPr lang="en-US" sz="950" u="sng" dirty="0">
                <a:solidFill>
                  <a:srgbClr val="1C7293"/>
                </a:solidFill>
                <a:latin typeface="Calibri" pitchFamily="34" charset="0"/>
                <a:ea typeface="Calibri" pitchFamily="34" charset="-122"/>
                <a:cs typeface="Calibri" pitchFamily="34" charset="-120"/>
                <a:hlinkClick r:id="rId33" invalidUrl="" action="" tgtFrame="" tooltip="" history="1" highlightClick="0" endSnd="0">
                  <a:extLst>
                    <a:ext uri="{A12FA001-AC4F-418D-AE19-62706E023703}">
                      <ahyp:hlinkClr xmlns:ahyp="http://schemas.microsoft.com/office/drawing/2018/hyperlinkcolor" val="tx"/>
                    </a:ext>
                  </a:extLst>
                </a:hlinkClick>
              </a:rPr>
              <a:t>arxiv.org/abs/2601.07392</a:t>
            </a:r>
            <a:pPr indent="0" marL="0">
              <a:buNone/>
            </a:pPr>
            <a:r>
              <a:rPr lang="en-US" sz="950" dirty="0">
                <a:solidFill>
                  <a:srgbClr val="1B2430"/>
                </a:solidFill>
                <a:latin typeface="Calibri" pitchFamily="34" charset="0"/>
                <a:ea typeface="Calibri" pitchFamily="34" charset="-122"/>
                <a:cs typeface="Calibri" pitchFamily="34" charset="-120"/>
              </a:rPr>
              <a:t> · Copernicus-FM: </a:t>
            </a:r>
            <a:pPr indent="0" marL="0">
              <a:buNone/>
            </a:pPr>
            <a:r>
              <a:rPr lang="en-US" sz="950" u="sng" dirty="0">
                <a:solidFill>
                  <a:srgbClr val="1C7293"/>
                </a:solidFill>
                <a:latin typeface="Calibri" pitchFamily="34" charset="0"/>
                <a:ea typeface="Calibri" pitchFamily="34" charset="-122"/>
                <a:cs typeface="Calibri" pitchFamily="34" charset="-120"/>
                <a:hlinkClick r:id="rId34" invalidUrl="" action="" tgtFrame="" tooltip="" history="1" highlightClick="0" endSnd="0">
                  <a:extLst>
                    <a:ext uri="{A12FA001-AC4F-418D-AE19-62706E023703}">
                      <ahyp:hlinkClr xmlns:ahyp="http://schemas.microsoft.com/office/drawing/2018/hyperlinkcolor" val="tx"/>
                    </a:ext>
                  </a:extLst>
                </a:hlinkClick>
              </a:rPr>
              <a:t>arxiv.org/abs/2503.11849</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35" invalidUrl="" action="" tgtFrame="" tooltip="" history="1" highlightClick="0" endSnd="0">
                  <a:extLst>
                    <a:ext uri="{A12FA001-AC4F-418D-AE19-62706E023703}">
                      <ahyp:hlinkClr xmlns:ahyp="http://schemas.microsoft.com/office/drawing/2018/hyperlinkcolor" val="tx"/>
                    </a:ext>
                  </a:extLst>
                </a:hlinkClick>
              </a:rPr>
              <a:t>huggingface.co/datasets/wangyi111/Copernicus-Pretrain</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36" invalidUrl="" action="" tgtFrame="" tooltip="" history="1" highlightClick="0" endSnd="0">
                  <a:extLst>
                    <a:ext uri="{A12FA001-AC4F-418D-AE19-62706E023703}">
                      <ahyp:hlinkClr xmlns:ahyp="http://schemas.microsoft.com/office/drawing/2018/hyperlinkcolor" val="tx"/>
                    </a:ext>
                  </a:extLst>
                </a:hlinkClick>
              </a:rPr>
              <a:t>github.com/zhu-xlab/Copernicus-FM</a:t>
            </a:r>
            <a:pPr indent="0" marL="0">
              <a:buNone/>
            </a:pPr>
            <a:r>
              <a:rPr lang="en-US" sz="950" dirty="0">
                <a:solidFill>
                  <a:srgbClr val="1B2430"/>
                </a:solidFill>
                <a:latin typeface="Calibri" pitchFamily="34" charset="0"/>
                <a:ea typeface="Calibri" pitchFamily="34" charset="-122"/>
                <a:cs typeface="Calibri" pitchFamily="34" charset="-120"/>
              </a:rPr>
              <a:t> · Aurora: </a:t>
            </a:r>
            <a:pPr indent="0" marL="0">
              <a:buNone/>
            </a:pPr>
            <a:r>
              <a:rPr lang="en-US" sz="950" u="sng" dirty="0">
                <a:solidFill>
                  <a:srgbClr val="1C7293"/>
                </a:solidFill>
                <a:latin typeface="Calibri" pitchFamily="34" charset="0"/>
                <a:ea typeface="Calibri" pitchFamily="34" charset="-122"/>
                <a:cs typeface="Calibri" pitchFamily="34" charset="-120"/>
                <a:hlinkClick r:id="rId37" invalidUrl="" action="" tgtFrame="" tooltip="" history="1" highlightClick="0" endSnd="0">
                  <a:extLst>
                    <a:ext uri="{A12FA001-AC4F-418D-AE19-62706E023703}">
                      <ahyp:hlinkClr xmlns:ahyp="http://schemas.microsoft.com/office/drawing/2018/hyperlinkcolor" val="tx"/>
                    </a:ext>
                  </a:extLst>
                </a:hlinkClick>
              </a:rPr>
              <a:t>microsoft.github.io/aurora</a:t>
            </a:r>
            <a:pPr indent="0" marL="0">
              <a:buNone/>
            </a:pPr>
            <a:r>
              <a:rPr lang="en-US" sz="950" dirty="0">
                <a:solidFill>
                  <a:srgbClr val="1B2430"/>
                </a:solidFill>
                <a:latin typeface="Calibri" pitchFamily="34" charset="0"/>
                <a:ea typeface="Calibri" pitchFamily="34" charset="-122"/>
                <a:cs typeface="Calibri" pitchFamily="34" charset="-120"/>
              </a:rPr>
              <a:t> · </a:t>
            </a:r>
            <a:pPr indent="0" marL="0">
              <a:buNone/>
            </a:pPr>
            <a:r>
              <a:rPr lang="en-US" sz="950" u="sng" dirty="0">
                <a:solidFill>
                  <a:srgbClr val="1C7293"/>
                </a:solidFill>
                <a:latin typeface="Calibri" pitchFamily="34" charset="0"/>
                <a:ea typeface="Calibri" pitchFamily="34" charset="-122"/>
                <a:cs typeface="Calibri" pitchFamily="34" charset="-120"/>
                <a:hlinkClick r:id="rId38" invalidUrl="" action="" tgtFrame="" tooltip="" history="1" highlightClick="0" endSnd="0">
                  <a:extLst>
                    <a:ext uri="{A12FA001-AC4F-418D-AE19-62706E023703}">
                      <ahyp:hlinkClr xmlns:ahyp="http://schemas.microsoft.com/office/drawing/2018/hyperlinkcolor" val="tx"/>
                    </a:ext>
                  </a:extLst>
                </a:hlinkClick>
              </a:rPr>
              <a:t>wekeo.copernicus.eu</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 (ocean FM workspace)</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Benchmarks &amp; head-to-head tables  </a:t>
            </a:r>
            <a:pPr indent="0" marL="0">
              <a:buNone/>
            </a:pPr>
            <a:r>
              <a:rPr lang="en-US" sz="950" dirty="0">
                <a:solidFill>
                  <a:srgbClr val="1B2430"/>
                </a:solidFill>
                <a:latin typeface="Calibri" pitchFamily="34" charset="0"/>
                <a:ea typeface="Calibri" pitchFamily="34" charset="-122"/>
                <a:cs typeface="Calibri" pitchFamily="34" charset="-120"/>
              </a:rPr>
              <a:t>OlmoEarth Tables 2, 3, 7 (</a:t>
            </a:r>
            <a:pPr indent="0" marL="0">
              <a:buNone/>
            </a:pPr>
            <a:r>
              <a:rPr lang="en-US" sz="950" u="sng" dirty="0">
                <a:solidFill>
                  <a:srgbClr val="1C7293"/>
                </a:solidFill>
                <a:latin typeface="Calibri" pitchFamily="34" charset="0"/>
                <a:ea typeface="Calibri" pitchFamily="34" charset="-122"/>
                <a:cs typeface="Calibri" pitchFamily="34" charset="-120"/>
                <a:hlinkClick r:id="rId39" invalidUrl="" action="" tgtFrame="" tooltip="" history="1" highlightClick="0" endSnd="0">
                  <a:extLst>
                    <a:ext uri="{A12FA001-AC4F-418D-AE19-62706E023703}">
                      <ahyp:hlinkClr xmlns:ahyp="http://schemas.microsoft.com/office/drawing/2018/hyperlinkcolor" val="tx"/>
                    </a:ext>
                  </a:extLst>
                </a:hlinkClick>
              </a:rPr>
              <a:t>arxiv.org/abs/2511.13655</a:t>
            </a:r>
            <a:pPr indent="0" marL="0">
              <a:buNone/>
            </a:pPr>
            <a:r>
              <a:rPr lang="en-US" sz="950" dirty="0">
                <a:solidFill>
                  <a:srgbClr val="1B2430"/>
                </a:solidFill>
                <a:latin typeface="Calibri" pitchFamily="34" charset="0"/>
                <a:ea typeface="Calibri" pitchFamily="34" charset="-122"/>
                <a:cs typeface="Calibri" pitchFamily="34" charset="-120"/>
              </a:rPr>
              <a:t>) · TerraMind Table 6 / PANGAEA (</a:t>
            </a:r>
            <a:pPr indent="0" marL="0">
              <a:buNone/>
            </a:pPr>
            <a:r>
              <a:rPr lang="en-US" sz="950" u="sng" dirty="0">
                <a:solidFill>
                  <a:srgbClr val="1C7293"/>
                </a:solidFill>
                <a:latin typeface="Calibri" pitchFamily="34" charset="0"/>
                <a:ea typeface="Calibri" pitchFamily="34" charset="-122"/>
                <a:cs typeface="Calibri" pitchFamily="34" charset="-120"/>
                <a:hlinkClick r:id="rId40" invalidUrl="" action="" tgtFrame="" tooltip="" history="1" highlightClick="0" endSnd="0">
                  <a:extLst>
                    <a:ext uri="{A12FA001-AC4F-418D-AE19-62706E023703}">
                      <ahyp:hlinkClr xmlns:ahyp="http://schemas.microsoft.com/office/drawing/2018/hyperlinkcolor" val="tx"/>
                    </a:ext>
                  </a:extLst>
                </a:hlinkClick>
              </a:rPr>
              <a:t>arxiv.org/abs/2504.11171</a:t>
            </a:r>
            <a:pPr indent="0" marL="0">
              <a:buNone/>
            </a:pPr>
            <a:r>
              <a:rPr lang="en-US" sz="950" dirty="0">
                <a:solidFill>
                  <a:srgbClr val="1B2430"/>
                </a:solidFill>
                <a:latin typeface="Calibri" pitchFamily="34" charset="0"/>
                <a:ea typeface="Calibri" pitchFamily="34" charset="-122"/>
                <a:cs typeface="Calibri" pitchFamily="34" charset="-120"/>
              </a:rPr>
              <a:t>; </a:t>
            </a:r>
            <a:pPr indent="0" marL="0">
              <a:buNone/>
            </a:pPr>
            <a:r>
              <a:rPr lang="en-US" sz="950" u="sng" dirty="0">
                <a:solidFill>
                  <a:srgbClr val="1C7293"/>
                </a:solidFill>
                <a:latin typeface="Calibri" pitchFamily="34" charset="0"/>
                <a:ea typeface="Calibri" pitchFamily="34" charset="-122"/>
                <a:cs typeface="Calibri" pitchFamily="34" charset="-120"/>
                <a:hlinkClick r:id="rId41" invalidUrl="" action="" tgtFrame="" tooltip="" history="1" highlightClick="0" endSnd="0">
                  <a:extLst>
                    <a:ext uri="{A12FA001-AC4F-418D-AE19-62706E023703}">
                      <ahyp:hlinkClr xmlns:ahyp="http://schemas.microsoft.com/office/drawing/2018/hyperlinkcolor" val="tx"/>
                    </a:ext>
                  </a:extLst>
                </a:hlinkClick>
              </a:rPr>
              <a:t>arxiv.org/abs/2412.04204</a:t>
            </a:r>
            <a:pPr indent="0" marL="0">
              <a:buNone/>
            </a:pPr>
            <a:r>
              <a:rPr lang="en-US" sz="950" dirty="0">
                <a:solidFill>
                  <a:srgbClr val="1B2430"/>
                </a:solidFill>
                <a:latin typeface="Calibri" pitchFamily="34" charset="0"/>
                <a:ea typeface="Calibri" pitchFamily="34" charset="-122"/>
                <a:cs typeface="Calibri" pitchFamily="34" charset="-120"/>
              </a:rPr>
              <a:t>) · Prithvi-EO 2.0 Tables A1–A4 / GEO-Bench (</a:t>
            </a:r>
            <a:pPr indent="0" marL="0">
              <a:buNone/>
            </a:pPr>
            <a:r>
              <a:rPr lang="en-US" sz="950" u="sng" dirty="0">
                <a:solidFill>
                  <a:srgbClr val="1C7293"/>
                </a:solidFill>
                <a:latin typeface="Calibri" pitchFamily="34" charset="0"/>
                <a:ea typeface="Calibri" pitchFamily="34" charset="-122"/>
                <a:cs typeface="Calibri" pitchFamily="34" charset="-120"/>
                <a:hlinkClick r:id="rId42" invalidUrl="" action="" tgtFrame="" tooltip="" history="1" highlightClick="0" endSnd="0">
                  <a:extLst>
                    <a:ext uri="{A12FA001-AC4F-418D-AE19-62706E023703}">
                      <ahyp:hlinkClr xmlns:ahyp="http://schemas.microsoft.com/office/drawing/2018/hyperlinkcolor" val="tx"/>
                    </a:ext>
                  </a:extLst>
                </a:hlinkClick>
              </a:rPr>
              <a:t>arxiv.org/abs/2412.02732</a:t>
            </a:r>
            <a:pPr indent="0" marL="0">
              <a:buNone/>
            </a:pPr>
            <a:r>
              <a:rPr lang="en-US" sz="950" dirty="0">
                <a:solidFill>
                  <a:srgbClr val="1B2430"/>
                </a:solidFill>
                <a:latin typeface="Calibri" pitchFamily="34" charset="0"/>
                <a:ea typeface="Calibri" pitchFamily="34" charset="-122"/>
                <a:cs typeface="Calibri" pitchFamily="34" charset="-120"/>
              </a:rPr>
              <a:t>; </a:t>
            </a:r>
            <a:pPr indent="0" marL="0">
              <a:buNone/>
            </a:pPr>
            <a:r>
              <a:rPr lang="en-US" sz="950" u="sng" dirty="0">
                <a:solidFill>
                  <a:srgbClr val="1C7293"/>
                </a:solidFill>
                <a:latin typeface="Calibri" pitchFamily="34" charset="0"/>
                <a:ea typeface="Calibri" pitchFamily="34" charset="-122"/>
                <a:cs typeface="Calibri" pitchFamily="34" charset="-120"/>
                <a:hlinkClick r:id="rId43" invalidUrl="" action="" tgtFrame="" tooltip="" history="1" highlightClick="0" endSnd="0">
                  <a:extLst>
                    <a:ext uri="{A12FA001-AC4F-418D-AE19-62706E023703}">
                      <ahyp:hlinkClr xmlns:ahyp="http://schemas.microsoft.com/office/drawing/2018/hyperlinkcolor" val="tx"/>
                    </a:ext>
                  </a:extLst>
                </a:hlinkClick>
              </a:rPr>
              <a:t>arxiv.org/abs/2306.03831</a:t>
            </a:r>
            <a:pPr indent="0" marL="0">
              <a:buNone/>
            </a:pPr>
            <a:r>
              <a:rPr lang="en-US" sz="950" dirty="0">
                <a:solidFill>
                  <a:srgbClr val="1B2430"/>
                </a:solidFill>
                <a:latin typeface="Calibri" pitchFamily="34" charset="0"/>
                <a:ea typeface="Calibri" pitchFamily="34" charset="-122"/>
                <a:cs typeface="Calibri" pitchFamily="34" charset="-120"/>
              </a:rPr>
              <a:t>) · TESSERA Table 1 (</a:t>
            </a:r>
            <a:pPr indent="0" marL="0">
              <a:buNone/>
            </a:pPr>
            <a:r>
              <a:rPr lang="en-US" sz="950" u="sng" dirty="0">
                <a:solidFill>
                  <a:srgbClr val="1C7293"/>
                </a:solidFill>
                <a:latin typeface="Calibri" pitchFamily="34" charset="0"/>
                <a:ea typeface="Calibri" pitchFamily="34" charset="-122"/>
                <a:cs typeface="Calibri" pitchFamily="34" charset="-120"/>
                <a:hlinkClick r:id="rId44" invalidUrl="" action="" tgtFrame="" tooltip="" history="1" highlightClick="0" endSnd="0">
                  <a:extLst>
                    <a:ext uri="{A12FA001-AC4F-418D-AE19-62706E023703}">
                      <ahyp:hlinkClr xmlns:ahyp="http://schemas.microsoft.com/office/drawing/2018/hyperlinkcolor" val="tx"/>
                    </a:ext>
                  </a:extLst>
                </a:hlinkClick>
              </a:rPr>
              <a:t>arxiv.org/abs/2506.20380</a:t>
            </a:r>
            <a:pPr indent="0" marL="0">
              <a:buNone/>
            </a:pPr>
            <a:r>
              <a:rPr lang="en-US" sz="950" dirty="0">
                <a:solidFill>
                  <a:srgbClr val="1B2430"/>
                </a:solidFill>
                <a:latin typeface="Calibri" pitchFamily="34" charset="0"/>
                <a:ea typeface="Calibri" pitchFamily="34" charset="-122"/>
                <a:cs typeface="Calibri" pitchFamily="34" charset="-120"/>
              </a:rPr>
              <a:t>) · GEO-Bench-2 ranks (</a:t>
            </a:r>
            <a:pPr indent="0" marL="0">
              <a:buNone/>
            </a:pPr>
            <a:r>
              <a:rPr lang="en-US" sz="950" u="sng" dirty="0">
                <a:solidFill>
                  <a:srgbClr val="1C7293"/>
                </a:solidFill>
                <a:latin typeface="Calibri" pitchFamily="34" charset="0"/>
                <a:ea typeface="Calibri" pitchFamily="34" charset="-122"/>
                <a:cs typeface="Calibri" pitchFamily="34" charset="-120"/>
                <a:hlinkClick r:id="rId45" invalidUrl="" action="" tgtFrame="" tooltip="" history="1" highlightClick="0" endSnd="0">
                  <a:extLst>
                    <a:ext uri="{A12FA001-AC4F-418D-AE19-62706E023703}">
                      <ahyp:hlinkClr xmlns:ahyp="http://schemas.microsoft.com/office/drawing/2018/hyperlinkcolor" val="tx"/>
                    </a:ext>
                  </a:extLst>
                </a:hlinkClick>
              </a:rPr>
              <a:t>arxiv.org/abs/2511.15658</a:t>
            </a:r>
            <a:pPr indent="0" marL="0">
              <a:buNone/>
            </a:pPr>
            <a:r>
              <a:rPr lang="en-US" sz="950" dirty="0">
                <a:solidFill>
                  <a:srgbClr val="1B2430"/>
                </a:solidFill>
                <a:latin typeface="Calibri" pitchFamily="34" charset="0"/>
                <a:ea typeface="Calibri" pitchFamily="34" charset="-122"/>
                <a:cs typeface="Calibri" pitchFamily="34" charset="-120"/>
              </a:rPr>
              <a:t>) · AlphaEarth &amp; TESSERA for LCZ mapping (</a:t>
            </a:r>
            <a:pPr indent="0" marL="0">
              <a:buNone/>
            </a:pPr>
            <a:r>
              <a:rPr lang="en-US" sz="950" u="sng" dirty="0">
                <a:solidFill>
                  <a:srgbClr val="1C7293"/>
                </a:solidFill>
                <a:latin typeface="Calibri" pitchFamily="34" charset="0"/>
                <a:ea typeface="Calibri" pitchFamily="34" charset="-122"/>
                <a:cs typeface="Calibri" pitchFamily="34" charset="-120"/>
                <a:hlinkClick r:id="rId46" invalidUrl="" action="" tgtFrame="" tooltip="" history="1" highlightClick="0" endSnd="0">
                  <a:extLst>
                    <a:ext uri="{A12FA001-AC4F-418D-AE19-62706E023703}">
                      <ahyp:hlinkClr xmlns:ahyp="http://schemas.microsoft.com/office/drawing/2018/hyperlinkcolor" val="tx"/>
                    </a:ext>
                  </a:extLst>
                </a:hlinkClick>
              </a:rPr>
              <a:t>arxiv.org/abs/2606.20034</a:t>
            </a:r>
            <a:pPr indent="0" marL="0">
              <a:buNone/>
            </a:pPr>
            <a:r>
              <a:rPr lang="en-US" sz="950" dirty="0">
                <a:solidFill>
                  <a:srgbClr val="1B2430"/>
                </a:solidFill>
                <a:latin typeface="Calibri" pitchFamily="34" charset="0"/>
                <a:ea typeface="Calibri" pitchFamily="34" charset="-122"/>
                <a:cs typeface="Calibri" pitchFamily="34" charset="-120"/>
              </a:rPr>
              <a:t>) · Granite-Ocean Table 1 (</a:t>
            </a:r>
            <a:pPr indent="0" marL="0">
              <a:buNone/>
            </a:pPr>
            <a:r>
              <a:rPr lang="en-US" sz="950" u="sng" dirty="0">
                <a:solidFill>
                  <a:srgbClr val="1C7293"/>
                </a:solidFill>
                <a:latin typeface="Calibri" pitchFamily="34" charset="0"/>
                <a:ea typeface="Calibri" pitchFamily="34" charset="-122"/>
                <a:cs typeface="Calibri" pitchFamily="34" charset="-120"/>
                <a:hlinkClick r:id="rId47" invalidUrl="" action="" tgtFrame="" tooltip="" history="1" highlightClick="0" endSnd="0">
                  <a:extLst>
                    <a:ext uri="{A12FA001-AC4F-418D-AE19-62706E023703}">
                      <ahyp:hlinkClr xmlns:ahyp="http://schemas.microsoft.com/office/drawing/2018/hyperlinkcolor" val="tx"/>
                    </a:ext>
                  </a:extLst>
                </a:hlinkClick>
              </a:rPr>
              <a:t>arxiv.org/abs/2509.21273</a:t>
            </a:r>
            <a:pPr indent="0" marL="0">
              <a:buNone/>
            </a:pPr>
            <a:r>
              <a:rPr lang="en-US" sz="950" dirty="0">
                <a:solidFill>
                  <a:srgbClr val="1B2430"/>
                </a:solidFill>
                <a:latin typeface="Calibri" pitchFamily="34" charset="0"/>
                <a:ea typeface="Calibri" pitchFamily="34" charset="-122"/>
                <a:cs typeface="Calibri" pitchFamily="34" charset="-120"/>
              </a:rPr>
              <a:t>) · OceanSAR-1 Tables 1–3 (</a:t>
            </a:r>
            <a:pPr indent="0" marL="0">
              <a:buNone/>
            </a:pPr>
            <a:r>
              <a:rPr lang="en-US" sz="950" u="sng" dirty="0">
                <a:solidFill>
                  <a:srgbClr val="1C7293"/>
                </a:solidFill>
                <a:latin typeface="Calibri" pitchFamily="34" charset="0"/>
                <a:ea typeface="Calibri" pitchFamily="34" charset="-122"/>
                <a:cs typeface="Calibri" pitchFamily="34" charset="-120"/>
                <a:hlinkClick r:id="rId48" invalidUrl="" action="" tgtFrame="" tooltip="" history="1" highlightClick="0" endSnd="0">
                  <a:extLst>
                    <a:ext uri="{A12FA001-AC4F-418D-AE19-62706E023703}">
                      <ahyp:hlinkClr xmlns:ahyp="http://schemas.microsoft.com/office/drawing/2018/hyperlinkcolor" val="tx"/>
                    </a:ext>
                  </a:extLst>
                </a:hlinkClick>
              </a:rPr>
              <a:t>arxiv.org/abs/2504.06962</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Related work  </a:t>
            </a:r>
            <a:pPr indent="0" marL="0">
              <a:buNone/>
            </a:pPr>
            <a:r>
              <a:rPr lang="en-US" sz="950" dirty="0">
                <a:solidFill>
                  <a:srgbClr val="1B2430"/>
                </a:solidFill>
                <a:latin typeface="Calibri" pitchFamily="34" charset="0"/>
                <a:ea typeface="Calibri" pitchFamily="34" charset="-122"/>
                <a:cs typeface="Calibri" pitchFamily="34" charset="-120"/>
              </a:rPr>
              <a:t>OceanNet </a:t>
            </a:r>
            <a:pPr indent="0" marL="0">
              <a:buNone/>
            </a:pPr>
            <a:r>
              <a:rPr lang="en-US" sz="950" u="sng" dirty="0">
                <a:solidFill>
                  <a:srgbClr val="1C7293"/>
                </a:solidFill>
                <a:latin typeface="Calibri" pitchFamily="34" charset="0"/>
                <a:ea typeface="Calibri" pitchFamily="34" charset="-122"/>
                <a:cs typeface="Calibri" pitchFamily="34" charset="-120"/>
                <a:hlinkClick r:id="rId49" invalidUrl="" action="" tgtFrame="" tooltip="" history="1" highlightClick="0" endSnd="0">
                  <a:extLst>
                    <a:ext uri="{A12FA001-AC4F-418D-AE19-62706E023703}">
                      <ahyp:hlinkClr xmlns:ahyp="http://schemas.microsoft.com/office/drawing/2018/hyperlinkcolor" val="tx"/>
                    </a:ext>
                  </a:extLst>
                </a:hlinkClick>
              </a:rPr>
              <a:t>arxiv.org/abs/2310.00813</a:t>
            </a:r>
            <a:pPr indent="0" marL="0">
              <a:buNone/>
            </a:pPr>
            <a:r>
              <a:rPr lang="en-US" sz="950" dirty="0">
                <a:solidFill>
                  <a:srgbClr val="1B2430"/>
                </a:solidFill>
                <a:latin typeface="Calibri" pitchFamily="34" charset="0"/>
                <a:ea typeface="Calibri" pitchFamily="34" charset="-122"/>
                <a:cs typeface="Calibri" pitchFamily="34" charset="-120"/>
              </a:rPr>
              <a:t> · PARADIS </a:t>
            </a:r>
            <a:pPr indent="0" marL="0">
              <a:buNone/>
            </a:pPr>
            <a:r>
              <a:rPr lang="en-US" sz="950" u="sng" dirty="0">
                <a:solidFill>
                  <a:srgbClr val="1C7293"/>
                </a:solidFill>
                <a:latin typeface="Calibri" pitchFamily="34" charset="0"/>
                <a:ea typeface="Calibri" pitchFamily="34" charset="-122"/>
                <a:cs typeface="Calibri" pitchFamily="34" charset="-120"/>
                <a:hlinkClick r:id="rId50" invalidUrl="" action="" tgtFrame="" tooltip="" history="1" highlightClick="0" endSnd="0">
                  <a:extLst>
                    <a:ext uri="{A12FA001-AC4F-418D-AE19-62706E023703}">
                      <ahyp:hlinkClr xmlns:ahyp="http://schemas.microsoft.com/office/drawing/2018/hyperlinkcolor" val="tx"/>
                    </a:ext>
                  </a:extLst>
                </a:hlinkClick>
              </a:rPr>
              <a:t>arxiv.org/abs/2601.21151</a:t>
            </a:r>
            <a:pPr indent="0" marL="0">
              <a:buNone/>
            </a:pPr>
            <a:r>
              <a:rPr lang="en-US" sz="950" dirty="0">
                <a:solidFill>
                  <a:srgbClr val="1B2430"/>
                </a:solidFill>
                <a:latin typeface="Calibri" pitchFamily="34" charset="0"/>
                <a:ea typeface="Calibri" pitchFamily="34" charset="-122"/>
                <a:cs typeface="Calibri" pitchFamily="34" charset="-120"/>
              </a:rPr>
              <a:t> · ClimODE </a:t>
            </a:r>
            <a:pPr indent="0" marL="0">
              <a:buNone/>
            </a:pPr>
            <a:r>
              <a:rPr lang="en-US" sz="950" u="sng" dirty="0">
                <a:solidFill>
                  <a:srgbClr val="1C7293"/>
                </a:solidFill>
                <a:latin typeface="Calibri" pitchFamily="34" charset="0"/>
                <a:ea typeface="Calibri" pitchFamily="34" charset="-122"/>
                <a:cs typeface="Calibri" pitchFamily="34" charset="-120"/>
                <a:hlinkClick r:id="rId51" invalidUrl="" action="" tgtFrame="" tooltip="" history="1" highlightClick="0" endSnd="0">
                  <a:extLst>
                    <a:ext uri="{A12FA001-AC4F-418D-AE19-62706E023703}">
                      <ahyp:hlinkClr xmlns:ahyp="http://schemas.microsoft.com/office/drawing/2018/hyperlinkcolor" val="tx"/>
                    </a:ext>
                  </a:extLst>
                </a:hlinkClick>
              </a:rPr>
              <a:t>arxiv.org/abs/2404.10024</a:t>
            </a:r>
            <a:pPr indent="0" marL="0">
              <a:buNone/>
            </a:pPr>
            <a:r>
              <a:rPr lang="en-US" sz="950" dirty="0">
                <a:solidFill>
                  <a:srgbClr val="1B2430"/>
                </a:solidFill>
                <a:latin typeface="Calibri" pitchFamily="34" charset="0"/>
                <a:ea typeface="Calibri" pitchFamily="34" charset="-122"/>
                <a:cs typeface="Calibri" pitchFamily="34" charset="-120"/>
              </a:rPr>
              <a:t> · Neural-LAM </a:t>
            </a:r>
            <a:pPr indent="0" marL="0">
              <a:buNone/>
            </a:pPr>
            <a:r>
              <a:rPr lang="en-US" sz="950" u="sng" dirty="0">
                <a:solidFill>
                  <a:srgbClr val="1C7293"/>
                </a:solidFill>
                <a:latin typeface="Calibri" pitchFamily="34" charset="0"/>
                <a:ea typeface="Calibri" pitchFamily="34" charset="-122"/>
                <a:cs typeface="Calibri" pitchFamily="34" charset="-120"/>
                <a:hlinkClick r:id="rId52" invalidUrl="" action="" tgtFrame="" tooltip="" history="1" highlightClick="0" endSnd="0">
                  <a:extLst>
                    <a:ext uri="{A12FA001-AC4F-418D-AE19-62706E023703}">
                      <ahyp:hlinkClr xmlns:ahyp="http://schemas.microsoft.com/office/drawing/2018/hyperlinkcolor" val="tx"/>
                    </a:ext>
                  </a:extLst>
                </a:hlinkClick>
              </a:rPr>
              <a:t>arxiv.org/abs/2309.17370</a:t>
            </a:r>
            <a:pPr indent="0" marL="0">
              <a:buNone/>
            </a:pPr>
            <a:r>
              <a:rPr lang="en-US" sz="950" dirty="0">
                <a:solidFill>
                  <a:srgbClr val="1B2430"/>
                </a:solidFill>
                <a:latin typeface="Calibri" pitchFamily="34" charset="0"/>
                <a:ea typeface="Calibri" pitchFamily="34" charset="-122"/>
                <a:cs typeface="Calibri" pitchFamily="34" charset="-120"/>
              </a:rPr>
              <a:t> · stretched grid </a:t>
            </a:r>
            <a:pPr indent="0" marL="0">
              <a:buNone/>
            </a:pPr>
            <a:r>
              <a:rPr lang="en-US" sz="950" u="sng" dirty="0">
                <a:solidFill>
                  <a:srgbClr val="1C7293"/>
                </a:solidFill>
                <a:latin typeface="Calibri" pitchFamily="34" charset="0"/>
                <a:ea typeface="Calibri" pitchFamily="34" charset="-122"/>
                <a:cs typeface="Calibri" pitchFamily="34" charset="-120"/>
                <a:hlinkClick r:id="rId53" invalidUrl="" action="" tgtFrame="" tooltip="" history="1" highlightClick="0" endSnd="0">
                  <a:extLst>
                    <a:ext uri="{A12FA001-AC4F-418D-AE19-62706E023703}">
                      <ahyp:hlinkClr xmlns:ahyp="http://schemas.microsoft.com/office/drawing/2018/hyperlinkcolor" val="tx"/>
                    </a:ext>
                  </a:extLst>
                </a:hlinkClick>
              </a:rPr>
              <a:t>arxiv.org/abs/2409.02891</a:t>
            </a:r>
            <a:pPr indent="0" marL="0">
              <a:buNone/>
            </a:pPr>
            <a:r>
              <a:rPr lang="en-US" sz="950" dirty="0">
                <a:solidFill>
                  <a:srgbClr val="1B2430"/>
                </a:solidFill>
                <a:latin typeface="Calibri" pitchFamily="34" charset="0"/>
                <a:ea typeface="Calibri" pitchFamily="34" charset="-122"/>
                <a:cs typeface="Calibri" pitchFamily="34" charset="-120"/>
              </a:rPr>
              <a:t> · Keisler </a:t>
            </a:r>
            <a:pPr indent="0" marL="0">
              <a:buNone/>
            </a:pPr>
            <a:r>
              <a:rPr lang="en-US" sz="950" u="sng" dirty="0">
                <a:solidFill>
                  <a:srgbClr val="1C7293"/>
                </a:solidFill>
                <a:latin typeface="Calibri" pitchFamily="34" charset="0"/>
                <a:ea typeface="Calibri" pitchFamily="34" charset="-122"/>
                <a:cs typeface="Calibri" pitchFamily="34" charset="-120"/>
                <a:hlinkClick r:id="rId54" invalidUrl="" action="" tgtFrame="" tooltip="" history="1" highlightClick="0" endSnd="0">
                  <a:extLst>
                    <a:ext uri="{A12FA001-AC4F-418D-AE19-62706E023703}">
                      <ahyp:hlinkClr xmlns:ahyp="http://schemas.microsoft.com/office/drawing/2018/hyperlinkcolor" val="tx"/>
                    </a:ext>
                  </a:extLst>
                </a:hlinkClick>
              </a:rPr>
              <a:t>arxiv.org/abs/2202.07575</a:t>
            </a:r>
            <a:pPr indent="0" marL="0">
              <a:buNone/>
            </a:pPr>
            <a:r>
              <a:rPr lang="en-US" sz="950" dirty="0">
                <a:solidFill>
                  <a:srgbClr val="1B2430"/>
                </a:solidFill>
                <a:latin typeface="Calibri" pitchFamily="34" charset="0"/>
                <a:ea typeface="Calibri" pitchFamily="34" charset="-122"/>
                <a:cs typeface="Calibri" pitchFamily="34" charset="-120"/>
              </a:rPr>
              <a:t> · GraphCast </a:t>
            </a:r>
            <a:pPr indent="0" marL="0">
              <a:buNone/>
            </a:pPr>
            <a:r>
              <a:rPr lang="en-US" sz="950" u="sng" dirty="0">
                <a:solidFill>
                  <a:srgbClr val="1C7293"/>
                </a:solidFill>
                <a:latin typeface="Calibri" pitchFamily="34" charset="0"/>
                <a:ea typeface="Calibri" pitchFamily="34" charset="-122"/>
                <a:cs typeface="Calibri" pitchFamily="34" charset="-120"/>
                <a:hlinkClick r:id="rId55" invalidUrl="" action="" tgtFrame="" tooltip="" history="1" highlightClick="0" endSnd="0">
                  <a:extLst>
                    <a:ext uri="{A12FA001-AC4F-418D-AE19-62706E023703}">
                      <ahyp:hlinkClr xmlns:ahyp="http://schemas.microsoft.com/office/drawing/2018/hyperlinkcolor" val="tx"/>
                    </a:ext>
                  </a:extLst>
                </a:hlinkClick>
              </a:rPr>
              <a:t>arxiv.org/abs/2212.12794</a:t>
            </a:r>
            <a:pPr indent="0" marL="0">
              <a:buNone/>
            </a:pPr>
            <a:r>
              <a:rPr lang="en-US" sz="950" dirty="0">
                <a:solidFill>
                  <a:srgbClr val="1B2430"/>
                </a:solidFill>
                <a:latin typeface="Calibri" pitchFamily="34" charset="0"/>
                <a:ea typeface="Calibri" pitchFamily="34" charset="-122"/>
                <a:cs typeface="Calibri" pitchFamily="34" charset="-120"/>
              </a:rPr>
              <a:t> · Pangu </a:t>
            </a:r>
            <a:pPr indent="0" marL="0">
              <a:buNone/>
            </a:pPr>
            <a:r>
              <a:rPr lang="en-US" sz="950" u="sng" dirty="0">
                <a:solidFill>
                  <a:srgbClr val="1C7293"/>
                </a:solidFill>
                <a:latin typeface="Calibri" pitchFamily="34" charset="0"/>
                <a:ea typeface="Calibri" pitchFamily="34" charset="-122"/>
                <a:cs typeface="Calibri" pitchFamily="34" charset="-120"/>
                <a:hlinkClick r:id="rId56" invalidUrl="" action="" tgtFrame="" tooltip="" history="1" highlightClick="0" endSnd="0">
                  <a:extLst>
                    <a:ext uri="{A12FA001-AC4F-418D-AE19-62706E023703}">
                      <ahyp:hlinkClr xmlns:ahyp="http://schemas.microsoft.com/office/drawing/2018/hyperlinkcolor" val="tx"/>
                    </a:ext>
                  </a:extLst>
                </a:hlinkClick>
              </a:rPr>
              <a:t>arxiv.org/abs/2211.02556</a:t>
            </a:r>
            <a:pPr indent="0" marL="0">
              <a:buNone/>
            </a:pPr>
            <a:r>
              <a:rPr lang="en-US" sz="950" dirty="0">
                <a:solidFill>
                  <a:srgbClr val="1B2430"/>
                </a:solidFill>
                <a:latin typeface="Calibri" pitchFamily="34" charset="0"/>
                <a:ea typeface="Calibri" pitchFamily="34" charset="-122"/>
                <a:cs typeface="Calibri" pitchFamily="34" charset="-120"/>
              </a:rPr>
              <a:t> · FuXi </a:t>
            </a:r>
            <a:pPr indent="0" marL="0">
              <a:buNone/>
            </a:pPr>
            <a:r>
              <a:rPr lang="en-US" sz="950" u="sng" dirty="0">
                <a:solidFill>
                  <a:srgbClr val="1C7293"/>
                </a:solidFill>
                <a:latin typeface="Calibri" pitchFamily="34" charset="0"/>
                <a:ea typeface="Calibri" pitchFamily="34" charset="-122"/>
                <a:cs typeface="Calibri" pitchFamily="34" charset="-120"/>
                <a:hlinkClick r:id="rId57" invalidUrl="" action="" tgtFrame="" tooltip="" history="1" highlightClick="0" endSnd="0">
                  <a:extLst>
                    <a:ext uri="{A12FA001-AC4F-418D-AE19-62706E023703}">
                      <ahyp:hlinkClr xmlns:ahyp="http://schemas.microsoft.com/office/drawing/2018/hyperlinkcolor" val="tx"/>
                    </a:ext>
                  </a:extLst>
                </a:hlinkClick>
              </a:rPr>
              <a:t>arxiv.org/abs/2306.12873</a:t>
            </a:r>
            <a:pPr indent="0" marL="0">
              <a:buNone/>
            </a:pPr>
            <a:r>
              <a:rPr lang="en-US" sz="950" dirty="0">
                <a:solidFill>
                  <a:srgbClr val="1B2430"/>
                </a:solidFill>
                <a:latin typeface="Calibri" pitchFamily="34" charset="0"/>
                <a:ea typeface="Calibri" pitchFamily="34" charset="-122"/>
                <a:cs typeface="Calibri" pitchFamily="34" charset="-120"/>
              </a:rPr>
              <a:t> · Samudra </a:t>
            </a:r>
            <a:pPr indent="0" marL="0">
              <a:buNone/>
            </a:pPr>
            <a:r>
              <a:rPr lang="en-US" sz="950" u="sng" dirty="0">
                <a:solidFill>
                  <a:srgbClr val="1C7293"/>
                </a:solidFill>
                <a:latin typeface="Calibri" pitchFamily="34" charset="0"/>
                <a:ea typeface="Calibri" pitchFamily="34" charset="-122"/>
                <a:cs typeface="Calibri" pitchFamily="34" charset="-120"/>
                <a:hlinkClick r:id="rId58" invalidUrl="" action="" tgtFrame="" tooltip="" history="1" highlightClick="0" endSnd="0">
                  <a:extLst>
                    <a:ext uri="{A12FA001-AC4F-418D-AE19-62706E023703}">
                      <ahyp:hlinkClr xmlns:ahyp="http://schemas.microsoft.com/office/drawing/2018/hyperlinkcolor" val="tx"/>
                    </a:ext>
                  </a:extLst>
                </a:hlinkClick>
              </a:rPr>
              <a:t>arxiv.org/abs/2412.03795</a:t>
            </a:r>
            <a:pPr indent="0" marL="0">
              <a:buNone/>
            </a:pPr>
            <a:r>
              <a:rPr lang="en-US" sz="950" dirty="0">
                <a:solidFill>
                  <a:srgbClr val="1B2430"/>
                </a:solidFill>
                <a:latin typeface="Calibri" pitchFamily="34" charset="0"/>
                <a:ea typeface="Calibri" pitchFamily="34" charset="-122"/>
                <a:cs typeface="Calibri" pitchFamily="34" charset="-120"/>
              </a:rPr>
              <a:t> · SamudrACE </a:t>
            </a:r>
            <a:pPr indent="0" marL="0">
              <a:buNone/>
            </a:pPr>
            <a:r>
              <a:rPr lang="en-US" sz="950" u="sng" dirty="0">
                <a:solidFill>
                  <a:srgbClr val="1C7293"/>
                </a:solidFill>
                <a:latin typeface="Calibri" pitchFamily="34" charset="0"/>
                <a:ea typeface="Calibri" pitchFamily="34" charset="-122"/>
                <a:cs typeface="Calibri" pitchFamily="34" charset="-120"/>
                <a:hlinkClick r:id="rId59" invalidUrl="" action="" tgtFrame="" tooltip="" history="1" highlightClick="0" endSnd="0">
                  <a:extLst>
                    <a:ext uri="{A12FA001-AC4F-418D-AE19-62706E023703}">
                      <ahyp:hlinkClr xmlns:ahyp="http://schemas.microsoft.com/office/drawing/2018/hyperlinkcolor" val="tx"/>
                    </a:ext>
                  </a:extLst>
                </a:hlinkClick>
              </a:rPr>
              <a:t>doi 10.1029/2025GL119340</a:t>
            </a:r>
            <a:pPr indent="0" marL="0">
              <a:buNone/>
            </a:pPr>
            <a:r>
              <a:rPr lang="en-US" sz="950" dirty="0">
                <a:solidFill>
                  <a:srgbClr val="1B2430"/>
                </a:solidFill>
                <a:latin typeface="Calibri" pitchFamily="34" charset="0"/>
                <a:ea typeface="Calibri" pitchFamily="34" charset="-122"/>
                <a:cs typeface="Calibri" pitchFamily="34" charset="-120"/>
              </a:rPr>
              <a:t> · ACE2-SOM </a:t>
            </a:r>
            <a:pPr indent="0" marL="0">
              <a:buNone/>
            </a:pPr>
            <a:r>
              <a:rPr lang="en-US" sz="950" u="sng" dirty="0">
                <a:solidFill>
                  <a:srgbClr val="1C7293"/>
                </a:solidFill>
                <a:latin typeface="Calibri" pitchFamily="34" charset="0"/>
                <a:ea typeface="Calibri" pitchFamily="34" charset="-122"/>
                <a:cs typeface="Calibri" pitchFamily="34" charset="-120"/>
                <a:hlinkClick r:id="rId60" invalidUrl="" action="" tgtFrame="" tooltip="" history="1" highlightClick="0" endSnd="0">
                  <a:extLst>
                    <a:ext uri="{A12FA001-AC4F-418D-AE19-62706E023703}">
                      <ahyp:hlinkClr xmlns:ahyp="http://schemas.microsoft.com/office/drawing/2018/hyperlinkcolor" val="tx"/>
                    </a:ext>
                  </a:extLst>
                </a:hlinkClick>
              </a:rPr>
              <a:t>arxiv.org/abs/2412.04418</a:t>
            </a:r>
            <a:pPr indent="0" marL="0">
              <a:buNone/>
            </a:pPr>
            <a:r>
              <a:rPr lang="en-US" sz="950" dirty="0">
                <a:solidFill>
                  <a:srgbClr val="1B2430"/>
                </a:solidFill>
                <a:latin typeface="Calibri" pitchFamily="34" charset="0"/>
                <a:ea typeface="Calibri" pitchFamily="34" charset="-122"/>
                <a:cs typeface="Calibri" pitchFamily="34" charset="-120"/>
              </a:rPr>
              <a:t> · ACE2-NEMO </a:t>
            </a:r>
            <a:pPr indent="0" marL="0">
              <a:buNone/>
            </a:pPr>
            <a:r>
              <a:rPr lang="en-US" sz="950" u="sng" dirty="0">
                <a:solidFill>
                  <a:srgbClr val="1C7293"/>
                </a:solidFill>
                <a:latin typeface="Calibri" pitchFamily="34" charset="0"/>
                <a:ea typeface="Calibri" pitchFamily="34" charset="-122"/>
                <a:cs typeface="Calibri" pitchFamily="34" charset="-120"/>
                <a:hlinkClick r:id="rId61" invalidUrl="" action="" tgtFrame="" tooltip="" history="1" highlightClick="0" endSnd="0">
                  <a:extLst>
                    <a:ext uri="{A12FA001-AC4F-418D-AE19-62706E023703}">
                      <ahyp:hlinkClr xmlns:ahyp="http://schemas.microsoft.com/office/drawing/2018/hyperlinkcolor" val="tx"/>
                    </a:ext>
                  </a:extLst>
                </a:hlinkClick>
              </a:rPr>
              <a:t>arxiv.org/abs/2603.28704</a:t>
            </a:r>
            <a:pPr indent="0" marL="0">
              <a:buNone/>
            </a:pPr>
            <a:r>
              <a:rPr lang="en-US" sz="950" dirty="0">
                <a:solidFill>
                  <a:srgbClr val="1B2430"/>
                </a:solidFill>
                <a:latin typeface="Calibri" pitchFamily="34" charset="0"/>
                <a:ea typeface="Calibri" pitchFamily="34" charset="-122"/>
                <a:cs typeface="Calibri" pitchFamily="34" charset="-120"/>
              </a:rPr>
              <a:t> · AIFS surface ocean </a:t>
            </a:r>
            <a:pPr indent="0" marL="0">
              <a:buNone/>
            </a:pPr>
            <a:r>
              <a:rPr lang="en-US" sz="950" u="sng" dirty="0">
                <a:solidFill>
                  <a:srgbClr val="1C7293"/>
                </a:solidFill>
                <a:latin typeface="Calibri" pitchFamily="34" charset="0"/>
                <a:ea typeface="Calibri" pitchFamily="34" charset="-122"/>
                <a:cs typeface="Calibri" pitchFamily="34" charset="-120"/>
                <a:hlinkClick r:id="rId62" invalidUrl="" action="" tgtFrame="" tooltip="" history="1" highlightClick="0" endSnd="0">
                  <a:extLst>
                    <a:ext uri="{A12FA001-AC4F-418D-AE19-62706E023703}">
                      <ahyp:hlinkClr xmlns:ahyp="http://schemas.microsoft.com/office/drawing/2018/hyperlinkcolor" val="tx"/>
                    </a:ext>
                  </a:extLst>
                </a:hlinkClick>
              </a:rPr>
              <a:t>arxiv.org/abs/2604.25559</a:t>
            </a:r>
            <a:pPr indent="0" marL="0">
              <a:buNone/>
            </a:pPr>
            <a:r>
              <a:rPr lang="en-US" sz="950" dirty="0">
                <a:solidFill>
                  <a:srgbClr val="1B2430"/>
                </a:solidFill>
                <a:latin typeface="Calibri" pitchFamily="34" charset="0"/>
                <a:ea typeface="Calibri" pitchFamily="34" charset="-122"/>
                <a:cs typeface="Calibri" pitchFamily="34" charset="-120"/>
              </a:rPr>
              <a:t> · Aurora </a:t>
            </a:r>
            <a:pPr indent="0" marL="0">
              <a:buNone/>
            </a:pPr>
            <a:r>
              <a:rPr lang="en-US" sz="950" u="sng" dirty="0">
                <a:solidFill>
                  <a:srgbClr val="1C7293"/>
                </a:solidFill>
                <a:latin typeface="Calibri" pitchFamily="34" charset="0"/>
                <a:ea typeface="Calibri" pitchFamily="34" charset="-122"/>
                <a:cs typeface="Calibri" pitchFamily="34" charset="-120"/>
                <a:hlinkClick r:id="rId63" invalidUrl="" action="" tgtFrame="" tooltip="" history="1" highlightClick="0" endSnd="0">
                  <a:extLst>
                    <a:ext uri="{A12FA001-AC4F-418D-AE19-62706E023703}">
                      <ahyp:hlinkClr xmlns:ahyp="http://schemas.microsoft.com/office/drawing/2018/hyperlinkcolor" val="tx"/>
                    </a:ext>
                  </a:extLst>
                </a:hlinkClick>
              </a:rPr>
              <a:t>doi 10.1038/s41586-025-09005-y</a:t>
            </a:r>
            <a:pPr indent="0" marL="0">
              <a:buNone/>
            </a:pPr>
            <a:r>
              <a:rPr lang="en-US" sz="950" dirty="0">
                <a:solidFill>
                  <a:srgbClr val="1B2430"/>
                </a:solidFill>
                <a:latin typeface="Calibri" pitchFamily="34" charset="0"/>
                <a:ea typeface="Calibri" pitchFamily="34" charset="-122"/>
                <a:cs typeface="Calibri" pitchFamily="34" charset="-120"/>
              </a:rPr>
              <a:t> · Aardvark </a:t>
            </a:r>
            <a:pPr indent="0" marL="0">
              <a:buNone/>
            </a:pPr>
            <a:r>
              <a:rPr lang="en-US" sz="950" u="sng" dirty="0">
                <a:solidFill>
                  <a:srgbClr val="1C7293"/>
                </a:solidFill>
                <a:latin typeface="Calibri" pitchFamily="34" charset="0"/>
                <a:ea typeface="Calibri" pitchFamily="34" charset="-122"/>
                <a:cs typeface="Calibri" pitchFamily="34" charset="-120"/>
                <a:hlinkClick r:id="rId64" invalidUrl="" action="" tgtFrame="" tooltip="" history="1" highlightClick="0" endSnd="0">
                  <a:extLst>
                    <a:ext uri="{A12FA001-AC4F-418D-AE19-62706E023703}">
                      <ahyp:hlinkClr xmlns:ahyp="http://schemas.microsoft.com/office/drawing/2018/hyperlinkcolor" val="tx"/>
                    </a:ext>
                  </a:extLst>
                </a:hlinkClick>
              </a:rPr>
              <a:t>doi 10.1038/s41586-025-08897-0</a:t>
            </a:r>
            <a:pPr indent="0" marL="0">
              <a:buNone/>
            </a:pPr>
            <a:r>
              <a:rPr lang="en-US" sz="950" dirty="0">
                <a:solidFill>
                  <a:srgbClr val="1B2430"/>
                </a:solidFill>
                <a:latin typeface="Calibri" pitchFamily="34" charset="0"/>
                <a:ea typeface="Calibri" pitchFamily="34" charset="-122"/>
                <a:cs typeface="Calibri" pitchFamily="34" charset="-120"/>
              </a:rPr>
              <a:t> · GraphDOP </a:t>
            </a:r>
            <a:pPr indent="0" marL="0">
              <a:buNone/>
            </a:pPr>
            <a:r>
              <a:rPr lang="en-US" sz="950" u="sng" dirty="0">
                <a:solidFill>
                  <a:srgbClr val="1C7293"/>
                </a:solidFill>
                <a:latin typeface="Calibri" pitchFamily="34" charset="0"/>
                <a:ea typeface="Calibri" pitchFamily="34" charset="-122"/>
                <a:cs typeface="Calibri" pitchFamily="34" charset="-120"/>
                <a:hlinkClick r:id="rId65" invalidUrl="" action="" tgtFrame="" tooltip="" history="1" highlightClick="0" endSnd="0">
                  <a:extLst>
                    <a:ext uri="{A12FA001-AC4F-418D-AE19-62706E023703}">
                      <ahyp:hlinkClr xmlns:ahyp="http://schemas.microsoft.com/office/drawing/2018/hyperlinkcolor" val="tx"/>
                    </a:ext>
                  </a:extLst>
                </a:hlinkClick>
              </a:rPr>
              <a:t>arxiv.org/abs/2412.15687</a:t>
            </a:r>
            <a:pPr indent="0" marL="0">
              <a:buNone/>
            </a:pPr>
            <a:r>
              <a:rPr lang="en-US" sz="950" dirty="0">
                <a:solidFill>
                  <a:srgbClr val="1B2430"/>
                </a:solidFill>
                <a:latin typeface="Calibri" pitchFamily="34" charset="0"/>
                <a:ea typeface="Calibri" pitchFamily="34" charset="-122"/>
                <a:cs typeface="Calibri" pitchFamily="34" charset="-120"/>
              </a:rPr>
              <a:t> · 4DVarNet </a:t>
            </a:r>
            <a:pPr indent="0" marL="0">
              <a:buNone/>
            </a:pPr>
            <a:r>
              <a:rPr lang="en-US" sz="950" u="sng" dirty="0">
                <a:solidFill>
                  <a:srgbClr val="1C7293"/>
                </a:solidFill>
                <a:latin typeface="Calibri" pitchFamily="34" charset="0"/>
                <a:ea typeface="Calibri" pitchFamily="34" charset="-122"/>
                <a:cs typeface="Calibri" pitchFamily="34" charset="-120"/>
                <a:hlinkClick r:id="rId66" invalidUrl="" action="" tgtFrame="" tooltip="" history="1" highlightClick="0" endSnd="0">
                  <a:extLst>
                    <a:ext uri="{A12FA001-AC4F-418D-AE19-62706E023703}">
                      <ahyp:hlinkClr xmlns:ahyp="http://schemas.microsoft.com/office/drawing/2018/hyperlinkcolor" val="tx"/>
                    </a:ext>
                  </a:extLst>
                </a:hlinkClick>
              </a:rPr>
              <a:t>doi 10.1029/2023MS003609</a:t>
            </a:r>
            <a:pPr indent="0" marL="0">
              <a:buNone/>
            </a:pPr>
            <a:r>
              <a:rPr lang="en-US" sz="950" dirty="0">
                <a:solidFill>
                  <a:srgbClr val="1B2430"/>
                </a:solidFill>
                <a:latin typeface="Calibri" pitchFamily="34" charset="0"/>
                <a:ea typeface="Calibri" pitchFamily="34" charset="-122"/>
                <a:cs typeface="Calibri" pitchFamily="34" charset="-120"/>
              </a:rPr>
              <a:t> · ESFM </a:t>
            </a:r>
            <a:pPr indent="0" marL="0">
              <a:buNone/>
            </a:pPr>
            <a:r>
              <a:rPr lang="en-US" sz="950" u="sng" dirty="0">
                <a:solidFill>
                  <a:srgbClr val="1C7293"/>
                </a:solidFill>
                <a:latin typeface="Calibri" pitchFamily="34" charset="0"/>
                <a:ea typeface="Calibri" pitchFamily="34" charset="-122"/>
                <a:cs typeface="Calibri" pitchFamily="34" charset="-120"/>
                <a:hlinkClick r:id="rId67" invalidUrl="" action="" tgtFrame="" tooltip="" history="1" highlightClick="0" endSnd="0">
                  <a:extLst>
                    <a:ext uri="{A12FA001-AC4F-418D-AE19-62706E023703}">
                      <ahyp:hlinkClr xmlns:ahyp="http://schemas.microsoft.com/office/drawing/2018/hyperlinkcolor" val="tx"/>
                    </a:ext>
                  </a:extLst>
                </a:hlinkClick>
              </a:rPr>
              <a:t>arxiv.org/abs/2605.00850</a:t>
            </a:r>
            <a:pPr indent="0" marL="0">
              <a:buNone/>
            </a:pPr>
            <a:r>
              <a:rPr lang="en-US" sz="950" dirty="0">
                <a:solidFill>
                  <a:srgbClr val="1B2430"/>
                </a:solidFill>
                <a:latin typeface="Calibri" pitchFamily="34" charset="0"/>
                <a:ea typeface="Calibri" pitchFamily="34" charset="-122"/>
                <a:cs typeface="Calibri" pitchFamily="34" charset="-120"/>
              </a:rPr>
              <a:t> · Penny &amp; Hamill 2017 BAMS · CSIR-ML6 </a:t>
            </a:r>
            <a:pPr indent="0" marL="0">
              <a:buNone/>
            </a:pPr>
            <a:r>
              <a:rPr lang="en-US" sz="950" u="sng" dirty="0">
                <a:solidFill>
                  <a:srgbClr val="1C7293"/>
                </a:solidFill>
                <a:latin typeface="Calibri" pitchFamily="34" charset="0"/>
                <a:ea typeface="Calibri" pitchFamily="34" charset="-122"/>
                <a:cs typeface="Calibri" pitchFamily="34" charset="-120"/>
                <a:hlinkClick r:id="rId68" invalidUrl="" action="" tgtFrame="" tooltip="" history="1" highlightClick="0" endSnd="0">
                  <a:extLst>
                    <a:ext uri="{A12FA001-AC4F-418D-AE19-62706E023703}">
                      <ahyp:hlinkClr xmlns:ahyp="http://schemas.microsoft.com/office/drawing/2018/hyperlinkcolor" val="tx"/>
                    </a:ext>
                  </a:extLst>
                </a:hlinkClick>
              </a:rPr>
              <a:t>doi 10.5194/gmd-12-5113-2019</a:t>
            </a:r>
            <a:pPr indent="0" marL="0">
              <a:buNone/>
            </a:pPr>
            <a:r>
              <a:rPr lang="en-US" sz="950" dirty="0">
                <a:solidFill>
                  <a:srgbClr val="1B2430"/>
                </a:solidFill>
                <a:latin typeface="Calibri" pitchFamily="34" charset="0"/>
                <a:ea typeface="Calibri" pitchFamily="34" charset="-122"/>
                <a:cs typeface="Calibri" pitchFamily="34" charset="-120"/>
              </a:rPr>
              <a:t> · CANYON-B </a:t>
            </a:r>
            <a:pPr indent="0" marL="0">
              <a:spcAft>
                <a:spcPts val="600"/>
              </a:spcAft>
              <a:buNone/>
            </a:pPr>
            <a:r>
              <a:rPr lang="en-US" sz="950" u="sng" dirty="0">
                <a:solidFill>
                  <a:srgbClr val="1C7293"/>
                </a:solidFill>
                <a:latin typeface="Calibri" pitchFamily="34" charset="0"/>
                <a:ea typeface="Calibri" pitchFamily="34" charset="-122"/>
                <a:cs typeface="Calibri" pitchFamily="34" charset="-120"/>
                <a:hlinkClick r:id="rId69" invalidUrl="" action="" tgtFrame="" tooltip="" history="1" highlightClick="0" endSnd="0">
                  <a:extLst>
                    <a:ext uri="{A12FA001-AC4F-418D-AE19-62706E023703}">
                      <ahyp:hlinkClr xmlns:ahyp="http://schemas.microsoft.com/office/drawing/2018/hyperlinkcolor" val="tx"/>
                    </a:ext>
                  </a:extLst>
                </a:hlinkClick>
              </a:rPr>
              <a:t>doi 10.3389/fmars.2017.00128</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Also checked  </a:t>
            </a:r>
            <a:pPr indent="0" marL="0">
              <a:buNone/>
            </a:pPr>
            <a:r>
              <a:rPr lang="en-US" sz="950" dirty="0">
                <a:solidFill>
                  <a:srgbClr val="1B2430"/>
                </a:solidFill>
                <a:latin typeface="Calibri" pitchFamily="34" charset="0"/>
                <a:ea typeface="Calibri" pitchFamily="34" charset="-122"/>
                <a:cs typeface="Calibri" pitchFamily="34" charset="-120"/>
              </a:rPr>
              <a:t>Prithvi WxC (</a:t>
            </a:r>
            <a:pPr indent="0" marL="0">
              <a:buNone/>
            </a:pPr>
            <a:r>
              <a:rPr lang="en-US" sz="950" u="sng" dirty="0">
                <a:solidFill>
                  <a:srgbClr val="1C7293"/>
                </a:solidFill>
                <a:latin typeface="Calibri" pitchFamily="34" charset="0"/>
                <a:ea typeface="Calibri" pitchFamily="34" charset="-122"/>
                <a:cs typeface="Calibri" pitchFamily="34" charset="-120"/>
                <a:hlinkClick r:id="rId70" invalidUrl="" action="" tgtFrame="" tooltip="" history="1" highlightClick="0" endSnd="0">
                  <a:extLst>
                    <a:ext uri="{A12FA001-AC4F-418D-AE19-62706E023703}">
                      <ahyp:hlinkClr xmlns:ahyp="http://schemas.microsoft.com/office/drawing/2018/hyperlinkcolor" val="tx"/>
                    </a:ext>
                  </a:extLst>
                </a:hlinkClick>
              </a:rPr>
              <a:t>arxiv.org/abs/2409.13598</a:t>
            </a:r>
            <a:pPr indent="0" marL="0">
              <a:spcAft>
                <a:spcPts val="600"/>
              </a:spcAft>
              <a:buNone/>
            </a:pPr>
            <a:r>
              <a:rPr lang="en-US" sz="950" dirty="0">
                <a:solidFill>
                  <a:srgbClr val="1B2430"/>
                </a:solidFill>
                <a:latin typeface="Calibri" pitchFamily="34" charset="0"/>
                <a:ea typeface="Calibri" pitchFamily="34" charset="-122"/>
                <a:cs typeface="Calibri" pitchFamily="34" charset="-120"/>
              </a:rPr>
              <a:t>) — atmosphere-only, no ocean downstream tasks found; NASA marine-debris work — not Prithvi-based. Earth 2 numbers quoted from paper/paper.tex (attribution matrix, probe ladder).</a:t>
            </a:r>
            <a:endParaRPr lang="en-US" sz="1050" dirty="0"/>
          </a:p>
        </p:txBody>
      </p:sp>
      <p:sp>
        <p:nvSpPr>
          <p:cNvPr id="5"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57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Geospatial representation models — stencil-level overview</dc:title>
  <dc:subject>PptxGenJS Presentation</dc:subject>
  <dc:creator>Earth 2 research</dc:creator>
  <cp:lastModifiedBy>Earth 2 research</cp:lastModifiedBy>
  <cp:revision>1</cp:revision>
  <dcterms:created xsi:type="dcterms:W3CDTF">2026-09-07T13:23:30Z</dcterms:created>
  <dcterms:modified xsi:type="dcterms:W3CDTF">2026-09-07T13:23:30Z</dcterms:modified>
</cp:coreProperties>
</file>