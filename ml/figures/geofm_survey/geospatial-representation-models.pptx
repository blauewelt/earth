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E-069 plan — two stencils, one cone — https://blauewelt.github.io/earth/docs.html?f=ml/plans/E069_cone_codec.md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Chris asked to see first: two stencils that together implement the whole dependency cone. It is also the first slide in the deck about something that has been built rather than proposed.
The picture on the left is the dependency space for a family-B channel — currents or sea level — with lag along the bottom on a logarithmic scale from one pentad, that is five days, to 144 pentads, two years, and distance from the anchor up the side, from one cell to 4,444 kilometres. The purple region is the codec's inner cone: raw channel values at lags one to six, within a reach that grows from 130 to 907 kilometres, sampled as sunflower dots. The orange region is stage 2's outer cone: embeddings at lags seven to 143, from 111 kilometres out to a reach that grows with lag until it hits the 4,444-kilometre cap. The yellow bar along the bottom is the anchor's own column, which both stages see, and it is the only place they overlap. One consequence is worth saying out loud: the outer stencil is empty for the first six lags, by construction, because the codec has already read that entire disc. Stage 2 keeps only the anchor's own embedding there.
The right-hand box lists what exists. Data: the pentad tensor gets the east and north components of the surface current — the same GLORYS numbers the speed channel is the hypotenuse of, so nothing new is downloaded; direction is what the cone needs and what the first hypothesis supervises. Cone: a small module holds the three channel families, the reach per lag, the dot budget — 748 tokens per anchor, 42 patches and 706 dots — and the stage-2 spiral, 3,432 cells over 144 lags against 20,880 for the old cylinder. Codec: a seven-million-parameter Perceiver whose decoder can be asked for any channel at any offset and lag and answers with a mean and an uncertainty; one fix from the implementation is that the headline loss reads the bottleneck vector alone, because a decoder that could also read the latents would let the bottleneck carry nothing while every curve looked healthy. Trainer: the held-out years are held out the strict way — every dot and every future target of a training anchor must lie in training bins, checked by brute force before training — and a velocity probe reads the current from the frozen embedding with the current channels hidden. On a synthetic flow whose velocity cannot be read from a single frame, the cone codec's probe finds it and the snapshot codec's does not: a check that the pipeline works, not an ocean result.
The paragraph at the bottom answers "how much velocity should go into the embedding" with a resolvability rule: a displacement can be read once it exceeds one grid cell, six centimetres per second per five-day lag. Eddies clear that at the first lag, the slow Rossby drift within six, the atmosphere forgets within one or two, and sea-surface temperature's months of memory are deliberately left to stage 2 — so thirty days at 0.3 metres per second is the shortest inner window in which every fast process has moved by a cell and the slow ones by three.
Three hypotheses are registered with their falsifiers before anything runs, and the order is deliberate: the velocity probe first, because it is cheap and decides whether the expensive five-seed stage-2 comparison is worth buying.
Sources for this slide:
• E-069 plan — two stencils, one cone — https://blauewelt.github.io/earth/docs.html?f=ml/plans/E069_cone_codec.md
• E-069 in the experiment log — https://blauewelt.github.io/earth/docs.html?f=ml/EXPERIMENTS.md#e-069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inventory: everything the codec being trained right now is actually allowed to see, and everything it is not.
Four columns of vocabulary first. A REANALYSIS is a computer model of the ocean or the atmosphere that is repeatedly nudged towards whatever measurements exist, so that it produces a complete, gap-free history — GLORYS12 for the ocean and NCEP Reanalysis 1 for the wind are both of that kind, which is why they are marked red for "derived": they contain a model's opinion as well as observations. NOAA's sea-surface-temperature analysis and the Roemmich–Gilson Argo product are marked green because they only interpolate measurements; no ocean model is involved. A PENTAD is a fixed five-day bin, which is the clock of this tensor: forty-three years of them, 1982 to 2024. And an ASSIMILATION WINDOW is the span of observations a reanalysis is allowed to look at around each day — GLORYS uses seven days, so a GLORYS value dated Monday already knows something about Thursday. Five of the forty-two channels have that problem and need their effective time shifted.
The graph reads top to bottom: instruments, then the four products we download, then the channels those products become, then what training computes for itself. Two things in the bottom row are worth stating carefully. An ANOMALY here means a channel with its own average for that calendar month subtracted, and the average is built from the TRAINING years only; a HOLDOUT year — 2009, 2017, 2023 — is a year deliberately withheld so that skill can be measured on data the model never saw. That is exactly why the app's published 1991–2020 normal must not be reused as the baseline: it averages over the held-out years, and using it would quietly leak the answer into the training set. And the RAPID and Florida Current transports are LABELS, not inputs: they sit in the same file, they are what the probes are scored against, and the encoder never reads them. An input is something the model sees; a label is something it is asked about.
The panel on the right is the honest list of what is missing, ranked. The ordering rule is information per byte and non-derivability: heat and freshwater forcing first because there is no forcing of that kind in the tensor at all, then depth, then the observed sea surface the reanalysis was fitted to. The biosphere is last as an input and first as a target — the data ladder rejected chlorophyll as an input for the overturning question because there is no mechanism at these timescales, which leaves it as the ideal held-out thing to predict.
Sources for this slide:
• GLORYS12V1 product page (Copernicus Marine) — https://data.marine.copernicus.eu/product/GLOBAL_MULTIYEAR_PHY_001_030/description
• NOAA OISST v2.1 (NOAA PSL) — https://psl.noaa.gov/data/gridded/data.noaa.oisst.v2.highres.html
• Roemmich–Gilson Argo climatology (Scripps) — https://sio-argo.ucsd.edu/RG_Climatology.html
• NCEP/NCAR Reanalysis 1 (NOAA PSL) — https://psl.noaa.gov/data/gridded/data.ncep.reanalysis.html
• RAPID-MOCHA-WBTS 26.5° N data — https://rapid.ac.uk/data/data-download
• Florida Current cable transport (NOAA AOML) — https://www.aoml.noaa.gov/phod/floridacurrent/
• ml/plans/DATA_LADDER.md (source) — https://github.com/blauewelt/earth/blob/main/ml/plans/DATA_LADDER.md
• ml/plans/E069_cone_codec.md (source) — https://github.com/blauewelt/earth/blob/main/ml/plans/E069_cone_codec.md
• E-069 plan — two stencils, one cone — https://blauewelt.github.io/earth/docs.html?f=ml/plans/E069_cone_codec.md
• CONE_DATA_AND_ENSO.md — the companion page — https://blauewelt.github.io/earth/docs.html?f=ml/figures/geofm_survey/CONE_DATA_AND_ENSO.md
• Generic-embedding input proposal (full note) — https://blauewelt.github.io/earth/docs.html?f=ml/figures/geofm_survey/GENERIC_EMBEDDING_INPUTS.md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Niño is the warm phase of a see-saw in the tropical Pacific called the El Niño–Southern Oscillation. Normally the trade winds blow from east to west, piling warm water up near Indonesia and letting cold water rise off South America. When the trades weaken, that pile sloshes back east, the eastern Pacific warms, and the world's rainfall patterns move with it. NIÑO-3.4 is the agreed thermometer: the average sea-surface temperature anomaly in the box from 5° south to 5° north, 170° west to 120° west. The ONI, or Oceanic Niño Index, is the official version of that number — a three-month running mean computed on a different, coarser temperature reconstruction — and an event is declared when it stays above +0.5 °C for five overlapping seasons.
The chart on the left is computed here, from the repository's own baked temperature archive against its 1991–2020 normal, and it shows the fastest possible development: mildly cool in January, crossing zero in March, and +2.09 °C by July. The three dashed lines are the December peaks of the three biggest recent events from the same bake. Our number for July is 0.7 °C above the Climate Prediction Center's, entirely because of the different dataset and the running mean — which is the argument for carrying the official index alongside our own rather than instead of it.
Why sea-surface temperature alone forecasts poorly beyond about three months: the memory of this system is not at the surface, it is in the THERMOCLINE, the sharp boundary a hundred-odd metres down between warm surface water and the cold deep. WARM WATER VOLUME — how much water above 20 °C is stacked up across the equatorial Pacific — leads the surface signal by roughly six months, and it is the single most valuable series absent from our catalog. On top of that slow memory sit fast triggers: a WESTERLY WIND BURST, a one-to-two-week reversal of the trade winds usually set off by the Madden–Julian Oscillation, can launch an eastward wave that tips a primed ocean into an event. And there is the SPRING PREDICTABILITY BARRIER: forecasts made in boreal spring are markedly worse, because the signal is weakest and the noise strongest exactly then. That is the barrier any honest skill curve has to be plotted across, and the reason the ranked additions on the right put the subsurface first and the daily winds second.
Sources for this slide:
• CPC ENSO diagnostic discussion, 13 Aug 2026 — https://www.cpc.ncep.noaa.gov/products/analysis_monitoring/enso_disc_aug2026/ensodisc.shtml
• IRI/CPC ENSO forecast plume — https://iri.columbia.edu/our-expertise/climate/forecasts/enso/current/
• PMEL Warm Water Volume / 20 °C isotherm — https://www.pmel.noaa.gov/tao/wwv/data/
• GODAS ocean analysis (NOAA PSL) — https://psl.noaa.gov/data/gridded/data.godas.html
• NOAA interpolated outgoing longwave radiation — https://psl.noaa.gov/data/gridded/data.interp_OLR.html
• Oceanic Niño Index (NOAA CPC) — https://origin.cpc.ncep.noaa.gov/products/analysis_monitoring/ensostuff/ONI_v5.php
• NOAA PSL climate indices — https://psl.noaa.gov/data/climateindices/list/
• Multivariate ENSO Index v2 (NOAA PSL) — https://psl.noaa.gov/enso/mei/
• RMM Madden–Julian Oscillation index (BoM) — https://www.bom.gov.au/climate/mjo/
• CCMP ocean vector winds (REMSS) — https://www.remss.com/measurements/ccmp/
• OSCAR L4 final v2.0 (PO.DAAC) — https://podaac.jpl.nasa.gov/dataset/OSCAR_L4_OC_FINAL_V2.0
• data/catalog.json — the 274-record catalog (source) — https://github.com/blauewelt/earth/blob/main/data/catalog.json
• docs/CATALOG.md — the catalog in prose — https://blauewelt.github.io/earth/docs.html?f=docs/CATALOG.md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E-069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the E-069 design, built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the inner cone of raw channels; stage 2 reads the outer cone of embeddings. Union = the dependency space; overlap = the anchor column.</a:t>
            </a:r>
            <a:endParaRPr lang="en-US" sz="1250" dirty="0"/>
          </a:p>
        </p:txBody>
      </p:sp>
      <p:sp>
        <p:nvSpPr>
          <p:cNvPr id="4" name="Shape 2"/>
          <p:cNvSpPr/>
          <p:nvPr/>
        </p:nvSpPr>
        <p:spPr>
          <a:xfrm>
            <a:off x="548640" y="1463040"/>
            <a:ext cx="5120640" cy="3566160"/>
          </a:xfrm>
          <a:prstGeom prst="rect">
            <a:avLst/>
          </a:prstGeom>
          <a:solidFill>
            <a:srgbClr val="FBFCFD"/>
          </a:solidFill>
          <a:ln w="6350">
            <a:solidFill>
              <a:srgbClr val="B8C4D3"/>
            </a:solidFill>
            <a:prstDash val="solid"/>
          </a:ln>
        </p:spPr>
      </p:sp>
      <p:sp>
        <p:nvSpPr>
          <p:cNvPr id="5" name="Shape 3"/>
          <p:cNvSpPr/>
          <p:nvPr/>
        </p:nvSpPr>
        <p:spPr>
          <a:xfrm>
            <a:off x="1188720" y="2240280"/>
            <a:ext cx="4251960" cy="2286000"/>
          </a:xfrm>
          <a:custGeom>
            <a:avLst/>
            <a:gdLst/>
            <a:ahLst/>
            <a:cxnLst/>
            <a:rect l="l" t="t" r="r" b="b"/>
            <a:pathLst>
              <a:path w="4251960" h="2286000">
                <a:moveTo>
                  <a:pt x="0" y="2286000"/>
                </a:moveTo>
                <a:lnTo>
                  <a:pt x="0" y="1282024"/>
                </a:lnTo>
                <a:lnTo>
                  <a:pt x="584523" y="1282024"/>
                </a:lnTo>
                <a:lnTo>
                  <a:pt x="593027" y="1099100"/>
                </a:lnTo>
                <a:lnTo>
                  <a:pt x="931422" y="1099100"/>
                </a:lnTo>
                <a:lnTo>
                  <a:pt x="939926" y="969314"/>
                </a:lnTo>
                <a:lnTo>
                  <a:pt x="1177550" y="969314"/>
                </a:lnTo>
                <a:lnTo>
                  <a:pt x="1186054" y="868644"/>
                </a:lnTo>
                <a:lnTo>
                  <a:pt x="1368462" y="868644"/>
                </a:lnTo>
                <a:lnTo>
                  <a:pt x="1376966" y="786390"/>
                </a:lnTo>
                <a:lnTo>
                  <a:pt x="1524449" y="786390"/>
                </a:lnTo>
                <a:lnTo>
                  <a:pt x="1532953" y="716846"/>
                </a:lnTo>
                <a:lnTo>
                  <a:pt x="1656334" y="716846"/>
                </a:lnTo>
                <a:lnTo>
                  <a:pt x="1656334" y="2286000"/>
                </a:lnTo>
                <a:close/>
              </a:path>
            </a:pathLst>
          </a:custGeom>
          <a:solidFill>
            <a:srgbClr val="6A4C93">
              <a:alpha val="45000"/>
            </a:srgbClr>
          </a:solidFill>
          <a:ln w="9525">
            <a:solidFill>
              <a:srgbClr val="6A4C93"/>
            </a:solidFill>
            <a:prstDash val="solid"/>
          </a:ln>
        </p:spPr>
      </p:sp>
      <p:sp>
        <p:nvSpPr>
          <p:cNvPr id="6" name="Shape 4"/>
          <p:cNvSpPr/>
          <p:nvPr/>
        </p:nvSpPr>
        <p:spPr>
          <a:xfrm>
            <a:off x="1188720" y="2240280"/>
            <a:ext cx="4251960" cy="2286000"/>
          </a:xfrm>
          <a:custGeom>
            <a:avLst/>
            <a:gdLst/>
            <a:ahLst/>
            <a:cxnLst/>
            <a:rect l="l" t="t" r="r" b="b"/>
            <a:pathLst>
              <a:path w="4251960" h="2286000">
                <a:moveTo>
                  <a:pt x="1664838" y="656604"/>
                </a:moveTo>
                <a:lnTo>
                  <a:pt x="2051537" y="473680"/>
                </a:lnTo>
                <a:lnTo>
                  <a:pt x="2316892" y="343894"/>
                </a:lnTo>
                <a:lnTo>
                  <a:pt x="2519136" y="243224"/>
                </a:lnTo>
                <a:lnTo>
                  <a:pt x="2682595" y="160970"/>
                </a:lnTo>
                <a:lnTo>
                  <a:pt x="2819777" y="91426"/>
                </a:lnTo>
                <a:lnTo>
                  <a:pt x="2937973" y="31184"/>
                </a:lnTo>
                <a:lnTo>
                  <a:pt x="3041804" y="0"/>
                </a:lnTo>
                <a:lnTo>
                  <a:pt x="3134387" y="0"/>
                </a:lnTo>
                <a:lnTo>
                  <a:pt x="3217922" y="0"/>
                </a:lnTo>
                <a:lnTo>
                  <a:pt x="3294022" y="0"/>
                </a:lnTo>
                <a:lnTo>
                  <a:pt x="3363902" y="0"/>
                </a:lnTo>
                <a:lnTo>
                  <a:pt x="3428503" y="0"/>
                </a:lnTo>
                <a:lnTo>
                  <a:pt x="3488567" y="0"/>
                </a:lnTo>
                <a:lnTo>
                  <a:pt x="3544689" y="0"/>
                </a:lnTo>
                <a:lnTo>
                  <a:pt x="3597355" y="0"/>
                </a:lnTo>
                <a:lnTo>
                  <a:pt x="3646967" y="0"/>
                </a:lnTo>
                <a:lnTo>
                  <a:pt x="3693858" y="0"/>
                </a:lnTo>
                <a:lnTo>
                  <a:pt x="3738313" y="0"/>
                </a:lnTo>
                <a:lnTo>
                  <a:pt x="3780571" y="0"/>
                </a:lnTo>
                <a:lnTo>
                  <a:pt x="3820840" y="0"/>
                </a:lnTo>
                <a:lnTo>
                  <a:pt x="3859299" y="0"/>
                </a:lnTo>
                <a:lnTo>
                  <a:pt x="3896103" y="0"/>
                </a:lnTo>
                <a:lnTo>
                  <a:pt x="3931388" y="0"/>
                </a:lnTo>
                <a:lnTo>
                  <a:pt x="3965276" y="0"/>
                </a:lnTo>
                <a:lnTo>
                  <a:pt x="3997873" y="0"/>
                </a:lnTo>
                <a:lnTo>
                  <a:pt x="4029273" y="0"/>
                </a:lnTo>
                <a:lnTo>
                  <a:pt x="4059561" y="0"/>
                </a:lnTo>
                <a:lnTo>
                  <a:pt x="4088814" y="0"/>
                </a:lnTo>
                <a:lnTo>
                  <a:pt x="4117099" y="0"/>
                </a:lnTo>
                <a:lnTo>
                  <a:pt x="4144480" y="0"/>
                </a:lnTo>
                <a:lnTo>
                  <a:pt x="4171011" y="0"/>
                </a:lnTo>
                <a:lnTo>
                  <a:pt x="4196744" y="0"/>
                </a:lnTo>
                <a:lnTo>
                  <a:pt x="4221725" y="0"/>
                </a:lnTo>
                <a:lnTo>
                  <a:pt x="4245998" y="0"/>
                </a:lnTo>
                <a:lnTo>
                  <a:pt x="4245998" y="0"/>
                </a:lnTo>
                <a:lnTo>
                  <a:pt x="4245998" y="1664626"/>
                </a:lnTo>
                <a:lnTo>
                  <a:pt x="1664838" y="1664626"/>
                </a:lnTo>
                <a:close/>
              </a:path>
            </a:pathLst>
          </a:custGeom>
          <a:solidFill>
            <a:srgbClr val="E07A2F">
              <a:alpha val="45000"/>
            </a:srgbClr>
          </a:solidFill>
          <a:ln w="9525">
            <a:solidFill>
              <a:srgbClr val="E07A2F"/>
            </a:solidFill>
            <a:prstDash val="solid"/>
          </a:ln>
        </p:spPr>
      </p:sp>
      <p:sp>
        <p:nvSpPr>
          <p:cNvPr id="7" name="Shape 5"/>
          <p:cNvSpPr/>
          <p:nvPr/>
        </p:nvSpPr>
        <p:spPr>
          <a:xfrm>
            <a:off x="1188720" y="4480560"/>
            <a:ext cx="4251960" cy="45720"/>
          </a:xfrm>
          <a:prstGeom prst="rect">
            <a:avLst/>
          </a:prstGeom>
          <a:solidFill>
            <a:srgbClr val="F2C14E"/>
          </a:solidFill>
          <a:ln w="12700">
            <a:solidFill>
              <a:srgbClr val="333333"/>
            </a:solidFill>
            <a:prstDash val="solid"/>
          </a:ln>
        </p:spPr>
      </p:sp>
      <p:sp>
        <p:nvSpPr>
          <p:cNvPr id="8" name="Shape 6"/>
          <p:cNvSpPr/>
          <p:nvPr/>
        </p:nvSpPr>
        <p:spPr>
          <a:xfrm>
            <a:off x="1188720" y="4526280"/>
            <a:ext cx="4251960" cy="0"/>
          </a:xfrm>
          <a:prstGeom prst="line">
            <a:avLst/>
          </a:prstGeom>
          <a:noFill/>
          <a:ln w="12700">
            <a:solidFill>
              <a:srgbClr val="1B2430"/>
            </a:solidFill>
            <a:prstDash val="solid"/>
            <a:tailEnd type="triangle"/>
          </a:ln>
        </p:spPr>
      </p:sp>
      <p:sp>
        <p:nvSpPr>
          <p:cNvPr id="9" name="Shape 7"/>
          <p:cNvSpPr/>
          <p:nvPr/>
        </p:nvSpPr>
        <p:spPr>
          <a:xfrm flipV="1">
            <a:off x="1188720" y="2240280"/>
            <a:ext cx="0" cy="2286000"/>
          </a:xfrm>
          <a:prstGeom prst="line">
            <a:avLst/>
          </a:prstGeom>
          <a:noFill/>
          <a:ln w="12700">
            <a:solidFill>
              <a:srgbClr val="1B2430"/>
            </a:solidFill>
            <a:prstDash val="solid"/>
            <a:tailEnd type="triangle"/>
          </a:ln>
        </p:spPr>
      </p:sp>
      <p:sp>
        <p:nvSpPr>
          <p:cNvPr id="10" name="Text 8"/>
          <p:cNvSpPr txBox="1"/>
          <p:nvPr/>
        </p:nvSpPr>
        <p:spPr>
          <a:xfrm>
            <a:off x="100584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a:t>
            </a:r>
            <a:endParaRPr lang="en-US" sz="750" dirty="0"/>
          </a:p>
        </p:txBody>
      </p:sp>
      <p:sp>
        <p:nvSpPr>
          <p:cNvPr id="11" name="Text 9"/>
          <p:cNvSpPr txBox="1"/>
          <p:nvPr/>
        </p:nvSpPr>
        <p:spPr>
          <a:xfrm>
            <a:off x="2538793"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6</a:t>
            </a:r>
            <a:endParaRPr lang="en-US" sz="750" dirty="0"/>
          </a:p>
        </p:txBody>
      </p:sp>
      <p:sp>
        <p:nvSpPr>
          <p:cNvPr id="12" name="Text 10"/>
          <p:cNvSpPr txBox="1"/>
          <p:nvPr/>
        </p:nvSpPr>
        <p:spPr>
          <a:xfrm>
            <a:off x="2670678"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7</a:t>
            </a:r>
            <a:endParaRPr lang="en-US" sz="750" dirty="0"/>
          </a:p>
        </p:txBody>
      </p:sp>
      <p:sp>
        <p:nvSpPr>
          <p:cNvPr id="13" name="Text 11"/>
          <p:cNvSpPr txBox="1"/>
          <p:nvPr/>
        </p:nvSpPr>
        <p:spPr>
          <a:xfrm>
            <a:off x="4071746"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36</a:t>
            </a:r>
            <a:endParaRPr lang="en-US" sz="750" dirty="0"/>
          </a:p>
        </p:txBody>
      </p:sp>
      <p:sp>
        <p:nvSpPr>
          <p:cNvPr id="14" name="Text 12"/>
          <p:cNvSpPr txBox="1"/>
          <p:nvPr/>
        </p:nvSpPr>
        <p:spPr>
          <a:xfrm>
            <a:off x="525780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144</a:t>
            </a:r>
            <a:endParaRPr lang="en-US" sz="750" dirty="0"/>
          </a:p>
        </p:txBody>
      </p:sp>
      <p:sp>
        <p:nvSpPr>
          <p:cNvPr id="15" name="Text 13"/>
          <p:cNvSpPr txBox="1"/>
          <p:nvPr/>
        </p:nvSpPr>
        <p:spPr>
          <a:xfrm>
            <a:off x="1188720" y="4745736"/>
            <a:ext cx="4251960" cy="201168"/>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k (pentads, log) — 1 pentad = 5 days; 144 = 2 years</a:t>
            </a:r>
            <a:endParaRPr lang="en-US" sz="750" dirty="0"/>
          </a:p>
        </p:txBody>
      </p:sp>
      <p:sp>
        <p:nvSpPr>
          <p:cNvPr id="16" name="Text 14"/>
          <p:cNvSpPr txBox="1"/>
          <p:nvPr/>
        </p:nvSpPr>
        <p:spPr>
          <a:xfrm>
            <a:off x="566928" y="3860548"/>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100 km</a:t>
            </a:r>
            <a:endParaRPr lang="en-US" sz="750" dirty="0"/>
          </a:p>
        </p:txBody>
      </p:sp>
      <p:sp>
        <p:nvSpPr>
          <p:cNvPr id="17" name="Text 15"/>
          <p:cNvSpPr txBox="1"/>
          <p:nvPr/>
        </p:nvSpPr>
        <p:spPr>
          <a:xfrm>
            <a:off x="566928" y="2865785"/>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907 km</a:t>
            </a:r>
            <a:endParaRPr lang="en-US" sz="750" dirty="0"/>
          </a:p>
        </p:txBody>
      </p:sp>
      <p:sp>
        <p:nvSpPr>
          <p:cNvPr id="18" name="Text 16"/>
          <p:cNvSpPr txBox="1"/>
          <p:nvPr/>
        </p:nvSpPr>
        <p:spPr>
          <a:xfrm>
            <a:off x="566928" y="2148840"/>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4444 km</a:t>
            </a:r>
            <a:endParaRPr lang="en-US" sz="750" dirty="0"/>
          </a:p>
        </p:txBody>
      </p:sp>
      <p:sp>
        <p:nvSpPr>
          <p:cNvPr id="19" name="Text 17"/>
          <p:cNvSpPr txBox="1"/>
          <p:nvPr/>
        </p:nvSpPr>
        <p:spPr>
          <a:xfrm>
            <a:off x="640080" y="1508760"/>
            <a:ext cx="4937760" cy="640080"/>
          </a:xfrm>
          <a:prstGeom prst="rect">
            <a:avLst/>
          </a:prstGeom>
          <a:noFill/>
          <a:ln/>
        </p:spPr>
        <p:txBody>
          <a:bodyPr wrap="square" lIns="0" tIns="0" rIns="0" bIns="0" rtlCol="0" anchor="ctr"/>
          <a:lstStyle/>
          <a:p>
            <a:pPr indent="0" marL="0">
              <a:buNone/>
            </a:pPr>
            <a:r>
              <a:rPr lang="en-US" sz="750" b="1" dirty="0">
                <a:solidFill>
                  <a:srgbClr val="6A4C93"/>
                </a:solidFill>
                <a:latin typeface="Calibri" pitchFamily="34" charset="0"/>
                <a:ea typeface="Calibri" pitchFamily="34" charset="-122"/>
                <a:cs typeface="Calibri" pitchFamily="34" charset="-120"/>
              </a:rPr>
              <a:t>codec — inner cone: raw channels, lags 1–6, reach 130 → 907 km</a:t>
            </a:r>
            <a:endParaRPr lang="en-US" sz="750" dirty="0"/>
          </a:p>
          <a:p>
            <a:pPr indent="0" marL="0">
              <a:buNone/>
            </a:pPr>
            <a:r>
              <a:rPr lang="en-US" sz="750" b="1" dirty="0">
                <a:solidFill>
                  <a:srgbClr val="E07A2F"/>
                </a:solidFill>
                <a:latin typeface="Calibri" pitchFamily="34" charset="0"/>
                <a:ea typeface="Calibri" pitchFamily="34" charset="-122"/>
                <a:cs typeface="Calibri" pitchFamily="34" charset="-120"/>
              </a:rPr>
              <a:t>stage 2 — outer cone: embeddings, lags 7–143, 111 km → 4,444 km (empty for k ≤ 6 by construction)</a:t>
            </a:r>
            <a:endParaRPr lang="en-US" sz="750" dirty="0"/>
          </a:p>
          <a:p>
            <a:pPr indent="0" marL="0">
              <a:buNone/>
            </a:pPr>
            <a:r>
              <a:rPr lang="en-US" sz="750" b="1" dirty="0">
                <a:solidFill>
                  <a:srgbClr val="9A7B1E"/>
                </a:solidFill>
                <a:latin typeface="Calibri" pitchFamily="34" charset="0"/>
                <a:ea typeface="Calibri" pitchFamily="34" charset="-122"/>
                <a:cs typeface="Calibri" pitchFamily="34" charset="-120"/>
              </a:rPr>
              <a:t>anchor column: the only overlap — lag 0 is the codec's 3 × 3 patch</a:t>
            </a:r>
            <a:endParaRPr lang="en-US" sz="750" dirty="0"/>
          </a:p>
        </p:txBody>
      </p:sp>
      <p:sp>
        <p:nvSpPr>
          <p:cNvPr id="20" name="Shape 18"/>
          <p:cNvSpPr/>
          <p:nvPr/>
        </p:nvSpPr>
        <p:spPr>
          <a:xfrm>
            <a:off x="5897880" y="1463040"/>
            <a:ext cx="5715000" cy="3566160"/>
          </a:xfrm>
          <a:prstGeom prst="roundRect">
            <a:avLst>
              <a:gd name="adj" fmla="val 2051"/>
            </a:avLst>
          </a:prstGeom>
          <a:solidFill>
            <a:srgbClr val="F4F6F9"/>
          </a:solidFill>
          <a:ln w="15875">
            <a:solidFill>
              <a:srgbClr val="0B1F3A"/>
            </a:solidFill>
            <a:prstDash val="solid"/>
          </a:ln>
        </p:spPr>
      </p:sp>
      <p:sp>
        <p:nvSpPr>
          <p:cNvPr id="21" name="Text 19"/>
          <p:cNvSpPr txBox="1"/>
          <p:nvPr/>
        </p:nvSpPr>
        <p:spPr>
          <a:xfrm>
            <a:off x="6035040" y="1536192"/>
            <a:ext cx="5440680" cy="342900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What exists (2 Sep, 42 tests green, nothing archived touched)</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Data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family4 r3 = r2 + cur_u, cur_v (the GLORYS components cur_speed is the hypotenuse of; no new download). Direction is what the cone needs and what H1 supervises.</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Cone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ml/cone.py — families A (τ ≈ 10 d: wind stress, lags 0–1, 500 km), B (0.3 m/s: currents, SSH, Argo depth column), C (SST, MLD: the L-shape); sunflower dots per lag; slots(r) = clamp(24·(r/900 km)², 6, 24). Budget per anchor: 42 patch + 706 dot tokens = 748. Outer spiral: 3,432 cells over 144 lags vs 20,880 for the cylinder.</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Codec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ConeMAE, 7.05M params: Perceiver (64 latents × 256 × 6 blocks) over patch + dot tokens with Fourier coordinates and mask / miss tokens; queryable Gaussian decoder that reads z alone (a [z + latents] memory would let the bottleneck carry nothing — closed, not ranked improbable); masks: channel drop (cur_* at 50 %), lag-band drop, sector drop, future queries, anchor reconstruction.</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Trainer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window-scope pool with the E-059 self-certificate (0 violations in 4,096 anchors), train.py's metrics family (status page unchanged), a velocity probe with cur_* dropped at encode. CPU smoke on a planted shear flow unreadable from one frame: cur_u R² +0.073 (cone) vs −0.015 (snapshot) — a pipeline check, not a result.</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Not dispatched. Next: workflow wiring for r3 and the cone flags → codec run + H1 (cheap) → five-seed stage-2 arms for H2/H3 under the #516 battery with the LIM null in both embedding spaces.</a:t>
            </a:r>
            <a:endParaRPr lang="en-US" sz="950" dirty="0"/>
          </a:p>
        </p:txBody>
      </p:sp>
      <p:sp>
        <p:nvSpPr>
          <p:cNvPr id="22" name="Text 20"/>
          <p:cNvSpPr txBox="1"/>
          <p:nvPr/>
        </p:nvSpPr>
        <p:spPr>
          <a:xfrm>
            <a:off x="548640" y="51663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How much velocity goes into the embedding — the choice, and why. A displacement is resolvable once it exceeds one cell (28 km; 21 km zonally at 40° N): at pentad cadence that is 0.06 m/s per lag, so eddy advection (0.1–0.3 m/s) is resolved at lag 1 and Rossby propagation (0.03 m/s) within 6 lags; the atmosphere decorrelates in 1–2 pentads; SST memory (3–6 months) is longer than the window and is deliberately left to stage 2. Thirty days at 0.3 m/s is the shortest inner window in which every fast process has moved by a cell and the slow ones by three, without paying for a 4,000 km inner reach. The hypotheses (E-069): H1 a ridge from frozen cone-z to cur_u, cur_v with the current channels hidden beats the snapshot codec; H2 the head over cone-z beats the E-064b control at 5–30 d by more than the five-seed interval and ties at ≥ 90 d; H3 the annulus stencil matches the full cylinder. Falsifiers and predictions are written in the plan before anything runs.</a:t>
            </a:r>
            <a:endParaRPr lang="en-US" sz="850" dirty="0"/>
          </a:p>
        </p:txBody>
      </p:sp>
      <p:sp>
        <p:nvSpPr>
          <p:cNvPr id="23" name="Text 2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What feeds the cone codec today — four products, 42 channels, one axis</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family 4 recipe r3 — the tensor the codec eats: North Atlantic 100° W–20° E, 0–70° N · 0.25° · 5-day bins · 1982-01-01 → 2024-12-31 · 84,405 ocean cells · built once and sha-pinned (run #535)</a:t>
            </a:r>
            <a:endParaRPr lang="en-US" sz="1250" dirty="0"/>
          </a:p>
        </p:txBody>
      </p:sp>
      <p:sp>
        <p:nvSpPr>
          <p:cNvPr id="4" name="Text 2"/>
          <p:cNvSpPr txBox="1"/>
          <p:nvPr/>
        </p:nvSpPr>
        <p:spPr>
          <a:xfrm>
            <a:off x="548640" y="137160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0 · OBSERVATIONS</a:t>
            </a:r>
            <a:pPr indent="0" marL="0">
              <a:buNone/>
            </a:pPr>
            <a:r>
              <a:rPr lang="en-US" sz="750" i="1" dirty="0">
                <a:solidFill>
                  <a:srgbClr val="6B7A8F"/>
                </a:solidFill>
                <a:latin typeface="Calibri" pitchFamily="34" charset="0"/>
                <a:ea typeface="Calibri" pitchFamily="34" charset="-122"/>
                <a:cs typeface="Calibri" pitchFamily="34" charset="-120"/>
              </a:rPr>
              <a:t>   what an instrument actually measured</a:t>
            </a:r>
            <a:endParaRPr lang="en-US" sz="950" dirty="0"/>
          </a:p>
        </p:txBody>
      </p:sp>
      <p:sp>
        <p:nvSpPr>
          <p:cNvPr id="5" name="Shape 3"/>
          <p:cNvSpPr/>
          <p:nvPr/>
        </p:nvSpPr>
        <p:spPr>
          <a:xfrm>
            <a:off x="548640" y="1572768"/>
            <a:ext cx="1234440" cy="512064"/>
          </a:xfrm>
          <a:prstGeom prst="roundRect">
            <a:avLst>
              <a:gd name="adj" fmla="val 14286"/>
            </a:avLst>
          </a:prstGeom>
          <a:solidFill>
            <a:srgbClr val="F7F9FB"/>
          </a:solidFill>
          <a:ln w="15875">
            <a:solidFill>
              <a:srgbClr val="B8C4D3"/>
            </a:solidFill>
            <a:prstDash val="solid"/>
          </a:ln>
        </p:spPr>
      </p:sp>
      <p:sp>
        <p:nvSpPr>
          <p:cNvPr id="6" name="Text 4"/>
          <p:cNvSpPr txBox="1"/>
          <p:nvPr/>
        </p:nvSpPr>
        <p:spPr>
          <a:xfrm>
            <a:off x="612648"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altimetry · satellite SST (AVHRR) · Argo floats · ships, buoys, drifters</a:t>
            </a:r>
            <a:endParaRPr lang="en-US" sz="950" dirty="0"/>
          </a:p>
        </p:txBody>
      </p:sp>
      <p:sp>
        <p:nvSpPr>
          <p:cNvPr id="7" name="Shape 5"/>
          <p:cNvSpPr/>
          <p:nvPr/>
        </p:nvSpPr>
        <p:spPr>
          <a:xfrm>
            <a:off x="1892808" y="1572768"/>
            <a:ext cx="1234440" cy="512064"/>
          </a:xfrm>
          <a:prstGeom prst="roundRect">
            <a:avLst>
              <a:gd name="adj" fmla="val 14286"/>
            </a:avLst>
          </a:prstGeom>
          <a:solidFill>
            <a:srgbClr val="F7F9FB"/>
          </a:solidFill>
          <a:ln w="15875">
            <a:solidFill>
              <a:srgbClr val="B8C4D3"/>
            </a:solidFill>
            <a:prstDash val="solid"/>
          </a:ln>
        </p:spPr>
      </p:sp>
      <p:sp>
        <p:nvSpPr>
          <p:cNvPr id="8" name="Text 6"/>
          <p:cNvSpPr txBox="1"/>
          <p:nvPr/>
        </p:nvSpPr>
        <p:spPr>
          <a:xfrm>
            <a:off x="1956816"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SST (AVHRR) · ships, buoys, drifters</a:t>
            </a:r>
            <a:endParaRPr lang="en-US" sz="950" dirty="0"/>
          </a:p>
        </p:txBody>
      </p:sp>
      <p:sp>
        <p:nvSpPr>
          <p:cNvPr id="9" name="Shape 7"/>
          <p:cNvSpPr/>
          <p:nvPr/>
        </p:nvSpPr>
        <p:spPr>
          <a:xfrm>
            <a:off x="3236976" y="1572768"/>
            <a:ext cx="1234440" cy="512064"/>
          </a:xfrm>
          <a:prstGeom prst="roundRect">
            <a:avLst>
              <a:gd name="adj" fmla="val 14286"/>
            </a:avLst>
          </a:prstGeom>
          <a:solidFill>
            <a:srgbClr val="F7F9FB"/>
          </a:solidFill>
          <a:ln w="15875">
            <a:solidFill>
              <a:srgbClr val="B8C4D3"/>
            </a:solidFill>
            <a:prstDash val="solid"/>
          </a:ln>
        </p:spPr>
      </p:sp>
      <p:sp>
        <p:nvSpPr>
          <p:cNvPr id="10" name="Text 8"/>
          <p:cNvSpPr txBox="1"/>
          <p:nvPr/>
        </p:nvSpPr>
        <p:spPr>
          <a:xfrm>
            <a:off x="3300984"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Argo floats only</a:t>
            </a:r>
            <a:endParaRPr lang="en-US" sz="950" dirty="0"/>
          </a:p>
        </p:txBody>
      </p:sp>
      <p:sp>
        <p:nvSpPr>
          <p:cNvPr id="11" name="Shape 9"/>
          <p:cNvSpPr/>
          <p:nvPr/>
        </p:nvSpPr>
        <p:spPr>
          <a:xfrm>
            <a:off x="4581144" y="1572768"/>
            <a:ext cx="1234440" cy="512064"/>
          </a:xfrm>
          <a:prstGeom prst="roundRect">
            <a:avLst>
              <a:gd name="adj" fmla="val 14286"/>
            </a:avLst>
          </a:prstGeom>
          <a:solidFill>
            <a:srgbClr val="F7F9FB"/>
          </a:solidFill>
          <a:ln w="15875">
            <a:solidFill>
              <a:srgbClr val="B8C4D3"/>
            </a:solidFill>
            <a:prstDash val="solid"/>
          </a:ln>
        </p:spPr>
      </p:sp>
      <p:sp>
        <p:nvSpPr>
          <p:cNvPr id="12" name="Text 10"/>
          <p:cNvSpPr txBox="1"/>
          <p:nvPr/>
        </p:nvSpPr>
        <p:spPr>
          <a:xfrm>
            <a:off x="4645152"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radiosondes, aircraft, ships, satellite radiances</a:t>
            </a:r>
            <a:endParaRPr lang="en-US" sz="950" dirty="0"/>
          </a:p>
        </p:txBody>
      </p:sp>
      <p:sp>
        <p:nvSpPr>
          <p:cNvPr id="13" name="Shape 11"/>
          <p:cNvSpPr/>
          <p:nvPr/>
        </p:nvSpPr>
        <p:spPr>
          <a:xfrm>
            <a:off x="5925312" y="1572768"/>
            <a:ext cx="1234440" cy="512064"/>
          </a:xfrm>
          <a:prstGeom prst="roundRect">
            <a:avLst>
              <a:gd name="adj" fmla="val 14286"/>
            </a:avLst>
          </a:prstGeom>
          <a:solidFill>
            <a:srgbClr val="F7F9FB"/>
          </a:solidFill>
          <a:ln w="15875">
            <a:solidFill>
              <a:srgbClr val="B8C4D3"/>
            </a:solidFill>
            <a:prstDash val="solid"/>
          </a:ln>
        </p:spPr>
      </p:sp>
      <p:sp>
        <p:nvSpPr>
          <p:cNvPr id="14" name="Text 12"/>
          <p:cNvSpPr txBox="1"/>
          <p:nvPr/>
        </p:nvSpPr>
        <p:spPr>
          <a:xfrm>
            <a:off x="5989320"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moorings at 26.5° N · the Florida Straits cable</a:t>
            </a:r>
            <a:endParaRPr lang="en-US" sz="950" dirty="0"/>
          </a:p>
        </p:txBody>
      </p:sp>
      <p:sp>
        <p:nvSpPr>
          <p:cNvPr id="15" name="Text 13"/>
          <p:cNvSpPr txBox="1"/>
          <p:nvPr/>
        </p:nvSpPr>
        <p:spPr>
          <a:xfrm>
            <a:off x="548640" y="210312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1 · PRODUCTS WE DOWNLOAD</a:t>
            </a:r>
            <a:pPr indent="0" marL="0">
              <a:buNone/>
            </a:pPr>
            <a:r>
              <a:rPr lang="en-US" sz="750" i="1" dirty="0">
                <a:solidFill>
                  <a:srgbClr val="6B7A8F"/>
                </a:solidFill>
                <a:latin typeface="Calibri" pitchFamily="34" charset="0"/>
                <a:ea typeface="Calibri" pitchFamily="34" charset="-122"/>
                <a:cs typeface="Calibri" pitchFamily="34" charset="-120"/>
              </a:rPr>
              <a:t>   four inputs + two labels; green = observation-led, red = model-derived</a:t>
            </a:r>
            <a:endParaRPr lang="en-US" sz="950" dirty="0"/>
          </a:p>
        </p:txBody>
      </p:sp>
      <p:sp>
        <p:nvSpPr>
          <p:cNvPr id="16" name="Shape 14"/>
          <p:cNvSpPr/>
          <p:nvPr/>
        </p:nvSpPr>
        <p:spPr>
          <a:xfrm>
            <a:off x="1165860" y="2203704"/>
            <a:ext cx="0" cy="109728"/>
          </a:xfrm>
          <a:prstGeom prst="line">
            <a:avLst/>
          </a:prstGeom>
          <a:noFill/>
          <a:ln w="12700">
            <a:solidFill>
              <a:srgbClr val="B8C4D3"/>
            </a:solidFill>
            <a:prstDash val="solid"/>
            <a:tailEnd type="triangle"/>
          </a:ln>
        </p:spPr>
      </p:sp>
      <p:sp>
        <p:nvSpPr>
          <p:cNvPr id="17" name="Shape 15"/>
          <p:cNvSpPr/>
          <p:nvPr/>
        </p:nvSpPr>
        <p:spPr>
          <a:xfrm>
            <a:off x="2510028" y="2203704"/>
            <a:ext cx="0" cy="109728"/>
          </a:xfrm>
          <a:prstGeom prst="line">
            <a:avLst/>
          </a:prstGeom>
          <a:noFill/>
          <a:ln w="12700">
            <a:solidFill>
              <a:srgbClr val="B8C4D3"/>
            </a:solidFill>
            <a:prstDash val="solid"/>
            <a:tailEnd type="triangle"/>
          </a:ln>
        </p:spPr>
      </p:sp>
      <p:sp>
        <p:nvSpPr>
          <p:cNvPr id="18" name="Shape 16"/>
          <p:cNvSpPr/>
          <p:nvPr/>
        </p:nvSpPr>
        <p:spPr>
          <a:xfrm>
            <a:off x="3854196" y="2203704"/>
            <a:ext cx="0" cy="109728"/>
          </a:xfrm>
          <a:prstGeom prst="line">
            <a:avLst/>
          </a:prstGeom>
          <a:noFill/>
          <a:ln w="12700">
            <a:solidFill>
              <a:srgbClr val="B8C4D3"/>
            </a:solidFill>
            <a:prstDash val="solid"/>
            <a:tailEnd type="triangle"/>
          </a:ln>
        </p:spPr>
      </p:sp>
      <p:sp>
        <p:nvSpPr>
          <p:cNvPr id="19" name="Shape 17"/>
          <p:cNvSpPr/>
          <p:nvPr/>
        </p:nvSpPr>
        <p:spPr>
          <a:xfrm>
            <a:off x="5198364" y="2203704"/>
            <a:ext cx="0" cy="109728"/>
          </a:xfrm>
          <a:prstGeom prst="line">
            <a:avLst/>
          </a:prstGeom>
          <a:noFill/>
          <a:ln w="12700">
            <a:solidFill>
              <a:srgbClr val="B8C4D3"/>
            </a:solidFill>
            <a:prstDash val="solid"/>
            <a:tailEnd type="triangle"/>
          </a:ln>
        </p:spPr>
      </p:sp>
      <p:sp>
        <p:nvSpPr>
          <p:cNvPr id="20" name="Shape 18"/>
          <p:cNvSpPr/>
          <p:nvPr/>
        </p:nvSpPr>
        <p:spPr>
          <a:xfrm>
            <a:off x="6542532" y="2203704"/>
            <a:ext cx="0" cy="109728"/>
          </a:xfrm>
          <a:prstGeom prst="line">
            <a:avLst/>
          </a:prstGeom>
          <a:noFill/>
          <a:ln w="12700">
            <a:solidFill>
              <a:srgbClr val="B8C4D3"/>
            </a:solidFill>
            <a:prstDash val="solid"/>
            <a:tailEnd type="triangle"/>
          </a:ln>
        </p:spPr>
      </p:sp>
      <p:sp>
        <p:nvSpPr>
          <p:cNvPr id="21" name="Shape 19"/>
          <p:cNvSpPr/>
          <p:nvPr/>
        </p:nvSpPr>
        <p:spPr>
          <a:xfrm>
            <a:off x="548640" y="2322576"/>
            <a:ext cx="1234440" cy="969264"/>
          </a:xfrm>
          <a:prstGeom prst="roundRect">
            <a:avLst>
              <a:gd name="adj" fmla="val 7547"/>
            </a:avLst>
          </a:prstGeom>
          <a:solidFill>
            <a:srgbClr val="EEF3F8"/>
          </a:solidFill>
          <a:ln w="15875">
            <a:solidFill>
              <a:srgbClr val="A23B3B"/>
            </a:solidFill>
            <a:prstDash val="solid"/>
          </a:ln>
        </p:spPr>
      </p:sp>
      <p:sp>
        <p:nvSpPr>
          <p:cNvPr id="22" name="Text 20"/>
          <p:cNvSpPr txBox="1"/>
          <p:nvPr/>
        </p:nvSpPr>
        <p:spPr>
          <a:xfrm>
            <a:off x="612648"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GLORYS12</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Copernicus Marine ocean reanalysis — a model nudged towards observations. 1/12°, daily, 1993→. Assimilates altimetry, SST and Argo on a 7-day cycle.</a:t>
            </a:r>
            <a:endParaRPr lang="en-US" sz="950" dirty="0"/>
          </a:p>
        </p:txBody>
      </p:sp>
      <p:sp>
        <p:nvSpPr>
          <p:cNvPr id="23" name="Shape 21"/>
          <p:cNvSpPr/>
          <p:nvPr/>
        </p:nvSpPr>
        <p:spPr>
          <a:xfrm>
            <a:off x="1892808" y="2322576"/>
            <a:ext cx="1234440" cy="969264"/>
          </a:xfrm>
          <a:prstGeom prst="roundRect">
            <a:avLst>
              <a:gd name="adj" fmla="val 7547"/>
            </a:avLst>
          </a:prstGeom>
          <a:solidFill>
            <a:srgbClr val="EEF3F8"/>
          </a:solidFill>
          <a:ln w="15875">
            <a:solidFill>
              <a:srgbClr val="1F7A4D"/>
            </a:solidFill>
            <a:prstDash val="solid"/>
          </a:ln>
        </p:spPr>
      </p:sp>
      <p:sp>
        <p:nvSpPr>
          <p:cNvPr id="24" name="Text 22"/>
          <p:cNvSpPr txBox="1"/>
          <p:nvPr/>
        </p:nvSpPr>
        <p:spPr>
          <a:xfrm>
            <a:off x="1956816"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NOAA OISST v2.1</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0.25°, daily, 1981-09→. Optimum interpolation of AVHRR radiances and in-situ measurements — an analysis of observations, no ocean model.</a:t>
            </a:r>
            <a:endParaRPr lang="en-US" sz="950" dirty="0"/>
          </a:p>
        </p:txBody>
      </p:sp>
      <p:sp>
        <p:nvSpPr>
          <p:cNvPr id="25" name="Shape 23"/>
          <p:cNvSpPr/>
          <p:nvPr/>
        </p:nvSpPr>
        <p:spPr>
          <a:xfrm>
            <a:off x="3236976" y="2322576"/>
            <a:ext cx="1234440" cy="969264"/>
          </a:xfrm>
          <a:prstGeom prst="roundRect">
            <a:avLst>
              <a:gd name="adj" fmla="val 7547"/>
            </a:avLst>
          </a:prstGeom>
          <a:solidFill>
            <a:srgbClr val="EEF3F8"/>
          </a:solidFill>
          <a:ln w="15875">
            <a:solidFill>
              <a:srgbClr val="1F7A4D"/>
            </a:solidFill>
            <a:prstDash val="solid"/>
          </a:ln>
        </p:spPr>
      </p:sp>
      <p:sp>
        <p:nvSpPr>
          <p:cNvPr id="26" name="Text 24"/>
          <p:cNvSpPr txBox="1"/>
          <p:nvPr/>
        </p:nvSpPr>
        <p:spPr>
          <a:xfrm>
            <a:off x="3300984"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Roemmich–Gilson Argo</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Scripps climatology, 1°, monthly, 2004→. Argo floats mapped onto a grid; nothing else enters it.</a:t>
            </a:r>
            <a:endParaRPr lang="en-US" sz="950" dirty="0"/>
          </a:p>
        </p:txBody>
      </p:sp>
      <p:sp>
        <p:nvSpPr>
          <p:cNvPr id="27" name="Shape 25"/>
          <p:cNvSpPr/>
          <p:nvPr/>
        </p:nvSpPr>
        <p:spPr>
          <a:xfrm>
            <a:off x="4581144" y="2322576"/>
            <a:ext cx="1234440" cy="969264"/>
          </a:xfrm>
          <a:prstGeom prst="roundRect">
            <a:avLst>
              <a:gd name="adj" fmla="val 7547"/>
            </a:avLst>
          </a:prstGeom>
          <a:solidFill>
            <a:srgbClr val="EEF3F8"/>
          </a:solidFill>
          <a:ln w="15875">
            <a:solidFill>
              <a:srgbClr val="A23B3B"/>
            </a:solidFill>
            <a:prstDash val="solid"/>
          </a:ln>
        </p:spPr>
      </p:sp>
      <p:sp>
        <p:nvSpPr>
          <p:cNvPr id="28" name="Text 26"/>
          <p:cNvSpPr txBox="1"/>
          <p:nvPr/>
        </p:nvSpPr>
        <p:spPr>
          <a:xfrm>
            <a:off x="4645152"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NCEP/NCAR R1 momentum flux</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Atmospheric reanalysis 1, ~1.9°, daily, 1948→. The surface wind stress is model-diagnosed. Archive FROZEN since Mar 2026.</a:t>
            </a:r>
            <a:endParaRPr lang="en-US" sz="950" dirty="0"/>
          </a:p>
        </p:txBody>
      </p:sp>
      <p:sp>
        <p:nvSpPr>
          <p:cNvPr id="29" name="Shape 27"/>
          <p:cNvSpPr/>
          <p:nvPr/>
        </p:nvSpPr>
        <p:spPr>
          <a:xfrm>
            <a:off x="5925312" y="2322576"/>
            <a:ext cx="1234440" cy="969264"/>
          </a:xfrm>
          <a:prstGeom prst="roundRect">
            <a:avLst>
              <a:gd name="adj" fmla="val 7547"/>
            </a:avLst>
          </a:prstGeom>
          <a:solidFill>
            <a:srgbClr val="FFF6EE"/>
          </a:solidFill>
          <a:ln w="15875">
            <a:solidFill>
              <a:srgbClr val="E07A2F"/>
            </a:solidFill>
            <a:prstDash val="solid"/>
          </a:ln>
        </p:spPr>
      </p:sp>
      <p:sp>
        <p:nvSpPr>
          <p:cNvPr id="30" name="Text 28"/>
          <p:cNvSpPr txBox="1"/>
          <p:nvPr/>
        </p:nvSpPr>
        <p:spPr>
          <a:xfrm>
            <a:off x="5989320" y="2359152"/>
            <a:ext cx="1106424" cy="914400"/>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RAPID 26.5° N + Florida Current</a:t>
            </a:r>
            <a:endParaRPr lang="en-US" sz="950" dirty="0"/>
          </a:p>
          <a:p>
            <a:pPr indent="0" marL="0">
              <a:spcAft>
                <a:spcPts val="200"/>
              </a:spcAft>
              <a:buNone/>
            </a:pPr>
            <a:r>
              <a:rPr lang="en-US" sz="700" b="1" spc="50" kern="0" dirty="0">
                <a:solidFill>
                  <a:srgbClr val="E07A2F"/>
                </a:solidFill>
                <a:latin typeface="Calibri" pitchFamily="34" charset="0"/>
                <a:ea typeface="Calibri" pitchFamily="34" charset="-122"/>
                <a:cs typeface="Calibri" pitchFamily="34" charset="-120"/>
              </a:rPr>
              <a:t>LABELS, NEVER INPUT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Overturning transport 12-hourly 2004→; cable transport daily 1982→. Stored beside the tensor as truth; the trainer never reads them.</a:t>
            </a:r>
            <a:endParaRPr lang="en-US" sz="950" dirty="0"/>
          </a:p>
        </p:txBody>
      </p:sp>
      <p:sp>
        <p:nvSpPr>
          <p:cNvPr id="31" name="Text 29"/>
          <p:cNvSpPr txBox="1"/>
          <p:nvPr/>
        </p:nvSpPr>
        <p:spPr>
          <a:xfrm>
            <a:off x="548640" y="3300984"/>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2 · CHANNELS IN THE TENSOR</a:t>
            </a:r>
            <a:pPr indent="0" marL="0">
              <a:buNone/>
            </a:pPr>
            <a:r>
              <a:rPr lang="en-US" sz="750" i="1" dirty="0">
                <a:solidFill>
                  <a:srgbClr val="6B7A8F"/>
                </a:solidFill>
                <a:latin typeface="Calibri" pitchFamily="34" charset="0"/>
                <a:ea typeface="Calibri" pitchFamily="34" charset="-122"/>
                <a:cs typeface="Calibri" pitchFamily="34" charset="-120"/>
              </a:rPr>
              <a:t>   42 of them, plus the two labels; live-bin caveats in italics</a:t>
            </a:r>
            <a:endParaRPr lang="en-US" sz="950" dirty="0"/>
          </a:p>
        </p:txBody>
      </p:sp>
      <p:sp>
        <p:nvSpPr>
          <p:cNvPr id="32" name="Shape 30"/>
          <p:cNvSpPr/>
          <p:nvPr/>
        </p:nvSpPr>
        <p:spPr>
          <a:xfrm>
            <a:off x="1165860" y="3419856"/>
            <a:ext cx="0" cy="118872"/>
          </a:xfrm>
          <a:prstGeom prst="line">
            <a:avLst/>
          </a:prstGeom>
          <a:noFill/>
          <a:ln w="12700">
            <a:solidFill>
              <a:srgbClr val="B8C4D3"/>
            </a:solidFill>
            <a:prstDash val="solid"/>
            <a:tailEnd type="triangle"/>
          </a:ln>
        </p:spPr>
      </p:sp>
      <p:sp>
        <p:nvSpPr>
          <p:cNvPr id="33" name="Shape 31"/>
          <p:cNvSpPr/>
          <p:nvPr/>
        </p:nvSpPr>
        <p:spPr>
          <a:xfrm>
            <a:off x="2510028" y="3419856"/>
            <a:ext cx="0" cy="118872"/>
          </a:xfrm>
          <a:prstGeom prst="line">
            <a:avLst/>
          </a:prstGeom>
          <a:noFill/>
          <a:ln w="12700">
            <a:solidFill>
              <a:srgbClr val="B8C4D3"/>
            </a:solidFill>
            <a:prstDash val="solid"/>
            <a:tailEnd type="triangle"/>
          </a:ln>
        </p:spPr>
      </p:sp>
      <p:sp>
        <p:nvSpPr>
          <p:cNvPr id="34" name="Shape 32"/>
          <p:cNvSpPr/>
          <p:nvPr/>
        </p:nvSpPr>
        <p:spPr>
          <a:xfrm>
            <a:off x="3854196" y="3419856"/>
            <a:ext cx="0" cy="118872"/>
          </a:xfrm>
          <a:prstGeom prst="line">
            <a:avLst/>
          </a:prstGeom>
          <a:noFill/>
          <a:ln w="12700">
            <a:solidFill>
              <a:srgbClr val="B8C4D3"/>
            </a:solidFill>
            <a:prstDash val="solid"/>
            <a:tailEnd type="triangle"/>
          </a:ln>
        </p:spPr>
      </p:sp>
      <p:sp>
        <p:nvSpPr>
          <p:cNvPr id="35" name="Shape 33"/>
          <p:cNvSpPr/>
          <p:nvPr/>
        </p:nvSpPr>
        <p:spPr>
          <a:xfrm>
            <a:off x="5198364" y="3419856"/>
            <a:ext cx="0" cy="118872"/>
          </a:xfrm>
          <a:prstGeom prst="line">
            <a:avLst/>
          </a:prstGeom>
          <a:noFill/>
          <a:ln w="12700">
            <a:solidFill>
              <a:srgbClr val="B8C4D3"/>
            </a:solidFill>
            <a:prstDash val="solid"/>
            <a:tailEnd type="triangle"/>
          </a:ln>
        </p:spPr>
      </p:sp>
      <p:sp>
        <p:nvSpPr>
          <p:cNvPr id="36" name="Shape 34"/>
          <p:cNvSpPr/>
          <p:nvPr/>
        </p:nvSpPr>
        <p:spPr>
          <a:xfrm>
            <a:off x="6542532" y="3419856"/>
            <a:ext cx="0" cy="118872"/>
          </a:xfrm>
          <a:prstGeom prst="line">
            <a:avLst/>
          </a:prstGeom>
          <a:noFill/>
          <a:ln w="12700">
            <a:solidFill>
              <a:srgbClr val="B8C4D3"/>
            </a:solidFill>
            <a:prstDash val="solid"/>
            <a:tailEnd type="triangle"/>
          </a:ln>
        </p:spPr>
      </p:sp>
      <p:sp>
        <p:nvSpPr>
          <p:cNvPr id="37" name="Shape 35"/>
          <p:cNvSpPr/>
          <p:nvPr/>
        </p:nvSpPr>
        <p:spPr>
          <a:xfrm>
            <a:off x="548640" y="3547872"/>
            <a:ext cx="1234440" cy="859536"/>
          </a:xfrm>
          <a:prstGeom prst="roundRect">
            <a:avLst>
              <a:gd name="adj" fmla="val 8511"/>
            </a:avLst>
          </a:prstGeom>
          <a:solidFill>
            <a:srgbClr val="FBFCFD"/>
          </a:solidFill>
          <a:ln w="15875">
            <a:solidFill>
              <a:srgbClr val="A23B3B"/>
            </a:solidFill>
            <a:prstDash val="solid"/>
          </a:ln>
        </p:spPr>
      </p:sp>
      <p:sp>
        <p:nvSpPr>
          <p:cNvPr id="38" name="Text 36"/>
          <p:cNvSpPr txBox="1"/>
          <p:nvPr/>
        </p:nvSpPr>
        <p:spPr>
          <a:xfrm>
            <a:off x="612648"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cur_speed · cur_u · cur_v · log_mld · ssh</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5 channels, 1993+ only. cur_speed = hypot(cur_u, cur_v) by construction, so it is not independent of the two components.</a:t>
            </a:r>
            <a:endParaRPr lang="en-US" sz="950" dirty="0"/>
          </a:p>
        </p:txBody>
      </p:sp>
      <p:sp>
        <p:nvSpPr>
          <p:cNvPr id="39" name="Shape 37"/>
          <p:cNvSpPr/>
          <p:nvPr/>
        </p:nvSpPr>
        <p:spPr>
          <a:xfrm>
            <a:off x="1892808" y="3547872"/>
            <a:ext cx="1234440" cy="859536"/>
          </a:xfrm>
          <a:prstGeom prst="roundRect">
            <a:avLst>
              <a:gd name="adj" fmla="val 8511"/>
            </a:avLst>
          </a:prstGeom>
          <a:solidFill>
            <a:srgbClr val="FBFCFD"/>
          </a:solidFill>
          <a:ln w="15875">
            <a:solidFill>
              <a:srgbClr val="1F7A4D"/>
            </a:solidFill>
            <a:prstDash val="solid"/>
          </a:ln>
        </p:spPr>
      </p:sp>
      <p:sp>
        <p:nvSpPr>
          <p:cNvPr id="40" name="Text 38"/>
          <p:cNvSpPr txBox="1"/>
          <p:nvPr/>
        </p:nvSpPr>
        <p:spPr>
          <a:xfrm>
            <a:off x="1956816"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sst</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1 channel, live on the whole axis (1982→). The only channel with no hole in it.</a:t>
            </a:r>
            <a:endParaRPr lang="en-US" sz="950" dirty="0"/>
          </a:p>
        </p:txBody>
      </p:sp>
      <p:sp>
        <p:nvSpPr>
          <p:cNvPr id="41" name="Shape 39"/>
          <p:cNvSpPr/>
          <p:nvPr/>
        </p:nvSpPr>
        <p:spPr>
          <a:xfrm>
            <a:off x="3236976" y="3547872"/>
            <a:ext cx="1234440" cy="859536"/>
          </a:xfrm>
          <a:prstGeom prst="roundRect">
            <a:avLst>
              <a:gd name="adj" fmla="val 8511"/>
            </a:avLst>
          </a:prstGeom>
          <a:solidFill>
            <a:srgbClr val="FBFCFD"/>
          </a:solidFill>
          <a:ln w="15875">
            <a:solidFill>
              <a:srgbClr val="1F7A4D"/>
            </a:solidFill>
            <a:prstDash val="solid"/>
          </a:ln>
        </p:spPr>
      </p:sp>
      <p:sp>
        <p:nvSpPr>
          <p:cNvPr id="42" name="Text 40"/>
          <p:cNvSpPr txBox="1"/>
          <p:nvPr/>
        </p:nvSpPr>
        <p:spPr>
          <a:xfrm>
            <a:off x="3300984"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rg_t × 16 · rg_s × 16 (10–1900 dbar)</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32 channels — 80 % of the bytes. 2004+, and ONE live 5-day bin in six; `missing` tokens in the other five.</a:t>
            </a:r>
            <a:endParaRPr lang="en-US" sz="950" dirty="0"/>
          </a:p>
        </p:txBody>
      </p:sp>
      <p:sp>
        <p:nvSpPr>
          <p:cNvPr id="43" name="Shape 41"/>
          <p:cNvSpPr/>
          <p:nvPr/>
        </p:nvSpPr>
        <p:spPr>
          <a:xfrm>
            <a:off x="4581144" y="3547872"/>
            <a:ext cx="1234440" cy="859536"/>
          </a:xfrm>
          <a:prstGeom prst="roundRect">
            <a:avLst>
              <a:gd name="adj" fmla="val 8511"/>
            </a:avLst>
          </a:prstGeom>
          <a:solidFill>
            <a:srgbClr val="FBFCFD"/>
          </a:solidFill>
          <a:ln w="15875">
            <a:solidFill>
              <a:srgbClr val="A23B3B"/>
            </a:solidFill>
            <a:prstDash val="solid"/>
          </a:ln>
        </p:spPr>
      </p:sp>
      <p:sp>
        <p:nvSpPr>
          <p:cNvPr id="44" name="Text 42"/>
          <p:cNvSpPr txBox="1"/>
          <p:nvPr/>
        </p:nvSpPr>
        <p:spPr>
          <a:xfrm>
            <a:off x="4645152"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tau_x · tau_y · tau_x_std · tau_y_std</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4 channels, whole axis. The two σ channels are computed from the daily fields, never from the pentad mean.</a:t>
            </a:r>
            <a:endParaRPr lang="en-US" sz="950" dirty="0"/>
          </a:p>
        </p:txBody>
      </p:sp>
      <p:sp>
        <p:nvSpPr>
          <p:cNvPr id="45" name="Shape 43"/>
          <p:cNvSpPr/>
          <p:nvPr/>
        </p:nvSpPr>
        <p:spPr>
          <a:xfrm>
            <a:off x="5925312" y="3547872"/>
            <a:ext cx="1234440" cy="859536"/>
          </a:xfrm>
          <a:prstGeom prst="roundRect">
            <a:avLst>
              <a:gd name="adj" fmla="val 8511"/>
            </a:avLst>
          </a:prstGeom>
          <a:solidFill>
            <a:srgbClr val="FFF6EE"/>
          </a:solidFill>
          <a:ln w="15875">
            <a:solidFill>
              <a:srgbClr val="E07A2F"/>
            </a:solidFill>
            <a:prstDash val="solid"/>
          </a:ln>
        </p:spPr>
      </p:sp>
      <p:sp>
        <p:nvSpPr>
          <p:cNvPr id="46" name="Text 44"/>
          <p:cNvSpPr txBox="1"/>
          <p:nvPr/>
        </p:nvSpPr>
        <p:spPr>
          <a:xfrm>
            <a:off x="5989320"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E07A2F"/>
                </a:solidFill>
                <a:latin typeface="Calibri" pitchFamily="34" charset="0"/>
                <a:ea typeface="Calibri" pitchFamily="34" charset="-122"/>
                <a:cs typeface="Calibri" pitchFamily="34" charset="-120"/>
              </a:rPr>
              <a:t>truth_rapid · truth_fc</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Two label series stored in the same file. Read by the probes, never by the encoder.</a:t>
            </a:r>
            <a:endParaRPr lang="en-US" sz="950" dirty="0"/>
          </a:p>
        </p:txBody>
      </p:sp>
      <p:sp>
        <p:nvSpPr>
          <p:cNvPr id="47" name="Text 45"/>
          <p:cNvSpPr txBox="1"/>
          <p:nvPr/>
        </p:nvSpPr>
        <p:spPr>
          <a:xfrm>
            <a:off x="548640" y="4416552"/>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3 · DERIVED INSIDE TRAINING</a:t>
            </a:r>
            <a:pPr indent="0" marL="0">
              <a:buNone/>
            </a:pPr>
            <a:r>
              <a:rPr lang="en-US" sz="750" i="1" dirty="0">
                <a:solidFill>
                  <a:srgbClr val="6B7A8F"/>
                </a:solidFill>
                <a:latin typeface="Calibri" pitchFamily="34" charset="0"/>
                <a:ea typeface="Calibri" pitchFamily="34" charset="-122"/>
                <a:cs typeface="Calibri" pitchFamily="34" charset="-120"/>
              </a:rPr>
              <a:t>   nothing here is downloaded — it is computed from the tensor itself</a:t>
            </a:r>
            <a:endParaRPr lang="en-US" sz="950" dirty="0"/>
          </a:p>
        </p:txBody>
      </p:sp>
      <p:sp>
        <p:nvSpPr>
          <p:cNvPr id="48" name="Shape 46"/>
          <p:cNvSpPr/>
          <p:nvPr/>
        </p:nvSpPr>
        <p:spPr>
          <a:xfrm>
            <a:off x="1165860" y="4535424"/>
            <a:ext cx="0" cy="118872"/>
          </a:xfrm>
          <a:prstGeom prst="line">
            <a:avLst/>
          </a:prstGeom>
          <a:noFill/>
          <a:ln w="12700">
            <a:solidFill>
              <a:srgbClr val="B8C4D3"/>
            </a:solidFill>
            <a:prstDash val="solid"/>
            <a:tailEnd type="triangle"/>
          </a:ln>
        </p:spPr>
      </p:sp>
      <p:sp>
        <p:nvSpPr>
          <p:cNvPr id="49" name="Shape 47"/>
          <p:cNvSpPr/>
          <p:nvPr/>
        </p:nvSpPr>
        <p:spPr>
          <a:xfrm>
            <a:off x="2510028" y="4535424"/>
            <a:ext cx="0" cy="118872"/>
          </a:xfrm>
          <a:prstGeom prst="line">
            <a:avLst/>
          </a:prstGeom>
          <a:noFill/>
          <a:ln w="12700">
            <a:solidFill>
              <a:srgbClr val="B8C4D3"/>
            </a:solidFill>
            <a:prstDash val="solid"/>
            <a:tailEnd type="triangle"/>
          </a:ln>
        </p:spPr>
      </p:sp>
      <p:sp>
        <p:nvSpPr>
          <p:cNvPr id="50" name="Shape 48"/>
          <p:cNvSpPr/>
          <p:nvPr/>
        </p:nvSpPr>
        <p:spPr>
          <a:xfrm>
            <a:off x="3854196" y="4535424"/>
            <a:ext cx="0" cy="118872"/>
          </a:xfrm>
          <a:prstGeom prst="line">
            <a:avLst/>
          </a:prstGeom>
          <a:noFill/>
          <a:ln w="12700">
            <a:solidFill>
              <a:srgbClr val="B8C4D3"/>
            </a:solidFill>
            <a:prstDash val="solid"/>
            <a:tailEnd type="triangle"/>
          </a:ln>
        </p:spPr>
      </p:sp>
      <p:sp>
        <p:nvSpPr>
          <p:cNvPr id="51" name="Shape 49"/>
          <p:cNvSpPr/>
          <p:nvPr/>
        </p:nvSpPr>
        <p:spPr>
          <a:xfrm>
            <a:off x="5198364" y="4535424"/>
            <a:ext cx="0" cy="118872"/>
          </a:xfrm>
          <a:prstGeom prst="line">
            <a:avLst/>
          </a:prstGeom>
          <a:noFill/>
          <a:ln w="12700">
            <a:solidFill>
              <a:srgbClr val="B8C4D3"/>
            </a:solidFill>
            <a:prstDash val="solid"/>
            <a:tailEnd type="triangle"/>
          </a:ln>
        </p:spPr>
      </p:sp>
      <p:sp>
        <p:nvSpPr>
          <p:cNvPr id="52" name="Shape 50"/>
          <p:cNvSpPr/>
          <p:nvPr/>
        </p:nvSpPr>
        <p:spPr>
          <a:xfrm>
            <a:off x="548640" y="4663440"/>
            <a:ext cx="1572768" cy="749808"/>
          </a:xfrm>
          <a:prstGeom prst="roundRect">
            <a:avLst>
              <a:gd name="adj" fmla="val 9756"/>
            </a:avLst>
          </a:prstGeom>
          <a:solidFill>
            <a:srgbClr val="F2F8FA"/>
          </a:solidFill>
          <a:ln w="15875">
            <a:solidFill>
              <a:srgbClr val="1C7293"/>
            </a:solidFill>
            <a:prstDash val="solid"/>
          </a:ln>
        </p:spPr>
      </p:sp>
      <p:sp>
        <p:nvSpPr>
          <p:cNvPr id="53" name="Text 51"/>
          <p:cNvSpPr txBox="1"/>
          <p:nvPr/>
        </p:nvSpPr>
        <p:spPr>
          <a:xfrm>
            <a:off x="612648"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Anomaly, then z-score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Each channel minus a per-calendar-month average built from TRAINING YEARS ONLY, then divided by its own spread. No outside climatology is used.</a:t>
            </a:r>
            <a:endParaRPr lang="en-US" sz="950" dirty="0"/>
          </a:p>
        </p:txBody>
      </p:sp>
      <p:sp>
        <p:nvSpPr>
          <p:cNvPr id="54" name="Shape 52"/>
          <p:cNvSpPr/>
          <p:nvPr/>
        </p:nvSpPr>
        <p:spPr>
          <a:xfrm>
            <a:off x="2231136" y="4663440"/>
            <a:ext cx="1572768" cy="749808"/>
          </a:xfrm>
          <a:prstGeom prst="roundRect">
            <a:avLst>
              <a:gd name="adj" fmla="val 9756"/>
            </a:avLst>
          </a:prstGeom>
          <a:solidFill>
            <a:srgbClr val="F2F8FA"/>
          </a:solidFill>
          <a:ln w="15875">
            <a:solidFill>
              <a:srgbClr val="1C7293"/>
            </a:solidFill>
            <a:prstDash val="solid"/>
          </a:ln>
        </p:spPr>
      </p:sp>
      <p:sp>
        <p:nvSpPr>
          <p:cNvPr id="55" name="Text 53"/>
          <p:cNvSpPr txBox="1"/>
          <p:nvPr/>
        </p:nvSpPr>
        <p:spPr>
          <a:xfrm>
            <a:off x="2295144"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Mask · holdout · certificate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ocean mask is where channel 0 is finite (84,405 cells). Calendar years 2009, 2017 and 2023 are held out, certified 0 violations in 4,096 anchors.</a:t>
            </a:r>
            <a:endParaRPr lang="en-US" sz="950" dirty="0"/>
          </a:p>
        </p:txBody>
      </p:sp>
      <p:sp>
        <p:nvSpPr>
          <p:cNvPr id="56" name="Shape 54"/>
          <p:cNvSpPr/>
          <p:nvPr/>
        </p:nvSpPr>
        <p:spPr>
          <a:xfrm>
            <a:off x="3913632" y="4663440"/>
            <a:ext cx="1572768" cy="749808"/>
          </a:xfrm>
          <a:prstGeom prst="roundRect">
            <a:avLst>
              <a:gd name="adj" fmla="val 9756"/>
            </a:avLst>
          </a:prstGeom>
          <a:solidFill>
            <a:srgbClr val="F2F8FA"/>
          </a:solidFill>
          <a:ln w="15875">
            <a:solidFill>
              <a:srgbClr val="1C7293"/>
            </a:solidFill>
            <a:prstDash val="solid"/>
          </a:ln>
        </p:spPr>
      </p:sp>
      <p:sp>
        <p:nvSpPr>
          <p:cNvPr id="57" name="Text 55"/>
          <p:cNvSpPr txBox="1"/>
          <p:nvPr/>
        </p:nvSpPr>
        <p:spPr>
          <a:xfrm>
            <a:off x="3977640"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Probe target · snapshot twin</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velocity probe's target is the anchor's own cur_u, cur_v, hidden from the encoder. A second identical codec with no lags (L_in = 0) is the control.</a:t>
            </a:r>
            <a:endParaRPr lang="en-US" sz="950" dirty="0"/>
          </a:p>
        </p:txBody>
      </p:sp>
      <p:sp>
        <p:nvSpPr>
          <p:cNvPr id="58" name="Shape 56"/>
          <p:cNvSpPr/>
          <p:nvPr/>
        </p:nvSpPr>
        <p:spPr>
          <a:xfrm>
            <a:off x="5596128" y="4663440"/>
            <a:ext cx="1572768" cy="749808"/>
          </a:xfrm>
          <a:prstGeom prst="roundRect">
            <a:avLst>
              <a:gd name="adj" fmla="val 9756"/>
            </a:avLst>
          </a:prstGeom>
          <a:solidFill>
            <a:srgbClr val="F4F6F9"/>
          </a:solidFill>
          <a:ln w="15875">
            <a:solidFill>
              <a:srgbClr val="6B7A8F"/>
            </a:solidFill>
            <a:prstDash val="solid"/>
          </a:ln>
        </p:spPr>
      </p:sp>
      <p:sp>
        <p:nvSpPr>
          <p:cNvPr id="59" name="Text 57"/>
          <p:cNvSpPr txBox="1"/>
          <p:nvPr/>
        </p:nvSpPr>
        <p:spPr>
          <a:xfrm>
            <a:off x="5660136"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6B7A8F"/>
                </a:solidFill>
                <a:latin typeface="Calibri" pitchFamily="34" charset="0"/>
                <a:ea typeface="Calibri" pitchFamily="34" charset="-122"/>
                <a:cs typeface="Calibri" pitchFamily="34" charset="-120"/>
              </a:rPr>
              <a:t>Pinned for stage 2, unused yet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run-415 control embedding on recipe r2, the linear-inverse-model null (8 scoreable channels), and the AMOC evaluation mask.</a:t>
            </a:r>
            <a:endParaRPr lang="en-US" sz="950" dirty="0"/>
          </a:p>
        </p:txBody>
      </p:sp>
      <p:sp>
        <p:nvSpPr>
          <p:cNvPr id="60" name="Text 58"/>
          <p:cNvSpPr txBox="1"/>
          <p:nvPr/>
        </p:nvSpPr>
        <p:spPr>
          <a:xfrm>
            <a:off x="548640" y="5477256"/>
            <a:ext cx="6629400" cy="457200"/>
          </a:xfrm>
          <a:prstGeom prst="rect">
            <a:avLst/>
          </a:prstGeom>
          <a:noFill/>
          <a:ln/>
        </p:spPr>
        <p:txBody>
          <a:bodyPr wrap="square" lIns="0" tIns="0" rIns="0" bIns="0" rtlCol="0" anchor="t"/>
          <a:lstStyle/>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spcAft>
                <a:spcPts val="200"/>
              </a:spcAft>
              <a:buNone/>
            </a:pPr>
            <a:r>
              <a:rPr lang="en-US" sz="750" dirty="0">
                <a:solidFill>
                  <a:srgbClr val="1B2430"/>
                </a:solidFill>
                <a:latin typeface="Calibri" pitchFamily="34" charset="0"/>
                <a:ea typeface="Calibri" pitchFamily="34" charset="-122"/>
                <a:cs typeface="Calibri" pitchFamily="34" charset="-120"/>
              </a:rPr>
              <a:t>The app's 1991–2020 sea-surface-temperature normal is deliberately NOT the anomaly baseline: it averages over the held-out years, so it would leak the test period into training.</a:t>
            </a:r>
            <a:endParaRPr lang="en-US" sz="950" dirty="0"/>
          </a:p>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buNone/>
            </a:pPr>
            <a:r>
              <a:rPr lang="en-US" sz="750" dirty="0">
                <a:solidFill>
                  <a:srgbClr val="1B2430"/>
                </a:solidFill>
                <a:latin typeface="Calibri" pitchFamily="34" charset="0"/>
                <a:ea typeface="Calibri" pitchFamily="34" charset="-122"/>
                <a:cs typeface="Calibri" pitchFamily="34" charset="-120"/>
              </a:rPr>
              <a:t>Derived products peek forward by half their assimilation window — the observations a reanalysis may look at around each day (GLORYS: 7 days). 5 of the 42 channels; they need a time shift.</a:t>
            </a:r>
            <a:endParaRPr lang="en-US" sz="950" dirty="0"/>
          </a:p>
        </p:txBody>
      </p:sp>
      <p:sp>
        <p:nvSpPr>
          <p:cNvPr id="61" name="Shape 59"/>
          <p:cNvSpPr/>
          <p:nvPr/>
        </p:nvSpPr>
        <p:spPr>
          <a:xfrm>
            <a:off x="7269480" y="1371600"/>
            <a:ext cx="4343400" cy="4498848"/>
          </a:xfrm>
          <a:prstGeom prst="roundRect">
            <a:avLst>
              <a:gd name="adj" fmla="val 1684"/>
            </a:avLst>
          </a:prstGeom>
          <a:solidFill>
            <a:srgbClr val="F4F6F9"/>
          </a:solidFill>
          <a:ln w="15875">
            <a:solidFill>
              <a:srgbClr val="0B1F3A"/>
            </a:solidFill>
            <a:prstDash val="solid"/>
          </a:ln>
        </p:spPr>
      </p:sp>
      <p:sp>
        <p:nvSpPr>
          <p:cNvPr id="62" name="Text 60"/>
          <p:cNvSpPr txBox="1"/>
          <p:nvPr/>
        </p:nvSpPr>
        <p:spPr>
          <a:xfrm>
            <a:off x="7406640" y="1444752"/>
            <a:ext cx="4069080" cy="4370832"/>
          </a:xfrm>
          <a:prstGeom prst="rect">
            <a:avLst/>
          </a:prstGeom>
          <a:noFill/>
          <a:ln/>
        </p:spPr>
        <p:txBody>
          <a:bodyPr wrap="square" lIns="0" tIns="0" rIns="0" bIns="0" rtlCol="0" anchor="t"/>
          <a:lstStyle/>
          <a:p>
            <a:pPr indent="0" marL="0">
              <a:spcAft>
                <a:spcPts val="500"/>
              </a:spcAft>
              <a:buNone/>
            </a:pPr>
            <a:r>
              <a:rPr lang="en-US" sz="1100" b="1" dirty="0">
                <a:solidFill>
                  <a:srgbClr val="0B1F3A"/>
                </a:solidFill>
                <a:latin typeface="Calibri" pitchFamily="34" charset="0"/>
                <a:ea typeface="Calibri" pitchFamily="34" charset="-122"/>
                <a:cs typeface="Calibri" pitchFamily="34" charset="-120"/>
              </a:rPr>
              <a:t>Missing from “the ocean and its biosphere” — additions, ranked</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1  Buoyancy forcing — ERA5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net short- and long-wave radiation, sensible and latent heat, evaporation − precipitation, wind-stress curl. The only forcing entirely absent today, and it also replaces the frozen NCEP momentum flux.</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2  Ocean interior at 0.25°, in 3-D — GREP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temperature, salinity and both velocity components at 8 depths, 1993→ (+20 GB). Velocity at depth, and six times as many live subsurface bins. The data ladder's #1.</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3  Observed sea level — DUACS altimetry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sea-level anomaly, absolute dynamic topography and geostrophic velocities, 0.125°, daily, 1993→: the observation GLORYS is fitted to, as its own independent channel.</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4  Statics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bathymetry and its gradient, the Coriolis parameter f and its gradient β, distance to coast and to the 1000 m isobath, mean dynamic topography. ~3 MB; the ladder's #2.</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5  Sea-ice concentration — OSTIA / OSI SAF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the northern boundary condition of the window. Today the model sees ice-covered water as ordinary water.</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6  Drifters — Global Drifter Program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15 m velocity and SST as native dots: the observed velocity the H1 probe (does the embedding know the current?) should really be scored on.</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7  Biosphere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ocean-colour chlorophyll (OC-CCI 4 km 1997→, PACE 2024→), BGC-Argo oxygen / nitrate / chlorophyll profiles as dots, SOCAT surface CO₂. The ladder rejected chlorophyll as an INPUT for the overturning head — “no mechanistic path at these timescales” — so the biosphere enters first as what the embedding must PREDICT, and as a held-out sphere.</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8  Sea-surface salinity — SMOS / SMAP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2010→, short, but it is the freshwater lid. And RAPID's depth-resolved moc_vertical and boundary T/S files are already downloaded and unused.</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Ranked by information per byte and by what the model cannot derive from what it already holds.</a:t>
            </a:r>
            <a:endParaRPr lang="en-US" sz="950" dirty="0"/>
          </a:p>
        </p:txBody>
      </p:sp>
      <p:sp>
        <p:nvSpPr>
          <p:cNvPr id="63" name="Text 61"/>
          <p:cNvSpPr txBox="1"/>
          <p:nvPr/>
        </p:nvSpPr>
        <p:spPr>
          <a:xfrm>
            <a:off x="548640" y="603504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Today's codec sees the ocean's momentum forcing (wind stress) and its density structure in one column, and nothing else: no heat or freshwater forcing, no observed velocity, no boundaries — no ice, no bathymetry — and nothing living. Two thirds of the channel count is a single monthly Argo product that is live in one 5-day bin out of six. The additions on the right are ordered by information per byte and by what the model cannot derive from what it already has; the first three are also the three the E-069 plan (the cone codec being trained now) would use unchanged.</a:t>
            </a:r>
            <a:endParaRPr lang="en-US" sz="850" dirty="0"/>
          </a:p>
        </p:txBody>
      </p:sp>
      <p:sp>
        <p:nvSpPr>
          <p:cNvPr id="64" name="Text 6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El Niño 2026 — what the catalog predicts, and what to add</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Our own OISST bake says Niño-3.4 (the central-Pacific sea-temperature anomaly that defines the event) went −0.6 °C in January to +2.1 °C in July 2026; NOAA's Climate Prediction Center, 13 Aug: El Niño Advisory, &gt; 90 % chance of a very strong event, 69 % chance of exceeding +2.5 °C in Oct–Dec — stronger than any event since 1950</a:t>
            </a:r>
            <a:endParaRPr lang="en-US" sz="1250" dirty="0"/>
          </a:p>
        </p:txBody>
      </p:sp>
      <p:sp>
        <p:nvSpPr>
          <p:cNvPr id="4" name="Shape 2"/>
          <p:cNvSpPr/>
          <p:nvPr/>
        </p:nvSpPr>
        <p:spPr>
          <a:xfrm>
            <a:off x="960120" y="1627632"/>
            <a:ext cx="2743200" cy="2286000"/>
          </a:xfrm>
          <a:prstGeom prst="rect">
            <a:avLst/>
          </a:prstGeom>
          <a:solidFill>
            <a:srgbClr val="FBFCFD"/>
          </a:solidFill>
          <a:ln w="6350">
            <a:solidFill>
              <a:srgbClr val="B8C4D3"/>
            </a:solidFill>
            <a:prstDash val="solid"/>
          </a:ln>
        </p:spPr>
      </p:sp>
      <p:sp>
        <p:nvSpPr>
          <p:cNvPr id="5" name="Shape 3"/>
          <p:cNvSpPr/>
          <p:nvPr/>
        </p:nvSpPr>
        <p:spPr>
          <a:xfrm>
            <a:off x="960120" y="3913632"/>
            <a:ext cx="2743200" cy="0"/>
          </a:xfrm>
          <a:prstGeom prst="line">
            <a:avLst/>
          </a:prstGeom>
          <a:noFill/>
          <a:ln w="6350">
            <a:solidFill>
              <a:srgbClr val="B8C4D3"/>
            </a:solidFill>
            <a:prstDash val="solid"/>
          </a:ln>
        </p:spPr>
      </p:sp>
      <p:sp>
        <p:nvSpPr>
          <p:cNvPr id="6" name="Text 4"/>
          <p:cNvSpPr txBox="1"/>
          <p:nvPr/>
        </p:nvSpPr>
        <p:spPr>
          <a:xfrm>
            <a:off x="548640" y="383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7" name="Shape 5"/>
          <p:cNvSpPr/>
          <p:nvPr/>
        </p:nvSpPr>
        <p:spPr>
          <a:xfrm>
            <a:off x="960120" y="3278632"/>
            <a:ext cx="2743200" cy="0"/>
          </a:xfrm>
          <a:prstGeom prst="line">
            <a:avLst/>
          </a:prstGeom>
          <a:noFill/>
          <a:ln w="12700">
            <a:solidFill>
              <a:srgbClr val="6B7A8F"/>
            </a:solidFill>
            <a:prstDash val="solid"/>
          </a:ln>
        </p:spPr>
      </p:sp>
      <p:sp>
        <p:nvSpPr>
          <p:cNvPr id="8" name="Text 6"/>
          <p:cNvSpPr txBox="1"/>
          <p:nvPr/>
        </p:nvSpPr>
        <p:spPr>
          <a:xfrm>
            <a:off x="548640" y="319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0</a:t>
            </a:r>
            <a:endParaRPr lang="en-US" sz="700" dirty="0"/>
          </a:p>
        </p:txBody>
      </p:sp>
      <p:sp>
        <p:nvSpPr>
          <p:cNvPr id="9" name="Shape 7"/>
          <p:cNvSpPr/>
          <p:nvPr/>
        </p:nvSpPr>
        <p:spPr>
          <a:xfrm>
            <a:off x="960120" y="2643632"/>
            <a:ext cx="2743200" cy="0"/>
          </a:xfrm>
          <a:prstGeom prst="line">
            <a:avLst/>
          </a:prstGeom>
          <a:noFill/>
          <a:ln w="6350">
            <a:solidFill>
              <a:srgbClr val="B8C4D3"/>
            </a:solidFill>
            <a:prstDash val="solid"/>
          </a:ln>
        </p:spPr>
      </p:sp>
      <p:sp>
        <p:nvSpPr>
          <p:cNvPr id="10" name="Text 8"/>
          <p:cNvSpPr txBox="1"/>
          <p:nvPr/>
        </p:nvSpPr>
        <p:spPr>
          <a:xfrm>
            <a:off x="548640" y="256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1" name="Shape 9"/>
          <p:cNvSpPr/>
          <p:nvPr/>
        </p:nvSpPr>
        <p:spPr>
          <a:xfrm>
            <a:off x="960120" y="2008632"/>
            <a:ext cx="2743200" cy="0"/>
          </a:xfrm>
          <a:prstGeom prst="line">
            <a:avLst/>
          </a:prstGeom>
          <a:noFill/>
          <a:ln w="6350">
            <a:solidFill>
              <a:srgbClr val="B8C4D3"/>
            </a:solidFill>
            <a:prstDash val="solid"/>
          </a:ln>
        </p:spPr>
      </p:sp>
      <p:sp>
        <p:nvSpPr>
          <p:cNvPr id="12" name="Text 10"/>
          <p:cNvSpPr txBox="1"/>
          <p:nvPr/>
        </p:nvSpPr>
        <p:spPr>
          <a:xfrm>
            <a:off x="548640" y="192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+2</a:t>
            </a:r>
            <a:endParaRPr lang="en-US" sz="700" dirty="0"/>
          </a:p>
        </p:txBody>
      </p:sp>
      <p:sp>
        <p:nvSpPr>
          <p:cNvPr id="13" name="Shape 11"/>
          <p:cNvSpPr/>
          <p:nvPr/>
        </p:nvSpPr>
        <p:spPr>
          <a:xfrm>
            <a:off x="960120" y="1716532"/>
            <a:ext cx="2743200" cy="0"/>
          </a:xfrm>
          <a:prstGeom prst="line">
            <a:avLst/>
          </a:prstGeom>
          <a:noFill/>
          <a:ln w="9525">
            <a:solidFill>
              <a:srgbClr val="6B7A8F"/>
            </a:solidFill>
            <a:prstDash val="dash"/>
          </a:ln>
        </p:spPr>
      </p:sp>
      <p:sp>
        <p:nvSpPr>
          <p:cNvPr id="14" name="Text 12"/>
          <p:cNvSpPr txBox="1"/>
          <p:nvPr/>
        </p:nvSpPr>
        <p:spPr>
          <a:xfrm>
            <a:off x="1005840" y="15930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2015  +2.46</a:t>
            </a:r>
            <a:endParaRPr lang="en-US" sz="700" dirty="0"/>
          </a:p>
        </p:txBody>
      </p:sp>
      <p:sp>
        <p:nvSpPr>
          <p:cNvPr id="15" name="Shape 13"/>
          <p:cNvSpPr/>
          <p:nvPr/>
        </p:nvSpPr>
        <p:spPr>
          <a:xfrm>
            <a:off x="960120" y="1894332"/>
            <a:ext cx="2743200" cy="0"/>
          </a:xfrm>
          <a:prstGeom prst="line">
            <a:avLst/>
          </a:prstGeom>
          <a:noFill/>
          <a:ln w="9525">
            <a:solidFill>
              <a:srgbClr val="6B7A8F"/>
            </a:solidFill>
            <a:prstDash val="dash"/>
          </a:ln>
        </p:spPr>
      </p:sp>
      <p:sp>
        <p:nvSpPr>
          <p:cNvPr id="16" name="Text 14"/>
          <p:cNvSpPr txBox="1"/>
          <p:nvPr/>
        </p:nvSpPr>
        <p:spPr>
          <a:xfrm>
            <a:off x="1005840" y="17708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1997  +2.18</a:t>
            </a:r>
            <a:endParaRPr lang="en-US" sz="700" dirty="0"/>
          </a:p>
        </p:txBody>
      </p:sp>
      <p:sp>
        <p:nvSpPr>
          <p:cNvPr id="17" name="Shape 15"/>
          <p:cNvSpPr/>
          <p:nvPr/>
        </p:nvSpPr>
        <p:spPr>
          <a:xfrm>
            <a:off x="960120" y="2002282"/>
            <a:ext cx="2743200" cy="0"/>
          </a:xfrm>
          <a:prstGeom prst="line">
            <a:avLst/>
          </a:prstGeom>
          <a:noFill/>
          <a:ln w="9525">
            <a:solidFill>
              <a:srgbClr val="6B7A8F"/>
            </a:solidFill>
            <a:prstDash val="dash"/>
          </a:ln>
        </p:spPr>
      </p:sp>
      <p:sp>
        <p:nvSpPr>
          <p:cNvPr id="18" name="Text 16"/>
          <p:cNvSpPr txBox="1"/>
          <p:nvPr/>
        </p:nvSpPr>
        <p:spPr>
          <a:xfrm>
            <a:off x="1005840" y="187883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2023  +2.01</a:t>
            </a:r>
            <a:endParaRPr lang="en-US" sz="700" dirty="0"/>
          </a:p>
        </p:txBody>
      </p:sp>
      <p:sp>
        <p:nvSpPr>
          <p:cNvPr id="19" name="Shape 17"/>
          <p:cNvSpPr/>
          <p:nvPr/>
        </p:nvSpPr>
        <p:spPr>
          <a:xfrm>
            <a:off x="1018903" y="3278632"/>
            <a:ext cx="274320" cy="361950"/>
          </a:xfrm>
          <a:prstGeom prst="rect">
            <a:avLst/>
          </a:prstGeom>
          <a:solidFill>
            <a:srgbClr val="2E86AB"/>
          </a:solidFill>
          <a:ln w="12700">
            <a:solidFill>
              <a:srgbClr val="333333"/>
            </a:solidFill>
            <a:prstDash val="solid"/>
          </a:ln>
        </p:spPr>
      </p:sp>
      <p:sp>
        <p:nvSpPr>
          <p:cNvPr id="20" name="Text 18"/>
          <p:cNvSpPr txBox="1"/>
          <p:nvPr/>
        </p:nvSpPr>
        <p:spPr>
          <a:xfrm>
            <a:off x="881743" y="36588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-0.57</a:t>
            </a:r>
            <a:endParaRPr lang="en-US" sz="700" dirty="0"/>
          </a:p>
        </p:txBody>
      </p:sp>
      <p:sp>
        <p:nvSpPr>
          <p:cNvPr id="21" name="Text 19"/>
          <p:cNvSpPr txBox="1"/>
          <p:nvPr/>
        </p:nvSpPr>
        <p:spPr>
          <a:xfrm>
            <a:off x="927463"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Jan</a:t>
            </a:r>
            <a:endParaRPr lang="en-US" sz="750" dirty="0"/>
          </a:p>
        </p:txBody>
      </p:sp>
      <p:sp>
        <p:nvSpPr>
          <p:cNvPr id="22" name="Shape 20"/>
          <p:cNvSpPr/>
          <p:nvPr/>
        </p:nvSpPr>
        <p:spPr>
          <a:xfrm>
            <a:off x="1410789" y="3278632"/>
            <a:ext cx="274320" cy="120650"/>
          </a:xfrm>
          <a:prstGeom prst="rect">
            <a:avLst/>
          </a:prstGeom>
          <a:solidFill>
            <a:srgbClr val="2E86AB"/>
          </a:solidFill>
          <a:ln w="12700">
            <a:solidFill>
              <a:srgbClr val="333333"/>
            </a:solidFill>
            <a:prstDash val="solid"/>
          </a:ln>
        </p:spPr>
      </p:sp>
      <p:sp>
        <p:nvSpPr>
          <p:cNvPr id="23" name="Text 21"/>
          <p:cNvSpPr txBox="1"/>
          <p:nvPr/>
        </p:nvSpPr>
        <p:spPr>
          <a:xfrm>
            <a:off x="1273629" y="34175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-0.19</a:t>
            </a:r>
            <a:endParaRPr lang="en-US" sz="700" dirty="0"/>
          </a:p>
        </p:txBody>
      </p:sp>
      <p:sp>
        <p:nvSpPr>
          <p:cNvPr id="24" name="Text 22"/>
          <p:cNvSpPr txBox="1"/>
          <p:nvPr/>
        </p:nvSpPr>
        <p:spPr>
          <a:xfrm>
            <a:off x="1319349"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Feb</a:t>
            </a:r>
            <a:endParaRPr lang="en-US" sz="750" dirty="0"/>
          </a:p>
        </p:txBody>
      </p:sp>
      <p:sp>
        <p:nvSpPr>
          <p:cNvPr id="25" name="Shape 23"/>
          <p:cNvSpPr/>
          <p:nvPr/>
        </p:nvSpPr>
        <p:spPr>
          <a:xfrm>
            <a:off x="1802674" y="3265932"/>
            <a:ext cx="274320" cy="12700"/>
          </a:xfrm>
          <a:prstGeom prst="rect">
            <a:avLst/>
          </a:prstGeom>
          <a:solidFill>
            <a:srgbClr val="C0443A"/>
          </a:solidFill>
          <a:ln w="12700">
            <a:solidFill>
              <a:srgbClr val="333333"/>
            </a:solidFill>
            <a:prstDash val="solid"/>
          </a:ln>
        </p:spPr>
      </p:sp>
      <p:sp>
        <p:nvSpPr>
          <p:cNvPr id="26" name="Text 24"/>
          <p:cNvSpPr txBox="1"/>
          <p:nvPr/>
        </p:nvSpPr>
        <p:spPr>
          <a:xfrm>
            <a:off x="1665514" y="31104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+0.02</a:t>
            </a:r>
            <a:endParaRPr lang="en-US" sz="700" dirty="0"/>
          </a:p>
        </p:txBody>
      </p:sp>
      <p:sp>
        <p:nvSpPr>
          <p:cNvPr id="27" name="Text 25"/>
          <p:cNvSpPr txBox="1"/>
          <p:nvPr/>
        </p:nvSpPr>
        <p:spPr>
          <a:xfrm>
            <a:off x="1711234"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Mar</a:t>
            </a:r>
            <a:endParaRPr lang="en-US" sz="750" dirty="0"/>
          </a:p>
        </p:txBody>
      </p:sp>
      <p:sp>
        <p:nvSpPr>
          <p:cNvPr id="28" name="Shape 26"/>
          <p:cNvSpPr/>
          <p:nvPr/>
        </p:nvSpPr>
        <p:spPr>
          <a:xfrm>
            <a:off x="2194560" y="2980182"/>
            <a:ext cx="274320" cy="298450"/>
          </a:xfrm>
          <a:prstGeom prst="rect">
            <a:avLst/>
          </a:prstGeom>
          <a:solidFill>
            <a:srgbClr val="C0443A"/>
          </a:solidFill>
          <a:ln w="12700">
            <a:solidFill>
              <a:srgbClr val="333333"/>
            </a:solidFill>
            <a:prstDash val="solid"/>
          </a:ln>
        </p:spPr>
      </p:sp>
      <p:sp>
        <p:nvSpPr>
          <p:cNvPr id="29" name="Text 27"/>
          <p:cNvSpPr txBox="1"/>
          <p:nvPr/>
        </p:nvSpPr>
        <p:spPr>
          <a:xfrm>
            <a:off x="2057400" y="28247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+0.47</a:t>
            </a:r>
            <a:endParaRPr lang="en-US" sz="700" dirty="0"/>
          </a:p>
        </p:txBody>
      </p:sp>
      <p:sp>
        <p:nvSpPr>
          <p:cNvPr id="30" name="Text 28"/>
          <p:cNvSpPr txBox="1"/>
          <p:nvPr/>
        </p:nvSpPr>
        <p:spPr>
          <a:xfrm>
            <a:off x="2103120"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Apr</a:t>
            </a:r>
            <a:endParaRPr lang="en-US" sz="750" dirty="0"/>
          </a:p>
        </p:txBody>
      </p:sp>
      <p:sp>
        <p:nvSpPr>
          <p:cNvPr id="31" name="Shape 29"/>
          <p:cNvSpPr/>
          <p:nvPr/>
        </p:nvSpPr>
        <p:spPr>
          <a:xfrm>
            <a:off x="2586446" y="2681732"/>
            <a:ext cx="274320" cy="596900"/>
          </a:xfrm>
          <a:prstGeom prst="rect">
            <a:avLst/>
          </a:prstGeom>
          <a:solidFill>
            <a:srgbClr val="C0443A"/>
          </a:solidFill>
          <a:ln w="12700">
            <a:solidFill>
              <a:srgbClr val="333333"/>
            </a:solidFill>
            <a:prstDash val="solid"/>
          </a:ln>
        </p:spPr>
      </p:sp>
      <p:sp>
        <p:nvSpPr>
          <p:cNvPr id="32" name="Text 30"/>
          <p:cNvSpPr txBox="1"/>
          <p:nvPr/>
        </p:nvSpPr>
        <p:spPr>
          <a:xfrm>
            <a:off x="2449286" y="25262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+0.94</a:t>
            </a:r>
            <a:endParaRPr lang="en-US" sz="700" dirty="0"/>
          </a:p>
        </p:txBody>
      </p:sp>
      <p:sp>
        <p:nvSpPr>
          <p:cNvPr id="33" name="Text 31"/>
          <p:cNvSpPr txBox="1"/>
          <p:nvPr/>
        </p:nvSpPr>
        <p:spPr>
          <a:xfrm>
            <a:off x="2495006"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May</a:t>
            </a:r>
            <a:endParaRPr lang="en-US" sz="750" dirty="0"/>
          </a:p>
        </p:txBody>
      </p:sp>
      <p:sp>
        <p:nvSpPr>
          <p:cNvPr id="34" name="Shape 32"/>
          <p:cNvSpPr/>
          <p:nvPr/>
        </p:nvSpPr>
        <p:spPr>
          <a:xfrm>
            <a:off x="2978331" y="2262632"/>
            <a:ext cx="274320" cy="1016000"/>
          </a:xfrm>
          <a:prstGeom prst="rect">
            <a:avLst/>
          </a:prstGeom>
          <a:solidFill>
            <a:srgbClr val="C0443A"/>
          </a:solidFill>
          <a:ln w="12700">
            <a:solidFill>
              <a:srgbClr val="333333"/>
            </a:solidFill>
            <a:prstDash val="solid"/>
          </a:ln>
        </p:spPr>
      </p:sp>
      <p:sp>
        <p:nvSpPr>
          <p:cNvPr id="35" name="Text 33"/>
          <p:cNvSpPr txBox="1"/>
          <p:nvPr/>
        </p:nvSpPr>
        <p:spPr>
          <a:xfrm>
            <a:off x="2841171" y="21071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+1.60</a:t>
            </a:r>
            <a:endParaRPr lang="en-US" sz="700" dirty="0"/>
          </a:p>
        </p:txBody>
      </p:sp>
      <p:sp>
        <p:nvSpPr>
          <p:cNvPr id="36" name="Text 34"/>
          <p:cNvSpPr txBox="1"/>
          <p:nvPr/>
        </p:nvSpPr>
        <p:spPr>
          <a:xfrm>
            <a:off x="2886891"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Jun</a:t>
            </a:r>
            <a:endParaRPr lang="en-US" sz="750" dirty="0"/>
          </a:p>
        </p:txBody>
      </p:sp>
      <p:sp>
        <p:nvSpPr>
          <p:cNvPr id="37" name="Shape 35"/>
          <p:cNvSpPr/>
          <p:nvPr/>
        </p:nvSpPr>
        <p:spPr>
          <a:xfrm>
            <a:off x="3370217" y="1951482"/>
            <a:ext cx="274320" cy="1327150"/>
          </a:xfrm>
          <a:prstGeom prst="rect">
            <a:avLst/>
          </a:prstGeom>
          <a:solidFill>
            <a:srgbClr val="C0443A"/>
          </a:solidFill>
          <a:ln w="12700">
            <a:solidFill>
              <a:srgbClr val="333333"/>
            </a:solidFill>
            <a:prstDash val="solid"/>
          </a:ln>
        </p:spPr>
      </p:sp>
      <p:sp>
        <p:nvSpPr>
          <p:cNvPr id="38" name="Text 36"/>
          <p:cNvSpPr txBox="1"/>
          <p:nvPr/>
        </p:nvSpPr>
        <p:spPr>
          <a:xfrm>
            <a:off x="3233057" y="17960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+2.09</a:t>
            </a:r>
            <a:endParaRPr lang="en-US" sz="700" dirty="0"/>
          </a:p>
        </p:txBody>
      </p:sp>
      <p:sp>
        <p:nvSpPr>
          <p:cNvPr id="39" name="Text 37"/>
          <p:cNvSpPr txBox="1"/>
          <p:nvPr/>
        </p:nvSpPr>
        <p:spPr>
          <a:xfrm>
            <a:off x="3278777"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Jul</a:t>
            </a:r>
            <a:endParaRPr lang="en-US" sz="750" dirty="0"/>
          </a:p>
        </p:txBody>
      </p:sp>
      <p:sp>
        <p:nvSpPr>
          <p:cNvPr id="40" name="Text 38"/>
          <p:cNvSpPr txBox="1"/>
          <p:nvPr/>
        </p:nvSpPr>
        <p:spPr>
          <a:xfrm>
            <a:off x="548640" y="1371600"/>
            <a:ext cx="3200400" cy="274320"/>
          </a:xfrm>
          <a:prstGeom prst="rect">
            <a:avLst/>
          </a:prstGeom>
          <a:noFill/>
          <a:ln/>
        </p:spPr>
        <p:txBody>
          <a:bodyPr wrap="square" lIns="0" tIns="0" rIns="0" bIns="0" rtlCol="0" anchor="t"/>
          <a:lstStyle/>
          <a:p>
            <a:pPr indent="0" marL="0">
              <a:buNone/>
            </a:pPr>
            <a:r>
              <a:rPr lang="en-US" sz="900" b="1" dirty="0">
                <a:solidFill>
                  <a:srgbClr val="0B1F3A"/>
                </a:solidFill>
                <a:latin typeface="Calibri" pitchFamily="34" charset="0"/>
                <a:ea typeface="Calibri" pitchFamily="34" charset="-122"/>
                <a:cs typeface="Calibri" pitchFamily="34" charset="-120"/>
              </a:rPr>
              <a:t>Niño-3.4 monthly anomaly, 2026</a:t>
            </a:r>
            <a:endParaRPr lang="en-US" sz="950" dirty="0"/>
          </a:p>
          <a:p>
            <a:pPr indent="0" marL="0">
              <a:buNone/>
            </a:pPr>
            <a:r>
              <a:rPr lang="en-US" sz="750" i="1" dirty="0">
                <a:solidFill>
                  <a:srgbClr val="6B7A8F"/>
                </a:solidFill>
                <a:latin typeface="Calibri" pitchFamily="34" charset="0"/>
                <a:ea typeface="Calibri" pitchFamily="34" charset="-122"/>
                <a:cs typeface="Calibri" pitchFamily="34" charset="-120"/>
              </a:rPr>
              <a:t>5° S–5° N, 170° W–120° W, 500 one-degree cells</a:t>
            </a:r>
            <a:endParaRPr lang="en-US" sz="950" dirty="0"/>
          </a:p>
        </p:txBody>
      </p:sp>
      <p:sp>
        <p:nvSpPr>
          <p:cNvPr id="41" name="Text 39"/>
          <p:cNvSpPr txBox="1"/>
          <p:nvPr/>
        </p:nvSpPr>
        <p:spPr>
          <a:xfrm>
            <a:off x="548640" y="4169664"/>
            <a:ext cx="3200400" cy="1645920"/>
          </a:xfrm>
          <a:prstGeom prst="rect">
            <a:avLst/>
          </a:prstGeom>
          <a:noFill/>
          <a:ln/>
        </p:spPr>
        <p:txBody>
          <a:bodyPr wrap="square" lIns="0" tIns="0" rIns="0" bIns="0" rtlCol="0" anchor="t"/>
          <a:lstStyle/>
          <a:p>
            <a:pPr indent="0" marL="0">
              <a:buNone/>
            </a:pPr>
            <a:r>
              <a:rPr lang="en-US" sz="800" dirty="0">
                <a:solidFill>
                  <a:srgbClr val="1B2430"/>
                </a:solidFill>
                <a:latin typeface="Calibri" pitchFamily="34" charset="0"/>
                <a:ea typeface="Calibri" pitchFamily="34" charset="-122"/>
                <a:cs typeface="Calibri" pitchFamily="34" charset="-120"/>
              </a:rPr>
              <a:t>Computed here from data/oisst_y (NOAA's daily satellite-and-buoy sea-temperature analysis, block-meaned to 1° monthly) against data/oisst_clim, the app's 1991–2020 normal. The Climate Prediction Center's July value is +1.4 °C, because the official index is computed on a different, coarser sea-temperature reconstruction (ERSSTv5) as a three-month running mean — and that 0.7 °C gap is itself the reason to carry the official index rather than only our own bake.</a:t>
            </a:r>
            <a:endParaRPr lang="en-US" sz="950" dirty="0"/>
          </a:p>
        </p:txBody>
      </p:sp>
      <p:sp>
        <p:nvSpPr>
          <p:cNvPr id="42" name="Shape 40"/>
          <p:cNvSpPr/>
          <p:nvPr/>
        </p:nvSpPr>
        <p:spPr>
          <a:xfrm>
            <a:off x="3886200" y="1371600"/>
            <a:ext cx="3383280" cy="4443984"/>
          </a:xfrm>
          <a:prstGeom prst="roundRect">
            <a:avLst>
              <a:gd name="adj" fmla="val 2162"/>
            </a:avLst>
          </a:prstGeom>
          <a:solidFill>
            <a:srgbClr val="F2F8FA"/>
          </a:solidFill>
          <a:ln w="15875">
            <a:solidFill>
              <a:srgbClr val="1C7293"/>
            </a:solidFill>
            <a:prstDash val="solid"/>
          </a:ln>
        </p:spPr>
      </p:sp>
      <p:sp>
        <p:nvSpPr>
          <p:cNvPr id="43" name="Text 41"/>
          <p:cNvSpPr txBox="1"/>
          <p:nvPr/>
        </p:nvSpPr>
        <p:spPr>
          <a:xfrm>
            <a:off x="4014216" y="1426464"/>
            <a:ext cx="3127248" cy="4334256"/>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Already in the catalog</a:t>
            </a:r>
            <a:endParaRPr lang="en-US" sz="950" dirty="0"/>
          </a:p>
          <a:p>
            <a:pPr indent="0" marL="0">
              <a:spcAft>
                <a:spcPts val="400"/>
              </a:spcAft>
              <a:buNone/>
            </a:pPr>
            <a:r>
              <a:rPr lang="en-US" sz="750" i="1" dirty="0">
                <a:solidFill>
                  <a:srgbClr val="6B7A8F"/>
                </a:solidFill>
                <a:latin typeface="Calibri" pitchFamily="34" charset="0"/>
                <a:ea typeface="Calibri" pitchFamily="34" charset="-122"/>
                <a:cs typeface="Calibri" pitchFamily="34" charset="-120"/>
              </a:rPr>
              <a:t>274 records, compiled for the Atlantic overturning circulation — its `amoc` flag mis-sorts for El Niño. what → signal · limit</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OISST v2.1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label itself, all four Niño boxes. Baked global 1° monthly 1981-09 → 2026-07.</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GLORYS12 surface currents + mixed-layer depth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equatorial advection. Baked 1993 → 2026-05 · the depth levels are not baked.</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GPCP 1979→ / IMERG 2000→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rainfall shift towards the dateline that is El Niño's atmospheric expression · only a climatology is baked from GPCP; IMERG is live.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MERRA-2 10 m wind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trade winds · monthly tiles only, so a westerly wind burst (a 5–15 day reversal) is averaged away.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NASA sea-surface height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Kelvin and Rossby waves · the app's tiles END 2019-01.</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OSCAR surface currents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zonal advection · tiles 2014-10 → 2024-07 only.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CERES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convection · tiles end 2018-10, and it is monthly NET radiation, not the daily outgoing-longwave field the index needs.</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TAO/TRITON + PIRATA moorings (`gtmba`)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single most El-Niño-specific record in the catalog · catalogued only for its Atlantic side, and flagged not-renderable.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Catalogued but unused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ORAS5 1958→ · SODA3 · ERSSTv5 (the substrate of the official index) · HadISST · EN4 1900→ · ERA5 · CFSR · the SEAS5 and NMME seasonal hindcasts 1981/82→.</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The machine-learning tensors are North-Atlantic-only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family 7 — the first tensor covering the whole globe at the same 0.25°, 5-day grid (experiment E-070) — is mid-fetch, and its own plan names the equatorial waveguide as a target regime.</a:t>
            </a:r>
            <a:endParaRPr lang="en-US" sz="950" dirty="0"/>
          </a:p>
        </p:txBody>
      </p:sp>
      <p:sp>
        <p:nvSpPr>
          <p:cNvPr id="44" name="Shape 42"/>
          <p:cNvSpPr/>
          <p:nvPr/>
        </p:nvSpPr>
        <p:spPr>
          <a:xfrm>
            <a:off x="7406640" y="1371600"/>
            <a:ext cx="4206240" cy="4443984"/>
          </a:xfrm>
          <a:prstGeom prst="roundRect">
            <a:avLst>
              <a:gd name="adj" fmla="val 1739"/>
            </a:avLst>
          </a:prstGeom>
          <a:solidFill>
            <a:srgbClr val="F4F6F9"/>
          </a:solidFill>
          <a:ln w="15875">
            <a:solidFill>
              <a:srgbClr val="0B1F3A"/>
            </a:solidFill>
            <a:prstDash val="solid"/>
          </a:ln>
        </p:spPr>
      </p:sp>
      <p:sp>
        <p:nvSpPr>
          <p:cNvPr id="45" name="Text 43"/>
          <p:cNvSpPr txBox="1"/>
          <p:nvPr/>
        </p:nvSpPr>
        <p:spPr>
          <a:xfrm>
            <a:off x="7534656" y="1426464"/>
            <a:ext cx="3950208" cy="4334256"/>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Add, ranked</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  Warm Water Volume and 20 °C-isotherm depth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 PMEL, monthly 1980→. How much warm water is stacked up in the equatorial Pacific — the ~6-month-lead predictor; recharge–discharge theory IS this number.</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2  GODAS or ORAS5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NOAA's operational ocean analysis (1/3° × 1°, 40 levels, 5-day and monthly, 1980→, keyless OPeNDAP), or ECMWF's ORAS5 (1958→, 5 members): the subsurface temperature and thermocline the tensor has nowhere in the Pacific.</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3  NOAA interpolated outgoing longwave radiation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2.5°, daily, 1974→. Cold cloud tops mark deep convection — the Walker-circulation and Madden–Julian-Oscillation diagnostic CERES does not replace.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4  Index series, as labels and as nulls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Oceanic Niño Index (the official definition, on ERSSTv5, 1950→), weekly Niño-1+2/3/3.4/4, the Southern Oscillation Index and its equatorial twin, the Multivariate ENSO Index, the RMM Madden–Julian index (the wind-burst trigger), the Pacific Decadal Oscillation and Pacific Meridional Mode (spring precursors).</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5  Daily winds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ERA5 10 m u and v (0.25°, hourly, 1940→) or CCMP 6-hourly 1987→ — westerly wind bursts and wind-stress curl at the cadence at which they actually happen.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6  TAO/TRITON moorings as native dots on the Pacific side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temperature and salinity with depth, currents, winds along 137° E–95° W, 1980→. The array is already catalogued, as `gtmba`.</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7  DUACS sea level directly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daily 0.125°, 1993→ — equatorial Kelvin and Rossby waves, and a proxy for warm-water volume.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8  Benchmarks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IRI/CPC forecast plume (2002→) and the NMME and SEAS5 hindcasts already in the catalog and unused — what any El Niño head must beat, and the spring-barrier skill curve to beat it on.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9  In the app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a `nino.json` bake beside eei.json and gistemp.json (~40 lines next to `oisst_monthly()` in scripts/refresh_data.py), and the four Niño boxes drawn on the globe.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10  The cone codec on family 7, with an El Niño head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sea-surface height, mixed-layer depth, the temperature/salinity column and wind stress are already the classic feature set. What is missing is the rainfall/longwave channel and the label.</a:t>
            </a:r>
            <a:endParaRPr lang="en-US" sz="950" dirty="0"/>
          </a:p>
        </p:txBody>
      </p:sp>
      <p:sp>
        <p:nvSpPr>
          <p:cNvPr id="46" name="Text 44"/>
          <p:cNvSpPr txBox="1"/>
          <p:nvPr/>
        </p:nvSpPr>
        <p:spPr>
          <a:xfrm>
            <a:off x="548640" y="5925312"/>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Onset is behind us — the event began in March 2026 — so “predict this year's El Niño” now means three different things, and each needs different data. Hindcast the ONSET from the November 2025 state (a −0.6 °C, mildly La-Niña-ish surface with a recharged subsurface): that is a test of whether the subsurface memory was readable. Forecast the PEAK amplitude and month (October–December) and the 2027 exit. And forecast the TELECONNECTIONS — the rainfall, drought and cyclone shifts that are what anyone outside the Pacific actually feels. All three need the subsurface first, the daily winds second, and an honest null beside them: persistence, a linear inverse model, and the operational forecast plume.</a:t>
            </a:r>
            <a:endParaRPr lang="en-US" sz="850" dirty="0"/>
          </a:p>
        </p:txBody>
      </p:sp>
      <p:sp>
        <p:nvSpPr>
          <p:cNvPr id="47"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2026-09-03T18:10:29Z</dcterms:created>
  <dcterms:modified xsi:type="dcterms:W3CDTF">2026-09-03T18:10:29Z</dcterms:modified>
</cp:coreProperties>
</file>