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but the paper does not state how large that frame is in metres, so we cannot give a receptive field in kilometres.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~24 %" means: across their 15 evaluation tasks, using AlphaEarth embeddings instead of the next-best method cut the error by about a quarter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paper says "given a square input of L pixels a side" but never says what L is, so all the fractions here are relative.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N blocks — N is also not stated.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but its size in metres is not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made-up but plausible numbers. We chose L = 128 pixels at 10 m, so the frame is 1.28 km across; the paper does not give L, and every slide says so in its footer.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our illustrative L).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N times (we draw N = 4). The consequence for our stencil question: after a few blocks, even the fine 20-m path has a receptive field that spans the whole frame, because it has received the space operator's global view several times — while keeping its own fine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entire input frame coarsely plus a fine local neighbourhood; temporally, every dated observation in the window. That is why the authors call it an embedding field, and why no single receptive-field number is quoted.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with updates in 2026.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of 768 dimensions per modality, or one merged 768-vector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averages about 75.6 %, roughly 8 points above version 1.0. In May 2026 the model was deployed on a satellite for onboard flood and cloud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512,000 tiles from 2017–2021,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The authors report that larger networks gave no gain.
Stencil: tile 42 by 42 pixels at 300 m = 12.6 km square. Token 2 by 2 pixels = 600 m, so 21 by 21 = 441 tokens. num_frames = 1: a single acquisition, no temporal stacking — the four-frame option of Prithvi is switched off. For fine-tuning, satellite imagery within six days of a ship measurement is paired with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and AlphaEarth sit at 10 m on the left — both are per-pixel outputs — but at the top, because both fold a whole year into one vector. AlphaEarth's dashed arrow says its spatial context extends to the right by an unknown amount.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ten times wider than any Earth observation model here.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Yannick's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most.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10 to 20 points on classification and roughly halves wind-speed error.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So the neighbourhood is worth about +0.05, and pretraining about +0.01. (RAPID is the mooring array at 26.5°N that measures the Atlantic overturning circulation; "correlation" is how well our read-out tracks it.)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is settled;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the 12-month rolled corridor AUC — our standard forecast skill score. Success means the folded vector beats the pooled control by more than the seed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Yannick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the pentad model could show.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the reason our pooled read-out failed and the unpooled attention head worked.
Bottom left: four falsifiable predictions, each an ablation we can run with the existing evaluator. Bottom right: where the simple picture needs care — v is the fastest signal speed, not the mean flow; τ is predictability, not causality; cones are tilted, not symmetric; monthly averaging turns anything faster than the step into forcing.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with a 3-month lifetime.
The "two rules" box states the arithmetic used throughout: reach at lag ℓ is the larger of v·(Δt+ℓ) and the correlation length, capped at 10,000 km; a lag is useful if Δt+ℓ ≤ τ. The notation panel defines ℓ with a timeline. All parameter values are order-of-magnitude illustrations and can be changed live in the Dependency-Cone Explorer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for one to three months;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Space-Time-Precision (STP) encoder — three operators at three resolutions (spatial attention @ 1/16 L, time-axial attention @ 1/8 L, 3×3 convs @ 1/2 L) exchanging state through a learned Laplacian pyramid (next slide). Teacher/student video embedders + text alignment; ~480 M deployed (1 B trained). Losses: reconstruction, batch-uniformity on S⁶³, consistency, text-contrastive.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Output 10 m pixel; multi-scale spatial context (extent not disclosed). Continuous 'valid period' [t₀, t₁) — arbitrary windows in principle; released product = calendar-year summaries.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~24 % avg error reduction vs. prior featurizations; LCMAP land cover 92.4 %, ET regression R² 0.58.</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16296" y="2286000"/>
            <a:ext cx="0" cy="2377440"/>
          </a:xfrm>
          <a:prstGeom prst="line">
            <a:avLst/>
          </a:prstGeom>
          <a:noFill/>
          <a:ln w="7620">
            <a:solidFill>
              <a:srgbClr val="B8C4D3"/>
            </a:solidFill>
            <a:prstDash val="solid"/>
          </a:ln>
        </p:spPr>
      </p:sp>
      <p:sp>
        <p:nvSpPr>
          <p:cNvPr id="12" name="Shape 10"/>
          <p:cNvSpPr/>
          <p:nvPr/>
        </p:nvSpPr>
        <p:spPr>
          <a:xfrm>
            <a:off x="5257800" y="2444496"/>
            <a:ext cx="2377440" cy="0"/>
          </a:xfrm>
          <a:prstGeom prst="line">
            <a:avLst/>
          </a:prstGeom>
          <a:noFill/>
          <a:ln w="7620">
            <a:solidFill>
              <a:srgbClr val="B8C4D3"/>
            </a:solidFill>
            <a:prstDash val="solid"/>
          </a:ln>
        </p:spPr>
      </p:sp>
      <p:sp>
        <p:nvSpPr>
          <p:cNvPr id="13" name="Shape 11"/>
          <p:cNvSpPr/>
          <p:nvPr/>
        </p:nvSpPr>
        <p:spPr>
          <a:xfrm>
            <a:off x="5574792" y="2286000"/>
            <a:ext cx="0" cy="2377440"/>
          </a:xfrm>
          <a:prstGeom prst="line">
            <a:avLst/>
          </a:prstGeom>
          <a:noFill/>
          <a:ln w="7620">
            <a:solidFill>
              <a:srgbClr val="B8C4D3"/>
            </a:solidFill>
            <a:prstDash val="solid"/>
          </a:ln>
        </p:spPr>
      </p:sp>
      <p:sp>
        <p:nvSpPr>
          <p:cNvPr id="14" name="Shape 12"/>
          <p:cNvSpPr/>
          <p:nvPr/>
        </p:nvSpPr>
        <p:spPr>
          <a:xfrm>
            <a:off x="5257800" y="2602992"/>
            <a:ext cx="2377440" cy="0"/>
          </a:xfrm>
          <a:prstGeom prst="line">
            <a:avLst/>
          </a:prstGeom>
          <a:noFill/>
          <a:ln w="7620">
            <a:solidFill>
              <a:srgbClr val="B8C4D3"/>
            </a:solidFill>
            <a:prstDash val="solid"/>
          </a:ln>
        </p:spPr>
      </p:sp>
      <p:sp>
        <p:nvSpPr>
          <p:cNvPr id="15" name="Shape 13"/>
          <p:cNvSpPr/>
          <p:nvPr/>
        </p:nvSpPr>
        <p:spPr>
          <a:xfrm>
            <a:off x="5733288" y="2286000"/>
            <a:ext cx="0" cy="2377440"/>
          </a:xfrm>
          <a:prstGeom prst="line">
            <a:avLst/>
          </a:prstGeom>
          <a:noFill/>
          <a:ln w="7620">
            <a:solidFill>
              <a:srgbClr val="B8C4D3"/>
            </a:solidFill>
            <a:prstDash val="solid"/>
          </a:ln>
        </p:spPr>
      </p:sp>
      <p:sp>
        <p:nvSpPr>
          <p:cNvPr id="16" name="Shape 14"/>
          <p:cNvSpPr/>
          <p:nvPr/>
        </p:nvSpPr>
        <p:spPr>
          <a:xfrm>
            <a:off x="5257800" y="2761488"/>
            <a:ext cx="2377440" cy="0"/>
          </a:xfrm>
          <a:prstGeom prst="line">
            <a:avLst/>
          </a:prstGeom>
          <a:noFill/>
          <a:ln w="7620">
            <a:solidFill>
              <a:srgbClr val="B8C4D3"/>
            </a:solidFill>
            <a:prstDash val="solid"/>
          </a:ln>
        </p:spPr>
      </p:sp>
      <p:sp>
        <p:nvSpPr>
          <p:cNvPr id="17" name="Shape 15"/>
          <p:cNvSpPr/>
          <p:nvPr/>
        </p:nvSpPr>
        <p:spPr>
          <a:xfrm>
            <a:off x="5891784" y="2286000"/>
            <a:ext cx="0" cy="2377440"/>
          </a:xfrm>
          <a:prstGeom prst="line">
            <a:avLst/>
          </a:prstGeom>
          <a:noFill/>
          <a:ln w="7620">
            <a:solidFill>
              <a:srgbClr val="B8C4D3"/>
            </a:solidFill>
            <a:prstDash val="solid"/>
          </a:ln>
        </p:spPr>
      </p:sp>
      <p:sp>
        <p:nvSpPr>
          <p:cNvPr id="18" name="Shape 16"/>
          <p:cNvSpPr/>
          <p:nvPr/>
        </p:nvSpPr>
        <p:spPr>
          <a:xfrm>
            <a:off x="5257800" y="2919984"/>
            <a:ext cx="2377440" cy="0"/>
          </a:xfrm>
          <a:prstGeom prst="line">
            <a:avLst/>
          </a:prstGeom>
          <a:noFill/>
          <a:ln w="7620">
            <a:solidFill>
              <a:srgbClr val="B8C4D3"/>
            </a:solidFill>
            <a:prstDash val="solid"/>
          </a:ln>
        </p:spPr>
      </p:sp>
      <p:sp>
        <p:nvSpPr>
          <p:cNvPr id="19" name="Shape 17"/>
          <p:cNvSpPr/>
          <p:nvPr/>
        </p:nvSpPr>
        <p:spPr>
          <a:xfrm>
            <a:off x="6050280" y="2286000"/>
            <a:ext cx="0" cy="2377440"/>
          </a:xfrm>
          <a:prstGeom prst="line">
            <a:avLst/>
          </a:prstGeom>
          <a:noFill/>
          <a:ln w="7620">
            <a:solidFill>
              <a:srgbClr val="B8C4D3"/>
            </a:solidFill>
            <a:prstDash val="solid"/>
          </a:ln>
        </p:spPr>
      </p:sp>
      <p:sp>
        <p:nvSpPr>
          <p:cNvPr id="20" name="Shape 18"/>
          <p:cNvSpPr/>
          <p:nvPr/>
        </p:nvSpPr>
        <p:spPr>
          <a:xfrm>
            <a:off x="5257800" y="3078480"/>
            <a:ext cx="2377440" cy="0"/>
          </a:xfrm>
          <a:prstGeom prst="line">
            <a:avLst/>
          </a:prstGeom>
          <a:noFill/>
          <a:ln w="7620">
            <a:solidFill>
              <a:srgbClr val="B8C4D3"/>
            </a:solidFill>
            <a:prstDash val="solid"/>
          </a:ln>
        </p:spPr>
      </p:sp>
      <p:sp>
        <p:nvSpPr>
          <p:cNvPr id="21" name="Shape 19"/>
          <p:cNvSpPr/>
          <p:nvPr/>
        </p:nvSpPr>
        <p:spPr>
          <a:xfrm>
            <a:off x="6208776" y="2286000"/>
            <a:ext cx="0" cy="2377440"/>
          </a:xfrm>
          <a:prstGeom prst="line">
            <a:avLst/>
          </a:prstGeom>
          <a:noFill/>
          <a:ln w="7620">
            <a:solidFill>
              <a:srgbClr val="B8C4D3"/>
            </a:solidFill>
            <a:prstDash val="solid"/>
          </a:ln>
        </p:spPr>
      </p:sp>
      <p:sp>
        <p:nvSpPr>
          <p:cNvPr id="22" name="Shape 20"/>
          <p:cNvSpPr/>
          <p:nvPr/>
        </p:nvSpPr>
        <p:spPr>
          <a:xfrm>
            <a:off x="5257800" y="3236976"/>
            <a:ext cx="2377440" cy="0"/>
          </a:xfrm>
          <a:prstGeom prst="line">
            <a:avLst/>
          </a:prstGeom>
          <a:noFill/>
          <a:ln w="7620">
            <a:solidFill>
              <a:srgbClr val="B8C4D3"/>
            </a:solidFill>
            <a:prstDash val="solid"/>
          </a:ln>
        </p:spPr>
      </p:sp>
      <p:sp>
        <p:nvSpPr>
          <p:cNvPr id="23" name="Shape 21"/>
          <p:cNvSpPr/>
          <p:nvPr/>
        </p:nvSpPr>
        <p:spPr>
          <a:xfrm>
            <a:off x="6367272" y="2286000"/>
            <a:ext cx="0" cy="2377440"/>
          </a:xfrm>
          <a:prstGeom prst="line">
            <a:avLst/>
          </a:prstGeom>
          <a:noFill/>
          <a:ln w="7620">
            <a:solidFill>
              <a:srgbClr val="B8C4D3"/>
            </a:solidFill>
            <a:prstDash val="solid"/>
          </a:ln>
        </p:spPr>
      </p:sp>
      <p:sp>
        <p:nvSpPr>
          <p:cNvPr id="24" name="Shape 22"/>
          <p:cNvSpPr/>
          <p:nvPr/>
        </p:nvSpPr>
        <p:spPr>
          <a:xfrm>
            <a:off x="5257800" y="3395472"/>
            <a:ext cx="2377440" cy="0"/>
          </a:xfrm>
          <a:prstGeom prst="line">
            <a:avLst/>
          </a:prstGeom>
          <a:noFill/>
          <a:ln w="7620">
            <a:solidFill>
              <a:srgbClr val="B8C4D3"/>
            </a:solidFill>
            <a:prstDash val="solid"/>
          </a:ln>
        </p:spPr>
      </p:sp>
      <p:sp>
        <p:nvSpPr>
          <p:cNvPr id="25" name="Shape 23"/>
          <p:cNvSpPr/>
          <p:nvPr/>
        </p:nvSpPr>
        <p:spPr>
          <a:xfrm>
            <a:off x="6525768" y="2286000"/>
            <a:ext cx="0" cy="2377440"/>
          </a:xfrm>
          <a:prstGeom prst="line">
            <a:avLst/>
          </a:prstGeom>
          <a:noFill/>
          <a:ln w="7620">
            <a:solidFill>
              <a:srgbClr val="B8C4D3"/>
            </a:solidFill>
            <a:prstDash val="solid"/>
          </a:ln>
        </p:spPr>
      </p:sp>
      <p:sp>
        <p:nvSpPr>
          <p:cNvPr id="26" name="Shape 24"/>
          <p:cNvSpPr/>
          <p:nvPr/>
        </p:nvSpPr>
        <p:spPr>
          <a:xfrm>
            <a:off x="5257800" y="3553968"/>
            <a:ext cx="2377440" cy="0"/>
          </a:xfrm>
          <a:prstGeom prst="line">
            <a:avLst/>
          </a:prstGeom>
          <a:noFill/>
          <a:ln w="7620">
            <a:solidFill>
              <a:srgbClr val="B8C4D3"/>
            </a:solidFill>
            <a:prstDash val="solid"/>
          </a:ln>
        </p:spPr>
      </p:sp>
      <p:sp>
        <p:nvSpPr>
          <p:cNvPr id="27" name="Shape 25"/>
          <p:cNvSpPr/>
          <p:nvPr/>
        </p:nvSpPr>
        <p:spPr>
          <a:xfrm>
            <a:off x="6684264" y="2286000"/>
            <a:ext cx="0" cy="2377440"/>
          </a:xfrm>
          <a:prstGeom prst="line">
            <a:avLst/>
          </a:prstGeom>
          <a:noFill/>
          <a:ln w="7620">
            <a:solidFill>
              <a:srgbClr val="B8C4D3"/>
            </a:solidFill>
            <a:prstDash val="solid"/>
          </a:ln>
        </p:spPr>
      </p:sp>
      <p:sp>
        <p:nvSpPr>
          <p:cNvPr id="28" name="Shape 26"/>
          <p:cNvSpPr/>
          <p:nvPr/>
        </p:nvSpPr>
        <p:spPr>
          <a:xfrm>
            <a:off x="5257800" y="3712464"/>
            <a:ext cx="2377440" cy="0"/>
          </a:xfrm>
          <a:prstGeom prst="line">
            <a:avLst/>
          </a:prstGeom>
          <a:noFill/>
          <a:ln w="7620">
            <a:solidFill>
              <a:srgbClr val="B8C4D3"/>
            </a:solidFill>
            <a:prstDash val="solid"/>
          </a:ln>
        </p:spPr>
      </p:sp>
      <p:sp>
        <p:nvSpPr>
          <p:cNvPr id="29" name="Shape 27"/>
          <p:cNvSpPr/>
          <p:nvPr/>
        </p:nvSpPr>
        <p:spPr>
          <a:xfrm>
            <a:off x="6842760" y="2286000"/>
            <a:ext cx="0" cy="2377440"/>
          </a:xfrm>
          <a:prstGeom prst="line">
            <a:avLst/>
          </a:prstGeom>
          <a:noFill/>
          <a:ln w="7620">
            <a:solidFill>
              <a:srgbClr val="B8C4D3"/>
            </a:solidFill>
            <a:prstDash val="solid"/>
          </a:ln>
        </p:spPr>
      </p:sp>
      <p:sp>
        <p:nvSpPr>
          <p:cNvPr id="30" name="Shape 28"/>
          <p:cNvSpPr/>
          <p:nvPr/>
        </p:nvSpPr>
        <p:spPr>
          <a:xfrm>
            <a:off x="5257800" y="3870960"/>
            <a:ext cx="2377440" cy="0"/>
          </a:xfrm>
          <a:prstGeom prst="line">
            <a:avLst/>
          </a:prstGeom>
          <a:noFill/>
          <a:ln w="7620">
            <a:solidFill>
              <a:srgbClr val="B8C4D3"/>
            </a:solidFill>
            <a:prstDash val="solid"/>
          </a:ln>
        </p:spPr>
      </p:sp>
      <p:sp>
        <p:nvSpPr>
          <p:cNvPr id="31" name="Shape 29"/>
          <p:cNvSpPr/>
          <p:nvPr/>
        </p:nvSpPr>
        <p:spPr>
          <a:xfrm>
            <a:off x="7001256" y="2286000"/>
            <a:ext cx="0" cy="2377440"/>
          </a:xfrm>
          <a:prstGeom prst="line">
            <a:avLst/>
          </a:prstGeom>
          <a:noFill/>
          <a:ln w="7620">
            <a:solidFill>
              <a:srgbClr val="B8C4D3"/>
            </a:solidFill>
            <a:prstDash val="solid"/>
          </a:ln>
        </p:spPr>
      </p:sp>
      <p:sp>
        <p:nvSpPr>
          <p:cNvPr id="32" name="Shape 30"/>
          <p:cNvSpPr/>
          <p:nvPr/>
        </p:nvSpPr>
        <p:spPr>
          <a:xfrm>
            <a:off x="5257800" y="4029456"/>
            <a:ext cx="2377440" cy="0"/>
          </a:xfrm>
          <a:prstGeom prst="line">
            <a:avLst/>
          </a:prstGeom>
          <a:noFill/>
          <a:ln w="7620">
            <a:solidFill>
              <a:srgbClr val="B8C4D3"/>
            </a:solidFill>
            <a:prstDash val="solid"/>
          </a:ln>
        </p:spPr>
      </p:sp>
      <p:sp>
        <p:nvSpPr>
          <p:cNvPr id="33" name="Shape 31"/>
          <p:cNvSpPr/>
          <p:nvPr/>
        </p:nvSpPr>
        <p:spPr>
          <a:xfrm>
            <a:off x="7159752" y="2286000"/>
            <a:ext cx="0" cy="2377440"/>
          </a:xfrm>
          <a:prstGeom prst="line">
            <a:avLst/>
          </a:prstGeom>
          <a:noFill/>
          <a:ln w="7620">
            <a:solidFill>
              <a:srgbClr val="B8C4D3"/>
            </a:solidFill>
            <a:prstDash val="solid"/>
          </a:ln>
        </p:spPr>
      </p:sp>
      <p:sp>
        <p:nvSpPr>
          <p:cNvPr id="34" name="Shape 32"/>
          <p:cNvSpPr/>
          <p:nvPr/>
        </p:nvSpPr>
        <p:spPr>
          <a:xfrm>
            <a:off x="5257800" y="4187952"/>
            <a:ext cx="2377440" cy="0"/>
          </a:xfrm>
          <a:prstGeom prst="line">
            <a:avLst/>
          </a:prstGeom>
          <a:noFill/>
          <a:ln w="7620">
            <a:solidFill>
              <a:srgbClr val="B8C4D3"/>
            </a:solidFill>
            <a:prstDash val="solid"/>
          </a:ln>
        </p:spPr>
      </p:sp>
      <p:sp>
        <p:nvSpPr>
          <p:cNvPr id="35" name="Shape 33"/>
          <p:cNvSpPr/>
          <p:nvPr/>
        </p:nvSpPr>
        <p:spPr>
          <a:xfrm>
            <a:off x="7318248" y="2286000"/>
            <a:ext cx="0" cy="2377440"/>
          </a:xfrm>
          <a:prstGeom prst="line">
            <a:avLst/>
          </a:prstGeom>
          <a:noFill/>
          <a:ln w="7620">
            <a:solidFill>
              <a:srgbClr val="B8C4D3"/>
            </a:solidFill>
            <a:prstDash val="solid"/>
          </a:ln>
        </p:spPr>
      </p:sp>
      <p:sp>
        <p:nvSpPr>
          <p:cNvPr id="36" name="Shape 34"/>
          <p:cNvSpPr/>
          <p:nvPr/>
        </p:nvSpPr>
        <p:spPr>
          <a:xfrm>
            <a:off x="5257800" y="4346448"/>
            <a:ext cx="2377440" cy="0"/>
          </a:xfrm>
          <a:prstGeom prst="line">
            <a:avLst/>
          </a:prstGeom>
          <a:noFill/>
          <a:ln w="7620">
            <a:solidFill>
              <a:srgbClr val="B8C4D3"/>
            </a:solidFill>
            <a:prstDash val="solid"/>
          </a:ln>
        </p:spPr>
      </p:sp>
      <p:sp>
        <p:nvSpPr>
          <p:cNvPr id="37" name="Shape 35"/>
          <p:cNvSpPr/>
          <p:nvPr/>
        </p:nvSpPr>
        <p:spPr>
          <a:xfrm>
            <a:off x="7476744" y="2286000"/>
            <a:ext cx="0" cy="2377440"/>
          </a:xfrm>
          <a:prstGeom prst="line">
            <a:avLst/>
          </a:prstGeom>
          <a:noFill/>
          <a:ln w="7620">
            <a:solidFill>
              <a:srgbClr val="B8C4D3"/>
            </a:solidFill>
            <a:prstDash val="solid"/>
          </a:ln>
        </p:spPr>
      </p:sp>
      <p:sp>
        <p:nvSpPr>
          <p:cNvPr id="38" name="Shape 36"/>
          <p:cNvSpPr/>
          <p:nvPr/>
        </p:nvSpPr>
        <p:spPr>
          <a:xfrm>
            <a:off x="5257800" y="4504944"/>
            <a:ext cx="2377440" cy="0"/>
          </a:xfrm>
          <a:prstGeom prst="line">
            <a:avLst/>
          </a:prstGeom>
          <a:noFill/>
          <a:ln w="7620">
            <a:solidFill>
              <a:srgbClr val="B8C4D3"/>
            </a:solidFill>
            <a:prstDash val="solid"/>
          </a:ln>
        </p:spPr>
      </p:sp>
      <p:sp>
        <p:nvSpPr>
          <p:cNvPr id="39" name="Shape 37"/>
          <p:cNvSpPr/>
          <p:nvPr/>
        </p:nvSpPr>
        <p:spPr>
          <a:xfrm>
            <a:off x="6208776" y="3236976"/>
            <a:ext cx="475488" cy="475488"/>
          </a:xfrm>
          <a:prstGeom prst="rect">
            <a:avLst/>
          </a:prstGeom>
          <a:ln w="15875">
            <a:solidFill>
              <a:srgbClr val="2E86AB"/>
            </a:solidFill>
            <a:prstDash val="dash"/>
          </a:ln>
        </p:spPr>
      </p:sp>
      <p:sp>
        <p:nvSpPr>
          <p:cNvPr id="40" name="Shape 38"/>
          <p:cNvSpPr/>
          <p:nvPr/>
        </p:nvSpPr>
        <p:spPr>
          <a:xfrm>
            <a:off x="5891784" y="2919984"/>
            <a:ext cx="1109472" cy="1109472"/>
          </a:xfrm>
          <a:prstGeom prst="rect">
            <a:avLst/>
          </a:prstGeom>
          <a:ln w="15875">
            <a:solidFill>
              <a:srgbClr val="2E86AB"/>
            </a:solidFill>
            <a:prstDash val="dash"/>
          </a:ln>
        </p:spPr>
      </p:sp>
      <p:sp>
        <p:nvSpPr>
          <p:cNvPr id="41" name="Shape 39"/>
          <p:cNvSpPr/>
          <p:nvPr/>
        </p:nvSpPr>
        <p:spPr>
          <a:xfrm>
            <a:off x="5416296" y="2444496"/>
            <a:ext cx="2060448" cy="2060448"/>
          </a:xfrm>
          <a:prstGeom prst="rect">
            <a:avLst/>
          </a:prstGeom>
          <a:ln w="15875">
            <a:solidFill>
              <a:srgbClr val="2E86AB"/>
            </a:solidFill>
            <a:prstDash val="dash"/>
          </a:ln>
        </p:spPr>
      </p:sp>
      <p:sp>
        <p:nvSpPr>
          <p:cNvPr id="42" name="Shape 40"/>
          <p:cNvSpPr/>
          <p:nvPr/>
        </p:nvSpPr>
        <p:spPr>
          <a:xfrm>
            <a:off x="6367272" y="3395472"/>
            <a:ext cx="158496" cy="158496"/>
          </a:xfrm>
          <a:prstGeom prst="rect">
            <a:avLst/>
          </a:prstGeom>
          <a:solidFill>
            <a:srgbClr val="F2C14E"/>
          </a:solidFill>
          <a:ln w="12700">
            <a:solidFill>
              <a:srgbClr val="B58900"/>
            </a:solidFill>
            <a:prstDash val="solid"/>
          </a:ln>
        </p:spPr>
      </p:sp>
      <p:sp>
        <p:nvSpPr>
          <p:cNvPr id="43" name="Text 41"/>
          <p:cNvSpPr txBox="1"/>
          <p:nvPr/>
        </p:nvSpPr>
        <p:spPr>
          <a:xfrm>
            <a:off x="5330952" y="4206240"/>
            <a:ext cx="1325880" cy="384048"/>
          </a:xfrm>
          <a:prstGeom prst="rect">
            <a:avLst/>
          </a:prstGeom>
          <a:solidFill>
            <a:srgbClr val="FFFFFF">
              <a:alpha val="85000"/>
            </a:srgbClr>
          </a:solid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multi-scale context</a:t>
            </a:r>
            <a:endParaRPr lang="en-US" sz="850" dirty="0"/>
          </a:p>
          <a:p>
            <a:pPr algn="l" indent="0" marL="0">
              <a:buNone/>
            </a:pPr>
            <a:r>
              <a:rPr lang="en-US" sz="850" b="1" dirty="0">
                <a:solidFill>
                  <a:srgbClr val="2E86AB"/>
                </a:solidFill>
                <a:latin typeface="Calibri" pitchFamily="34" charset="0"/>
                <a:ea typeface="Calibri" pitchFamily="34" charset="-122"/>
                <a:cs typeface="Calibri" pitchFamily="34" charset="-120"/>
              </a:rPr>
              <a:t>(extent undisclosed)</a:t>
            </a:r>
            <a:endParaRPr lang="en-US" sz="850" dirty="0"/>
          </a:p>
        </p:txBody>
      </p:sp>
      <p:sp>
        <p:nvSpPr>
          <p:cNvPr id="44" name="Text 4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spatial self-attention is global across the input frame at 1/16 L, so the receptive field is the frame; frame size L is not stated.</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5" name="Text 4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6" name="Shape 44"/>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7" name="Text 45"/>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48" name="Shape 46"/>
          <p:cNvSpPr/>
          <p:nvPr/>
        </p:nvSpPr>
        <p:spPr>
          <a:xfrm>
            <a:off x="8092440" y="3760013"/>
            <a:ext cx="2240280" cy="0"/>
          </a:xfrm>
          <a:prstGeom prst="line">
            <a:avLst/>
          </a:prstGeom>
          <a:noFill/>
          <a:ln w="12700">
            <a:solidFill>
              <a:srgbClr val="1B2430"/>
            </a:solidFill>
            <a:prstDash val="solid"/>
            <a:tailEnd type="triangle"/>
          </a:ln>
        </p:spPr>
      </p:sp>
      <p:sp>
        <p:nvSpPr>
          <p:cNvPr id="49" name="Text 47"/>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0" name="Shape 48"/>
          <p:cNvSpPr/>
          <p:nvPr/>
        </p:nvSpPr>
        <p:spPr>
          <a:xfrm>
            <a:off x="8391144" y="3723437"/>
            <a:ext cx="0" cy="73152"/>
          </a:xfrm>
          <a:prstGeom prst="line">
            <a:avLst/>
          </a:prstGeom>
          <a:noFill/>
          <a:ln w="9525">
            <a:solidFill>
              <a:srgbClr val="1B2430"/>
            </a:solidFill>
            <a:prstDash val="solid"/>
          </a:ln>
        </p:spPr>
      </p:sp>
      <p:sp>
        <p:nvSpPr>
          <p:cNvPr id="51" name="Shape 49"/>
          <p:cNvSpPr/>
          <p:nvPr/>
        </p:nvSpPr>
        <p:spPr>
          <a:xfrm>
            <a:off x="8540496" y="3723437"/>
            <a:ext cx="0" cy="73152"/>
          </a:xfrm>
          <a:prstGeom prst="line">
            <a:avLst/>
          </a:prstGeom>
          <a:noFill/>
          <a:ln w="9525">
            <a:solidFill>
              <a:srgbClr val="1B2430"/>
            </a:solidFill>
            <a:prstDash val="solid"/>
          </a:ln>
        </p:spPr>
      </p:sp>
      <p:sp>
        <p:nvSpPr>
          <p:cNvPr id="52" name="Shape 50"/>
          <p:cNvSpPr/>
          <p:nvPr/>
        </p:nvSpPr>
        <p:spPr>
          <a:xfrm>
            <a:off x="8689848" y="3723437"/>
            <a:ext cx="0" cy="73152"/>
          </a:xfrm>
          <a:prstGeom prst="line">
            <a:avLst/>
          </a:prstGeom>
          <a:noFill/>
          <a:ln w="9525">
            <a:solidFill>
              <a:srgbClr val="1B2430"/>
            </a:solidFill>
            <a:prstDash val="solid"/>
          </a:ln>
        </p:spPr>
      </p:sp>
      <p:sp>
        <p:nvSpPr>
          <p:cNvPr id="53" name="Shape 51"/>
          <p:cNvSpPr/>
          <p:nvPr/>
        </p:nvSpPr>
        <p:spPr>
          <a:xfrm>
            <a:off x="8839200" y="3723437"/>
            <a:ext cx="0" cy="73152"/>
          </a:xfrm>
          <a:prstGeom prst="line">
            <a:avLst/>
          </a:prstGeom>
          <a:noFill/>
          <a:ln w="9525">
            <a:solidFill>
              <a:srgbClr val="1B2430"/>
            </a:solidFill>
            <a:prstDash val="solid"/>
          </a:ln>
        </p:spPr>
      </p:sp>
      <p:sp>
        <p:nvSpPr>
          <p:cNvPr id="54" name="Shape 52"/>
          <p:cNvSpPr/>
          <p:nvPr/>
        </p:nvSpPr>
        <p:spPr>
          <a:xfrm>
            <a:off x="8988552" y="3723437"/>
            <a:ext cx="0" cy="73152"/>
          </a:xfrm>
          <a:prstGeom prst="line">
            <a:avLst/>
          </a:prstGeom>
          <a:noFill/>
          <a:ln w="9525">
            <a:solidFill>
              <a:srgbClr val="1B2430"/>
            </a:solidFill>
            <a:prstDash val="solid"/>
          </a:ln>
        </p:spPr>
      </p:sp>
      <p:sp>
        <p:nvSpPr>
          <p:cNvPr id="55" name="Shape 53"/>
          <p:cNvSpPr/>
          <p:nvPr/>
        </p:nvSpPr>
        <p:spPr>
          <a:xfrm>
            <a:off x="9137904" y="3723437"/>
            <a:ext cx="0" cy="73152"/>
          </a:xfrm>
          <a:prstGeom prst="line">
            <a:avLst/>
          </a:prstGeom>
          <a:noFill/>
          <a:ln w="9525">
            <a:solidFill>
              <a:srgbClr val="1B2430"/>
            </a:solidFill>
            <a:prstDash val="solid"/>
          </a:ln>
        </p:spPr>
      </p:sp>
      <p:sp>
        <p:nvSpPr>
          <p:cNvPr id="56" name="Shape 54"/>
          <p:cNvSpPr/>
          <p:nvPr/>
        </p:nvSpPr>
        <p:spPr>
          <a:xfrm>
            <a:off x="9287256" y="3723437"/>
            <a:ext cx="0" cy="73152"/>
          </a:xfrm>
          <a:prstGeom prst="line">
            <a:avLst/>
          </a:prstGeom>
          <a:noFill/>
          <a:ln w="9525">
            <a:solidFill>
              <a:srgbClr val="1B2430"/>
            </a:solidFill>
            <a:prstDash val="solid"/>
          </a:ln>
        </p:spPr>
      </p:sp>
      <p:sp>
        <p:nvSpPr>
          <p:cNvPr id="57" name="Shape 55"/>
          <p:cNvSpPr/>
          <p:nvPr/>
        </p:nvSpPr>
        <p:spPr>
          <a:xfrm>
            <a:off x="9436608" y="3723437"/>
            <a:ext cx="0" cy="73152"/>
          </a:xfrm>
          <a:prstGeom prst="line">
            <a:avLst/>
          </a:prstGeom>
          <a:noFill/>
          <a:ln w="9525">
            <a:solidFill>
              <a:srgbClr val="1B2430"/>
            </a:solidFill>
            <a:prstDash val="solid"/>
          </a:ln>
        </p:spPr>
      </p:sp>
      <p:sp>
        <p:nvSpPr>
          <p:cNvPr id="58" name="Shape 56"/>
          <p:cNvSpPr/>
          <p:nvPr/>
        </p:nvSpPr>
        <p:spPr>
          <a:xfrm>
            <a:off x="9585960" y="3723437"/>
            <a:ext cx="0" cy="73152"/>
          </a:xfrm>
          <a:prstGeom prst="line">
            <a:avLst/>
          </a:prstGeom>
          <a:noFill/>
          <a:ln w="9525">
            <a:solidFill>
              <a:srgbClr val="1B2430"/>
            </a:solidFill>
            <a:prstDash val="solid"/>
          </a:ln>
        </p:spPr>
      </p:sp>
      <p:sp>
        <p:nvSpPr>
          <p:cNvPr id="59" name="Shape 57"/>
          <p:cNvSpPr/>
          <p:nvPr/>
        </p:nvSpPr>
        <p:spPr>
          <a:xfrm>
            <a:off x="9735312" y="3723437"/>
            <a:ext cx="0" cy="73152"/>
          </a:xfrm>
          <a:prstGeom prst="line">
            <a:avLst/>
          </a:prstGeom>
          <a:noFill/>
          <a:ln w="9525">
            <a:solidFill>
              <a:srgbClr val="1B2430"/>
            </a:solidFill>
            <a:prstDash val="solid"/>
          </a:ln>
        </p:spPr>
      </p:sp>
      <p:sp>
        <p:nvSpPr>
          <p:cNvPr id="60" name="Shape 58"/>
          <p:cNvSpPr/>
          <p:nvPr/>
        </p:nvSpPr>
        <p:spPr>
          <a:xfrm>
            <a:off x="9884664" y="3723437"/>
            <a:ext cx="0" cy="73152"/>
          </a:xfrm>
          <a:prstGeom prst="line">
            <a:avLst/>
          </a:prstGeom>
          <a:noFill/>
          <a:ln w="9525">
            <a:solidFill>
              <a:srgbClr val="1B2430"/>
            </a:solidFill>
            <a:prstDash val="solid"/>
          </a:ln>
        </p:spPr>
      </p:sp>
      <p:sp>
        <p:nvSpPr>
          <p:cNvPr id="61" name="Shape 59"/>
          <p:cNvSpPr/>
          <p:nvPr/>
        </p:nvSpPr>
        <p:spPr>
          <a:xfrm>
            <a:off x="10034016" y="3723437"/>
            <a:ext cx="0" cy="73152"/>
          </a:xfrm>
          <a:prstGeom prst="line">
            <a:avLst/>
          </a:prstGeom>
          <a:noFill/>
          <a:ln w="9525">
            <a:solidFill>
              <a:srgbClr val="1B2430"/>
            </a:solidFill>
            <a:prstDash val="solid"/>
          </a:ln>
        </p:spPr>
      </p:sp>
      <p:sp>
        <p:nvSpPr>
          <p:cNvPr id="62" name="Text 60"/>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3" name="Shape 61"/>
          <p:cNvSpPr/>
          <p:nvPr/>
        </p:nvSpPr>
        <p:spPr>
          <a:xfrm>
            <a:off x="8325612" y="2874569"/>
            <a:ext cx="45720" cy="45720"/>
          </a:xfrm>
          <a:prstGeom prst="ellipse">
            <a:avLst/>
          </a:prstGeom>
          <a:solidFill>
            <a:srgbClr val="E07A2F"/>
          </a:solidFill>
          <a:ln w="12700">
            <a:solidFill>
              <a:srgbClr val="333333"/>
            </a:solidFill>
            <a:prstDash val="solid"/>
          </a:ln>
        </p:spPr>
      </p:sp>
      <p:sp>
        <p:nvSpPr>
          <p:cNvPr id="64" name="Shape 62"/>
          <p:cNvSpPr/>
          <p:nvPr/>
        </p:nvSpPr>
        <p:spPr>
          <a:xfrm>
            <a:off x="8389620" y="2874569"/>
            <a:ext cx="45720" cy="45720"/>
          </a:xfrm>
          <a:prstGeom prst="ellipse">
            <a:avLst/>
          </a:prstGeom>
          <a:solidFill>
            <a:srgbClr val="E07A2F"/>
          </a:solidFill>
          <a:ln w="12700">
            <a:solidFill>
              <a:srgbClr val="333333"/>
            </a:solidFill>
            <a:prstDash val="solid"/>
          </a:ln>
        </p:spPr>
      </p:sp>
      <p:sp>
        <p:nvSpPr>
          <p:cNvPr id="65" name="Shape 63"/>
          <p:cNvSpPr/>
          <p:nvPr/>
        </p:nvSpPr>
        <p:spPr>
          <a:xfrm>
            <a:off x="8453628"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517636"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581644"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645652"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709660"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773668"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837676"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901684"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965692"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9029700"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9093708"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157716"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221724"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285732"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349740"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413748"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477756"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541764"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605772"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669780"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733788"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797796"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861804"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925812"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989820"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10053828" y="2874569"/>
            <a:ext cx="45720" cy="45720"/>
          </a:xfrm>
          <a:prstGeom prst="ellipse">
            <a:avLst/>
          </a:prstGeom>
          <a:solidFill>
            <a:srgbClr val="E07A2F"/>
          </a:solidFill>
          <a:ln w="12700">
            <a:solidFill>
              <a:srgbClr val="333333"/>
            </a:solidFill>
            <a:prstDash val="solid"/>
          </a:ln>
        </p:spPr>
      </p:sp>
      <p:sp>
        <p:nvSpPr>
          <p:cNvPr id="91" name="Text 89"/>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2" name="Shape 90"/>
          <p:cNvSpPr/>
          <p:nvPr/>
        </p:nvSpPr>
        <p:spPr>
          <a:xfrm>
            <a:off x="8353044" y="3178454"/>
            <a:ext cx="54864" cy="54864"/>
          </a:xfrm>
          <a:prstGeom prst="ellipse">
            <a:avLst/>
          </a:prstGeom>
          <a:solidFill>
            <a:srgbClr val="E07A2F"/>
          </a:solidFill>
          <a:ln w="12700">
            <a:solidFill>
              <a:srgbClr val="333333"/>
            </a:solidFill>
            <a:prstDash val="solid"/>
          </a:ln>
        </p:spPr>
      </p:sp>
      <p:sp>
        <p:nvSpPr>
          <p:cNvPr id="93" name="Shape 91"/>
          <p:cNvSpPr/>
          <p:nvPr/>
        </p:nvSpPr>
        <p:spPr>
          <a:xfrm>
            <a:off x="8481060" y="3178454"/>
            <a:ext cx="54864" cy="54864"/>
          </a:xfrm>
          <a:prstGeom prst="ellipse">
            <a:avLst/>
          </a:prstGeom>
          <a:solidFill>
            <a:srgbClr val="E07A2F"/>
          </a:solidFill>
          <a:ln w="12700">
            <a:solidFill>
              <a:srgbClr val="333333"/>
            </a:solidFill>
            <a:prstDash val="solid"/>
          </a:ln>
        </p:spPr>
      </p:sp>
      <p:sp>
        <p:nvSpPr>
          <p:cNvPr id="94" name="Shape 92"/>
          <p:cNvSpPr/>
          <p:nvPr/>
        </p:nvSpPr>
        <p:spPr>
          <a:xfrm>
            <a:off x="8609076"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737092"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865108"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993124"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9121140"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9249156"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377172"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505188"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633204"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761220"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889236"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10017252" y="3178454"/>
            <a:ext cx="54864" cy="54864"/>
          </a:xfrm>
          <a:prstGeom prst="ellipse">
            <a:avLst/>
          </a:prstGeom>
          <a:solidFill>
            <a:srgbClr val="E07A2F"/>
          </a:solidFill>
          <a:ln w="12700">
            <a:solidFill>
              <a:srgbClr val="333333"/>
            </a:solidFill>
            <a:prstDash val="solid"/>
          </a:ln>
        </p:spPr>
      </p:sp>
      <p:sp>
        <p:nvSpPr>
          <p:cNvPr id="106" name="Text 104"/>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7" name="Shape 105"/>
          <p:cNvSpPr/>
          <p:nvPr/>
        </p:nvSpPr>
        <p:spPr>
          <a:xfrm>
            <a:off x="8433816" y="3482340"/>
            <a:ext cx="64008" cy="64008"/>
          </a:xfrm>
          <a:prstGeom prst="ellipse">
            <a:avLst/>
          </a:prstGeom>
          <a:solidFill>
            <a:srgbClr val="B85C1E"/>
          </a:solidFill>
          <a:ln w="12700">
            <a:solidFill>
              <a:srgbClr val="333333"/>
            </a:solidFill>
            <a:prstDash val="solid"/>
          </a:ln>
        </p:spPr>
      </p:sp>
      <p:sp>
        <p:nvSpPr>
          <p:cNvPr id="108" name="Shape 106"/>
          <p:cNvSpPr/>
          <p:nvPr/>
        </p:nvSpPr>
        <p:spPr>
          <a:xfrm>
            <a:off x="8732520" y="3482340"/>
            <a:ext cx="64008" cy="64008"/>
          </a:xfrm>
          <a:prstGeom prst="ellipse">
            <a:avLst/>
          </a:prstGeom>
          <a:solidFill>
            <a:srgbClr val="B85C1E"/>
          </a:solidFill>
          <a:ln w="12700">
            <a:solidFill>
              <a:srgbClr val="333333"/>
            </a:solidFill>
            <a:prstDash val="solid"/>
          </a:ln>
        </p:spPr>
      </p:sp>
      <p:sp>
        <p:nvSpPr>
          <p:cNvPr id="109" name="Shape 107"/>
          <p:cNvSpPr/>
          <p:nvPr/>
        </p:nvSpPr>
        <p:spPr>
          <a:xfrm>
            <a:off x="9031224"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9329928"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628632"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927336" y="3482340"/>
            <a:ext cx="64008" cy="64008"/>
          </a:xfrm>
          <a:prstGeom prst="ellipse">
            <a:avLst/>
          </a:prstGeom>
          <a:solidFill>
            <a:srgbClr val="B85C1E"/>
          </a:solidFill>
          <a:ln w="12700">
            <a:solidFill>
              <a:srgbClr val="333333"/>
            </a:solidFill>
            <a:prstDash val="solid"/>
          </a:ln>
        </p:spPr>
      </p:sp>
      <p:sp>
        <p:nvSpPr>
          <p:cNvPr id="113" name="Text 11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4" name="Shape 112"/>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5" name="Shape 113"/>
          <p:cNvSpPr/>
          <p:nvPr/>
        </p:nvSpPr>
        <p:spPr>
          <a:xfrm>
            <a:off x="7744968" y="3337560"/>
            <a:ext cx="274320" cy="274320"/>
          </a:xfrm>
          <a:prstGeom prst="rightArrow">
            <a:avLst/>
          </a:prstGeom>
          <a:solidFill>
            <a:srgbClr val="B8C4D3"/>
          </a:solidFill>
          <a:ln w="12700">
            <a:solidFill>
              <a:srgbClr val="B8C4D3"/>
            </a:solidFill>
            <a:prstDash val="solid"/>
          </a:ln>
        </p:spPr>
      </p:sp>
      <p:sp>
        <p:nvSpPr>
          <p:cNvPr id="116" name="Text 11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7" name="Shape 115"/>
          <p:cNvSpPr/>
          <p:nvPr/>
        </p:nvSpPr>
        <p:spPr>
          <a:xfrm>
            <a:off x="10698480" y="2606040"/>
            <a:ext cx="685800" cy="217170"/>
          </a:xfrm>
          <a:prstGeom prst="rect">
            <a:avLst/>
          </a:prstGeom>
          <a:solidFill>
            <a:srgbClr val="6A4C93"/>
          </a:solidFill>
          <a:ln w="9525">
            <a:solidFill>
              <a:srgbClr val="FFFFFF"/>
            </a:solidFill>
            <a:prstDash val="solid"/>
          </a:ln>
        </p:spPr>
      </p:sp>
      <p:sp>
        <p:nvSpPr>
          <p:cNvPr id="118" name="Shape 116"/>
          <p:cNvSpPr/>
          <p:nvPr/>
        </p:nvSpPr>
        <p:spPr>
          <a:xfrm>
            <a:off x="10698480" y="2823210"/>
            <a:ext cx="685800" cy="217170"/>
          </a:xfrm>
          <a:prstGeom prst="rect">
            <a:avLst/>
          </a:prstGeom>
          <a:solidFill>
            <a:srgbClr val="7B5EA7"/>
          </a:solidFill>
          <a:ln w="9525">
            <a:solidFill>
              <a:srgbClr val="FFFFFF"/>
            </a:solidFill>
            <a:prstDash val="solid"/>
          </a:ln>
        </p:spPr>
      </p:sp>
      <p:sp>
        <p:nvSpPr>
          <p:cNvPr id="119" name="Shape 117"/>
          <p:cNvSpPr/>
          <p:nvPr/>
        </p:nvSpPr>
        <p:spPr>
          <a:xfrm>
            <a:off x="10698480" y="3040380"/>
            <a:ext cx="685800" cy="217170"/>
          </a:xfrm>
          <a:prstGeom prst="rect">
            <a:avLst/>
          </a:prstGeom>
          <a:solidFill>
            <a:srgbClr val="8C70BA"/>
          </a:solidFill>
          <a:ln w="9525">
            <a:solidFill>
              <a:srgbClr val="FFFFFF"/>
            </a:solidFill>
            <a:prstDash val="solid"/>
          </a:ln>
        </p:spPr>
      </p:sp>
      <p:sp>
        <p:nvSpPr>
          <p:cNvPr id="120" name="Shape 118"/>
          <p:cNvSpPr/>
          <p:nvPr/>
        </p:nvSpPr>
        <p:spPr>
          <a:xfrm>
            <a:off x="10698480" y="3257550"/>
            <a:ext cx="685800" cy="217170"/>
          </a:xfrm>
          <a:prstGeom prst="rect">
            <a:avLst/>
          </a:prstGeom>
          <a:solidFill>
            <a:srgbClr val="9D82CD"/>
          </a:solidFill>
          <a:ln w="9525">
            <a:solidFill>
              <a:srgbClr val="FFFFFF"/>
            </a:solidFill>
            <a:prstDash val="solid"/>
          </a:ln>
        </p:spPr>
      </p:sp>
      <p:sp>
        <p:nvSpPr>
          <p:cNvPr id="121" name="Shape 119"/>
          <p:cNvSpPr/>
          <p:nvPr/>
        </p:nvSpPr>
        <p:spPr>
          <a:xfrm>
            <a:off x="10698480" y="347472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691890"/>
            <a:ext cx="685800" cy="217170"/>
          </a:xfrm>
          <a:prstGeom prst="rect">
            <a:avLst/>
          </a:prstGeom>
          <a:solidFill>
            <a:srgbClr val="7B5EA7"/>
          </a:solidFill>
          <a:ln w="9525">
            <a:solidFill>
              <a:srgbClr val="FFFFFF"/>
            </a:solidFill>
            <a:prstDash val="solid"/>
          </a:ln>
        </p:spPr>
      </p:sp>
      <p:sp>
        <p:nvSpPr>
          <p:cNvPr id="123" name="Shape 121"/>
          <p:cNvSpPr/>
          <p:nvPr/>
        </p:nvSpPr>
        <p:spPr>
          <a:xfrm>
            <a:off x="10698480" y="3909060"/>
            <a:ext cx="685800" cy="217170"/>
          </a:xfrm>
          <a:prstGeom prst="rect">
            <a:avLst/>
          </a:prstGeom>
          <a:solidFill>
            <a:srgbClr val="6A4C93"/>
          </a:solidFill>
          <a:ln w="9525">
            <a:solidFill>
              <a:srgbClr val="FFFFFF"/>
            </a:solidFill>
            <a:prstDash val="solid"/>
          </a:ln>
        </p:spPr>
      </p:sp>
      <p:sp>
        <p:nvSpPr>
          <p:cNvPr id="124" name="Shape 122"/>
          <p:cNvSpPr/>
          <p:nvPr/>
        </p:nvSpPr>
        <p:spPr>
          <a:xfrm>
            <a:off x="10698480" y="4126230"/>
            <a:ext cx="685800" cy="217170"/>
          </a:xfrm>
          <a:prstGeom prst="rect">
            <a:avLst/>
          </a:prstGeom>
          <a:solidFill>
            <a:srgbClr val="5A3D80"/>
          </a:solidFill>
          <a:ln w="9525">
            <a:solidFill>
              <a:srgbClr val="FFFFFF"/>
            </a:solidFill>
            <a:prstDash val="solid"/>
          </a:ln>
        </p:spPr>
      </p:sp>
      <p:sp>
        <p:nvSpPr>
          <p:cNvPr id="125" name="Text 12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6" name="Text 12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7" name="Text 12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(the paper: 'a square input of L pixels a side'; its value is not given). Three operators at ⅟₁₆ L, ⅛ L and ½ L exchange state through a learned Laplacian pyramid after every block.</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N</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A23B3B"/>
                </a:solidFill>
                <a:latin typeface="Calibri" pitchFamily="34" charset="0"/>
                <a:ea typeface="Calibri" pitchFamily="34" charset="-122"/>
                <a:cs typeface="Calibri" pitchFamily="34" charset="-120"/>
              </a:rPr>
              <a:t>Not stated in the paper:  </a:t>
            </a:r>
            <a:pPr indent="0" marL="0">
              <a:buNone/>
            </a:pPr>
            <a:r>
              <a:rPr lang="en-US" sz="950" dirty="0">
                <a:solidFill>
                  <a:srgbClr val="1B2430"/>
                </a:solidFill>
                <a:latin typeface="Calibri" pitchFamily="34" charset="0"/>
                <a:ea typeface="Calibri" pitchFamily="34" charset="-122"/>
                <a:cs typeface="Calibri" pitchFamily="34" charset="-120"/>
              </a:rPr>
              <a:t>number of STP blocks, number of pyramid levels, frame size L, patchification, exact upsampling — so the spatial receptive field in metres cannot be quoted.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Illustrative numbers — the paper gives the ratios (⅟₁₆, ⅛, ½ L) but not L or N; we draw L = 128 px @ 10 m (1.28 km) and N = 4.</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Illustrative numbers — the paper gives the ratios (⅟₁₆, ⅛, ½ L) but not L or N; we draw L = 128 px @ 10 m (1.28 km) and N = 4.</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Illustrative numbers — the paper gives the ratios (⅟₁₆, ⅛, ½ L) but not L or N; we draw L = 128 px @ 10 m (1.28 km) and N = 4.</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N blocks (we draw N =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Illustrative numbers — the paper gives the ratios (⅟₁₆, ⅛, ½ L) but not L or N; we draw L = 128 px @ 10 m (1.28 km) and N = 4.</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entire input frame (coarsely) plus a fine local neighbourhood; temporally every dated frame in the window. That is why the paper can call it an embedding field and why no single receptive-field number is quoted.</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tokens +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arXiv 2504.11171 (Apr 2025); TerraMesh dataset 2504.11172. Apache 2.0, weights on Hugging Face (ibm-esa-geospatial), TerraTorch integration. Tiny/Small edge variants Oct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 768-D tokens per modality, mergeable to one 768-D;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CROMA/DeCUR);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average ~75.6 % (600 M-TL), ~8 % over v1.0, ahead of DOFA, Scale-MAE etc.;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MSE reconstruction of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in-situ samples with imagery from a ±6-day window).</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imagery within ±6 days of an in-situ measurement.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1608136"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1909888"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64-D · spatial context extent undisclosed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Shape 43"/>
          <p:cNvSpPr/>
          <p:nvPr/>
        </p:nvSpPr>
        <p:spPr>
          <a:xfrm>
            <a:off x="1864168" y="2103120"/>
            <a:ext cx="4307525" cy="0"/>
          </a:xfrm>
          <a:prstGeom prst="line">
            <a:avLst/>
          </a:prstGeom>
          <a:noFill/>
          <a:ln w="15875">
            <a:solidFill>
              <a:srgbClr val="2E86AB"/>
            </a:solidFill>
            <a:prstDash val="dash"/>
            <a:tailEnd type="triangle"/>
          </a:ln>
        </p:spPr>
      </p:sp>
      <p:sp>
        <p:nvSpPr>
          <p:cNvPr id="46" name="Text 44"/>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~10× wider than any EO model here.</a:t>
            </a:r>
            <a:endParaRPr lang="en-US" sz="1000" dirty="0"/>
          </a:p>
        </p:txBody>
      </p:sp>
      <p:sp>
        <p:nvSpPr>
          <p:cNvPr id="47" name="Text 4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multi-scale attention context (extent not disclosed)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most.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0.05–0.10,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10–20 pp on sea-state classification and roughly halves wind-speed error.</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We have already priced this axis: the attribution matrix reads single-pixel raw 0.613 vs codec 0.617, and 3×3 raw 0.659 vs codec 0.672 (two seeds) — the neighbourhood is worth ≈ +0.05, pretraining ≈ +0.01.</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The spatial axis is priced; the temporal axis is not.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corridor AUC at h = 12 with a year-folded z as the state. Success = the folded z beats the pooled control by more than the two-seed spread.</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0.5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why the pooled ridge failed and the unpooled attention head worked (paper §ladder): the target's cone is the section, not its mean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corridor AUC;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The pentad stage-2 shows one-step wind skill the monthly one cannot, because Δt ≈ τ_atm.</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with a 1–3-month lifetime; upstream cells at 0.15 m/s × (Δt+ℓ) carry the anomaly that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existing 12-month rolled corridor-AUC evaluator and the frozen gate head.</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corridor AUC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proved bit-equal to a full roll with NaN poisoning; reach 222 vs 4444 km per month measured as 29.5 % vs 100 % of the world ocean after 12 months;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AlphaEarth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arxiv.org/abs/2507.22291 · deepmind.google/blog/alphaearth-foundations-helps-map-our-planet-in-unprecedented-detail · developers.google.com/earth-engine/datasets/catalog/GOOGLE_SATELLITE_EMBEDDING_V1_ANNUAL</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TESSERA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arxiv.org/abs/2506.20380 · github.com/ucam-eo/tessera · github.com/ucam-eo/geotessera · geotessera.org · CVPR 2026 open-access page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OlmoEarth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arxiv.org/abs/2511.13655 · allenai.org/blog/olmoearth-models · github.com/allenai/olmoearth_pretrain · huggingface.co/blog/allenai/olmoearth-v1-1 · allenai.org/papers/olmoearth-v1-2</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TerraMind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arxiv.org/abs/2504.11171 · arxiv.org/abs/2504.11172 (TerraMesh) · github.com/IBM/terramind · huggingface.co/ibm-esa-geospatial · philab.esa.int (tiny/small release)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Prithvi-EO 2.0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arxiv.org/abs/2412.02732 · github.com/NASA-IMPACT/Prithvi-EO-2.0 · huggingface.co/ibm-nasa-geospatial (config.json for 300M/600M) · research.ibm.com/blog/prithvi2-geospatial · science.nasa.gov (in-orbit deployment)</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Granite-Geospatial-Ocean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arxiv.org/abs/2509.21273 · github.com/ibm-granite/geospatial (granite-geospatial-ocean: config + prithvi_vit_S3.py) · huggingface.co/ibm-granite/granite-geospatial-ocean · research.ibm.com/blog/oceans-AI-model · hartree.stfc.ac.uk case study (Jul 2026) · pml.ac.uk news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Ocean-including models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OceanSAR-1: huggingface.co/galeio-research/OceanSAR-1 · arxiv.org/abs/2504.06962 · OceanSAR-2: arxiv.org/abs/2601.07392 · Copernicus-FM: arxiv.org/abs/2503.11849 · huggingface.co/datasets/wangyi111/Copernicus-Pretrain · github.com/zhu-xlab/Copernicus-FM · Aurora: microsoft.github.io/aurora · wekeo.copernicus.eu (ocean FM workspace)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Benchmarks &amp; head-to-head tables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OlmoEarth Tables 2, 3, 7 (arxiv.org/abs/2511.13655) · TerraMind Table 6 / PANGAEA (arxiv.org/abs/2504.11171; arxiv.org/abs/2412.04204) · Prithvi-EO 2.0 Tables A1–A4 / GEO-Bench (arxiv.org/abs/2412.02732; arxiv.org/abs/2306.03831) · TESSERA Table 1 (arxiv.org/abs/2506.20380) · GEO-Bench-2 ranks (arxiv.org/abs/2511.15658) · AlphaEarth &amp; TESSERA for LCZ mapping (arxiv.org/abs/2606.20034) · Granite-Ocean Table 1 (arxiv.org/abs/2509.21273) · OceanSAR-1 Tables 1–3 (arxiv.org/abs/2504.06962)</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Related work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OceanNet arxiv.org/abs/2310.00813 · PARADIS arxiv.org/abs/2601.21151 · ClimODE arxiv.org/abs/2404.10024 · Neural-LAM arxiv.org/abs/2309.17370 · stretched grid arxiv.org/abs/2409.02891 · Keisler arxiv.org/abs/2202.07575 · GraphCast arxiv.org/abs/2212.12794 · Pangu arxiv.org/abs/2211.02556 · FuXi arxiv.org/abs/2306.12873 · Samudra arxiv.org/abs/2412.03795 · SamudrACE doi 10.1029/2025GL119340 · ACE2-SOM arxiv.org/abs/2412.04418 · ACE2-NEMO arxiv.org/abs/2603.28704 · AIFS surface ocean arxiv.org/abs/2604.25559 · Aurora doi 10.1038/s41586-025-09005-y · Aardvark doi 10.1038/s41586-025-08897-0 · GraphDOP arxiv.org/abs/2412.15687 · 4DVarNet doi 10.1029/2023MS003609 · ESFM arxiv.org/abs/2605.00850 · Penny &amp; Hamill 2017 BAMS · CSIR-ML6 doi 10.5194/gmd-12-5113-2019 · CANYON-B doi 10.3389/fmars.2017.00128</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Also checked  </a:t>
            </a:r>
            <a:pPr indent="0" marL="0">
              <a:spcAft>
                <a:spcPts val="800"/>
              </a:spcAft>
              <a:buNone/>
            </a:pPr>
            <a:r>
              <a:rPr lang="en-US" sz="1000" dirty="0">
                <a:solidFill>
                  <a:srgbClr val="1B2430"/>
                </a:solidFill>
                <a:latin typeface="Calibri" pitchFamily="34" charset="0"/>
                <a:ea typeface="Calibri" pitchFamily="34" charset="-122"/>
                <a:cs typeface="Calibri" pitchFamily="34" charset="-120"/>
              </a:rPr>
              <a:t>Prithvi WxC (arxiv.org/abs/2409.13598) — atmosphere-only, no ocean downstream tasks found; NASA marine-debris work — not Prithvi-based. Earth 2 numbers quoted from paper/paper.tex (attribution matrix, probe ladder).</a:t>
            </a:r>
            <a:endParaRPr lang="en-US" sz="110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 2026 · 34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2026-09-01T12:19:07Z</dcterms:created>
  <dcterms:modified xsi:type="dcterms:W3CDTF">2026-09-01T12:19:07Z</dcterms:modified>
</cp:coreProperties>
</file>