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
• E-069 plan — two stencils, one cone — https://blauewelt.github.io/earth/docs.html?f=ml/plans/E069_cone_codec.md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stencils, one cone" is the design that splits the DEPENDENCY CONE — everything in space and time that could have influenced one pixel — between the two models we train. The CODEC is the compressor: it reads raw channel values sampled as dots around one anchor pixel over the last six PENTADS (a pentad is a fixed five-day bin, so six of them is thirty days) and squeezes them into a 32-number embedding. STAGE 2 is the forecaster: it reads a cylinder of those embeddings reaching two years back. The picture on the left plots lag along the bottom and distance from the anchor up the side, both on logarithmic scales. Two identities are asserted on that grid and checked by a coverage test in the code: the two stencils together cover the whole cone, and they overlap in exactly one place — the anchor's own column, which is why the yellow bar along the bottom is drawn separately.
The darker shapes are the geometry as built, sized at 0.3 metres per second: the codec owns a disc growing to 907 kilometres over six lags, stage 2 owns everything beyond it out to a 4,444-kilometre cap. The lighter dashed shapes are cone v2, sized at 5.4 metres per second — the fastest measured surface current on Earth times a 1.5 safety factor. At that speed the codec's own thirty-day window already reaches 16,330 kilometres, most of the planet, and stage 2's stencil is a global band at every lag. So the division of labour stops being near field against far field and becomes recent against old: thirty days of raw channels against two years of embeddings, both of them global. Every v2 number on this slide is a DESIGN value. Nothing about v2 has been built, trained or measured.
The right-hand box is what HAS been measured. Three hypotheses were registered with their falsifiers before anything ran. H1: the cone codec's embedding carries the anchor's own water velocity better than a codec that sees only one snapshot. H2: a forecast head built on cone embeddings beats the control at five to thirty days. H3: the thin outer stencil does as well as the full cylinder it replaces. H1 is the one with an answer, and the answer is REFUTED — which here means the pre-registered failure branch actually happened, at five seeds that agree, not that the measurement was inconclusive. The read-out is a ridge regression from the frozen 32-number embedding to the current at the anchor, with the current channels hidden from the encoder so it cannot simply copy them. Its control is the RAW-PATCH BAR: the same ridge fitted directly to today's three-by-three patch of sea-surface height, with no codec involved at all — geostrophy read straight off the pixels. Thirty days of history landed at or below that bar at every seed. What the history did buy is persistence — a hidden sea-surface-height or temperature channel reconstructed far better than from today's patch alone — and a seven-to-eight-per-cent better forecast one and two pentads ahead. That, not velocity, is what cone v2's case now rests on.
Sources for this slide:
• E-069 plan — two stencils, one cone — https://blauewelt.github.io/earth/docs.html?f=ml/plans/E069_cone_codec.md
• E-069 in the experiment log — https://blauewelt.github.io/earth/docs.html?f=ml/EXPERIMENTS.md#e-069
• E-071 plan — cone v2: global, harmonic, Argo-aware, sized by the fastest thing in the ocean — https://blauewelt.github.io/earth/docs.html?f=ml/plans/E071_cone_v2.md
• Generic-embedding input proposal (full note) — https://blauewelt.github.io/earth/docs.html?f=ml/figures/geofm_survey/GENERIC_EMBEDDING_INPUTS.md
• Chelton et al. 2011, global eddies — https://doi.org/10.1016/j.pocean.2011.01.002
• Deser, Alexander &amp; Timlin 2003 (SST persistence) — https://doi.org/10.1175/1520-0442(2003)016&lt;0057:UTPOSS&gt;2.0.CO;2
• Emery et al. 1986, maximum cross-correlation (JGR) — https://doi.org/10.1029/JC091iC11p12865
• Perceiver IO — https://arxiv.org/abs/2107.14795
• GLORYS12 (Copernicus Marine) — https://data.marine.copernicus.eu/product/GLOBAL_MULTIYEAR_PHY_001_030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inventory: everything the codec being trained right now is actually allowed to see, and everything it is not.
Four columns of vocabulary first. A REANALYSIS is a computer model of the ocean or the atmosphere that is repeatedly nudged towards whatever measurements exist, so that it produces a complete, gap-free history — GLORYS12 for the ocean and NCEP Reanalysis 1 for the wind are both of that kind, which is why they are marked red for "derived": they contain a model's opinion as well as observations. NOAA's sea-surface-temperature analysis and the Roemmich–Gilson Argo product are marked green because they only interpolate measurements; no ocean model is involved. A PENTAD is a fixed five-day bin, which is the clock of this tensor: forty-three years of them, 1982 to 2024. And an ASSIMILATION WINDOW is the span of observations a reanalysis is allowed to look at around each day — GLORYS uses seven days, so a GLORYS value dated Monday already knows something about Thursday. Five of the forty-two channels have that problem and need their effective time shifted.
The graph reads top to bottom: instruments, then the four products we download, then the channels those products become, then what training computes for itself. Two things in the bottom row are worth stating carefully. An ANOMALY here means a channel with its own average for that calendar month subtracted, and the average is built from the TRAINING years only; a HOLDOUT year — 2009, 2017, 2023 — is a year deliberately withheld so that skill can be measured on data the model never saw. That is exactly why the app's published 1991–2020 normal must not be reused as the baseline: it averages over the held-out years, and using it would quietly leak the answer into the training set. And the RAPID and Florida Current transports are LABELS, not inputs: they sit in the same file, they are what the probes are scored against, and the encoder never reads them. An input is something the model sees; a label is something it is asked about.
The panel on the right is the honest list of what is missing, ranked. The ordering rule is information per byte and non-derivability: heat and freshwater forcing first because there is no forcing of that kind in the tensor at all, then depth, then the observed sea surface the reanalysis was fitted to. The biosphere is last as an input and first as a target — the data ladder rejected chlorophyll as an input for the overturning question because there is no mechanism at these timescales, which leaves it as the ideal held-out thing to predict.
Sources for this slide:
• GLORYS12V1 product page (Copernicus Marine) — https://data.marine.copernicus.eu/product/GLOBAL_MULTIYEAR_PHY_001_030/description
• NOAA OISST v2.1 (NOAA PSL) — https://psl.noaa.gov/data/gridded/data.noaa.oisst.v2.highres.html
• Roemmich–Gilson Argo climatology (Scripps) — https://sio-argo.ucsd.edu/RG_Climatology.html
• NCEP/NCAR Reanalysis 1 (NOAA PSL) — https://psl.noaa.gov/data/gridded/data.ncep.reanalysis.html
• RAPID-MOCHA-WBTS 26.5° N data — https://rapid.ac.uk/data/data-download
• Florida Current cable transport (NOAA AOML) — https://www.aoml.noaa.gov/phod/floridacurrent/
• ml/plans/DATA_LADDER.md (source) — https://github.com/blauewelt/earth/blob/main/ml/plans/DATA_LADDER.md
• ml/plans/E069_cone_codec.md (source) — https://github.com/blauewelt/earth/blob/main/ml/plans/E069_cone_codec.md
• E-069 plan — two stencils, one cone — https://blauewelt.github.io/earth/docs.html?f=ml/plans/E069_cone_codec.md
• CONE_DATA_AND_ENSO.md — the companion page — https://blauewelt.github.io/earth/docs.html?f=ml/figures/geofm_survey/CONE_DATA_AND_ENSO.md
• Generic-embedding input proposal (full note) — https://blauewelt.github.io/earth/docs.html?f=ml/figures/geofm_survey/GENERIC_EMBEDDING_INPUTS.md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has edges. This slide is about the four the cone codec actually meets, what it does at each, and the two that Chris decided on 4 September to remove altogether.
Some words first. A PENTAD is a five-day bin — the time step of the tensor, counted from the first of January 1982, so the whole archive is 3,142 of them. An ANOMALY is what is left of a measurement once the normal value for that time of year is subtracted; that normal is the CLIMATOLOGY, and ours is built from training years only so the test years cannot leak into it. The ATTENTION MASK is the list of tokens the transformer is allowed to look at at all. And the codec has two different ways of saying "no value here", which is what the whole left half of the slide turns on. An INVALID token is a position that does not exist — the dot fell outside our rectangle — and it is deleted from attention. A MISS token is a real position where the world simply was not observed, land under a sea-surface sensor for instance, and the model does learn from it, because "nobody measured this" is itself information.
Panel A is the geographic edge, and it is the first of the two that goes. The tensor is a North Atlantic window, so a dot falling off the eastern side is clipped and thrown away rather than wrapped round to Florida; twenty-two per cent of anchors lose at least one dot that way and 2.68 per cent of all dots are lost. The decision, in green, is that the dataset becomes GLOBAL: a 721-by-1,440 grid running from pole to pole, longitude wrapping arithmetically, and each dot computed as a DESTINATION POINT on the sphere — start where the anchor is, travel a given distance on a given bearing, and read off where you land — so a dot that would cross the pole simply comes out on the far side, with no special case. Those lost dots become real dots and the truncated cones become full ones.
Panel B is land: another eight per cent of dots, marked missing rather than invalid, and that rule was right and stays. Panel C is time — an anchor whose cone runs off either end of the archive is refused outright, and a held-out year blocks eight pentads of anchors around itself so no training anchor can peek into it, at a cost of about one per cent of the training bins. Both rules stay, and the grey tag on each panel says so.
Panel D is the edge we introduced ourselves, and it is the second one that goes. Chopping the year into twelve calendar boxes means 411 of 3,142 pentads straddle a boundary and 106 of them have just one of their five days inside the month whose average is subtracted — a sawtooth in the baseline at every month end. The decision is a DAY-OF-YEAR HARMONIC climatology: instead of twelve separate box averages, fit one smooth curve through the year made of a constant plus a few sine and cosine waves — one cycle per year, two, three — and evaluate it at each bin's middle day. Seven numbers replace twelve, the baseline is continuous across every month and every year end, and Argo's 252 live pentads across twenty-one years are fitted together instead of about twenty-one per box. Both decisions are specified in the E-071 plan and neither is implemented; nothing on this slide about them is measured.
Sources for this slide:
• ml/cone_sampler.py — the sampler, its off-grid rule and the holdout certificate (source) — https://github.com/blauewelt/earth/blob/main/ml/cone_sampler.py
• ml/train_cone.py — anchor drawing and --holdout-scope window (source) — https://github.com/blauewelt/earth/blob/main/ml/train_cone.py
• ml/trainprobe.py — the anomaly transform (source) — https://github.com/blauewelt/earth/blob/main/ml/trainprobe.py
• ml/build_family4.py — the pentad tensor builder (source) — https://github.com/blauewelt/earth/blob/main/ml/build_family4.py
• E-034 plan — the pentad tensor and the Argo missing-token decision — https://blauewelt.github.io/earth/docs.html?f=ml/plans/E034_pentad_tensor.md
• E-059 plan — --holdout-scope window, why the pool discipline exists — https://blauewelt.github.io/earth/docs.html?f=ml/plans/E059_holdout_window.md
• E-069 plan — two stencils, one cone — https://blauewelt.github.io/earth/docs.html?f=ml/plans/E069_cone_codec.md
• ml/plans/E069_cone_codec.md (source) — https://github.com/blauewelt/earth/blob/main/ml/plans/E069_cone_codec.md
• E-071 plan — cone v2: global, harmonic, Argo-aware, sized by the fastest thing in the ocean — https://blauewelt.github.io/earth/docs.html?f=ml/plans/E071_cone_v2.md
• Argo — https://argo.ucsd.edu/
• Roemmich–Gilson Argo climatology (Scripps) — https://sio-argo.ucsd.edu/RG_Climatology.html
• CONE_DATA_AND_ENSO.md — the companion page — https://blauewelt.github.io/earth/docs.html?f=ml/figures/geofm_survey/CONE_DATA_AND_ENSO.md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 asked why the overturning circulation's own speed appears nowhere in the model, and then decided how to fix it: size every channel family from the MAXIMUM measured speed of the fastest mechanism that carries it, times 1.5.
Words first. ADVECTION is transport by the water itself moving — a warm parcel physically carried north. WAVE PROPAGATION is different: a disturbance travels through the water while the water largely stays put, so a signal crosses a basin far faster than any parcel. A KELVIN WAVE is the fast kind trapped against a coastline or the equator. BAROCLINIC means the motion is felt mainly in the density layering of the interior and travels at metres per second; BAROTROPIC means the whole water column moves together, which is far faster — about two hundred metres per second — because it is essentially a shallow-water gravity wave. The ANTIPODE is the point on the opposite side of the planet, 20,015 kilometres away by the shortest surface path, which is the farthest anything can be from an anchor and therefore the natural cap on any reach. An OCTAVE of distance is a doubling of it; LOG-RADIAL placement means putting the same number of dots in each doubling, so the near field stays as densely sampled when the cone gets eighteen times wider. A PERCEIVER is the encoder we use: a small fixed set of learned vectors reads over all the input tokens, so cost grows in a straight line with the number of tokens rather than with their square. A PROFILE TOKEN is one token carrying a whole vertical column — sixteen temperatures and sixteen salinities down the pressure ladder — instead of thirty-two separate tokens for the same water.
Every number on the ruler is a maximum, and each one is literature or our own data, named beside it. The Somali Current's seven knots, about 3.6 metres per second, and the Agulhas core's 2.45 come from Wikipedia's articles on those currents; the Gulf Stream's roughly 2.5 from NOAA's Ocean Service page; the first-baroclinic Kelvin wave's 2.8, and the barotropic 200, from Wikipedia's Kelvin wave article, with the phase-speed atlas of Chelton and colleagues from 1998 behind the baroclinic number; the long Rossby wave's 0.03 from Chelton and colleagues 2011, already cited in our own plan; the deep western boundary current's 0.02 to 0.1 is standard oceanography. Two numbers are ours: 1.62 metres per second for the Kuroshio off Taiwan and 2.79 for the Somali Current in July 2020, both computed from our own GLORYS bake in data/currents_y, which is a monthly one-degree average and therefore a lower bound on what the real ocean does.
The design speed is the largest of those, 3.6, times 1.5, giving 5.4 metres per second, or 2,333 kilometres per five-day bin. The buffer covers three things: the tensor is a five-day mean on a quarter-degree grid and under-reads peaks, the maxima are published values rather than true extremes, and a warming ocean may run faster. It is spent on the wide side deliberately — a cone that is too wide only costs tokens, while a cone that is too narrow silently asserts that a real cause cannot have arrived. Wind is beyond any cone at all: the jet stream crosses the planet inside one bin, so that family gets a ring of dots out to the antipode instead. Argo stops being a zero-reach vertical column and becomes twenty-six profile tokens at the two lags where the product is actually live. None of this is measured, and after E-069's velocity result the case for it is rolled forecast skill, not velocity.
Sources for this slide:
• ml/cone.py — the cone geometry and the channel families (source) — https://github.com/blauewelt/earth/blob/main/ml/cone.py
• ml/cone_sampler.py — the sampler, its off-grid rule and the holdout certificate (source) — https://github.com/blauewelt/earth/blob/main/ml/cone_sampler.py
• E-069 plan — two stencils, one cone — https://blauewelt.github.io/earth/docs.html?f=ml/plans/E069_cone_codec.md
• E-069 in the experiment log — https://blauewelt.github.io/earth/docs.html?f=ml/EXPERIMENTS.md#e-069
• ml/plans/E069_cone_codec.md (source) — https://github.com/blauewelt/earth/blob/main/ml/plans/E069_cone_codec.md
• E-071 plan — cone v2: global, harmonic, Argo-aware, sized by the fastest thing in the ocean — https://blauewelt.github.io/earth/docs.html?f=ml/plans/E071_cone_v2.md
• Somali Current (Wikipedia) — up to 7 knots ≈ 3.6 m/s — https://en.wikipedia.org/wiki/Somali_Current
• How fast is the Gulf Stream? (NOAA Ocean Service) — about 9 km/h ≈ 2.5 m/s — https://oceanservice.noaa.gov/facts/gulfstreamspeed.html
• Agulhas Current (Wikipedia) — core 2.45 m/s — https://en.wikipedia.org/wiki/Agulhas_Current
• Kelvin wave (Wikipedia) — first-baroclinic ≈ 2.8 m/s; barotropic ≈ 200 m/s — https://en.wikipedia.org/wiki/Kelvin_wave
• Chelton et al. 1998 — first-baroclinic Rossby radius and gravity-wave phase speed atlas (OSU) — https://ceoas.oregonstate.edu/rossby_radius
• our own GLORYS surface-current bake, monthly 1° (data/currents_y) — https://github.com/blauewelt/earth/tree/main/data/currents_y
• Generic-embedding input proposal (full note) — https://blauewelt.github.io/earth/docs.html?f=ml/figures/geofm_survey/GENERIC_EMBEDDING_INPUTS.md
• Chelton et al. 2011, global eddies — https://doi.org/10.1016/j.pocean.2011.01.002
• GLORYS12 (Copernicus Marine) — https://data.marine.copernicus.eu/product/GLOBAL_MULTIYEAR_PHY_001_030
• Argo — https://argo.ucsd.edu/
• Global Drifter Program — https://www.aoml.noaa.gov/phod/gdp/
• RAPID-MOCHA-WBTS 26.5° N data — https://rapid.ac.uk/data/data-download
• Florida Current cable transport (NOAA AOML) — https://www.aoml.noaa.gov/phod/floridacurrent/
• ml/plans/DATA_LADDER.md (source) — https://github.com/blauewelt/earth/blob/main/ml/plans/DATA_LADDER.md
• CONE_DATA_AND_ENSO.md — the companion page — https://blauewelt.github.io/earth/docs.html?f=ml/figures/geofm_survey/CONE_DATA_AND_ENSO.md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 asked why there is no land data at all — "it can be sparse for now, but still better than absolute darkness" — and, separately, that some channels be available over both the ocean and the land. This slide is the answer, and it turns on one definition.
A SHARED CHANNEL is a channel defined by WHAT is measured and by WHICH INSTRUMENT, never by which sphere it sits over. Today all forty-two channels are ocean channels, so every land cell is told forty-two times per five-day bin that the world was not observed there — which is false; it was observed, by instruments we already list. The fix is a SPHERE CODE: a per-cell label saying ocean, land, ice sheet or inland water, read by the codec as a coordinate exactly the way depth already is. One temperature channel then means sea-surface temperature at one anchor and land-surface temperature at the next.
Vocabulary, first half. SKIN temperature is the surface itself as an infrared sensor sees it — the top fraction of a millimetre of water, or the ground and the leaves; 2 M temperature is the air two metres above it, what a thermometer in a weather screen reads. The two differ by several degrees on a sunny afternoon, which is why both are channels. SIGMA-NOUGHT is the radar cross-section, how much of a radar pulse the surface sends back: over water it rises with wind and waves, over land with soil moisture and vegetation — the same instrument, ASCAT, looking at both. ALBEDO is the fraction of sunlight reflected: near zero for open ocean, up to 0.8 for fresh snow.
Vocabulary, second half. BRIGHTNESS TEMPERATURE is the natural microwave glow of a surface, as a passive radiometer measures it, written as the temperature a perfect emitter would need to glow that brightly. SMAP's L-band version becomes sea-surface salinity over water and soil moisture over land — so the raw brightness temperature is the shared channel and the two products become things to predict. GRACE is a pair of satellites that weigh the water, ice and groundwater beneath them through tiny changes in gravity. ALTIMETRY is a radar measuring a surface's height from orbit: over an ice sheet, the same technique measures how fast the surface is dropping.
A PROFILE TOKEN carries a whole vertical column in one token instead of one per level, and the same type serves an Argo temperature-and-salinity profile, a stack of soil layers, and the firn — the compacted old snow on top of an ice sheet. Two design points go with it. LAND DOES NOT ADVECT: soil, snow and vegetation do not travel sideways, so their cone has speed zero and its reach is only the distance over which the field stays correlated, a few hundred kilometres. And ERA5-LAND is a higher-resolution land rerun of ERA5 with no data assimilation of its own; plain ERA5 is the assimilating one, which is why ERA5 is the source in the table.
"Sparse for now" is Phase L0: six gap-free channels from two sources, covering the whole 1982-onwards axis and the whole globe including Antarctica. Everything that only starts in 2000 waits for L1. Nothing on this slide is built or measured. The dataset specifications reused here — resolutions, cadences and record starts — come from the proposal's verification pass of 2 September; the ones added for this slide (MODIS albedo, ITS_LIVE, CryoSat-2, ESA CCI soil moisture, IGRA) have NOT been through it and must be verified before anything is fetched.
Sources for this slide:
• E-071 plan — cone v2: global, harmonic, Argo-aware, sized by the fastest thing in the ocean — https://blauewelt.github.io/earth/docs.html?f=ml/plans/E071_cone_v2.md
• Generic-embedding input proposal (full note) — https://blauewelt.github.io/earth/docs.html?f=ml/figures/geofm_survey/GENERIC_EMBEDDING_INPUTS.md
• ml/plans/DATA_LADDER.md (source) — https://github.com/blauewelt/earth/blob/main/ml/plans/DATA_LADDER.md
• ERA5 (CDS) — https://cds.climate.copernicus.eu/datasets/reanalysis-era5-single-levels
• ERA5 documentation (SST/sea ice prescribed; 12 h 4D-Var) — https://confluence.ecmwf.int/display/CKB/ERA5%3A+data+documentation
• MODIS LST (MOD11A1) — https://lpdaac.usgs.gov/products/mod11a1v061/
• MODIS snow (MOD10A1) — https://nsidc.org/data/mod10a1/versions/61
• MODIS BRDF/albedo (MCD43A3, 500 m daily) — https://lpdaac.usgs.gov/products/mcd43a3v061/
• ASCAT winds (OSI SAF) — https://osi-saf.eumetsat.int/products/osi-104-b
• SMAP (NSIDC) — https://nsidc.org/data/smap/data
• GRACE/GRACE-FO JPL mascons — https://grace.jpl.nasa.gov/data/get-data/jpl_global_mascons/
• ICESat-2 — https://icesat-2.gsfc.nasa.gov/science/specs
• CryoSat-2 (ESA) — ice-sheet elevation change — https://earth.esa.int/eogateway/missions/cryosat
• ITS_LIVE — glacier and ice-sheet surface velocity — https://its-live.jpl.nasa.gov/
• OSI SAF sea-ice products — https://osi-saf.eumetsat.int/products/sea-ice-products
• ESA CCI soil moisture — https://climate.esa.int/en/projects/soil-moisture/
• IGRA radiosondes — https://www.ncei.noaa.gov/products/weather-balloon/integrated-global-radiosonde-archive
• GPM IMERG — https://gpm.nasa.gov/data/imerg
• OSTIA SST (Copernicus Marine) — https://data.marine.copernicus.eu/product/SST_GLO_SST_L4_NRT_OBSERVATIONS_010_001
• DUACS sea level L4 (Copernicus Marine) — https://data.marine.copernicus.eu/product/SEALEVEL_GLO_PHY_L4_NRT_008_046
• Hydroweb.next — https://hydroweb.next.theia-land.fr/
• GLEAM — https://www.gleam.eu/
• GLORYS12 (Copernicus Marine) — https://data.marine.copernicus.eu/product/GLOBAL_MULTIYEAR_PHY_001_030
• Argo — https://argo.ucsd.edu/
• CONE_DATA_AND_ENSO.md — the companion page — https://blauewelt.github.io/earth/docs.html?f=ml/figures/geofm_survey/CONE_DATA_AND_ENSO.md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Niño is the warm phase of a see-saw in the tropical Pacific called the El Niño–Southern Oscillation. Normally the trade winds blow from east to west, piling warm water up near Indonesia and letting cold water rise off South America. When the trades weaken, that pile sloshes back east, the eastern Pacific warms, and the world's rainfall patterns move with it. NIÑO-3.4 is the agreed thermometer: the average sea-surface temperature anomaly in the box from 5° south to 5° north, 170° west to 120° west. The ONI, or Oceanic Niño Index, is the official version of that number — a three-month running mean computed on a different, coarser temperature reconstruction — and an event is declared when it stays above +0.5 °C for five overlapping seasons.
The chart on the left is computed here, from the repository's own baked temperature archive against its 1991–2020 normal, and it shows the fastest possible development: mildly cool in January, crossing zero in March, and +2.09 °C by July. The three dashed lines are the December peaks of the three biggest recent events from the same bake. Our number for July is 0.7 °C above the Climate Prediction Center's, entirely because of the different dataset and the running mean — which is the argument for carrying the official index alongside our own rather than instead of it.
Why sea-surface temperature alone forecasts poorly beyond about three months: the memory of this system is not at the surface, it is in the THERMOCLINE, the sharp boundary a hundred-odd metres down between warm surface water and the cold deep. WARM WATER VOLUME — how much water above 20 °C is stacked up across the equatorial Pacific — leads the surface signal by roughly six months, and it is the single most valuable series absent from our catalog. On top of that slow memory sit fast triggers: a WESTERLY WIND BURST, a one-to-two-week reversal of the trade winds usually set off by the Madden–Julian Oscillation, can launch an eastward wave that tips a primed ocean into an event. And there is the SPRING PREDICTABILITY BARRIER: forecasts made in boreal spring are markedly worse, because the signal is weakest and the noise strongest exactly then. That is the barrier any honest skill curve has to be plotted across, and the reason the ranked additions on the right put the subsurface first and the daily winds second.
Sources for this slide:
• CPC ENSO diagnostic discussion, 13 Aug 2026 — https://www.cpc.ncep.noaa.gov/products/analysis_monitoring/enso_disc_aug2026/ensodisc.shtml
• IRI/CPC ENSO forecast plume — https://iri.columbia.edu/our-expertise/climate/forecasts/enso/current/
• PMEL Warm Water Volume / 20 °C isotherm — https://www.pmel.noaa.gov/tao/wwv/data/
• GODAS ocean analysis (NOAA PSL) — https://psl.noaa.gov/data/gridded/data.godas.html
• NOAA interpolated outgoing longwave radiation — https://psl.noaa.gov/data/gridded/data.interp_OLR.html
• Oceanic Niño Index (NOAA CPC) — https://origin.cpc.ncep.noaa.gov/products/analysis_monitoring/ensostuff/ONI_v5.php
• NOAA PSL climate indices — https://psl.noaa.gov/data/climateindices/list/
• Multivariate ENSO Index v2 (NOAA PSL) — https://psl.noaa.gov/enso/mei/
• RMM Madden–Julian Oscillation index (BoM) — https://www.bom.gov.au/climate/mjo/
• CCMP ocean vector winds (REMSS) — https://www.remss.com/measurements/ccmp/
• OSCAR L4 final v2.0 (PO.DAAC) — https://podaac.jpl.nasa.gov/dataset/OSCAR_L4_OC_FINAL_V2.0
• data/catalog.json — the 274-record catalog (source) — https://github.com/blauewelt/earth/blob/main/data/catalog.json
• docs/CATALOG.md — the catalog in prose — https://blauewelt.github.io/earth/docs.html?f=docs/CATALOG.md
• CONE_DATA_AND_ENSO.md — the companion page — https://blauewelt.github.io/earth/docs.html?f=ml/figures/geofm_survey/CONE_DATA_AND_ENSO.md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
        <p:nvSpPr>
          <p:cNvPr id="80" name="Shape 78"/>
          <p:cNvSpPr/>
          <p:nvPr/>
        </p:nvSpPr>
        <p:spPr>
          <a:xfrm>
            <a:off x="5257800" y="5669280"/>
            <a:ext cx="6355080" cy="713232"/>
          </a:xfrm>
          <a:prstGeom prst="roundRect">
            <a:avLst>
              <a:gd name="adj" fmla="val 10256"/>
            </a:avLst>
          </a:prstGeom>
          <a:solidFill>
            <a:srgbClr val="FFF1F1"/>
          </a:solidFill>
          <a:ln w="19050">
            <a:solidFill>
              <a:srgbClr val="A23B3B"/>
            </a:solidFill>
            <a:prstDash val="solid"/>
          </a:ln>
        </p:spPr>
      </p:sp>
      <p:sp>
        <p:nvSpPr>
          <p:cNvPr id="81" name="Text 79"/>
          <p:cNvSpPr txBox="1"/>
          <p:nvPr/>
        </p:nvSpPr>
        <p:spPr>
          <a:xfrm>
            <a:off x="5394960" y="5705856"/>
            <a:ext cx="6080760" cy="640080"/>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SUPERSEDED (2 Sep 2026).  </a:t>
            </a:r>
            <a:pPr indent="0" marL="0">
              <a:buNone/>
            </a:pPr>
            <a:r>
              <a:rPr lang="en-US" sz="900" dirty="0">
                <a:solidFill>
                  <a:srgbClr val="1B2430"/>
                </a:solidFill>
                <a:latin typeface="Calibri" pitchFamily="34" charset="0"/>
                <a:ea typeface="Calibri" pitchFamily="34" charset="-122"/>
                <a:cs typeface="Calibri" pitchFamily="34" charset="-120"/>
              </a:rPr>
              <a:t>The pixel-year arm is the special case of the cone-native codec with zero spatial reach and a 72-pentad inner window (r_in = 0, L_in = 72). Slides 40–44 and E-069 replace it: the inner cone carries the temporal fold AND the near field, and the '28 km' here is only the ¼° cell (27.8 km at the equator, 21 km at 40° N), not a physical scale.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Two stencils, one cone — built, run, and re-cut for v2</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E-069 ran five seeds (3 + 2 objectives) on the 0.3 m/s geometry; H1 is refuted, history buys persistence, not velocity. Under cone v2 the split between the stencils moves from distance to time — E-071 §4.5.</a:t>
            </a:r>
            <a:endParaRPr lang="en-US" sz="1250" dirty="0"/>
          </a:p>
        </p:txBody>
      </p:sp>
      <p:sp>
        <p:nvSpPr>
          <p:cNvPr id="4" name="Shape 2"/>
          <p:cNvSpPr/>
          <p:nvPr/>
        </p:nvSpPr>
        <p:spPr>
          <a:xfrm>
            <a:off x="548640" y="1463040"/>
            <a:ext cx="5120640" cy="3611880"/>
          </a:xfrm>
          <a:prstGeom prst="rect">
            <a:avLst/>
          </a:prstGeom>
          <a:solidFill>
            <a:srgbClr val="FBFCFD"/>
          </a:solidFill>
          <a:ln w="6350">
            <a:solidFill>
              <a:srgbClr val="B8C4D3"/>
            </a:solidFill>
            <a:prstDash val="solid"/>
          </a:ln>
        </p:spPr>
      </p:sp>
      <p:sp>
        <p:nvSpPr>
          <p:cNvPr id="5" name="Shape 3"/>
          <p:cNvSpPr/>
          <p:nvPr/>
        </p:nvSpPr>
        <p:spPr>
          <a:xfrm>
            <a:off x="1316736" y="2176272"/>
            <a:ext cx="4151376" cy="2478024"/>
          </a:xfrm>
          <a:custGeom>
            <a:avLst/>
            <a:gdLst/>
            <a:ahLst/>
            <a:cxnLst/>
            <a:rect l="l" t="t" r="r" b="b"/>
            <a:pathLst>
              <a:path w="4151376" h="2478024">
                <a:moveTo>
                  <a:pt x="1625454" y="26383"/>
                </a:moveTo>
                <a:lnTo>
                  <a:pt x="2003006" y="0"/>
                </a:lnTo>
                <a:lnTo>
                  <a:pt x="2262084" y="0"/>
                </a:lnTo>
                <a:lnTo>
                  <a:pt x="2459544" y="0"/>
                </a:lnTo>
                <a:lnTo>
                  <a:pt x="2619136" y="0"/>
                </a:lnTo>
                <a:lnTo>
                  <a:pt x="2753073" y="0"/>
                </a:lnTo>
                <a:lnTo>
                  <a:pt x="2868472" y="0"/>
                </a:lnTo>
                <a:lnTo>
                  <a:pt x="2969847" y="0"/>
                </a:lnTo>
                <a:lnTo>
                  <a:pt x="3060240" y="0"/>
                </a:lnTo>
                <a:lnTo>
                  <a:pt x="3141799" y="0"/>
                </a:lnTo>
                <a:lnTo>
                  <a:pt x="3216099" y="0"/>
                </a:lnTo>
                <a:lnTo>
                  <a:pt x="3284326" y="0"/>
                </a:lnTo>
                <a:lnTo>
                  <a:pt x="3347399" y="0"/>
                </a:lnTo>
                <a:lnTo>
                  <a:pt x="3406042" y="0"/>
                </a:lnTo>
                <a:lnTo>
                  <a:pt x="3460836" y="0"/>
                </a:lnTo>
                <a:lnTo>
                  <a:pt x="3512257" y="0"/>
                </a:lnTo>
                <a:lnTo>
                  <a:pt x="3560695" y="0"/>
                </a:lnTo>
                <a:lnTo>
                  <a:pt x="3606477" y="0"/>
                </a:lnTo>
                <a:lnTo>
                  <a:pt x="3649880" y="0"/>
                </a:lnTo>
                <a:lnTo>
                  <a:pt x="3691138" y="0"/>
                </a:lnTo>
                <a:lnTo>
                  <a:pt x="3730455" y="0"/>
                </a:lnTo>
                <a:lnTo>
                  <a:pt x="3768003" y="0"/>
                </a:lnTo>
                <a:lnTo>
                  <a:pt x="3803937" y="0"/>
                </a:lnTo>
                <a:lnTo>
                  <a:pt x="3838388" y="0"/>
                </a:lnTo>
                <a:lnTo>
                  <a:pt x="3871474" y="0"/>
                </a:lnTo>
                <a:lnTo>
                  <a:pt x="3903299" y="0"/>
                </a:lnTo>
                <a:lnTo>
                  <a:pt x="3933957" y="0"/>
                </a:lnTo>
                <a:lnTo>
                  <a:pt x="3963529" y="0"/>
                </a:lnTo>
                <a:lnTo>
                  <a:pt x="3992089" y="0"/>
                </a:lnTo>
                <a:lnTo>
                  <a:pt x="4019706" y="0"/>
                </a:lnTo>
                <a:lnTo>
                  <a:pt x="4046438" y="0"/>
                </a:lnTo>
                <a:lnTo>
                  <a:pt x="4072342" y="0"/>
                </a:lnTo>
                <a:lnTo>
                  <a:pt x="4097466" y="0"/>
                </a:lnTo>
                <a:lnTo>
                  <a:pt x="4121856" y="0"/>
                </a:lnTo>
                <a:lnTo>
                  <a:pt x="4145555" y="0"/>
                </a:lnTo>
                <a:lnTo>
                  <a:pt x="4145555" y="0"/>
                </a:lnTo>
                <a:lnTo>
                  <a:pt x="4145555" y="1958695"/>
                </a:lnTo>
                <a:lnTo>
                  <a:pt x="1625454" y="1958695"/>
                </a:lnTo>
                <a:close/>
              </a:path>
            </a:pathLst>
          </a:custGeom>
          <a:solidFill>
            <a:srgbClr val="1F7A4D">
              <a:alpha val="12000"/>
            </a:srgbClr>
          </a:solidFill>
          <a:ln w="12700">
            <a:solidFill>
              <a:srgbClr val="1F7A4D"/>
            </a:solidFill>
            <a:prstDash val="dash"/>
          </a:ln>
        </p:spPr>
      </p:sp>
      <p:sp>
        <p:nvSpPr>
          <p:cNvPr id="6" name="Shape 4"/>
          <p:cNvSpPr/>
          <p:nvPr/>
        </p:nvSpPr>
        <p:spPr>
          <a:xfrm>
            <a:off x="1316736" y="2176272"/>
            <a:ext cx="4151376" cy="2478024"/>
          </a:xfrm>
          <a:custGeom>
            <a:avLst/>
            <a:gdLst/>
            <a:ahLst/>
            <a:cxnLst/>
            <a:rect l="l" t="t" r="r" b="b"/>
            <a:pathLst>
              <a:path w="4151376" h="2478024">
                <a:moveTo>
                  <a:pt x="0" y="2478024"/>
                </a:moveTo>
                <a:lnTo>
                  <a:pt x="0" y="549094"/>
                </a:lnTo>
                <a:lnTo>
                  <a:pt x="570696" y="549094"/>
                </a:lnTo>
                <a:lnTo>
                  <a:pt x="578999" y="396211"/>
                </a:lnTo>
                <a:lnTo>
                  <a:pt x="909388" y="396211"/>
                </a:lnTo>
                <a:lnTo>
                  <a:pt x="917691" y="287738"/>
                </a:lnTo>
                <a:lnTo>
                  <a:pt x="1149694" y="287738"/>
                </a:lnTo>
                <a:lnTo>
                  <a:pt x="1157997" y="203601"/>
                </a:lnTo>
                <a:lnTo>
                  <a:pt x="1336090" y="203601"/>
                </a:lnTo>
                <a:lnTo>
                  <a:pt x="1344393" y="134855"/>
                </a:lnTo>
                <a:lnTo>
                  <a:pt x="1488387" y="134855"/>
                </a:lnTo>
                <a:lnTo>
                  <a:pt x="1496689" y="76732"/>
                </a:lnTo>
                <a:lnTo>
                  <a:pt x="1617152" y="76732"/>
                </a:lnTo>
                <a:lnTo>
                  <a:pt x="1617152" y="2478024"/>
                </a:lnTo>
                <a:close/>
              </a:path>
            </a:pathLst>
          </a:custGeom>
          <a:solidFill>
            <a:srgbClr val="1F7A4D">
              <a:alpha val="22000"/>
            </a:srgbClr>
          </a:solidFill>
          <a:ln w="12700">
            <a:solidFill>
              <a:srgbClr val="1F7A4D"/>
            </a:solidFill>
            <a:prstDash val="dash"/>
          </a:ln>
        </p:spPr>
      </p:sp>
      <p:sp>
        <p:nvSpPr>
          <p:cNvPr id="7" name="Shape 5"/>
          <p:cNvSpPr/>
          <p:nvPr/>
        </p:nvSpPr>
        <p:spPr>
          <a:xfrm>
            <a:off x="1316736" y="2176272"/>
            <a:ext cx="4151376" cy="2478024"/>
          </a:xfrm>
          <a:custGeom>
            <a:avLst/>
            <a:gdLst/>
            <a:ahLst/>
            <a:cxnLst/>
            <a:rect l="l" t="t" r="r" b="b"/>
            <a:pathLst>
              <a:path w="4151376" h="2478024">
                <a:moveTo>
                  <a:pt x="1625454" y="1116215"/>
                </a:moveTo>
                <a:lnTo>
                  <a:pt x="2003006" y="963332"/>
                </a:lnTo>
                <a:lnTo>
                  <a:pt x="2262084" y="854860"/>
                </a:lnTo>
                <a:lnTo>
                  <a:pt x="2459544" y="770722"/>
                </a:lnTo>
                <a:lnTo>
                  <a:pt x="2619136" y="701977"/>
                </a:lnTo>
                <a:lnTo>
                  <a:pt x="2753073" y="643853"/>
                </a:lnTo>
                <a:lnTo>
                  <a:pt x="2868472" y="593504"/>
                </a:lnTo>
                <a:lnTo>
                  <a:pt x="2969847" y="567442"/>
                </a:lnTo>
                <a:lnTo>
                  <a:pt x="3060240" y="567442"/>
                </a:lnTo>
                <a:lnTo>
                  <a:pt x="3141799" y="567442"/>
                </a:lnTo>
                <a:lnTo>
                  <a:pt x="3216099" y="567442"/>
                </a:lnTo>
                <a:lnTo>
                  <a:pt x="3284326" y="567442"/>
                </a:lnTo>
                <a:lnTo>
                  <a:pt x="3347399" y="567442"/>
                </a:lnTo>
                <a:lnTo>
                  <a:pt x="3406042" y="567442"/>
                </a:lnTo>
                <a:lnTo>
                  <a:pt x="3460836" y="567442"/>
                </a:lnTo>
                <a:lnTo>
                  <a:pt x="3512257" y="567442"/>
                </a:lnTo>
                <a:lnTo>
                  <a:pt x="3560695" y="567442"/>
                </a:lnTo>
                <a:lnTo>
                  <a:pt x="3606477" y="567442"/>
                </a:lnTo>
                <a:lnTo>
                  <a:pt x="3649880" y="567442"/>
                </a:lnTo>
                <a:lnTo>
                  <a:pt x="3691138" y="567442"/>
                </a:lnTo>
                <a:lnTo>
                  <a:pt x="3730455" y="567442"/>
                </a:lnTo>
                <a:lnTo>
                  <a:pt x="3768003" y="567442"/>
                </a:lnTo>
                <a:lnTo>
                  <a:pt x="3803937" y="567442"/>
                </a:lnTo>
                <a:lnTo>
                  <a:pt x="3838388" y="567442"/>
                </a:lnTo>
                <a:lnTo>
                  <a:pt x="3871474" y="567442"/>
                </a:lnTo>
                <a:lnTo>
                  <a:pt x="3903299" y="567442"/>
                </a:lnTo>
                <a:lnTo>
                  <a:pt x="3933957" y="567442"/>
                </a:lnTo>
                <a:lnTo>
                  <a:pt x="3963529" y="567442"/>
                </a:lnTo>
                <a:lnTo>
                  <a:pt x="3992089" y="567442"/>
                </a:lnTo>
                <a:lnTo>
                  <a:pt x="4019706" y="567442"/>
                </a:lnTo>
                <a:lnTo>
                  <a:pt x="4046438" y="567442"/>
                </a:lnTo>
                <a:lnTo>
                  <a:pt x="4072342" y="567442"/>
                </a:lnTo>
                <a:lnTo>
                  <a:pt x="4097466" y="567442"/>
                </a:lnTo>
                <a:lnTo>
                  <a:pt x="4121856" y="567442"/>
                </a:lnTo>
                <a:lnTo>
                  <a:pt x="4145555" y="567442"/>
                </a:lnTo>
                <a:lnTo>
                  <a:pt x="4145555" y="567442"/>
                </a:lnTo>
                <a:lnTo>
                  <a:pt x="4145555" y="1958695"/>
                </a:lnTo>
                <a:lnTo>
                  <a:pt x="1625454" y="1958695"/>
                </a:lnTo>
                <a:close/>
              </a:path>
            </a:pathLst>
          </a:custGeom>
          <a:solidFill>
            <a:srgbClr val="E07A2F">
              <a:alpha val="45000"/>
            </a:srgbClr>
          </a:solidFill>
          <a:ln w="9525">
            <a:solidFill>
              <a:srgbClr val="E07A2F"/>
            </a:solidFill>
            <a:prstDash val="solid"/>
          </a:ln>
        </p:spPr>
      </p:sp>
      <p:sp>
        <p:nvSpPr>
          <p:cNvPr id="8" name="Shape 6"/>
          <p:cNvSpPr/>
          <p:nvPr/>
        </p:nvSpPr>
        <p:spPr>
          <a:xfrm>
            <a:off x="1316736" y="2176272"/>
            <a:ext cx="4151376" cy="2478024"/>
          </a:xfrm>
          <a:custGeom>
            <a:avLst/>
            <a:gdLst/>
            <a:ahLst/>
            <a:cxnLst/>
            <a:rect l="l" t="t" r="r" b="b"/>
            <a:pathLst>
              <a:path w="4151376" h="2478024">
                <a:moveTo>
                  <a:pt x="0" y="2478024"/>
                </a:moveTo>
                <a:lnTo>
                  <a:pt x="0" y="1638925"/>
                </a:lnTo>
                <a:lnTo>
                  <a:pt x="570696" y="1638925"/>
                </a:lnTo>
                <a:lnTo>
                  <a:pt x="578999" y="1486042"/>
                </a:lnTo>
                <a:lnTo>
                  <a:pt x="909388" y="1486042"/>
                </a:lnTo>
                <a:lnTo>
                  <a:pt x="917691" y="1377570"/>
                </a:lnTo>
                <a:lnTo>
                  <a:pt x="1149694" y="1377570"/>
                </a:lnTo>
                <a:lnTo>
                  <a:pt x="1157997" y="1293433"/>
                </a:lnTo>
                <a:lnTo>
                  <a:pt x="1336090" y="1293433"/>
                </a:lnTo>
                <a:lnTo>
                  <a:pt x="1344393" y="1224687"/>
                </a:lnTo>
                <a:lnTo>
                  <a:pt x="1488387" y="1224687"/>
                </a:lnTo>
                <a:lnTo>
                  <a:pt x="1496689" y="1166564"/>
                </a:lnTo>
                <a:lnTo>
                  <a:pt x="1617152" y="1166564"/>
                </a:lnTo>
                <a:lnTo>
                  <a:pt x="1617152" y="2478024"/>
                </a:lnTo>
                <a:close/>
              </a:path>
            </a:pathLst>
          </a:custGeom>
          <a:solidFill>
            <a:srgbClr val="6A4C93">
              <a:alpha val="45000"/>
            </a:srgbClr>
          </a:solidFill>
          <a:ln w="9525">
            <a:solidFill>
              <a:srgbClr val="6A4C93"/>
            </a:solidFill>
            <a:prstDash val="solid"/>
          </a:ln>
        </p:spPr>
      </p:sp>
      <p:sp>
        <p:nvSpPr>
          <p:cNvPr id="9" name="Shape 7"/>
          <p:cNvSpPr/>
          <p:nvPr/>
        </p:nvSpPr>
        <p:spPr>
          <a:xfrm>
            <a:off x="1316736" y="2743714"/>
            <a:ext cx="4151376" cy="0"/>
          </a:xfrm>
          <a:prstGeom prst="line">
            <a:avLst/>
          </a:prstGeom>
          <a:noFill/>
          <a:ln w="11430">
            <a:solidFill>
              <a:srgbClr val="A23B3B"/>
            </a:solidFill>
            <a:prstDash val="sysDot"/>
          </a:ln>
        </p:spPr>
      </p:sp>
      <p:sp>
        <p:nvSpPr>
          <p:cNvPr id="10" name="Text 8"/>
          <p:cNvSpPr txBox="1"/>
          <p:nvPr/>
        </p:nvSpPr>
        <p:spPr>
          <a:xfrm>
            <a:off x="566928" y="2661418"/>
            <a:ext cx="731520" cy="164592"/>
          </a:xfrm>
          <a:prstGeom prst="rect">
            <a:avLst/>
          </a:prstGeom>
          <a:noFill/>
          <a:ln/>
        </p:spPr>
        <p:txBody>
          <a:bodyPr wrap="square" lIns="0" tIns="0" rIns="0" bIns="0" rtlCol="0" anchor="t"/>
          <a:lstStyle/>
          <a:p>
            <a:pPr algn="r" indent="0" marL="0">
              <a:buNone/>
            </a:pPr>
            <a:r>
              <a:rPr lang="en-US" sz="650" b="1" dirty="0">
                <a:solidFill>
                  <a:srgbClr val="A23B3B"/>
                </a:solidFill>
                <a:latin typeface="Calibri" pitchFamily="34" charset="0"/>
                <a:ea typeface="Calibri" pitchFamily="34" charset="-122"/>
                <a:cs typeface="Calibri" pitchFamily="34" charset="-120"/>
              </a:rPr>
              <a:t>4,444 km</a:t>
            </a:r>
            <a:endParaRPr lang="en-US" sz="950" dirty="0"/>
          </a:p>
        </p:txBody>
      </p:sp>
      <p:sp>
        <p:nvSpPr>
          <p:cNvPr id="11" name="Text 9"/>
          <p:cNvSpPr txBox="1"/>
          <p:nvPr/>
        </p:nvSpPr>
        <p:spPr>
          <a:xfrm>
            <a:off x="3184855" y="2762002"/>
            <a:ext cx="1005840" cy="137160"/>
          </a:xfrm>
          <a:prstGeom prst="rect">
            <a:avLst/>
          </a:prstGeom>
          <a:noFill/>
          <a:ln/>
        </p:spPr>
        <p:txBody>
          <a:bodyPr wrap="square" lIns="0" tIns="0" rIns="0" bIns="0" rtlCol="0" anchor="t"/>
          <a:lstStyle/>
          <a:p>
            <a:pPr indent="0" marL="0">
              <a:buNone/>
            </a:pPr>
            <a:r>
              <a:rPr lang="en-US" sz="600" b="1" i="1" dirty="0">
                <a:solidFill>
                  <a:srgbClr val="A23B3B"/>
                </a:solidFill>
                <a:latin typeface="Calibri" pitchFamily="34" charset="0"/>
                <a:ea typeface="Calibri" pitchFamily="34" charset="-122"/>
                <a:cs typeface="Calibri" pitchFamily="34" charset="-120"/>
              </a:rPr>
              <a:t>E-069's outer cap</a:t>
            </a:r>
            <a:endParaRPr lang="en-US" sz="950" dirty="0"/>
          </a:p>
        </p:txBody>
      </p:sp>
      <p:sp>
        <p:nvSpPr>
          <p:cNvPr id="12" name="Shape 10"/>
          <p:cNvSpPr/>
          <p:nvPr/>
        </p:nvSpPr>
        <p:spPr>
          <a:xfrm>
            <a:off x="1316736" y="2176272"/>
            <a:ext cx="4151376" cy="0"/>
          </a:xfrm>
          <a:prstGeom prst="line">
            <a:avLst/>
          </a:prstGeom>
          <a:noFill/>
          <a:ln w="11430">
            <a:solidFill>
              <a:srgbClr val="A23B3B"/>
            </a:solidFill>
            <a:prstDash val="sysDot"/>
          </a:ln>
        </p:spPr>
      </p:sp>
      <p:sp>
        <p:nvSpPr>
          <p:cNvPr id="13" name="Text 11"/>
          <p:cNvSpPr txBox="1"/>
          <p:nvPr/>
        </p:nvSpPr>
        <p:spPr>
          <a:xfrm>
            <a:off x="566928" y="2093976"/>
            <a:ext cx="731520" cy="164592"/>
          </a:xfrm>
          <a:prstGeom prst="rect">
            <a:avLst/>
          </a:prstGeom>
          <a:noFill/>
          <a:ln/>
        </p:spPr>
        <p:txBody>
          <a:bodyPr wrap="square" lIns="0" tIns="0" rIns="0" bIns="0" rtlCol="0" anchor="t"/>
          <a:lstStyle/>
          <a:p>
            <a:pPr algn="r" indent="0" marL="0">
              <a:buNone/>
            </a:pPr>
            <a:r>
              <a:rPr lang="en-US" sz="650" b="1" dirty="0">
                <a:solidFill>
                  <a:srgbClr val="A23B3B"/>
                </a:solidFill>
                <a:latin typeface="Calibri" pitchFamily="34" charset="0"/>
                <a:ea typeface="Calibri" pitchFamily="34" charset="-122"/>
                <a:cs typeface="Calibri" pitchFamily="34" charset="-120"/>
              </a:rPr>
              <a:t>20,015 km</a:t>
            </a:r>
            <a:endParaRPr lang="en-US" sz="950" dirty="0"/>
          </a:p>
        </p:txBody>
      </p:sp>
      <p:sp>
        <p:nvSpPr>
          <p:cNvPr id="14" name="Text 12"/>
          <p:cNvSpPr txBox="1"/>
          <p:nvPr/>
        </p:nvSpPr>
        <p:spPr>
          <a:xfrm>
            <a:off x="4388754" y="2020824"/>
            <a:ext cx="1005840" cy="137160"/>
          </a:xfrm>
          <a:prstGeom prst="rect">
            <a:avLst/>
          </a:prstGeom>
          <a:noFill/>
          <a:ln/>
        </p:spPr>
        <p:txBody>
          <a:bodyPr wrap="square" lIns="0" tIns="0" rIns="0" bIns="0" rtlCol="0" anchor="t"/>
          <a:lstStyle/>
          <a:p>
            <a:pPr indent="0" marL="0">
              <a:buNone/>
            </a:pPr>
            <a:r>
              <a:rPr lang="en-US" sz="600" b="1" i="1" dirty="0">
                <a:solidFill>
                  <a:srgbClr val="A23B3B"/>
                </a:solidFill>
                <a:latin typeface="Calibri" pitchFamily="34" charset="0"/>
                <a:ea typeface="Calibri" pitchFamily="34" charset="-122"/>
                <a:cs typeface="Calibri" pitchFamily="34" charset="-120"/>
              </a:rPr>
              <a:t>antipode</a:t>
            </a:r>
            <a:endParaRPr lang="en-US" sz="950" dirty="0"/>
          </a:p>
        </p:txBody>
      </p:sp>
      <p:sp>
        <p:nvSpPr>
          <p:cNvPr id="15" name="Shape 13"/>
          <p:cNvSpPr/>
          <p:nvPr/>
        </p:nvSpPr>
        <p:spPr>
          <a:xfrm>
            <a:off x="1316736" y="4608576"/>
            <a:ext cx="4151376" cy="45720"/>
          </a:xfrm>
          <a:prstGeom prst="rect">
            <a:avLst/>
          </a:prstGeom>
          <a:solidFill>
            <a:srgbClr val="F2C14E"/>
          </a:solidFill>
          <a:ln w="12700">
            <a:solidFill>
              <a:srgbClr val="333333"/>
            </a:solidFill>
            <a:prstDash val="solid"/>
          </a:ln>
        </p:spPr>
      </p:sp>
      <p:sp>
        <p:nvSpPr>
          <p:cNvPr id="16" name="Shape 14"/>
          <p:cNvSpPr/>
          <p:nvPr/>
        </p:nvSpPr>
        <p:spPr>
          <a:xfrm>
            <a:off x="1316736" y="4654296"/>
            <a:ext cx="4151376" cy="0"/>
          </a:xfrm>
          <a:prstGeom prst="line">
            <a:avLst/>
          </a:prstGeom>
          <a:noFill/>
          <a:ln w="12700">
            <a:solidFill>
              <a:srgbClr val="1B2430"/>
            </a:solidFill>
            <a:prstDash val="solid"/>
            <a:tailEnd type="triangle"/>
          </a:ln>
        </p:spPr>
      </p:sp>
      <p:sp>
        <p:nvSpPr>
          <p:cNvPr id="17" name="Shape 15"/>
          <p:cNvSpPr/>
          <p:nvPr/>
        </p:nvSpPr>
        <p:spPr>
          <a:xfrm flipV="1">
            <a:off x="1316736" y="2176272"/>
            <a:ext cx="0" cy="2478024"/>
          </a:xfrm>
          <a:prstGeom prst="line">
            <a:avLst/>
          </a:prstGeom>
          <a:noFill/>
          <a:ln w="12700">
            <a:solidFill>
              <a:srgbClr val="1B2430"/>
            </a:solidFill>
            <a:prstDash val="solid"/>
            <a:tailEnd type="triangle"/>
          </a:ln>
        </p:spPr>
      </p:sp>
      <p:sp>
        <p:nvSpPr>
          <p:cNvPr id="18" name="Text 16"/>
          <p:cNvSpPr txBox="1"/>
          <p:nvPr/>
        </p:nvSpPr>
        <p:spPr>
          <a:xfrm>
            <a:off x="1133856"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9" name="Text 17"/>
          <p:cNvSpPr txBox="1"/>
          <p:nvPr/>
        </p:nvSpPr>
        <p:spPr>
          <a:xfrm>
            <a:off x="2630545"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6</a:t>
            </a:r>
            <a:endParaRPr lang="en-US" sz="700" dirty="0"/>
          </a:p>
        </p:txBody>
      </p:sp>
      <p:sp>
        <p:nvSpPr>
          <p:cNvPr id="20" name="Text 18"/>
          <p:cNvSpPr txBox="1"/>
          <p:nvPr/>
        </p:nvSpPr>
        <p:spPr>
          <a:xfrm>
            <a:off x="2759310"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7</a:t>
            </a:r>
            <a:endParaRPr lang="en-US" sz="700" dirty="0"/>
          </a:p>
        </p:txBody>
      </p:sp>
      <p:sp>
        <p:nvSpPr>
          <p:cNvPr id="21" name="Text 19"/>
          <p:cNvSpPr txBox="1"/>
          <p:nvPr/>
        </p:nvSpPr>
        <p:spPr>
          <a:xfrm>
            <a:off x="4127235"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36</a:t>
            </a:r>
            <a:endParaRPr lang="en-US" sz="700" dirty="0"/>
          </a:p>
        </p:txBody>
      </p:sp>
      <p:sp>
        <p:nvSpPr>
          <p:cNvPr id="22" name="Text 20"/>
          <p:cNvSpPr txBox="1"/>
          <p:nvPr/>
        </p:nvSpPr>
        <p:spPr>
          <a:xfrm>
            <a:off x="5285232"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144</a:t>
            </a:r>
            <a:endParaRPr lang="en-US" sz="700" dirty="0"/>
          </a:p>
        </p:txBody>
      </p:sp>
      <p:sp>
        <p:nvSpPr>
          <p:cNvPr id="23" name="Text 21"/>
          <p:cNvSpPr txBox="1"/>
          <p:nvPr/>
        </p:nvSpPr>
        <p:spPr>
          <a:xfrm>
            <a:off x="1316736" y="4846320"/>
            <a:ext cx="4151376"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lag k (pentads, log) — 1 pentad = 5 days; 144 = 2 years. Lag 0 is the 3 × 3 patch.</a:t>
            </a:r>
            <a:endParaRPr lang="en-US" sz="650" dirty="0"/>
          </a:p>
        </p:txBody>
      </p:sp>
      <p:sp>
        <p:nvSpPr>
          <p:cNvPr id="24" name="Text 22"/>
          <p:cNvSpPr txBox="1"/>
          <p:nvPr/>
        </p:nvSpPr>
        <p:spPr>
          <a:xfrm>
            <a:off x="566928" y="4092021"/>
            <a:ext cx="731520" cy="164592"/>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100 km</a:t>
            </a:r>
            <a:endParaRPr lang="en-US" sz="950" dirty="0"/>
          </a:p>
        </p:txBody>
      </p:sp>
      <p:sp>
        <p:nvSpPr>
          <p:cNvPr id="25" name="Text 23"/>
          <p:cNvSpPr txBox="1"/>
          <p:nvPr/>
        </p:nvSpPr>
        <p:spPr>
          <a:xfrm>
            <a:off x="566928" y="3260623"/>
            <a:ext cx="731520" cy="164592"/>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907 km</a:t>
            </a:r>
            <a:endParaRPr lang="en-US" sz="950" dirty="0"/>
          </a:p>
        </p:txBody>
      </p:sp>
      <p:sp>
        <p:nvSpPr>
          <p:cNvPr id="26" name="Text 24"/>
          <p:cNvSpPr txBox="1"/>
          <p:nvPr/>
        </p:nvSpPr>
        <p:spPr>
          <a:xfrm>
            <a:off x="640080" y="1508760"/>
            <a:ext cx="4937760" cy="566928"/>
          </a:xfrm>
          <a:prstGeom prst="rect">
            <a:avLst/>
          </a:prstGeom>
          <a:noFill/>
          <a:ln/>
        </p:spPr>
        <p:txBody>
          <a:bodyPr wrap="square" lIns="0" tIns="0" rIns="0" bIns="0" rtlCol="0" anchor="t"/>
          <a:lstStyle/>
          <a:p>
            <a:pPr indent="0" marL="0">
              <a:buNone/>
            </a:pPr>
            <a:r>
              <a:rPr lang="en-US" sz="680" b="1" dirty="0">
                <a:solidFill>
                  <a:srgbClr val="6A4C93"/>
                </a:solidFill>
                <a:latin typeface="Calibri" pitchFamily="34" charset="0"/>
                <a:ea typeface="Calibri" pitchFamily="34" charset="-122"/>
                <a:cs typeface="Calibri" pitchFamily="34" charset="-120"/>
              </a:rPr>
              <a:t>E-069 as built  </a:t>
            </a:r>
            <a:pPr indent="0" marL="0">
              <a:buNone/>
            </a:pPr>
            <a:r>
              <a:rPr lang="en-US" sz="680" dirty="0">
                <a:solidFill>
                  <a:srgbClr val="1B2430"/>
                </a:solidFill>
                <a:latin typeface="Calibri" pitchFamily="34" charset="0"/>
                <a:ea typeface="Calibri" pitchFamily="34" charset="-122"/>
                <a:cs typeface="Calibri" pitchFamily="34" charset="-120"/>
              </a:rPr>
              <a:t>inner (codec): raw channels, lags 1–6, 130 → 907 km · </a:t>
            </a:r>
            <a:pPr indent="0" marL="0">
              <a:buNone/>
            </a:pPr>
            <a:r>
              <a:rPr lang="en-US" sz="680" b="1" dirty="0">
                <a:solidFill>
                  <a:srgbClr val="E07A2F"/>
                </a:solidFill>
                <a:latin typeface="Calibri" pitchFamily="34" charset="0"/>
                <a:ea typeface="Calibri" pitchFamily="34" charset="-122"/>
                <a:cs typeface="Calibri" pitchFamily="34" charset="-120"/>
              </a:rPr>
              <a:t>outer (stage 2): </a:t>
            </a:r>
            <a:pPr indent="0" marL="0">
              <a:buNone/>
            </a:pPr>
            <a:r>
              <a:rPr lang="en-US" sz="680" dirty="0">
                <a:solidFill>
                  <a:srgbClr val="1B2430"/>
                </a:solidFill>
                <a:latin typeface="Calibri" pitchFamily="34" charset="0"/>
                <a:ea typeface="Calibri" pitchFamily="34" charset="-122"/>
                <a:cs typeface="Calibri" pitchFamily="34" charset="-120"/>
              </a:rPr>
              <a:t>embeddings, lags 7–143, 111 → 4,444 km</a:t>
            </a:r>
            <a:endParaRPr lang="en-US" sz="950" dirty="0"/>
          </a:p>
          <a:p>
            <a:pPr indent="0" marL="0">
              <a:buNone/>
            </a:pPr>
            <a:r>
              <a:rPr lang="en-US" sz="680" b="1" dirty="0">
                <a:solidFill>
                  <a:srgbClr val="1F7A4D"/>
                </a:solidFill>
                <a:latin typeface="Calibri" pitchFamily="34" charset="0"/>
                <a:ea typeface="Calibri" pitchFamily="34" charset="-122"/>
                <a:cs typeface="Calibri" pitchFamily="34" charset="-120"/>
              </a:rPr>
              <a:t>cone v2 (E-071 §4.5)  </a:t>
            </a:r>
            <a:pPr indent="0" marL="0">
              <a:buNone/>
            </a:pPr>
            <a:r>
              <a:rPr lang="en-US" sz="680" dirty="0">
                <a:solidFill>
                  <a:srgbClr val="1B2430"/>
                </a:solidFill>
                <a:latin typeface="Calibri" pitchFamily="34" charset="0"/>
                <a:ea typeface="Calibri" pitchFamily="34" charset="-122"/>
                <a:cs typeface="Calibri" pitchFamily="34" charset="-120"/>
              </a:rPr>
              <a:t>inner: 2,333 km already at lag 0, 16,330 km at lag 6 · outer: 18,664 km at lag 7, at the antipode from lag 8 — a global band</a:t>
            </a:r>
            <a:endParaRPr lang="en-US" sz="950" dirty="0"/>
          </a:p>
          <a:p>
            <a:pPr indent="0" marL="0">
              <a:buNone/>
            </a:pPr>
            <a:r>
              <a:rPr lang="en-US" sz="680" b="1" dirty="0">
                <a:solidFill>
                  <a:srgbClr val="9A7B1E"/>
                </a:solidFill>
                <a:latin typeface="Calibri" pitchFamily="34" charset="0"/>
                <a:ea typeface="Calibri" pitchFamily="34" charset="-122"/>
                <a:cs typeface="Calibri" pitchFamily="34" charset="-120"/>
              </a:rPr>
              <a:t>anchor column  </a:t>
            </a:r>
            <a:pPr indent="0" marL="0">
              <a:buNone/>
            </a:pPr>
            <a:r>
              <a:rPr lang="en-US" sz="680" dirty="0">
                <a:solidFill>
                  <a:srgbClr val="1B2430"/>
                </a:solidFill>
                <a:latin typeface="Calibri" pitchFamily="34" charset="0"/>
                <a:ea typeface="Calibri" pitchFamily="34" charset="-122"/>
                <a:cs typeface="Calibri" pitchFamily="34" charset="-120"/>
              </a:rPr>
              <a:t>the only overlap, in both geometries</a:t>
            </a:r>
            <a:endParaRPr lang="en-US" sz="950" dirty="0"/>
          </a:p>
        </p:txBody>
      </p:sp>
      <p:sp>
        <p:nvSpPr>
          <p:cNvPr id="27" name="Text 25"/>
          <p:cNvSpPr txBox="1"/>
          <p:nvPr/>
        </p:nvSpPr>
        <p:spPr>
          <a:xfrm>
            <a:off x="548640" y="5148072"/>
            <a:ext cx="5120640" cy="566928"/>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E-069:  </a:t>
            </a:r>
            <a:pPr indent="0" marL="0">
              <a:buNone/>
            </a:pPr>
            <a:r>
              <a:rPr lang="en-US" sz="750" dirty="0">
                <a:solidFill>
                  <a:srgbClr val="1B2430"/>
                </a:solidFill>
                <a:latin typeface="Calibri" pitchFamily="34" charset="0"/>
                <a:ea typeface="Calibri" pitchFamily="34" charset="-122"/>
                <a:cs typeface="Calibri" pitchFamily="34" charset="-120"/>
              </a:rPr>
              <a:t>the codec owns the near field, stage 2 the far field.    </a:t>
            </a:r>
            <a:pPr indent="0" marL="0">
              <a:buNone/>
            </a:pPr>
            <a:r>
              <a:rPr lang="en-US" sz="750" b="1" dirty="0">
                <a:solidFill>
                  <a:srgbClr val="1F7A4D"/>
                </a:solidFill>
                <a:latin typeface="Calibri" pitchFamily="34" charset="0"/>
                <a:ea typeface="Calibri" pitchFamily="34" charset="-122"/>
                <a:cs typeface="Calibri" pitchFamily="34" charset="-120"/>
              </a:rPr>
              <a:t>v2:  </a:t>
            </a:r>
            <a:pPr indent="0" marL="0">
              <a:buNone/>
            </a:pPr>
            <a:r>
              <a:rPr lang="en-US" sz="750" dirty="0">
                <a:solidFill>
                  <a:srgbClr val="1B2430"/>
                </a:solidFill>
                <a:latin typeface="Calibri" pitchFamily="34" charset="0"/>
                <a:ea typeface="Calibri" pitchFamily="34" charset="-122"/>
                <a:cs typeface="Calibri" pitchFamily="34" charset="-120"/>
              </a:rPr>
              <a:t>the codec owns the last 30 days planet-wide; stage 2 owns 35 days – 2 years planet-wide. The overlap is still exactly the anchor column, and the empty annulus for k ≤ 6 still holds by construction.</a:t>
            </a:r>
            <a:endParaRPr lang="en-US" sz="950" dirty="0"/>
          </a:p>
        </p:txBody>
      </p:sp>
      <p:sp>
        <p:nvSpPr>
          <p:cNvPr id="28" name="Shape 26"/>
          <p:cNvSpPr/>
          <p:nvPr/>
        </p:nvSpPr>
        <p:spPr>
          <a:xfrm>
            <a:off x="5897880" y="1463040"/>
            <a:ext cx="5715000" cy="4251960"/>
          </a:xfrm>
          <a:prstGeom prst="roundRect">
            <a:avLst>
              <a:gd name="adj" fmla="val 1720"/>
            </a:avLst>
          </a:prstGeom>
          <a:solidFill>
            <a:srgbClr val="F4F6F9"/>
          </a:solidFill>
          <a:ln w="15875">
            <a:solidFill>
              <a:srgbClr val="0B1F3A"/>
            </a:solidFill>
            <a:prstDash val="solid"/>
          </a:ln>
        </p:spPr>
      </p:sp>
      <p:sp>
        <p:nvSpPr>
          <p:cNvPr id="29" name="Text 27"/>
          <p:cNvSpPr txBox="1"/>
          <p:nvPr/>
        </p:nvSpPr>
        <p:spPr>
          <a:xfrm>
            <a:off x="6035040" y="1554480"/>
            <a:ext cx="5440680" cy="4069080"/>
          </a:xfrm>
          <a:prstGeom prst="rect">
            <a:avLst/>
          </a:prstGeom>
          <a:noFill/>
          <a:ln/>
        </p:spPr>
        <p:txBody>
          <a:bodyPr wrap="square" lIns="0" tIns="0" rIns="0" bIns="0" rtlCol="0" anchor="t"/>
          <a:lstStyle/>
          <a:p>
            <a:pPr indent="0" marL="0">
              <a:spcAft>
                <a:spcPts val="600"/>
              </a:spcAft>
              <a:buNone/>
            </a:pPr>
            <a:r>
              <a:rPr lang="en-US" sz="1100" b="1" dirty="0">
                <a:solidFill>
                  <a:srgbClr val="0B1F3A"/>
                </a:solidFill>
                <a:latin typeface="Calibri" pitchFamily="34" charset="0"/>
                <a:ea typeface="Calibri" pitchFamily="34" charset="-122"/>
                <a:cs typeface="Calibri" pitchFamily="34" charset="-120"/>
              </a:rPr>
              <a:t>What five seeds said (EXPERIMENTS.md § E-069, 3–4 Sep)</a:t>
            </a:r>
            <a:endParaRPr lang="en-US" sz="950" dirty="0"/>
          </a:p>
          <a:p>
            <a:pPr indent="0" marL="0">
              <a:buNone/>
            </a:pPr>
            <a:r>
              <a:rPr lang="en-US" sz="860" b="1" dirty="0">
                <a:solidFill>
                  <a:srgbClr val="A23B3B"/>
                </a:solidFill>
                <a:latin typeface="Calibri" pitchFamily="34" charset="0"/>
                <a:ea typeface="Calibri" pitchFamily="34" charset="-122"/>
                <a:cs typeface="Calibri" pitchFamily="34" charset="-120"/>
              </a:rPr>
              <a:t>1 · H1 refuted.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The velocity probe — a ridge from the 32-number embedding to the anchor's own current, with the current channels hidden from the encoder — reads AT OR BELOW the raw-patch bar for the cone on both components at every seed, while the snapshot twin sits at the bar. History buys no velocity beyond geostrophy-from-the-sea-surface-height-patch at 7.05M parameters and 20k steps, under either objective. E-069 masking: cone cur_u 0.60 / 0.10 / 0.62 against a twin at ≈ 0.70; cur_v ≈ 0 at every seed. E-069b lag0-drop objective: cone 0.63 / 0.66 and 0.58 / 0.59 against bars 0.64 / 0.71 and 0.67 / 0.70. A CPU synthetic-advection test finds no displacement primitive at the scales tried — a reading, not a closure: the field's certified ceiling was 0.16.</a:t>
            </a:r>
            <a:endParaRPr lang="en-US" sz="950" dirty="0"/>
          </a:p>
          <a:p>
            <a:pPr indent="0" marL="0">
              <a:buNone/>
            </a:pPr>
            <a:r>
              <a:rPr lang="en-US" sz="860" b="1" dirty="0">
                <a:solidFill>
                  <a:srgbClr val="1F7A4D"/>
                </a:solidFill>
                <a:latin typeface="Calibri" pitchFamily="34" charset="0"/>
                <a:ea typeface="Calibri" pitchFamily="34" charset="-122"/>
                <a:cs typeface="Calibri" pitchFamily="34" charset="-120"/>
              </a:rPr>
              <a:t>2 · What history DOES buy.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A hidden sea-surface-height channel is reconstructed at ≈ 0.36 of its bar against the twin's 0.75–0.90; hidden sea surface temperature 0.53–0.66 against 0.99–1.27; forecasts at +1 and +2 pentads 7–8 % better. Persistence and one-step forecast, not velocity.</a:t>
            </a:r>
            <a:endParaRPr lang="en-US" sz="950" dirty="0"/>
          </a:p>
          <a:p>
            <a:pPr indent="0" marL="0">
              <a:buNone/>
            </a:pPr>
            <a:r>
              <a:rPr lang="en-US" sz="860" b="1" dirty="0">
                <a:solidFill>
                  <a:srgbClr val="1C7293"/>
                </a:solidFill>
                <a:latin typeface="Calibri" pitchFamily="34" charset="0"/>
                <a:ea typeface="Calibri" pitchFamily="34" charset="-122"/>
                <a:cs typeface="Calibri" pitchFamily="34" charset="-120"/>
              </a:rPr>
              <a:t>3 · Consequence for v2.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Widening the reach 18× does not touch the mechanism H1 tested. v2's case rests on rolled skill (H2) from far-field context, and on the persistence signal being worth more when it is global, harmonic-anomaly and profile-aware. The velocity lever is capacity, the objective, or an explicit displacement primitive — not geometry.</a:t>
            </a:r>
            <a:endParaRPr lang="en-US" sz="950" dirty="0"/>
          </a:p>
          <a:p>
            <a:pPr indent="0" marL="0">
              <a:buNone/>
            </a:pPr>
            <a:r>
              <a:rPr lang="en-US" sz="860" b="1" dirty="0">
                <a:solidFill>
                  <a:srgbClr val="6B7A8F"/>
                </a:solidFill>
                <a:latin typeface="Calibri" pitchFamily="34" charset="0"/>
                <a:ea typeface="Calibri" pitchFamily="34" charset="-122"/>
                <a:cs typeface="Calibri" pitchFamily="34" charset="-120"/>
              </a:rPr>
              <a:t>4 · Two open decisions, deferred.  </a:t>
            </a:r>
            <a:pPr indent="0" marL="0">
              <a:buNone/>
            </a:pPr>
            <a:r>
              <a:rPr lang="en-US" sz="860" dirty="0">
                <a:solidFill>
                  <a:srgbClr val="1B2430"/>
                </a:solidFill>
                <a:latin typeface="Calibri" pitchFamily="34" charset="0"/>
                <a:ea typeface="Calibri" pitchFamily="34" charset="-122"/>
                <a:cs typeface="Calibri" pitchFamily="34" charset="-120"/>
              </a:rPr>
              <a:t>The outer ring's dot count per lag, on the same per-octave rule as the inner cone; and K = 144 pentads (two years) against a log-spaced eight-year outer window for the deep western boundary current's advective path.</a:t>
            </a:r>
            <a:endParaRPr lang="en-US" sz="950" dirty="0"/>
          </a:p>
        </p:txBody>
      </p:sp>
      <p:sp>
        <p:nvSpPr>
          <p:cNvPr id="30" name="Text 28"/>
          <p:cNvSpPr txBox="1"/>
          <p:nvPr/>
        </p:nvSpPr>
        <p:spPr>
          <a:xfrm>
            <a:off x="548640" y="5870448"/>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The original split gave the codec the near field and stage 2 the far field. With the reach sized from the fastest mechanism the codec sees the planet within a week, and the honest description of the two stencils becomes thirty days of raw channels against two years of embeddings — both global. The identities the coverage test asserts (union = the whole cone, overlap = the anchor column) survive unchanged; what changed is what they mean.</a:t>
            </a:r>
            <a:endParaRPr lang="en-US" sz="850" dirty="0"/>
          </a:p>
        </p:txBody>
      </p:sp>
      <p:sp>
        <p:nvSpPr>
          <p:cNvPr id="31" name="Text 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What feeds the cone codec today — four products, 42 channels, one axis</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family 4 recipe r3 — the tensor the codec eats: North Atlantic 100° W–20° E, 0–70° N · 0.25° · 5-day bins · 1982-01-01 → 2024-12-31 · 84,405 ocean cells · built once and sha-pinned (run #535)</a:t>
            </a:r>
            <a:endParaRPr lang="en-US" sz="1250" dirty="0"/>
          </a:p>
        </p:txBody>
      </p:sp>
      <p:sp>
        <p:nvSpPr>
          <p:cNvPr id="4" name="Text 2"/>
          <p:cNvSpPr txBox="1"/>
          <p:nvPr/>
        </p:nvSpPr>
        <p:spPr>
          <a:xfrm>
            <a:off x="548640" y="137160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0 · OBSERVATIONS</a:t>
            </a:r>
            <a:pPr indent="0" marL="0">
              <a:buNone/>
            </a:pPr>
            <a:r>
              <a:rPr lang="en-US" sz="750" i="1" dirty="0">
                <a:solidFill>
                  <a:srgbClr val="6B7A8F"/>
                </a:solidFill>
                <a:latin typeface="Calibri" pitchFamily="34" charset="0"/>
                <a:ea typeface="Calibri" pitchFamily="34" charset="-122"/>
                <a:cs typeface="Calibri" pitchFamily="34" charset="-120"/>
              </a:rPr>
              <a:t>   what an instrument actually measured</a:t>
            </a:r>
            <a:endParaRPr lang="en-US" sz="950" dirty="0"/>
          </a:p>
        </p:txBody>
      </p:sp>
      <p:sp>
        <p:nvSpPr>
          <p:cNvPr id="5" name="Shape 3"/>
          <p:cNvSpPr/>
          <p:nvPr/>
        </p:nvSpPr>
        <p:spPr>
          <a:xfrm>
            <a:off x="548640" y="1572768"/>
            <a:ext cx="1234440" cy="512064"/>
          </a:xfrm>
          <a:prstGeom prst="roundRect">
            <a:avLst>
              <a:gd name="adj" fmla="val 14286"/>
            </a:avLst>
          </a:prstGeom>
          <a:solidFill>
            <a:srgbClr val="F7F9FB"/>
          </a:solidFill>
          <a:ln w="15875">
            <a:solidFill>
              <a:srgbClr val="B8C4D3"/>
            </a:solidFill>
            <a:prstDash val="solid"/>
          </a:ln>
        </p:spPr>
      </p:sp>
      <p:sp>
        <p:nvSpPr>
          <p:cNvPr id="6" name="Text 4"/>
          <p:cNvSpPr txBox="1"/>
          <p:nvPr/>
        </p:nvSpPr>
        <p:spPr>
          <a:xfrm>
            <a:off x="612648"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altimetry · satellite SST (AVHRR) · Argo floats · ships, buoys, drifters</a:t>
            </a:r>
            <a:endParaRPr lang="en-US" sz="950" dirty="0"/>
          </a:p>
        </p:txBody>
      </p:sp>
      <p:sp>
        <p:nvSpPr>
          <p:cNvPr id="7" name="Shape 5"/>
          <p:cNvSpPr/>
          <p:nvPr/>
        </p:nvSpPr>
        <p:spPr>
          <a:xfrm>
            <a:off x="1892808" y="1572768"/>
            <a:ext cx="1234440" cy="512064"/>
          </a:xfrm>
          <a:prstGeom prst="roundRect">
            <a:avLst>
              <a:gd name="adj" fmla="val 14286"/>
            </a:avLst>
          </a:prstGeom>
          <a:solidFill>
            <a:srgbClr val="F7F9FB"/>
          </a:solidFill>
          <a:ln w="15875">
            <a:solidFill>
              <a:srgbClr val="B8C4D3"/>
            </a:solidFill>
            <a:prstDash val="solid"/>
          </a:ln>
        </p:spPr>
      </p:sp>
      <p:sp>
        <p:nvSpPr>
          <p:cNvPr id="8" name="Text 6"/>
          <p:cNvSpPr txBox="1"/>
          <p:nvPr/>
        </p:nvSpPr>
        <p:spPr>
          <a:xfrm>
            <a:off x="1956816"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SST (AVHRR) · ships, buoys, drifters</a:t>
            </a:r>
            <a:endParaRPr lang="en-US" sz="950" dirty="0"/>
          </a:p>
        </p:txBody>
      </p:sp>
      <p:sp>
        <p:nvSpPr>
          <p:cNvPr id="9" name="Shape 7"/>
          <p:cNvSpPr/>
          <p:nvPr/>
        </p:nvSpPr>
        <p:spPr>
          <a:xfrm>
            <a:off x="3236976" y="1572768"/>
            <a:ext cx="1234440" cy="512064"/>
          </a:xfrm>
          <a:prstGeom prst="roundRect">
            <a:avLst>
              <a:gd name="adj" fmla="val 14286"/>
            </a:avLst>
          </a:prstGeom>
          <a:solidFill>
            <a:srgbClr val="F7F9FB"/>
          </a:solidFill>
          <a:ln w="15875">
            <a:solidFill>
              <a:srgbClr val="B8C4D3"/>
            </a:solidFill>
            <a:prstDash val="solid"/>
          </a:ln>
        </p:spPr>
      </p:sp>
      <p:sp>
        <p:nvSpPr>
          <p:cNvPr id="10" name="Text 8"/>
          <p:cNvSpPr txBox="1"/>
          <p:nvPr/>
        </p:nvSpPr>
        <p:spPr>
          <a:xfrm>
            <a:off x="3300984"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Argo floats only</a:t>
            </a:r>
            <a:endParaRPr lang="en-US" sz="950" dirty="0"/>
          </a:p>
        </p:txBody>
      </p:sp>
      <p:sp>
        <p:nvSpPr>
          <p:cNvPr id="11" name="Shape 9"/>
          <p:cNvSpPr/>
          <p:nvPr/>
        </p:nvSpPr>
        <p:spPr>
          <a:xfrm>
            <a:off x="4581144" y="1572768"/>
            <a:ext cx="1234440" cy="512064"/>
          </a:xfrm>
          <a:prstGeom prst="roundRect">
            <a:avLst>
              <a:gd name="adj" fmla="val 14286"/>
            </a:avLst>
          </a:prstGeom>
          <a:solidFill>
            <a:srgbClr val="F7F9FB"/>
          </a:solidFill>
          <a:ln w="15875">
            <a:solidFill>
              <a:srgbClr val="B8C4D3"/>
            </a:solidFill>
            <a:prstDash val="solid"/>
          </a:ln>
        </p:spPr>
      </p:sp>
      <p:sp>
        <p:nvSpPr>
          <p:cNvPr id="12" name="Text 10"/>
          <p:cNvSpPr txBox="1"/>
          <p:nvPr/>
        </p:nvSpPr>
        <p:spPr>
          <a:xfrm>
            <a:off x="4645152"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radiosondes, aircraft, ships, satellite radiances</a:t>
            </a:r>
            <a:endParaRPr lang="en-US" sz="950" dirty="0"/>
          </a:p>
        </p:txBody>
      </p:sp>
      <p:sp>
        <p:nvSpPr>
          <p:cNvPr id="13" name="Shape 11"/>
          <p:cNvSpPr/>
          <p:nvPr/>
        </p:nvSpPr>
        <p:spPr>
          <a:xfrm>
            <a:off x="5925312" y="1572768"/>
            <a:ext cx="1234440" cy="512064"/>
          </a:xfrm>
          <a:prstGeom prst="roundRect">
            <a:avLst>
              <a:gd name="adj" fmla="val 14286"/>
            </a:avLst>
          </a:prstGeom>
          <a:solidFill>
            <a:srgbClr val="F7F9FB"/>
          </a:solidFill>
          <a:ln w="15875">
            <a:solidFill>
              <a:srgbClr val="B8C4D3"/>
            </a:solidFill>
            <a:prstDash val="solid"/>
          </a:ln>
        </p:spPr>
      </p:sp>
      <p:sp>
        <p:nvSpPr>
          <p:cNvPr id="14" name="Text 12"/>
          <p:cNvSpPr txBox="1"/>
          <p:nvPr/>
        </p:nvSpPr>
        <p:spPr>
          <a:xfrm>
            <a:off x="5989320"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moorings at 26.5° N · the Florida Straits cable</a:t>
            </a:r>
            <a:endParaRPr lang="en-US" sz="950" dirty="0"/>
          </a:p>
        </p:txBody>
      </p:sp>
      <p:sp>
        <p:nvSpPr>
          <p:cNvPr id="15" name="Text 13"/>
          <p:cNvSpPr txBox="1"/>
          <p:nvPr/>
        </p:nvSpPr>
        <p:spPr>
          <a:xfrm>
            <a:off x="548640" y="210312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1 · PRODUCTS WE DOWNLOAD</a:t>
            </a:r>
            <a:pPr indent="0" marL="0">
              <a:buNone/>
            </a:pPr>
            <a:r>
              <a:rPr lang="en-US" sz="750" i="1" dirty="0">
                <a:solidFill>
                  <a:srgbClr val="6B7A8F"/>
                </a:solidFill>
                <a:latin typeface="Calibri" pitchFamily="34" charset="0"/>
                <a:ea typeface="Calibri" pitchFamily="34" charset="-122"/>
                <a:cs typeface="Calibri" pitchFamily="34" charset="-120"/>
              </a:rPr>
              <a:t>   four inputs + two labels; green = observation-led, red = model-derived</a:t>
            </a:r>
            <a:endParaRPr lang="en-US" sz="950" dirty="0"/>
          </a:p>
        </p:txBody>
      </p:sp>
      <p:sp>
        <p:nvSpPr>
          <p:cNvPr id="16" name="Shape 14"/>
          <p:cNvSpPr/>
          <p:nvPr/>
        </p:nvSpPr>
        <p:spPr>
          <a:xfrm>
            <a:off x="1165860" y="2203704"/>
            <a:ext cx="0" cy="109728"/>
          </a:xfrm>
          <a:prstGeom prst="line">
            <a:avLst/>
          </a:prstGeom>
          <a:noFill/>
          <a:ln w="12700">
            <a:solidFill>
              <a:srgbClr val="B8C4D3"/>
            </a:solidFill>
            <a:prstDash val="solid"/>
            <a:tailEnd type="triangle"/>
          </a:ln>
        </p:spPr>
      </p:sp>
      <p:sp>
        <p:nvSpPr>
          <p:cNvPr id="17" name="Shape 15"/>
          <p:cNvSpPr/>
          <p:nvPr/>
        </p:nvSpPr>
        <p:spPr>
          <a:xfrm>
            <a:off x="2510028" y="2203704"/>
            <a:ext cx="0" cy="109728"/>
          </a:xfrm>
          <a:prstGeom prst="line">
            <a:avLst/>
          </a:prstGeom>
          <a:noFill/>
          <a:ln w="12700">
            <a:solidFill>
              <a:srgbClr val="B8C4D3"/>
            </a:solidFill>
            <a:prstDash val="solid"/>
            <a:tailEnd type="triangle"/>
          </a:ln>
        </p:spPr>
      </p:sp>
      <p:sp>
        <p:nvSpPr>
          <p:cNvPr id="18" name="Shape 16"/>
          <p:cNvSpPr/>
          <p:nvPr/>
        </p:nvSpPr>
        <p:spPr>
          <a:xfrm>
            <a:off x="3854196" y="2203704"/>
            <a:ext cx="0" cy="109728"/>
          </a:xfrm>
          <a:prstGeom prst="line">
            <a:avLst/>
          </a:prstGeom>
          <a:noFill/>
          <a:ln w="12700">
            <a:solidFill>
              <a:srgbClr val="B8C4D3"/>
            </a:solidFill>
            <a:prstDash val="solid"/>
            <a:tailEnd type="triangle"/>
          </a:ln>
        </p:spPr>
      </p:sp>
      <p:sp>
        <p:nvSpPr>
          <p:cNvPr id="19" name="Shape 17"/>
          <p:cNvSpPr/>
          <p:nvPr/>
        </p:nvSpPr>
        <p:spPr>
          <a:xfrm>
            <a:off x="5198364" y="2203704"/>
            <a:ext cx="0" cy="109728"/>
          </a:xfrm>
          <a:prstGeom prst="line">
            <a:avLst/>
          </a:prstGeom>
          <a:noFill/>
          <a:ln w="12700">
            <a:solidFill>
              <a:srgbClr val="B8C4D3"/>
            </a:solidFill>
            <a:prstDash val="solid"/>
            <a:tailEnd type="triangle"/>
          </a:ln>
        </p:spPr>
      </p:sp>
      <p:sp>
        <p:nvSpPr>
          <p:cNvPr id="20" name="Shape 18"/>
          <p:cNvSpPr/>
          <p:nvPr/>
        </p:nvSpPr>
        <p:spPr>
          <a:xfrm>
            <a:off x="6542532" y="2203704"/>
            <a:ext cx="0" cy="109728"/>
          </a:xfrm>
          <a:prstGeom prst="line">
            <a:avLst/>
          </a:prstGeom>
          <a:noFill/>
          <a:ln w="12700">
            <a:solidFill>
              <a:srgbClr val="B8C4D3"/>
            </a:solidFill>
            <a:prstDash val="solid"/>
            <a:tailEnd type="triangle"/>
          </a:ln>
        </p:spPr>
      </p:sp>
      <p:sp>
        <p:nvSpPr>
          <p:cNvPr id="21" name="Shape 19"/>
          <p:cNvSpPr/>
          <p:nvPr/>
        </p:nvSpPr>
        <p:spPr>
          <a:xfrm>
            <a:off x="548640" y="2322576"/>
            <a:ext cx="1234440" cy="969264"/>
          </a:xfrm>
          <a:prstGeom prst="roundRect">
            <a:avLst>
              <a:gd name="adj" fmla="val 7547"/>
            </a:avLst>
          </a:prstGeom>
          <a:solidFill>
            <a:srgbClr val="EEF3F8"/>
          </a:solidFill>
          <a:ln w="15875">
            <a:solidFill>
              <a:srgbClr val="A23B3B"/>
            </a:solidFill>
            <a:prstDash val="solid"/>
          </a:ln>
        </p:spPr>
      </p:sp>
      <p:sp>
        <p:nvSpPr>
          <p:cNvPr id="22" name="Text 20"/>
          <p:cNvSpPr txBox="1"/>
          <p:nvPr/>
        </p:nvSpPr>
        <p:spPr>
          <a:xfrm>
            <a:off x="612648"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GLORYS12</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Copernicus Marine ocean reanalysis — a model nudged towards observations. 1/12°, daily, 1993→. Assimilates altimetry, SST and Argo on a 7-day cycle.</a:t>
            </a:r>
            <a:endParaRPr lang="en-US" sz="950" dirty="0"/>
          </a:p>
        </p:txBody>
      </p:sp>
      <p:sp>
        <p:nvSpPr>
          <p:cNvPr id="23" name="Shape 21"/>
          <p:cNvSpPr/>
          <p:nvPr/>
        </p:nvSpPr>
        <p:spPr>
          <a:xfrm>
            <a:off x="1892808" y="2322576"/>
            <a:ext cx="1234440" cy="969264"/>
          </a:xfrm>
          <a:prstGeom prst="roundRect">
            <a:avLst>
              <a:gd name="adj" fmla="val 7547"/>
            </a:avLst>
          </a:prstGeom>
          <a:solidFill>
            <a:srgbClr val="EEF3F8"/>
          </a:solidFill>
          <a:ln w="15875">
            <a:solidFill>
              <a:srgbClr val="1F7A4D"/>
            </a:solidFill>
            <a:prstDash val="solid"/>
          </a:ln>
        </p:spPr>
      </p:sp>
      <p:sp>
        <p:nvSpPr>
          <p:cNvPr id="24" name="Text 22"/>
          <p:cNvSpPr txBox="1"/>
          <p:nvPr/>
        </p:nvSpPr>
        <p:spPr>
          <a:xfrm>
            <a:off x="1956816"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NOAA OISST v2.1</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0.25°, daily, 1981-09→. Optimum interpolation of AVHRR radiances and in-situ measurements — an analysis of observations, no ocean model.</a:t>
            </a:r>
            <a:endParaRPr lang="en-US" sz="950" dirty="0"/>
          </a:p>
        </p:txBody>
      </p:sp>
      <p:sp>
        <p:nvSpPr>
          <p:cNvPr id="25" name="Shape 23"/>
          <p:cNvSpPr/>
          <p:nvPr/>
        </p:nvSpPr>
        <p:spPr>
          <a:xfrm>
            <a:off x="3236976" y="2322576"/>
            <a:ext cx="1234440" cy="969264"/>
          </a:xfrm>
          <a:prstGeom prst="roundRect">
            <a:avLst>
              <a:gd name="adj" fmla="val 7547"/>
            </a:avLst>
          </a:prstGeom>
          <a:solidFill>
            <a:srgbClr val="EEF3F8"/>
          </a:solidFill>
          <a:ln w="15875">
            <a:solidFill>
              <a:srgbClr val="1F7A4D"/>
            </a:solidFill>
            <a:prstDash val="solid"/>
          </a:ln>
        </p:spPr>
      </p:sp>
      <p:sp>
        <p:nvSpPr>
          <p:cNvPr id="26" name="Text 24"/>
          <p:cNvSpPr txBox="1"/>
          <p:nvPr/>
        </p:nvSpPr>
        <p:spPr>
          <a:xfrm>
            <a:off x="3300984"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Roemmich–Gilson Argo</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Scripps climatology, 1°, monthly, 2004→. Argo floats mapped onto a grid; nothing else enters it.</a:t>
            </a:r>
            <a:endParaRPr lang="en-US" sz="950" dirty="0"/>
          </a:p>
        </p:txBody>
      </p:sp>
      <p:sp>
        <p:nvSpPr>
          <p:cNvPr id="27" name="Shape 25"/>
          <p:cNvSpPr/>
          <p:nvPr/>
        </p:nvSpPr>
        <p:spPr>
          <a:xfrm>
            <a:off x="4581144" y="2322576"/>
            <a:ext cx="1234440" cy="969264"/>
          </a:xfrm>
          <a:prstGeom prst="roundRect">
            <a:avLst>
              <a:gd name="adj" fmla="val 7547"/>
            </a:avLst>
          </a:prstGeom>
          <a:solidFill>
            <a:srgbClr val="EEF3F8"/>
          </a:solidFill>
          <a:ln w="15875">
            <a:solidFill>
              <a:srgbClr val="A23B3B"/>
            </a:solidFill>
            <a:prstDash val="solid"/>
          </a:ln>
        </p:spPr>
      </p:sp>
      <p:sp>
        <p:nvSpPr>
          <p:cNvPr id="28" name="Text 26"/>
          <p:cNvSpPr txBox="1"/>
          <p:nvPr/>
        </p:nvSpPr>
        <p:spPr>
          <a:xfrm>
            <a:off x="4645152"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NCEP/NCAR R1 momentum flux</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Atmospheric reanalysis 1, ~1.9°, daily, 1948→. The surface wind stress is model-diagnosed. Archive FROZEN since Mar 2026.</a:t>
            </a:r>
            <a:endParaRPr lang="en-US" sz="950" dirty="0"/>
          </a:p>
        </p:txBody>
      </p:sp>
      <p:sp>
        <p:nvSpPr>
          <p:cNvPr id="29" name="Shape 27"/>
          <p:cNvSpPr/>
          <p:nvPr/>
        </p:nvSpPr>
        <p:spPr>
          <a:xfrm>
            <a:off x="5925312" y="2322576"/>
            <a:ext cx="1234440" cy="969264"/>
          </a:xfrm>
          <a:prstGeom prst="roundRect">
            <a:avLst>
              <a:gd name="adj" fmla="val 7547"/>
            </a:avLst>
          </a:prstGeom>
          <a:solidFill>
            <a:srgbClr val="FFF6EE"/>
          </a:solidFill>
          <a:ln w="15875">
            <a:solidFill>
              <a:srgbClr val="E07A2F"/>
            </a:solidFill>
            <a:prstDash val="solid"/>
          </a:ln>
        </p:spPr>
      </p:sp>
      <p:sp>
        <p:nvSpPr>
          <p:cNvPr id="30" name="Text 28"/>
          <p:cNvSpPr txBox="1"/>
          <p:nvPr/>
        </p:nvSpPr>
        <p:spPr>
          <a:xfrm>
            <a:off x="5989320" y="2359152"/>
            <a:ext cx="1106424" cy="914400"/>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RAPID 26.5° N + Florida Current</a:t>
            </a:r>
            <a:endParaRPr lang="en-US" sz="950" dirty="0"/>
          </a:p>
          <a:p>
            <a:pPr indent="0" marL="0">
              <a:spcAft>
                <a:spcPts val="200"/>
              </a:spcAft>
              <a:buNone/>
            </a:pPr>
            <a:r>
              <a:rPr lang="en-US" sz="700" b="1" spc="50" kern="0" dirty="0">
                <a:solidFill>
                  <a:srgbClr val="E07A2F"/>
                </a:solidFill>
                <a:latin typeface="Calibri" pitchFamily="34" charset="0"/>
                <a:ea typeface="Calibri" pitchFamily="34" charset="-122"/>
                <a:cs typeface="Calibri" pitchFamily="34" charset="-120"/>
              </a:rPr>
              <a:t>LABELS, NEVER INPUT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Overturning transport 12-hourly 2004→; cable transport daily 1982→. Stored beside the tensor as truth; the trainer never reads them.</a:t>
            </a:r>
            <a:endParaRPr lang="en-US" sz="950" dirty="0"/>
          </a:p>
        </p:txBody>
      </p:sp>
      <p:sp>
        <p:nvSpPr>
          <p:cNvPr id="31" name="Text 29"/>
          <p:cNvSpPr txBox="1"/>
          <p:nvPr/>
        </p:nvSpPr>
        <p:spPr>
          <a:xfrm>
            <a:off x="548640" y="3300984"/>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2 · CHANNELS IN THE TENSOR</a:t>
            </a:r>
            <a:pPr indent="0" marL="0">
              <a:buNone/>
            </a:pPr>
            <a:r>
              <a:rPr lang="en-US" sz="750" i="1" dirty="0">
                <a:solidFill>
                  <a:srgbClr val="6B7A8F"/>
                </a:solidFill>
                <a:latin typeface="Calibri" pitchFamily="34" charset="0"/>
                <a:ea typeface="Calibri" pitchFamily="34" charset="-122"/>
                <a:cs typeface="Calibri" pitchFamily="34" charset="-120"/>
              </a:rPr>
              <a:t>   42 of them, plus the two labels; live-bin caveats in italics</a:t>
            </a:r>
            <a:endParaRPr lang="en-US" sz="950" dirty="0"/>
          </a:p>
        </p:txBody>
      </p:sp>
      <p:sp>
        <p:nvSpPr>
          <p:cNvPr id="32" name="Shape 30"/>
          <p:cNvSpPr/>
          <p:nvPr/>
        </p:nvSpPr>
        <p:spPr>
          <a:xfrm>
            <a:off x="1165860" y="3419856"/>
            <a:ext cx="0" cy="118872"/>
          </a:xfrm>
          <a:prstGeom prst="line">
            <a:avLst/>
          </a:prstGeom>
          <a:noFill/>
          <a:ln w="12700">
            <a:solidFill>
              <a:srgbClr val="B8C4D3"/>
            </a:solidFill>
            <a:prstDash val="solid"/>
            <a:tailEnd type="triangle"/>
          </a:ln>
        </p:spPr>
      </p:sp>
      <p:sp>
        <p:nvSpPr>
          <p:cNvPr id="33" name="Shape 31"/>
          <p:cNvSpPr/>
          <p:nvPr/>
        </p:nvSpPr>
        <p:spPr>
          <a:xfrm>
            <a:off x="2510028" y="3419856"/>
            <a:ext cx="0" cy="118872"/>
          </a:xfrm>
          <a:prstGeom prst="line">
            <a:avLst/>
          </a:prstGeom>
          <a:noFill/>
          <a:ln w="12700">
            <a:solidFill>
              <a:srgbClr val="B8C4D3"/>
            </a:solidFill>
            <a:prstDash val="solid"/>
            <a:tailEnd type="triangle"/>
          </a:ln>
        </p:spPr>
      </p:sp>
      <p:sp>
        <p:nvSpPr>
          <p:cNvPr id="34" name="Shape 32"/>
          <p:cNvSpPr/>
          <p:nvPr/>
        </p:nvSpPr>
        <p:spPr>
          <a:xfrm>
            <a:off x="3854196" y="3419856"/>
            <a:ext cx="0" cy="118872"/>
          </a:xfrm>
          <a:prstGeom prst="line">
            <a:avLst/>
          </a:prstGeom>
          <a:noFill/>
          <a:ln w="12700">
            <a:solidFill>
              <a:srgbClr val="B8C4D3"/>
            </a:solidFill>
            <a:prstDash val="solid"/>
            <a:tailEnd type="triangle"/>
          </a:ln>
        </p:spPr>
      </p:sp>
      <p:sp>
        <p:nvSpPr>
          <p:cNvPr id="35" name="Shape 33"/>
          <p:cNvSpPr/>
          <p:nvPr/>
        </p:nvSpPr>
        <p:spPr>
          <a:xfrm>
            <a:off x="5198364" y="3419856"/>
            <a:ext cx="0" cy="118872"/>
          </a:xfrm>
          <a:prstGeom prst="line">
            <a:avLst/>
          </a:prstGeom>
          <a:noFill/>
          <a:ln w="12700">
            <a:solidFill>
              <a:srgbClr val="B8C4D3"/>
            </a:solidFill>
            <a:prstDash val="solid"/>
            <a:tailEnd type="triangle"/>
          </a:ln>
        </p:spPr>
      </p:sp>
      <p:sp>
        <p:nvSpPr>
          <p:cNvPr id="36" name="Shape 34"/>
          <p:cNvSpPr/>
          <p:nvPr/>
        </p:nvSpPr>
        <p:spPr>
          <a:xfrm>
            <a:off x="6542532" y="3419856"/>
            <a:ext cx="0" cy="118872"/>
          </a:xfrm>
          <a:prstGeom prst="line">
            <a:avLst/>
          </a:prstGeom>
          <a:noFill/>
          <a:ln w="12700">
            <a:solidFill>
              <a:srgbClr val="B8C4D3"/>
            </a:solidFill>
            <a:prstDash val="solid"/>
            <a:tailEnd type="triangle"/>
          </a:ln>
        </p:spPr>
      </p:sp>
      <p:sp>
        <p:nvSpPr>
          <p:cNvPr id="37" name="Shape 35"/>
          <p:cNvSpPr/>
          <p:nvPr/>
        </p:nvSpPr>
        <p:spPr>
          <a:xfrm>
            <a:off x="548640" y="3547872"/>
            <a:ext cx="1234440" cy="859536"/>
          </a:xfrm>
          <a:prstGeom prst="roundRect">
            <a:avLst>
              <a:gd name="adj" fmla="val 8511"/>
            </a:avLst>
          </a:prstGeom>
          <a:solidFill>
            <a:srgbClr val="FBFCFD"/>
          </a:solidFill>
          <a:ln w="15875">
            <a:solidFill>
              <a:srgbClr val="A23B3B"/>
            </a:solidFill>
            <a:prstDash val="solid"/>
          </a:ln>
        </p:spPr>
      </p:sp>
      <p:sp>
        <p:nvSpPr>
          <p:cNvPr id="38" name="Text 36"/>
          <p:cNvSpPr txBox="1"/>
          <p:nvPr/>
        </p:nvSpPr>
        <p:spPr>
          <a:xfrm>
            <a:off x="612648"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cur_speed · cur_u · cur_v · log_mld · ssh</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5 channels, 1993+ only. cur_speed = hypot(cur_u, cur_v) by construction, so it is not independent of the two components.</a:t>
            </a:r>
            <a:endParaRPr lang="en-US" sz="950" dirty="0"/>
          </a:p>
        </p:txBody>
      </p:sp>
      <p:sp>
        <p:nvSpPr>
          <p:cNvPr id="39" name="Shape 37"/>
          <p:cNvSpPr/>
          <p:nvPr/>
        </p:nvSpPr>
        <p:spPr>
          <a:xfrm>
            <a:off x="1892808" y="3547872"/>
            <a:ext cx="1234440" cy="859536"/>
          </a:xfrm>
          <a:prstGeom prst="roundRect">
            <a:avLst>
              <a:gd name="adj" fmla="val 8511"/>
            </a:avLst>
          </a:prstGeom>
          <a:solidFill>
            <a:srgbClr val="FBFCFD"/>
          </a:solidFill>
          <a:ln w="15875">
            <a:solidFill>
              <a:srgbClr val="1F7A4D"/>
            </a:solidFill>
            <a:prstDash val="solid"/>
          </a:ln>
        </p:spPr>
      </p:sp>
      <p:sp>
        <p:nvSpPr>
          <p:cNvPr id="40" name="Text 38"/>
          <p:cNvSpPr txBox="1"/>
          <p:nvPr/>
        </p:nvSpPr>
        <p:spPr>
          <a:xfrm>
            <a:off x="1956816"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sst</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1 channel, live on the whole axis (1982→). The only channel with no hole in it.</a:t>
            </a:r>
            <a:endParaRPr lang="en-US" sz="950" dirty="0"/>
          </a:p>
        </p:txBody>
      </p:sp>
      <p:sp>
        <p:nvSpPr>
          <p:cNvPr id="41" name="Shape 39"/>
          <p:cNvSpPr/>
          <p:nvPr/>
        </p:nvSpPr>
        <p:spPr>
          <a:xfrm>
            <a:off x="3236976" y="3547872"/>
            <a:ext cx="1234440" cy="859536"/>
          </a:xfrm>
          <a:prstGeom prst="roundRect">
            <a:avLst>
              <a:gd name="adj" fmla="val 8511"/>
            </a:avLst>
          </a:prstGeom>
          <a:solidFill>
            <a:srgbClr val="FBFCFD"/>
          </a:solidFill>
          <a:ln w="15875">
            <a:solidFill>
              <a:srgbClr val="1F7A4D"/>
            </a:solidFill>
            <a:prstDash val="solid"/>
          </a:ln>
        </p:spPr>
      </p:sp>
      <p:sp>
        <p:nvSpPr>
          <p:cNvPr id="42" name="Text 40"/>
          <p:cNvSpPr txBox="1"/>
          <p:nvPr/>
        </p:nvSpPr>
        <p:spPr>
          <a:xfrm>
            <a:off x="3300984"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rg_t × 16 · rg_s × 16 (10–1900 dbar)</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32 channels — 80 % of the bytes. 2004+, and ONE live 5-day bin in six; `missing` tokens in the other five.</a:t>
            </a:r>
            <a:endParaRPr lang="en-US" sz="950" dirty="0"/>
          </a:p>
        </p:txBody>
      </p:sp>
      <p:sp>
        <p:nvSpPr>
          <p:cNvPr id="43" name="Shape 41"/>
          <p:cNvSpPr/>
          <p:nvPr/>
        </p:nvSpPr>
        <p:spPr>
          <a:xfrm>
            <a:off x="4581144" y="3547872"/>
            <a:ext cx="1234440" cy="859536"/>
          </a:xfrm>
          <a:prstGeom prst="roundRect">
            <a:avLst>
              <a:gd name="adj" fmla="val 8511"/>
            </a:avLst>
          </a:prstGeom>
          <a:solidFill>
            <a:srgbClr val="FBFCFD"/>
          </a:solidFill>
          <a:ln w="15875">
            <a:solidFill>
              <a:srgbClr val="A23B3B"/>
            </a:solidFill>
            <a:prstDash val="solid"/>
          </a:ln>
        </p:spPr>
      </p:sp>
      <p:sp>
        <p:nvSpPr>
          <p:cNvPr id="44" name="Text 42"/>
          <p:cNvSpPr txBox="1"/>
          <p:nvPr/>
        </p:nvSpPr>
        <p:spPr>
          <a:xfrm>
            <a:off x="4645152"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tau_x · tau_y · tau_x_std · tau_y_std</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4 channels, whole axis. The two σ channels are computed from the daily fields, never from the pentad mean.</a:t>
            </a:r>
            <a:endParaRPr lang="en-US" sz="950" dirty="0"/>
          </a:p>
        </p:txBody>
      </p:sp>
      <p:sp>
        <p:nvSpPr>
          <p:cNvPr id="45" name="Shape 43"/>
          <p:cNvSpPr/>
          <p:nvPr/>
        </p:nvSpPr>
        <p:spPr>
          <a:xfrm>
            <a:off x="5925312" y="3547872"/>
            <a:ext cx="1234440" cy="859536"/>
          </a:xfrm>
          <a:prstGeom prst="roundRect">
            <a:avLst>
              <a:gd name="adj" fmla="val 8511"/>
            </a:avLst>
          </a:prstGeom>
          <a:solidFill>
            <a:srgbClr val="FFF6EE"/>
          </a:solidFill>
          <a:ln w="15875">
            <a:solidFill>
              <a:srgbClr val="E07A2F"/>
            </a:solidFill>
            <a:prstDash val="solid"/>
          </a:ln>
        </p:spPr>
      </p:sp>
      <p:sp>
        <p:nvSpPr>
          <p:cNvPr id="46" name="Text 44"/>
          <p:cNvSpPr txBox="1"/>
          <p:nvPr/>
        </p:nvSpPr>
        <p:spPr>
          <a:xfrm>
            <a:off x="5989320"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E07A2F"/>
                </a:solidFill>
                <a:latin typeface="Calibri" pitchFamily="34" charset="0"/>
                <a:ea typeface="Calibri" pitchFamily="34" charset="-122"/>
                <a:cs typeface="Calibri" pitchFamily="34" charset="-120"/>
              </a:rPr>
              <a:t>truth_rapid · truth_fc</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Two label series stored in the same file. Read by the probes, never by the encoder.</a:t>
            </a:r>
            <a:endParaRPr lang="en-US" sz="950" dirty="0"/>
          </a:p>
        </p:txBody>
      </p:sp>
      <p:sp>
        <p:nvSpPr>
          <p:cNvPr id="47" name="Text 45"/>
          <p:cNvSpPr txBox="1"/>
          <p:nvPr/>
        </p:nvSpPr>
        <p:spPr>
          <a:xfrm>
            <a:off x="548640" y="4416552"/>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3 · DERIVED INSIDE TRAINING</a:t>
            </a:r>
            <a:pPr indent="0" marL="0">
              <a:buNone/>
            </a:pPr>
            <a:r>
              <a:rPr lang="en-US" sz="750" i="1" dirty="0">
                <a:solidFill>
                  <a:srgbClr val="6B7A8F"/>
                </a:solidFill>
                <a:latin typeface="Calibri" pitchFamily="34" charset="0"/>
                <a:ea typeface="Calibri" pitchFamily="34" charset="-122"/>
                <a:cs typeface="Calibri" pitchFamily="34" charset="-120"/>
              </a:rPr>
              <a:t>   nothing here is downloaded — it is computed from the tensor itself</a:t>
            </a:r>
            <a:endParaRPr lang="en-US" sz="950" dirty="0"/>
          </a:p>
        </p:txBody>
      </p:sp>
      <p:sp>
        <p:nvSpPr>
          <p:cNvPr id="48" name="Shape 46"/>
          <p:cNvSpPr/>
          <p:nvPr/>
        </p:nvSpPr>
        <p:spPr>
          <a:xfrm>
            <a:off x="1165860" y="4535424"/>
            <a:ext cx="0" cy="118872"/>
          </a:xfrm>
          <a:prstGeom prst="line">
            <a:avLst/>
          </a:prstGeom>
          <a:noFill/>
          <a:ln w="12700">
            <a:solidFill>
              <a:srgbClr val="B8C4D3"/>
            </a:solidFill>
            <a:prstDash val="solid"/>
            <a:tailEnd type="triangle"/>
          </a:ln>
        </p:spPr>
      </p:sp>
      <p:sp>
        <p:nvSpPr>
          <p:cNvPr id="49" name="Shape 47"/>
          <p:cNvSpPr/>
          <p:nvPr/>
        </p:nvSpPr>
        <p:spPr>
          <a:xfrm>
            <a:off x="2510028" y="4535424"/>
            <a:ext cx="0" cy="118872"/>
          </a:xfrm>
          <a:prstGeom prst="line">
            <a:avLst/>
          </a:prstGeom>
          <a:noFill/>
          <a:ln w="12700">
            <a:solidFill>
              <a:srgbClr val="B8C4D3"/>
            </a:solidFill>
            <a:prstDash val="solid"/>
            <a:tailEnd type="triangle"/>
          </a:ln>
        </p:spPr>
      </p:sp>
      <p:sp>
        <p:nvSpPr>
          <p:cNvPr id="50" name="Shape 48"/>
          <p:cNvSpPr/>
          <p:nvPr/>
        </p:nvSpPr>
        <p:spPr>
          <a:xfrm>
            <a:off x="3854196" y="4535424"/>
            <a:ext cx="0" cy="118872"/>
          </a:xfrm>
          <a:prstGeom prst="line">
            <a:avLst/>
          </a:prstGeom>
          <a:noFill/>
          <a:ln w="12700">
            <a:solidFill>
              <a:srgbClr val="B8C4D3"/>
            </a:solidFill>
            <a:prstDash val="solid"/>
            <a:tailEnd type="triangle"/>
          </a:ln>
        </p:spPr>
      </p:sp>
      <p:sp>
        <p:nvSpPr>
          <p:cNvPr id="51" name="Shape 49"/>
          <p:cNvSpPr/>
          <p:nvPr/>
        </p:nvSpPr>
        <p:spPr>
          <a:xfrm>
            <a:off x="5198364" y="4535424"/>
            <a:ext cx="0" cy="118872"/>
          </a:xfrm>
          <a:prstGeom prst="line">
            <a:avLst/>
          </a:prstGeom>
          <a:noFill/>
          <a:ln w="12700">
            <a:solidFill>
              <a:srgbClr val="B8C4D3"/>
            </a:solidFill>
            <a:prstDash val="solid"/>
            <a:tailEnd type="triangle"/>
          </a:ln>
        </p:spPr>
      </p:sp>
      <p:sp>
        <p:nvSpPr>
          <p:cNvPr id="52" name="Shape 50"/>
          <p:cNvSpPr/>
          <p:nvPr/>
        </p:nvSpPr>
        <p:spPr>
          <a:xfrm>
            <a:off x="548640" y="4663440"/>
            <a:ext cx="1572768" cy="749808"/>
          </a:xfrm>
          <a:prstGeom prst="roundRect">
            <a:avLst>
              <a:gd name="adj" fmla="val 9756"/>
            </a:avLst>
          </a:prstGeom>
          <a:solidFill>
            <a:srgbClr val="F2F8FA"/>
          </a:solidFill>
          <a:ln w="15875">
            <a:solidFill>
              <a:srgbClr val="1C7293"/>
            </a:solidFill>
            <a:prstDash val="solid"/>
          </a:ln>
        </p:spPr>
      </p:sp>
      <p:sp>
        <p:nvSpPr>
          <p:cNvPr id="53" name="Text 51"/>
          <p:cNvSpPr txBox="1"/>
          <p:nvPr/>
        </p:nvSpPr>
        <p:spPr>
          <a:xfrm>
            <a:off x="612648"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Anomaly, then z-score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Each channel minus a per-calendar-month average built from TRAINING YEARS ONLY, then divided by its own spread. No outside climatology is used.</a:t>
            </a:r>
            <a:endParaRPr lang="en-US" sz="950" dirty="0"/>
          </a:p>
        </p:txBody>
      </p:sp>
      <p:sp>
        <p:nvSpPr>
          <p:cNvPr id="54" name="Shape 52"/>
          <p:cNvSpPr/>
          <p:nvPr/>
        </p:nvSpPr>
        <p:spPr>
          <a:xfrm>
            <a:off x="2231136" y="4663440"/>
            <a:ext cx="1572768" cy="749808"/>
          </a:xfrm>
          <a:prstGeom prst="roundRect">
            <a:avLst>
              <a:gd name="adj" fmla="val 9756"/>
            </a:avLst>
          </a:prstGeom>
          <a:solidFill>
            <a:srgbClr val="F2F8FA"/>
          </a:solidFill>
          <a:ln w="15875">
            <a:solidFill>
              <a:srgbClr val="1C7293"/>
            </a:solidFill>
            <a:prstDash val="solid"/>
          </a:ln>
        </p:spPr>
      </p:sp>
      <p:sp>
        <p:nvSpPr>
          <p:cNvPr id="55" name="Text 53"/>
          <p:cNvSpPr txBox="1"/>
          <p:nvPr/>
        </p:nvSpPr>
        <p:spPr>
          <a:xfrm>
            <a:off x="2295144"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Mask · holdout · certificate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ocean mask is where channel 0 is finite (84,405 cells). Calendar years 2009, 2017 and 2023 are held out, certified 0 violations in 4,096 anchors.</a:t>
            </a:r>
            <a:endParaRPr lang="en-US" sz="950" dirty="0"/>
          </a:p>
        </p:txBody>
      </p:sp>
      <p:sp>
        <p:nvSpPr>
          <p:cNvPr id="56" name="Shape 54"/>
          <p:cNvSpPr/>
          <p:nvPr/>
        </p:nvSpPr>
        <p:spPr>
          <a:xfrm>
            <a:off x="3913632" y="4663440"/>
            <a:ext cx="1572768" cy="749808"/>
          </a:xfrm>
          <a:prstGeom prst="roundRect">
            <a:avLst>
              <a:gd name="adj" fmla="val 9756"/>
            </a:avLst>
          </a:prstGeom>
          <a:solidFill>
            <a:srgbClr val="F2F8FA"/>
          </a:solidFill>
          <a:ln w="15875">
            <a:solidFill>
              <a:srgbClr val="1C7293"/>
            </a:solidFill>
            <a:prstDash val="solid"/>
          </a:ln>
        </p:spPr>
      </p:sp>
      <p:sp>
        <p:nvSpPr>
          <p:cNvPr id="57" name="Text 55"/>
          <p:cNvSpPr txBox="1"/>
          <p:nvPr/>
        </p:nvSpPr>
        <p:spPr>
          <a:xfrm>
            <a:off x="3977640"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Probe target · snapshot twin</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velocity probe's target is the anchor's own cur_u, cur_v, hidden from the encoder. A second identical codec with no lags (L_in = 0) is the control.</a:t>
            </a:r>
            <a:endParaRPr lang="en-US" sz="950" dirty="0"/>
          </a:p>
        </p:txBody>
      </p:sp>
      <p:sp>
        <p:nvSpPr>
          <p:cNvPr id="58" name="Shape 56"/>
          <p:cNvSpPr/>
          <p:nvPr/>
        </p:nvSpPr>
        <p:spPr>
          <a:xfrm>
            <a:off x="5596128" y="4663440"/>
            <a:ext cx="1572768" cy="749808"/>
          </a:xfrm>
          <a:prstGeom prst="roundRect">
            <a:avLst>
              <a:gd name="adj" fmla="val 9756"/>
            </a:avLst>
          </a:prstGeom>
          <a:solidFill>
            <a:srgbClr val="F4F6F9"/>
          </a:solidFill>
          <a:ln w="15875">
            <a:solidFill>
              <a:srgbClr val="6B7A8F"/>
            </a:solidFill>
            <a:prstDash val="solid"/>
          </a:ln>
        </p:spPr>
      </p:sp>
      <p:sp>
        <p:nvSpPr>
          <p:cNvPr id="59" name="Text 57"/>
          <p:cNvSpPr txBox="1"/>
          <p:nvPr/>
        </p:nvSpPr>
        <p:spPr>
          <a:xfrm>
            <a:off x="5660136"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6B7A8F"/>
                </a:solidFill>
                <a:latin typeface="Calibri" pitchFamily="34" charset="0"/>
                <a:ea typeface="Calibri" pitchFamily="34" charset="-122"/>
                <a:cs typeface="Calibri" pitchFamily="34" charset="-120"/>
              </a:rPr>
              <a:t>Pinned for stage 2, unused yet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run-415 control embedding on recipe r2, the linear-inverse-model null (8 scoreable channels), and the AMOC evaluation mask.</a:t>
            </a:r>
            <a:endParaRPr lang="en-US" sz="950" dirty="0"/>
          </a:p>
        </p:txBody>
      </p:sp>
      <p:sp>
        <p:nvSpPr>
          <p:cNvPr id="60" name="Text 58"/>
          <p:cNvSpPr txBox="1"/>
          <p:nvPr/>
        </p:nvSpPr>
        <p:spPr>
          <a:xfrm>
            <a:off x="548640" y="5477256"/>
            <a:ext cx="6629400" cy="457200"/>
          </a:xfrm>
          <a:prstGeom prst="rect">
            <a:avLst/>
          </a:prstGeom>
          <a:noFill/>
          <a:ln/>
        </p:spPr>
        <p:txBody>
          <a:bodyPr wrap="square" lIns="0" tIns="0" rIns="0" bIns="0" rtlCol="0" anchor="t"/>
          <a:lstStyle/>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spcAft>
                <a:spcPts val="200"/>
              </a:spcAft>
              <a:buNone/>
            </a:pPr>
            <a:r>
              <a:rPr lang="en-US" sz="750" dirty="0">
                <a:solidFill>
                  <a:srgbClr val="1B2430"/>
                </a:solidFill>
                <a:latin typeface="Calibri" pitchFamily="34" charset="0"/>
                <a:ea typeface="Calibri" pitchFamily="34" charset="-122"/>
                <a:cs typeface="Calibri" pitchFamily="34" charset="-120"/>
              </a:rPr>
              <a:t>The app's 1991–2020 sea-surface-temperature normal is deliberately NOT the anomaly baseline: it averages over the held-out years, so it would leak the test period into training.</a:t>
            </a:r>
            <a:endParaRPr lang="en-US" sz="950" dirty="0"/>
          </a:p>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buNone/>
            </a:pPr>
            <a:r>
              <a:rPr lang="en-US" sz="750" dirty="0">
                <a:solidFill>
                  <a:srgbClr val="1B2430"/>
                </a:solidFill>
                <a:latin typeface="Calibri" pitchFamily="34" charset="0"/>
                <a:ea typeface="Calibri" pitchFamily="34" charset="-122"/>
                <a:cs typeface="Calibri" pitchFamily="34" charset="-120"/>
              </a:rPr>
              <a:t>Derived products peek forward by half their assimilation window — the observations a reanalysis may look at around each day (GLORYS: 7 days). 5 of the 42 channels; they need a time shift.</a:t>
            </a:r>
            <a:endParaRPr lang="en-US" sz="950" dirty="0"/>
          </a:p>
        </p:txBody>
      </p:sp>
      <p:sp>
        <p:nvSpPr>
          <p:cNvPr id="61" name="Shape 59"/>
          <p:cNvSpPr/>
          <p:nvPr/>
        </p:nvSpPr>
        <p:spPr>
          <a:xfrm>
            <a:off x="7269480" y="1371600"/>
            <a:ext cx="4343400" cy="4498848"/>
          </a:xfrm>
          <a:prstGeom prst="roundRect">
            <a:avLst>
              <a:gd name="adj" fmla="val 1684"/>
            </a:avLst>
          </a:prstGeom>
          <a:solidFill>
            <a:srgbClr val="F4F6F9"/>
          </a:solidFill>
          <a:ln w="15875">
            <a:solidFill>
              <a:srgbClr val="0B1F3A"/>
            </a:solidFill>
            <a:prstDash val="solid"/>
          </a:ln>
        </p:spPr>
      </p:sp>
      <p:sp>
        <p:nvSpPr>
          <p:cNvPr id="62" name="Text 60"/>
          <p:cNvSpPr txBox="1"/>
          <p:nvPr/>
        </p:nvSpPr>
        <p:spPr>
          <a:xfrm>
            <a:off x="7406640" y="1444752"/>
            <a:ext cx="4069080" cy="4370832"/>
          </a:xfrm>
          <a:prstGeom prst="rect">
            <a:avLst/>
          </a:prstGeom>
          <a:noFill/>
          <a:ln/>
        </p:spPr>
        <p:txBody>
          <a:bodyPr wrap="square" lIns="0" tIns="0" rIns="0" bIns="0" rtlCol="0" anchor="t"/>
          <a:lstStyle/>
          <a:p>
            <a:pPr indent="0" marL="0">
              <a:spcAft>
                <a:spcPts val="500"/>
              </a:spcAft>
              <a:buNone/>
            </a:pPr>
            <a:r>
              <a:rPr lang="en-US" sz="1100" b="1" dirty="0">
                <a:solidFill>
                  <a:srgbClr val="0B1F3A"/>
                </a:solidFill>
                <a:latin typeface="Calibri" pitchFamily="34" charset="0"/>
                <a:ea typeface="Calibri" pitchFamily="34" charset="-122"/>
                <a:cs typeface="Calibri" pitchFamily="34" charset="-120"/>
              </a:rPr>
              <a:t>Missing from “the ocean and its biosphere” — additions, ranked</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1  Buoyancy forcing — ERA5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net short- and long-wave radiation, sensible and latent heat, evaporation − precipitation, wind-stress curl. The only forcing entirely absent today, and it also replaces the frozen NCEP momentum flux.</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2  Ocean interior at 0.25°, in 3-D — GREP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temperature, salinity and both velocity components at 8 depths, 1993→ (+20 GB). Velocity at depth, and six times as many live subsurface bins. The data ladder's #1.</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3  Observed sea level — DUACS altimetry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sea-level anomaly, absolute dynamic topography and geostrophic velocities, 0.125°, daily, 1993→: the observation GLORYS is fitted to, as its own independent channel.</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4  Statics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bathymetry and its gradient, the Coriolis parameter f and its gradient β, distance to coast and to the 1000 m isobath, mean dynamic topography. ~3 MB; the ladder's #2.</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5  Sea-ice concentration — OSTIA / OSI SAF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the northern boundary condition of the window. Today the model sees ice-covered water as ordinary water.</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6  Drifters — Global Drifter Program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15 m velocity and SST as native dots: the observed velocity the H1 probe (does the embedding know the current?) should really be scored on.</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7  Biosphere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ocean-colour chlorophyll (OC-CCI 4 km 1997→, PACE 2024→), BGC-Argo oxygen / nitrate / chlorophyll profiles as dots, SOCAT surface CO₂. The ladder rejected chlorophyll as an INPUT for the overturning head — “no mechanistic path at these timescales” — so the biosphere enters first as what the embedding must PREDICT, and as a held-out sphere.</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8  Sea-surface salinity — SMOS / SMAP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2010→, short, but it is the freshwater lid. And RAPID's depth-resolved moc_vertical and boundary T/S files are already downloaded and unused.</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Ranked by information per byte and by what the model cannot derive from what it already holds.</a:t>
            </a:r>
            <a:endParaRPr lang="en-US" sz="950" dirty="0"/>
          </a:p>
        </p:txBody>
      </p:sp>
      <p:sp>
        <p:nvSpPr>
          <p:cNvPr id="63" name="Text 61"/>
          <p:cNvSpPr txBox="1"/>
          <p:nvPr/>
        </p:nvSpPr>
        <p:spPr>
          <a:xfrm>
            <a:off x="548640" y="603504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Today's codec sees the ocean's momentum forcing (wind stress) and its density structure in one column, and nothing else: no heat or freshwater forcing, no observed velocity, no boundaries — no ice, no bathymetry — and nothing living. Two thirds of the channel count is a single monthly Argo product that is live in one 5-day bin out of six. The additions on the right are ordered by information per byte and by what the model cannot derive from what it already has; the first three are also the three the E-069 plan (the cone codec being trained now) would use unchanged.</a:t>
            </a:r>
            <a:endParaRPr lang="en-US" sz="850" dirty="0"/>
          </a:p>
        </p:txBody>
      </p:sp>
      <p:sp>
        <p:nvSpPr>
          <p:cNvPr id="64" name="Text 6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Boundaries — four edges, four rules, and two of them now change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Findings of 3 Sep; decisions of 4 Sep (Chris): the dataset is global, and the anomaly baseline is a day-of-year harmonic fit — E-071.</a:t>
            </a:r>
            <a:endParaRPr lang="en-US" sz="1250" dirty="0"/>
          </a:p>
        </p:txBody>
      </p:sp>
      <p:sp>
        <p:nvSpPr>
          <p:cNvPr id="4" name="Shape 2"/>
          <p:cNvSpPr/>
          <p:nvPr/>
        </p:nvSpPr>
        <p:spPr>
          <a:xfrm>
            <a:off x="548640" y="1335024"/>
            <a:ext cx="5440680" cy="2231136"/>
          </a:xfrm>
          <a:prstGeom prst="roundRect">
            <a:avLst>
              <a:gd name="adj" fmla="val 3279"/>
            </a:avLst>
          </a:prstGeom>
          <a:solidFill>
            <a:srgbClr val="F7FAFC"/>
          </a:solidFill>
          <a:ln w="15875">
            <a:solidFill>
              <a:srgbClr val="2E86AB"/>
            </a:solidFill>
            <a:prstDash val="solid"/>
          </a:ln>
        </p:spPr>
      </p:sp>
      <p:sp>
        <p:nvSpPr>
          <p:cNvPr id="5" name="Text 3"/>
          <p:cNvSpPr txBox="1"/>
          <p:nvPr/>
        </p:nvSpPr>
        <p:spPr>
          <a:xfrm>
            <a:off x="667512" y="1389888"/>
            <a:ext cx="5202936" cy="219456"/>
          </a:xfrm>
          <a:prstGeom prst="rect">
            <a:avLst/>
          </a:prstGeom>
          <a:noFill/>
          <a:ln/>
        </p:spPr>
        <p:txBody>
          <a:bodyPr wrap="square" lIns="0" tIns="0" rIns="0" bIns="0" rtlCol="0" anchor="t"/>
          <a:lstStyle/>
          <a:p>
            <a:pPr indent="0" marL="0">
              <a:buNone/>
            </a:pPr>
            <a:r>
              <a:rPr lang="en-US" sz="950" b="1" dirty="0">
                <a:solidFill>
                  <a:srgbClr val="2E86AB"/>
                </a:solidFill>
                <a:latin typeface="Calibri" pitchFamily="34" charset="0"/>
                <a:ea typeface="Calibri" pitchFamily="34" charset="-122"/>
                <a:cs typeface="Calibri" pitchFamily="34" charset="-120"/>
              </a:rPr>
              <a:t>A · SPACE — the window edge (100° W – 20° E, 0–70° N)</a:t>
            </a:r>
            <a:endParaRPr lang="en-US" sz="950" dirty="0"/>
          </a:p>
        </p:txBody>
      </p:sp>
      <p:sp>
        <p:nvSpPr>
          <p:cNvPr id="6" name="Text 4"/>
          <p:cNvSpPr txBox="1"/>
          <p:nvPr/>
        </p:nvSpPr>
        <p:spPr>
          <a:xfrm>
            <a:off x="667512" y="1627632"/>
            <a:ext cx="5202936" cy="73152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FINDING, 3 SEP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a dot outside the rectangle is INVALID, never wrapped: the tensor is a basin, so a wrap “would put the Iberian shelf one cell west of Florida” (ml/cone_sampler.py:19–23). The index is clipped, the value discarded, and valid = False becomes the ATTENTION MASK (ConeSampler.sample :293; the lag-0 3×3 patch likewise, _patch :263). Anchors are drawn uniformly over ocean cells with NO edge margin (ml/train_cone.py:358), so an edge anchor sees a truncated, one-sided cone.</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The asymmetry: </a:t>
            </a:r>
            <a:pPr indent="0" marL="0">
              <a:buNone/>
            </a:pPr>
            <a:r>
              <a:rPr lang="en-US" sz="700" dirty="0">
                <a:solidFill>
                  <a:srgbClr val="1B2430"/>
                </a:solidFill>
                <a:latin typeface="Calibri" pitchFamily="34" charset="0"/>
                <a:ea typeface="Calibri" pitchFamily="34" charset="-122"/>
                <a:cs typeface="Calibri" pitchFamily="34" charset="-120"/>
              </a:rPr>
              <a:t>nothing tells the model that the missing dots are missing because of OUR rectangle rather than because of the ocean.</a:t>
            </a:r>
            <a:endParaRPr lang="en-US" sz="950" dirty="0"/>
          </a:p>
        </p:txBody>
      </p:sp>
      <p:sp>
        <p:nvSpPr>
          <p:cNvPr id="7" name="Shape 5"/>
          <p:cNvSpPr/>
          <p:nvPr/>
        </p:nvSpPr>
        <p:spPr>
          <a:xfrm>
            <a:off x="676656" y="2395728"/>
            <a:ext cx="2011680" cy="402336"/>
          </a:xfrm>
          <a:prstGeom prst="rect">
            <a:avLst/>
          </a:prstGeom>
          <a:solidFill>
            <a:srgbClr val="FFFFFF"/>
          </a:solidFill>
          <a:ln w="12700">
            <a:solidFill>
              <a:srgbClr val="2E86AB"/>
            </a:solidFill>
            <a:prstDash val="solid"/>
          </a:ln>
        </p:spPr>
      </p:sp>
      <p:sp>
        <p:nvSpPr>
          <p:cNvPr id="8" name="Shape 6"/>
          <p:cNvSpPr/>
          <p:nvPr/>
        </p:nvSpPr>
        <p:spPr>
          <a:xfrm>
            <a:off x="2653589" y="2571293"/>
            <a:ext cx="51206" cy="51206"/>
          </a:xfrm>
          <a:prstGeom prst="ellipse">
            <a:avLst/>
          </a:prstGeom>
          <a:ln w="11430">
            <a:solidFill>
              <a:srgbClr val="A23B3B"/>
            </a:solidFill>
            <a:prstDash val="solid"/>
          </a:ln>
        </p:spPr>
      </p:sp>
      <p:sp>
        <p:nvSpPr>
          <p:cNvPr id="9" name="Shape 7"/>
          <p:cNvSpPr/>
          <p:nvPr/>
        </p:nvSpPr>
        <p:spPr>
          <a:xfrm>
            <a:off x="2618772" y="2623407"/>
            <a:ext cx="51206" cy="51206"/>
          </a:xfrm>
          <a:prstGeom prst="ellipse">
            <a:avLst/>
          </a:prstGeom>
          <a:solidFill>
            <a:srgbClr val="2E86AB"/>
          </a:solidFill>
          <a:ln w="12700">
            <a:solidFill>
              <a:srgbClr val="2E86AB"/>
            </a:solidFill>
            <a:prstDash val="solid"/>
          </a:ln>
        </p:spPr>
      </p:sp>
      <p:sp>
        <p:nvSpPr>
          <p:cNvPr id="10" name="Shape 8"/>
          <p:cNvSpPr/>
          <p:nvPr/>
        </p:nvSpPr>
        <p:spPr>
          <a:xfrm>
            <a:off x="2534717" y="2644993"/>
            <a:ext cx="51206" cy="51206"/>
          </a:xfrm>
          <a:prstGeom prst="ellipse">
            <a:avLst/>
          </a:prstGeom>
          <a:solidFill>
            <a:srgbClr val="2E86AB"/>
          </a:solidFill>
          <a:ln w="12700">
            <a:solidFill>
              <a:srgbClr val="2E86AB"/>
            </a:solidFill>
            <a:prstDash val="solid"/>
          </a:ln>
        </p:spPr>
      </p:sp>
      <p:sp>
        <p:nvSpPr>
          <p:cNvPr id="11" name="Shape 9"/>
          <p:cNvSpPr/>
          <p:nvPr/>
        </p:nvSpPr>
        <p:spPr>
          <a:xfrm>
            <a:off x="2450662" y="2623407"/>
            <a:ext cx="51206" cy="51206"/>
          </a:xfrm>
          <a:prstGeom prst="ellipse">
            <a:avLst/>
          </a:prstGeom>
          <a:solidFill>
            <a:srgbClr val="2E86AB"/>
          </a:solidFill>
          <a:ln w="12700">
            <a:solidFill>
              <a:srgbClr val="2E86AB"/>
            </a:solidFill>
            <a:prstDash val="solid"/>
          </a:ln>
        </p:spPr>
      </p:sp>
      <p:sp>
        <p:nvSpPr>
          <p:cNvPr id="12" name="Shape 10"/>
          <p:cNvSpPr/>
          <p:nvPr/>
        </p:nvSpPr>
        <p:spPr>
          <a:xfrm>
            <a:off x="2415845" y="2571293"/>
            <a:ext cx="51206" cy="51206"/>
          </a:xfrm>
          <a:prstGeom prst="ellipse">
            <a:avLst/>
          </a:prstGeom>
          <a:solidFill>
            <a:srgbClr val="2E86AB"/>
          </a:solidFill>
          <a:ln w="12700">
            <a:solidFill>
              <a:srgbClr val="2E86AB"/>
            </a:solidFill>
            <a:prstDash val="solid"/>
          </a:ln>
        </p:spPr>
      </p:sp>
      <p:sp>
        <p:nvSpPr>
          <p:cNvPr id="13" name="Shape 11"/>
          <p:cNvSpPr/>
          <p:nvPr/>
        </p:nvSpPr>
        <p:spPr>
          <a:xfrm>
            <a:off x="2450662" y="2519179"/>
            <a:ext cx="51206" cy="51206"/>
          </a:xfrm>
          <a:prstGeom prst="ellipse">
            <a:avLst/>
          </a:prstGeom>
          <a:solidFill>
            <a:srgbClr val="2E86AB"/>
          </a:solidFill>
          <a:ln w="12700">
            <a:solidFill>
              <a:srgbClr val="2E86AB"/>
            </a:solidFill>
            <a:prstDash val="solid"/>
          </a:ln>
        </p:spPr>
      </p:sp>
      <p:sp>
        <p:nvSpPr>
          <p:cNvPr id="14" name="Shape 12"/>
          <p:cNvSpPr/>
          <p:nvPr/>
        </p:nvSpPr>
        <p:spPr>
          <a:xfrm>
            <a:off x="2534717" y="2497592"/>
            <a:ext cx="51206" cy="51206"/>
          </a:xfrm>
          <a:prstGeom prst="ellipse">
            <a:avLst/>
          </a:prstGeom>
          <a:solidFill>
            <a:srgbClr val="2E86AB"/>
          </a:solidFill>
          <a:ln w="12700">
            <a:solidFill>
              <a:srgbClr val="2E86AB"/>
            </a:solidFill>
            <a:prstDash val="solid"/>
          </a:ln>
        </p:spPr>
      </p:sp>
      <p:sp>
        <p:nvSpPr>
          <p:cNvPr id="15" name="Shape 13"/>
          <p:cNvSpPr/>
          <p:nvPr/>
        </p:nvSpPr>
        <p:spPr>
          <a:xfrm>
            <a:off x="2618772" y="2519179"/>
            <a:ext cx="51206" cy="51206"/>
          </a:xfrm>
          <a:prstGeom prst="ellipse">
            <a:avLst/>
          </a:prstGeom>
          <a:solidFill>
            <a:srgbClr val="2E86AB"/>
          </a:solidFill>
          <a:ln w="12700">
            <a:solidFill>
              <a:srgbClr val="2E86AB"/>
            </a:solidFill>
            <a:prstDash val="solid"/>
          </a:ln>
        </p:spPr>
      </p:sp>
      <p:sp>
        <p:nvSpPr>
          <p:cNvPr id="16" name="Shape 14"/>
          <p:cNvSpPr/>
          <p:nvPr/>
        </p:nvSpPr>
        <p:spPr>
          <a:xfrm>
            <a:off x="2772461" y="2571293"/>
            <a:ext cx="51206" cy="51206"/>
          </a:xfrm>
          <a:prstGeom prst="ellipse">
            <a:avLst/>
          </a:prstGeom>
          <a:ln w="11430">
            <a:solidFill>
              <a:srgbClr val="A23B3B"/>
            </a:solidFill>
            <a:prstDash val="solid"/>
          </a:ln>
        </p:spPr>
      </p:sp>
      <p:sp>
        <p:nvSpPr>
          <p:cNvPr id="17" name="Shape 15"/>
          <p:cNvSpPr/>
          <p:nvPr/>
        </p:nvSpPr>
        <p:spPr>
          <a:xfrm>
            <a:off x="2727056" y="2657933"/>
            <a:ext cx="51206" cy="51206"/>
          </a:xfrm>
          <a:prstGeom prst="ellipse">
            <a:avLst/>
          </a:prstGeom>
          <a:ln w="11430">
            <a:solidFill>
              <a:srgbClr val="A23B3B"/>
            </a:solidFill>
            <a:prstDash val="solid"/>
          </a:ln>
        </p:spPr>
      </p:sp>
      <p:sp>
        <p:nvSpPr>
          <p:cNvPr id="18" name="Shape 16"/>
          <p:cNvSpPr/>
          <p:nvPr/>
        </p:nvSpPr>
        <p:spPr>
          <a:xfrm>
            <a:off x="2608184" y="2711480"/>
            <a:ext cx="51206" cy="51206"/>
          </a:xfrm>
          <a:prstGeom prst="ellipse">
            <a:avLst/>
          </a:prstGeom>
          <a:solidFill>
            <a:srgbClr val="2E86AB"/>
          </a:solidFill>
          <a:ln w="12700">
            <a:solidFill>
              <a:srgbClr val="2E86AB"/>
            </a:solidFill>
            <a:prstDash val="solid"/>
          </a:ln>
        </p:spPr>
      </p:sp>
      <p:sp>
        <p:nvSpPr>
          <p:cNvPr id="19" name="Shape 17"/>
          <p:cNvSpPr/>
          <p:nvPr/>
        </p:nvSpPr>
        <p:spPr>
          <a:xfrm>
            <a:off x="2461250" y="2711480"/>
            <a:ext cx="51206" cy="51206"/>
          </a:xfrm>
          <a:prstGeom prst="ellipse">
            <a:avLst/>
          </a:prstGeom>
          <a:solidFill>
            <a:srgbClr val="2E86AB"/>
          </a:solidFill>
          <a:ln w="12700">
            <a:solidFill>
              <a:srgbClr val="2E86AB"/>
            </a:solidFill>
            <a:prstDash val="solid"/>
          </a:ln>
        </p:spPr>
      </p:sp>
      <p:sp>
        <p:nvSpPr>
          <p:cNvPr id="20" name="Shape 18"/>
          <p:cNvSpPr/>
          <p:nvPr/>
        </p:nvSpPr>
        <p:spPr>
          <a:xfrm>
            <a:off x="2342378" y="2657933"/>
            <a:ext cx="51206" cy="51206"/>
          </a:xfrm>
          <a:prstGeom prst="ellipse">
            <a:avLst/>
          </a:prstGeom>
          <a:solidFill>
            <a:srgbClr val="2E86AB"/>
          </a:solidFill>
          <a:ln w="12700">
            <a:solidFill>
              <a:srgbClr val="2E86AB"/>
            </a:solidFill>
            <a:prstDash val="solid"/>
          </a:ln>
        </p:spPr>
      </p:sp>
      <p:sp>
        <p:nvSpPr>
          <p:cNvPr id="21" name="Shape 19"/>
          <p:cNvSpPr/>
          <p:nvPr/>
        </p:nvSpPr>
        <p:spPr>
          <a:xfrm>
            <a:off x="2296973" y="2571293"/>
            <a:ext cx="51206" cy="51206"/>
          </a:xfrm>
          <a:prstGeom prst="ellipse">
            <a:avLst/>
          </a:prstGeom>
          <a:solidFill>
            <a:srgbClr val="2E86AB"/>
          </a:solidFill>
          <a:ln w="12700">
            <a:solidFill>
              <a:srgbClr val="2E86AB"/>
            </a:solidFill>
            <a:prstDash val="solid"/>
          </a:ln>
        </p:spPr>
      </p:sp>
      <p:sp>
        <p:nvSpPr>
          <p:cNvPr id="22" name="Shape 20"/>
          <p:cNvSpPr/>
          <p:nvPr/>
        </p:nvSpPr>
        <p:spPr>
          <a:xfrm>
            <a:off x="2342378" y="2484653"/>
            <a:ext cx="51206" cy="51206"/>
          </a:xfrm>
          <a:prstGeom prst="ellipse">
            <a:avLst/>
          </a:prstGeom>
          <a:solidFill>
            <a:srgbClr val="2E86AB"/>
          </a:solidFill>
          <a:ln w="12700">
            <a:solidFill>
              <a:srgbClr val="2E86AB"/>
            </a:solidFill>
            <a:prstDash val="solid"/>
          </a:ln>
        </p:spPr>
      </p:sp>
      <p:sp>
        <p:nvSpPr>
          <p:cNvPr id="23" name="Shape 21"/>
          <p:cNvSpPr/>
          <p:nvPr/>
        </p:nvSpPr>
        <p:spPr>
          <a:xfrm>
            <a:off x="2461250" y="2431106"/>
            <a:ext cx="51206" cy="51206"/>
          </a:xfrm>
          <a:prstGeom prst="ellipse">
            <a:avLst/>
          </a:prstGeom>
          <a:solidFill>
            <a:srgbClr val="2E86AB"/>
          </a:solidFill>
          <a:ln w="12700">
            <a:solidFill>
              <a:srgbClr val="2E86AB"/>
            </a:solidFill>
            <a:prstDash val="solid"/>
          </a:ln>
        </p:spPr>
      </p:sp>
      <p:sp>
        <p:nvSpPr>
          <p:cNvPr id="24" name="Shape 22"/>
          <p:cNvSpPr/>
          <p:nvPr/>
        </p:nvSpPr>
        <p:spPr>
          <a:xfrm>
            <a:off x="2608184" y="2431106"/>
            <a:ext cx="51206" cy="51206"/>
          </a:xfrm>
          <a:prstGeom prst="ellipse">
            <a:avLst/>
          </a:prstGeom>
          <a:solidFill>
            <a:srgbClr val="2E86AB"/>
          </a:solidFill>
          <a:ln w="12700">
            <a:solidFill>
              <a:srgbClr val="2E86AB"/>
            </a:solidFill>
            <a:prstDash val="solid"/>
          </a:ln>
        </p:spPr>
      </p:sp>
      <p:sp>
        <p:nvSpPr>
          <p:cNvPr id="25" name="Shape 23"/>
          <p:cNvSpPr/>
          <p:nvPr/>
        </p:nvSpPr>
        <p:spPr>
          <a:xfrm>
            <a:off x="2727056" y="2484653"/>
            <a:ext cx="51206" cy="51206"/>
          </a:xfrm>
          <a:prstGeom prst="ellipse">
            <a:avLst/>
          </a:prstGeom>
          <a:ln w="11430">
            <a:solidFill>
              <a:srgbClr val="A23B3B"/>
            </a:solidFill>
            <a:prstDash val="solid"/>
          </a:ln>
        </p:spPr>
      </p:sp>
      <p:sp>
        <p:nvSpPr>
          <p:cNvPr id="26" name="Shape 24"/>
          <p:cNvSpPr/>
          <p:nvPr/>
        </p:nvSpPr>
        <p:spPr>
          <a:xfrm>
            <a:off x="2528316" y="2564892"/>
            <a:ext cx="64008" cy="64008"/>
          </a:xfrm>
          <a:prstGeom prst="ellipse">
            <a:avLst/>
          </a:prstGeom>
          <a:solidFill>
            <a:srgbClr val="F2C14E"/>
          </a:solidFill>
          <a:ln w="9525">
            <a:solidFill>
              <a:srgbClr val="0B1F3A"/>
            </a:solidFill>
            <a:prstDash val="solid"/>
          </a:ln>
        </p:spPr>
      </p:sp>
      <p:sp>
        <p:nvSpPr>
          <p:cNvPr id="27" name="Text 25"/>
          <p:cNvSpPr txBox="1"/>
          <p:nvPr/>
        </p:nvSpPr>
        <p:spPr>
          <a:xfrm>
            <a:off x="676656" y="2816352"/>
            <a:ext cx="2286000"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the tensor window — the dots do not wrap</a:t>
            </a:r>
            <a:endParaRPr lang="en-US" sz="950" dirty="0"/>
          </a:p>
        </p:txBody>
      </p:sp>
      <p:sp>
        <p:nvSpPr>
          <p:cNvPr id="28" name="Text 26"/>
          <p:cNvSpPr txBox="1"/>
          <p:nvPr/>
        </p:nvSpPr>
        <p:spPr>
          <a:xfrm>
            <a:off x="2834640" y="2377440"/>
            <a:ext cx="3008376" cy="603504"/>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Filled </a:t>
            </a:r>
            <a:pPr indent="0" marL="0">
              <a:buNone/>
            </a:pPr>
            <a:r>
              <a:rPr lang="en-US" sz="700" dirty="0">
                <a:solidFill>
                  <a:srgbClr val="1B2430"/>
                </a:solidFill>
                <a:latin typeface="Calibri" pitchFamily="34" charset="0"/>
                <a:ea typeface="Calibri" pitchFamily="34" charset="-122"/>
                <a:cs typeface="Calibri" pitchFamily="34" charset="-120"/>
              </a:rPr>
              <a:t>= read. </a:t>
            </a:r>
            <a:pPr indent="0" marL="0">
              <a:buNone/>
            </a:pPr>
            <a:r>
              <a:rPr lang="en-US" sz="700" b="1" dirty="0">
                <a:solidFill>
                  <a:srgbClr val="A23B3B"/>
                </a:solidFill>
                <a:latin typeface="Calibri" pitchFamily="34" charset="0"/>
                <a:ea typeface="Calibri" pitchFamily="34" charset="-122"/>
                <a:cs typeface="Calibri" pitchFamily="34" charset="-120"/>
              </a:rPr>
              <a:t>Hollow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off the rectangle: clipped, discarded, masked out of attention.</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COST  </a:t>
            </a:r>
            <a:pPr indent="0" marL="0">
              <a:buNone/>
            </a:pPr>
            <a:r>
              <a:rPr lang="en-US" sz="700" dirty="0">
                <a:solidFill>
                  <a:srgbClr val="1B2430"/>
                </a:solidFill>
                <a:latin typeface="Calibri" pitchFamily="34" charset="0"/>
                <a:ea typeface="Calibri" pitchFamily="34" charset="-122"/>
                <a:cs typeface="Calibri" pitchFamily="34" charset="-120"/>
              </a:rPr>
              <a:t>over all 84,405 ocean anchors with the real 706-dot stencil: 22.0 % of anchors have at least one off-grid dot; 2.68 % of all dots are off-grid.</a:t>
            </a:r>
            <a:endParaRPr lang="en-US" sz="950" dirty="0"/>
          </a:p>
        </p:txBody>
      </p:sp>
      <p:sp>
        <p:nvSpPr>
          <p:cNvPr id="29" name="Text 27"/>
          <p:cNvSpPr txBox="1"/>
          <p:nvPr/>
        </p:nvSpPr>
        <p:spPr>
          <a:xfrm>
            <a:off x="667512" y="2999232"/>
            <a:ext cx="5202936" cy="530352"/>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GLOBAL (E-071 §1)  </a:t>
            </a:r>
            <a:pPr indent="0" marL="0">
              <a:buNone/>
            </a:pPr>
            <a:r>
              <a:rPr lang="en-US" sz="700" dirty="0">
                <a:solidFill>
                  <a:srgbClr val="1B2430"/>
                </a:solidFill>
                <a:latin typeface="Calibri" pitchFamily="34" charset="0"/>
                <a:ea typeface="Calibri" pitchFamily="34" charset="-122"/>
                <a:cs typeface="Calibri" pitchFamily="34" charset="-120"/>
              </a:rPr>
              <a:t>family 7 — the first tensor covering the whole globe rather than the North Atlantic window — runs to the POLES: 721 × 1,440 cells, −90…90° N; longitude WRAPS (xx = (x + dx) mod W), and every dot is placed on the sphere as a destination point, so a pole crossing falls out of the formula and nothing is ever clipped. The 2.68 % off-grid dots become real dots and the 22 % truncated anchors see a full cone. ASPECT = 0.71 was measured on the North Atlantic and is re-measured per latitude band.</a:t>
            </a:r>
            <a:endParaRPr lang="en-US" sz="950" dirty="0"/>
          </a:p>
        </p:txBody>
      </p:sp>
      <p:sp>
        <p:nvSpPr>
          <p:cNvPr id="30" name="Shape 28"/>
          <p:cNvSpPr/>
          <p:nvPr/>
        </p:nvSpPr>
        <p:spPr>
          <a:xfrm>
            <a:off x="6172200" y="1335024"/>
            <a:ext cx="5440680" cy="2231136"/>
          </a:xfrm>
          <a:prstGeom prst="roundRect">
            <a:avLst>
              <a:gd name="adj" fmla="val 3279"/>
            </a:avLst>
          </a:prstGeom>
          <a:solidFill>
            <a:srgbClr val="F7FBF6"/>
          </a:solidFill>
          <a:ln w="15875">
            <a:solidFill>
              <a:srgbClr val="4E8A3E"/>
            </a:solidFill>
            <a:prstDash val="solid"/>
          </a:ln>
        </p:spPr>
      </p:sp>
      <p:sp>
        <p:nvSpPr>
          <p:cNvPr id="31" name="Text 29"/>
          <p:cNvSpPr txBox="1"/>
          <p:nvPr/>
        </p:nvSpPr>
        <p:spPr>
          <a:xfrm>
            <a:off x="6291072" y="1389888"/>
            <a:ext cx="5202936" cy="219456"/>
          </a:xfrm>
          <a:prstGeom prst="rect">
            <a:avLst/>
          </a:prstGeom>
          <a:noFill/>
          <a:ln/>
        </p:spPr>
        <p:txBody>
          <a:bodyPr wrap="square" lIns="0" tIns="0" rIns="0" bIns="0" rtlCol="0" anchor="t"/>
          <a:lstStyle/>
          <a:p>
            <a:pPr indent="0" marL="0">
              <a:buNone/>
            </a:pPr>
            <a:r>
              <a:rPr lang="en-US" sz="950" b="1" dirty="0">
                <a:solidFill>
                  <a:srgbClr val="4E8A3E"/>
                </a:solidFill>
                <a:latin typeface="Calibri" pitchFamily="34" charset="0"/>
                <a:ea typeface="Calibri" pitchFamily="34" charset="-122"/>
                <a:cs typeface="Calibri" pitchFamily="34" charset="-120"/>
              </a:rPr>
              <a:t>B · SPACE — land</a:t>
            </a:r>
            <a:endParaRPr lang="en-US" sz="950" dirty="0"/>
          </a:p>
        </p:txBody>
      </p:sp>
      <p:sp>
        <p:nvSpPr>
          <p:cNvPr id="32" name="Text 30"/>
          <p:cNvSpPr txBox="1"/>
          <p:nvPr/>
        </p:nvSpPr>
        <p:spPr>
          <a:xfrm>
            <a:off x="6291072" y="1609344"/>
            <a:ext cx="5202936" cy="146304"/>
          </a:xfrm>
          <a:prstGeom prst="rect">
            <a:avLst/>
          </a:prstGeom>
          <a:noFill/>
          <a:ln/>
        </p:spPr>
        <p:txBody>
          <a:bodyPr wrap="square" lIns="0" tIns="0" rIns="0" bIns="0" rtlCol="0" anchor="t"/>
          <a:lstStyle/>
          <a:p>
            <a:pPr indent="0" marL="0">
              <a:buNone/>
            </a:pPr>
            <a:r>
              <a:rPr lang="en-US" sz="650" b="1" spc="40" kern="0" dirty="0">
                <a:solidFill>
                  <a:srgbClr val="6B7A8F"/>
                </a:solidFill>
                <a:latin typeface="Calibri" pitchFamily="34" charset="0"/>
                <a:ea typeface="Calibri" pitchFamily="34" charset="-122"/>
                <a:cs typeface="Calibri" pitchFamily="34" charset="-120"/>
              </a:rPr>
              <a:t>UNCHANGED — these rules were right</a:t>
            </a:r>
            <a:endParaRPr lang="en-US" sz="950" dirty="0"/>
          </a:p>
        </p:txBody>
      </p:sp>
      <p:sp>
        <p:nvSpPr>
          <p:cNvPr id="33" name="Text 31"/>
          <p:cNvSpPr txBox="1"/>
          <p:nvPr/>
        </p:nvSpPr>
        <p:spPr>
          <a:xfrm>
            <a:off x="6291072" y="1792224"/>
            <a:ext cx="5202936" cy="100584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a:t>
            </a:r>
            <a:pPr indent="0" marL="0">
              <a:buNone/>
            </a:pPr>
            <a:r>
              <a:rPr lang="en-US" sz="700" dirty="0">
                <a:solidFill>
                  <a:srgbClr val="1B2430"/>
                </a:solidFill>
                <a:latin typeface="Calibri" pitchFamily="34" charset="0"/>
                <a:ea typeface="Calibri" pitchFamily="34" charset="-122"/>
                <a:cs typeface="Calibri" pitchFamily="34" charset="-120"/>
              </a:rPr>
              <a:t>a dot on land is a REAL token whose value was never observed: obs = False → the codec’s </a:t>
            </a:r>
            <a:pPr indent="0" marL="0">
              <a:buNone/>
            </a:pPr>
            <a:r>
              <a:rPr lang="en-US" sz="700" b="1" dirty="0">
                <a:solidFill>
                  <a:srgbClr val="4E8A3E"/>
                </a:solidFill>
                <a:latin typeface="Calibri" pitchFamily="34" charset="0"/>
                <a:ea typeface="Calibri" pitchFamily="34" charset="-122"/>
                <a:cs typeface="Calibri" pitchFamily="34" charset="-120"/>
              </a:rPr>
              <a:t>miss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token — the same miss_tok PixelMAE (the pixel-level masked auto-encoder this codec inherits) uses — NOT an invalid/masked token.</a:t>
            </a:r>
            <a:endParaRPr lang="en-US" sz="950" dirty="0"/>
          </a:p>
          <a:p>
            <a:pPr indent="0" marL="0">
              <a:spcAft>
                <a:spcPts val="300"/>
              </a:spcAft>
              <a:buNone/>
            </a:pPr>
            <a:r>
              <a:rPr lang="en-US" sz="700" dirty="0">
                <a:solidFill>
                  <a:srgbClr val="1B2430"/>
                </a:solidFill>
                <a:latin typeface="Calibri" pitchFamily="34" charset="0"/>
                <a:ea typeface="Calibri" pitchFamily="34" charset="-122"/>
                <a:cs typeface="Calibri" pitchFamily="34" charset="-120"/>
              </a:rPr>
              <a:t>The distinction is the one the whole architecture rests on: “the data never observed this” is information; “this dot does not exist” is not. One is a token the model can learn from, the other is a hole in the attention matrix.</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COST  </a:t>
            </a:r>
            <a:pPr indent="0" marL="0">
              <a:buNone/>
            </a:pPr>
            <a:r>
              <a:rPr lang="en-US" sz="700" dirty="0">
                <a:solidFill>
                  <a:srgbClr val="1B2430"/>
                </a:solidFill>
                <a:latin typeface="Calibri" pitchFamily="34" charset="0"/>
                <a:ea typeface="Calibri" pitchFamily="34" charset="-122"/>
                <a:cs typeface="Calibri" pitchFamily="34" charset="-120"/>
              </a:rPr>
              <a:t>8.17 % of all dots land on land — on-grid, unobserved. Combined with the edge, </a:t>
            </a:r>
            <a:pPr indent="0" marL="0">
              <a:spcAft>
                <a:spcPts val="300"/>
              </a:spcAft>
              <a:buNone/>
            </a:pPr>
            <a:r>
              <a:rPr lang="en-US" sz="700" b="1" dirty="0">
                <a:solidFill>
                  <a:srgbClr val="A23B3B"/>
                </a:solidFill>
                <a:latin typeface="Calibri" pitchFamily="34" charset="0"/>
                <a:ea typeface="Calibri" pitchFamily="34" charset="-122"/>
                <a:cs typeface="Calibri" pitchFamily="34" charset="-120"/>
              </a:rPr>
              <a:t>10.85 % of the 706 dots at a typical anchor carry no value.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Land dots are still spent from the budget: they occupy their slot and are attended to, so a coastal anchor pays for its geography twice.</a:t>
            </a:r>
            <a:endParaRPr lang="en-US" sz="950" dirty="0"/>
          </a:p>
        </p:txBody>
      </p:sp>
      <p:sp>
        <p:nvSpPr>
          <p:cNvPr id="34" name="Shape 32"/>
          <p:cNvSpPr/>
          <p:nvPr/>
        </p:nvSpPr>
        <p:spPr>
          <a:xfrm>
            <a:off x="6300216" y="2834640"/>
            <a:ext cx="4622114" cy="164592"/>
          </a:xfrm>
          <a:prstGeom prst="rect">
            <a:avLst/>
          </a:prstGeom>
          <a:solidFill>
            <a:srgbClr val="1C7293">
              <a:alpha val="85000"/>
            </a:srgbClr>
          </a:solidFill>
          <a:ln w="7620">
            <a:solidFill>
              <a:srgbClr val="FFFFFF"/>
            </a:solidFill>
            <a:prstDash val="solid"/>
          </a:ln>
        </p:spPr>
      </p:sp>
      <p:sp>
        <p:nvSpPr>
          <p:cNvPr id="35" name="Shape 33"/>
          <p:cNvSpPr/>
          <p:nvPr/>
        </p:nvSpPr>
        <p:spPr>
          <a:xfrm>
            <a:off x="10922330" y="2834640"/>
            <a:ext cx="423586" cy="164592"/>
          </a:xfrm>
          <a:prstGeom prst="rect">
            <a:avLst/>
          </a:prstGeom>
          <a:solidFill>
            <a:srgbClr val="4E8A3E">
              <a:alpha val="85000"/>
            </a:srgbClr>
          </a:solidFill>
          <a:ln w="7620">
            <a:solidFill>
              <a:srgbClr val="FFFFFF"/>
            </a:solidFill>
            <a:prstDash val="solid"/>
          </a:ln>
        </p:spPr>
      </p:sp>
      <p:sp>
        <p:nvSpPr>
          <p:cNvPr id="36" name="Shape 34"/>
          <p:cNvSpPr/>
          <p:nvPr/>
        </p:nvSpPr>
        <p:spPr>
          <a:xfrm>
            <a:off x="11345915" y="2834640"/>
            <a:ext cx="138949" cy="164592"/>
          </a:xfrm>
          <a:prstGeom prst="rect">
            <a:avLst/>
          </a:prstGeom>
          <a:solidFill>
            <a:srgbClr val="A23B3B">
              <a:alpha val="85000"/>
            </a:srgbClr>
          </a:solidFill>
          <a:ln w="7620">
            <a:solidFill>
              <a:srgbClr val="FFFFFF"/>
            </a:solidFill>
            <a:prstDash val="solid"/>
          </a:ln>
        </p:spPr>
      </p:sp>
      <p:sp>
        <p:nvSpPr>
          <p:cNvPr id="37" name="Text 35"/>
          <p:cNvSpPr txBox="1"/>
          <p:nvPr/>
        </p:nvSpPr>
        <p:spPr>
          <a:xfrm>
            <a:off x="6300216" y="3008376"/>
            <a:ext cx="5184648"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the 706 dots at one anchor</a:t>
            </a:r>
            <a:endParaRPr lang="en-US" sz="950" dirty="0"/>
          </a:p>
        </p:txBody>
      </p:sp>
      <p:sp>
        <p:nvSpPr>
          <p:cNvPr id="38" name="Text 36"/>
          <p:cNvSpPr txBox="1"/>
          <p:nvPr/>
        </p:nvSpPr>
        <p:spPr>
          <a:xfrm>
            <a:off x="6300216" y="3163824"/>
            <a:ext cx="5184648" cy="182880"/>
          </a:xfrm>
          <a:prstGeom prst="rect">
            <a:avLst/>
          </a:prstGeom>
          <a:noFill/>
          <a:ln/>
        </p:spPr>
        <p:txBody>
          <a:bodyPr wrap="square" lIns="0" tIns="0" rIns="0" bIns="0" rtlCol="0" anchor="t"/>
          <a:lstStyle/>
          <a:p>
            <a:pPr indent="0" marL="0">
              <a:buNone/>
            </a:pPr>
            <a:r>
              <a:rPr lang="en-US" sz="800" dirty="0">
                <a:solidFill>
                  <a:srgbClr val="1C7293"/>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89.15 % carry a value    </a:t>
            </a:r>
            <a:pPr indent="0" marL="0">
              <a:buNone/>
            </a:pPr>
            <a:r>
              <a:rPr lang="en-US" sz="800" dirty="0">
                <a:solidFill>
                  <a:srgbClr val="4E8A3E"/>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8.17 % land → miss token    </a:t>
            </a:r>
            <a:pPr indent="0" marL="0">
              <a:buNone/>
            </a:pPr>
            <a:r>
              <a:rPr lang="en-US" sz="800" dirty="0">
                <a:solidFill>
                  <a:srgbClr val="A23B3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2.68 % off-grid → invalid</a:t>
            </a:r>
            <a:endParaRPr lang="en-US" sz="950" dirty="0"/>
          </a:p>
        </p:txBody>
      </p:sp>
      <p:sp>
        <p:nvSpPr>
          <p:cNvPr id="39" name="Shape 37"/>
          <p:cNvSpPr/>
          <p:nvPr/>
        </p:nvSpPr>
        <p:spPr>
          <a:xfrm>
            <a:off x="548640" y="3621024"/>
            <a:ext cx="5440680" cy="2249424"/>
          </a:xfrm>
          <a:prstGeom prst="roundRect">
            <a:avLst>
              <a:gd name="adj" fmla="val 3252"/>
            </a:avLst>
          </a:prstGeom>
          <a:solidFill>
            <a:srgbClr val="FFF9F3"/>
          </a:solidFill>
          <a:ln w="15875">
            <a:solidFill>
              <a:srgbClr val="E07A2F"/>
            </a:solidFill>
            <a:prstDash val="solid"/>
          </a:ln>
        </p:spPr>
      </p:sp>
      <p:sp>
        <p:nvSpPr>
          <p:cNvPr id="40" name="Text 38"/>
          <p:cNvSpPr txBox="1"/>
          <p:nvPr/>
        </p:nvSpPr>
        <p:spPr>
          <a:xfrm>
            <a:off x="667512" y="3675888"/>
            <a:ext cx="5202936" cy="219456"/>
          </a:xfrm>
          <a:prstGeom prst="rect">
            <a:avLst/>
          </a:prstGeom>
          <a:noFill/>
          <a:ln/>
        </p:spPr>
        <p:txBody>
          <a:bodyPr wrap="square" lIns="0" tIns="0" rIns="0" bIns="0" rtlCol="0" anchor="t"/>
          <a:lstStyle/>
          <a:p>
            <a:pPr indent="0" marL="0">
              <a:buNone/>
            </a:pPr>
            <a:r>
              <a:rPr lang="en-US" sz="950" b="1" dirty="0">
                <a:solidFill>
                  <a:srgbClr val="E07A2F"/>
                </a:solidFill>
                <a:latin typeface="Calibri" pitchFamily="34" charset="0"/>
                <a:ea typeface="Calibri" pitchFamily="34" charset="-122"/>
                <a:cs typeface="Calibri" pitchFamily="34" charset="-120"/>
              </a:rPr>
              <a:t>C · TIME — the archive ends, and the holdout blocks</a:t>
            </a:r>
            <a:endParaRPr lang="en-US" sz="950" dirty="0"/>
          </a:p>
        </p:txBody>
      </p:sp>
      <p:sp>
        <p:nvSpPr>
          <p:cNvPr id="41" name="Text 39"/>
          <p:cNvSpPr txBox="1"/>
          <p:nvPr/>
        </p:nvSpPr>
        <p:spPr>
          <a:xfrm>
            <a:off x="667512" y="3895344"/>
            <a:ext cx="5202936" cy="146304"/>
          </a:xfrm>
          <a:prstGeom prst="rect">
            <a:avLst/>
          </a:prstGeom>
          <a:noFill/>
          <a:ln/>
        </p:spPr>
        <p:txBody>
          <a:bodyPr wrap="square" lIns="0" tIns="0" rIns="0" bIns="0" rtlCol="0" anchor="t"/>
          <a:lstStyle/>
          <a:p>
            <a:pPr indent="0" marL="0">
              <a:buNone/>
            </a:pPr>
            <a:r>
              <a:rPr lang="en-US" sz="650" b="1" spc="40" kern="0" dirty="0">
                <a:solidFill>
                  <a:srgbClr val="6B7A8F"/>
                </a:solidFill>
                <a:latin typeface="Calibri" pitchFamily="34" charset="0"/>
                <a:ea typeface="Calibri" pitchFamily="34" charset="-122"/>
                <a:cs typeface="Calibri" pitchFamily="34" charset="-120"/>
              </a:rPr>
              <a:t>UNCHANGED — these rules were right</a:t>
            </a:r>
            <a:endParaRPr lang="en-US" sz="950" dirty="0"/>
          </a:p>
        </p:txBody>
      </p:sp>
      <p:sp>
        <p:nvSpPr>
          <p:cNvPr id="42" name="Text 40"/>
          <p:cNvSpPr txBox="1"/>
          <p:nvPr/>
        </p:nvSpPr>
        <p:spPr>
          <a:xfrm>
            <a:off x="667512" y="4078224"/>
            <a:ext cx="5202936" cy="173736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1 — the ends of the axis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an anchor whose cone runs off either end of the tensor — it needs bins t−6 … t+2 — is INADMISSIBLE, not silently short (ConeSampler.admissible, :314). Nothing is padded and nothing is trained on half a cone.</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RULE 2 — the holdout  </a:t>
            </a:r>
            <a:pPr indent="0" marL="0">
              <a:buNone/>
            </a:pPr>
            <a:r>
              <a:rPr lang="en-US" sz="700" dirty="0">
                <a:solidFill>
                  <a:srgbClr val="1B2430"/>
                </a:solidFill>
                <a:latin typeface="Calibri" pitchFamily="34" charset="0"/>
                <a:ea typeface="Calibri" pitchFamily="34" charset="-122"/>
                <a:cs typeface="Calibri" pitchFamily="34" charset="-120"/>
              </a:rPr>
              <a:t>--holdout-scope window (the only scope implemented, ml/train_cone.py:116) says every bin the cone touches — six pentads back and both future targets — must be a training bin. A held-out year therefore casts a </a:t>
            </a:r>
            <a:pPr indent="0" marL="0">
              <a:buNone/>
            </a:pPr>
            <a:r>
              <a:rPr lang="en-US" sz="700" b="1" dirty="0">
                <a:solidFill>
                  <a:srgbClr val="E07A2F"/>
                </a:solidFill>
                <a:latin typeface="Calibri" pitchFamily="34" charset="0"/>
                <a:ea typeface="Calibri" pitchFamily="34" charset="-122"/>
                <a:cs typeface="Calibri" pitchFamily="34" charset="-120"/>
              </a:rPr>
              <a:t>shadow of eight pentads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around itself — six back and two forward, the exact span of the cone — and no training anchor can peek into it by any path. A brute-force certify() (:337), written deliberately as a separate loop rather than as a reuse of the admissibility test, counts violations; run #537 (the E-069 cone-codec build) measured 0 violations in 4,096 anchors.</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COST OF THE SHADOW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development split (calendar years 2009, 2017, 2023 held out): 2,923 training bins → 2,891 admissible anchor bins, 32 bins lost (1.1 %). Frozen protocol (2008–09, 2016–17, 2021–24 — train ≤ 2020, test the terminal years): 2,557 → 2,533, 24 bins lost (0.9 %). Cheap, and it is what makes the holdout real.</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Held-out EVALUATION anchors are different on purpose: </a:t>
            </a:r>
            <a:pPr indent="0" marL="0">
              <a:buNone/>
            </a:pPr>
            <a:r>
              <a:rPr lang="en-US" sz="700" dirty="0">
                <a:solidFill>
                  <a:srgbClr val="1B2430"/>
                </a:solidFill>
                <a:latin typeface="Calibri" pitchFamily="34" charset="0"/>
                <a:ea typeface="Calibri" pitchFamily="34" charset="-122"/>
                <a:cs typeface="Calibri" pitchFamily="34" charset="-120"/>
              </a:rPr>
              <a:t>their dots MAY come from held-out bins — otherwise the held-out set would be a second training pool, not a measurement.</a:t>
            </a:r>
            <a:endParaRPr lang="en-US" sz="950" dirty="0"/>
          </a:p>
        </p:txBody>
      </p:sp>
      <p:sp>
        <p:nvSpPr>
          <p:cNvPr id="43" name="Shape 41"/>
          <p:cNvSpPr/>
          <p:nvPr/>
        </p:nvSpPr>
        <p:spPr>
          <a:xfrm>
            <a:off x="6172200" y="3621024"/>
            <a:ext cx="5440680" cy="2249424"/>
          </a:xfrm>
          <a:prstGeom prst="roundRect">
            <a:avLst>
              <a:gd name="adj" fmla="val 3252"/>
            </a:avLst>
          </a:prstGeom>
          <a:solidFill>
            <a:srgbClr val="FDF6F6"/>
          </a:solidFill>
          <a:ln w="15875">
            <a:solidFill>
              <a:srgbClr val="A23B3B"/>
            </a:solidFill>
            <a:prstDash val="solid"/>
          </a:ln>
        </p:spPr>
      </p:sp>
      <p:sp>
        <p:nvSpPr>
          <p:cNvPr id="44" name="Text 42"/>
          <p:cNvSpPr txBox="1"/>
          <p:nvPr/>
        </p:nvSpPr>
        <p:spPr>
          <a:xfrm>
            <a:off x="6291072" y="3675888"/>
            <a:ext cx="5202936" cy="219456"/>
          </a:xfrm>
          <a:prstGeom prst="rect">
            <a:avLst/>
          </a:prstGeom>
          <a:noFill/>
          <a:ln/>
        </p:spPr>
        <p:txBody>
          <a:bodyPr wrap="square" lIns="0" tIns="0" rIns="0" bIns="0" rtlCol="0" anchor="t"/>
          <a:lstStyle/>
          <a:p>
            <a:pPr indent="0" marL="0">
              <a:buNone/>
            </a:pPr>
            <a:r>
              <a:rPr lang="en-US" sz="950" b="1" dirty="0">
                <a:solidFill>
                  <a:srgbClr val="A23B3B"/>
                </a:solidFill>
                <a:latin typeface="Calibri" pitchFamily="34" charset="0"/>
                <a:ea typeface="Calibri" pitchFamily="34" charset="-122"/>
                <a:cs typeface="Calibri" pitchFamily="34" charset="-120"/>
              </a:rPr>
              <a:t>D · TIME — the calendar month: the edge we introduced ourselves</a:t>
            </a:r>
            <a:endParaRPr lang="en-US" sz="950" dirty="0"/>
          </a:p>
        </p:txBody>
      </p:sp>
      <p:sp>
        <p:nvSpPr>
          <p:cNvPr id="45" name="Text 43"/>
          <p:cNvSpPr txBox="1"/>
          <p:nvPr/>
        </p:nvSpPr>
        <p:spPr>
          <a:xfrm>
            <a:off x="6291072" y="3913632"/>
            <a:ext cx="5202936" cy="1152144"/>
          </a:xfrm>
          <a:prstGeom prst="rect">
            <a:avLst/>
          </a:prstGeom>
          <a:noFill/>
          <a:ln/>
        </p:spPr>
        <p:txBody>
          <a:bodyPr wrap="square" lIns="0" tIns="0" rIns="0" bIns="0" rtlCol="0" anchor="t"/>
          <a:lstStyle/>
          <a:p>
            <a:pPr indent="0" marL="0">
              <a:buNone/>
            </a:pPr>
            <a:r>
              <a:rPr lang="en-US" sz="700" b="1" dirty="0">
                <a:solidFill>
                  <a:srgbClr val="1C7293"/>
                </a:solidFill>
                <a:latin typeface="Calibri" pitchFamily="34" charset="0"/>
                <a:ea typeface="Calibri" pitchFamily="34" charset="-122"/>
                <a:cs typeface="Calibri" pitchFamily="34" charset="-120"/>
              </a:rPr>
              <a:t>(i) The anomaly baseline.  </a:t>
            </a:r>
            <a:pPr indent="0" marL="0">
              <a:buNone/>
            </a:pPr>
            <a:r>
              <a:rPr lang="en-US" sz="700" dirty="0">
                <a:solidFill>
                  <a:srgbClr val="1B2430"/>
                </a:solidFill>
                <a:latin typeface="Calibri" pitchFamily="34" charset="0"/>
                <a:ea typeface="Calibri" pitchFamily="34" charset="-122"/>
                <a:cs typeface="Calibri" pitchFamily="34" charset="-120"/>
              </a:rPr>
              <a:t>Every channel is a departure from a per-calendar-month climatology built on TRAINING YEARS ONLY (ml/trainprobe.py::anomaly_transform :140), and a pentad’s month label is the month of its FIRST day (ml/build_family4.py:960). So </a:t>
            </a:r>
            <a:pPr indent="0" marL="0">
              <a:buNone/>
            </a:pPr>
            <a:r>
              <a:rPr lang="en-US" sz="700" b="1" dirty="0">
                <a:solidFill>
                  <a:srgbClr val="A23B3B"/>
                </a:solidFill>
                <a:latin typeface="Calibri" pitchFamily="34" charset="0"/>
                <a:ea typeface="Calibri" pitchFamily="34" charset="-122"/>
                <a:cs typeface="Calibri" pitchFamily="34" charset="-120"/>
              </a:rPr>
              <a:t>411 of the 3,142 bins (13.1 %) straddle a month boundary</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and 106 of those have only ONE of their five days inside the month whose climatology is subtracted — a sawtooth at every boundary, of order the month-to-month climatology difference, which in the seasonal thermocline is not negligible.</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(ii) Argo’s monthly cadence.  </a:t>
            </a:r>
            <a:pPr indent="0" marL="0">
              <a:buNone/>
            </a:pPr>
            <a:r>
              <a:rPr lang="en-US" sz="700" dirty="0">
                <a:solidFill>
                  <a:srgbClr val="1B2430"/>
                </a:solidFill>
                <a:latin typeface="Calibri" pitchFamily="34" charset="0"/>
                <a:ea typeface="Calibri" pitchFamily="34" charset="-122"/>
                <a:cs typeface="Calibri" pitchFamily="34" charset="-120"/>
              </a:rPr>
              <a:t>Roemmich–Gilson is written into the single pentad holding the 15th of each month and is missing in the other five; forward-filling was REJECTED (E034_pentad_tensor.md:88–100). </a:t>
            </a:r>
            <a:pPr indent="0" marL="0">
              <a:buNone/>
            </a:pPr>
            <a:r>
              <a:rPr lang="en-US" sz="700" b="1" dirty="0">
                <a:solidFill>
                  <a:srgbClr val="A23B3B"/>
                </a:solidFill>
                <a:latin typeface="Calibri" pitchFamily="34" charset="0"/>
                <a:ea typeface="Calibri" pitchFamily="34" charset="-122"/>
                <a:cs typeface="Calibri" pitchFamily="34" charset="-120"/>
              </a:rPr>
              <a:t>252 live pentads, 2004–2024 — one in six.</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 35-day inner window holds ONE live Argo bin, occasionally two, and which one depends on where the anchor sits inside the month.</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The seasonal context token itself is the bin’s opening day-of-year (cone_sampler.pentad_doy), so it crosses month and year boundaries smoothly — that one is fine.</a:t>
            </a:r>
            <a:endParaRPr lang="en-US" sz="950" dirty="0"/>
          </a:p>
        </p:txBody>
      </p:sp>
      <p:sp>
        <p:nvSpPr>
          <p:cNvPr id="46" name="Text 44"/>
          <p:cNvSpPr txBox="1"/>
          <p:nvPr/>
        </p:nvSpPr>
        <p:spPr>
          <a:xfrm>
            <a:off x="6291072" y="5084064"/>
            <a:ext cx="5202936" cy="749808"/>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DAY-OF-YEAR HARMONIC CLIMATOLOGY (E-071 §2)  </a:t>
            </a:r>
            <a:pPr indent="0" marL="0">
              <a:buNone/>
            </a:pPr>
            <a:r>
              <a:rPr lang="en-US" sz="700" dirty="0">
                <a:solidFill>
                  <a:srgbClr val="1B2430"/>
                </a:solidFill>
                <a:latin typeface="Calibri" pitchFamily="34" charset="0"/>
                <a:ea typeface="Calibri" pitchFamily="34" charset="-122"/>
                <a:cs typeface="Calibri" pitchFamily="34" charset="-120"/>
              </a:rPr>
              <a:t>clim(τ) = a₀ + Σₖ₌₁..₃ [aₖ cos kτ + bₖ sin kτ], with τ taken from the pentad’s MID-day over a 365.2422-day year, fitted per cell and per channel on training bins only: 7 coefficients instead of 12 box means, one pass with 35 accumulators instead of 24. K per channel is chosen by held-out variance explained (the mixed-layer depth’s spring step may need K = 4–6). No bin is ever charged for a month it barely touches, and Argo’s 252 live pentads are fitted together instead of ~21 per box. Verification: the last-pentad-of-month minus first-of-next residual, a sawtooth today, should be zero.</a:t>
            </a:r>
            <a:endParaRPr lang="en-US" sz="950" dirty="0"/>
          </a:p>
        </p:txBody>
      </p:sp>
      <p:sp>
        <p:nvSpPr>
          <p:cNvPr id="47" name="Text 45"/>
          <p:cNvSpPr txBox="1"/>
          <p:nvPr/>
        </p:nvSpPr>
        <p:spPr>
          <a:xfrm>
            <a:off x="548640" y="5907024"/>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Three of the four edges were handled by making the missing thing explicitly missing — an invalid token is dropped from attention, a miss token says the world was not observed, an inadmissible anchor is not trained on — and those three rules stay. The other two edges do not get handled better; they disappear. The window edge goes with the global tensor (E-071 §1); the month edge goes with the harmonic baseline (E-071 §2). Both are decided and specified, and both are UNIMPLEMENTED — nothing here is measured yet.</a:t>
            </a:r>
            <a:endParaRPr lang="en-US" sz="85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The speeds the cone did not have — and the speeds it will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Decision (Chris, 4 Sep): size every family from the MAXIMUM measured speed of its fastest mechanism, × 1.5 — not a typical speed, not an estimate (E-071 §4).</a:t>
            </a:r>
            <a:endParaRPr lang="en-US" sz="1250" dirty="0"/>
          </a:p>
        </p:txBody>
      </p:sp>
      <p:sp>
        <p:nvSpPr>
          <p:cNvPr id="4" name="Text 2"/>
          <p:cNvSpPr txBox="1"/>
          <p:nvPr/>
        </p:nvSpPr>
        <p:spPr>
          <a:xfrm>
            <a:off x="548640" y="1207008"/>
            <a:ext cx="2880360" cy="310896"/>
          </a:xfrm>
          <a:prstGeom prst="rect">
            <a:avLst/>
          </a:prstGeom>
          <a:noFill/>
          <a:ln/>
        </p:spPr>
        <p:txBody>
          <a:bodyPr wrap="square" lIns="0" tIns="0" rIns="0" bIns="0" rtlCol="0" anchor="t"/>
          <a:lstStyle/>
          <a:p>
            <a:pPr indent="0" marL="0">
              <a:buNone/>
            </a:pPr>
            <a:r>
              <a:rPr lang="en-US" sz="800" b="1" spc="40" kern="0" dirty="0">
                <a:solidFill>
                  <a:srgbClr val="0B1F3A"/>
                </a:solidFill>
                <a:latin typeface="Calibri" pitchFamily="34" charset="0"/>
                <a:ea typeface="Calibri" pitchFamily="34" charset="-122"/>
                <a:cs typeface="Calibri" pitchFamily="34" charset="-120"/>
              </a:rPr>
              <a:t>MEASURED MAXIMA — what moves an overturning anomaly between latitudes. Log axis, 0.01 → 10 m/s</a:t>
            </a:r>
            <a:endParaRPr lang="en-US" sz="950" dirty="0"/>
          </a:p>
        </p:txBody>
      </p:sp>
      <p:sp>
        <p:nvSpPr>
          <p:cNvPr id="5" name="Shape 3"/>
          <p:cNvSpPr/>
          <p:nvPr/>
        </p:nvSpPr>
        <p:spPr>
          <a:xfrm>
            <a:off x="2880360" y="1536192"/>
            <a:ext cx="0" cy="2441448"/>
          </a:xfrm>
          <a:prstGeom prst="line">
            <a:avLst/>
          </a:prstGeom>
          <a:noFill/>
          <a:ln w="6350">
            <a:solidFill>
              <a:srgbClr val="B8C4D3"/>
            </a:solidFill>
            <a:prstDash val="sysDot"/>
          </a:ln>
        </p:spPr>
      </p:sp>
      <p:sp>
        <p:nvSpPr>
          <p:cNvPr id="6" name="Shape 4"/>
          <p:cNvSpPr/>
          <p:nvPr/>
        </p:nvSpPr>
        <p:spPr>
          <a:xfrm>
            <a:off x="3855720" y="1536192"/>
            <a:ext cx="0" cy="2441448"/>
          </a:xfrm>
          <a:prstGeom prst="line">
            <a:avLst/>
          </a:prstGeom>
          <a:noFill/>
          <a:ln w="6350">
            <a:solidFill>
              <a:srgbClr val="B8C4D3"/>
            </a:solidFill>
            <a:prstDash val="sysDot"/>
          </a:ln>
        </p:spPr>
      </p:sp>
      <p:sp>
        <p:nvSpPr>
          <p:cNvPr id="7" name="Shape 5"/>
          <p:cNvSpPr/>
          <p:nvPr/>
        </p:nvSpPr>
        <p:spPr>
          <a:xfrm>
            <a:off x="4831080" y="1536192"/>
            <a:ext cx="0" cy="2441448"/>
          </a:xfrm>
          <a:prstGeom prst="line">
            <a:avLst/>
          </a:prstGeom>
          <a:noFill/>
          <a:ln w="6350">
            <a:solidFill>
              <a:srgbClr val="B8C4D3"/>
            </a:solidFill>
            <a:prstDash val="sysDot"/>
          </a:ln>
        </p:spPr>
      </p:sp>
      <p:sp>
        <p:nvSpPr>
          <p:cNvPr id="8" name="Shape 6"/>
          <p:cNvSpPr/>
          <p:nvPr/>
        </p:nvSpPr>
        <p:spPr>
          <a:xfrm>
            <a:off x="5806440" y="1536192"/>
            <a:ext cx="0" cy="2441448"/>
          </a:xfrm>
          <a:prstGeom prst="line">
            <a:avLst/>
          </a:prstGeom>
          <a:noFill/>
          <a:ln w="6350">
            <a:solidFill>
              <a:srgbClr val="B8C4D3"/>
            </a:solidFill>
            <a:prstDash val="sysDot"/>
          </a:ln>
        </p:spPr>
      </p:sp>
      <p:sp>
        <p:nvSpPr>
          <p:cNvPr id="9" name="Shape 7"/>
          <p:cNvSpPr/>
          <p:nvPr/>
        </p:nvSpPr>
        <p:spPr>
          <a:xfrm>
            <a:off x="4321085" y="1408176"/>
            <a:ext cx="0" cy="2569464"/>
          </a:xfrm>
          <a:prstGeom prst="line">
            <a:avLst/>
          </a:prstGeom>
          <a:noFill/>
          <a:ln w="13970">
            <a:solidFill>
              <a:srgbClr val="E07A2F"/>
            </a:solidFill>
            <a:prstDash val="dash"/>
          </a:ln>
        </p:spPr>
      </p:sp>
      <p:sp>
        <p:nvSpPr>
          <p:cNvPr id="10" name="Shape 8"/>
          <p:cNvSpPr/>
          <p:nvPr/>
        </p:nvSpPr>
        <p:spPr>
          <a:xfrm>
            <a:off x="5545428" y="1408176"/>
            <a:ext cx="0" cy="2569464"/>
          </a:xfrm>
          <a:prstGeom prst="line">
            <a:avLst/>
          </a:prstGeom>
          <a:noFill/>
          <a:ln w="20320">
            <a:solidFill>
              <a:srgbClr val="1F7A4D"/>
            </a:solidFill>
            <a:prstDash val="dash"/>
          </a:ln>
        </p:spPr>
      </p:sp>
      <p:sp>
        <p:nvSpPr>
          <p:cNvPr id="11" name="Text 9"/>
          <p:cNvSpPr txBox="1"/>
          <p:nvPr/>
        </p:nvSpPr>
        <p:spPr>
          <a:xfrm>
            <a:off x="3845597" y="1243584"/>
            <a:ext cx="950976" cy="155448"/>
          </a:xfrm>
          <a:prstGeom prst="rect">
            <a:avLst/>
          </a:prstGeom>
          <a:noFill/>
          <a:ln/>
        </p:spPr>
        <p:txBody>
          <a:bodyPr wrap="square" lIns="0" tIns="0" rIns="0" bIns="0" rtlCol="0" anchor="t"/>
          <a:lstStyle/>
          <a:p>
            <a:pPr algn="ctr" indent="0" marL="0">
              <a:buNone/>
            </a:pPr>
            <a:r>
              <a:rPr lang="en-US" sz="700" b="1" dirty="0">
                <a:solidFill>
                  <a:srgbClr val="E07A2F"/>
                </a:solidFill>
                <a:latin typeface="Calibri" pitchFamily="34" charset="0"/>
                <a:ea typeface="Calibri" pitchFamily="34" charset="-122"/>
                <a:cs typeface="Calibri" pitchFamily="34" charset="-120"/>
              </a:rPr>
              <a:t>cone TODAY · 0.3 m/s</a:t>
            </a:r>
            <a:endParaRPr lang="en-US" sz="950" dirty="0"/>
          </a:p>
        </p:txBody>
      </p:sp>
      <p:sp>
        <p:nvSpPr>
          <p:cNvPr id="12" name="Text 10"/>
          <p:cNvSpPr txBox="1"/>
          <p:nvPr/>
        </p:nvSpPr>
        <p:spPr>
          <a:xfrm>
            <a:off x="4996788" y="1243584"/>
            <a:ext cx="1097280" cy="155448"/>
          </a:xfrm>
          <a:prstGeom prst="rect">
            <a:avLst/>
          </a:prstGeom>
          <a:noFill/>
          <a:ln/>
        </p:spPr>
        <p:txBody>
          <a:bodyPr wrap="square" lIns="0" tIns="0" rIns="0" bIns="0" rtlCol="0" anchor="t"/>
          <a:lstStyle/>
          <a:p>
            <a:pPr algn="ctr" indent="0" marL="0">
              <a:buNone/>
            </a:pPr>
            <a:r>
              <a:rPr lang="en-US" sz="750" b="1" dirty="0">
                <a:solidFill>
                  <a:srgbClr val="1F7A4D"/>
                </a:solidFill>
                <a:latin typeface="Calibri" pitchFamily="34" charset="0"/>
                <a:ea typeface="Calibri" pitchFamily="34" charset="-122"/>
                <a:cs typeface="Calibri" pitchFamily="34" charset="-120"/>
              </a:rPr>
              <a:t>CONE v2 · 5.4 m/s</a:t>
            </a:r>
            <a:endParaRPr lang="en-US" sz="950" dirty="0"/>
          </a:p>
        </p:txBody>
      </p:sp>
      <p:sp>
        <p:nvSpPr>
          <p:cNvPr id="13" name="Text 11"/>
          <p:cNvSpPr txBox="1"/>
          <p:nvPr/>
        </p:nvSpPr>
        <p:spPr>
          <a:xfrm>
            <a:off x="5897880" y="1389888"/>
            <a:ext cx="731520" cy="155448"/>
          </a:xfrm>
          <a:prstGeom prst="rect">
            <a:avLst/>
          </a:prstGeom>
          <a:noFill/>
          <a:ln/>
        </p:spPr>
        <p:txBody>
          <a:bodyPr wrap="square" lIns="0" tIns="0" rIns="0" bIns="0" rtlCol="0" anchor="t"/>
          <a:lstStyle/>
          <a:p>
            <a:pPr indent="0" marL="0">
              <a:buNone/>
            </a:pPr>
            <a:r>
              <a:rPr lang="en-US" sz="700" b="1" dirty="0">
                <a:solidFill>
                  <a:srgbClr val="6B7A8F"/>
                </a:solidFill>
                <a:latin typeface="Calibri" pitchFamily="34" charset="0"/>
                <a:ea typeface="Calibri" pitchFamily="34" charset="-122"/>
                <a:cs typeface="Calibri" pitchFamily="34" charset="-120"/>
              </a:rPr>
              <a:t>m/s</a:t>
            </a:r>
            <a:endParaRPr lang="en-US" sz="950" dirty="0"/>
          </a:p>
        </p:txBody>
      </p:sp>
      <p:sp>
        <p:nvSpPr>
          <p:cNvPr id="14" name="Text 12"/>
          <p:cNvSpPr txBox="1"/>
          <p:nvPr/>
        </p:nvSpPr>
        <p:spPr>
          <a:xfrm>
            <a:off x="548640" y="1563624"/>
            <a:ext cx="2240280" cy="237744"/>
          </a:xfrm>
          <a:prstGeom prst="rect">
            <a:avLst/>
          </a:prstGeom>
          <a:noFill/>
          <a:ln/>
        </p:spPr>
        <p:txBody>
          <a:bodyPr wrap="square" lIns="0" tIns="0" rIns="0" bIns="0" rtlCol="0" anchor="t"/>
          <a:lstStyle/>
          <a:p>
            <a:pPr indent="0" marL="0">
              <a:buNone/>
            </a:pPr>
            <a:r>
              <a:rPr lang="en-US" sz="750" b="1" dirty="0">
                <a:solidFill>
                  <a:srgbClr val="1C7293"/>
                </a:solidFill>
                <a:latin typeface="Calibri" pitchFamily="34" charset="0"/>
                <a:ea typeface="Calibri" pitchFamily="34" charset="-122"/>
                <a:cs typeface="Calibri" pitchFamily="34" charset="-120"/>
              </a:rPr>
              <a:t>Deep Western Boundary Current</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standard oceanography — the slow return limb</a:t>
            </a:r>
            <a:endParaRPr lang="en-US" sz="950" dirty="0"/>
          </a:p>
        </p:txBody>
      </p:sp>
      <p:sp>
        <p:nvSpPr>
          <p:cNvPr id="15" name="Shape 13"/>
          <p:cNvSpPr/>
          <p:nvPr/>
        </p:nvSpPr>
        <p:spPr>
          <a:xfrm>
            <a:off x="3173973" y="1641348"/>
            <a:ext cx="681747" cy="91440"/>
          </a:xfrm>
          <a:prstGeom prst="rect">
            <a:avLst/>
          </a:prstGeom>
          <a:solidFill>
            <a:srgbClr val="1C7293">
              <a:alpha val="75000"/>
            </a:srgbClr>
          </a:solidFill>
          <a:ln w="12700">
            <a:solidFill>
              <a:srgbClr val="333333"/>
            </a:solidFill>
            <a:prstDash val="solid"/>
          </a:ln>
        </p:spPr>
      </p:sp>
      <p:sp>
        <p:nvSpPr>
          <p:cNvPr id="16" name="Shape 14"/>
          <p:cNvSpPr/>
          <p:nvPr/>
        </p:nvSpPr>
        <p:spPr>
          <a:xfrm>
            <a:off x="3805428" y="1636776"/>
            <a:ext cx="100584" cy="100584"/>
          </a:xfrm>
          <a:prstGeom prst="ellipse">
            <a:avLst/>
          </a:prstGeom>
          <a:solidFill>
            <a:srgbClr val="1C7293"/>
          </a:solidFill>
          <a:ln w="7620">
            <a:solidFill>
              <a:srgbClr val="FFFFFF"/>
            </a:solidFill>
            <a:prstDash val="solid"/>
          </a:ln>
        </p:spPr>
      </p:sp>
      <p:sp>
        <p:nvSpPr>
          <p:cNvPr id="17" name="Text 15"/>
          <p:cNvSpPr txBox="1"/>
          <p:nvPr/>
        </p:nvSpPr>
        <p:spPr>
          <a:xfrm>
            <a:off x="5897880" y="1609344"/>
            <a:ext cx="731520" cy="173736"/>
          </a:xfrm>
          <a:prstGeom prst="rect">
            <a:avLst/>
          </a:prstGeom>
          <a:noFill/>
          <a:ln/>
        </p:spPr>
        <p:txBody>
          <a:bodyPr wrap="square" lIns="0" tIns="0" rIns="0" bIns="0" rtlCol="0" anchor="t"/>
          <a:lstStyle/>
          <a:p>
            <a:pPr indent="0" marL="0">
              <a:buNone/>
            </a:pPr>
            <a:r>
              <a:rPr lang="en-US" sz="700" b="1" dirty="0">
                <a:solidFill>
                  <a:srgbClr val="1C7293"/>
                </a:solidFill>
                <a:latin typeface="Calibri" pitchFamily="34" charset="0"/>
                <a:ea typeface="Calibri" pitchFamily="34" charset="-122"/>
                <a:cs typeface="Calibri" pitchFamily="34" charset="-120"/>
              </a:rPr>
              <a:t>0.02–0.1</a:t>
            </a:r>
            <a:endParaRPr lang="en-US" sz="950" dirty="0"/>
          </a:p>
        </p:txBody>
      </p:sp>
      <p:sp>
        <p:nvSpPr>
          <p:cNvPr id="18" name="Text 16"/>
          <p:cNvSpPr txBox="1"/>
          <p:nvPr/>
        </p:nvSpPr>
        <p:spPr>
          <a:xfrm>
            <a:off x="548640" y="1828800"/>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Long baroclinic Rossby wave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Chelton et al. 2011 — westward, the interior</a:t>
            </a:r>
            <a:endParaRPr lang="en-US" sz="950" dirty="0"/>
          </a:p>
        </p:txBody>
      </p:sp>
      <p:sp>
        <p:nvSpPr>
          <p:cNvPr id="19" name="Shape 17"/>
          <p:cNvSpPr/>
          <p:nvPr/>
        </p:nvSpPr>
        <p:spPr>
          <a:xfrm>
            <a:off x="3295433" y="1901952"/>
            <a:ext cx="100584" cy="100584"/>
          </a:xfrm>
          <a:prstGeom prst="ellipse">
            <a:avLst/>
          </a:prstGeom>
          <a:solidFill>
            <a:srgbClr val="2E86AB"/>
          </a:solidFill>
          <a:ln w="7620">
            <a:solidFill>
              <a:srgbClr val="FFFFFF"/>
            </a:solidFill>
            <a:prstDash val="solid"/>
          </a:ln>
        </p:spPr>
      </p:sp>
      <p:sp>
        <p:nvSpPr>
          <p:cNvPr id="20" name="Text 18"/>
          <p:cNvSpPr txBox="1"/>
          <p:nvPr/>
        </p:nvSpPr>
        <p:spPr>
          <a:xfrm>
            <a:off x="5897880" y="1874520"/>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0.03</a:t>
            </a:r>
            <a:endParaRPr lang="en-US" sz="950" dirty="0"/>
          </a:p>
        </p:txBody>
      </p:sp>
      <p:sp>
        <p:nvSpPr>
          <p:cNvPr id="21" name="Text 19"/>
          <p:cNvSpPr txBox="1"/>
          <p:nvPr/>
        </p:nvSpPr>
        <p:spPr>
          <a:xfrm>
            <a:off x="548640" y="2093976"/>
            <a:ext cx="2240280" cy="237744"/>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Eddies &amp; boundary currents</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family B TODAY — ml/cone.py:97, v_ms = 0.3</a:t>
            </a:r>
            <a:endParaRPr lang="en-US" sz="950" dirty="0"/>
          </a:p>
        </p:txBody>
      </p:sp>
      <p:sp>
        <p:nvSpPr>
          <p:cNvPr id="22" name="Shape 20"/>
          <p:cNvSpPr/>
          <p:nvPr/>
        </p:nvSpPr>
        <p:spPr>
          <a:xfrm>
            <a:off x="3855720" y="2171700"/>
            <a:ext cx="465365" cy="91440"/>
          </a:xfrm>
          <a:prstGeom prst="rect">
            <a:avLst/>
          </a:prstGeom>
          <a:solidFill>
            <a:srgbClr val="E07A2F">
              <a:alpha val="75000"/>
            </a:srgbClr>
          </a:solidFill>
          <a:ln w="12700">
            <a:solidFill>
              <a:srgbClr val="333333"/>
            </a:solidFill>
            <a:prstDash val="solid"/>
          </a:ln>
        </p:spPr>
      </p:sp>
      <p:sp>
        <p:nvSpPr>
          <p:cNvPr id="23" name="Shape 21"/>
          <p:cNvSpPr/>
          <p:nvPr/>
        </p:nvSpPr>
        <p:spPr>
          <a:xfrm>
            <a:off x="4270793" y="2167128"/>
            <a:ext cx="100584" cy="100584"/>
          </a:xfrm>
          <a:prstGeom prst="ellipse">
            <a:avLst/>
          </a:prstGeom>
          <a:solidFill>
            <a:srgbClr val="E07A2F"/>
          </a:solidFill>
          <a:ln w="7620">
            <a:solidFill>
              <a:srgbClr val="FFFFFF"/>
            </a:solidFill>
            <a:prstDash val="solid"/>
          </a:ln>
        </p:spPr>
      </p:sp>
      <p:sp>
        <p:nvSpPr>
          <p:cNvPr id="24" name="Text 22"/>
          <p:cNvSpPr txBox="1"/>
          <p:nvPr/>
        </p:nvSpPr>
        <p:spPr>
          <a:xfrm>
            <a:off x="5897880" y="2139696"/>
            <a:ext cx="731520" cy="173736"/>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0.1–0.3</a:t>
            </a:r>
            <a:endParaRPr lang="en-US" sz="950" dirty="0"/>
          </a:p>
        </p:txBody>
      </p:sp>
      <p:sp>
        <p:nvSpPr>
          <p:cNvPr id="25" name="Text 23"/>
          <p:cNvSpPr txBox="1"/>
          <p:nvPr/>
        </p:nvSpPr>
        <p:spPr>
          <a:xfrm>
            <a:off x="548640" y="2359152"/>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Kuroshio off Taiwan</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our GLORYS bake, monthly 1° · data/currents_y</a:t>
            </a:r>
            <a:endParaRPr lang="en-US" sz="950" dirty="0"/>
          </a:p>
        </p:txBody>
      </p:sp>
      <p:sp>
        <p:nvSpPr>
          <p:cNvPr id="26" name="Shape 24"/>
          <p:cNvSpPr/>
          <p:nvPr/>
        </p:nvSpPr>
        <p:spPr>
          <a:xfrm>
            <a:off x="4985141" y="2432304"/>
            <a:ext cx="100584" cy="100584"/>
          </a:xfrm>
          <a:prstGeom prst="ellipse">
            <a:avLst/>
          </a:prstGeom>
          <a:solidFill>
            <a:srgbClr val="2E86AB"/>
          </a:solidFill>
          <a:ln w="7620">
            <a:solidFill>
              <a:srgbClr val="FFFFFF"/>
            </a:solidFill>
            <a:prstDash val="solid"/>
          </a:ln>
        </p:spPr>
      </p:sp>
      <p:sp>
        <p:nvSpPr>
          <p:cNvPr id="27" name="Text 25"/>
          <p:cNvSpPr txBox="1"/>
          <p:nvPr/>
        </p:nvSpPr>
        <p:spPr>
          <a:xfrm>
            <a:off x="5897880" y="2404872"/>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1.62</a:t>
            </a:r>
            <a:endParaRPr lang="en-US" sz="950" dirty="0"/>
          </a:p>
        </p:txBody>
      </p:sp>
      <p:sp>
        <p:nvSpPr>
          <p:cNvPr id="28" name="Text 26"/>
          <p:cNvSpPr txBox="1"/>
          <p:nvPr/>
        </p:nvSpPr>
        <p:spPr>
          <a:xfrm>
            <a:off x="548640" y="2624328"/>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Agulhas Current core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Agulhas Current</a:t>
            </a:r>
            <a:endParaRPr lang="en-US" sz="950" dirty="0"/>
          </a:p>
        </p:txBody>
      </p:sp>
      <p:sp>
        <p:nvSpPr>
          <p:cNvPr id="29" name="Shape 27"/>
          <p:cNvSpPr/>
          <p:nvPr/>
        </p:nvSpPr>
        <p:spPr>
          <a:xfrm>
            <a:off x="5160365" y="2697480"/>
            <a:ext cx="100584" cy="100584"/>
          </a:xfrm>
          <a:prstGeom prst="ellipse">
            <a:avLst/>
          </a:prstGeom>
          <a:solidFill>
            <a:srgbClr val="2E86AB"/>
          </a:solidFill>
          <a:ln w="7620">
            <a:solidFill>
              <a:srgbClr val="FFFFFF"/>
            </a:solidFill>
            <a:prstDash val="solid"/>
          </a:ln>
        </p:spPr>
      </p:sp>
      <p:sp>
        <p:nvSpPr>
          <p:cNvPr id="30" name="Text 28"/>
          <p:cNvSpPr txBox="1"/>
          <p:nvPr/>
        </p:nvSpPr>
        <p:spPr>
          <a:xfrm>
            <a:off x="5897880" y="2670048"/>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2.45</a:t>
            </a:r>
            <a:endParaRPr lang="en-US" sz="950" dirty="0"/>
          </a:p>
        </p:txBody>
      </p:sp>
      <p:sp>
        <p:nvSpPr>
          <p:cNvPr id="31" name="Text 29"/>
          <p:cNvSpPr txBox="1"/>
          <p:nvPr/>
        </p:nvSpPr>
        <p:spPr>
          <a:xfrm>
            <a:off x="548640" y="2889504"/>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Gulf Stream core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NOAA Ocean Service — about 9 km/h</a:t>
            </a:r>
            <a:endParaRPr lang="en-US" sz="950" dirty="0"/>
          </a:p>
        </p:txBody>
      </p:sp>
      <p:sp>
        <p:nvSpPr>
          <p:cNvPr id="32" name="Shape 30"/>
          <p:cNvSpPr/>
          <p:nvPr/>
        </p:nvSpPr>
        <p:spPr>
          <a:xfrm>
            <a:off x="5168923" y="2962656"/>
            <a:ext cx="100584" cy="100584"/>
          </a:xfrm>
          <a:prstGeom prst="ellipse">
            <a:avLst/>
          </a:prstGeom>
          <a:solidFill>
            <a:srgbClr val="2E86AB"/>
          </a:solidFill>
          <a:ln w="7620">
            <a:solidFill>
              <a:srgbClr val="FFFFFF"/>
            </a:solidFill>
            <a:prstDash val="solid"/>
          </a:ln>
        </p:spPr>
      </p:sp>
      <p:sp>
        <p:nvSpPr>
          <p:cNvPr id="33" name="Text 31"/>
          <p:cNvSpPr txBox="1"/>
          <p:nvPr/>
        </p:nvSpPr>
        <p:spPr>
          <a:xfrm>
            <a:off x="5897880" y="2935224"/>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~2.5</a:t>
            </a:r>
            <a:endParaRPr lang="en-US" sz="950" dirty="0"/>
          </a:p>
        </p:txBody>
      </p:sp>
      <p:sp>
        <p:nvSpPr>
          <p:cNvPr id="34" name="Text 32"/>
          <p:cNvSpPr txBox="1"/>
          <p:nvPr/>
        </p:nvSpPr>
        <p:spPr>
          <a:xfrm>
            <a:off x="548640" y="3154680"/>
            <a:ext cx="2240280" cy="237744"/>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Somali Current, our own bake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July 2020, 2.5° N 47.5° E · data/currents_y</a:t>
            </a:r>
            <a:endParaRPr lang="en-US" sz="950" dirty="0"/>
          </a:p>
        </p:txBody>
      </p:sp>
      <p:sp>
        <p:nvSpPr>
          <p:cNvPr id="35" name="Shape 33"/>
          <p:cNvSpPr/>
          <p:nvPr/>
        </p:nvSpPr>
        <p:spPr>
          <a:xfrm>
            <a:off x="5215413" y="3227832"/>
            <a:ext cx="100584" cy="100584"/>
          </a:xfrm>
          <a:prstGeom prst="ellipse">
            <a:avLst/>
          </a:prstGeom>
          <a:solidFill>
            <a:srgbClr val="6A4C93"/>
          </a:solidFill>
          <a:ln w="7620">
            <a:solidFill>
              <a:srgbClr val="FFFFFF"/>
            </a:solidFill>
            <a:prstDash val="solid"/>
          </a:ln>
        </p:spPr>
      </p:sp>
      <p:sp>
        <p:nvSpPr>
          <p:cNvPr id="36" name="Text 34"/>
          <p:cNvSpPr txBox="1"/>
          <p:nvPr/>
        </p:nvSpPr>
        <p:spPr>
          <a:xfrm>
            <a:off x="5897880" y="3200400"/>
            <a:ext cx="731520" cy="173736"/>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2.79</a:t>
            </a:r>
            <a:endParaRPr lang="en-US" sz="950" dirty="0"/>
          </a:p>
        </p:txBody>
      </p:sp>
      <p:sp>
        <p:nvSpPr>
          <p:cNvPr id="37" name="Text 35"/>
          <p:cNvSpPr txBox="1"/>
          <p:nvPr/>
        </p:nvSpPr>
        <p:spPr>
          <a:xfrm>
            <a:off x="548640" y="3419856"/>
            <a:ext cx="2240280" cy="237744"/>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First-baroclinic Kelvin wave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Chelton 1998 · Pacific in ~2 months</a:t>
            </a:r>
            <a:endParaRPr lang="en-US" sz="950" dirty="0"/>
          </a:p>
        </p:txBody>
      </p:sp>
      <p:sp>
        <p:nvSpPr>
          <p:cNvPr id="38" name="Shape 36"/>
          <p:cNvSpPr/>
          <p:nvPr/>
        </p:nvSpPr>
        <p:spPr>
          <a:xfrm>
            <a:off x="5216928" y="3493008"/>
            <a:ext cx="100584" cy="100584"/>
          </a:xfrm>
          <a:prstGeom prst="ellipse">
            <a:avLst/>
          </a:prstGeom>
          <a:solidFill>
            <a:srgbClr val="6A4C93"/>
          </a:solidFill>
          <a:ln w="7620">
            <a:solidFill>
              <a:srgbClr val="FFFFFF"/>
            </a:solidFill>
            <a:prstDash val="solid"/>
          </a:ln>
        </p:spPr>
      </p:sp>
      <p:sp>
        <p:nvSpPr>
          <p:cNvPr id="39" name="Text 37"/>
          <p:cNvSpPr txBox="1"/>
          <p:nvPr/>
        </p:nvSpPr>
        <p:spPr>
          <a:xfrm>
            <a:off x="5897880" y="3465576"/>
            <a:ext cx="731520" cy="173736"/>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≈2.8</a:t>
            </a:r>
            <a:endParaRPr lang="en-US" sz="950" dirty="0"/>
          </a:p>
        </p:txBody>
      </p:sp>
      <p:sp>
        <p:nvSpPr>
          <p:cNvPr id="40" name="Text 38"/>
          <p:cNvSpPr txBox="1"/>
          <p:nvPr/>
        </p:nvSpPr>
        <p:spPr>
          <a:xfrm>
            <a:off x="548640" y="3685032"/>
            <a:ext cx="2240280" cy="237744"/>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Somali Current, peak</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 7 knots, south-west monsoon</a:t>
            </a:r>
            <a:endParaRPr lang="en-US" sz="950" dirty="0"/>
          </a:p>
        </p:txBody>
      </p:sp>
      <p:sp>
        <p:nvSpPr>
          <p:cNvPr id="41" name="Shape 39"/>
          <p:cNvSpPr/>
          <p:nvPr/>
        </p:nvSpPr>
        <p:spPr>
          <a:xfrm>
            <a:off x="5323383" y="3758184"/>
            <a:ext cx="100584" cy="100584"/>
          </a:xfrm>
          <a:prstGeom prst="ellipse">
            <a:avLst/>
          </a:prstGeom>
          <a:solidFill>
            <a:srgbClr val="A23B3B"/>
          </a:solidFill>
          <a:ln w="7620">
            <a:solidFill>
              <a:srgbClr val="FFFFFF"/>
            </a:solidFill>
            <a:prstDash val="solid"/>
          </a:ln>
        </p:spPr>
      </p:sp>
      <p:sp>
        <p:nvSpPr>
          <p:cNvPr id="42" name="Text 40"/>
          <p:cNvSpPr txBox="1"/>
          <p:nvPr/>
        </p:nvSpPr>
        <p:spPr>
          <a:xfrm>
            <a:off x="5897880" y="3730752"/>
            <a:ext cx="731520" cy="173736"/>
          </a:xfrm>
          <a:prstGeom prst="rect">
            <a:avLst/>
          </a:prstGeom>
          <a:noFill/>
          <a:ln/>
        </p:spPr>
        <p:txBody>
          <a:bodyPr wrap="square" lIns="0" tIns="0" rIns="0" bIns="0" rtlCol="0" anchor="t"/>
          <a:lstStyle/>
          <a:p>
            <a:pPr indent="0" marL="0">
              <a:buNone/>
            </a:pPr>
            <a:r>
              <a:rPr lang="en-US" sz="700" b="1" dirty="0">
                <a:solidFill>
                  <a:srgbClr val="A23B3B"/>
                </a:solidFill>
                <a:latin typeface="Calibri" pitchFamily="34" charset="0"/>
                <a:ea typeface="Calibri" pitchFamily="34" charset="-122"/>
                <a:cs typeface="Calibri" pitchFamily="34" charset="-120"/>
              </a:rPr>
              <a:t>3.6</a:t>
            </a:r>
            <a:endParaRPr lang="en-US" sz="950" dirty="0"/>
          </a:p>
        </p:txBody>
      </p:sp>
      <p:sp>
        <p:nvSpPr>
          <p:cNvPr id="43" name="Shape 41"/>
          <p:cNvSpPr/>
          <p:nvPr/>
        </p:nvSpPr>
        <p:spPr>
          <a:xfrm>
            <a:off x="2834640" y="3995928"/>
            <a:ext cx="3017520" cy="0"/>
          </a:xfrm>
          <a:prstGeom prst="line">
            <a:avLst/>
          </a:prstGeom>
          <a:noFill/>
          <a:ln w="9525">
            <a:solidFill>
              <a:srgbClr val="B8C4D3"/>
            </a:solidFill>
            <a:prstDash val="solid"/>
          </a:ln>
        </p:spPr>
      </p:sp>
      <p:sp>
        <p:nvSpPr>
          <p:cNvPr id="44" name="Text 42"/>
          <p:cNvSpPr txBox="1"/>
          <p:nvPr/>
        </p:nvSpPr>
        <p:spPr>
          <a:xfrm>
            <a:off x="265176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0.01</a:t>
            </a:r>
            <a:endParaRPr lang="en-US" sz="950" dirty="0"/>
          </a:p>
        </p:txBody>
      </p:sp>
      <p:sp>
        <p:nvSpPr>
          <p:cNvPr id="45" name="Text 43"/>
          <p:cNvSpPr txBox="1"/>
          <p:nvPr/>
        </p:nvSpPr>
        <p:spPr>
          <a:xfrm>
            <a:off x="362712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0.1</a:t>
            </a:r>
            <a:endParaRPr lang="en-US" sz="950" dirty="0"/>
          </a:p>
        </p:txBody>
      </p:sp>
      <p:sp>
        <p:nvSpPr>
          <p:cNvPr id="46" name="Text 44"/>
          <p:cNvSpPr txBox="1"/>
          <p:nvPr/>
        </p:nvSpPr>
        <p:spPr>
          <a:xfrm>
            <a:off x="460248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950" dirty="0"/>
          </a:p>
        </p:txBody>
      </p:sp>
      <p:sp>
        <p:nvSpPr>
          <p:cNvPr id="47" name="Text 45"/>
          <p:cNvSpPr txBox="1"/>
          <p:nvPr/>
        </p:nvSpPr>
        <p:spPr>
          <a:xfrm>
            <a:off x="557784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10</a:t>
            </a:r>
            <a:endParaRPr lang="en-US" sz="950" dirty="0"/>
          </a:p>
        </p:txBody>
      </p:sp>
      <p:sp>
        <p:nvSpPr>
          <p:cNvPr id="48" name="Text 46"/>
          <p:cNvSpPr txBox="1"/>
          <p:nvPr/>
        </p:nvSpPr>
        <p:spPr>
          <a:xfrm>
            <a:off x="548640" y="4206240"/>
            <a:ext cx="6126480" cy="329184"/>
          </a:xfrm>
          <a:prstGeom prst="rect">
            <a:avLst/>
          </a:prstGeom>
          <a:noFill/>
          <a:ln/>
        </p:spPr>
        <p:txBody>
          <a:bodyPr wrap="square" lIns="0" tIns="0" rIns="0" bIns="0" rtlCol="0" anchor="t"/>
          <a:lstStyle/>
          <a:p>
            <a:pPr indent="0" marL="0">
              <a:buNone/>
            </a:pPr>
            <a:r>
              <a:rPr lang="en-US" sz="700" b="1" spc="40" kern="0" dirty="0">
                <a:solidFill>
                  <a:srgbClr val="0B1F3A"/>
                </a:solidFill>
                <a:latin typeface="Calibri" pitchFamily="34" charset="0"/>
                <a:ea typeface="Calibri" pitchFamily="34" charset="-122"/>
                <a:cs typeface="Calibri" pitchFamily="34" charset="-120"/>
              </a:rPr>
              <a:t>OFF THIS RULER, TO THE RIGHT.  </a:t>
            </a:r>
            <a:pPr indent="0" marL="0">
              <a:buNone/>
            </a:pPr>
            <a:r>
              <a:rPr lang="en-US" sz="700" dirty="0">
                <a:solidFill>
                  <a:srgbClr val="1B2430"/>
                </a:solidFill>
                <a:latin typeface="Calibri" pitchFamily="34" charset="0"/>
                <a:ea typeface="Calibri" pitchFamily="34" charset="-122"/>
                <a:cs typeface="Calibri" pitchFamily="34" charset="-120"/>
              </a:rPr>
              <a:t>Barotropic (surface) gravity wave ≈ 200 m/s and the jet stream ≈ 100 m/s (family A, wind stress). Both cross the planet inside one 5-day bin, so neither is a cone at all: E-071 §4.3 gives those families a RING of 24 dots at log-spaced radii out to the antipode — bearings, not density.</a:t>
            </a:r>
            <a:endParaRPr lang="en-US" sz="950" dirty="0"/>
          </a:p>
        </p:txBody>
      </p:sp>
      <p:sp>
        <p:nvSpPr>
          <p:cNvPr id="49" name="Text 47"/>
          <p:cNvSpPr txBox="1"/>
          <p:nvPr/>
        </p:nvSpPr>
        <p:spPr>
          <a:xfrm>
            <a:off x="548640" y="4590288"/>
            <a:ext cx="4297680" cy="182880"/>
          </a:xfrm>
          <a:prstGeom prst="rect">
            <a:avLst/>
          </a:prstGeom>
          <a:noFill/>
          <a:ln/>
        </p:spPr>
        <p:txBody>
          <a:bodyPr wrap="square" lIns="0" tIns="0" rIns="0" bIns="0" rtlCol="0" anchor="t"/>
          <a:lstStyle/>
          <a:p>
            <a:pPr indent="0" marL="0">
              <a:buNone/>
            </a:pPr>
            <a:r>
              <a:rPr lang="en-US" sz="800" b="1" spc="40" kern="0" dirty="0">
                <a:solidFill>
                  <a:srgbClr val="0B1F3A"/>
                </a:solidFill>
                <a:latin typeface="Calibri" pitchFamily="34" charset="0"/>
                <a:ea typeface="Calibri" pitchFamily="34" charset="-122"/>
                <a:cs typeface="Calibri" pitchFamily="34" charset="-120"/>
              </a:rPr>
              <a:t>HOW FAR A SIGNAL GETS IN SIX PENTADS — reach = v · Δt · (1 + ℓ), capped at the antipode</a:t>
            </a:r>
            <a:endParaRPr lang="en-US" sz="950" dirty="0"/>
          </a:p>
        </p:txBody>
      </p:sp>
      <p:sp>
        <p:nvSpPr>
          <p:cNvPr id="50" name="Shape 48"/>
          <p:cNvSpPr/>
          <p:nvPr/>
        </p:nvSpPr>
        <p:spPr>
          <a:xfrm>
            <a:off x="1097280" y="5559552"/>
            <a:ext cx="2651760" cy="0"/>
          </a:xfrm>
          <a:prstGeom prst="line">
            <a:avLst/>
          </a:prstGeom>
          <a:noFill/>
          <a:ln w="9525">
            <a:solidFill>
              <a:srgbClr val="B8C4D3"/>
            </a:solidFill>
            <a:prstDash val="solid"/>
          </a:ln>
        </p:spPr>
      </p:sp>
      <p:sp>
        <p:nvSpPr>
          <p:cNvPr id="51" name="Shape 49"/>
          <p:cNvSpPr/>
          <p:nvPr/>
        </p:nvSpPr>
        <p:spPr>
          <a:xfrm>
            <a:off x="1097280" y="4800600"/>
            <a:ext cx="0" cy="758952"/>
          </a:xfrm>
          <a:prstGeom prst="line">
            <a:avLst/>
          </a:prstGeom>
          <a:noFill/>
          <a:ln w="9525">
            <a:solidFill>
              <a:srgbClr val="B8C4D3"/>
            </a:solidFill>
            <a:prstDash val="solid"/>
          </a:ln>
        </p:spPr>
      </p:sp>
      <p:sp>
        <p:nvSpPr>
          <p:cNvPr id="52" name="Shape 50"/>
          <p:cNvSpPr/>
          <p:nvPr/>
        </p:nvSpPr>
        <p:spPr>
          <a:xfrm>
            <a:off x="1097280" y="5559552"/>
            <a:ext cx="2651760" cy="0"/>
          </a:xfrm>
          <a:prstGeom prst="line">
            <a:avLst/>
          </a:prstGeom>
          <a:noFill/>
          <a:ln w="5080">
            <a:solidFill>
              <a:srgbClr val="B8C4D3"/>
            </a:solidFill>
            <a:prstDash val="sysDot"/>
          </a:ln>
        </p:spPr>
      </p:sp>
      <p:sp>
        <p:nvSpPr>
          <p:cNvPr id="53" name="Text 51"/>
          <p:cNvSpPr txBox="1"/>
          <p:nvPr/>
        </p:nvSpPr>
        <p:spPr>
          <a:xfrm>
            <a:off x="274320" y="5486400"/>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0</a:t>
            </a:r>
            <a:endParaRPr lang="en-US" sz="950" dirty="0"/>
          </a:p>
        </p:txBody>
      </p:sp>
      <p:sp>
        <p:nvSpPr>
          <p:cNvPr id="54" name="Shape 52"/>
          <p:cNvSpPr/>
          <p:nvPr/>
        </p:nvSpPr>
        <p:spPr>
          <a:xfrm>
            <a:off x="1097280" y="5401191"/>
            <a:ext cx="2651760" cy="0"/>
          </a:xfrm>
          <a:prstGeom prst="line">
            <a:avLst/>
          </a:prstGeom>
          <a:noFill/>
          <a:ln w="11430">
            <a:solidFill>
              <a:srgbClr val="E07A2F"/>
            </a:solidFill>
            <a:prstDash val="sysDot"/>
          </a:ln>
        </p:spPr>
      </p:sp>
      <p:sp>
        <p:nvSpPr>
          <p:cNvPr id="55" name="Text 53"/>
          <p:cNvSpPr txBox="1"/>
          <p:nvPr/>
        </p:nvSpPr>
        <p:spPr>
          <a:xfrm>
            <a:off x="274320" y="5328039"/>
            <a:ext cx="786384" cy="146304"/>
          </a:xfrm>
          <a:prstGeom prst="rect">
            <a:avLst/>
          </a:prstGeom>
          <a:noFill/>
          <a:ln/>
        </p:spPr>
        <p:txBody>
          <a:bodyPr wrap="square" lIns="0" tIns="0" rIns="0" bIns="0" rtlCol="0" anchor="t"/>
          <a:lstStyle/>
          <a:p>
            <a:pPr algn="r" indent="0" marL="0">
              <a:buNone/>
            </a:pPr>
            <a:r>
              <a:rPr lang="en-US" sz="600" b="1" dirty="0">
                <a:solidFill>
                  <a:srgbClr val="E07A2F"/>
                </a:solidFill>
                <a:latin typeface="Calibri" pitchFamily="34" charset="0"/>
                <a:ea typeface="Calibri" pitchFamily="34" charset="-122"/>
                <a:cs typeface="Calibri" pitchFamily="34" charset="-120"/>
              </a:rPr>
              <a:t>4,444 — E-069 cap</a:t>
            </a:r>
            <a:endParaRPr lang="en-US" sz="950" dirty="0"/>
          </a:p>
        </p:txBody>
      </p:sp>
      <p:sp>
        <p:nvSpPr>
          <p:cNvPr id="56" name="Shape 54"/>
          <p:cNvSpPr/>
          <p:nvPr/>
        </p:nvSpPr>
        <p:spPr>
          <a:xfrm>
            <a:off x="1097280" y="5203203"/>
            <a:ext cx="2651760" cy="0"/>
          </a:xfrm>
          <a:prstGeom prst="line">
            <a:avLst/>
          </a:prstGeom>
          <a:noFill/>
          <a:ln w="5080">
            <a:solidFill>
              <a:srgbClr val="B8C4D3"/>
            </a:solidFill>
            <a:prstDash val="sysDot"/>
          </a:ln>
        </p:spPr>
      </p:sp>
      <p:sp>
        <p:nvSpPr>
          <p:cNvPr id="57" name="Text 55"/>
          <p:cNvSpPr txBox="1"/>
          <p:nvPr/>
        </p:nvSpPr>
        <p:spPr>
          <a:xfrm>
            <a:off x="274320" y="5130051"/>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10,000</a:t>
            </a:r>
            <a:endParaRPr lang="en-US" sz="950" dirty="0"/>
          </a:p>
        </p:txBody>
      </p:sp>
      <p:sp>
        <p:nvSpPr>
          <p:cNvPr id="58" name="Shape 56"/>
          <p:cNvSpPr/>
          <p:nvPr/>
        </p:nvSpPr>
        <p:spPr>
          <a:xfrm>
            <a:off x="1097280" y="5025029"/>
            <a:ext cx="2651760" cy="0"/>
          </a:xfrm>
          <a:prstGeom prst="line">
            <a:avLst/>
          </a:prstGeom>
          <a:noFill/>
          <a:ln w="5080">
            <a:solidFill>
              <a:srgbClr val="B8C4D3"/>
            </a:solidFill>
            <a:prstDash val="sysDot"/>
          </a:ln>
        </p:spPr>
      </p:sp>
      <p:sp>
        <p:nvSpPr>
          <p:cNvPr id="59" name="Text 57"/>
          <p:cNvSpPr txBox="1"/>
          <p:nvPr/>
        </p:nvSpPr>
        <p:spPr>
          <a:xfrm>
            <a:off x="274320" y="4951877"/>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15,000</a:t>
            </a:r>
            <a:endParaRPr lang="en-US" sz="950" dirty="0"/>
          </a:p>
        </p:txBody>
      </p:sp>
      <p:sp>
        <p:nvSpPr>
          <p:cNvPr id="60" name="Shape 58"/>
          <p:cNvSpPr/>
          <p:nvPr/>
        </p:nvSpPr>
        <p:spPr>
          <a:xfrm>
            <a:off x="1097280" y="4846320"/>
            <a:ext cx="2651760" cy="0"/>
          </a:xfrm>
          <a:prstGeom prst="line">
            <a:avLst/>
          </a:prstGeom>
          <a:noFill/>
          <a:ln w="11430">
            <a:solidFill>
              <a:srgbClr val="A23B3B"/>
            </a:solidFill>
            <a:prstDash val="sysDot"/>
          </a:ln>
        </p:spPr>
      </p:sp>
      <p:sp>
        <p:nvSpPr>
          <p:cNvPr id="61" name="Text 59"/>
          <p:cNvSpPr txBox="1"/>
          <p:nvPr/>
        </p:nvSpPr>
        <p:spPr>
          <a:xfrm>
            <a:off x="274320" y="4773168"/>
            <a:ext cx="786384" cy="146304"/>
          </a:xfrm>
          <a:prstGeom prst="rect">
            <a:avLst/>
          </a:prstGeom>
          <a:noFill/>
          <a:ln/>
        </p:spPr>
        <p:txBody>
          <a:bodyPr wrap="square" lIns="0" tIns="0" rIns="0" bIns="0" rtlCol="0" anchor="t"/>
          <a:lstStyle/>
          <a:p>
            <a:pPr algn="r" indent="0" marL="0">
              <a:buNone/>
            </a:pPr>
            <a:r>
              <a:rPr lang="en-US" sz="600" b="1" dirty="0">
                <a:solidFill>
                  <a:srgbClr val="A23B3B"/>
                </a:solidFill>
                <a:latin typeface="Calibri" pitchFamily="34" charset="0"/>
                <a:ea typeface="Calibri" pitchFamily="34" charset="-122"/>
                <a:cs typeface="Calibri" pitchFamily="34" charset="-120"/>
              </a:rPr>
              <a:t>20,015 — antipode</a:t>
            </a:r>
            <a:endParaRPr lang="en-US" sz="950" dirty="0"/>
          </a:p>
        </p:txBody>
      </p:sp>
      <p:sp>
        <p:nvSpPr>
          <p:cNvPr id="62" name="Text 60"/>
          <p:cNvSpPr txBox="1"/>
          <p:nvPr/>
        </p:nvSpPr>
        <p:spPr>
          <a:xfrm>
            <a:off x="96926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a:t>
            </a:r>
            <a:endParaRPr lang="en-US" sz="950" dirty="0"/>
          </a:p>
        </p:txBody>
      </p:sp>
      <p:sp>
        <p:nvSpPr>
          <p:cNvPr id="63" name="Text 61"/>
          <p:cNvSpPr txBox="1"/>
          <p:nvPr/>
        </p:nvSpPr>
        <p:spPr>
          <a:xfrm>
            <a:off x="139598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950" dirty="0"/>
          </a:p>
        </p:txBody>
      </p:sp>
      <p:sp>
        <p:nvSpPr>
          <p:cNvPr id="64" name="Text 62"/>
          <p:cNvSpPr txBox="1"/>
          <p:nvPr/>
        </p:nvSpPr>
        <p:spPr>
          <a:xfrm>
            <a:off x="182270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2</a:t>
            </a:r>
            <a:endParaRPr lang="en-US" sz="950" dirty="0"/>
          </a:p>
        </p:txBody>
      </p:sp>
      <p:sp>
        <p:nvSpPr>
          <p:cNvPr id="65" name="Text 63"/>
          <p:cNvSpPr txBox="1"/>
          <p:nvPr/>
        </p:nvSpPr>
        <p:spPr>
          <a:xfrm>
            <a:off x="224942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3</a:t>
            </a:r>
            <a:endParaRPr lang="en-US" sz="950" dirty="0"/>
          </a:p>
        </p:txBody>
      </p:sp>
      <p:sp>
        <p:nvSpPr>
          <p:cNvPr id="66" name="Text 64"/>
          <p:cNvSpPr txBox="1"/>
          <p:nvPr/>
        </p:nvSpPr>
        <p:spPr>
          <a:xfrm>
            <a:off x="267614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4</a:t>
            </a:r>
            <a:endParaRPr lang="en-US" sz="950" dirty="0"/>
          </a:p>
        </p:txBody>
      </p:sp>
      <p:sp>
        <p:nvSpPr>
          <p:cNvPr id="67" name="Text 65"/>
          <p:cNvSpPr txBox="1"/>
          <p:nvPr/>
        </p:nvSpPr>
        <p:spPr>
          <a:xfrm>
            <a:off x="310286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5</a:t>
            </a:r>
            <a:endParaRPr lang="en-US" sz="950" dirty="0"/>
          </a:p>
        </p:txBody>
      </p:sp>
      <p:sp>
        <p:nvSpPr>
          <p:cNvPr id="68" name="Text 66"/>
          <p:cNvSpPr txBox="1"/>
          <p:nvPr/>
        </p:nvSpPr>
        <p:spPr>
          <a:xfrm>
            <a:off x="352958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6</a:t>
            </a:r>
            <a:endParaRPr lang="en-US" sz="950" dirty="0"/>
          </a:p>
        </p:txBody>
      </p:sp>
      <p:sp>
        <p:nvSpPr>
          <p:cNvPr id="69" name="Text 67"/>
          <p:cNvSpPr txBox="1"/>
          <p:nvPr/>
        </p:nvSpPr>
        <p:spPr>
          <a:xfrm>
            <a:off x="1152144" y="5724144"/>
            <a:ext cx="2194560"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lag ℓ, in pentads (one pentad = one 5-day bin)</a:t>
            </a:r>
            <a:endParaRPr lang="en-US" sz="950" dirty="0"/>
          </a:p>
        </p:txBody>
      </p:sp>
      <p:sp>
        <p:nvSpPr>
          <p:cNvPr id="70" name="Shape 68"/>
          <p:cNvSpPr/>
          <p:nvPr/>
        </p:nvSpPr>
        <p:spPr>
          <a:xfrm flipV="1">
            <a:off x="1097280" y="5393294"/>
            <a:ext cx="426720" cy="83129"/>
          </a:xfrm>
          <a:prstGeom prst="line">
            <a:avLst/>
          </a:prstGeom>
          <a:noFill/>
          <a:ln w="25400">
            <a:solidFill>
              <a:srgbClr val="1F7A4D"/>
            </a:solidFill>
            <a:prstDash val="solid"/>
          </a:ln>
        </p:spPr>
      </p:sp>
      <p:sp>
        <p:nvSpPr>
          <p:cNvPr id="71" name="Shape 69"/>
          <p:cNvSpPr/>
          <p:nvPr/>
        </p:nvSpPr>
        <p:spPr>
          <a:xfrm flipV="1">
            <a:off x="1524000" y="5310165"/>
            <a:ext cx="426720" cy="83129"/>
          </a:xfrm>
          <a:prstGeom prst="line">
            <a:avLst/>
          </a:prstGeom>
          <a:noFill/>
          <a:ln w="25400">
            <a:solidFill>
              <a:srgbClr val="1F7A4D"/>
            </a:solidFill>
            <a:prstDash val="solid"/>
          </a:ln>
        </p:spPr>
      </p:sp>
      <p:sp>
        <p:nvSpPr>
          <p:cNvPr id="72" name="Shape 70"/>
          <p:cNvSpPr/>
          <p:nvPr/>
        </p:nvSpPr>
        <p:spPr>
          <a:xfrm flipV="1">
            <a:off x="1950720" y="5227036"/>
            <a:ext cx="426720" cy="83129"/>
          </a:xfrm>
          <a:prstGeom prst="line">
            <a:avLst/>
          </a:prstGeom>
          <a:noFill/>
          <a:ln w="25400">
            <a:solidFill>
              <a:srgbClr val="1F7A4D"/>
            </a:solidFill>
            <a:prstDash val="solid"/>
          </a:ln>
        </p:spPr>
      </p:sp>
      <p:sp>
        <p:nvSpPr>
          <p:cNvPr id="73" name="Shape 71"/>
          <p:cNvSpPr/>
          <p:nvPr/>
        </p:nvSpPr>
        <p:spPr>
          <a:xfrm flipV="1">
            <a:off x="2377440" y="5143907"/>
            <a:ext cx="426720" cy="83129"/>
          </a:xfrm>
          <a:prstGeom prst="line">
            <a:avLst/>
          </a:prstGeom>
          <a:noFill/>
          <a:ln w="25400">
            <a:solidFill>
              <a:srgbClr val="1F7A4D"/>
            </a:solidFill>
            <a:prstDash val="solid"/>
          </a:ln>
        </p:spPr>
      </p:sp>
      <p:sp>
        <p:nvSpPr>
          <p:cNvPr id="74" name="Shape 72"/>
          <p:cNvSpPr/>
          <p:nvPr/>
        </p:nvSpPr>
        <p:spPr>
          <a:xfrm flipV="1">
            <a:off x="2804160" y="5060778"/>
            <a:ext cx="426720" cy="83129"/>
          </a:xfrm>
          <a:prstGeom prst="line">
            <a:avLst/>
          </a:prstGeom>
          <a:noFill/>
          <a:ln w="25400">
            <a:solidFill>
              <a:srgbClr val="1F7A4D"/>
            </a:solidFill>
            <a:prstDash val="solid"/>
          </a:ln>
        </p:spPr>
      </p:sp>
      <p:sp>
        <p:nvSpPr>
          <p:cNvPr id="75" name="Shape 73"/>
          <p:cNvSpPr/>
          <p:nvPr/>
        </p:nvSpPr>
        <p:spPr>
          <a:xfrm flipV="1">
            <a:off x="3230880" y="4977649"/>
            <a:ext cx="426720" cy="83129"/>
          </a:xfrm>
          <a:prstGeom prst="line">
            <a:avLst/>
          </a:prstGeom>
          <a:noFill/>
          <a:ln w="25400">
            <a:solidFill>
              <a:srgbClr val="1F7A4D"/>
            </a:solidFill>
            <a:prstDash val="solid"/>
          </a:ln>
        </p:spPr>
      </p:sp>
      <p:sp>
        <p:nvSpPr>
          <p:cNvPr id="76" name="Shape 74"/>
          <p:cNvSpPr/>
          <p:nvPr/>
        </p:nvSpPr>
        <p:spPr>
          <a:xfrm>
            <a:off x="3611880" y="4931929"/>
            <a:ext cx="91440" cy="91440"/>
          </a:xfrm>
          <a:prstGeom prst="ellipse">
            <a:avLst/>
          </a:prstGeom>
          <a:solidFill>
            <a:srgbClr val="1F7A4D"/>
          </a:solidFill>
          <a:ln w="12700">
            <a:solidFill>
              <a:srgbClr val="333333"/>
            </a:solidFill>
            <a:prstDash val="solid"/>
          </a:ln>
        </p:spPr>
      </p:sp>
      <p:sp>
        <p:nvSpPr>
          <p:cNvPr id="77" name="Text 75"/>
          <p:cNvSpPr txBox="1"/>
          <p:nvPr/>
        </p:nvSpPr>
        <p:spPr>
          <a:xfrm>
            <a:off x="3767328" y="4867921"/>
            <a:ext cx="1207008" cy="237744"/>
          </a:xfrm>
          <a:prstGeom prst="rect">
            <a:avLst/>
          </a:prstGeom>
          <a:noFill/>
          <a:ln/>
        </p:spPr>
        <p:txBody>
          <a:bodyPr wrap="square" lIns="0" tIns="0" rIns="0" bIns="0" rtlCol="0" anchor="t"/>
          <a:lstStyle/>
          <a:p>
            <a:pPr indent="0" marL="0">
              <a:buNone/>
            </a:pPr>
            <a:r>
              <a:rPr lang="en-US" sz="700" b="1" dirty="0">
                <a:solidFill>
                  <a:srgbClr val="1F7A4D"/>
                </a:solidFill>
                <a:latin typeface="Calibri" pitchFamily="34" charset="0"/>
                <a:ea typeface="Calibri" pitchFamily="34" charset="-122"/>
                <a:cs typeface="Calibri" pitchFamily="34" charset="-120"/>
              </a:rPr>
              <a:t>5.4 m/s — CONE v2</a:t>
            </a:r>
            <a:endParaRPr lang="en-US" sz="950" dirty="0"/>
          </a:p>
          <a:p>
            <a:pPr indent="0" marL="0">
              <a:buNone/>
            </a:pPr>
            <a:r>
              <a:rPr lang="en-US" sz="650" i="1" dirty="0">
                <a:solidFill>
                  <a:srgbClr val="1F7A4D"/>
                </a:solidFill>
                <a:latin typeface="Calibri" pitchFamily="34" charset="0"/>
                <a:ea typeface="Calibri" pitchFamily="34" charset="-122"/>
                <a:cs typeface="Calibri" pitchFamily="34" charset="-120"/>
              </a:rPr>
              <a:t>2,333 → 16,330 km</a:t>
            </a:r>
            <a:endParaRPr lang="en-US" sz="950" dirty="0"/>
          </a:p>
        </p:txBody>
      </p:sp>
      <p:sp>
        <p:nvSpPr>
          <p:cNvPr id="78" name="Shape 76"/>
          <p:cNvSpPr/>
          <p:nvPr/>
        </p:nvSpPr>
        <p:spPr>
          <a:xfrm flipV="1">
            <a:off x="1097280" y="5473344"/>
            <a:ext cx="426720" cy="43104"/>
          </a:xfrm>
          <a:prstGeom prst="line">
            <a:avLst/>
          </a:prstGeom>
          <a:noFill/>
          <a:ln w="17780">
            <a:solidFill>
              <a:srgbClr val="6A4C93"/>
            </a:solidFill>
            <a:prstDash val="solid"/>
          </a:ln>
        </p:spPr>
      </p:sp>
      <p:sp>
        <p:nvSpPr>
          <p:cNvPr id="79" name="Shape 77"/>
          <p:cNvSpPr/>
          <p:nvPr/>
        </p:nvSpPr>
        <p:spPr>
          <a:xfrm flipV="1">
            <a:off x="1524000" y="5430240"/>
            <a:ext cx="426720" cy="43104"/>
          </a:xfrm>
          <a:prstGeom prst="line">
            <a:avLst/>
          </a:prstGeom>
          <a:noFill/>
          <a:ln w="17780">
            <a:solidFill>
              <a:srgbClr val="6A4C93"/>
            </a:solidFill>
            <a:prstDash val="solid"/>
          </a:ln>
        </p:spPr>
      </p:sp>
      <p:sp>
        <p:nvSpPr>
          <p:cNvPr id="80" name="Shape 78"/>
          <p:cNvSpPr/>
          <p:nvPr/>
        </p:nvSpPr>
        <p:spPr>
          <a:xfrm flipV="1">
            <a:off x="1950720" y="5387136"/>
            <a:ext cx="426720" cy="43104"/>
          </a:xfrm>
          <a:prstGeom prst="line">
            <a:avLst/>
          </a:prstGeom>
          <a:noFill/>
          <a:ln w="17780">
            <a:solidFill>
              <a:srgbClr val="6A4C93"/>
            </a:solidFill>
            <a:prstDash val="solid"/>
          </a:ln>
        </p:spPr>
      </p:sp>
      <p:sp>
        <p:nvSpPr>
          <p:cNvPr id="81" name="Shape 79"/>
          <p:cNvSpPr/>
          <p:nvPr/>
        </p:nvSpPr>
        <p:spPr>
          <a:xfrm flipV="1">
            <a:off x="2377440" y="5344032"/>
            <a:ext cx="426720" cy="43104"/>
          </a:xfrm>
          <a:prstGeom prst="line">
            <a:avLst/>
          </a:prstGeom>
          <a:noFill/>
          <a:ln w="17780">
            <a:solidFill>
              <a:srgbClr val="6A4C93"/>
            </a:solidFill>
            <a:prstDash val="solid"/>
          </a:ln>
        </p:spPr>
      </p:sp>
      <p:sp>
        <p:nvSpPr>
          <p:cNvPr id="82" name="Shape 80"/>
          <p:cNvSpPr/>
          <p:nvPr/>
        </p:nvSpPr>
        <p:spPr>
          <a:xfrm flipV="1">
            <a:off x="2804160" y="5300928"/>
            <a:ext cx="426720" cy="43104"/>
          </a:xfrm>
          <a:prstGeom prst="line">
            <a:avLst/>
          </a:prstGeom>
          <a:noFill/>
          <a:ln w="17780">
            <a:solidFill>
              <a:srgbClr val="6A4C93"/>
            </a:solidFill>
            <a:prstDash val="solid"/>
          </a:ln>
        </p:spPr>
      </p:sp>
      <p:sp>
        <p:nvSpPr>
          <p:cNvPr id="83" name="Shape 81"/>
          <p:cNvSpPr/>
          <p:nvPr/>
        </p:nvSpPr>
        <p:spPr>
          <a:xfrm flipV="1">
            <a:off x="3230880" y="5257824"/>
            <a:ext cx="426720" cy="43104"/>
          </a:xfrm>
          <a:prstGeom prst="line">
            <a:avLst/>
          </a:prstGeom>
          <a:noFill/>
          <a:ln w="17780">
            <a:solidFill>
              <a:srgbClr val="6A4C93"/>
            </a:solidFill>
            <a:prstDash val="solid"/>
          </a:ln>
        </p:spPr>
      </p:sp>
      <p:sp>
        <p:nvSpPr>
          <p:cNvPr id="84" name="Shape 82"/>
          <p:cNvSpPr/>
          <p:nvPr/>
        </p:nvSpPr>
        <p:spPr>
          <a:xfrm>
            <a:off x="3611880" y="5212104"/>
            <a:ext cx="91440" cy="91440"/>
          </a:xfrm>
          <a:prstGeom prst="ellipse">
            <a:avLst/>
          </a:prstGeom>
          <a:solidFill>
            <a:srgbClr val="6A4C93"/>
          </a:solidFill>
          <a:ln w="12700">
            <a:solidFill>
              <a:srgbClr val="333333"/>
            </a:solidFill>
            <a:prstDash val="solid"/>
          </a:ln>
        </p:spPr>
      </p:sp>
      <p:sp>
        <p:nvSpPr>
          <p:cNvPr id="85" name="Text 83"/>
          <p:cNvSpPr txBox="1"/>
          <p:nvPr/>
        </p:nvSpPr>
        <p:spPr>
          <a:xfrm>
            <a:off x="3767328" y="5148096"/>
            <a:ext cx="1207008" cy="237744"/>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2.8 m/s — Kelvin</a:t>
            </a:r>
            <a:endParaRPr lang="en-US" sz="950" dirty="0"/>
          </a:p>
          <a:p>
            <a:pPr indent="0" marL="0">
              <a:buNone/>
            </a:pPr>
            <a:r>
              <a:rPr lang="en-US" sz="650" i="1" dirty="0">
                <a:solidFill>
                  <a:srgbClr val="6A4C93"/>
                </a:solidFill>
                <a:latin typeface="Calibri" pitchFamily="34" charset="0"/>
                <a:ea typeface="Calibri" pitchFamily="34" charset="-122"/>
                <a:cs typeface="Calibri" pitchFamily="34" charset="-120"/>
              </a:rPr>
              <a:t>8,467 km at lag 6</a:t>
            </a:r>
            <a:endParaRPr lang="en-US" sz="950" dirty="0"/>
          </a:p>
        </p:txBody>
      </p:sp>
      <p:sp>
        <p:nvSpPr>
          <p:cNvPr id="86" name="Shape 84"/>
          <p:cNvSpPr/>
          <p:nvPr/>
        </p:nvSpPr>
        <p:spPr>
          <a:xfrm flipV="1">
            <a:off x="1097280" y="5550315"/>
            <a:ext cx="426720" cy="4618"/>
          </a:xfrm>
          <a:prstGeom prst="line">
            <a:avLst/>
          </a:prstGeom>
          <a:noFill/>
          <a:ln w="17780">
            <a:solidFill>
              <a:srgbClr val="E07A2F"/>
            </a:solidFill>
            <a:prstDash val="solid"/>
          </a:ln>
        </p:spPr>
      </p:sp>
      <p:sp>
        <p:nvSpPr>
          <p:cNvPr id="87" name="Shape 85"/>
          <p:cNvSpPr/>
          <p:nvPr/>
        </p:nvSpPr>
        <p:spPr>
          <a:xfrm flipV="1">
            <a:off x="1524000" y="5545697"/>
            <a:ext cx="426720" cy="4618"/>
          </a:xfrm>
          <a:prstGeom prst="line">
            <a:avLst/>
          </a:prstGeom>
          <a:noFill/>
          <a:ln w="17780">
            <a:solidFill>
              <a:srgbClr val="E07A2F"/>
            </a:solidFill>
            <a:prstDash val="solid"/>
          </a:ln>
        </p:spPr>
      </p:sp>
      <p:sp>
        <p:nvSpPr>
          <p:cNvPr id="88" name="Shape 86"/>
          <p:cNvSpPr/>
          <p:nvPr/>
        </p:nvSpPr>
        <p:spPr>
          <a:xfrm flipV="1">
            <a:off x="1950720" y="5541079"/>
            <a:ext cx="426720" cy="4618"/>
          </a:xfrm>
          <a:prstGeom prst="line">
            <a:avLst/>
          </a:prstGeom>
          <a:noFill/>
          <a:ln w="17780">
            <a:solidFill>
              <a:srgbClr val="E07A2F"/>
            </a:solidFill>
            <a:prstDash val="solid"/>
          </a:ln>
        </p:spPr>
      </p:sp>
      <p:sp>
        <p:nvSpPr>
          <p:cNvPr id="89" name="Shape 87"/>
          <p:cNvSpPr/>
          <p:nvPr/>
        </p:nvSpPr>
        <p:spPr>
          <a:xfrm flipV="1">
            <a:off x="2377440" y="5536461"/>
            <a:ext cx="426720" cy="4618"/>
          </a:xfrm>
          <a:prstGeom prst="line">
            <a:avLst/>
          </a:prstGeom>
          <a:noFill/>
          <a:ln w="17780">
            <a:solidFill>
              <a:srgbClr val="E07A2F"/>
            </a:solidFill>
            <a:prstDash val="solid"/>
          </a:ln>
        </p:spPr>
      </p:sp>
      <p:sp>
        <p:nvSpPr>
          <p:cNvPr id="90" name="Shape 88"/>
          <p:cNvSpPr/>
          <p:nvPr/>
        </p:nvSpPr>
        <p:spPr>
          <a:xfrm flipV="1">
            <a:off x="2804160" y="5531842"/>
            <a:ext cx="426720" cy="4618"/>
          </a:xfrm>
          <a:prstGeom prst="line">
            <a:avLst/>
          </a:prstGeom>
          <a:noFill/>
          <a:ln w="17780">
            <a:solidFill>
              <a:srgbClr val="E07A2F"/>
            </a:solidFill>
            <a:prstDash val="solid"/>
          </a:ln>
        </p:spPr>
      </p:sp>
      <p:sp>
        <p:nvSpPr>
          <p:cNvPr id="91" name="Shape 89"/>
          <p:cNvSpPr/>
          <p:nvPr/>
        </p:nvSpPr>
        <p:spPr>
          <a:xfrm flipV="1">
            <a:off x="3230880" y="5527224"/>
            <a:ext cx="426720" cy="4618"/>
          </a:xfrm>
          <a:prstGeom prst="line">
            <a:avLst/>
          </a:prstGeom>
          <a:noFill/>
          <a:ln w="17780">
            <a:solidFill>
              <a:srgbClr val="E07A2F"/>
            </a:solidFill>
            <a:prstDash val="solid"/>
          </a:ln>
        </p:spPr>
      </p:sp>
      <p:sp>
        <p:nvSpPr>
          <p:cNvPr id="92" name="Shape 90"/>
          <p:cNvSpPr/>
          <p:nvPr/>
        </p:nvSpPr>
        <p:spPr>
          <a:xfrm>
            <a:off x="3611880" y="5481504"/>
            <a:ext cx="91440" cy="91440"/>
          </a:xfrm>
          <a:prstGeom prst="ellipse">
            <a:avLst/>
          </a:prstGeom>
          <a:solidFill>
            <a:srgbClr val="E07A2F"/>
          </a:solidFill>
          <a:ln w="12700">
            <a:solidFill>
              <a:srgbClr val="333333"/>
            </a:solidFill>
            <a:prstDash val="solid"/>
          </a:ln>
        </p:spPr>
      </p:sp>
      <p:sp>
        <p:nvSpPr>
          <p:cNvPr id="93" name="Text 91"/>
          <p:cNvSpPr txBox="1"/>
          <p:nvPr/>
        </p:nvSpPr>
        <p:spPr>
          <a:xfrm>
            <a:off x="3767328" y="5417496"/>
            <a:ext cx="1207008" cy="237744"/>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0.3 m/s — E-069 today</a:t>
            </a:r>
            <a:endParaRPr lang="en-US" sz="950" dirty="0"/>
          </a:p>
          <a:p>
            <a:pPr indent="0" marL="0">
              <a:buNone/>
            </a:pPr>
            <a:r>
              <a:rPr lang="en-US" sz="650" i="1" dirty="0">
                <a:solidFill>
                  <a:srgbClr val="E07A2F"/>
                </a:solidFill>
                <a:latin typeface="Calibri" pitchFamily="34" charset="0"/>
                <a:ea typeface="Calibri" pitchFamily="34" charset="-122"/>
                <a:cs typeface="Calibri" pitchFamily="34" charset="-120"/>
              </a:rPr>
              <a:t>907 km at lag 6</a:t>
            </a:r>
            <a:endParaRPr lang="en-US" sz="950" dirty="0"/>
          </a:p>
        </p:txBody>
      </p:sp>
      <p:sp>
        <p:nvSpPr>
          <p:cNvPr id="94" name="Text 92"/>
          <p:cNvSpPr txBox="1"/>
          <p:nvPr/>
        </p:nvSpPr>
        <p:spPr>
          <a:xfrm>
            <a:off x="5010912" y="4590288"/>
            <a:ext cx="1664208" cy="1243584"/>
          </a:xfrm>
          <a:prstGeom prst="rect">
            <a:avLst/>
          </a:prstGeom>
          <a:noFill/>
          <a:ln/>
        </p:spPr>
        <p:txBody>
          <a:bodyPr wrap="square" lIns="0" tIns="0" rIns="0" bIns="0" rtlCol="0" anchor="t"/>
          <a:lstStyle/>
          <a:p>
            <a:pPr indent="0" marL="0">
              <a:buNone/>
            </a:pPr>
            <a:r>
              <a:rPr lang="en-US" sz="700" b="1" dirty="0">
                <a:solidFill>
                  <a:srgbClr val="A23B3B"/>
                </a:solidFill>
                <a:latin typeface="Calibri" pitchFamily="34" charset="0"/>
                <a:ea typeface="Calibri" pitchFamily="34" charset="-122"/>
                <a:cs typeface="Calibri" pitchFamily="34" charset="-120"/>
              </a:rPr>
              <a:t>Why the buffer is 1.5, and why it is spent on the WIDE side. </a:t>
            </a:r>
            <a:pPr indent="0" marL="0">
              <a:buNone/>
            </a:pPr>
            <a:r>
              <a:rPr lang="en-US" sz="700" dirty="0">
                <a:solidFill>
                  <a:srgbClr val="1B2430"/>
                </a:solidFill>
                <a:latin typeface="Calibri" pitchFamily="34" charset="0"/>
                <a:ea typeface="Calibri" pitchFamily="34" charset="-122"/>
                <a:cs typeface="Calibri" pitchFamily="34" charset="-120"/>
              </a:rPr>
              <a:t>The tensor is a 5-day mean on a 0.25° grid and under-reads peaks; the maxima above are literature and reanalysis values, not the true extreme; and a warming ocean may run faster. A cone that is too WIDE only costs tokens. A cone that is too NARROW asserts that the driver cannot have arrived, and the model has no way to discover that the assertion was wrong.</a:t>
            </a:r>
            <a:endParaRPr lang="en-US" sz="950" dirty="0"/>
          </a:p>
        </p:txBody>
      </p:sp>
      <p:sp>
        <p:nvSpPr>
          <p:cNvPr id="95" name="Shape 93"/>
          <p:cNvSpPr/>
          <p:nvPr/>
        </p:nvSpPr>
        <p:spPr>
          <a:xfrm>
            <a:off x="6812280" y="1280160"/>
            <a:ext cx="4800600" cy="1975104"/>
          </a:xfrm>
          <a:prstGeom prst="roundRect">
            <a:avLst>
              <a:gd name="adj" fmla="val 3704"/>
            </a:avLst>
          </a:prstGeom>
          <a:solidFill>
            <a:srgbClr val="FDF6F6"/>
          </a:solidFill>
          <a:ln w="15875">
            <a:solidFill>
              <a:srgbClr val="A23B3B"/>
            </a:solidFill>
            <a:prstDash val="solid"/>
          </a:ln>
        </p:spPr>
      </p:sp>
      <p:sp>
        <p:nvSpPr>
          <p:cNvPr id="96" name="Text 94"/>
          <p:cNvSpPr txBox="1"/>
          <p:nvPr/>
        </p:nvSpPr>
        <p:spPr>
          <a:xfrm>
            <a:off x="6931152" y="1335024"/>
            <a:ext cx="4562856" cy="201168"/>
          </a:xfrm>
          <a:prstGeom prst="rect">
            <a:avLst/>
          </a:prstGeom>
          <a:noFill/>
          <a:ln/>
        </p:spPr>
        <p:txBody>
          <a:bodyPr wrap="square" lIns="0" tIns="0" rIns="0" bIns="0" rtlCol="0" anchor="t"/>
          <a:lstStyle/>
          <a:p>
            <a:pPr indent="0" marL="0">
              <a:buNone/>
            </a:pPr>
            <a:r>
              <a:rPr lang="en-US" sz="950" b="1" dirty="0">
                <a:solidFill>
                  <a:srgbClr val="A23B3B"/>
                </a:solidFill>
                <a:latin typeface="Calibri" pitchFamily="34" charset="0"/>
                <a:ea typeface="Calibri" pitchFamily="34" charset="-122"/>
                <a:cs typeface="Calibri" pitchFamily="34" charset="-120"/>
              </a:rPr>
              <a:t>1 · Argo had no spatial reach at all — now it has 26 profile tokens</a:t>
            </a:r>
            <a:endParaRPr lang="en-US" sz="950" dirty="0"/>
          </a:p>
        </p:txBody>
      </p:sp>
      <p:sp>
        <p:nvSpPr>
          <p:cNvPr id="97" name="Text 95"/>
          <p:cNvSpPr txBox="1"/>
          <p:nvPr/>
        </p:nvSpPr>
        <p:spPr>
          <a:xfrm>
            <a:off x="6931152" y="1554480"/>
            <a:ext cx="4562856" cy="658368"/>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ml/cone.py::channel_family (:122) assigns rg_t* / rg_s* — the 32 Roemmich–Gilson temperature and salinity channels — to family B (0.3 m/s), but channel_dots (:261) OVERRIDES that and returns the ANCHOR COLUMN ONLY. Their effective reach is </a:t>
            </a:r>
            <a:pPr indent="0" marL="0">
              <a:buNone/>
            </a:pPr>
            <a:r>
              <a:rPr lang="en-US" sz="700" b="1" dirty="0">
                <a:solidFill>
                  <a:srgbClr val="A23B3B"/>
                </a:solidFill>
                <a:latin typeface="Calibri" pitchFamily="34" charset="0"/>
                <a:ea typeface="Calibri" pitchFamily="34" charset="-122"/>
                <a:cs typeface="Calibri" pitchFamily="34" charset="-120"/>
              </a:rPr>
              <a:t>0 km at every lag</a:t>
            </a:r>
            <a:pPr indent="0" marL="0">
              <a:buNone/>
            </a:pPr>
            <a:r>
              <a:rPr lang="en-US" sz="700" dirty="0">
                <a:solidFill>
                  <a:srgbClr val="1B2430"/>
                </a:solidFill>
                <a:latin typeface="Calibri" pitchFamily="34" charset="0"/>
                <a:ea typeface="Calibri" pitchFamily="34" charset="-122"/>
                <a:cs typeface="Calibri" pitchFamily="34" charset="-120"/>
              </a:rPr>
              <a:t>, so no propagation of a subsurface anomaly toward the anchor is visible at any speed — and those channels are still </a:t>
            </a:r>
            <a:pPr indent="0" marL="0">
              <a:buNone/>
            </a:pPr>
            <a:r>
              <a:rPr lang="en-US" sz="700" b="1" dirty="0">
                <a:solidFill>
                  <a:srgbClr val="A23B3B"/>
                </a:solidFill>
                <a:latin typeface="Calibri" pitchFamily="34" charset="0"/>
                <a:ea typeface="Calibri" pitchFamily="34" charset="-122"/>
                <a:cs typeface="Calibri" pitchFamily="34" charset="-120"/>
              </a:rPr>
              <a:t>192 of the 706 dots (27.2 %)</a:t>
            </a:r>
            <a:pPr indent="0" marL="0">
              <a:buNone/>
            </a:pPr>
            <a:r>
              <a:rPr lang="en-US" sz="700" dirty="0">
                <a:solidFill>
                  <a:srgbClr val="1B2430"/>
                </a:solidFill>
                <a:latin typeface="Calibri" pitchFamily="34" charset="0"/>
                <a:ea typeface="Calibri" pitchFamily="34" charset="-122"/>
                <a:cs typeface="Calibri" pitchFamily="34" charset="-120"/>
              </a:rPr>
              <a:t>, a quarter of the budget on one vertical column. The stated reason was token economy: Argo is live one pentad in six.</a:t>
            </a:r>
            <a:endParaRPr lang="en-US" sz="950" dirty="0"/>
          </a:p>
        </p:txBody>
      </p:sp>
      <p:sp>
        <p:nvSpPr>
          <p:cNvPr id="98" name="Text 96"/>
          <p:cNvSpPr txBox="1"/>
          <p:nvPr/>
        </p:nvSpPr>
        <p:spPr>
          <a:xfrm>
            <a:off x="6931152" y="2249424"/>
            <a:ext cx="4562856" cy="548640"/>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E-071 §3  </a:t>
            </a:r>
            <a:pPr indent="0" marL="0">
              <a:buNone/>
            </a:pPr>
            <a:r>
              <a:rPr lang="en-US" sz="700" dirty="0">
                <a:solidFill>
                  <a:srgbClr val="1B2430"/>
                </a:solidFill>
                <a:latin typeface="Calibri" pitchFamily="34" charset="0"/>
                <a:ea typeface="Calibri" pitchFamily="34" charset="-122"/>
                <a:cs typeface="Calibri" pitchFamily="34" charset="-120"/>
              </a:rPr>
              <a:t>the two most recent LIVE pentads (lags 0…11, known from the calendar, not from the data), 13 locations each — the anchor plus a 12-dot sunflower at the v2 reach — and each location is ONE profile token carrying 16 T + 16 S values with the pressure ladder as an inner axis. That is 26 tokens instead of 192, every one of them observed. Later, with native floats: the k nearest live profiles inside the cone, no sunflower at all.</a:t>
            </a:r>
            <a:endParaRPr lang="en-US" sz="950" dirty="0"/>
          </a:p>
        </p:txBody>
      </p:sp>
      <p:sp>
        <p:nvSpPr>
          <p:cNvPr id="99" name="Shape 97"/>
          <p:cNvSpPr/>
          <p:nvPr/>
        </p:nvSpPr>
        <p:spPr>
          <a:xfrm>
            <a:off x="6931152" y="2834640"/>
            <a:ext cx="2066974" cy="137160"/>
          </a:xfrm>
          <a:prstGeom prst="rect">
            <a:avLst/>
          </a:prstGeom>
          <a:solidFill>
            <a:srgbClr val="2E86AB">
              <a:alpha val="85000"/>
            </a:srgbClr>
          </a:solidFill>
          <a:ln w="7620">
            <a:solidFill>
              <a:srgbClr val="FFFFFF"/>
            </a:solidFill>
            <a:prstDash val="solid"/>
          </a:ln>
        </p:spPr>
      </p:sp>
      <p:sp>
        <p:nvSpPr>
          <p:cNvPr id="100" name="Shape 98"/>
          <p:cNvSpPr/>
          <p:nvPr/>
        </p:nvSpPr>
        <p:spPr>
          <a:xfrm>
            <a:off x="8998126" y="2834640"/>
            <a:ext cx="1241097" cy="137160"/>
          </a:xfrm>
          <a:prstGeom prst="rect">
            <a:avLst/>
          </a:prstGeom>
          <a:solidFill>
            <a:srgbClr val="A23B3B">
              <a:alpha val="85000"/>
            </a:srgbClr>
          </a:solidFill>
          <a:ln w="7620">
            <a:solidFill>
              <a:srgbClr val="FFFFFF"/>
            </a:solidFill>
            <a:prstDash val="solid"/>
          </a:ln>
        </p:spPr>
      </p:sp>
      <p:sp>
        <p:nvSpPr>
          <p:cNvPr id="101" name="Shape 99"/>
          <p:cNvSpPr/>
          <p:nvPr/>
        </p:nvSpPr>
        <p:spPr>
          <a:xfrm>
            <a:off x="10239223" y="2834640"/>
            <a:ext cx="1044894" cy="137160"/>
          </a:xfrm>
          <a:prstGeom prst="rect">
            <a:avLst/>
          </a:prstGeom>
          <a:solidFill>
            <a:srgbClr val="E07A2F">
              <a:alpha val="85000"/>
            </a:srgbClr>
          </a:solidFill>
          <a:ln w="7620">
            <a:solidFill>
              <a:srgbClr val="FFFFFF"/>
            </a:solidFill>
            <a:prstDash val="solid"/>
          </a:ln>
        </p:spPr>
      </p:sp>
      <p:sp>
        <p:nvSpPr>
          <p:cNvPr id="102" name="Shape 100"/>
          <p:cNvSpPr/>
          <p:nvPr/>
        </p:nvSpPr>
        <p:spPr>
          <a:xfrm>
            <a:off x="11284117" y="2834640"/>
            <a:ext cx="205329" cy="137160"/>
          </a:xfrm>
          <a:prstGeom prst="rect">
            <a:avLst/>
          </a:prstGeom>
          <a:solidFill>
            <a:srgbClr val="6B7A8F">
              <a:alpha val="85000"/>
            </a:srgbClr>
          </a:solidFill>
          <a:ln w="7620">
            <a:solidFill>
              <a:srgbClr val="FFFFFF"/>
            </a:solidFill>
            <a:prstDash val="solid"/>
          </a:ln>
        </p:spPr>
      </p:sp>
      <p:sp>
        <p:nvSpPr>
          <p:cNvPr id="103" name="Text 101"/>
          <p:cNvSpPr txBox="1"/>
          <p:nvPr/>
        </p:nvSpPr>
        <p:spPr>
          <a:xfrm>
            <a:off x="6931152" y="2990088"/>
            <a:ext cx="4562856" cy="182880"/>
          </a:xfrm>
          <a:prstGeom prst="rect">
            <a:avLst/>
          </a:prstGeom>
          <a:noFill/>
          <a:ln/>
        </p:spPr>
        <p:txBody>
          <a:bodyPr wrap="square" lIns="0" tIns="0" rIns="0" bIns="0" rtlCol="0" anchor="t"/>
          <a:lstStyle/>
          <a:p>
            <a:pPr indent="0" marL="0">
              <a:buNone/>
            </a:pPr>
            <a:r>
              <a:rPr lang="en-US" sz="800" dirty="0">
                <a:solidFill>
                  <a:srgbClr val="2E86A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currents + SSH 320 (45.3 %)   </a:t>
            </a:r>
            <a:pPr indent="0" marL="0">
              <a:buNone/>
            </a:pPr>
            <a:r>
              <a:rPr lang="en-US" sz="800" dirty="0">
                <a:solidFill>
                  <a:srgbClr val="A23B3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Argo depth 192 (27.2 %)   </a:t>
            </a:r>
            <a:pPr indent="0" marL="0">
              <a:buNone/>
            </a:pPr>
            <a:r>
              <a:rPr lang="en-US" sz="800" dirty="0">
                <a:solidFill>
                  <a:srgbClr val="E07A2F"/>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SST + MLD 162 (22.9 %)   </a:t>
            </a:r>
            <a:pPr indent="0" marL="0">
              <a:buNone/>
            </a:pPr>
            <a:r>
              <a:rPr lang="en-US" sz="800" dirty="0">
                <a:solidFill>
                  <a:srgbClr val="6B7A8F"/>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wind 32 (4.5 %)</a:t>
            </a:r>
            <a:endParaRPr lang="en-US" sz="950" dirty="0"/>
          </a:p>
        </p:txBody>
      </p:sp>
      <p:sp>
        <p:nvSpPr>
          <p:cNvPr id="104" name="Shape 102"/>
          <p:cNvSpPr/>
          <p:nvPr/>
        </p:nvSpPr>
        <p:spPr>
          <a:xfrm>
            <a:off x="6812280" y="3328416"/>
            <a:ext cx="4800600" cy="2505456"/>
          </a:xfrm>
          <a:prstGeom prst="roundRect">
            <a:avLst>
              <a:gd name="adj" fmla="val 2920"/>
            </a:avLst>
          </a:prstGeom>
          <a:solidFill>
            <a:srgbClr val="F5FBF7"/>
          </a:solidFill>
          <a:ln w="15875">
            <a:solidFill>
              <a:srgbClr val="1F7A4D"/>
            </a:solidFill>
            <a:prstDash val="solid"/>
          </a:ln>
        </p:spPr>
      </p:sp>
      <p:sp>
        <p:nvSpPr>
          <p:cNvPr id="105" name="Text 103"/>
          <p:cNvSpPr txBox="1"/>
          <p:nvPr/>
        </p:nvSpPr>
        <p:spPr>
          <a:xfrm>
            <a:off x="6931152" y="3383280"/>
            <a:ext cx="4562856" cy="201168"/>
          </a:xfrm>
          <a:prstGeom prst="rect">
            <a:avLst/>
          </a:prstGeom>
          <a:noFill/>
          <a:ln/>
        </p:spPr>
        <p:txBody>
          <a:bodyPr wrap="square" lIns="0" tIns="0" rIns="0" bIns="0" rtlCol="0" anchor="t"/>
          <a:lstStyle/>
          <a:p>
            <a:pPr indent="0" marL="0">
              <a:buNone/>
            </a:pPr>
            <a:r>
              <a:rPr lang="en-US" sz="950" b="1" dirty="0">
                <a:solidFill>
                  <a:srgbClr val="1F7A4D"/>
                </a:solidFill>
                <a:latin typeface="Calibri" pitchFamily="34" charset="0"/>
                <a:ea typeface="Calibri" pitchFamily="34" charset="-122"/>
                <a:cs typeface="Calibri" pitchFamily="34" charset="-120"/>
              </a:rPr>
              <a:t>2 · The design speeds — one per family, E-071 §4.2</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931152" y="3602736"/>
          <a:ext cx="4562856" cy="914400"/>
        </p:xfrm>
        <a:graphic>
          <a:graphicData uri="http://schemas.openxmlformats.org/drawingml/2006/table">
            <a:tbl>
              <a:tblPr/>
              <a:tblGrid>
                <a:gridCol w="658368"/>
                <a:gridCol w="1700784"/>
                <a:gridCol w="502920"/>
                <a:gridCol w="786384"/>
                <a:gridCol w="914400"/>
              </a:tblGrid>
              <a:tr h="182880">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family</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fastest mechanism that carries it</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max</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 1.5 = v_design</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reach / pentad</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650" b="1" dirty="0">
                          <a:solidFill>
                            <a:srgbClr val="2E86AB"/>
                          </a:solidFill>
                          <a:latin typeface="Calibri" pitchFamily="34" charset="0"/>
                          <a:ea typeface="Calibri" pitchFamily="34" charset="-122"/>
                          <a:cs typeface="Calibri" pitchFamily="34" charset="-120"/>
                        </a:rPr>
                        <a:t>B — ocean</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Somali Current (advection) ≥ first-baroclinic Kelvin (adjustment)</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3.6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5.4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2,333 km</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9456">
                <a:tc>
                  <a:txBody>
                    <a:bodyPr/>
                    <a:lstStyle/>
                    <a:p>
                      <a:pPr indent="0" marL="0">
                        <a:buNone/>
                      </a:pPr>
                      <a:r>
                        <a:rPr lang="en-US" sz="650" b="1" dirty="0">
                          <a:solidFill>
                            <a:srgbClr val="E07A2F"/>
                          </a:solidFill>
                          <a:latin typeface="Calibri" pitchFamily="34" charset="0"/>
                          <a:ea typeface="Calibri" pitchFamily="34" charset="-122"/>
                          <a:cs typeface="Calibri" pitchFamily="34" charset="-120"/>
                        </a:rPr>
                        <a:t>C — surface</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atmosphere at lags 0–1, then the ocean</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 / 3.6</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global / 5.4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 / 2,333 km</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9456">
                <a:tc>
                  <a:txBody>
                    <a:bodyPr/>
                    <a:lstStyle/>
                    <a:p>
                      <a:pPr indent="0" marL="0">
                        <a:buNone/>
                      </a:pPr>
                      <a:r>
                        <a:rPr lang="en-US" sz="650" b="1" dirty="0">
                          <a:solidFill>
                            <a:srgbClr val="6B7A8F"/>
                          </a:solidFill>
                          <a:latin typeface="Calibri" pitchFamily="34" charset="0"/>
                          <a:ea typeface="Calibri" pitchFamily="34" charset="-122"/>
                          <a:cs typeface="Calibri" pitchFamily="34" charset="-120"/>
                        </a:rPr>
                        <a:t>A — wind</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the jet stream (storms translate at 10–20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~100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global</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within one pentad</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107" name="Text 104"/>
          <p:cNvSpPr txBox="1"/>
          <p:nvPr/>
        </p:nvSpPr>
        <p:spPr>
          <a:xfrm>
            <a:off x="6931152" y="4626864"/>
            <a:ext cx="4562856" cy="1152144"/>
          </a:xfrm>
          <a:prstGeom prst="rect">
            <a:avLst/>
          </a:prstGeom>
          <a:noFill/>
          <a:ln/>
        </p:spPr>
        <p:txBody>
          <a:bodyPr wrap="square" lIns="0" tIns="0" rIns="0" bIns="0" rtlCol="0" anchor="t"/>
          <a:lstStyle/>
          <a:p>
            <a:pPr indent="0" marL="0">
              <a:buNone/>
            </a:pPr>
            <a:r>
              <a:rPr lang="en-US" sz="700" b="1" dirty="0">
                <a:solidFill>
                  <a:srgbClr val="0B1F3A"/>
                </a:solidFill>
                <a:latin typeface="Calibri" pitchFamily="34" charset="0"/>
                <a:ea typeface="Calibri" pitchFamily="34" charset="-122"/>
                <a:cs typeface="Calibri" pitchFamily="34" charset="-120"/>
              </a:rPr>
              <a:t>(i) Dot placement becomes LOG-RADIAL, 36 dots per lag for the ocean families.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Uniform-area placement at 24 dots gives 4.8 dots per octave of distance over 907 km but only 2.5 over 16,330 km — the near field, where the eddies live, would be starved by a wider cone at the same budget.</a:t>
            </a:r>
            <a:endParaRPr lang="en-US" sz="950" dirty="0"/>
          </a:p>
          <a:p>
            <a:pPr indent="0" marL="0">
              <a:buNone/>
            </a:pPr>
            <a:r>
              <a:rPr lang="en-US" sz="700" b="1" dirty="0">
                <a:solidFill>
                  <a:srgbClr val="0B1F3A"/>
                </a:solidFill>
                <a:latin typeface="Calibri" pitchFamily="34" charset="0"/>
                <a:ea typeface="Calibri" pitchFamily="34" charset="-122"/>
                <a:cs typeface="Calibri" pitchFamily="34" charset="-120"/>
              </a:rPr>
              <a:t>(ii) Token budget 748 → 1,600 per anchor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(B 888 · C 444 · A 200 · Argo 26 · lag-0 patch 42): about 2.1× the encoder cost, and linear in a Perceiver (64 latents cross-attend to the tokens). The fallback that brings it back to ~500 is one token per (lag, location) carrying all channels as a value vector — kept OUT of v2 so that v2 measures the geometry and nothing else.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E-069 keeps its geometry — its five seeds are done and its H1 verdict stands (slide 44). Cone v2 lands on family 7 — the first tensor covering the whole globe rather than the North Atlantic window.</a:t>
            </a:r>
            <a:endParaRPr lang="en-US" sz="950" dirty="0"/>
          </a:p>
        </p:txBody>
      </p:sp>
      <p:sp>
        <p:nvSpPr>
          <p:cNvPr id="108" name="Text 105"/>
          <p:cNvSpPr txBox="1"/>
          <p:nvPr/>
        </p:nvSpPr>
        <p:spPr>
          <a:xfrm>
            <a:off x="548640" y="5907024"/>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The cone was a one-speed model of a multi-speed ocean. Cone v2 sizes each family from the fastest thing that actually carries it — the Somali Current’s 3.6 m/s for the ocean, the jet stream for the wind — with the 1.5 buffer spent on the wide side, because a cone that is too narrow excludes true causes silently while one that is too wide only costs tokens. Nothing here is measured. And after E-069’s H1 (slide 44), the case for v2 is rolled skill and persistence context, not velocity: a codec that could not read a displacement at 130 km will not read one at 2,333 km.</a:t>
            </a:r>
            <a:endParaRPr lang="en-US" sz="850" dirty="0"/>
          </a:p>
        </p:txBody>
      </p:sp>
      <p:sp>
        <p:nvSpPr>
          <p:cNvPr id="109" name="Text 10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Land, ice and air — nothing is dark by design</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Chris, 4 Sep: “why not add some data on land, too? … sparse for now … land surface temperature, satellite imagery, radar reflection, air temperature across heights” and “some of our channels should be available for both the oceans and the land”. E-071 §6: a channel is a quantity and an instrument, never a sphere.</a:t>
            </a:r>
            <a:endParaRPr lang="en-US" sz="1250" dirty="0"/>
          </a:p>
        </p:txBody>
      </p:sp>
      <p:sp>
        <p:nvSpPr>
          <p:cNvPr id="4" name="Text 2"/>
          <p:cNvSpPr txBox="1"/>
          <p:nvPr/>
        </p:nvSpPr>
        <p:spPr>
          <a:xfrm>
            <a:off x="548640" y="1463040"/>
            <a:ext cx="6629400" cy="292608"/>
          </a:xfrm>
          <a:prstGeom prst="rect">
            <a:avLst/>
          </a:prstGeom>
          <a:noFill/>
          <a:ln/>
        </p:spPr>
        <p:txBody>
          <a:bodyPr wrap="square" lIns="0" tIns="0" rIns="0" bIns="0" rtlCol="0" anchor="t"/>
          <a:lstStyle/>
          <a:p>
            <a:pPr indent="0" marL="0">
              <a:buNone/>
            </a:pPr>
            <a:r>
              <a:rPr lang="en-US" sz="800" b="1" spc="40" kern="0" dirty="0">
                <a:solidFill>
                  <a:srgbClr val="0B1F3A"/>
                </a:solidFill>
                <a:latin typeface="Calibri" pitchFamily="34" charset="0"/>
                <a:ea typeface="Calibri" pitchFamily="34" charset="-122"/>
                <a:cs typeface="Calibri" pitchFamily="34" charset="-120"/>
              </a:rPr>
              <a:t>THE SHARED SET — one quantity, one instrument, two surfaces.  </a:t>
            </a:r>
            <a:pPr indent="0" marL="0">
              <a:buNone/>
            </a:pPr>
            <a:r>
              <a:rPr lang="en-US" sz="700" dirty="0">
                <a:solidFill>
                  <a:srgbClr val="1B2430"/>
                </a:solidFill>
                <a:latin typeface="Calibri" pitchFamily="34" charset="0"/>
                <a:ea typeface="Calibri" pitchFamily="34" charset="-122"/>
                <a:cs typeface="Calibri" pitchFamily="34" charset="-120"/>
              </a:rPr>
              <a:t>A per-cell SPHERE CODE (ocean · land · ice sheet · inland water) says which retrieval filled the cell, so one channel means sea-surface temperature at one anchor and land-surface temperature at the next.</a:t>
            </a:r>
            <a:endParaRPr lang="en-US" sz="9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6629400" cy="914400"/>
        </p:xfrm>
        <a:graphic>
          <a:graphicData uri="http://schemas.openxmlformats.org/drawingml/2006/table">
            <a:tbl>
              <a:tblPr/>
              <a:tblGrid>
                <a:gridCol w="1188720"/>
                <a:gridCol w="1280160"/>
                <a:gridCol w="1463040"/>
                <a:gridCol w="2697480"/>
              </a:tblGrid>
              <a:tr h="182880">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quantity</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over ocean</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over land / ice</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source, at 0.25° pentads</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surface (skin) temperature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SST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land- / ice-surface temperature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skin T, gap-free 1940→; then the observed OSTIA SST + MODIS MOD11 LST, 1 km daily clear-sky 2000→</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near-surface air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2 m T, 2 m dew point, 10 m wind</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same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 this row retires the FROZEN NCEP R1 wind source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air aloft — “across heights”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 wind, humidity at 850 / 500 / 250 hPa</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same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pressure levels; IGRA radiosondes (~800 stations, 00/12 UTC) as native dots later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pressure, precipitation, radiation, fluxes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pressure, precip, net SW + LW, latent + sensible heat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same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IMERG 0.1° as the observed precipitation channel, 2000→</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frozen fraction</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sea-ice concentration</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snow-cover fraction; ice sheet ≡ 1</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OSI SAF / NSIDC sea ice 25 km 1978→ · MOD10A1 snow 500 m daily 2000→ — ONE channel</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albedo</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 constant, plus the ice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vegetation, snow, soil, ice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MCD43A3 500 m daily 2000→ — one channel; the ocean value is the constant plus the ice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radar cross-section σ⁰</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wind and waves roughen it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soil moisture and vegetation set it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ASCAT 25 km twice daily 2007→ — the SAME instrument over both. The “radar reflection” channel, raw</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optical reflectance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ocean colour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vegetation, snow, soil</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MODIS / VIIRS 500 m — red, near-IR, one short-wave IR, raw, 2000→. Chlorophyll and NDVI become TARGETS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L-band brightness temperature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sea-surface salinity</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soil moisture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SMAP 36 km 2015→ — one instrument; the raw T_B is the channel, both retrievals are targets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mass / water storage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ocean bottom pressure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terrestrial water storage; ice-sheet mass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GRACE / GRACE-FO mascons, monthly 2002→ (2017–18 gap) — already one global field</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surface height anomaly</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sea-level anomaly (DUACS 0.125°, 1993→)</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ice-sheet elevation change; lake and river height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The same radar altimeters: DUACS over sea, CryoSat-2 (2010→) / ICESat-2 (2018→) over ice, Hydroweb over lakes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surface velocity</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currents (GLORYS u, v)</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ice velocity (ITS_LIVE); land ≡ 0</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One (u, v) pair. On land it is exactly zero — which is information: nothing advects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the column below</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 S profiles (Argo, 0–2,000 m)</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soil layers (ERA5-Land, SMAP L4); firn on the ice sheets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ONE profile-token type (E-071 §3) with a sphere-specific depth ladder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5522976"/>
            <a:ext cx="6629400" cy="329184"/>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Sphere-specific channels stay sphere-specific, and are </a:t>
            </a:r>
            <a:pPr indent="0" marL="0">
              <a:buNone/>
            </a:pPr>
            <a:r>
              <a:rPr lang="en-US" sz="700" b="1" dirty="0">
                <a:solidFill>
                  <a:srgbClr val="4E8A3E"/>
                </a:solidFill>
                <a:latin typeface="Calibri" pitchFamily="34" charset="0"/>
                <a:ea typeface="Calibri" pitchFamily="34" charset="-122"/>
                <a:cs typeface="Calibri" pitchFamily="34" charset="-120"/>
              </a:rPr>
              <a:t>miss</a:t>
            </a:r>
            <a:pPr indent="0" marL="0">
              <a:buNone/>
            </a:pPr>
            <a:r>
              <a:rPr lang="en-US" sz="700" dirty="0">
                <a:solidFill>
                  <a:srgbClr val="1B2430"/>
                </a:solidFill>
                <a:latin typeface="Calibri" pitchFamily="34" charset="0"/>
                <a:ea typeface="Calibri" pitchFamily="34" charset="-122"/>
                <a:cs typeface="Calibri" pitchFamily="34" charset="-120"/>
              </a:rPr>
              <a:t> elsewhere with a clear conscience: mixed-layer depth and sea-surface height (ocean); ESA CCI soil moisture 0.25° daily 1978→ — it covers the whole axis — snow water equivalent, leaf area, GLEAM evapotranspiration (land); ice velocity and elevation change (ice).</a:t>
            </a:r>
            <a:endParaRPr lang="en-US" sz="950" dirty="0"/>
          </a:p>
        </p:txBody>
      </p:sp>
      <p:sp>
        <p:nvSpPr>
          <p:cNvPr id="7" name="Shape 4"/>
          <p:cNvSpPr/>
          <p:nvPr/>
        </p:nvSpPr>
        <p:spPr>
          <a:xfrm>
            <a:off x="7360920" y="1426464"/>
            <a:ext cx="4279392" cy="1389888"/>
          </a:xfrm>
          <a:prstGeom prst="roundRect">
            <a:avLst>
              <a:gd name="adj" fmla="val 5263"/>
            </a:avLst>
          </a:prstGeom>
          <a:solidFill>
            <a:srgbClr val="F7FAFC"/>
          </a:solidFill>
          <a:ln w="15875">
            <a:solidFill>
              <a:srgbClr val="2E86AB"/>
            </a:solidFill>
            <a:prstDash val="solid"/>
          </a:ln>
        </p:spPr>
      </p:sp>
      <p:sp>
        <p:nvSpPr>
          <p:cNvPr id="8" name="Text 5"/>
          <p:cNvSpPr txBox="1"/>
          <p:nvPr/>
        </p:nvSpPr>
        <p:spPr>
          <a:xfrm>
            <a:off x="7479792" y="1481328"/>
            <a:ext cx="4041648" cy="182880"/>
          </a:xfrm>
          <a:prstGeom prst="rect">
            <a:avLst/>
          </a:prstGeom>
          <a:noFill/>
          <a:ln/>
        </p:spPr>
        <p:txBody>
          <a:bodyPr wrap="square" lIns="0" tIns="0" rIns="0" bIns="0" rtlCol="0" anchor="t"/>
          <a:lstStyle/>
          <a:p>
            <a:pPr indent="0" marL="0">
              <a:buNone/>
            </a:pPr>
            <a:r>
              <a:rPr lang="en-US" sz="900" b="1" dirty="0">
                <a:solidFill>
                  <a:srgbClr val="2E86AB"/>
                </a:solidFill>
                <a:latin typeface="Calibri" pitchFamily="34" charset="0"/>
                <a:ea typeface="Calibri" pitchFamily="34" charset="-122"/>
                <a:cs typeface="Calibri" pitchFamily="34" charset="-120"/>
              </a:rPr>
              <a:t>1 · Antarctica was never unobserved — the GRID was</a:t>
            </a:r>
            <a:endParaRPr lang="en-US" sz="950" dirty="0"/>
          </a:p>
        </p:txBody>
      </p:sp>
      <p:sp>
        <p:nvSpPr>
          <p:cNvPr id="9" name="Text 6"/>
          <p:cNvSpPr txBox="1"/>
          <p:nvPr/>
        </p:nvSpPr>
        <p:spPr>
          <a:xfrm>
            <a:off x="7479792" y="1682496"/>
            <a:ext cx="4041648" cy="1078992"/>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E-070 chose −80…80° because that is GLORYS12’s extent — an ocean product stops where the ocean stops — and §1 of the plan wrongly let it read as </a:t>
            </a:r>
            <a:pPr indent="0" marL="0">
              <a:buNone/>
            </a:pPr>
            <a:r>
              <a:rPr lang="en-US" sz="700" b="1" dirty="0">
                <a:solidFill>
                  <a:srgbClr val="A23B3B"/>
                </a:solidFill>
                <a:latin typeface="Calibri" pitchFamily="34" charset="0"/>
                <a:ea typeface="Calibri" pitchFamily="34" charset="-122"/>
                <a:cs typeface="Calibri" pitchFamily="34" charset="-120"/>
              </a:rPr>
              <a:t>no data</a:t>
            </a:r>
            <a:pPr indent="0" marL="0">
              <a:buNone/>
            </a:pPr>
            <a:r>
              <a:rPr lang="en-US" sz="700" dirty="0">
                <a:solidFill>
                  <a:srgbClr val="1B2430"/>
                </a:solidFill>
                <a:latin typeface="Calibri" pitchFamily="34" charset="0"/>
                <a:ea typeface="Calibri" pitchFamily="34" charset="-122"/>
                <a:cs typeface="Calibri" pitchFamily="34" charset="-120"/>
              </a:rPr>
              <a:t>. Cone v2’s grid is </a:t>
            </a:r>
            <a:pPr indent="0" marL="0">
              <a:buNone/>
            </a:pPr>
            <a:r>
              <a:rPr lang="en-US" sz="700" b="1" dirty="0">
                <a:solidFill>
                  <a:srgbClr val="1F7A4D"/>
                </a:solidFill>
                <a:latin typeface="Calibri" pitchFamily="34" charset="0"/>
                <a:ea typeface="Calibri" pitchFamily="34" charset="-122"/>
                <a:cs typeface="Calibri" pitchFamily="34" charset="-120"/>
              </a:rPr>
              <a:t>−90 … 90°, 721 × 1,440</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The ice-sheet rows are filled by ERA5 (skin and 2 m temperature, winds, pressure, snowfall, radiation — the surface mass balance’s inputs), MODIS LST and albedo in the clear-sky months, GRACE mass, CryoSat-2 (2010→) and ICESat-2 (2018→) elevation change, ITS_LIVE velocity, and around the continent the sea-ice concentration and drift.</a:t>
            </a:r>
            <a:endParaRPr lang="en-US" sz="950" dirty="0"/>
          </a:p>
          <a:p>
            <a:pPr indent="0" marL="0">
              <a:buNone/>
            </a:pPr>
            <a:r>
              <a:rPr lang="en-US" sz="700" b="1" dirty="0">
                <a:solidFill>
                  <a:srgbClr val="2E86AB"/>
                </a:solidFill>
                <a:latin typeface="Calibri" pitchFamily="34" charset="0"/>
                <a:ea typeface="Calibri" pitchFamily="34" charset="-122"/>
                <a:cs typeface="Calibri" pitchFamily="34" charset="-120"/>
              </a:rPr>
              <a:t>Why it matters for the overturning: </a:t>
            </a:r>
            <a:pPr indent="0" marL="0">
              <a:buNone/>
            </a:pPr>
            <a:r>
              <a:rPr lang="en-US" sz="700" dirty="0">
                <a:solidFill>
                  <a:srgbClr val="1B2430"/>
                </a:solidFill>
                <a:latin typeface="Calibri" pitchFamily="34" charset="0"/>
                <a:ea typeface="Calibri" pitchFamily="34" charset="-122"/>
                <a:cs typeface="Calibri" pitchFamily="34" charset="-120"/>
              </a:rPr>
              <a:t>Antarctic meltwater and sea-ice formation set Antarctic Bottom Water, the lower limb of the global overturning — and the ice sheet’s freshwater flux is its largest uncertainty.</a:t>
            </a:r>
            <a:endParaRPr lang="en-US" sz="950" dirty="0"/>
          </a:p>
        </p:txBody>
      </p:sp>
      <p:sp>
        <p:nvSpPr>
          <p:cNvPr id="10" name="Shape 7"/>
          <p:cNvSpPr/>
          <p:nvPr/>
        </p:nvSpPr>
        <p:spPr>
          <a:xfrm>
            <a:off x="7360920" y="2862072"/>
            <a:ext cx="4279392" cy="1243584"/>
          </a:xfrm>
          <a:prstGeom prst="roundRect">
            <a:avLst>
              <a:gd name="adj" fmla="val 5882"/>
            </a:avLst>
          </a:prstGeom>
          <a:solidFill>
            <a:srgbClr val="F7FBF6"/>
          </a:solidFill>
          <a:ln w="15875">
            <a:solidFill>
              <a:srgbClr val="4E8A3E"/>
            </a:solidFill>
            <a:prstDash val="solid"/>
          </a:ln>
        </p:spPr>
      </p:sp>
      <p:sp>
        <p:nvSpPr>
          <p:cNvPr id="11" name="Text 8"/>
          <p:cNvSpPr txBox="1"/>
          <p:nvPr/>
        </p:nvSpPr>
        <p:spPr>
          <a:xfrm>
            <a:off x="7479792" y="2916936"/>
            <a:ext cx="4041648" cy="182880"/>
          </a:xfrm>
          <a:prstGeom prst="rect">
            <a:avLst/>
          </a:prstGeom>
          <a:noFill/>
          <a:ln/>
        </p:spPr>
        <p:txBody>
          <a:bodyPr wrap="square" lIns="0" tIns="0" rIns="0" bIns="0" rtlCol="0" anchor="t"/>
          <a:lstStyle/>
          <a:p>
            <a:pPr indent="0" marL="0">
              <a:buNone/>
            </a:pPr>
            <a:r>
              <a:rPr lang="en-US" sz="900" b="1" dirty="0">
                <a:solidFill>
                  <a:srgbClr val="4E8A3E"/>
                </a:solidFill>
                <a:latin typeface="Calibri" pitchFamily="34" charset="0"/>
                <a:ea typeface="Calibri" pitchFamily="34" charset="-122"/>
                <a:cs typeface="Calibri" pitchFamily="34" charset="-120"/>
              </a:rPr>
              <a:t>2 · Cone families for the new spheres (E-071 §6.3)</a:t>
            </a:r>
            <a:endParaRPr lang="en-US" sz="950" dirty="0"/>
          </a:p>
        </p:txBody>
      </p:sp>
      <p:sp>
        <p:nvSpPr>
          <p:cNvPr id="12" name="Text 9"/>
          <p:cNvSpPr txBox="1"/>
          <p:nvPr/>
        </p:nvSpPr>
        <p:spPr>
          <a:xfrm>
            <a:off x="7479792" y="3118104"/>
            <a:ext cx="4041648" cy="932688"/>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atmosphere A′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global at once, lags 0–2, the 24-dot log-spaced ring to the antipode.</a:t>
            </a:r>
            <a:endParaRPr lang="en-US" sz="950" dirty="0"/>
          </a:p>
          <a:p>
            <a:pPr indent="0" marL="0">
              <a:buNone/>
            </a:pPr>
            <a:r>
              <a:rPr lang="en-US" sz="700" b="1" dirty="0">
                <a:solidFill>
                  <a:srgbClr val="4E8A3E"/>
                </a:solidFill>
                <a:latin typeface="Calibri" pitchFamily="34" charset="0"/>
                <a:ea typeface="Calibri" pitchFamily="34" charset="-122"/>
                <a:cs typeface="Calibri" pitchFamily="34" charset="-120"/>
              </a:rPr>
              <a:t>land surface state L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v = 0: the land does not advect, so the reach is the correlation length alone (~300–500 km) and the memory is months. A column plus a 12-dot disc at every inner lag and into the outer window. The SAME channel over an OCEAN anchor follows family C at 5.4 m/s — the one place a family depends on the anchor’s sphere.</a:t>
            </a:r>
            <a:endParaRPr lang="en-US" sz="950" dirty="0"/>
          </a:p>
          <a:p>
            <a:pPr indent="0" marL="0">
              <a:buNone/>
            </a:pPr>
            <a:r>
              <a:rPr lang="en-US" sz="700" b="1" dirty="0">
                <a:solidFill>
                  <a:srgbClr val="2E86AB"/>
                </a:solidFill>
                <a:latin typeface="Calibri" pitchFamily="34" charset="0"/>
                <a:ea typeface="Calibri" pitchFamily="34" charset="-122"/>
                <a:cs typeface="Calibri" pitchFamily="34" charset="-120"/>
              </a:rPr>
              <a:t>ice sheet I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column only, monthly cadence, the firn profile token.</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The sphere code (ocean · land · ice · inland water, from the rung-12 static mask) is a coordinate the codec reads, exactly as depth is.</a:t>
            </a:r>
            <a:endParaRPr lang="en-US" sz="950" dirty="0"/>
          </a:p>
        </p:txBody>
      </p:sp>
      <p:sp>
        <p:nvSpPr>
          <p:cNvPr id="13" name="Shape 10"/>
          <p:cNvSpPr/>
          <p:nvPr/>
        </p:nvSpPr>
        <p:spPr>
          <a:xfrm>
            <a:off x="7360920" y="4151376"/>
            <a:ext cx="4279392" cy="1700784"/>
          </a:xfrm>
          <a:prstGeom prst="roundRect">
            <a:avLst>
              <a:gd name="adj" fmla="val 4301"/>
            </a:avLst>
          </a:prstGeom>
          <a:solidFill>
            <a:srgbClr val="F5FBF7"/>
          </a:solidFill>
          <a:ln w="15875">
            <a:solidFill>
              <a:srgbClr val="1F7A4D"/>
            </a:solidFill>
            <a:prstDash val="solid"/>
          </a:ln>
        </p:spPr>
      </p:sp>
      <p:sp>
        <p:nvSpPr>
          <p:cNvPr id="14" name="Text 11"/>
          <p:cNvSpPr txBox="1"/>
          <p:nvPr/>
        </p:nvSpPr>
        <p:spPr>
          <a:xfrm>
            <a:off x="7479792" y="4206240"/>
            <a:ext cx="4041648" cy="182880"/>
          </a:xfrm>
          <a:prstGeom prst="rect">
            <a:avLst/>
          </a:prstGeom>
          <a:noFill/>
          <a:ln/>
        </p:spPr>
        <p:txBody>
          <a:bodyPr wrap="square" lIns="0" tIns="0" rIns="0" bIns="0" rtlCol="0" anchor="t"/>
          <a:lstStyle/>
          <a:p>
            <a:pPr indent="0" marL="0">
              <a:buNone/>
            </a:pPr>
            <a:r>
              <a:rPr lang="en-US" sz="900" b="1" dirty="0">
                <a:solidFill>
                  <a:srgbClr val="1F7A4D"/>
                </a:solidFill>
                <a:latin typeface="Calibri" pitchFamily="34" charset="0"/>
                <a:ea typeface="Calibri" pitchFamily="34" charset="-122"/>
                <a:cs typeface="Calibri" pitchFamily="34" charset="-120"/>
              </a:rPr>
              <a:t>3 · Cost, and the token change this forces (§6.4–6.5)</a:t>
            </a:r>
            <a:endParaRPr lang="en-US" sz="950" dirty="0"/>
          </a:p>
        </p:txBody>
      </p:sp>
      <p:sp>
        <p:nvSpPr>
          <p:cNvPr id="15" name="Text 12"/>
          <p:cNvSpPr txBox="1"/>
          <p:nvPr/>
        </p:nvSpPr>
        <p:spPr>
          <a:xfrm>
            <a:off x="7479792" y="4407408"/>
            <a:ext cx="4041648" cy="1389888"/>
          </a:xfrm>
          <a:prstGeom prst="rect">
            <a:avLst/>
          </a:prstGeom>
          <a:noFill/>
          <a:ln/>
        </p:spPr>
        <p:txBody>
          <a:bodyPr wrap="square" lIns="0" tIns="0" rIns="0" bIns="0" rtlCol="0" anchor="t"/>
          <a:lstStyle/>
          <a:p>
            <a:pPr indent="0" marL="0">
              <a:spcAft>
                <a:spcPts val="200"/>
              </a:spcAft>
              <a:buNone/>
            </a:pPr>
            <a:r>
              <a:rPr lang="en-US" sz="700" dirty="0">
                <a:solidFill>
                  <a:srgbClr val="1B2430"/>
                </a:solidFill>
                <a:latin typeface="Calibri" pitchFamily="34" charset="0"/>
                <a:ea typeface="Calibri" pitchFamily="34" charset="-122"/>
                <a:cs typeface="Calibri" pitchFamily="34" charset="-120"/>
              </a:rPr>
              <a:t>One global channel at 0.25° × 5 d × 1982–2024 ≈ 6.5 GB float16; the shared set of ~20 channels ≈ 130 GB, plus ~5 land-only ≈ 33 GB, on top of the 62 GB ocean tensor. Two sources — ERA5 and MODIS — supply three quarters; ERA5 needs the free CDS account.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With ~65 channels, per-channel tokens would be ~14,000 per anchor. So v2 makes a TOKEN = one (lag, location) carrying the full value vector of EVERY channel there, with a per-channel observed mask inside and the sphere code as a coordinate — the §3 profile token generalised. </a:t>
            </a:r>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 300 tokens per anchor whatever the channel count, below E-069’s 748.</a:t>
            </a:r>
            <a:endParaRPr lang="en-US" sz="950" dirty="0"/>
          </a:p>
          <a:p>
            <a:pPr indent="0" marL="0">
              <a:buNone/>
            </a:pPr>
            <a:r>
              <a:rPr lang="en-US" sz="700" b="1" dirty="0">
                <a:solidFill>
                  <a:srgbClr val="0B1F3A"/>
                </a:solidFill>
                <a:latin typeface="Calibri" pitchFamily="34" charset="0"/>
                <a:ea typeface="Calibri" pitchFamily="34" charset="-122"/>
                <a:cs typeface="Calibri" pitchFamily="34" charset="-120"/>
              </a:rPr>
              <a:t>PHASE L0 — “sparse for now”: </a:t>
            </a:r>
            <a:pPr indent="0" marL="0">
              <a:buNone/>
            </a:pPr>
            <a:r>
              <a:rPr lang="en-US" sz="700" dirty="0">
                <a:solidFill>
                  <a:srgbClr val="1B2430"/>
                </a:solidFill>
                <a:latin typeface="Calibri" pitchFamily="34" charset="0"/>
                <a:ea typeface="Calibri" pitchFamily="34" charset="-122"/>
                <a:cs typeface="Calibri" pitchFamily="34" charset="-120"/>
              </a:rPr>
              <a:t>six channels, two sources, all gap-free, all 1982→, all global to the poles, ~40 GB — ERA5 skin T, 2 m T, 10 m u/v (retiring the frozen NCEP R1), surface pressure, precipitation; plus the frozen fraction and ESA CCI soil moisture. MODIS / GRACE / SMAP / ASCAT (2000→) follow as L1, once the harmonic climatology has shown it handles a channel that starts eighteen years into the axis.</a:t>
            </a:r>
            <a:endParaRPr lang="en-US" sz="950" dirty="0"/>
          </a:p>
        </p:txBody>
      </p:sp>
      <p:sp>
        <p:nvSpPr>
          <p:cNvPr id="16" name="Text 13"/>
          <p:cNvSpPr txBox="1"/>
          <p:nvPr/>
        </p:nvSpPr>
        <p:spPr>
          <a:xfrm>
            <a:off x="548640" y="5925312"/>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Today a land cell is told “the world was not observed here” 42 times per pentad, which is false. Cone v2 defines channels by what is measured and by which instrument, lets a sphere code say what surface lies under the cell, and finds that most of the input ladder already crosses the coastline — the same skin temperature, the same radar, the same reflectance, the same altimeter, the same column token. What stays dark is only what no instrument sees.</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El Niño 2026 — what the catalog predicts, and what to add</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Our own OISST bake says Niño-3.4 (the central-Pacific sea-temperature anomaly that defines the event) went −0.6 °C in January to +2.1 °C in July 2026; NOAA's Climate Prediction Center, 13 Aug: El Niño Advisory, &gt; 90 % chance of a very strong event, 69 % chance of exceeding +2.5 °C in Oct–Dec — stronger than any event since 1950</a:t>
            </a:r>
            <a:endParaRPr lang="en-US" sz="1250" dirty="0"/>
          </a:p>
        </p:txBody>
      </p:sp>
      <p:sp>
        <p:nvSpPr>
          <p:cNvPr id="4" name="Shape 2"/>
          <p:cNvSpPr/>
          <p:nvPr/>
        </p:nvSpPr>
        <p:spPr>
          <a:xfrm>
            <a:off x="960120" y="1627632"/>
            <a:ext cx="2743200" cy="2286000"/>
          </a:xfrm>
          <a:prstGeom prst="rect">
            <a:avLst/>
          </a:prstGeom>
          <a:solidFill>
            <a:srgbClr val="FBFCFD"/>
          </a:solidFill>
          <a:ln w="6350">
            <a:solidFill>
              <a:srgbClr val="B8C4D3"/>
            </a:solidFill>
            <a:prstDash val="solid"/>
          </a:ln>
        </p:spPr>
      </p:sp>
      <p:sp>
        <p:nvSpPr>
          <p:cNvPr id="5" name="Shape 3"/>
          <p:cNvSpPr/>
          <p:nvPr/>
        </p:nvSpPr>
        <p:spPr>
          <a:xfrm>
            <a:off x="960120" y="3913632"/>
            <a:ext cx="2743200" cy="0"/>
          </a:xfrm>
          <a:prstGeom prst="line">
            <a:avLst/>
          </a:prstGeom>
          <a:noFill/>
          <a:ln w="6350">
            <a:solidFill>
              <a:srgbClr val="B8C4D3"/>
            </a:solidFill>
            <a:prstDash val="solid"/>
          </a:ln>
        </p:spPr>
      </p:sp>
      <p:sp>
        <p:nvSpPr>
          <p:cNvPr id="6" name="Text 4"/>
          <p:cNvSpPr txBox="1"/>
          <p:nvPr/>
        </p:nvSpPr>
        <p:spPr>
          <a:xfrm>
            <a:off x="548640" y="383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7" name="Shape 5"/>
          <p:cNvSpPr/>
          <p:nvPr/>
        </p:nvSpPr>
        <p:spPr>
          <a:xfrm>
            <a:off x="960120" y="3278632"/>
            <a:ext cx="2743200" cy="0"/>
          </a:xfrm>
          <a:prstGeom prst="line">
            <a:avLst/>
          </a:prstGeom>
          <a:noFill/>
          <a:ln w="12700">
            <a:solidFill>
              <a:srgbClr val="6B7A8F"/>
            </a:solidFill>
            <a:prstDash val="solid"/>
          </a:ln>
        </p:spPr>
      </p:sp>
      <p:sp>
        <p:nvSpPr>
          <p:cNvPr id="8" name="Text 6"/>
          <p:cNvSpPr txBox="1"/>
          <p:nvPr/>
        </p:nvSpPr>
        <p:spPr>
          <a:xfrm>
            <a:off x="548640" y="319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0</a:t>
            </a:r>
            <a:endParaRPr lang="en-US" sz="700" dirty="0"/>
          </a:p>
        </p:txBody>
      </p:sp>
      <p:sp>
        <p:nvSpPr>
          <p:cNvPr id="9" name="Shape 7"/>
          <p:cNvSpPr/>
          <p:nvPr/>
        </p:nvSpPr>
        <p:spPr>
          <a:xfrm>
            <a:off x="960120" y="2643632"/>
            <a:ext cx="2743200" cy="0"/>
          </a:xfrm>
          <a:prstGeom prst="line">
            <a:avLst/>
          </a:prstGeom>
          <a:noFill/>
          <a:ln w="6350">
            <a:solidFill>
              <a:srgbClr val="B8C4D3"/>
            </a:solidFill>
            <a:prstDash val="solid"/>
          </a:ln>
        </p:spPr>
      </p:sp>
      <p:sp>
        <p:nvSpPr>
          <p:cNvPr id="10" name="Text 8"/>
          <p:cNvSpPr txBox="1"/>
          <p:nvPr/>
        </p:nvSpPr>
        <p:spPr>
          <a:xfrm>
            <a:off x="548640" y="256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1" name="Shape 9"/>
          <p:cNvSpPr/>
          <p:nvPr/>
        </p:nvSpPr>
        <p:spPr>
          <a:xfrm>
            <a:off x="960120" y="2008632"/>
            <a:ext cx="2743200" cy="0"/>
          </a:xfrm>
          <a:prstGeom prst="line">
            <a:avLst/>
          </a:prstGeom>
          <a:noFill/>
          <a:ln w="6350">
            <a:solidFill>
              <a:srgbClr val="B8C4D3"/>
            </a:solidFill>
            <a:prstDash val="solid"/>
          </a:ln>
        </p:spPr>
      </p:sp>
      <p:sp>
        <p:nvSpPr>
          <p:cNvPr id="12" name="Text 10"/>
          <p:cNvSpPr txBox="1"/>
          <p:nvPr/>
        </p:nvSpPr>
        <p:spPr>
          <a:xfrm>
            <a:off x="548640" y="192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+2</a:t>
            </a:r>
            <a:endParaRPr lang="en-US" sz="700" dirty="0"/>
          </a:p>
        </p:txBody>
      </p:sp>
      <p:sp>
        <p:nvSpPr>
          <p:cNvPr id="13" name="Shape 11"/>
          <p:cNvSpPr/>
          <p:nvPr/>
        </p:nvSpPr>
        <p:spPr>
          <a:xfrm>
            <a:off x="960120" y="1716532"/>
            <a:ext cx="2743200" cy="0"/>
          </a:xfrm>
          <a:prstGeom prst="line">
            <a:avLst/>
          </a:prstGeom>
          <a:noFill/>
          <a:ln w="9525">
            <a:solidFill>
              <a:srgbClr val="6B7A8F"/>
            </a:solidFill>
            <a:prstDash val="dash"/>
          </a:ln>
        </p:spPr>
      </p:sp>
      <p:sp>
        <p:nvSpPr>
          <p:cNvPr id="14" name="Text 12"/>
          <p:cNvSpPr txBox="1"/>
          <p:nvPr/>
        </p:nvSpPr>
        <p:spPr>
          <a:xfrm>
            <a:off x="1005840" y="15930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2015  +2.46</a:t>
            </a:r>
            <a:endParaRPr lang="en-US" sz="700" dirty="0"/>
          </a:p>
        </p:txBody>
      </p:sp>
      <p:sp>
        <p:nvSpPr>
          <p:cNvPr id="15" name="Shape 13"/>
          <p:cNvSpPr/>
          <p:nvPr/>
        </p:nvSpPr>
        <p:spPr>
          <a:xfrm>
            <a:off x="960120" y="1894332"/>
            <a:ext cx="2743200" cy="0"/>
          </a:xfrm>
          <a:prstGeom prst="line">
            <a:avLst/>
          </a:prstGeom>
          <a:noFill/>
          <a:ln w="9525">
            <a:solidFill>
              <a:srgbClr val="6B7A8F"/>
            </a:solidFill>
            <a:prstDash val="dash"/>
          </a:ln>
        </p:spPr>
      </p:sp>
      <p:sp>
        <p:nvSpPr>
          <p:cNvPr id="16" name="Text 14"/>
          <p:cNvSpPr txBox="1"/>
          <p:nvPr/>
        </p:nvSpPr>
        <p:spPr>
          <a:xfrm>
            <a:off x="1005840" y="17708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1997  +2.18</a:t>
            </a:r>
            <a:endParaRPr lang="en-US" sz="700" dirty="0"/>
          </a:p>
        </p:txBody>
      </p:sp>
      <p:sp>
        <p:nvSpPr>
          <p:cNvPr id="17" name="Shape 15"/>
          <p:cNvSpPr/>
          <p:nvPr/>
        </p:nvSpPr>
        <p:spPr>
          <a:xfrm>
            <a:off x="960120" y="2002282"/>
            <a:ext cx="2743200" cy="0"/>
          </a:xfrm>
          <a:prstGeom prst="line">
            <a:avLst/>
          </a:prstGeom>
          <a:noFill/>
          <a:ln w="9525">
            <a:solidFill>
              <a:srgbClr val="6B7A8F"/>
            </a:solidFill>
            <a:prstDash val="dash"/>
          </a:ln>
        </p:spPr>
      </p:sp>
      <p:sp>
        <p:nvSpPr>
          <p:cNvPr id="18" name="Text 16"/>
          <p:cNvSpPr txBox="1"/>
          <p:nvPr/>
        </p:nvSpPr>
        <p:spPr>
          <a:xfrm>
            <a:off x="1005840" y="187883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2023  +2.01</a:t>
            </a:r>
            <a:endParaRPr lang="en-US" sz="700" dirty="0"/>
          </a:p>
        </p:txBody>
      </p:sp>
      <p:sp>
        <p:nvSpPr>
          <p:cNvPr id="19" name="Shape 17"/>
          <p:cNvSpPr/>
          <p:nvPr/>
        </p:nvSpPr>
        <p:spPr>
          <a:xfrm>
            <a:off x="1018903" y="3278632"/>
            <a:ext cx="274320" cy="361950"/>
          </a:xfrm>
          <a:prstGeom prst="rect">
            <a:avLst/>
          </a:prstGeom>
          <a:solidFill>
            <a:srgbClr val="2E86AB"/>
          </a:solidFill>
          <a:ln w="12700">
            <a:solidFill>
              <a:srgbClr val="333333"/>
            </a:solidFill>
            <a:prstDash val="solid"/>
          </a:ln>
        </p:spPr>
      </p:sp>
      <p:sp>
        <p:nvSpPr>
          <p:cNvPr id="20" name="Text 18"/>
          <p:cNvSpPr txBox="1"/>
          <p:nvPr/>
        </p:nvSpPr>
        <p:spPr>
          <a:xfrm>
            <a:off x="881743" y="36588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-0.57</a:t>
            </a:r>
            <a:endParaRPr lang="en-US" sz="700" dirty="0"/>
          </a:p>
        </p:txBody>
      </p:sp>
      <p:sp>
        <p:nvSpPr>
          <p:cNvPr id="21" name="Text 19"/>
          <p:cNvSpPr txBox="1"/>
          <p:nvPr/>
        </p:nvSpPr>
        <p:spPr>
          <a:xfrm>
            <a:off x="927463"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Jan</a:t>
            </a:r>
            <a:endParaRPr lang="en-US" sz="750" dirty="0"/>
          </a:p>
        </p:txBody>
      </p:sp>
      <p:sp>
        <p:nvSpPr>
          <p:cNvPr id="22" name="Shape 20"/>
          <p:cNvSpPr/>
          <p:nvPr/>
        </p:nvSpPr>
        <p:spPr>
          <a:xfrm>
            <a:off x="1410789" y="3278632"/>
            <a:ext cx="274320" cy="120650"/>
          </a:xfrm>
          <a:prstGeom prst="rect">
            <a:avLst/>
          </a:prstGeom>
          <a:solidFill>
            <a:srgbClr val="2E86AB"/>
          </a:solidFill>
          <a:ln w="12700">
            <a:solidFill>
              <a:srgbClr val="333333"/>
            </a:solidFill>
            <a:prstDash val="solid"/>
          </a:ln>
        </p:spPr>
      </p:sp>
      <p:sp>
        <p:nvSpPr>
          <p:cNvPr id="23" name="Text 21"/>
          <p:cNvSpPr txBox="1"/>
          <p:nvPr/>
        </p:nvSpPr>
        <p:spPr>
          <a:xfrm>
            <a:off x="1273629" y="34175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-0.19</a:t>
            </a:r>
            <a:endParaRPr lang="en-US" sz="700" dirty="0"/>
          </a:p>
        </p:txBody>
      </p:sp>
      <p:sp>
        <p:nvSpPr>
          <p:cNvPr id="24" name="Text 22"/>
          <p:cNvSpPr txBox="1"/>
          <p:nvPr/>
        </p:nvSpPr>
        <p:spPr>
          <a:xfrm>
            <a:off x="1319349"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Feb</a:t>
            </a:r>
            <a:endParaRPr lang="en-US" sz="750" dirty="0"/>
          </a:p>
        </p:txBody>
      </p:sp>
      <p:sp>
        <p:nvSpPr>
          <p:cNvPr id="25" name="Shape 23"/>
          <p:cNvSpPr/>
          <p:nvPr/>
        </p:nvSpPr>
        <p:spPr>
          <a:xfrm>
            <a:off x="1802674" y="3265932"/>
            <a:ext cx="274320" cy="12700"/>
          </a:xfrm>
          <a:prstGeom prst="rect">
            <a:avLst/>
          </a:prstGeom>
          <a:solidFill>
            <a:srgbClr val="C0443A"/>
          </a:solidFill>
          <a:ln w="12700">
            <a:solidFill>
              <a:srgbClr val="333333"/>
            </a:solidFill>
            <a:prstDash val="solid"/>
          </a:ln>
        </p:spPr>
      </p:sp>
      <p:sp>
        <p:nvSpPr>
          <p:cNvPr id="26" name="Text 24"/>
          <p:cNvSpPr txBox="1"/>
          <p:nvPr/>
        </p:nvSpPr>
        <p:spPr>
          <a:xfrm>
            <a:off x="1665514" y="31104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+0.02</a:t>
            </a:r>
            <a:endParaRPr lang="en-US" sz="700" dirty="0"/>
          </a:p>
        </p:txBody>
      </p:sp>
      <p:sp>
        <p:nvSpPr>
          <p:cNvPr id="27" name="Text 25"/>
          <p:cNvSpPr txBox="1"/>
          <p:nvPr/>
        </p:nvSpPr>
        <p:spPr>
          <a:xfrm>
            <a:off x="1711234"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Mar</a:t>
            </a:r>
            <a:endParaRPr lang="en-US" sz="750" dirty="0"/>
          </a:p>
        </p:txBody>
      </p:sp>
      <p:sp>
        <p:nvSpPr>
          <p:cNvPr id="28" name="Shape 26"/>
          <p:cNvSpPr/>
          <p:nvPr/>
        </p:nvSpPr>
        <p:spPr>
          <a:xfrm>
            <a:off x="2194560" y="2980182"/>
            <a:ext cx="274320" cy="298450"/>
          </a:xfrm>
          <a:prstGeom prst="rect">
            <a:avLst/>
          </a:prstGeom>
          <a:solidFill>
            <a:srgbClr val="C0443A"/>
          </a:solidFill>
          <a:ln w="12700">
            <a:solidFill>
              <a:srgbClr val="333333"/>
            </a:solidFill>
            <a:prstDash val="solid"/>
          </a:ln>
        </p:spPr>
      </p:sp>
      <p:sp>
        <p:nvSpPr>
          <p:cNvPr id="29" name="Text 27"/>
          <p:cNvSpPr txBox="1"/>
          <p:nvPr/>
        </p:nvSpPr>
        <p:spPr>
          <a:xfrm>
            <a:off x="2057400" y="28247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+0.47</a:t>
            </a:r>
            <a:endParaRPr lang="en-US" sz="700" dirty="0"/>
          </a:p>
        </p:txBody>
      </p:sp>
      <p:sp>
        <p:nvSpPr>
          <p:cNvPr id="30" name="Text 28"/>
          <p:cNvSpPr txBox="1"/>
          <p:nvPr/>
        </p:nvSpPr>
        <p:spPr>
          <a:xfrm>
            <a:off x="2103120"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Apr</a:t>
            </a:r>
            <a:endParaRPr lang="en-US" sz="750" dirty="0"/>
          </a:p>
        </p:txBody>
      </p:sp>
      <p:sp>
        <p:nvSpPr>
          <p:cNvPr id="31" name="Shape 29"/>
          <p:cNvSpPr/>
          <p:nvPr/>
        </p:nvSpPr>
        <p:spPr>
          <a:xfrm>
            <a:off x="2586446" y="2681732"/>
            <a:ext cx="274320" cy="596900"/>
          </a:xfrm>
          <a:prstGeom prst="rect">
            <a:avLst/>
          </a:prstGeom>
          <a:solidFill>
            <a:srgbClr val="C0443A"/>
          </a:solidFill>
          <a:ln w="12700">
            <a:solidFill>
              <a:srgbClr val="333333"/>
            </a:solidFill>
            <a:prstDash val="solid"/>
          </a:ln>
        </p:spPr>
      </p:sp>
      <p:sp>
        <p:nvSpPr>
          <p:cNvPr id="32" name="Text 30"/>
          <p:cNvSpPr txBox="1"/>
          <p:nvPr/>
        </p:nvSpPr>
        <p:spPr>
          <a:xfrm>
            <a:off x="2449286" y="25262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+0.94</a:t>
            </a:r>
            <a:endParaRPr lang="en-US" sz="700" dirty="0"/>
          </a:p>
        </p:txBody>
      </p:sp>
      <p:sp>
        <p:nvSpPr>
          <p:cNvPr id="33" name="Text 31"/>
          <p:cNvSpPr txBox="1"/>
          <p:nvPr/>
        </p:nvSpPr>
        <p:spPr>
          <a:xfrm>
            <a:off x="2495006"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May</a:t>
            </a:r>
            <a:endParaRPr lang="en-US" sz="750" dirty="0"/>
          </a:p>
        </p:txBody>
      </p:sp>
      <p:sp>
        <p:nvSpPr>
          <p:cNvPr id="34" name="Shape 32"/>
          <p:cNvSpPr/>
          <p:nvPr/>
        </p:nvSpPr>
        <p:spPr>
          <a:xfrm>
            <a:off x="2978331" y="2262632"/>
            <a:ext cx="274320" cy="1016000"/>
          </a:xfrm>
          <a:prstGeom prst="rect">
            <a:avLst/>
          </a:prstGeom>
          <a:solidFill>
            <a:srgbClr val="C0443A"/>
          </a:solidFill>
          <a:ln w="12700">
            <a:solidFill>
              <a:srgbClr val="333333"/>
            </a:solidFill>
            <a:prstDash val="solid"/>
          </a:ln>
        </p:spPr>
      </p:sp>
      <p:sp>
        <p:nvSpPr>
          <p:cNvPr id="35" name="Text 33"/>
          <p:cNvSpPr txBox="1"/>
          <p:nvPr/>
        </p:nvSpPr>
        <p:spPr>
          <a:xfrm>
            <a:off x="2841171" y="21071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+1.60</a:t>
            </a:r>
            <a:endParaRPr lang="en-US" sz="700" dirty="0"/>
          </a:p>
        </p:txBody>
      </p:sp>
      <p:sp>
        <p:nvSpPr>
          <p:cNvPr id="36" name="Text 34"/>
          <p:cNvSpPr txBox="1"/>
          <p:nvPr/>
        </p:nvSpPr>
        <p:spPr>
          <a:xfrm>
            <a:off x="2886891"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Jun</a:t>
            </a:r>
            <a:endParaRPr lang="en-US" sz="750" dirty="0"/>
          </a:p>
        </p:txBody>
      </p:sp>
      <p:sp>
        <p:nvSpPr>
          <p:cNvPr id="37" name="Shape 35"/>
          <p:cNvSpPr/>
          <p:nvPr/>
        </p:nvSpPr>
        <p:spPr>
          <a:xfrm>
            <a:off x="3370217" y="1951482"/>
            <a:ext cx="274320" cy="1327150"/>
          </a:xfrm>
          <a:prstGeom prst="rect">
            <a:avLst/>
          </a:prstGeom>
          <a:solidFill>
            <a:srgbClr val="C0443A"/>
          </a:solidFill>
          <a:ln w="12700">
            <a:solidFill>
              <a:srgbClr val="333333"/>
            </a:solidFill>
            <a:prstDash val="solid"/>
          </a:ln>
        </p:spPr>
      </p:sp>
      <p:sp>
        <p:nvSpPr>
          <p:cNvPr id="38" name="Text 36"/>
          <p:cNvSpPr txBox="1"/>
          <p:nvPr/>
        </p:nvSpPr>
        <p:spPr>
          <a:xfrm>
            <a:off x="3233057" y="17960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+2.09</a:t>
            </a:r>
            <a:endParaRPr lang="en-US" sz="700" dirty="0"/>
          </a:p>
        </p:txBody>
      </p:sp>
      <p:sp>
        <p:nvSpPr>
          <p:cNvPr id="39" name="Text 37"/>
          <p:cNvSpPr txBox="1"/>
          <p:nvPr/>
        </p:nvSpPr>
        <p:spPr>
          <a:xfrm>
            <a:off x="3278777"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Jul</a:t>
            </a:r>
            <a:endParaRPr lang="en-US" sz="750" dirty="0"/>
          </a:p>
        </p:txBody>
      </p:sp>
      <p:sp>
        <p:nvSpPr>
          <p:cNvPr id="40" name="Text 38"/>
          <p:cNvSpPr txBox="1"/>
          <p:nvPr/>
        </p:nvSpPr>
        <p:spPr>
          <a:xfrm>
            <a:off x="548640" y="1371600"/>
            <a:ext cx="3200400" cy="274320"/>
          </a:xfrm>
          <a:prstGeom prst="rect">
            <a:avLst/>
          </a:prstGeom>
          <a:noFill/>
          <a:ln/>
        </p:spPr>
        <p:txBody>
          <a:bodyPr wrap="square" lIns="0" tIns="0" rIns="0" bIns="0" rtlCol="0" anchor="t"/>
          <a:lstStyle/>
          <a:p>
            <a:pPr indent="0" marL="0">
              <a:buNone/>
            </a:pPr>
            <a:r>
              <a:rPr lang="en-US" sz="900" b="1" dirty="0">
                <a:solidFill>
                  <a:srgbClr val="0B1F3A"/>
                </a:solidFill>
                <a:latin typeface="Calibri" pitchFamily="34" charset="0"/>
                <a:ea typeface="Calibri" pitchFamily="34" charset="-122"/>
                <a:cs typeface="Calibri" pitchFamily="34" charset="-120"/>
              </a:rPr>
              <a:t>Niño-3.4 monthly anomaly, 2026</a:t>
            </a:r>
            <a:endParaRPr lang="en-US" sz="950" dirty="0"/>
          </a:p>
          <a:p>
            <a:pPr indent="0" marL="0">
              <a:buNone/>
            </a:pPr>
            <a:r>
              <a:rPr lang="en-US" sz="750" i="1" dirty="0">
                <a:solidFill>
                  <a:srgbClr val="6B7A8F"/>
                </a:solidFill>
                <a:latin typeface="Calibri" pitchFamily="34" charset="0"/>
                <a:ea typeface="Calibri" pitchFamily="34" charset="-122"/>
                <a:cs typeface="Calibri" pitchFamily="34" charset="-120"/>
              </a:rPr>
              <a:t>5° S–5° N, 170° W–120° W, 500 one-degree cells</a:t>
            </a:r>
            <a:endParaRPr lang="en-US" sz="950" dirty="0"/>
          </a:p>
        </p:txBody>
      </p:sp>
      <p:sp>
        <p:nvSpPr>
          <p:cNvPr id="41" name="Text 39"/>
          <p:cNvSpPr txBox="1"/>
          <p:nvPr/>
        </p:nvSpPr>
        <p:spPr>
          <a:xfrm>
            <a:off x="548640" y="4169664"/>
            <a:ext cx="3200400" cy="1645920"/>
          </a:xfrm>
          <a:prstGeom prst="rect">
            <a:avLst/>
          </a:prstGeom>
          <a:noFill/>
          <a:ln/>
        </p:spPr>
        <p:txBody>
          <a:bodyPr wrap="square" lIns="0" tIns="0" rIns="0" bIns="0" rtlCol="0" anchor="t"/>
          <a:lstStyle/>
          <a:p>
            <a:pPr indent="0" marL="0">
              <a:buNone/>
            </a:pPr>
            <a:r>
              <a:rPr lang="en-US" sz="800" dirty="0">
                <a:solidFill>
                  <a:srgbClr val="1B2430"/>
                </a:solidFill>
                <a:latin typeface="Calibri" pitchFamily="34" charset="0"/>
                <a:ea typeface="Calibri" pitchFamily="34" charset="-122"/>
                <a:cs typeface="Calibri" pitchFamily="34" charset="-120"/>
              </a:rPr>
              <a:t>Computed here from data/oisst_y (NOAA's daily satellite-and-buoy sea-temperature analysis, block-meaned to 1° monthly) against data/oisst_clim, the app's 1991–2020 normal. The Climate Prediction Center's July value is +1.4 °C — a different sea-temperature reconstruction (ERSSTv5), a different averaging and possibly the relative index CPC now favours; the 0.7 °C gap is unexplained here, and is itself the reason to carry the official index beside our own bake.</a:t>
            </a:r>
            <a:endParaRPr lang="en-US" sz="950" dirty="0"/>
          </a:p>
        </p:txBody>
      </p:sp>
      <p:sp>
        <p:nvSpPr>
          <p:cNvPr id="42" name="Shape 40"/>
          <p:cNvSpPr/>
          <p:nvPr/>
        </p:nvSpPr>
        <p:spPr>
          <a:xfrm>
            <a:off x="3886200" y="1371600"/>
            <a:ext cx="3383280" cy="4443984"/>
          </a:xfrm>
          <a:prstGeom prst="roundRect">
            <a:avLst>
              <a:gd name="adj" fmla="val 2162"/>
            </a:avLst>
          </a:prstGeom>
          <a:solidFill>
            <a:srgbClr val="F2F8FA"/>
          </a:solidFill>
          <a:ln w="15875">
            <a:solidFill>
              <a:srgbClr val="1C7293"/>
            </a:solidFill>
            <a:prstDash val="solid"/>
          </a:ln>
        </p:spPr>
      </p:sp>
      <p:sp>
        <p:nvSpPr>
          <p:cNvPr id="43" name="Text 41"/>
          <p:cNvSpPr txBox="1"/>
          <p:nvPr/>
        </p:nvSpPr>
        <p:spPr>
          <a:xfrm>
            <a:off x="4014216" y="1426464"/>
            <a:ext cx="3127248" cy="4334256"/>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Already in the catalog</a:t>
            </a:r>
            <a:endParaRPr lang="en-US" sz="950" dirty="0"/>
          </a:p>
          <a:p>
            <a:pPr indent="0" marL="0">
              <a:spcAft>
                <a:spcPts val="400"/>
              </a:spcAft>
              <a:buNone/>
            </a:pPr>
            <a:r>
              <a:rPr lang="en-US" sz="750" i="1" dirty="0">
                <a:solidFill>
                  <a:srgbClr val="6B7A8F"/>
                </a:solidFill>
                <a:latin typeface="Calibri" pitchFamily="34" charset="0"/>
                <a:ea typeface="Calibri" pitchFamily="34" charset="-122"/>
                <a:cs typeface="Calibri" pitchFamily="34" charset="-120"/>
              </a:rPr>
              <a:t>274 records, compiled for the Atlantic overturning circulation — its `amoc` flag mis-sorts for El Niño. what → signal · limit</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OISST v2.1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label itself, all four Niño boxes. Baked global 1° monthly 1981-09 → 2026-07.</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GLORYS12 surface currents + mixed-layer depth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equatorial advection. Baked 1993 → 2026-05 · the depth levels are not baked.</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GPCP 1979→ / IMERG 2000→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rainfall shift towards the dateline that is El Niño's atmospheric expression · only a climatology is baked from GPCP; IMERG is live.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MERRA-2 10 m wind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trade winds · monthly tiles only, so a westerly wind burst (a 5–15 day reversal) is averaged away.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NASA sea-surface height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Kelvin and Rossby waves · the app's tiles END 2019-01.</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OSCAR surface currents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zonal advection · tiles 2014-10 → 2024-07 only.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CERES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convection · tiles end 2018-10, and it is monthly NET radiation, not the daily outgoing-longwave field the index needs.</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TAO/TRITON + PIRATA moorings (`gtmba`)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single most El-Niño-specific record in the catalog · catalogued only for its Atlantic side, and flagged not-renderable.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Catalogued but unused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ORAS5 1958→ · SODA3 · ERSSTv5 (the substrate of the official index) · HadISST · EN4 1900→ · ERA5 · CFSR · the SEAS5 and NMME seasonal hindcasts 1981/82→.</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The machine-learning tensors are North-Atlantic-only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family 7 — the first tensor covering the whole globe at the same 0.25°, 5-day grid (experiment E-070) — is mid-fetch, and its own plan names the equatorial waveguide as a target regime.</a:t>
            </a:r>
            <a:endParaRPr lang="en-US" sz="950" dirty="0"/>
          </a:p>
        </p:txBody>
      </p:sp>
      <p:sp>
        <p:nvSpPr>
          <p:cNvPr id="44" name="Shape 42"/>
          <p:cNvSpPr/>
          <p:nvPr/>
        </p:nvSpPr>
        <p:spPr>
          <a:xfrm>
            <a:off x="7406640" y="1371600"/>
            <a:ext cx="4206240" cy="4443984"/>
          </a:xfrm>
          <a:prstGeom prst="roundRect">
            <a:avLst>
              <a:gd name="adj" fmla="val 1739"/>
            </a:avLst>
          </a:prstGeom>
          <a:solidFill>
            <a:srgbClr val="F4F6F9"/>
          </a:solidFill>
          <a:ln w="15875">
            <a:solidFill>
              <a:srgbClr val="0B1F3A"/>
            </a:solidFill>
            <a:prstDash val="solid"/>
          </a:ln>
        </p:spPr>
      </p:sp>
      <p:sp>
        <p:nvSpPr>
          <p:cNvPr id="45" name="Text 43"/>
          <p:cNvSpPr txBox="1"/>
          <p:nvPr/>
        </p:nvSpPr>
        <p:spPr>
          <a:xfrm>
            <a:off x="7534656" y="1426464"/>
            <a:ext cx="3950208" cy="4334256"/>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Add, ranked</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  Warm Water Volume and 20 °C-isotherm depth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 PMEL, monthly 1980→. How much warm water is stacked up in the equatorial Pacific — the ~6-month-lead predictor; recharge–discharge theory IS this number.</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2  GODAS or ORAS5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NOAA's operational ocean analysis (1/3° × 1°, 40 levels, 5-day and monthly, 1980→, keyless OPeNDAP), or ECMWF's ORAS5 (1958→, 5 members): the subsurface temperature and thermocline the tensor has nowhere in the Pacific.</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3  NOAA interpolated outgoing longwave radiation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2.5°, daily, 1974→. Cold cloud tops mark deep convection — the Walker-circulation and Madden–Julian-Oscillation diagnostic CERES does not replace.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4  Index series, as labels and as nulls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Oceanic Niño Index (the official definition, on ERSSTv5, 1950→), weekly Niño-1+2/3/3.4/4, the Southern Oscillation Index and its equatorial twin, the Multivariate ENSO Index, the RMM Madden–Julian index (the wind-burst trigger), the Pacific Decadal Oscillation and Pacific Meridional Mode (spring precursors).</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5  Daily winds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ERA5 10 m u and v (0.25°, hourly, 1940→) or CCMP 6-hourly 1987→ — westerly wind bursts and wind-stress curl at the cadence at which they actually happen.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6  TAO/TRITON moorings as native dots on the Pacific side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temperature and salinity with depth, currents, winds along 137° E–95° W, 1980→. The array is already catalogued, as `gtmba`.</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7  DUACS sea level directly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daily 0.125°, 1993→ — equatorial Kelvin and Rossby waves, and a proxy for warm-water volume.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8  Benchmarks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IRI/CPC forecast plume (2002→) and the NMME and SEAS5 hindcasts already in the catalog and unused — what any El Niño head must beat, and the spring-barrier skill curve to beat it on.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9  In the app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a `nino.json` bake beside eei.json and gistemp.json (~40 lines next to `oisst_monthly()` in scripts/refresh_data.py), and the four Niño boxes drawn on the globe.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10  The cone codec on family 7, with an El Niño head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sea-surface height, mixed-layer depth, the temperature/salinity column and wind stress are already the classic feature set. What is missing is the rainfall/longwave channel and the label.</a:t>
            </a:r>
            <a:endParaRPr lang="en-US" sz="950" dirty="0"/>
          </a:p>
        </p:txBody>
      </p:sp>
      <p:sp>
        <p:nvSpPr>
          <p:cNvPr id="46" name="Text 44"/>
          <p:cNvSpPr txBox="1"/>
          <p:nvPr/>
        </p:nvSpPr>
        <p:spPr>
          <a:xfrm>
            <a:off x="548640" y="5925312"/>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Onset is behind us — the event began in March 2026 — so “predict this year's El Niño” now means three different things, and each needs different data. Hindcast the ONSET from the November 2025 state (a −0.6 °C, mildly La-Niña-ish surface with a recharged subsurface): that is a test of whether the subsurface memory was readable. Forecast the PEAK amplitude and month (October–December) and the 2027 exit. And forecast the TELECONNECTIONS — the rainfall, drought and cyclone shifts that are what anyone outside the Pacific actually feels. All three need the subsurface first, the daily winds second, and an honest null beside them: persistence, a linear inverse model, and the operational forecast plume.</a:t>
            </a:r>
            <a:endParaRPr lang="en-US" sz="850" dirty="0"/>
          </a:p>
        </p:txBody>
      </p:sp>
      <p:sp>
        <p:nvSpPr>
          <p:cNvPr id="47" name="Text 4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2026-09-04T08:40:16Z</dcterms:created>
  <dcterms:modified xsi:type="dcterms:W3CDTF">2026-09-04T08:40:16Z</dcterms:modified>
</cp:coreProperties>
</file>