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exists because of one question: what exactly is a training example here, and where should it live? E-069 is the internal name of the cone-native codec, which is an encoder that reads about thirty days of nearby history around a single ocean cell so that motion can live inside the embedding it produces. The question has two extreme answers, and everything in between is a spectrum: at one end we generate every example on the fly, as we do today; at the other end we write every example out to disk before training starts. This deck first answers what an example actually is, in numbers, then walks its three boundaries, then weighs the two options honestly, and finally makes a proposal. The proposal in one line is this: keep generating examples on the fly, but make every example addressable, dumpable and certifiable. In other words, materialize the small key that identifies an example, and materialize the evaluation set, but do not materialize the bytes of every example. Every number in this deck was read out of the code rather than remembered, and the reading was done on the third of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training example is one anchor plus its surroundings, and an anchor is one ocean grid cell at one five-day time bin. A five-day bin is called a pentad, and the whole record is chopped into pentads rather than days. A channel is one of the forty-two measured quantities we carry for every cell: the currents, sea-surface height, the mixed-layer depth, thirty-two Argo temperature and salinity levels down the water column, wind stress, storminess, sea-surface temperature, and the two new current components. A lag is simply how many bins back in time a value comes from, so lag one is five days before the anchor and lag six is thirty days before it. Around the anchor the example carries forty-two patch tokens, which are the three-by-three neighbourhood at lag zero, one token per channel, and seven hundred and six dot tokens, which are single values picked at a given channel, lag and spatial offset. It also carries what the model must predict: forty-two targets at the anchor itself and eighty-four future targets, being the anchor’s own values one and two bins ahead. Four context numbers finish it off: the season written as the sine and cosine of the day of year, plus latitude and longitude. Altogether that is six thousand five hundred and seventy-nine numbers, about nineteen kilobytes, and none of it sits on disk — it is gathered by index out of the thirty-six gigabyte tensor at the moment the batch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example drawn to scale in time. The horizontal line is time in five-day bins, running from six bins before the anchor on the left to two bins after it on the right; the anchor bin, marked in red, is the one labelled t. At each bin behind the anchor we draw a disc, and the disc is the region the model is allowed to look at for that lag; the further back in time, the wider the disc, because a driver moving at about a third of a metre per second can travel that much further before it reaches the anchor. For the currents and for sea-surface height, which is how high the sea stands, the radius is one hundred and twenty-nine point six kilometres multiplied by one plus the lag, so it reaches nine hundred and seven kilometres at the oldest bin. Wind is different: it is read out to five hundred kilometres at lags zero and one and then stops, because the wind’s useful memory in this system is only about ten days. Sea-surface temperature and the mixed-layer depth start at five hundred kilometres, drop to three hundred and eighty-nine at lag two when the atmosphere’s fast stirring drops out, and then widen again to nine hundred and seven as the slower ocean memory takes over. The Argo depth channels, which are temperature and salinity measured down the water column by drifting floats, get only the anchor’s own column and no disc at all, because Argo reports roughly one bin in six and a full disc would be about ninety per cent empty. At the anchor itself we add a three-by-three patch of neighbouring cells, one token per channel, and to the right sit the two future bins the model is asked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honest inventory of what actually sits on disk today. The big one is the input tensor, thirty-five point seven gigabytes of half-precision numbers, built once and pinned by its sha256 — a sha256 is a fingerprint of the exact bytes, so if a single number changed the fingerprint would change too. Each run makes a thirty-six gigabyte scratch copy in anomaly space, meaning the seasonal cycle has been subtracted, and that takes about forty minutes. The little per-row dot tables, two hundred and eighty-one rows of them, are geometry lookups rebuilt in under a second. The evaluation anchors, one thousand and twenty-four of them, and the velocity-probe anchors, two thousand and forty-eight, are not stored either: they are regenerated from the run’s random seed, offset by nine hundred and ninety-one and by seven thousand seven hundred and seventeen respectively. The only other large materialized object belongs to stage two: a seventeen point four gigabyte cache of embeddings, keyed by two hashes at once, the codec weights and the tensor. Those two hashes exist because of a real lesson from runs number ten and eleven, and from two machines that each built a tensor with the same name but different bytes — without the double key you can silently train on the wrong embeddings. The point of the table is that the dataset is a distribution you sample from, not a list of files you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Anchors are drawn at random, and two admissibility rules decide which ones are allowed. The time rule says every one of the nine bins in the cone, from six before the anchor to two after it, must exist and must be a training bin; that leaves two thousand eight hundred and ninety-one admissible bins out of three thousand one hundred and forty-two. The two hundred and fifty-one excluded bins are the three held-out years, two thousand and nine, two thousand and seventeen and two thousand and twenty-three, together with the shadow of bins around them, plus the two ends of the time axis. The space rule says a cell counts if a current was ever observed there, which gives roughly eighty-six thousand seven hundred ocean cells. Multiplying the two gives a pool of about two hundred and fifty-one million possible anchors, and we draw from it uniformly with replacement, so there are no epochs and nothing is ever exhausted. A twenty-thousand-step run with two hundred and fifty-six examples per step touches five point one million anchors, which is two per cent of the pool. There is a subtlety worth stating out loud: although examples barely repeat, individual tensor values are re-read constantly, because each cell sits inside roughly seven hundred different cones. That factor of seven hundred is free today, but it is precisely the multiplier a materialized dataset would pay for in disk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in one sentence: if the model could see a held-out bin while training, then the score we later measure on that held-out year would not be a test of anything. Three whole years are held out — two thousand and nine, two thousand and seventeen and two thousand and twenty-three — and they are shown in red on the timeline. Around each held-out year there is a shadow, drawn in amber: six bins before and two after. The shadow is that shape because a cone reaches six bins backwards and two bins forwards, so an anchor within six bins before a held-out year would pull held-out data into its history, and one within two bins after would pull it into its targets. For training this is enforced twice over: once by the rule that picks admissible anchors, and once again by an independent brute-force certificate that checks four thousand and ninety-six freshly drawn anchors before the model is even built, and refuses to start the run unless it finds zero violations. Runs number five hundred and thirty-six and five hundred and thirty-seven both printed zero. Evaluation is deliberately looser: only the anchor’s own bin has to be held out, and its surrounding context is allowed to reach back into training bins, which happens for about eleven per cent of evaluation anchors. The reasoning is that an evaluation anchor is a held-out measurement rather than a second training pool, but it is an asymmetry, it is not certified, and slide thirteen proposes measuring the stricter variant once so we know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boundary is the edge of the map. The model works inside a window that runs from one hundred degrees west to twenty degrees east and from the equator to seventy degrees north, and a cone near the edge inevitably asks for dots that fall outside it. Those dots are not dropped, and the number of tokens does not change: the dot is kept, its value is set to zero, and it is flagged as not valid. A single key-padding mask — one list saying which tokens attention may look at — then removes it, so existence is enforced in exactly one place rather than scattered through the code, and a test proves it by flipping an invalid dot’s value and checking the embedding comes out bit-for-bit identical. An invalid dot is also never used as a target. Land cells and cells that were never observed become a missing token, which is deliberately a different thing from a mask token: missing means nobody ever measured this, while masked means we measured it and hid it on purpose to make the model guess. That distinction is information the model should have, so we give it three token kinds rather than two. One last detail: the window does not wrap around, because wrapping here would place Iberia one cell west of Florida; the planned global family, E-070, will wrap at the dateline, and that is about a ten-line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boundary is about gaps in the observations themselves. Argo is the global fleet of drifting floats that measure temperature and salinity below the surface, and it reports roughly one five-day bin per month, so about eighty-three per cent of the depth-channel dots carry a missing token even during the years when Argo was fully operating. Before Argo, it is worse: twenty-two of the forty-three years in the record contain no live Argo bins at all. The rule we follow is that missing values are never forward-filled from the last observation. Filling them would tell the model that the subsurface was measured on a day when nobody measured it, and that is simply a lie written into the data. The same rule applies on the output side: if a target value was never observed, its weight in the loss is exactly zero, so the decoder is never rewarded or punished for matching an invented number. The shape of the example does not change with latitude or with era — there are always seven hundred and six dots — because a fixed shape keeps the batching simple; whether a value is live rides in a flag alongside it. The principle behind all of this is that missingness is itself information, and the model should be told about it rather than shielded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is used for a self-supervised task, which means the data supplies its own answers and no human labels are needed. First we hide things: sometimes we hide whole channels, dropping the currents half the time and the other quantities about thirty per cent of the time; sometimes, in about three examples in ten, we hide a band of the most recent lags, from lag one out to some cut-off; and in another three in ten we hide a ninety-degree wedge of the surrounding disc, as if one direction had gone dark. Then we ask the decoder three hundred and eighty-two questions: reconstruct the forty-two values at the anchor, predict the eighty-four values one and two bins into the future, and recover two hundred and fifty-six of the hidden dots. The score is a Gaussian negative log-likelihood, which rewards the model for being right and for being honest about how sure it is, and the three channel families are weighted differently — one, two and one and a half. The headline term is computed from the thirty-two-number embedding alone, which forces that small vector to carry the useful information rather than letting the decoder cheat by peeking at the raw tokens. Notice that asking for t plus one and t plus two makes forecasting part of pre-training rather than something bolted on later. Finally there is a control we call the snapshot twin: the same model with the history length set to zero, so it sees forty-four tokens and no past at all, yet is still asked for the future. That control answers hypothesis one, which asks whether the embedding actually carries motion — velocity — or only a still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second stage, and its training example is a completely different object from the one we have been describing. A stage-two example is not raw measurements at all: it is a sequence of embeddings, the small thirty-two-number summaries the codec produced. It reads one hundred and forty-four lags, which is two years of five-day bins, taking the embeddings at the anchor’s own column plus an outer spiral of twenty-four cells per lag starting at lag seven. That comes to three thousand four hundred and thirty-two cells per window, against twenty thousand eight hundred and eighty for the older design that read a full cylinder — roughly six times cheaper. The embeddings themselves do come from a materialized cache, seventeen point four gigabytes of them, but the windows are still assembled on the fly. Its boundary rules are stricter in one respect: a window must not touch any held-out bin at all, including the target that each frame is teacher-forced on, meaning the true value fed back in during training. That rule was worked out on paper once and then re-counted by brute force, which cut the usable end-bins from two thousand seven hundred and seventy-nine down to two thousand four hundred and seventeen. It is worth saying plainly that these stage-two boundary rules were the source of the contamination lesson from August 2026, and that the annulus stencil is the one piece of E-069 still unwritten.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two ends of the spectrum, side by side and as fairly as I can put them. Option one is what we do today: nothing is stored per example, so there is no duplication, and an example is a pure function of four things — the fingerprint of the tensor, the geometry version, the anchor’s position in time and space, and the seed used for masking. Boundary handling lives in the sampler and is checked by a certificate that runs before every dispatch, and changing the geometry costs nothing at all because nothing has to be rebuilt. Its real weakness is that you cannot inspect an example without running code, and there is a runtime cost: between zero point two and zero point eight milliseconds per anchor spent gathering on the host, which adds up to roughly an hour of a twenty-thousand-step run and is not currently overlapped with the graphics processor. Option two writes each example out, and the whole pool would be two hundred and fifty-one million examples of nineteen kilobytes each, which is about four point eight terabytes, or seven hundred times the size of the tensor it was derived from; even one run’s stream is about ninety-seven gigabytes. Any change to the geometry or the window means rebuilding all of it, and the boundary flags are baked into the bytes, so a bug in the sampler becomes permanent data rather than something you fix and rerun. To be fair to option two, its virtues are real: sequential reads are fast, boundary handling can live in the pipeline where it is easy to reason about, and examples are files you can simply open and look at. The cost is that your dataset becomes a derived cache of a thirty-six gigabyte source, seven hundred times larger than the source, that must be regenerated every time the recipe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between generating and materializing is a false dichotomy, and this slide is the hinge of the deck. An example is completely determined by four small pieces of information: the sha256 fingerprint of the tensor, the version of the geometry, the anchor’s coordinates in time and space, and the seed used to decide what gets masked. Call those four things the key. Writing the nineteen kilobytes of an example to disk is therefore not creating data — it is caching a function of that key. So if we materialize the key instead, we get the same ability to point at, share and re-open a specific example, at zero storage cost. The one condition is that a tool must exist that turns a key back into exactly the same example, bit for bit, on demand — without that tool the key is just a promise. With it, we can dump an example, look at it, and certify it, which are the three things option two was really buying us. This is not a new discipline for this project: the stage-two embedding cache is already keyed by two hashes at once, and the port of the code to JAX, a numerical computing library, is trusted because it passes gates rather than because anyone re-read the weights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concrete proposal, six pieces, and none of them changes how training works. First, a tool that dumps any example given its key, or given a friendlier address like run number, step and batch index, by replaying the seeded stream; it writes an NPZ file, which is a compressed bundle of numeric arrays, a JSON file — JSON being a plain-text format for structured data — holding the metadata, and a picture, and the app’s Cones tab gains a mode that shows a real example rather than a schematic. Second, a run manifest that records the tensor fingerprint, the geometry fingerprint, the seed and the step count, so that any example ever trained on can be regenerated years later. Third, materialize the evaluation set — the one thousand and twenty-four evaluation anchors and their fixed mask draws — as a versioned file shipped with each run; this is the one place where writing bytes genuinely pays, because it makes results comparable across different hardware backends and lets anyone inspect exactly what was scored. Fourth, an executable boundary specification: property tests that sweep every edge row and column, both ends of the time axis and every held-out year edge, plus the existing certificate extended to evaluation anchors behind a switch whose default is exactly today’s behaviour. Fifth, materialize the observed mask once per tensor as a two point two gigabyte bitmask and precompute the row tables, which removes a double read and part of the per-anchor cost. Sixth, an escape hatch that can write out a run’s exact examples, about ninety-seven gigabytes, for an audit — never for training. All together this is roughly one day of implementation, it changes none of E-069’s numbers, and it turns the evaluation set into a real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asks, for each boundary, where the rule is enforced today, where it would live if we materialized everything, and how we actually know it holds. The time boundary is enforced by the admissibility rule inside the sampler and proven by a certificate over four thousand and ninety-six anchors before every run; under option two it would become a filter that runs when the dataset is built. The window edge is handled by keeping the dot and marking it invalid, with a single key-padding mask doing the work, and it is proven by a test that flips an invalid dot and checks the embedding does not move. Land and never-observed cells become missing tokens at gather time, proven partly by construction and partly by gather tests. The dateline is simply not wrapped today, and the planned global family will wrap it. The ends of the time axis are handled by refusing those cones from every pool rather than padding them. The pattern down the right-hand column is the point of the slide: under option one, every one of those proofs is a test that runs on every dispatch, so a regression shows up the next time you press go. Under option two the proof is a build that ran once, months ago, and the repo’s standing rule is to verify the artefact rather than the intention — a materialized dataset’s flags are exactly an intention frozen at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and they are yours rather than mine. First, do we keep generating examples on the fly, as the proposal recommends, or do we start materializing each run’s stream by default? Second, on evaluation scope: do we keep today’s rule, where only the anchor’s own bin must be held out and its context may straddle into training bins, or do we also measure the stricter variant in which the entire cone must be held out? Third, do we want a small public gallery of real examples — say fifty of them, about one megabyte in total — to sit on the Cones tab and to go into the paper? Fourth, when should this happen: after run five hundred and thirty-seven gives us its reading on hypothesis one, or in parallel with it? The work touches no training code path at all except the evaluation-set file, which is why parallel is realistic. My recommendation is to do it in parallel, keep it small, and measure the strict evaluation variant once, so that the effect of the straddle becomes a number we can quote rather than an assumption we keep repeating.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1051560"/>
            <a:ext cx="11094415" cy="274320"/>
          </a:xfrm>
          <a:prstGeom prst="rect">
            <a:avLst/>
          </a:prstGeom>
          <a:noFill/>
          <a:ln/>
        </p:spPr>
        <p:txBody>
          <a:bodyPr wrap="square" lIns="0" tIns="0" rIns="0" bIns="0" rtlCol="0" anchor="t"/>
          <a:lstStyle/>
          <a:p>
            <a:pPr indent="0" marL="0">
              <a:buNone/>
            </a:pPr>
            <a:r>
              <a:rPr lang="en-US" sz="1200" b="1" spc="200" kern="0" dirty="0">
                <a:solidFill>
                  <a:srgbClr val="4493F8"/>
                </a:solidFill>
                <a:latin typeface="Calibri" pitchFamily="34" charset="0"/>
                <a:ea typeface="Calibri" pitchFamily="34" charset="-122"/>
                <a:cs typeface="Calibri" pitchFamily="34" charset="-120"/>
              </a:rPr>
              <a:t>E-069 · THE CONE-NATIVE CODEC</a:t>
            </a:r>
            <a:endParaRPr lang="en-US" sz="1200" dirty="0"/>
          </a:p>
        </p:txBody>
      </p:sp>
      <p:sp>
        <p:nvSpPr>
          <p:cNvPr id="3" name="Text 1"/>
          <p:cNvSpPr txBox="1"/>
          <p:nvPr/>
        </p:nvSpPr>
        <p:spPr>
          <a:xfrm>
            <a:off x="548640" y="1444752"/>
            <a:ext cx="8778240" cy="713232"/>
          </a:xfrm>
          <a:prstGeom prst="rect">
            <a:avLst/>
          </a:prstGeom>
          <a:noFill/>
          <a:ln/>
        </p:spPr>
        <p:txBody>
          <a:bodyPr wrap="square" lIns="0" tIns="0" rIns="0" bIns="0" rtlCol="0" anchor="t"/>
          <a:lstStyle/>
          <a:p>
            <a:pPr indent="0" marL="0">
              <a:buNone/>
            </a:pPr>
            <a:r>
              <a:rPr lang="en-US" sz="4000" b="1" dirty="0">
                <a:solidFill>
                  <a:srgbClr val="E6EDF3"/>
                </a:solidFill>
                <a:latin typeface="Georgia" pitchFamily="34" charset="0"/>
                <a:ea typeface="Georgia" pitchFamily="34" charset="-122"/>
                <a:cs typeface="Georgia" pitchFamily="34" charset="-120"/>
              </a:rPr>
              <a:t>What is a training example?</a:t>
            </a:r>
            <a:endParaRPr lang="en-US" sz="4000" dirty="0"/>
          </a:p>
        </p:txBody>
      </p:sp>
      <p:sp>
        <p:nvSpPr>
          <p:cNvPr id="4" name="Text 2"/>
          <p:cNvSpPr txBox="1"/>
          <p:nvPr/>
        </p:nvSpPr>
        <p:spPr>
          <a:xfrm>
            <a:off x="548640" y="2267712"/>
            <a:ext cx="8595360" cy="457200"/>
          </a:xfrm>
          <a:prstGeom prst="rect">
            <a:avLst/>
          </a:prstGeom>
          <a:noFill/>
          <a:ln/>
        </p:spPr>
        <p:txBody>
          <a:bodyPr wrap="square" lIns="0" tIns="0" rIns="0" bIns="0" rtlCol="0" anchor="t"/>
          <a:lstStyle/>
          <a:p>
            <a:pPr indent="0" marL="0">
              <a:buNone/>
            </a:pPr>
            <a:r>
              <a:rPr lang="en-US" sz="1700" i="1" dirty="0">
                <a:solidFill>
                  <a:srgbClr val="7D8590"/>
                </a:solidFill>
                <a:latin typeface="Georgia" pitchFamily="34" charset="0"/>
                <a:ea typeface="Georgia" pitchFamily="34" charset="-122"/>
                <a:cs typeface="Georgia" pitchFamily="34" charset="-120"/>
              </a:rPr>
              <a:t>The cone codec’s example, its boundaries, and where it should be materialized.</a:t>
            </a:r>
            <a:endParaRPr lang="en-US" sz="1700" dirty="0"/>
          </a:p>
        </p:txBody>
      </p:sp>
      <p:sp>
        <p:nvSpPr>
          <p:cNvPr id="5" name="Shape 3"/>
          <p:cNvSpPr/>
          <p:nvPr/>
        </p:nvSpPr>
        <p:spPr>
          <a:xfrm>
            <a:off x="548640" y="3127248"/>
            <a:ext cx="7315200" cy="1042416"/>
          </a:xfrm>
          <a:prstGeom prst="roundRect">
            <a:avLst>
              <a:gd name="adj" fmla="val 5263"/>
            </a:avLst>
          </a:prstGeom>
          <a:solidFill>
            <a:srgbClr val="161B22"/>
          </a:solidFill>
          <a:ln w="12700">
            <a:solidFill>
              <a:srgbClr val="30363D"/>
            </a:solidFill>
            <a:prstDash val="solid"/>
          </a:ln>
        </p:spPr>
      </p:sp>
      <p:sp>
        <p:nvSpPr>
          <p:cNvPr id="6" name="Text 4"/>
          <p:cNvSpPr txBox="1"/>
          <p:nvPr/>
        </p:nvSpPr>
        <p:spPr>
          <a:xfrm>
            <a:off x="804672" y="3291840"/>
            <a:ext cx="6803136" cy="786384"/>
          </a:xfrm>
          <a:prstGeom prst="rect">
            <a:avLst/>
          </a:prstGeom>
          <a:noFill/>
          <a:ln/>
        </p:spPr>
        <p:txBody>
          <a:bodyPr wrap="square" lIns="0" tIns="0" rIns="0" bIns="0" rtlCol="0" anchor="t"/>
          <a:lstStyle/>
          <a:p>
            <a:pPr indent="0" marL="0">
              <a:lnSpc>
                <a:spcPts val="2000"/>
              </a:lnSpc>
              <a:buNone/>
            </a:pPr>
            <a:r>
              <a:rPr lang="en-US" sz="1400" b="1" dirty="0">
                <a:solidFill>
                  <a:srgbClr val="4493F8"/>
                </a:solidFill>
                <a:latin typeface="Calibri" pitchFamily="34" charset="0"/>
                <a:ea typeface="Calibri" pitchFamily="34" charset="-122"/>
                <a:cs typeface="Calibri" pitchFamily="34" charset="-120"/>
              </a:rPr>
              <a:t>E-069</a:t>
            </a:r>
            <a:pPr indent="0" marL="0">
              <a:lnSpc>
                <a:spcPts val="2000"/>
              </a:lnSpc>
              <a:buNone/>
            </a:pPr>
            <a:r>
              <a:rPr lang="en-US" sz="1400" dirty="0">
                <a:solidFill>
                  <a:srgbClr val="E6EDF3"/>
                </a:solidFill>
                <a:latin typeface="Calibri" pitchFamily="34" charset="0"/>
                <a:ea typeface="Calibri" pitchFamily="34" charset="-122"/>
                <a:cs typeface="Calibri" pitchFamily="34" charset="-120"/>
              </a:rPr>
              <a:t> — the cone-native codec: an encoder that reads 30 days of nearby history around one ocean cell, so that motion can live inside the embedding.</a:t>
            </a:r>
            <a:endParaRPr lang="en-US" sz="1400" dirty="0"/>
          </a:p>
        </p:txBody>
      </p:sp>
      <p:sp>
        <p:nvSpPr>
          <p:cNvPr id="7" name="Text 5"/>
          <p:cNvSpPr txBox="1"/>
          <p:nvPr/>
        </p:nvSpPr>
        <p:spPr>
          <a:xfrm>
            <a:off x="548640" y="4617720"/>
            <a:ext cx="4572000" cy="274320"/>
          </a:xfrm>
          <a:prstGeom prst="rect">
            <a:avLst/>
          </a:prstGeom>
          <a:noFill/>
          <a:ln/>
        </p:spPr>
        <p:txBody>
          <a:bodyPr wrap="square" lIns="0" tIns="0" rIns="0" bIns="0" rtlCol="0" anchor="t"/>
          <a:lstStyle/>
          <a:p>
            <a:pPr indent="0" marL="0">
              <a:buNone/>
            </a:pPr>
            <a:r>
              <a:rPr lang="en-US" sz="1300" dirty="0">
                <a:solidFill>
                  <a:srgbClr val="7D8590"/>
                </a:solidFill>
                <a:latin typeface="Calibri" pitchFamily="34" charset="0"/>
                <a:ea typeface="Calibri" pitchFamily="34" charset="-122"/>
                <a:cs typeface="Calibri" pitchFamily="34" charset="-120"/>
              </a:rPr>
              <a:t>2026-09-03</a:t>
            </a:r>
            <a:endParaRPr lang="en-US" sz="1300" dirty="0"/>
          </a:p>
        </p:txBody>
      </p:sp>
      <p:sp>
        <p:nvSpPr>
          <p:cNvPr id="8" name="Text 6"/>
          <p:cNvSpPr txBox="1"/>
          <p:nvPr/>
        </p:nvSpPr>
        <p:spPr>
          <a:xfrm>
            <a:off x="548640" y="5074920"/>
            <a:ext cx="7315200" cy="1005840"/>
          </a:xfrm>
          <a:prstGeom prst="rect">
            <a:avLst/>
          </a:prstGeom>
          <a:noFill/>
          <a:ln/>
        </p:spPr>
        <p:txBody>
          <a:bodyPr wrap="square" lIns="0" tIns="0" rIns="0" bIns="0" rtlCol="0" anchor="t"/>
          <a:lstStyle/>
          <a:p>
            <a:pPr indent="0" marL="0">
              <a:lnSpc>
                <a:spcPts val="1900"/>
              </a:lnSpc>
              <a:buNone/>
            </a:pPr>
            <a:r>
              <a:rPr lang="en-US" sz="1200" b="1" dirty="0">
                <a:solidFill>
                  <a:srgbClr val="E3B341"/>
                </a:solidFill>
                <a:latin typeface="Calibri" pitchFamily="34" charset="0"/>
                <a:ea typeface="Calibri" pitchFamily="34" charset="-122"/>
                <a:cs typeface="Calibri" pitchFamily="34" charset="-120"/>
              </a:rPr>
              <a:t>Proposal in one line
</a:t>
            </a:r>
            <a:pPr indent="0" marL="0">
              <a:lnSpc>
                <a:spcPts val="1900"/>
              </a:lnSpc>
              <a:buNone/>
            </a:pPr>
            <a:r>
              <a:rPr lang="en-US" sz="1300" dirty="0">
                <a:solidFill>
                  <a:srgbClr val="E6EDF3"/>
                </a:solidFill>
                <a:latin typeface="Calibri" pitchFamily="34" charset="0"/>
                <a:ea typeface="Calibri" pitchFamily="34" charset="-122"/>
                <a:cs typeface="Calibri" pitchFamily="34" charset="-120"/>
              </a:rPr>
              <a:t>Keep generating examples on the fly — but make every example addressable, dumpable and certifiable. Materialize the keys and the evaluation set, not the bytes.</a:t>
            </a:r>
            <a:endParaRPr lang="en-US" sz="1200" dirty="0"/>
          </a:p>
        </p:txBody>
      </p:sp>
      <p:sp>
        <p:nvSpPr>
          <p:cNvPr id="9" name="Shape 7"/>
          <p:cNvSpPr/>
          <p:nvPr/>
        </p:nvSpPr>
        <p:spPr>
          <a:xfrm>
            <a:off x="9582912" y="2404872"/>
            <a:ext cx="1591056" cy="1591056"/>
          </a:xfrm>
          <a:prstGeom prst="ellipse">
            <a:avLst/>
          </a:prstGeom>
          <a:solidFill>
            <a:srgbClr val="E8E252">
              <a:alpha val="22000"/>
            </a:srgbClr>
          </a:solidFill>
          <a:ln w="12700">
            <a:solidFill>
              <a:srgbClr val="E8E252">
                <a:alpha val="65000"/>
              </a:srgbClr>
            </a:solidFill>
            <a:prstDash val="solid"/>
          </a:ln>
        </p:spPr>
      </p:sp>
      <p:sp>
        <p:nvSpPr>
          <p:cNvPr id="10" name="Shape 8"/>
          <p:cNvSpPr/>
          <p:nvPr/>
        </p:nvSpPr>
        <p:spPr>
          <a:xfrm>
            <a:off x="9692640" y="2898648"/>
            <a:ext cx="1371600" cy="1371600"/>
          </a:xfrm>
          <a:prstGeom prst="ellipse">
            <a:avLst/>
          </a:prstGeom>
          <a:solidFill>
            <a:srgbClr val="D5DE6B">
              <a:alpha val="22000"/>
            </a:srgbClr>
          </a:solidFill>
          <a:ln w="12700">
            <a:solidFill>
              <a:srgbClr val="D5DE6B">
                <a:alpha val="65000"/>
              </a:srgbClr>
            </a:solidFill>
            <a:prstDash val="solid"/>
          </a:ln>
        </p:spPr>
      </p:sp>
      <p:sp>
        <p:nvSpPr>
          <p:cNvPr id="11" name="Shape 9"/>
          <p:cNvSpPr/>
          <p:nvPr/>
        </p:nvSpPr>
        <p:spPr>
          <a:xfrm>
            <a:off x="9802368" y="3392424"/>
            <a:ext cx="1152144" cy="1152144"/>
          </a:xfrm>
          <a:prstGeom prst="ellipse">
            <a:avLst/>
          </a:prstGeom>
          <a:solidFill>
            <a:srgbClr val="BAD78C">
              <a:alpha val="22000"/>
            </a:srgbClr>
          </a:solidFill>
          <a:ln w="12700">
            <a:solidFill>
              <a:srgbClr val="BAD78C">
                <a:alpha val="65000"/>
              </a:srgbClr>
            </a:solidFill>
            <a:prstDash val="solid"/>
          </a:ln>
        </p:spPr>
      </p:sp>
      <p:sp>
        <p:nvSpPr>
          <p:cNvPr id="12" name="Shape 10"/>
          <p:cNvSpPr/>
          <p:nvPr/>
        </p:nvSpPr>
        <p:spPr>
          <a:xfrm>
            <a:off x="9912096" y="3886200"/>
            <a:ext cx="932688" cy="932688"/>
          </a:xfrm>
          <a:prstGeom prst="ellipse">
            <a:avLst/>
          </a:prstGeom>
          <a:solidFill>
            <a:srgbClr val="9ACBB0">
              <a:alpha val="22000"/>
            </a:srgbClr>
          </a:solidFill>
          <a:ln w="12700">
            <a:solidFill>
              <a:srgbClr val="9ACBB0">
                <a:alpha val="65000"/>
              </a:srgbClr>
            </a:solidFill>
            <a:prstDash val="solid"/>
          </a:ln>
        </p:spPr>
      </p:sp>
      <p:sp>
        <p:nvSpPr>
          <p:cNvPr id="13" name="Shape 11"/>
          <p:cNvSpPr/>
          <p:nvPr/>
        </p:nvSpPr>
        <p:spPr>
          <a:xfrm>
            <a:off x="10021824" y="4379976"/>
            <a:ext cx="713232" cy="713232"/>
          </a:xfrm>
          <a:prstGeom prst="ellipse">
            <a:avLst/>
          </a:prstGeom>
          <a:solidFill>
            <a:srgbClr val="79BBD2">
              <a:alpha val="22000"/>
            </a:srgbClr>
          </a:solidFill>
          <a:ln w="12700">
            <a:solidFill>
              <a:srgbClr val="79BBD2">
                <a:alpha val="65000"/>
              </a:srgbClr>
            </a:solidFill>
            <a:prstDash val="solid"/>
          </a:ln>
        </p:spPr>
      </p:sp>
      <p:sp>
        <p:nvSpPr>
          <p:cNvPr id="14" name="Shape 12"/>
          <p:cNvSpPr/>
          <p:nvPr/>
        </p:nvSpPr>
        <p:spPr>
          <a:xfrm>
            <a:off x="10131552" y="4873752"/>
            <a:ext cx="493776" cy="493776"/>
          </a:xfrm>
          <a:prstGeom prst="ellipse">
            <a:avLst/>
          </a:prstGeom>
          <a:solidFill>
            <a:srgbClr val="5AA8E8">
              <a:alpha val="22000"/>
            </a:srgbClr>
          </a:solidFill>
          <a:ln w="12700">
            <a:solidFill>
              <a:srgbClr val="5AA8E8">
                <a:alpha val="65000"/>
              </a:srgbClr>
            </a:solidFill>
            <a:prstDash val="solid"/>
          </a:ln>
        </p:spPr>
      </p:sp>
      <p:sp>
        <p:nvSpPr>
          <p:cNvPr id="15" name="Shape 13"/>
          <p:cNvSpPr/>
          <p:nvPr/>
        </p:nvSpPr>
        <p:spPr>
          <a:xfrm>
            <a:off x="10241280" y="5367528"/>
            <a:ext cx="274320" cy="274320"/>
          </a:xfrm>
          <a:prstGeom prst="ellipse">
            <a:avLst/>
          </a:prstGeom>
          <a:solidFill>
            <a:srgbClr val="4493F8">
              <a:alpha val="22000"/>
            </a:srgbClr>
          </a:solidFill>
          <a:ln w="12700">
            <a:solidFill>
              <a:srgbClr val="4493F8">
                <a:alpha val="65000"/>
              </a:srgbClr>
            </a:solidFill>
            <a:prstDash val="solid"/>
          </a:ln>
        </p:spPr>
      </p:sp>
      <p:sp>
        <p:nvSpPr>
          <p:cNvPr id="16" name="Shape 14"/>
          <p:cNvSpPr/>
          <p:nvPr/>
        </p:nvSpPr>
        <p:spPr>
          <a:xfrm>
            <a:off x="10296144" y="5422392"/>
            <a:ext cx="164592" cy="164592"/>
          </a:xfrm>
          <a:prstGeom prst="ellipse">
            <a:avLst/>
          </a:prstGeom>
          <a:solidFill>
            <a:srgbClr val="F85149"/>
          </a:solidFill>
          <a:ln w="12700">
            <a:solidFill>
              <a:srgbClr val="F85149"/>
            </a:solidFill>
            <a:prstDash val="solid"/>
          </a:ln>
        </p:spPr>
      </p:sp>
      <p:sp>
        <p:nvSpPr>
          <p:cNvPr id="17" name="Text 15"/>
          <p:cNvSpPr txBox="1"/>
          <p:nvPr/>
        </p:nvSpPr>
        <p:spPr>
          <a:xfrm>
            <a:off x="9372600" y="5669280"/>
            <a:ext cx="2011680" cy="237744"/>
          </a:xfrm>
          <a:prstGeom prst="rect">
            <a:avLst/>
          </a:prstGeom>
          <a:noFill/>
          <a:ln/>
        </p:spPr>
        <p:txBody>
          <a:bodyPr wrap="square" lIns="0" tIns="0" rIns="0" bIns="0" rtlCol="0" anchor="t"/>
          <a:lstStyle/>
          <a:p>
            <a:pPr algn="ctr" indent="0" marL="0">
              <a:buNone/>
            </a:pPr>
            <a:r>
              <a:rPr lang="en-US" sz="1100" dirty="0">
                <a:solidFill>
                  <a:srgbClr val="7D8590"/>
                </a:solidFill>
                <a:latin typeface="Calibri" pitchFamily="34" charset="0"/>
                <a:ea typeface="Calibri" pitchFamily="34" charset="-122"/>
                <a:cs typeface="Calibri" pitchFamily="34" charset="-120"/>
              </a:rPr>
              <a:t>one anchor</a:t>
            </a:r>
            <a:endParaRPr lang="en-US" sz="1100" dirty="0"/>
          </a:p>
        </p:txBody>
      </p:sp>
      <p:sp>
        <p:nvSpPr>
          <p:cNvPr id="18" name="Text 16"/>
          <p:cNvSpPr txBox="1"/>
          <p:nvPr/>
        </p:nvSpPr>
        <p:spPr>
          <a:xfrm>
            <a:off x="9098280" y="2103120"/>
            <a:ext cx="2560320" cy="548640"/>
          </a:xfrm>
          <a:prstGeom prst="rect">
            <a:avLst/>
          </a:prstGeom>
          <a:noFill/>
          <a:ln/>
        </p:spPr>
        <p:txBody>
          <a:bodyPr wrap="square" lIns="0" tIns="0" rIns="0" bIns="0" rtlCol="0" anchor="t"/>
          <a:lstStyle/>
          <a:p>
            <a:pPr algn="ctr" indent="0" marL="0">
              <a:lnSpc>
                <a:spcPts val="1400"/>
              </a:lnSpc>
              <a:buNone/>
            </a:pPr>
            <a:r>
              <a:rPr lang="en-US" sz="1100" dirty="0">
                <a:solidFill>
                  <a:srgbClr val="7D8590"/>
                </a:solidFill>
                <a:latin typeface="Calibri" pitchFamily="34" charset="0"/>
                <a:ea typeface="Calibri" pitchFamily="34" charset="-122"/>
                <a:cs typeface="Calibri" pitchFamily="34" charset="-120"/>
              </a:rPr>
              <a:t>30 days of</a:t>
            </a:r>
            <a:endParaRPr lang="en-US" sz="1100" dirty="0"/>
          </a:p>
          <a:p>
            <a:pPr algn="ctr" indent="0" marL="0">
              <a:lnSpc>
                <a:spcPts val="1400"/>
              </a:lnSpc>
              <a:buNone/>
            </a:pPr>
            <a:r>
              <a:rPr lang="en-US" sz="1100" dirty="0">
                <a:solidFill>
                  <a:srgbClr val="7D8590"/>
                </a:solidFill>
                <a:latin typeface="Calibri" pitchFamily="34" charset="0"/>
                <a:ea typeface="Calibri" pitchFamily="34" charset="-122"/>
                <a:cs typeface="Calibri" pitchFamily="34" charset="-120"/>
              </a:rPr>
              <a:t>nearby history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THE ONE-SENTENCE ANSWER</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One anchor, plus everything around it</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548640" y="1353312"/>
            <a:ext cx="11094415" cy="365760"/>
          </a:xfrm>
          <a:prstGeom prst="rect">
            <a:avLst/>
          </a:prstGeom>
          <a:noFill/>
          <a:ln/>
        </p:spPr>
        <p:txBody>
          <a:bodyPr wrap="square" lIns="0" tIns="0" rIns="0" bIns="0" rtlCol="0" anchor="t"/>
          <a:lstStyle/>
          <a:p>
            <a:pPr indent="0" marL="0">
              <a:buNone/>
            </a:pPr>
            <a:r>
              <a:rPr lang="en-US" sz="1600" dirty="0">
                <a:solidFill>
                  <a:srgbClr val="E6EDF3"/>
                </a:solidFill>
                <a:latin typeface="Calibri" pitchFamily="34" charset="0"/>
                <a:ea typeface="Calibri" pitchFamily="34" charset="-122"/>
                <a:cs typeface="Calibri" pitchFamily="34" charset="-120"/>
              </a:rPr>
              <a:t>A training example is </a:t>
            </a:r>
            <a:pPr indent="0" marL="0">
              <a:buNone/>
            </a:pPr>
            <a:r>
              <a:rPr lang="en-US" sz="1600" b="1" dirty="0">
                <a:solidFill>
                  <a:srgbClr val="F85149"/>
                </a:solidFill>
                <a:latin typeface="Calibri" pitchFamily="34" charset="0"/>
                <a:ea typeface="Calibri" pitchFamily="34" charset="-122"/>
                <a:cs typeface="Calibri" pitchFamily="34" charset="-120"/>
              </a:rPr>
              <a:t>one anchor</a:t>
            </a:r>
            <a:pPr indent="0" marL="0">
              <a:buNone/>
            </a:pPr>
            <a:r>
              <a:rPr lang="en-US" sz="1600" dirty="0">
                <a:solidFill>
                  <a:srgbClr val="E6EDF3"/>
                </a:solidFill>
                <a:latin typeface="Calibri" pitchFamily="34" charset="0"/>
                <a:ea typeface="Calibri" pitchFamily="34" charset="-122"/>
                <a:cs typeface="Calibri" pitchFamily="34" charset="-120"/>
              </a:rPr>
              <a:t> — one ocean cell and one 5-day bin — together with the cone of history that surrounds it.</a:t>
            </a:r>
            <a:endParaRPr lang="en-US" sz="1600" dirty="0"/>
          </a:p>
        </p:txBody>
      </p:sp>
      <p:sp>
        <p:nvSpPr>
          <p:cNvPr id="7" name="Shape 5"/>
          <p:cNvSpPr/>
          <p:nvPr/>
        </p:nvSpPr>
        <p:spPr>
          <a:xfrm>
            <a:off x="548640" y="1920240"/>
            <a:ext cx="2587752" cy="1874520"/>
          </a:xfrm>
          <a:prstGeom prst="roundRect">
            <a:avLst>
              <a:gd name="adj" fmla="val 2927"/>
            </a:avLst>
          </a:prstGeom>
          <a:solidFill>
            <a:srgbClr val="161B22"/>
          </a:solidFill>
          <a:ln w="12700">
            <a:solidFill>
              <a:srgbClr val="30363D"/>
            </a:solidFill>
            <a:prstDash val="solid"/>
          </a:ln>
        </p:spPr>
      </p:sp>
      <p:sp>
        <p:nvSpPr>
          <p:cNvPr id="8" name="Text 6"/>
          <p:cNvSpPr txBox="1"/>
          <p:nvPr/>
        </p:nvSpPr>
        <p:spPr>
          <a:xfrm>
            <a:off x="749808" y="2084832"/>
            <a:ext cx="2185416" cy="566928"/>
          </a:xfrm>
          <a:prstGeom prst="rect">
            <a:avLst/>
          </a:prstGeom>
          <a:noFill/>
          <a:ln/>
        </p:spPr>
        <p:txBody>
          <a:bodyPr wrap="square" lIns="0" tIns="0" rIns="0" bIns="0" rtlCol="0" anchor="t"/>
          <a:lstStyle/>
          <a:p>
            <a:pPr indent="0" marL="0">
              <a:buNone/>
            </a:pPr>
            <a:r>
              <a:rPr lang="en-US" sz="3200" b="1" dirty="0">
                <a:solidFill>
                  <a:srgbClr val="4493F8"/>
                </a:solidFill>
                <a:latin typeface="Georgia" pitchFamily="34" charset="0"/>
                <a:ea typeface="Georgia" pitchFamily="34" charset="-122"/>
                <a:cs typeface="Georgia" pitchFamily="34" charset="-120"/>
              </a:rPr>
              <a:t>42</a:t>
            </a:r>
            <a:endParaRPr lang="en-US" sz="3200" dirty="0"/>
          </a:p>
        </p:txBody>
      </p:sp>
      <p:sp>
        <p:nvSpPr>
          <p:cNvPr id="9" name="Text 7"/>
          <p:cNvSpPr txBox="1"/>
          <p:nvPr/>
        </p:nvSpPr>
        <p:spPr>
          <a:xfrm>
            <a:off x="749808" y="2670048"/>
            <a:ext cx="2185416"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patch tokens</a:t>
            </a:r>
            <a:endParaRPr lang="en-US" sz="1300" dirty="0"/>
          </a:p>
        </p:txBody>
      </p:sp>
      <p:sp>
        <p:nvSpPr>
          <p:cNvPr id="10" name="Text 8"/>
          <p:cNvSpPr txBox="1"/>
          <p:nvPr/>
        </p:nvSpPr>
        <p:spPr>
          <a:xfrm>
            <a:off x="749808" y="2962656"/>
            <a:ext cx="2185416" cy="731520"/>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the 3×3 neighbourhood at lag 0, one per channel</a:t>
            </a:r>
            <a:endParaRPr lang="en-US" sz="1150" dirty="0"/>
          </a:p>
        </p:txBody>
      </p:sp>
      <p:sp>
        <p:nvSpPr>
          <p:cNvPr id="11" name="Shape 9"/>
          <p:cNvSpPr/>
          <p:nvPr/>
        </p:nvSpPr>
        <p:spPr>
          <a:xfrm>
            <a:off x="3383280" y="1920240"/>
            <a:ext cx="2587752" cy="1874520"/>
          </a:xfrm>
          <a:prstGeom prst="roundRect">
            <a:avLst>
              <a:gd name="adj" fmla="val 2927"/>
            </a:avLst>
          </a:prstGeom>
          <a:solidFill>
            <a:srgbClr val="161B22"/>
          </a:solidFill>
          <a:ln w="12700">
            <a:solidFill>
              <a:srgbClr val="30363D"/>
            </a:solidFill>
            <a:prstDash val="solid"/>
          </a:ln>
        </p:spPr>
      </p:sp>
      <p:sp>
        <p:nvSpPr>
          <p:cNvPr id="12" name="Text 10"/>
          <p:cNvSpPr txBox="1"/>
          <p:nvPr/>
        </p:nvSpPr>
        <p:spPr>
          <a:xfrm>
            <a:off x="3584448" y="2084832"/>
            <a:ext cx="2185416" cy="566928"/>
          </a:xfrm>
          <a:prstGeom prst="rect">
            <a:avLst/>
          </a:prstGeom>
          <a:noFill/>
          <a:ln/>
        </p:spPr>
        <p:txBody>
          <a:bodyPr wrap="square" lIns="0" tIns="0" rIns="0" bIns="0" rtlCol="0" anchor="t"/>
          <a:lstStyle/>
          <a:p>
            <a:pPr indent="0" marL="0">
              <a:buNone/>
            </a:pPr>
            <a:r>
              <a:rPr lang="en-US" sz="3200" b="1" dirty="0">
                <a:solidFill>
                  <a:srgbClr val="4493F8"/>
                </a:solidFill>
                <a:latin typeface="Georgia" pitchFamily="34" charset="0"/>
                <a:ea typeface="Georgia" pitchFamily="34" charset="-122"/>
                <a:cs typeface="Georgia" pitchFamily="34" charset="-120"/>
              </a:rPr>
              <a:t>706</a:t>
            </a:r>
            <a:endParaRPr lang="en-US" sz="3200" dirty="0"/>
          </a:p>
        </p:txBody>
      </p:sp>
      <p:sp>
        <p:nvSpPr>
          <p:cNvPr id="13" name="Text 11"/>
          <p:cNvSpPr txBox="1"/>
          <p:nvPr/>
        </p:nvSpPr>
        <p:spPr>
          <a:xfrm>
            <a:off x="3584448" y="2670048"/>
            <a:ext cx="2185416"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dot tokens</a:t>
            </a:r>
            <a:endParaRPr lang="en-US" sz="1300" dirty="0"/>
          </a:p>
        </p:txBody>
      </p:sp>
      <p:sp>
        <p:nvSpPr>
          <p:cNvPr id="14" name="Text 12"/>
          <p:cNvSpPr txBox="1"/>
          <p:nvPr/>
        </p:nvSpPr>
        <p:spPr>
          <a:xfrm>
            <a:off x="3584448" y="2962656"/>
            <a:ext cx="2185416" cy="731520"/>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single values at (channel, lag 1–6, offset) inside the inner cone</a:t>
            </a:r>
            <a:endParaRPr lang="en-US" sz="1150" dirty="0"/>
          </a:p>
        </p:txBody>
      </p:sp>
      <p:sp>
        <p:nvSpPr>
          <p:cNvPr id="15" name="Shape 13"/>
          <p:cNvSpPr/>
          <p:nvPr/>
        </p:nvSpPr>
        <p:spPr>
          <a:xfrm>
            <a:off x="6217920" y="1920240"/>
            <a:ext cx="2587752" cy="1874520"/>
          </a:xfrm>
          <a:prstGeom prst="roundRect">
            <a:avLst>
              <a:gd name="adj" fmla="val 2927"/>
            </a:avLst>
          </a:prstGeom>
          <a:solidFill>
            <a:srgbClr val="161B22"/>
          </a:solidFill>
          <a:ln w="12700">
            <a:solidFill>
              <a:srgbClr val="30363D"/>
            </a:solidFill>
            <a:prstDash val="solid"/>
          </a:ln>
        </p:spPr>
      </p:sp>
      <p:sp>
        <p:nvSpPr>
          <p:cNvPr id="16" name="Text 14"/>
          <p:cNvSpPr txBox="1"/>
          <p:nvPr/>
        </p:nvSpPr>
        <p:spPr>
          <a:xfrm>
            <a:off x="6419088" y="2084832"/>
            <a:ext cx="2185416" cy="566928"/>
          </a:xfrm>
          <a:prstGeom prst="rect">
            <a:avLst/>
          </a:prstGeom>
          <a:noFill/>
          <a:ln/>
        </p:spPr>
        <p:txBody>
          <a:bodyPr wrap="square" lIns="0" tIns="0" rIns="0" bIns="0" rtlCol="0" anchor="t"/>
          <a:lstStyle/>
          <a:p>
            <a:pPr indent="0" marL="0">
              <a:buNone/>
            </a:pPr>
            <a:r>
              <a:rPr lang="en-US" sz="3200" b="1" dirty="0">
                <a:solidFill>
                  <a:srgbClr val="F85149"/>
                </a:solidFill>
                <a:latin typeface="Georgia" pitchFamily="34" charset="0"/>
                <a:ea typeface="Georgia" pitchFamily="34" charset="-122"/>
                <a:cs typeface="Georgia" pitchFamily="34" charset="-120"/>
              </a:rPr>
              <a:t>42 + 84</a:t>
            </a:r>
            <a:endParaRPr lang="en-US" sz="3200" dirty="0"/>
          </a:p>
        </p:txBody>
      </p:sp>
      <p:sp>
        <p:nvSpPr>
          <p:cNvPr id="17" name="Text 15"/>
          <p:cNvSpPr txBox="1"/>
          <p:nvPr/>
        </p:nvSpPr>
        <p:spPr>
          <a:xfrm>
            <a:off x="6419088" y="2670048"/>
            <a:ext cx="2185416"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targets</a:t>
            </a:r>
            <a:endParaRPr lang="en-US" sz="1300" dirty="0"/>
          </a:p>
        </p:txBody>
      </p:sp>
      <p:sp>
        <p:nvSpPr>
          <p:cNvPr id="18" name="Text 16"/>
          <p:cNvSpPr txBox="1"/>
          <p:nvPr/>
        </p:nvSpPr>
        <p:spPr>
          <a:xfrm>
            <a:off x="6419088" y="2962656"/>
            <a:ext cx="2185416" cy="731520"/>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the anchor’s own values now, and at t+1 and t+2</a:t>
            </a:r>
            <a:endParaRPr lang="en-US" sz="1150" dirty="0"/>
          </a:p>
        </p:txBody>
      </p:sp>
      <p:sp>
        <p:nvSpPr>
          <p:cNvPr id="19" name="Shape 17"/>
          <p:cNvSpPr/>
          <p:nvPr/>
        </p:nvSpPr>
        <p:spPr>
          <a:xfrm>
            <a:off x="9052560" y="1920240"/>
            <a:ext cx="2587752" cy="1874520"/>
          </a:xfrm>
          <a:prstGeom prst="roundRect">
            <a:avLst>
              <a:gd name="adj" fmla="val 2927"/>
            </a:avLst>
          </a:prstGeom>
          <a:solidFill>
            <a:srgbClr val="161B22"/>
          </a:solidFill>
          <a:ln w="12700">
            <a:solidFill>
              <a:srgbClr val="30363D"/>
            </a:solidFill>
            <a:prstDash val="solid"/>
          </a:ln>
        </p:spPr>
      </p:sp>
      <p:sp>
        <p:nvSpPr>
          <p:cNvPr id="20" name="Text 18"/>
          <p:cNvSpPr txBox="1"/>
          <p:nvPr/>
        </p:nvSpPr>
        <p:spPr>
          <a:xfrm>
            <a:off x="9253728" y="2084832"/>
            <a:ext cx="2185416" cy="566928"/>
          </a:xfrm>
          <a:prstGeom prst="rect">
            <a:avLst/>
          </a:prstGeom>
          <a:noFill/>
          <a:ln/>
        </p:spPr>
        <p:txBody>
          <a:bodyPr wrap="square" lIns="0" tIns="0" rIns="0" bIns="0" rtlCol="0" anchor="t"/>
          <a:lstStyle/>
          <a:p>
            <a:pPr indent="0" marL="0">
              <a:buNone/>
            </a:pPr>
            <a:r>
              <a:rPr lang="en-US" sz="3200" b="1" dirty="0">
                <a:solidFill>
                  <a:srgbClr val="7D8590"/>
                </a:solidFill>
                <a:latin typeface="Georgia" pitchFamily="34" charset="0"/>
                <a:ea typeface="Georgia" pitchFamily="34" charset="-122"/>
                <a:cs typeface="Georgia" pitchFamily="34" charset="-120"/>
              </a:rPr>
              <a:t>4</a:t>
            </a:r>
            <a:endParaRPr lang="en-US" sz="3200" dirty="0"/>
          </a:p>
        </p:txBody>
      </p:sp>
      <p:sp>
        <p:nvSpPr>
          <p:cNvPr id="21" name="Text 19"/>
          <p:cNvSpPr txBox="1"/>
          <p:nvPr/>
        </p:nvSpPr>
        <p:spPr>
          <a:xfrm>
            <a:off x="9253728" y="2670048"/>
            <a:ext cx="2185416"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context numbers</a:t>
            </a:r>
            <a:endParaRPr lang="en-US" sz="1300" dirty="0"/>
          </a:p>
        </p:txBody>
      </p:sp>
      <p:sp>
        <p:nvSpPr>
          <p:cNvPr id="22" name="Text 20"/>
          <p:cNvSpPr txBox="1"/>
          <p:nvPr/>
        </p:nvSpPr>
        <p:spPr>
          <a:xfrm>
            <a:off x="9253728" y="2962656"/>
            <a:ext cx="2185416" cy="731520"/>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season (sin/cos of day-of-year), latitude, longitude</a:t>
            </a:r>
            <a:endParaRPr lang="en-US" sz="1150" dirty="0"/>
          </a:p>
        </p:txBody>
      </p:sp>
      <p:sp>
        <p:nvSpPr>
          <p:cNvPr id="23" name="Shape 21"/>
          <p:cNvSpPr/>
          <p:nvPr/>
        </p:nvSpPr>
        <p:spPr>
          <a:xfrm>
            <a:off x="548640" y="4069080"/>
            <a:ext cx="11094415" cy="1170432"/>
          </a:xfrm>
          <a:prstGeom prst="roundRect">
            <a:avLst>
              <a:gd name="adj" fmla="val 4688"/>
            </a:avLst>
          </a:prstGeom>
          <a:solidFill>
            <a:srgbClr val="11202F"/>
          </a:solidFill>
          <a:ln w="12700">
            <a:solidFill>
              <a:srgbClr val="4493F8"/>
            </a:solidFill>
            <a:prstDash val="solid"/>
          </a:ln>
        </p:spPr>
      </p:sp>
      <p:sp>
        <p:nvSpPr>
          <p:cNvPr id="24" name="Text 22"/>
          <p:cNvSpPr txBox="1"/>
          <p:nvPr/>
        </p:nvSpPr>
        <p:spPr>
          <a:xfrm>
            <a:off x="841248" y="4224528"/>
            <a:ext cx="4572000" cy="457200"/>
          </a:xfrm>
          <a:prstGeom prst="rect">
            <a:avLst/>
          </a:prstGeom>
          <a:noFill/>
          <a:ln/>
        </p:spPr>
        <p:txBody>
          <a:bodyPr wrap="square" lIns="0" tIns="0" rIns="0" bIns="0" rtlCol="0" anchor="t"/>
          <a:lstStyle/>
          <a:p>
            <a:pPr indent="0" marL="0">
              <a:buNone/>
            </a:pPr>
            <a:r>
              <a:rPr lang="en-US" sz="2600" b="1" dirty="0">
                <a:solidFill>
                  <a:srgbClr val="4493F8"/>
                </a:solidFill>
                <a:latin typeface="Georgia" pitchFamily="34" charset="0"/>
                <a:ea typeface="Georgia" pitchFamily="34" charset="-122"/>
                <a:cs typeface="Georgia" pitchFamily="34" charset="-120"/>
              </a:rPr>
              <a:t>6,579 numbers ≈ 19 KB</a:t>
            </a:r>
            <a:endParaRPr lang="en-US" sz="2600" dirty="0"/>
          </a:p>
        </p:txBody>
      </p:sp>
      <p:sp>
        <p:nvSpPr>
          <p:cNvPr id="25" name="Text 23"/>
          <p:cNvSpPr txBox="1"/>
          <p:nvPr/>
        </p:nvSpPr>
        <p:spPr>
          <a:xfrm>
            <a:off x="841248" y="4700016"/>
            <a:ext cx="10424160" cy="411480"/>
          </a:xfrm>
          <a:prstGeom prst="rect">
            <a:avLst/>
          </a:prstGeom>
          <a:noFill/>
          <a:ln/>
        </p:spPr>
        <p:txBody>
          <a:bodyPr wrap="square" lIns="0" tIns="0" rIns="0" bIns="0" rtlCol="0" anchor="t"/>
          <a:lstStyle/>
          <a:p>
            <a:pPr indent="0" marL="0">
              <a:buNone/>
            </a:pPr>
            <a:r>
              <a:rPr lang="en-US" sz="1400" dirty="0">
                <a:solidFill>
                  <a:srgbClr val="E6EDF3"/>
                </a:solidFill>
                <a:latin typeface="Calibri" pitchFamily="34" charset="0"/>
                <a:ea typeface="Calibri" pitchFamily="34" charset="-122"/>
                <a:cs typeface="Calibri" pitchFamily="34" charset="-120"/>
              </a:rPr>
              <a:t>Nothing is stored per example: it is gathered by index from the 36 GB tensor at batch time.</a:t>
            </a:r>
            <a:endParaRPr lang="en-US" sz="1400" dirty="0"/>
          </a:p>
        </p:txBody>
      </p:sp>
      <p:sp>
        <p:nvSpPr>
          <p:cNvPr id="26" name="Text 24"/>
          <p:cNvSpPr txBox="1"/>
          <p:nvPr/>
        </p:nvSpPr>
        <p:spPr>
          <a:xfrm>
            <a:off x="548640" y="5440680"/>
            <a:ext cx="11094415" cy="320040"/>
          </a:xfrm>
          <a:prstGeom prst="rect">
            <a:avLst/>
          </a:prstGeom>
          <a:noFill/>
          <a:ln/>
        </p:spPr>
        <p:txBody>
          <a:bodyPr wrap="square" lIns="0" tIns="0" rIns="0" bIns="0" rtlCol="0" anchor="t"/>
          <a:lstStyle/>
          <a:p>
            <a:pPr indent="0" marL="0">
              <a:buNone/>
            </a:pPr>
            <a:r>
              <a:rPr lang="en-US" sz="1250" i="1" dirty="0">
                <a:solidFill>
                  <a:srgbClr val="7D8590"/>
                </a:solidFill>
                <a:latin typeface="Calibri" pitchFamily="34" charset="0"/>
                <a:ea typeface="Calibri" pitchFamily="34" charset="-122"/>
                <a:cs typeface="Calibri" pitchFamily="34" charset="-120"/>
              </a:rPr>
              <a:t>750 tokens enter attention (two bookkeeping tokens + 42 + 706) · a batch of 256 examples ≈ 6 MB</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PICTURE OF ONE EXAMPLE</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Seven bins of history, two bins of future</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4160520"/>
            <a:ext cx="8229600" cy="0"/>
          </a:xfrm>
          <a:prstGeom prst="line">
            <a:avLst/>
          </a:prstGeom>
          <a:noFill/>
          <a:ln w="15875">
            <a:solidFill>
              <a:srgbClr val="30363D"/>
            </a:solidFill>
            <a:prstDash val="solid"/>
            <a:tailEnd type="triangle"/>
          </a:ln>
        </p:spPr>
      </p:sp>
      <p:sp>
        <p:nvSpPr>
          <p:cNvPr id="7" name="Shape 5"/>
          <p:cNvSpPr/>
          <p:nvPr/>
        </p:nvSpPr>
        <p:spPr>
          <a:xfrm>
            <a:off x="868680" y="4105656"/>
            <a:ext cx="0" cy="109728"/>
          </a:xfrm>
          <a:prstGeom prst="line">
            <a:avLst/>
          </a:prstGeom>
          <a:noFill/>
          <a:ln w="12700">
            <a:solidFill>
              <a:srgbClr val="30363D"/>
            </a:solidFill>
            <a:prstDash val="solid"/>
          </a:ln>
        </p:spPr>
      </p:sp>
      <p:sp>
        <p:nvSpPr>
          <p:cNvPr id="8" name="Text 6"/>
          <p:cNvSpPr txBox="1"/>
          <p:nvPr/>
        </p:nvSpPr>
        <p:spPr>
          <a:xfrm>
            <a:off x="502920"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t−6</a:t>
            </a:r>
            <a:endParaRPr lang="en-US" sz="1150" dirty="0"/>
          </a:p>
        </p:txBody>
      </p:sp>
      <p:sp>
        <p:nvSpPr>
          <p:cNvPr id="9" name="Shape 7"/>
          <p:cNvSpPr/>
          <p:nvPr/>
        </p:nvSpPr>
        <p:spPr>
          <a:xfrm>
            <a:off x="452628" y="2647188"/>
            <a:ext cx="832104" cy="832104"/>
          </a:xfrm>
          <a:prstGeom prst="ellipse">
            <a:avLst/>
          </a:prstGeom>
          <a:solidFill>
            <a:srgbClr val="E8E252">
              <a:alpha val="18000"/>
            </a:srgbClr>
          </a:solidFill>
          <a:ln w="12700">
            <a:solidFill>
              <a:srgbClr val="E8E252">
                <a:alpha val="75000"/>
              </a:srgbClr>
            </a:solidFill>
            <a:prstDash val="solid"/>
          </a:ln>
        </p:spPr>
      </p:sp>
      <p:sp>
        <p:nvSpPr>
          <p:cNvPr id="10" name="Shape 8"/>
          <p:cNvSpPr/>
          <p:nvPr/>
        </p:nvSpPr>
        <p:spPr>
          <a:xfrm>
            <a:off x="727470" y="2874962"/>
            <a:ext cx="47549" cy="47549"/>
          </a:xfrm>
          <a:prstGeom prst="ellipse">
            <a:avLst/>
          </a:prstGeom>
          <a:solidFill>
            <a:srgbClr val="E8E252"/>
          </a:solidFill>
          <a:ln w="6350">
            <a:solidFill>
              <a:srgbClr val="E8E252"/>
            </a:solidFill>
            <a:prstDash val="solid"/>
          </a:ln>
        </p:spPr>
      </p:sp>
      <p:sp>
        <p:nvSpPr>
          <p:cNvPr id="11" name="Shape 9"/>
          <p:cNvSpPr/>
          <p:nvPr/>
        </p:nvSpPr>
        <p:spPr>
          <a:xfrm>
            <a:off x="587961" y="2771262"/>
            <a:ext cx="47549" cy="47549"/>
          </a:xfrm>
          <a:prstGeom prst="ellipse">
            <a:avLst/>
          </a:prstGeom>
          <a:solidFill>
            <a:srgbClr val="E8E252"/>
          </a:solidFill>
          <a:ln w="6350">
            <a:solidFill>
              <a:srgbClr val="E8E252"/>
            </a:solidFill>
            <a:prstDash val="solid"/>
          </a:ln>
        </p:spPr>
      </p:sp>
      <p:sp>
        <p:nvSpPr>
          <p:cNvPr id="12" name="Shape 10"/>
          <p:cNvSpPr/>
          <p:nvPr/>
        </p:nvSpPr>
        <p:spPr>
          <a:xfrm>
            <a:off x="715753" y="2780999"/>
            <a:ext cx="47549" cy="47549"/>
          </a:xfrm>
          <a:prstGeom prst="ellipse">
            <a:avLst/>
          </a:prstGeom>
          <a:solidFill>
            <a:srgbClr val="E8E252"/>
          </a:solidFill>
          <a:ln w="6350">
            <a:solidFill>
              <a:srgbClr val="E8E252"/>
            </a:solidFill>
            <a:prstDash val="solid"/>
          </a:ln>
        </p:spPr>
      </p:sp>
      <p:sp>
        <p:nvSpPr>
          <p:cNvPr id="13" name="Shape 11"/>
          <p:cNvSpPr/>
          <p:nvPr/>
        </p:nvSpPr>
        <p:spPr>
          <a:xfrm>
            <a:off x="1009978" y="3336539"/>
            <a:ext cx="47549" cy="47549"/>
          </a:xfrm>
          <a:prstGeom prst="ellipse">
            <a:avLst/>
          </a:prstGeom>
          <a:solidFill>
            <a:srgbClr val="E8E252"/>
          </a:solidFill>
          <a:ln w="6350">
            <a:solidFill>
              <a:srgbClr val="E8E252"/>
            </a:solidFill>
            <a:prstDash val="solid"/>
          </a:ln>
        </p:spPr>
      </p:sp>
      <p:sp>
        <p:nvSpPr>
          <p:cNvPr id="14" name="Shape 12"/>
          <p:cNvSpPr/>
          <p:nvPr/>
        </p:nvSpPr>
        <p:spPr>
          <a:xfrm>
            <a:off x="754798" y="2728296"/>
            <a:ext cx="47549" cy="47549"/>
          </a:xfrm>
          <a:prstGeom prst="ellipse">
            <a:avLst/>
          </a:prstGeom>
          <a:solidFill>
            <a:srgbClr val="E8E252"/>
          </a:solidFill>
          <a:ln w="6350">
            <a:solidFill>
              <a:srgbClr val="E8E252"/>
            </a:solidFill>
            <a:prstDash val="solid"/>
          </a:ln>
        </p:spPr>
      </p:sp>
      <p:sp>
        <p:nvSpPr>
          <p:cNvPr id="15" name="Shape 13"/>
          <p:cNvSpPr/>
          <p:nvPr/>
        </p:nvSpPr>
        <p:spPr>
          <a:xfrm>
            <a:off x="830460" y="2833347"/>
            <a:ext cx="47549" cy="47549"/>
          </a:xfrm>
          <a:prstGeom prst="ellipse">
            <a:avLst/>
          </a:prstGeom>
          <a:solidFill>
            <a:srgbClr val="E8E252"/>
          </a:solidFill>
          <a:ln w="6350">
            <a:solidFill>
              <a:srgbClr val="E8E252"/>
            </a:solidFill>
            <a:prstDash val="solid"/>
          </a:ln>
        </p:spPr>
      </p:sp>
      <p:sp>
        <p:nvSpPr>
          <p:cNvPr id="16" name="Shape 14"/>
          <p:cNvSpPr/>
          <p:nvPr/>
        </p:nvSpPr>
        <p:spPr>
          <a:xfrm>
            <a:off x="894228" y="2873906"/>
            <a:ext cx="47549" cy="47549"/>
          </a:xfrm>
          <a:prstGeom prst="ellipse">
            <a:avLst/>
          </a:prstGeom>
          <a:solidFill>
            <a:srgbClr val="E8E252"/>
          </a:solidFill>
          <a:ln w="6350">
            <a:solidFill>
              <a:srgbClr val="E8E252"/>
            </a:solidFill>
            <a:prstDash val="solid"/>
          </a:ln>
        </p:spPr>
      </p:sp>
      <p:sp>
        <p:nvSpPr>
          <p:cNvPr id="17" name="Text 15"/>
          <p:cNvSpPr txBox="1"/>
          <p:nvPr/>
        </p:nvSpPr>
        <p:spPr>
          <a:xfrm>
            <a:off x="365760" y="2336292"/>
            <a:ext cx="1005840" cy="237744"/>
          </a:xfrm>
          <a:prstGeom prst="rect">
            <a:avLst/>
          </a:prstGeom>
          <a:noFill/>
          <a:ln/>
        </p:spPr>
        <p:txBody>
          <a:bodyPr wrap="square" lIns="0" tIns="0" rIns="0" bIns="0" rtlCol="0" anchor="t"/>
          <a:lstStyle/>
          <a:p>
            <a:pPr algn="ctr" indent="0" marL="0">
              <a:buNone/>
            </a:pPr>
            <a:r>
              <a:rPr lang="en-US" sz="1000" dirty="0">
                <a:solidFill>
                  <a:srgbClr val="E8E252"/>
                </a:solidFill>
                <a:latin typeface="Calibri" pitchFamily="34" charset="0"/>
                <a:ea typeface="Calibri" pitchFamily="34" charset="-122"/>
                <a:cs typeface="Calibri" pitchFamily="34" charset="-120"/>
              </a:rPr>
              <a:t>907 km</a:t>
            </a:r>
            <a:endParaRPr lang="en-US" sz="1000" dirty="0"/>
          </a:p>
        </p:txBody>
      </p:sp>
      <p:sp>
        <p:nvSpPr>
          <p:cNvPr id="18" name="Shape 16"/>
          <p:cNvSpPr/>
          <p:nvPr/>
        </p:nvSpPr>
        <p:spPr>
          <a:xfrm>
            <a:off x="1811655" y="4105656"/>
            <a:ext cx="0" cy="109728"/>
          </a:xfrm>
          <a:prstGeom prst="line">
            <a:avLst/>
          </a:prstGeom>
          <a:noFill/>
          <a:ln w="12700">
            <a:solidFill>
              <a:srgbClr val="30363D"/>
            </a:solidFill>
            <a:prstDash val="solid"/>
          </a:ln>
        </p:spPr>
      </p:sp>
      <p:sp>
        <p:nvSpPr>
          <p:cNvPr id="19" name="Text 17"/>
          <p:cNvSpPr txBox="1"/>
          <p:nvPr/>
        </p:nvSpPr>
        <p:spPr>
          <a:xfrm>
            <a:off x="1445895"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t−5</a:t>
            </a:r>
            <a:endParaRPr lang="en-US" sz="1150" dirty="0"/>
          </a:p>
        </p:txBody>
      </p:sp>
      <p:sp>
        <p:nvSpPr>
          <p:cNvPr id="20" name="Shape 18"/>
          <p:cNvSpPr/>
          <p:nvPr/>
        </p:nvSpPr>
        <p:spPr>
          <a:xfrm>
            <a:off x="1448181" y="2699766"/>
            <a:ext cx="726948" cy="726948"/>
          </a:xfrm>
          <a:prstGeom prst="ellipse">
            <a:avLst/>
          </a:prstGeom>
          <a:solidFill>
            <a:srgbClr val="D5DE6B">
              <a:alpha val="18000"/>
            </a:srgbClr>
          </a:solidFill>
          <a:ln w="12700">
            <a:solidFill>
              <a:srgbClr val="D5DE6B">
                <a:alpha val="75000"/>
              </a:srgbClr>
            </a:solidFill>
            <a:prstDash val="solid"/>
          </a:ln>
        </p:spPr>
      </p:sp>
      <p:sp>
        <p:nvSpPr>
          <p:cNvPr id="21" name="Shape 19"/>
          <p:cNvSpPr/>
          <p:nvPr/>
        </p:nvSpPr>
        <p:spPr>
          <a:xfrm>
            <a:off x="1641217" y="2963014"/>
            <a:ext cx="47549" cy="47549"/>
          </a:xfrm>
          <a:prstGeom prst="ellipse">
            <a:avLst/>
          </a:prstGeom>
          <a:solidFill>
            <a:srgbClr val="D5DE6B"/>
          </a:solidFill>
          <a:ln w="6350">
            <a:solidFill>
              <a:srgbClr val="D5DE6B"/>
            </a:solidFill>
            <a:prstDash val="solid"/>
          </a:ln>
        </p:spPr>
      </p:sp>
      <p:sp>
        <p:nvSpPr>
          <p:cNvPr id="22" name="Shape 20"/>
          <p:cNvSpPr/>
          <p:nvPr/>
        </p:nvSpPr>
        <p:spPr>
          <a:xfrm>
            <a:off x="1861362" y="3304078"/>
            <a:ext cx="47549" cy="47549"/>
          </a:xfrm>
          <a:prstGeom prst="ellipse">
            <a:avLst/>
          </a:prstGeom>
          <a:solidFill>
            <a:srgbClr val="D5DE6B"/>
          </a:solidFill>
          <a:ln w="6350">
            <a:solidFill>
              <a:srgbClr val="D5DE6B"/>
            </a:solidFill>
            <a:prstDash val="solid"/>
          </a:ln>
        </p:spPr>
      </p:sp>
      <p:sp>
        <p:nvSpPr>
          <p:cNvPr id="23" name="Shape 21"/>
          <p:cNvSpPr/>
          <p:nvPr/>
        </p:nvSpPr>
        <p:spPr>
          <a:xfrm>
            <a:off x="1995290" y="2833062"/>
            <a:ext cx="47549" cy="47549"/>
          </a:xfrm>
          <a:prstGeom prst="ellipse">
            <a:avLst/>
          </a:prstGeom>
          <a:solidFill>
            <a:srgbClr val="D5DE6B"/>
          </a:solidFill>
          <a:ln w="6350">
            <a:solidFill>
              <a:srgbClr val="D5DE6B"/>
            </a:solidFill>
            <a:prstDash val="solid"/>
          </a:ln>
        </p:spPr>
      </p:sp>
      <p:sp>
        <p:nvSpPr>
          <p:cNvPr id="24" name="Shape 22"/>
          <p:cNvSpPr/>
          <p:nvPr/>
        </p:nvSpPr>
        <p:spPr>
          <a:xfrm>
            <a:off x="1955363" y="3173362"/>
            <a:ext cx="47549" cy="47549"/>
          </a:xfrm>
          <a:prstGeom prst="ellipse">
            <a:avLst/>
          </a:prstGeom>
          <a:solidFill>
            <a:srgbClr val="D5DE6B"/>
          </a:solidFill>
          <a:ln w="6350">
            <a:solidFill>
              <a:srgbClr val="D5DE6B"/>
            </a:solidFill>
            <a:prstDash val="solid"/>
          </a:ln>
        </p:spPr>
      </p:sp>
      <p:sp>
        <p:nvSpPr>
          <p:cNvPr id="25" name="Shape 23"/>
          <p:cNvSpPr/>
          <p:nvPr/>
        </p:nvSpPr>
        <p:spPr>
          <a:xfrm>
            <a:off x="1764929" y="2854419"/>
            <a:ext cx="47549" cy="47549"/>
          </a:xfrm>
          <a:prstGeom prst="ellipse">
            <a:avLst/>
          </a:prstGeom>
          <a:solidFill>
            <a:srgbClr val="D5DE6B"/>
          </a:solidFill>
          <a:ln w="6350">
            <a:solidFill>
              <a:srgbClr val="D5DE6B"/>
            </a:solidFill>
            <a:prstDash val="solid"/>
          </a:ln>
        </p:spPr>
      </p:sp>
      <p:sp>
        <p:nvSpPr>
          <p:cNvPr id="26" name="Shape 24"/>
          <p:cNvSpPr/>
          <p:nvPr/>
        </p:nvSpPr>
        <p:spPr>
          <a:xfrm>
            <a:off x="1751866" y="3223097"/>
            <a:ext cx="47549" cy="47549"/>
          </a:xfrm>
          <a:prstGeom prst="ellipse">
            <a:avLst/>
          </a:prstGeom>
          <a:solidFill>
            <a:srgbClr val="D5DE6B"/>
          </a:solidFill>
          <a:ln w="6350">
            <a:solidFill>
              <a:srgbClr val="D5DE6B"/>
            </a:solidFill>
            <a:prstDash val="solid"/>
          </a:ln>
        </p:spPr>
      </p:sp>
      <p:sp>
        <p:nvSpPr>
          <p:cNvPr id="27" name="Shape 25"/>
          <p:cNvSpPr/>
          <p:nvPr/>
        </p:nvSpPr>
        <p:spPr>
          <a:xfrm>
            <a:off x="2055025" y="2897284"/>
            <a:ext cx="47549" cy="47549"/>
          </a:xfrm>
          <a:prstGeom prst="ellipse">
            <a:avLst/>
          </a:prstGeom>
          <a:solidFill>
            <a:srgbClr val="D5DE6B"/>
          </a:solidFill>
          <a:ln w="6350">
            <a:solidFill>
              <a:srgbClr val="D5DE6B"/>
            </a:solidFill>
            <a:prstDash val="solid"/>
          </a:ln>
        </p:spPr>
      </p:sp>
      <p:sp>
        <p:nvSpPr>
          <p:cNvPr id="28" name="Shape 26"/>
          <p:cNvSpPr/>
          <p:nvPr/>
        </p:nvSpPr>
        <p:spPr>
          <a:xfrm>
            <a:off x="2754630" y="4105656"/>
            <a:ext cx="0" cy="109728"/>
          </a:xfrm>
          <a:prstGeom prst="line">
            <a:avLst/>
          </a:prstGeom>
          <a:noFill/>
          <a:ln w="12700">
            <a:solidFill>
              <a:srgbClr val="30363D"/>
            </a:solidFill>
            <a:prstDash val="solid"/>
          </a:ln>
        </p:spPr>
      </p:sp>
      <p:sp>
        <p:nvSpPr>
          <p:cNvPr id="29" name="Text 27"/>
          <p:cNvSpPr txBox="1"/>
          <p:nvPr/>
        </p:nvSpPr>
        <p:spPr>
          <a:xfrm>
            <a:off x="2388870"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t−4</a:t>
            </a:r>
            <a:endParaRPr lang="en-US" sz="1150" dirty="0"/>
          </a:p>
        </p:txBody>
      </p:sp>
      <p:sp>
        <p:nvSpPr>
          <p:cNvPr id="30" name="Shape 28"/>
          <p:cNvSpPr/>
          <p:nvPr/>
        </p:nvSpPr>
        <p:spPr>
          <a:xfrm>
            <a:off x="2443734" y="2752344"/>
            <a:ext cx="621792" cy="621792"/>
          </a:xfrm>
          <a:prstGeom prst="ellipse">
            <a:avLst/>
          </a:prstGeom>
          <a:solidFill>
            <a:srgbClr val="BAD78C">
              <a:alpha val="18000"/>
            </a:srgbClr>
          </a:solidFill>
          <a:ln w="12700">
            <a:solidFill>
              <a:srgbClr val="BAD78C">
                <a:alpha val="75000"/>
              </a:srgbClr>
            </a:solidFill>
            <a:prstDash val="solid"/>
          </a:ln>
        </p:spPr>
      </p:sp>
      <p:sp>
        <p:nvSpPr>
          <p:cNvPr id="31" name="Shape 29"/>
          <p:cNvSpPr/>
          <p:nvPr/>
        </p:nvSpPr>
        <p:spPr>
          <a:xfrm>
            <a:off x="2574004" y="3122278"/>
            <a:ext cx="47549" cy="47549"/>
          </a:xfrm>
          <a:prstGeom prst="ellipse">
            <a:avLst/>
          </a:prstGeom>
          <a:solidFill>
            <a:srgbClr val="BAD78C"/>
          </a:solidFill>
          <a:ln w="6350">
            <a:solidFill>
              <a:srgbClr val="BAD78C"/>
            </a:solidFill>
            <a:prstDash val="solid"/>
          </a:ln>
        </p:spPr>
      </p:sp>
      <p:sp>
        <p:nvSpPr>
          <p:cNvPr id="32" name="Shape 30"/>
          <p:cNvSpPr/>
          <p:nvPr/>
        </p:nvSpPr>
        <p:spPr>
          <a:xfrm>
            <a:off x="2786715" y="2926155"/>
            <a:ext cx="47549" cy="47549"/>
          </a:xfrm>
          <a:prstGeom prst="ellipse">
            <a:avLst/>
          </a:prstGeom>
          <a:solidFill>
            <a:srgbClr val="BAD78C"/>
          </a:solidFill>
          <a:ln w="6350">
            <a:solidFill>
              <a:srgbClr val="BAD78C"/>
            </a:solidFill>
            <a:prstDash val="solid"/>
          </a:ln>
        </p:spPr>
      </p:sp>
      <p:sp>
        <p:nvSpPr>
          <p:cNvPr id="33" name="Shape 31"/>
          <p:cNvSpPr/>
          <p:nvPr/>
        </p:nvSpPr>
        <p:spPr>
          <a:xfrm>
            <a:off x="2817353" y="3165961"/>
            <a:ext cx="47549" cy="47549"/>
          </a:xfrm>
          <a:prstGeom prst="ellipse">
            <a:avLst/>
          </a:prstGeom>
          <a:solidFill>
            <a:srgbClr val="BAD78C"/>
          </a:solidFill>
          <a:ln w="6350">
            <a:solidFill>
              <a:srgbClr val="BAD78C"/>
            </a:solidFill>
            <a:prstDash val="solid"/>
          </a:ln>
        </p:spPr>
      </p:sp>
      <p:sp>
        <p:nvSpPr>
          <p:cNvPr id="34" name="Shape 32"/>
          <p:cNvSpPr/>
          <p:nvPr/>
        </p:nvSpPr>
        <p:spPr>
          <a:xfrm>
            <a:off x="2592272" y="3167886"/>
            <a:ext cx="47549" cy="47549"/>
          </a:xfrm>
          <a:prstGeom prst="ellipse">
            <a:avLst/>
          </a:prstGeom>
          <a:solidFill>
            <a:srgbClr val="BAD78C"/>
          </a:solidFill>
          <a:ln w="6350">
            <a:solidFill>
              <a:srgbClr val="BAD78C"/>
            </a:solidFill>
            <a:prstDash val="solid"/>
          </a:ln>
        </p:spPr>
      </p:sp>
      <p:sp>
        <p:nvSpPr>
          <p:cNvPr id="35" name="Shape 33"/>
          <p:cNvSpPr/>
          <p:nvPr/>
        </p:nvSpPr>
        <p:spPr>
          <a:xfrm>
            <a:off x="2914870" y="3009492"/>
            <a:ext cx="47549" cy="47549"/>
          </a:xfrm>
          <a:prstGeom prst="ellipse">
            <a:avLst/>
          </a:prstGeom>
          <a:solidFill>
            <a:srgbClr val="BAD78C"/>
          </a:solidFill>
          <a:ln w="6350">
            <a:solidFill>
              <a:srgbClr val="BAD78C"/>
            </a:solidFill>
            <a:prstDash val="solid"/>
          </a:ln>
        </p:spPr>
      </p:sp>
      <p:sp>
        <p:nvSpPr>
          <p:cNvPr id="36" name="Shape 34"/>
          <p:cNvSpPr/>
          <p:nvPr/>
        </p:nvSpPr>
        <p:spPr>
          <a:xfrm>
            <a:off x="2733974" y="2905060"/>
            <a:ext cx="47549" cy="47549"/>
          </a:xfrm>
          <a:prstGeom prst="ellipse">
            <a:avLst/>
          </a:prstGeom>
          <a:solidFill>
            <a:srgbClr val="BAD78C"/>
          </a:solidFill>
          <a:ln w="6350">
            <a:solidFill>
              <a:srgbClr val="BAD78C"/>
            </a:solidFill>
            <a:prstDash val="solid"/>
          </a:ln>
        </p:spPr>
      </p:sp>
      <p:sp>
        <p:nvSpPr>
          <p:cNvPr id="37" name="Shape 35"/>
          <p:cNvSpPr/>
          <p:nvPr/>
        </p:nvSpPr>
        <p:spPr>
          <a:xfrm>
            <a:off x="3697605" y="4105656"/>
            <a:ext cx="0" cy="109728"/>
          </a:xfrm>
          <a:prstGeom prst="line">
            <a:avLst/>
          </a:prstGeom>
          <a:noFill/>
          <a:ln w="12700">
            <a:solidFill>
              <a:srgbClr val="30363D"/>
            </a:solidFill>
            <a:prstDash val="solid"/>
          </a:ln>
        </p:spPr>
      </p:sp>
      <p:sp>
        <p:nvSpPr>
          <p:cNvPr id="38" name="Text 36"/>
          <p:cNvSpPr txBox="1"/>
          <p:nvPr/>
        </p:nvSpPr>
        <p:spPr>
          <a:xfrm>
            <a:off x="3331845"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t−3</a:t>
            </a:r>
            <a:endParaRPr lang="en-US" sz="1150" dirty="0"/>
          </a:p>
        </p:txBody>
      </p:sp>
      <p:sp>
        <p:nvSpPr>
          <p:cNvPr id="39" name="Shape 37"/>
          <p:cNvSpPr/>
          <p:nvPr/>
        </p:nvSpPr>
        <p:spPr>
          <a:xfrm>
            <a:off x="3439287" y="2804922"/>
            <a:ext cx="516636" cy="516636"/>
          </a:xfrm>
          <a:prstGeom prst="ellipse">
            <a:avLst/>
          </a:prstGeom>
          <a:solidFill>
            <a:srgbClr val="9ACBB0">
              <a:alpha val="18000"/>
            </a:srgbClr>
          </a:solidFill>
          <a:ln w="12700">
            <a:solidFill>
              <a:srgbClr val="9ACBB0">
                <a:alpha val="75000"/>
              </a:srgbClr>
            </a:solidFill>
            <a:prstDash val="solid"/>
          </a:ln>
        </p:spPr>
      </p:sp>
      <p:sp>
        <p:nvSpPr>
          <p:cNvPr id="40" name="Shape 38"/>
          <p:cNvSpPr/>
          <p:nvPr/>
        </p:nvSpPr>
        <p:spPr>
          <a:xfrm>
            <a:off x="3473177" y="3120512"/>
            <a:ext cx="47549" cy="47549"/>
          </a:xfrm>
          <a:prstGeom prst="ellipse">
            <a:avLst/>
          </a:prstGeom>
          <a:solidFill>
            <a:srgbClr val="9ACBB0"/>
          </a:solidFill>
          <a:ln w="6350">
            <a:solidFill>
              <a:srgbClr val="9ACBB0"/>
            </a:solidFill>
            <a:prstDash val="solid"/>
          </a:ln>
        </p:spPr>
      </p:sp>
      <p:sp>
        <p:nvSpPr>
          <p:cNvPr id="41" name="Shape 39"/>
          <p:cNvSpPr/>
          <p:nvPr/>
        </p:nvSpPr>
        <p:spPr>
          <a:xfrm>
            <a:off x="3728554" y="2927044"/>
            <a:ext cx="47549" cy="47549"/>
          </a:xfrm>
          <a:prstGeom prst="ellipse">
            <a:avLst/>
          </a:prstGeom>
          <a:solidFill>
            <a:srgbClr val="9ACBB0"/>
          </a:solidFill>
          <a:ln w="6350">
            <a:solidFill>
              <a:srgbClr val="9ACBB0"/>
            </a:solidFill>
            <a:prstDash val="solid"/>
          </a:ln>
        </p:spPr>
      </p:sp>
      <p:sp>
        <p:nvSpPr>
          <p:cNvPr id="42" name="Shape 40"/>
          <p:cNvSpPr/>
          <p:nvPr/>
        </p:nvSpPr>
        <p:spPr>
          <a:xfrm>
            <a:off x="3465345" y="2994150"/>
            <a:ext cx="47549" cy="47549"/>
          </a:xfrm>
          <a:prstGeom prst="ellipse">
            <a:avLst/>
          </a:prstGeom>
          <a:solidFill>
            <a:srgbClr val="9ACBB0"/>
          </a:solidFill>
          <a:ln w="6350">
            <a:solidFill>
              <a:srgbClr val="9ACBB0"/>
            </a:solidFill>
            <a:prstDash val="solid"/>
          </a:ln>
        </p:spPr>
      </p:sp>
      <p:sp>
        <p:nvSpPr>
          <p:cNvPr id="43" name="Shape 41"/>
          <p:cNvSpPr/>
          <p:nvPr/>
        </p:nvSpPr>
        <p:spPr>
          <a:xfrm>
            <a:off x="3643099" y="2949186"/>
            <a:ext cx="47549" cy="47549"/>
          </a:xfrm>
          <a:prstGeom prst="ellipse">
            <a:avLst/>
          </a:prstGeom>
          <a:solidFill>
            <a:srgbClr val="9ACBB0"/>
          </a:solidFill>
          <a:ln w="6350">
            <a:solidFill>
              <a:srgbClr val="9ACBB0"/>
            </a:solidFill>
            <a:prstDash val="solid"/>
          </a:ln>
        </p:spPr>
      </p:sp>
      <p:sp>
        <p:nvSpPr>
          <p:cNvPr id="44" name="Shape 42"/>
          <p:cNvSpPr/>
          <p:nvPr/>
        </p:nvSpPr>
        <p:spPr>
          <a:xfrm>
            <a:off x="3591736" y="2990488"/>
            <a:ext cx="47549" cy="47549"/>
          </a:xfrm>
          <a:prstGeom prst="ellipse">
            <a:avLst/>
          </a:prstGeom>
          <a:solidFill>
            <a:srgbClr val="9ACBB0"/>
          </a:solidFill>
          <a:ln w="6350">
            <a:solidFill>
              <a:srgbClr val="9ACBB0"/>
            </a:solidFill>
            <a:prstDash val="solid"/>
          </a:ln>
        </p:spPr>
      </p:sp>
      <p:sp>
        <p:nvSpPr>
          <p:cNvPr id="45" name="Text 43"/>
          <p:cNvSpPr txBox="1"/>
          <p:nvPr/>
        </p:nvSpPr>
        <p:spPr>
          <a:xfrm>
            <a:off x="3194685" y="2494026"/>
            <a:ext cx="1005840" cy="237744"/>
          </a:xfrm>
          <a:prstGeom prst="rect">
            <a:avLst/>
          </a:prstGeom>
          <a:noFill/>
          <a:ln/>
        </p:spPr>
        <p:txBody>
          <a:bodyPr wrap="square" lIns="0" tIns="0" rIns="0" bIns="0" rtlCol="0" anchor="t"/>
          <a:lstStyle/>
          <a:p>
            <a:pPr algn="ctr" indent="0" marL="0">
              <a:buNone/>
            </a:pPr>
            <a:r>
              <a:rPr lang="en-US" sz="1000" dirty="0">
                <a:solidFill>
                  <a:srgbClr val="9ACBB0"/>
                </a:solidFill>
                <a:latin typeface="Calibri" pitchFamily="34" charset="0"/>
                <a:ea typeface="Calibri" pitchFamily="34" charset="-122"/>
                <a:cs typeface="Calibri" pitchFamily="34" charset="-120"/>
              </a:rPr>
              <a:t>518 km</a:t>
            </a:r>
            <a:endParaRPr lang="en-US" sz="1000" dirty="0"/>
          </a:p>
        </p:txBody>
      </p:sp>
      <p:sp>
        <p:nvSpPr>
          <p:cNvPr id="46" name="Shape 44"/>
          <p:cNvSpPr/>
          <p:nvPr/>
        </p:nvSpPr>
        <p:spPr>
          <a:xfrm>
            <a:off x="4640580" y="4105656"/>
            <a:ext cx="0" cy="109728"/>
          </a:xfrm>
          <a:prstGeom prst="line">
            <a:avLst/>
          </a:prstGeom>
          <a:noFill/>
          <a:ln w="12700">
            <a:solidFill>
              <a:srgbClr val="30363D"/>
            </a:solidFill>
            <a:prstDash val="solid"/>
          </a:ln>
        </p:spPr>
      </p:sp>
      <p:sp>
        <p:nvSpPr>
          <p:cNvPr id="47" name="Text 45"/>
          <p:cNvSpPr txBox="1"/>
          <p:nvPr/>
        </p:nvSpPr>
        <p:spPr>
          <a:xfrm>
            <a:off x="4274820"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t−2</a:t>
            </a:r>
            <a:endParaRPr lang="en-US" sz="1150" dirty="0"/>
          </a:p>
        </p:txBody>
      </p:sp>
      <p:sp>
        <p:nvSpPr>
          <p:cNvPr id="48" name="Shape 46"/>
          <p:cNvSpPr/>
          <p:nvPr/>
        </p:nvSpPr>
        <p:spPr>
          <a:xfrm>
            <a:off x="4434840" y="2857500"/>
            <a:ext cx="411480" cy="411480"/>
          </a:xfrm>
          <a:prstGeom prst="ellipse">
            <a:avLst/>
          </a:prstGeom>
          <a:solidFill>
            <a:srgbClr val="79BBD2">
              <a:alpha val="18000"/>
            </a:srgbClr>
          </a:solidFill>
          <a:ln w="12700">
            <a:solidFill>
              <a:srgbClr val="79BBD2">
                <a:alpha val="75000"/>
              </a:srgbClr>
            </a:solidFill>
            <a:prstDash val="solid"/>
          </a:ln>
        </p:spPr>
      </p:sp>
      <p:sp>
        <p:nvSpPr>
          <p:cNvPr id="49" name="Shape 47"/>
          <p:cNvSpPr/>
          <p:nvPr/>
        </p:nvSpPr>
        <p:spPr>
          <a:xfrm>
            <a:off x="4575045" y="2937506"/>
            <a:ext cx="47549" cy="47549"/>
          </a:xfrm>
          <a:prstGeom prst="ellipse">
            <a:avLst/>
          </a:prstGeom>
          <a:solidFill>
            <a:srgbClr val="79BBD2"/>
          </a:solidFill>
          <a:ln w="6350">
            <a:solidFill>
              <a:srgbClr val="79BBD2"/>
            </a:solidFill>
            <a:prstDash val="solid"/>
          </a:ln>
        </p:spPr>
      </p:sp>
      <p:sp>
        <p:nvSpPr>
          <p:cNvPr id="50" name="Shape 48"/>
          <p:cNvSpPr/>
          <p:nvPr/>
        </p:nvSpPr>
        <p:spPr>
          <a:xfrm>
            <a:off x="4586569" y="2951698"/>
            <a:ext cx="47549" cy="47549"/>
          </a:xfrm>
          <a:prstGeom prst="ellipse">
            <a:avLst/>
          </a:prstGeom>
          <a:solidFill>
            <a:srgbClr val="79BBD2"/>
          </a:solidFill>
          <a:ln w="6350">
            <a:solidFill>
              <a:srgbClr val="79BBD2"/>
            </a:solidFill>
            <a:prstDash val="solid"/>
          </a:ln>
        </p:spPr>
      </p:sp>
      <p:sp>
        <p:nvSpPr>
          <p:cNvPr id="51" name="Shape 49"/>
          <p:cNvSpPr/>
          <p:nvPr/>
        </p:nvSpPr>
        <p:spPr>
          <a:xfrm>
            <a:off x="4531666" y="3113276"/>
            <a:ext cx="47549" cy="47549"/>
          </a:xfrm>
          <a:prstGeom prst="ellipse">
            <a:avLst/>
          </a:prstGeom>
          <a:solidFill>
            <a:srgbClr val="79BBD2"/>
          </a:solidFill>
          <a:ln w="6350">
            <a:solidFill>
              <a:srgbClr val="79BBD2"/>
            </a:solidFill>
            <a:prstDash val="solid"/>
          </a:ln>
        </p:spPr>
      </p:sp>
      <p:sp>
        <p:nvSpPr>
          <p:cNvPr id="52" name="Shape 50"/>
          <p:cNvSpPr/>
          <p:nvPr/>
        </p:nvSpPr>
        <p:spPr>
          <a:xfrm>
            <a:off x="4457993" y="3124655"/>
            <a:ext cx="47549" cy="47549"/>
          </a:xfrm>
          <a:prstGeom prst="ellipse">
            <a:avLst/>
          </a:prstGeom>
          <a:solidFill>
            <a:srgbClr val="79BBD2"/>
          </a:solidFill>
          <a:ln w="6350">
            <a:solidFill>
              <a:srgbClr val="79BBD2"/>
            </a:solidFill>
            <a:prstDash val="solid"/>
          </a:ln>
        </p:spPr>
      </p:sp>
      <p:sp>
        <p:nvSpPr>
          <p:cNvPr id="53" name="Shape 51"/>
          <p:cNvSpPr/>
          <p:nvPr/>
        </p:nvSpPr>
        <p:spPr>
          <a:xfrm>
            <a:off x="5583555" y="4105656"/>
            <a:ext cx="0" cy="109728"/>
          </a:xfrm>
          <a:prstGeom prst="line">
            <a:avLst/>
          </a:prstGeom>
          <a:noFill/>
          <a:ln w="12700">
            <a:solidFill>
              <a:srgbClr val="30363D"/>
            </a:solidFill>
            <a:prstDash val="solid"/>
          </a:ln>
        </p:spPr>
      </p:sp>
      <p:sp>
        <p:nvSpPr>
          <p:cNvPr id="54" name="Text 52"/>
          <p:cNvSpPr txBox="1"/>
          <p:nvPr/>
        </p:nvSpPr>
        <p:spPr>
          <a:xfrm>
            <a:off x="5217795"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t−1</a:t>
            </a:r>
            <a:endParaRPr lang="en-US" sz="1150" dirty="0"/>
          </a:p>
        </p:txBody>
      </p:sp>
      <p:sp>
        <p:nvSpPr>
          <p:cNvPr id="55" name="Shape 53"/>
          <p:cNvSpPr/>
          <p:nvPr/>
        </p:nvSpPr>
        <p:spPr>
          <a:xfrm>
            <a:off x="5430393" y="2910078"/>
            <a:ext cx="306324" cy="306324"/>
          </a:xfrm>
          <a:prstGeom prst="ellipse">
            <a:avLst/>
          </a:prstGeom>
          <a:solidFill>
            <a:srgbClr val="5AA8E8">
              <a:alpha val="18000"/>
            </a:srgbClr>
          </a:solidFill>
          <a:ln w="12700">
            <a:solidFill>
              <a:srgbClr val="5AA8E8">
                <a:alpha val="75000"/>
              </a:srgbClr>
            </a:solidFill>
            <a:prstDash val="solid"/>
          </a:ln>
        </p:spPr>
      </p:sp>
      <p:sp>
        <p:nvSpPr>
          <p:cNvPr id="56" name="Shape 54"/>
          <p:cNvSpPr/>
          <p:nvPr/>
        </p:nvSpPr>
        <p:spPr>
          <a:xfrm>
            <a:off x="5513466" y="3059992"/>
            <a:ext cx="47549" cy="47549"/>
          </a:xfrm>
          <a:prstGeom prst="ellipse">
            <a:avLst/>
          </a:prstGeom>
          <a:solidFill>
            <a:srgbClr val="5AA8E8"/>
          </a:solidFill>
          <a:ln w="6350">
            <a:solidFill>
              <a:srgbClr val="5AA8E8"/>
            </a:solidFill>
            <a:prstDash val="solid"/>
          </a:ln>
        </p:spPr>
      </p:sp>
      <p:sp>
        <p:nvSpPr>
          <p:cNvPr id="57" name="Shape 55"/>
          <p:cNvSpPr/>
          <p:nvPr/>
        </p:nvSpPr>
        <p:spPr>
          <a:xfrm>
            <a:off x="5559063" y="3097626"/>
            <a:ext cx="47549" cy="47549"/>
          </a:xfrm>
          <a:prstGeom prst="ellipse">
            <a:avLst/>
          </a:prstGeom>
          <a:solidFill>
            <a:srgbClr val="5AA8E8"/>
          </a:solidFill>
          <a:ln w="6350">
            <a:solidFill>
              <a:srgbClr val="5AA8E8"/>
            </a:solidFill>
            <a:prstDash val="solid"/>
          </a:ln>
        </p:spPr>
      </p:sp>
      <p:sp>
        <p:nvSpPr>
          <p:cNvPr id="58" name="Shape 56"/>
          <p:cNvSpPr/>
          <p:nvPr/>
        </p:nvSpPr>
        <p:spPr>
          <a:xfrm>
            <a:off x="5535076" y="2998697"/>
            <a:ext cx="47549" cy="47549"/>
          </a:xfrm>
          <a:prstGeom prst="ellipse">
            <a:avLst/>
          </a:prstGeom>
          <a:solidFill>
            <a:srgbClr val="5AA8E8"/>
          </a:solidFill>
          <a:ln w="6350">
            <a:solidFill>
              <a:srgbClr val="5AA8E8"/>
            </a:solidFill>
            <a:prstDash val="solid"/>
          </a:ln>
        </p:spPr>
      </p:sp>
      <p:sp>
        <p:nvSpPr>
          <p:cNvPr id="59" name="Shape 57"/>
          <p:cNvSpPr/>
          <p:nvPr/>
        </p:nvSpPr>
        <p:spPr>
          <a:xfrm>
            <a:off x="6526530" y="4105656"/>
            <a:ext cx="0" cy="109728"/>
          </a:xfrm>
          <a:prstGeom prst="line">
            <a:avLst/>
          </a:prstGeom>
          <a:noFill/>
          <a:ln w="12700">
            <a:solidFill>
              <a:srgbClr val="30363D"/>
            </a:solidFill>
            <a:prstDash val="solid"/>
          </a:ln>
        </p:spPr>
      </p:sp>
      <p:sp>
        <p:nvSpPr>
          <p:cNvPr id="60" name="Text 58"/>
          <p:cNvSpPr txBox="1"/>
          <p:nvPr/>
        </p:nvSpPr>
        <p:spPr>
          <a:xfrm>
            <a:off x="6160770" y="4251960"/>
            <a:ext cx="731520" cy="237744"/>
          </a:xfrm>
          <a:prstGeom prst="rect">
            <a:avLst/>
          </a:prstGeom>
          <a:noFill/>
          <a:ln/>
        </p:spPr>
        <p:txBody>
          <a:bodyPr wrap="square" lIns="0" tIns="0" rIns="0" bIns="0" rtlCol="0" anchor="t"/>
          <a:lstStyle/>
          <a:p>
            <a:pPr algn="ctr" indent="0" marL="0">
              <a:buNone/>
            </a:pPr>
            <a:r>
              <a:rPr lang="en-US" sz="1150" b="1" dirty="0">
                <a:solidFill>
                  <a:srgbClr val="F85149"/>
                </a:solidFill>
                <a:latin typeface="Calibri" pitchFamily="34" charset="0"/>
                <a:ea typeface="Calibri" pitchFamily="34" charset="-122"/>
                <a:cs typeface="Calibri" pitchFamily="34" charset="-120"/>
              </a:rPr>
              <a:t>t</a:t>
            </a:r>
            <a:endParaRPr lang="en-US" sz="1150" dirty="0"/>
          </a:p>
        </p:txBody>
      </p:sp>
      <p:sp>
        <p:nvSpPr>
          <p:cNvPr id="61" name="Shape 59"/>
          <p:cNvSpPr/>
          <p:nvPr/>
        </p:nvSpPr>
        <p:spPr>
          <a:xfrm>
            <a:off x="6425946" y="2962656"/>
            <a:ext cx="201168" cy="201168"/>
          </a:xfrm>
          <a:prstGeom prst="ellipse">
            <a:avLst/>
          </a:prstGeom>
          <a:solidFill>
            <a:srgbClr val="4493F8">
              <a:alpha val="18000"/>
            </a:srgbClr>
          </a:solidFill>
          <a:ln w="12700">
            <a:solidFill>
              <a:srgbClr val="4493F8">
                <a:alpha val="75000"/>
              </a:srgbClr>
            </a:solidFill>
            <a:prstDash val="solid"/>
          </a:ln>
        </p:spPr>
      </p:sp>
      <p:sp>
        <p:nvSpPr>
          <p:cNvPr id="62" name="Shape 60"/>
          <p:cNvSpPr/>
          <p:nvPr/>
        </p:nvSpPr>
        <p:spPr>
          <a:xfrm>
            <a:off x="7469505" y="4105656"/>
            <a:ext cx="0" cy="109728"/>
          </a:xfrm>
          <a:prstGeom prst="line">
            <a:avLst/>
          </a:prstGeom>
          <a:noFill/>
          <a:ln w="12700">
            <a:solidFill>
              <a:srgbClr val="30363D"/>
            </a:solidFill>
            <a:prstDash val="solid"/>
          </a:ln>
        </p:spPr>
      </p:sp>
      <p:sp>
        <p:nvSpPr>
          <p:cNvPr id="63" name="Text 61"/>
          <p:cNvSpPr txBox="1"/>
          <p:nvPr/>
        </p:nvSpPr>
        <p:spPr>
          <a:xfrm>
            <a:off x="7103745"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t+1</a:t>
            </a:r>
            <a:endParaRPr lang="en-US" sz="1150" dirty="0"/>
          </a:p>
        </p:txBody>
      </p:sp>
      <p:sp>
        <p:nvSpPr>
          <p:cNvPr id="64" name="Shape 62"/>
          <p:cNvSpPr/>
          <p:nvPr/>
        </p:nvSpPr>
        <p:spPr>
          <a:xfrm>
            <a:off x="8412480" y="4105656"/>
            <a:ext cx="0" cy="109728"/>
          </a:xfrm>
          <a:prstGeom prst="line">
            <a:avLst/>
          </a:prstGeom>
          <a:noFill/>
          <a:ln w="12700">
            <a:solidFill>
              <a:srgbClr val="30363D"/>
            </a:solidFill>
            <a:prstDash val="solid"/>
          </a:ln>
        </p:spPr>
      </p:sp>
      <p:sp>
        <p:nvSpPr>
          <p:cNvPr id="65" name="Text 63"/>
          <p:cNvSpPr txBox="1"/>
          <p:nvPr/>
        </p:nvSpPr>
        <p:spPr>
          <a:xfrm>
            <a:off x="8046720" y="4251960"/>
            <a:ext cx="731520" cy="237744"/>
          </a:xfrm>
          <a:prstGeom prst="rect">
            <a:avLst/>
          </a:prstGeom>
          <a:noFill/>
          <a:ln/>
        </p:spPr>
        <p:txBody>
          <a:bodyPr wrap="square" lIns="0" tIns="0" rIns="0" bIns="0" rtlCol="0" anchor="t"/>
          <a:lstStyle/>
          <a:p>
            <a:pPr algn="ctr" indent="0" marL="0">
              <a:buNone/>
            </a:pPr>
            <a:r>
              <a:rPr lang="en-US" sz="1150" dirty="0">
                <a:solidFill>
                  <a:srgbClr val="7D8590"/>
                </a:solidFill>
                <a:latin typeface="Calibri" pitchFamily="34" charset="0"/>
                <a:ea typeface="Calibri" pitchFamily="34" charset="-122"/>
                <a:cs typeface="Calibri" pitchFamily="34" charset="-120"/>
              </a:rPr>
              <a:t>t+2</a:t>
            </a:r>
            <a:endParaRPr lang="en-US" sz="1150" dirty="0"/>
          </a:p>
        </p:txBody>
      </p:sp>
      <p:sp>
        <p:nvSpPr>
          <p:cNvPr id="66" name="Shape 64"/>
          <p:cNvSpPr/>
          <p:nvPr/>
        </p:nvSpPr>
        <p:spPr>
          <a:xfrm>
            <a:off x="6324905" y="2861615"/>
            <a:ext cx="123444" cy="123444"/>
          </a:xfrm>
          <a:prstGeom prst="rect">
            <a:avLst/>
          </a:prstGeom>
          <a:solidFill>
            <a:srgbClr val="1F2A38"/>
          </a:solidFill>
          <a:ln w="9525">
            <a:solidFill>
              <a:srgbClr val="30363D"/>
            </a:solidFill>
            <a:prstDash val="solid"/>
          </a:ln>
        </p:spPr>
      </p:sp>
      <p:sp>
        <p:nvSpPr>
          <p:cNvPr id="67" name="Shape 65"/>
          <p:cNvSpPr/>
          <p:nvPr/>
        </p:nvSpPr>
        <p:spPr>
          <a:xfrm>
            <a:off x="6464808" y="2861615"/>
            <a:ext cx="123444" cy="123444"/>
          </a:xfrm>
          <a:prstGeom prst="rect">
            <a:avLst/>
          </a:prstGeom>
          <a:solidFill>
            <a:srgbClr val="1F2A38"/>
          </a:solidFill>
          <a:ln w="9525">
            <a:solidFill>
              <a:srgbClr val="30363D"/>
            </a:solidFill>
            <a:prstDash val="solid"/>
          </a:ln>
        </p:spPr>
      </p:sp>
      <p:sp>
        <p:nvSpPr>
          <p:cNvPr id="68" name="Shape 66"/>
          <p:cNvSpPr/>
          <p:nvPr/>
        </p:nvSpPr>
        <p:spPr>
          <a:xfrm>
            <a:off x="6604711" y="2861615"/>
            <a:ext cx="123444" cy="123444"/>
          </a:xfrm>
          <a:prstGeom prst="rect">
            <a:avLst/>
          </a:prstGeom>
          <a:solidFill>
            <a:srgbClr val="1F2A38"/>
          </a:solidFill>
          <a:ln w="9525">
            <a:solidFill>
              <a:srgbClr val="30363D"/>
            </a:solidFill>
            <a:prstDash val="solid"/>
          </a:ln>
        </p:spPr>
      </p:sp>
      <p:sp>
        <p:nvSpPr>
          <p:cNvPr id="69" name="Shape 67"/>
          <p:cNvSpPr/>
          <p:nvPr/>
        </p:nvSpPr>
        <p:spPr>
          <a:xfrm>
            <a:off x="6324905" y="3001518"/>
            <a:ext cx="123444" cy="123444"/>
          </a:xfrm>
          <a:prstGeom prst="rect">
            <a:avLst/>
          </a:prstGeom>
          <a:solidFill>
            <a:srgbClr val="1F2A38"/>
          </a:solidFill>
          <a:ln w="9525">
            <a:solidFill>
              <a:srgbClr val="30363D"/>
            </a:solidFill>
            <a:prstDash val="solid"/>
          </a:ln>
        </p:spPr>
      </p:sp>
      <p:sp>
        <p:nvSpPr>
          <p:cNvPr id="70" name="Shape 68"/>
          <p:cNvSpPr/>
          <p:nvPr/>
        </p:nvSpPr>
        <p:spPr>
          <a:xfrm>
            <a:off x="6464808" y="3001518"/>
            <a:ext cx="123444" cy="123444"/>
          </a:xfrm>
          <a:prstGeom prst="rect">
            <a:avLst/>
          </a:prstGeom>
          <a:solidFill>
            <a:srgbClr val="F85149"/>
          </a:solidFill>
          <a:ln w="9525">
            <a:solidFill>
              <a:srgbClr val="F85149"/>
            </a:solidFill>
            <a:prstDash val="solid"/>
          </a:ln>
        </p:spPr>
      </p:sp>
      <p:sp>
        <p:nvSpPr>
          <p:cNvPr id="71" name="Shape 69"/>
          <p:cNvSpPr/>
          <p:nvPr/>
        </p:nvSpPr>
        <p:spPr>
          <a:xfrm>
            <a:off x="6604711" y="3001518"/>
            <a:ext cx="123444" cy="123444"/>
          </a:xfrm>
          <a:prstGeom prst="rect">
            <a:avLst/>
          </a:prstGeom>
          <a:solidFill>
            <a:srgbClr val="1F2A38"/>
          </a:solidFill>
          <a:ln w="9525">
            <a:solidFill>
              <a:srgbClr val="30363D"/>
            </a:solidFill>
            <a:prstDash val="solid"/>
          </a:ln>
        </p:spPr>
      </p:sp>
      <p:sp>
        <p:nvSpPr>
          <p:cNvPr id="72" name="Shape 70"/>
          <p:cNvSpPr/>
          <p:nvPr/>
        </p:nvSpPr>
        <p:spPr>
          <a:xfrm>
            <a:off x="6324905" y="3141421"/>
            <a:ext cx="123444" cy="123444"/>
          </a:xfrm>
          <a:prstGeom prst="rect">
            <a:avLst/>
          </a:prstGeom>
          <a:solidFill>
            <a:srgbClr val="1F2A38"/>
          </a:solidFill>
          <a:ln w="9525">
            <a:solidFill>
              <a:srgbClr val="30363D"/>
            </a:solidFill>
            <a:prstDash val="solid"/>
          </a:ln>
        </p:spPr>
      </p:sp>
      <p:sp>
        <p:nvSpPr>
          <p:cNvPr id="73" name="Shape 71"/>
          <p:cNvSpPr/>
          <p:nvPr/>
        </p:nvSpPr>
        <p:spPr>
          <a:xfrm>
            <a:off x="6464808" y="3141421"/>
            <a:ext cx="123444" cy="123444"/>
          </a:xfrm>
          <a:prstGeom prst="rect">
            <a:avLst/>
          </a:prstGeom>
          <a:solidFill>
            <a:srgbClr val="1F2A38"/>
          </a:solidFill>
          <a:ln w="9525">
            <a:solidFill>
              <a:srgbClr val="30363D"/>
            </a:solidFill>
            <a:prstDash val="solid"/>
          </a:ln>
        </p:spPr>
      </p:sp>
      <p:sp>
        <p:nvSpPr>
          <p:cNvPr id="74" name="Shape 72"/>
          <p:cNvSpPr/>
          <p:nvPr/>
        </p:nvSpPr>
        <p:spPr>
          <a:xfrm>
            <a:off x="6604711" y="3141421"/>
            <a:ext cx="123444" cy="123444"/>
          </a:xfrm>
          <a:prstGeom prst="rect">
            <a:avLst/>
          </a:prstGeom>
          <a:solidFill>
            <a:srgbClr val="1F2A38"/>
          </a:solidFill>
          <a:ln w="9525">
            <a:solidFill>
              <a:srgbClr val="30363D"/>
            </a:solidFill>
            <a:prstDash val="solid"/>
          </a:ln>
        </p:spPr>
      </p:sp>
      <p:sp>
        <p:nvSpPr>
          <p:cNvPr id="75" name="Text 73"/>
          <p:cNvSpPr txBox="1"/>
          <p:nvPr/>
        </p:nvSpPr>
        <p:spPr>
          <a:xfrm>
            <a:off x="5840730" y="2194560"/>
            <a:ext cx="1371600" cy="502920"/>
          </a:xfrm>
          <a:prstGeom prst="rect">
            <a:avLst/>
          </a:prstGeom>
          <a:noFill/>
          <a:ln/>
        </p:spPr>
        <p:txBody>
          <a:bodyPr wrap="square" lIns="0" tIns="0" rIns="0" bIns="0" rtlCol="0" anchor="t"/>
          <a:lstStyle/>
          <a:p>
            <a:pPr algn="ctr" indent="0" marL="0">
              <a:lnSpc>
                <a:spcPts val="1300"/>
              </a:lnSpc>
              <a:buNone/>
            </a:pPr>
            <a:r>
              <a:rPr lang="en-US" sz="1050" dirty="0">
                <a:solidFill>
                  <a:srgbClr val="E6EDF3"/>
                </a:solidFill>
                <a:latin typeface="Calibri" pitchFamily="34" charset="0"/>
                <a:ea typeface="Calibri" pitchFamily="34" charset="-122"/>
                <a:cs typeface="Calibri" pitchFamily="34" charset="-120"/>
              </a:rPr>
              <a:t>3×3 patch</a:t>
            </a:r>
            <a:endParaRPr lang="en-US" sz="1050" dirty="0"/>
          </a:p>
          <a:p>
            <a:pPr algn="ctr" indent="0" marL="0">
              <a:lnSpc>
                <a:spcPts val="1300"/>
              </a:lnSpc>
              <a:buNone/>
            </a:pPr>
            <a:r>
              <a:rPr lang="en-US" sz="1050" dirty="0">
                <a:solidFill>
                  <a:srgbClr val="E6EDF3"/>
                </a:solidFill>
                <a:latin typeface="Calibri" pitchFamily="34" charset="0"/>
                <a:ea typeface="Calibri" pitchFamily="34" charset="-122"/>
                <a:cs typeface="Calibri" pitchFamily="34" charset="-120"/>
              </a:rPr>
              <a:t>42 tokens</a:t>
            </a:r>
            <a:endParaRPr lang="en-US" sz="1050" dirty="0"/>
          </a:p>
        </p:txBody>
      </p:sp>
      <p:sp>
        <p:nvSpPr>
          <p:cNvPr id="76" name="Text 74"/>
          <p:cNvSpPr txBox="1"/>
          <p:nvPr/>
        </p:nvSpPr>
        <p:spPr>
          <a:xfrm>
            <a:off x="5840730" y="3355848"/>
            <a:ext cx="1371600" cy="237744"/>
          </a:xfrm>
          <a:prstGeom prst="rect">
            <a:avLst/>
          </a:prstGeom>
          <a:noFill/>
          <a:ln/>
        </p:spPr>
        <p:txBody>
          <a:bodyPr wrap="square" lIns="0" tIns="0" rIns="0" bIns="0" rtlCol="0" anchor="t"/>
          <a:lstStyle/>
          <a:p>
            <a:pPr algn="ctr" indent="0" marL="0">
              <a:buNone/>
            </a:pPr>
            <a:r>
              <a:rPr lang="en-US" sz="1050" b="1" dirty="0">
                <a:solidFill>
                  <a:srgbClr val="F85149"/>
                </a:solidFill>
                <a:latin typeface="Calibri" pitchFamily="34" charset="0"/>
                <a:ea typeface="Calibri" pitchFamily="34" charset="-122"/>
                <a:cs typeface="Calibri" pitchFamily="34" charset="-120"/>
              </a:rPr>
              <a:t>anchor</a:t>
            </a:r>
            <a:endParaRPr lang="en-US" sz="1050" dirty="0"/>
          </a:p>
        </p:txBody>
      </p:sp>
      <p:sp>
        <p:nvSpPr>
          <p:cNvPr id="77" name="Shape 75"/>
          <p:cNvSpPr/>
          <p:nvPr/>
        </p:nvSpPr>
        <p:spPr>
          <a:xfrm>
            <a:off x="7368921" y="2962656"/>
            <a:ext cx="201168" cy="201168"/>
          </a:xfrm>
          <a:prstGeom prst="rect">
            <a:avLst/>
          </a:prstGeom>
          <a:solidFill>
            <a:srgbClr val="2A1518"/>
          </a:solidFill>
          <a:ln w="15875">
            <a:solidFill>
              <a:srgbClr val="F85149"/>
            </a:solidFill>
            <a:prstDash val="dash"/>
          </a:ln>
        </p:spPr>
      </p:sp>
      <p:sp>
        <p:nvSpPr>
          <p:cNvPr id="78" name="Shape 76"/>
          <p:cNvSpPr/>
          <p:nvPr/>
        </p:nvSpPr>
        <p:spPr>
          <a:xfrm>
            <a:off x="8311896" y="2962656"/>
            <a:ext cx="201168" cy="201168"/>
          </a:xfrm>
          <a:prstGeom prst="rect">
            <a:avLst/>
          </a:prstGeom>
          <a:solidFill>
            <a:srgbClr val="2A1518"/>
          </a:solidFill>
          <a:ln w="15875">
            <a:solidFill>
              <a:srgbClr val="F85149"/>
            </a:solidFill>
            <a:prstDash val="dash"/>
          </a:ln>
        </p:spPr>
      </p:sp>
      <p:sp>
        <p:nvSpPr>
          <p:cNvPr id="79" name="Text 77"/>
          <p:cNvSpPr txBox="1"/>
          <p:nvPr/>
        </p:nvSpPr>
        <p:spPr>
          <a:xfrm>
            <a:off x="7092315" y="2496312"/>
            <a:ext cx="1828800" cy="256032"/>
          </a:xfrm>
          <a:prstGeom prst="rect">
            <a:avLst/>
          </a:prstGeom>
          <a:noFill/>
          <a:ln/>
        </p:spPr>
        <p:txBody>
          <a:bodyPr wrap="square" lIns="0" tIns="0" rIns="0" bIns="0" rtlCol="0" anchor="t"/>
          <a:lstStyle/>
          <a:p>
            <a:pPr algn="ctr" indent="0" marL="0">
              <a:buNone/>
            </a:pPr>
            <a:r>
              <a:rPr lang="en-US" sz="1050" dirty="0">
                <a:solidFill>
                  <a:srgbClr val="F85149"/>
                </a:solidFill>
                <a:latin typeface="Calibri" pitchFamily="34" charset="0"/>
                <a:ea typeface="Calibri" pitchFamily="34" charset="-122"/>
                <a:cs typeface="Calibri" pitchFamily="34" charset="-120"/>
              </a:rPr>
              <a:t>84 future targets</a:t>
            </a:r>
            <a:endParaRPr lang="en-US" sz="1050" dirty="0"/>
          </a:p>
        </p:txBody>
      </p:sp>
      <p:sp>
        <p:nvSpPr>
          <p:cNvPr id="80" name="Text 78"/>
          <p:cNvSpPr txBox="1"/>
          <p:nvPr/>
        </p:nvSpPr>
        <p:spPr>
          <a:xfrm>
            <a:off x="548640" y="4590288"/>
            <a:ext cx="8183880" cy="274320"/>
          </a:xfrm>
          <a:prstGeom prst="rect">
            <a:avLst/>
          </a:prstGeom>
          <a:noFill/>
          <a:ln/>
        </p:spPr>
        <p:txBody>
          <a:bodyPr wrap="square" lIns="0" tIns="0" rIns="0" bIns="0" rtlCol="0" anchor="t"/>
          <a:lstStyle/>
          <a:p>
            <a:pPr algn="ctr" indent="0" marL="0">
              <a:buNone/>
            </a:pPr>
            <a:r>
              <a:rPr lang="en-US" sz="1150" i="1" dirty="0">
                <a:solidFill>
                  <a:srgbClr val="7D8590"/>
                </a:solidFill>
                <a:latin typeface="Calibri" pitchFamily="34" charset="0"/>
                <a:ea typeface="Calibri" pitchFamily="34" charset="-122"/>
                <a:cs typeface="Calibri" pitchFamily="34" charset="-120"/>
              </a:rPr>
              <a:t>reach grows with lag — 129.6 × (1+lag) km for currents and sea-surface height</a:t>
            </a:r>
            <a:endParaRPr lang="en-US" sz="1150" dirty="0"/>
          </a:p>
        </p:txBody>
      </p:sp>
      <p:sp>
        <p:nvSpPr>
          <p:cNvPr id="81" name="Shape 79"/>
          <p:cNvSpPr/>
          <p:nvPr/>
        </p:nvSpPr>
        <p:spPr>
          <a:xfrm>
            <a:off x="548640" y="4956048"/>
            <a:ext cx="2609012" cy="1170432"/>
          </a:xfrm>
          <a:prstGeom prst="roundRect">
            <a:avLst>
              <a:gd name="adj" fmla="val 4688"/>
            </a:avLst>
          </a:prstGeom>
          <a:solidFill>
            <a:srgbClr val="11161D"/>
          </a:solidFill>
          <a:ln w="12700">
            <a:solidFill>
              <a:srgbClr val="30363D"/>
            </a:solidFill>
            <a:prstDash val="solid"/>
          </a:ln>
        </p:spPr>
      </p:sp>
      <p:sp>
        <p:nvSpPr>
          <p:cNvPr id="82" name="Shape 80"/>
          <p:cNvSpPr/>
          <p:nvPr/>
        </p:nvSpPr>
        <p:spPr>
          <a:xfrm>
            <a:off x="713232" y="5120640"/>
            <a:ext cx="237744" cy="237744"/>
          </a:xfrm>
          <a:prstGeom prst="ellipse">
            <a:avLst/>
          </a:prstGeom>
          <a:solidFill>
            <a:srgbClr val="D5DE6B"/>
          </a:solidFill>
          <a:ln w="12700">
            <a:solidFill>
              <a:srgbClr val="D5DE6B"/>
            </a:solidFill>
            <a:prstDash val="solid"/>
          </a:ln>
        </p:spPr>
      </p:sp>
      <p:sp>
        <p:nvSpPr>
          <p:cNvPr id="83" name="Text 81"/>
          <p:cNvSpPr txBox="1"/>
          <p:nvPr/>
        </p:nvSpPr>
        <p:spPr>
          <a:xfrm>
            <a:off x="713232" y="5129784"/>
            <a:ext cx="237744" cy="219456"/>
          </a:xfrm>
          <a:prstGeom prst="rect">
            <a:avLst/>
          </a:prstGeom>
          <a:noFill/>
          <a:ln/>
        </p:spPr>
        <p:txBody>
          <a:bodyPr wrap="square" lIns="0" tIns="0" rIns="0" bIns="0" rtlCol="0" anchor="t"/>
          <a:lstStyle/>
          <a:p>
            <a:pPr algn="ctr" indent="0" marL="0">
              <a:buNone/>
            </a:pPr>
            <a:r>
              <a:rPr lang="en-US" sz="1100" b="1" dirty="0">
                <a:solidFill>
                  <a:srgbClr val="0D1117"/>
                </a:solidFill>
                <a:latin typeface="Calibri" pitchFamily="34" charset="0"/>
                <a:ea typeface="Calibri" pitchFamily="34" charset="-122"/>
                <a:cs typeface="Calibri" pitchFamily="34" charset="-120"/>
              </a:rPr>
              <a:t>A</a:t>
            </a:r>
            <a:endParaRPr lang="en-US" sz="1100" dirty="0"/>
          </a:p>
        </p:txBody>
      </p:sp>
      <p:sp>
        <p:nvSpPr>
          <p:cNvPr id="84" name="Text 82"/>
          <p:cNvSpPr txBox="1"/>
          <p:nvPr/>
        </p:nvSpPr>
        <p:spPr>
          <a:xfrm>
            <a:off x="1024128" y="5102352"/>
            <a:ext cx="1968932" cy="420624"/>
          </a:xfrm>
          <a:prstGeom prst="rect">
            <a:avLst/>
          </a:prstGeom>
          <a:noFill/>
          <a:ln/>
        </p:spPr>
        <p:txBody>
          <a:bodyPr wrap="square" lIns="0" tIns="0" rIns="0" bIns="0" rtlCol="0" anchor="t"/>
          <a:lstStyle/>
          <a:p>
            <a:pPr indent="0" marL="0">
              <a:lnSpc>
                <a:spcPts val="1300"/>
              </a:lnSpc>
              <a:buNone/>
            </a:pPr>
            <a:r>
              <a:rPr lang="en-US" sz="1100" b="1" dirty="0">
                <a:solidFill>
                  <a:srgbClr val="E6EDF3"/>
                </a:solidFill>
                <a:latin typeface="Calibri" pitchFamily="34" charset="0"/>
                <a:ea typeface="Calibri" pitchFamily="34" charset="-122"/>
                <a:cs typeface="Calibri" pitchFamily="34" charset="-120"/>
              </a:rPr>
              <a:t>wind stress, storminess</a:t>
            </a:r>
            <a:endParaRPr lang="en-US" sz="1100" dirty="0"/>
          </a:p>
        </p:txBody>
      </p:sp>
      <p:sp>
        <p:nvSpPr>
          <p:cNvPr id="85" name="Text 83"/>
          <p:cNvSpPr txBox="1"/>
          <p:nvPr/>
        </p:nvSpPr>
        <p:spPr>
          <a:xfrm>
            <a:off x="713232" y="5577840"/>
            <a:ext cx="2279828" cy="475488"/>
          </a:xfrm>
          <a:prstGeom prst="rect">
            <a:avLst/>
          </a:prstGeom>
          <a:noFill/>
          <a:ln/>
        </p:spPr>
        <p:txBody>
          <a:bodyPr wrap="square" lIns="0" tIns="0" rIns="0" bIns="0" rtlCol="0" anchor="t"/>
          <a:lstStyle/>
          <a:p>
            <a:pPr indent="0" marL="0">
              <a:lnSpc>
                <a:spcPts val="1300"/>
              </a:lnSpc>
              <a:buNone/>
            </a:pPr>
            <a:r>
              <a:rPr lang="en-US" sz="1050" dirty="0">
                <a:solidFill>
                  <a:srgbClr val="7D8590"/>
                </a:solidFill>
                <a:latin typeface="Calibri" pitchFamily="34" charset="0"/>
                <a:ea typeface="Calibri" pitchFamily="34" charset="-122"/>
                <a:cs typeface="Calibri" pitchFamily="34" charset="-120"/>
              </a:rPr>
              <a:t>8 dots · 500 km at lags 0–1, then nothing</a:t>
            </a:r>
            <a:endParaRPr lang="en-US" sz="1050" dirty="0"/>
          </a:p>
        </p:txBody>
      </p:sp>
      <p:sp>
        <p:nvSpPr>
          <p:cNvPr id="86" name="Shape 84"/>
          <p:cNvSpPr/>
          <p:nvPr/>
        </p:nvSpPr>
        <p:spPr>
          <a:xfrm>
            <a:off x="3377108" y="4956048"/>
            <a:ext cx="2609012" cy="1170432"/>
          </a:xfrm>
          <a:prstGeom prst="roundRect">
            <a:avLst>
              <a:gd name="adj" fmla="val 4688"/>
            </a:avLst>
          </a:prstGeom>
          <a:solidFill>
            <a:srgbClr val="11161D"/>
          </a:solidFill>
          <a:ln w="12700">
            <a:solidFill>
              <a:srgbClr val="30363D"/>
            </a:solidFill>
            <a:prstDash val="solid"/>
          </a:ln>
        </p:spPr>
      </p:sp>
      <p:sp>
        <p:nvSpPr>
          <p:cNvPr id="87" name="Shape 85"/>
          <p:cNvSpPr/>
          <p:nvPr/>
        </p:nvSpPr>
        <p:spPr>
          <a:xfrm>
            <a:off x="3541700" y="5120640"/>
            <a:ext cx="237744" cy="237744"/>
          </a:xfrm>
          <a:prstGeom prst="ellipse">
            <a:avLst/>
          </a:prstGeom>
          <a:solidFill>
            <a:srgbClr val="4493F8"/>
          </a:solidFill>
          <a:ln w="12700">
            <a:solidFill>
              <a:srgbClr val="4493F8"/>
            </a:solidFill>
            <a:prstDash val="solid"/>
          </a:ln>
        </p:spPr>
      </p:sp>
      <p:sp>
        <p:nvSpPr>
          <p:cNvPr id="88" name="Text 86"/>
          <p:cNvSpPr txBox="1"/>
          <p:nvPr/>
        </p:nvSpPr>
        <p:spPr>
          <a:xfrm>
            <a:off x="3541700" y="5129784"/>
            <a:ext cx="237744" cy="219456"/>
          </a:xfrm>
          <a:prstGeom prst="rect">
            <a:avLst/>
          </a:prstGeom>
          <a:noFill/>
          <a:ln/>
        </p:spPr>
        <p:txBody>
          <a:bodyPr wrap="square" lIns="0" tIns="0" rIns="0" bIns="0" rtlCol="0" anchor="t"/>
          <a:lstStyle/>
          <a:p>
            <a:pPr algn="ctr" indent="0" marL="0">
              <a:buNone/>
            </a:pPr>
            <a:r>
              <a:rPr lang="en-US" sz="1100" b="1" dirty="0">
                <a:solidFill>
                  <a:srgbClr val="0D1117"/>
                </a:solidFill>
                <a:latin typeface="Calibri" pitchFamily="34" charset="0"/>
                <a:ea typeface="Calibri" pitchFamily="34" charset="-122"/>
                <a:cs typeface="Calibri" pitchFamily="34" charset="-120"/>
              </a:rPr>
              <a:t>B</a:t>
            </a:r>
            <a:endParaRPr lang="en-US" sz="1100" dirty="0"/>
          </a:p>
        </p:txBody>
      </p:sp>
      <p:sp>
        <p:nvSpPr>
          <p:cNvPr id="89" name="Text 87"/>
          <p:cNvSpPr txBox="1"/>
          <p:nvPr/>
        </p:nvSpPr>
        <p:spPr>
          <a:xfrm>
            <a:off x="3852596" y="5102352"/>
            <a:ext cx="1968932" cy="420624"/>
          </a:xfrm>
          <a:prstGeom prst="rect">
            <a:avLst/>
          </a:prstGeom>
          <a:noFill/>
          <a:ln/>
        </p:spPr>
        <p:txBody>
          <a:bodyPr wrap="square" lIns="0" tIns="0" rIns="0" bIns="0" rtlCol="0" anchor="t"/>
          <a:lstStyle/>
          <a:p>
            <a:pPr indent="0" marL="0">
              <a:lnSpc>
                <a:spcPts val="1300"/>
              </a:lnSpc>
              <a:buNone/>
            </a:pPr>
            <a:r>
              <a:rPr lang="en-US" sz="1100" b="1" dirty="0">
                <a:solidFill>
                  <a:srgbClr val="E6EDF3"/>
                </a:solidFill>
                <a:latin typeface="Calibri" pitchFamily="34" charset="0"/>
                <a:ea typeface="Calibri" pitchFamily="34" charset="-122"/>
                <a:cs typeface="Calibri" pitchFamily="34" charset="-120"/>
              </a:rPr>
              <a:t>currents, sea-surface height, Argo column</a:t>
            </a:r>
            <a:endParaRPr lang="en-US" sz="1100" dirty="0"/>
          </a:p>
        </p:txBody>
      </p:sp>
      <p:sp>
        <p:nvSpPr>
          <p:cNvPr id="90" name="Text 88"/>
          <p:cNvSpPr txBox="1"/>
          <p:nvPr/>
        </p:nvSpPr>
        <p:spPr>
          <a:xfrm>
            <a:off x="3541700" y="5577840"/>
            <a:ext cx="2279828" cy="475488"/>
          </a:xfrm>
          <a:prstGeom prst="rect">
            <a:avLst/>
          </a:prstGeom>
          <a:noFill/>
          <a:ln/>
        </p:spPr>
        <p:txBody>
          <a:bodyPr wrap="square" lIns="0" tIns="0" rIns="0" bIns="0" rtlCol="0" anchor="t"/>
          <a:lstStyle/>
          <a:p>
            <a:pPr indent="0" marL="0">
              <a:lnSpc>
                <a:spcPts val="1300"/>
              </a:lnSpc>
              <a:buNone/>
            </a:pPr>
            <a:r>
              <a:rPr lang="en-US" sz="1050" dirty="0">
                <a:solidFill>
                  <a:srgbClr val="7D8590"/>
                </a:solidFill>
                <a:latin typeface="Calibri" pitchFamily="34" charset="0"/>
                <a:ea typeface="Calibri" pitchFamily="34" charset="-122"/>
                <a:cs typeface="Calibri" pitchFamily="34" charset="-120"/>
              </a:rPr>
              <a:t>80 dots · disc grows 129.6 × (1+lag) km</a:t>
            </a:r>
            <a:endParaRPr lang="en-US" sz="1050" dirty="0"/>
          </a:p>
        </p:txBody>
      </p:sp>
      <p:sp>
        <p:nvSpPr>
          <p:cNvPr id="91" name="Shape 89"/>
          <p:cNvSpPr/>
          <p:nvPr/>
        </p:nvSpPr>
        <p:spPr>
          <a:xfrm>
            <a:off x="6205576" y="4956048"/>
            <a:ext cx="2609012" cy="1170432"/>
          </a:xfrm>
          <a:prstGeom prst="roundRect">
            <a:avLst>
              <a:gd name="adj" fmla="val 4688"/>
            </a:avLst>
          </a:prstGeom>
          <a:solidFill>
            <a:srgbClr val="11161D"/>
          </a:solidFill>
          <a:ln w="12700">
            <a:solidFill>
              <a:srgbClr val="30363D"/>
            </a:solidFill>
            <a:prstDash val="solid"/>
          </a:ln>
        </p:spPr>
      </p:sp>
      <p:sp>
        <p:nvSpPr>
          <p:cNvPr id="92" name="Shape 90"/>
          <p:cNvSpPr/>
          <p:nvPr/>
        </p:nvSpPr>
        <p:spPr>
          <a:xfrm>
            <a:off x="6370168" y="5120640"/>
            <a:ext cx="237744" cy="237744"/>
          </a:xfrm>
          <a:prstGeom prst="ellipse">
            <a:avLst/>
          </a:prstGeom>
          <a:solidFill>
            <a:srgbClr val="9ACBB0"/>
          </a:solidFill>
          <a:ln w="12700">
            <a:solidFill>
              <a:srgbClr val="9ACBB0"/>
            </a:solidFill>
            <a:prstDash val="solid"/>
          </a:ln>
        </p:spPr>
      </p:sp>
      <p:sp>
        <p:nvSpPr>
          <p:cNvPr id="93" name="Text 91"/>
          <p:cNvSpPr txBox="1"/>
          <p:nvPr/>
        </p:nvSpPr>
        <p:spPr>
          <a:xfrm>
            <a:off x="6370168" y="5129784"/>
            <a:ext cx="237744" cy="219456"/>
          </a:xfrm>
          <a:prstGeom prst="rect">
            <a:avLst/>
          </a:prstGeom>
          <a:noFill/>
          <a:ln/>
        </p:spPr>
        <p:txBody>
          <a:bodyPr wrap="square" lIns="0" tIns="0" rIns="0" bIns="0" rtlCol="0" anchor="t"/>
          <a:lstStyle/>
          <a:p>
            <a:pPr algn="ctr" indent="0" marL="0">
              <a:buNone/>
            </a:pPr>
            <a:r>
              <a:rPr lang="en-US" sz="1100" b="1" dirty="0">
                <a:solidFill>
                  <a:srgbClr val="0D1117"/>
                </a:solidFill>
                <a:latin typeface="Calibri" pitchFamily="34" charset="0"/>
                <a:ea typeface="Calibri" pitchFamily="34" charset="-122"/>
                <a:cs typeface="Calibri" pitchFamily="34" charset="-120"/>
              </a:rPr>
              <a:t>C</a:t>
            </a:r>
            <a:endParaRPr lang="en-US" sz="1100" dirty="0"/>
          </a:p>
        </p:txBody>
      </p:sp>
      <p:sp>
        <p:nvSpPr>
          <p:cNvPr id="94" name="Text 92"/>
          <p:cNvSpPr txBox="1"/>
          <p:nvPr/>
        </p:nvSpPr>
        <p:spPr>
          <a:xfrm>
            <a:off x="6681064" y="5102352"/>
            <a:ext cx="1968932" cy="420624"/>
          </a:xfrm>
          <a:prstGeom prst="rect">
            <a:avLst/>
          </a:prstGeom>
          <a:noFill/>
          <a:ln/>
        </p:spPr>
        <p:txBody>
          <a:bodyPr wrap="square" lIns="0" tIns="0" rIns="0" bIns="0" rtlCol="0" anchor="t"/>
          <a:lstStyle/>
          <a:p>
            <a:pPr indent="0" marL="0">
              <a:lnSpc>
                <a:spcPts val="1300"/>
              </a:lnSpc>
              <a:buNone/>
            </a:pPr>
            <a:r>
              <a:rPr lang="en-US" sz="1100" b="1" dirty="0">
                <a:solidFill>
                  <a:srgbClr val="E6EDF3"/>
                </a:solidFill>
                <a:latin typeface="Calibri" pitchFamily="34" charset="0"/>
                <a:ea typeface="Calibri" pitchFamily="34" charset="-122"/>
                <a:cs typeface="Calibri" pitchFamily="34" charset="-120"/>
              </a:rPr>
              <a:t>sea-surface temperature, mixed layer</a:t>
            </a:r>
            <a:endParaRPr lang="en-US" sz="1100" dirty="0"/>
          </a:p>
        </p:txBody>
      </p:sp>
      <p:sp>
        <p:nvSpPr>
          <p:cNvPr id="95" name="Text 93"/>
          <p:cNvSpPr txBox="1"/>
          <p:nvPr/>
        </p:nvSpPr>
        <p:spPr>
          <a:xfrm>
            <a:off x="6370168" y="5577840"/>
            <a:ext cx="2279828" cy="475488"/>
          </a:xfrm>
          <a:prstGeom prst="rect">
            <a:avLst/>
          </a:prstGeom>
          <a:noFill/>
          <a:ln/>
        </p:spPr>
        <p:txBody>
          <a:bodyPr wrap="square" lIns="0" tIns="0" rIns="0" bIns="0" rtlCol="0" anchor="t"/>
          <a:lstStyle/>
          <a:p>
            <a:pPr indent="0" marL="0">
              <a:lnSpc>
                <a:spcPts val="1300"/>
              </a:lnSpc>
              <a:buNone/>
            </a:pPr>
            <a:r>
              <a:rPr lang="en-US" sz="1050" dirty="0">
                <a:solidFill>
                  <a:srgbClr val="7D8590"/>
                </a:solidFill>
                <a:latin typeface="Calibri" pitchFamily="34" charset="0"/>
                <a:ea typeface="Calibri" pitchFamily="34" charset="-122"/>
                <a:cs typeface="Calibri" pitchFamily="34" charset="-120"/>
              </a:rPr>
              <a:t>81 dots · 500 → 388.8 → … → 907 km</a:t>
            </a:r>
            <a:endParaRPr lang="en-US" sz="1050" dirty="0"/>
          </a:p>
        </p:txBody>
      </p:sp>
      <p:sp>
        <p:nvSpPr>
          <p:cNvPr id="96" name="Shape 94"/>
          <p:cNvSpPr/>
          <p:nvPr/>
        </p:nvSpPr>
        <p:spPr>
          <a:xfrm>
            <a:off x="9034043" y="4956048"/>
            <a:ext cx="2609012" cy="1170432"/>
          </a:xfrm>
          <a:prstGeom prst="roundRect">
            <a:avLst>
              <a:gd name="adj" fmla="val 4688"/>
            </a:avLst>
          </a:prstGeom>
          <a:solidFill>
            <a:srgbClr val="11161D"/>
          </a:solidFill>
          <a:ln w="12700">
            <a:solidFill>
              <a:srgbClr val="30363D"/>
            </a:solidFill>
            <a:prstDash val="solid"/>
          </a:ln>
        </p:spPr>
      </p:sp>
      <p:sp>
        <p:nvSpPr>
          <p:cNvPr id="97" name="Shape 95"/>
          <p:cNvSpPr/>
          <p:nvPr/>
        </p:nvSpPr>
        <p:spPr>
          <a:xfrm>
            <a:off x="9198635" y="5120640"/>
            <a:ext cx="237744" cy="237744"/>
          </a:xfrm>
          <a:prstGeom prst="ellipse">
            <a:avLst/>
          </a:prstGeom>
          <a:solidFill>
            <a:srgbClr val="7D8590"/>
          </a:solidFill>
          <a:ln w="12700">
            <a:solidFill>
              <a:srgbClr val="7D8590"/>
            </a:solidFill>
            <a:prstDash val="solid"/>
          </a:ln>
        </p:spPr>
      </p:sp>
      <p:sp>
        <p:nvSpPr>
          <p:cNvPr id="98" name="Text 96"/>
          <p:cNvSpPr txBox="1"/>
          <p:nvPr/>
        </p:nvSpPr>
        <p:spPr>
          <a:xfrm>
            <a:off x="9198635" y="5129784"/>
            <a:ext cx="237744" cy="219456"/>
          </a:xfrm>
          <a:prstGeom prst="rect">
            <a:avLst/>
          </a:prstGeom>
          <a:noFill/>
          <a:ln/>
        </p:spPr>
        <p:txBody>
          <a:bodyPr wrap="square" lIns="0" tIns="0" rIns="0" bIns="0" rtlCol="0" anchor="t"/>
          <a:lstStyle/>
          <a:p>
            <a:pPr algn="ctr" indent="0" marL="0">
              <a:buNone/>
            </a:pPr>
            <a:r>
              <a:rPr lang="en-US" sz="1100" b="1" dirty="0">
                <a:solidFill>
                  <a:srgbClr val="0D1117"/>
                </a:solidFill>
                <a:latin typeface="Calibri" pitchFamily="34" charset="0"/>
                <a:ea typeface="Calibri" pitchFamily="34" charset="-122"/>
                <a:cs typeface="Calibri" pitchFamily="34" charset="-120"/>
              </a:rPr>
              <a:t>rg</a:t>
            </a:r>
            <a:endParaRPr lang="en-US" sz="1100" dirty="0"/>
          </a:p>
        </p:txBody>
      </p:sp>
      <p:sp>
        <p:nvSpPr>
          <p:cNvPr id="99" name="Text 97"/>
          <p:cNvSpPr txBox="1"/>
          <p:nvPr/>
        </p:nvSpPr>
        <p:spPr>
          <a:xfrm>
            <a:off x="9509531" y="5102352"/>
            <a:ext cx="1968932" cy="420624"/>
          </a:xfrm>
          <a:prstGeom prst="rect">
            <a:avLst/>
          </a:prstGeom>
          <a:noFill/>
          <a:ln/>
        </p:spPr>
        <p:txBody>
          <a:bodyPr wrap="square" lIns="0" tIns="0" rIns="0" bIns="0" rtlCol="0" anchor="t"/>
          <a:lstStyle/>
          <a:p>
            <a:pPr indent="0" marL="0">
              <a:lnSpc>
                <a:spcPts val="1300"/>
              </a:lnSpc>
              <a:buNone/>
            </a:pPr>
            <a:r>
              <a:rPr lang="en-US" sz="1100" b="1" dirty="0">
                <a:solidFill>
                  <a:srgbClr val="E6EDF3"/>
                </a:solidFill>
                <a:latin typeface="Calibri" pitchFamily="34" charset="0"/>
                <a:ea typeface="Calibri" pitchFamily="34" charset="-122"/>
                <a:cs typeface="Calibri" pitchFamily="34" charset="-120"/>
              </a:rPr>
              <a:t>Argo depth channels</a:t>
            </a:r>
            <a:endParaRPr lang="en-US" sz="1100" dirty="0"/>
          </a:p>
        </p:txBody>
      </p:sp>
      <p:sp>
        <p:nvSpPr>
          <p:cNvPr id="100" name="Text 98"/>
          <p:cNvSpPr txBox="1"/>
          <p:nvPr/>
        </p:nvSpPr>
        <p:spPr>
          <a:xfrm>
            <a:off x="9198635" y="5577840"/>
            <a:ext cx="2279828" cy="475488"/>
          </a:xfrm>
          <a:prstGeom prst="rect">
            <a:avLst/>
          </a:prstGeom>
          <a:noFill/>
          <a:ln/>
        </p:spPr>
        <p:txBody>
          <a:bodyPr wrap="square" lIns="0" tIns="0" rIns="0" bIns="0" rtlCol="0" anchor="t"/>
          <a:lstStyle/>
          <a:p>
            <a:pPr indent="0" marL="0">
              <a:lnSpc>
                <a:spcPts val="1300"/>
              </a:lnSpc>
              <a:buNone/>
            </a:pPr>
            <a:r>
              <a:rPr lang="en-US" sz="1050" dirty="0">
                <a:solidFill>
                  <a:srgbClr val="7D8590"/>
                </a:solidFill>
                <a:latin typeface="Calibri" pitchFamily="34" charset="0"/>
                <a:ea typeface="Calibri" pitchFamily="34" charset="-122"/>
                <a:cs typeface="Calibri" pitchFamily="34" charset="-120"/>
              </a:rPr>
              <a:t>6 dots · anchor column only, no disc</a:t>
            </a:r>
            <a:endParaRPr lang="en-US" sz="1050" dirty="0"/>
          </a:p>
        </p:txBody>
      </p:sp>
      <p:sp>
        <p:nvSpPr>
          <p:cNvPr id="101" name="Text 99"/>
          <p:cNvSpPr txBox="1"/>
          <p:nvPr/>
        </p:nvSpPr>
        <p:spPr>
          <a:xfrm>
            <a:off x="548640" y="6144768"/>
            <a:ext cx="11094415" cy="256032"/>
          </a:xfrm>
          <a:prstGeom prst="rect">
            <a:avLst/>
          </a:prstGeom>
          <a:noFill/>
          <a:ln/>
        </p:spPr>
        <p:txBody>
          <a:bodyPr wrap="square" lIns="0" tIns="0" rIns="0" bIns="0" rtlCol="0" anchor="t"/>
          <a:lstStyle/>
          <a:p>
            <a:pPr algn="ctr" indent="0" marL="0">
              <a:buNone/>
            </a:pPr>
            <a:r>
              <a:rPr lang="en-US" sz="1100" i="1" dirty="0">
                <a:solidFill>
                  <a:srgbClr val="7D8590"/>
                </a:solidFill>
                <a:latin typeface="Calibri" pitchFamily="34" charset="0"/>
                <a:ea typeface="Calibri" pitchFamily="34" charset="-122"/>
                <a:cs typeface="Calibri" pitchFamily="34" charset="-120"/>
              </a:rPr>
              <a:t>A 8 · B 80 · rg 6 · C 81  →  706 dots</a:t>
            </a:r>
            <a:endParaRPr lang="en-US" sz="1100" dirty="0"/>
          </a:p>
        </p:txBody>
      </p:sp>
      <p:sp>
        <p:nvSpPr>
          <p:cNvPr id="102" name="Shape 100"/>
          <p:cNvSpPr/>
          <p:nvPr/>
        </p:nvSpPr>
        <p:spPr>
          <a:xfrm>
            <a:off x="9006840" y="1481328"/>
            <a:ext cx="2743200" cy="3017520"/>
          </a:xfrm>
          <a:prstGeom prst="roundRect">
            <a:avLst>
              <a:gd name="adj" fmla="val 2000"/>
            </a:avLst>
          </a:prstGeom>
          <a:solidFill>
            <a:srgbClr val="11161D"/>
          </a:solidFill>
          <a:ln w="12700">
            <a:solidFill>
              <a:srgbClr val="30363D"/>
            </a:solidFill>
            <a:prstDash val="solid"/>
          </a:ln>
        </p:spPr>
      </p:sp>
      <p:pic>
        <p:nvPicPr>
          <p:cNvPr id="103" name="Image 0" descr="/tmp/cones-whatif.png">    </p:cNvPr>
          <p:cNvPicPr>
            <a:picLocks noChangeAspect="1"/>
          </p:cNvPicPr>
          <p:nvPr/>
        </p:nvPicPr>
        <p:blipFill>
          <a:blip r:embed="rId1"/>
          <a:stretch>
            <a:fillRect/>
          </a:stretch>
        </p:blipFill>
        <p:spPr>
          <a:xfrm>
            <a:off x="9189720" y="1664208"/>
            <a:ext cx="2377440" cy="2304288"/>
          </a:xfrm>
          <a:prstGeom prst="rect">
            <a:avLst/>
          </a:prstGeom>
        </p:spPr>
      </p:pic>
      <p:sp>
        <p:nvSpPr>
          <p:cNvPr id="104" name="Text 101"/>
          <p:cNvSpPr txBox="1"/>
          <p:nvPr/>
        </p:nvSpPr>
        <p:spPr>
          <a:xfrm>
            <a:off x="9098280" y="4041648"/>
            <a:ext cx="2560320" cy="365760"/>
          </a:xfrm>
          <a:prstGeom prst="rect">
            <a:avLst/>
          </a:prstGeom>
          <a:noFill/>
          <a:ln/>
        </p:spPr>
        <p:txBody>
          <a:bodyPr wrap="square" lIns="0" tIns="0" rIns="0" bIns="0" rtlCol="0" anchor="t"/>
          <a:lstStyle/>
          <a:p>
            <a:pPr algn="ctr" indent="0" marL="0">
              <a:buNone/>
            </a:pPr>
            <a:r>
              <a:rPr lang="en-US" sz="1050" dirty="0">
                <a:solidFill>
                  <a:srgbClr val="7D8590"/>
                </a:solidFill>
                <a:latin typeface="Calibri" pitchFamily="34" charset="0"/>
                <a:ea typeface="Calibri" pitchFamily="34" charset="-122"/>
                <a:cs typeface="Calibri" pitchFamily="34" charset="-120"/>
              </a:rPr>
              <a:t>live on the app’s Cones tab</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WHAT IS MATERIALIZED TODAY</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The dataset is a distribution, not a list of files</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4415" cy="914400"/>
        </p:xfrm>
        <a:graphic>
          <a:graphicData uri="http://schemas.openxmlformats.org/drawingml/2006/table">
            <a:tbl>
              <a:tblPr/>
              <a:tblGrid>
                <a:gridCol w="3776472"/>
                <a:gridCol w="2011680"/>
                <a:gridCol w="2743200"/>
                <a:gridCol w="2563063"/>
              </a:tblGrid>
              <a:tr h="429768">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thing</a:t>
                      </a:r>
                      <a:endParaRPr lang="en-US" sz="115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202F"/>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202F"/>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when made</a:t>
                      </a:r>
                      <a:endParaRPr lang="en-US" sz="115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202F"/>
                    </a:solidFill>
                  </a:tcPr>
                </a:tc>
                <a:tc>
                  <a:txBody>
                    <a:bodyPr/>
                    <a:lstStyle/>
                    <a:p>
                      <a:pPr indent="0" marL="0">
                        <a:buNone/>
                      </a:pPr>
                      <a:r>
                        <a:rPr lang="en-US" sz="1150" b="1" dirty="0">
                          <a:solidFill>
                            <a:srgbClr val="4493F8"/>
                          </a:solidFill>
                          <a:latin typeface="Calibri" pitchFamily="34" charset="0"/>
                          <a:ea typeface="Calibri" pitchFamily="34" charset="-122"/>
                          <a:cs typeface="Calibri" pitchFamily="34" charset="-120"/>
                        </a:rPr>
                        <a:t>keyed by</a:t>
                      </a:r>
                      <a:endParaRPr lang="en-US" sz="115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202F"/>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the input tensor (family 4 r3)</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35.7 GB float16</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once, sha-pinned (fa460837fa)</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its sha256</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the anomaly-space scratch copy</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36 GB</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per run, ~40 min</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(per run)</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per-row dot tables (281 rows)</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tiny</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per run, 0.8 s</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geometry constants</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the observed mask</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computed per gather</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the fixed evaluation anchor set</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1,024 anchors</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per run, from seed+991</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seed</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the velocity-probe anchors</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2,048</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per run, seed+7717</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seed</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the training anchor stream and mask draws</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implied</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per run, from the seed</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seed</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61B22"/>
                    </a:solidFill>
                  </a:tcPr>
                </a:tc>
              </a:tr>
              <a:tr h="429768">
                <a:tc>
                  <a:txBody>
                    <a:bodyPr/>
                    <a:lstStyle/>
                    <a:p>
                      <a:pPr indent="0" marL="0">
                        <a:buNone/>
                      </a:pPr>
                      <a:r>
                        <a:rPr lang="en-US" sz="1200" b="1" dirty="0">
                          <a:solidFill>
                            <a:srgbClr val="E6EDF3"/>
                          </a:solidFill>
                          <a:latin typeface="Calibri" pitchFamily="34" charset="0"/>
                          <a:ea typeface="Calibri" pitchFamily="34" charset="-122"/>
                          <a:cs typeface="Calibri" pitchFamily="34" charset="-120"/>
                        </a:rPr>
                        <a:t>(stage 2) the embedding cache Z</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17.4 GB float16</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once per codec × tensor</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c>
                  <a:txBody>
                    <a:bodyPr/>
                    <a:lstStyle/>
                    <a:p>
                      <a:pPr indent="0" marL="0">
                        <a:buNone/>
                      </a:pPr>
                      <a:r>
                        <a:rPr lang="en-US" sz="1200" dirty="0">
                          <a:solidFill>
                            <a:srgbClr val="7D8590"/>
                          </a:solidFill>
                          <a:latin typeface="Calibri" pitchFamily="34" charset="0"/>
                          <a:ea typeface="Calibri" pitchFamily="34" charset="-122"/>
                          <a:cs typeface="Calibri" pitchFamily="34" charset="-120"/>
                        </a:rPr>
                        <a:t>codec-weight hash × tensor sha</a:t>
                      </a:r>
                      <a:endParaRPr lang="en-US" sz="1200" dirty="0">
                        <a:latin typeface="Calibri" charset="0"/>
                        <a:ea typeface="Calibri" charset="0"/>
                        <a:cs typeface="Calibri" charset="0"/>
                      </a:endParaRPr>
                    </a:p>
                  </a:txBody>
                  <a:tcPr marL="101600" marR="101600" marT="50800" marB="50800" anchor="ctr">
                    <a:lnL w="9525" cap="flat" cmpd="sng" algn="ctr">
                      <a:solidFill>
                        <a:srgbClr val="30363D"/>
                      </a:solidFill>
                      <a:prstDash val="solid"/>
                      <a:round/>
                      <a:headEnd type="none" w="med" len="med"/>
                      <a:tailEnd type="none" w="med" len="med"/>
                    </a:lnL>
                    <a:lnR w="9525" cap="flat" cmpd="sng" algn="ctr">
                      <a:solidFill>
                        <a:srgbClr val="30363D"/>
                      </a:solidFill>
                      <a:prstDash val="solid"/>
                      <a:round/>
                      <a:headEnd type="none" w="med" len="med"/>
                      <a:tailEnd type="none" w="med" len="med"/>
                    </a:lnR>
                    <a:lnT w="9525" cap="flat" cmpd="sng" algn="ctr">
                      <a:solidFill>
                        <a:srgbClr val="30363D"/>
                      </a:solidFill>
                      <a:prstDash val="solid"/>
                      <a:round/>
                      <a:headEnd type="none" w="med" len="med"/>
                      <a:tailEnd type="none" w="med" len="med"/>
                    </a:lnT>
                    <a:lnB w="9525" cap="flat" cmpd="sng" algn="ctr">
                      <a:solidFill>
                        <a:srgbClr val="30363D"/>
                      </a:solidFill>
                      <a:prstDash val="solid"/>
                      <a:round/>
                      <a:headEnd type="none" w="med" len="med"/>
                      <a:tailEnd type="none" w="med" len="med"/>
                    </a:lnB>
                    <a:solidFill>
                      <a:srgbClr val="11161D"/>
                    </a:solidFill>
                  </a:tcPr>
                </a:tc>
              </a:tr>
            </a:tbl>
          </a:graphicData>
        </a:graphic>
      </p:graphicFrame>
      <p:sp>
        <p:nvSpPr>
          <p:cNvPr id="7" name="Shape 4"/>
          <p:cNvSpPr/>
          <p:nvPr/>
        </p:nvSpPr>
        <p:spPr>
          <a:xfrm>
            <a:off x="548640" y="5532120"/>
            <a:ext cx="11094415" cy="658368"/>
          </a:xfrm>
          <a:prstGeom prst="roundRect">
            <a:avLst>
              <a:gd name="adj" fmla="val 8333"/>
            </a:avLst>
          </a:prstGeom>
          <a:solidFill>
            <a:srgbClr val="11202F"/>
          </a:solidFill>
          <a:ln w="12700">
            <a:solidFill>
              <a:srgbClr val="4493F8"/>
            </a:solidFill>
            <a:prstDash val="solid"/>
          </a:ln>
        </p:spPr>
      </p:sp>
      <p:sp>
        <p:nvSpPr>
          <p:cNvPr id="8" name="Text 5"/>
          <p:cNvSpPr txBox="1"/>
          <p:nvPr/>
        </p:nvSpPr>
        <p:spPr>
          <a:xfrm>
            <a:off x="804672" y="5705856"/>
            <a:ext cx="10582351" cy="329184"/>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Everything else — the example itself — is derived on the fly.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HOW ANCHORS ARE DRAWN</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Uniform draws from 251 million anchors</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536192"/>
            <a:ext cx="3527450" cy="1691640"/>
          </a:xfrm>
          <a:prstGeom prst="roundRect">
            <a:avLst>
              <a:gd name="adj" fmla="val 3243"/>
            </a:avLst>
          </a:prstGeom>
          <a:solidFill>
            <a:srgbClr val="161B22"/>
          </a:solidFill>
          <a:ln w="12700">
            <a:solidFill>
              <a:srgbClr val="30363D"/>
            </a:solidFill>
            <a:prstDash val="solid"/>
          </a:ln>
        </p:spPr>
      </p:sp>
      <p:sp>
        <p:nvSpPr>
          <p:cNvPr id="7" name="Text 5"/>
          <p:cNvSpPr txBox="1"/>
          <p:nvPr/>
        </p:nvSpPr>
        <p:spPr>
          <a:xfrm>
            <a:off x="768096" y="1700784"/>
            <a:ext cx="3088538" cy="548640"/>
          </a:xfrm>
          <a:prstGeom prst="rect">
            <a:avLst/>
          </a:prstGeom>
          <a:noFill/>
          <a:ln/>
        </p:spPr>
        <p:txBody>
          <a:bodyPr wrap="square" lIns="0" tIns="0" rIns="0" bIns="0" rtlCol="0" anchor="t"/>
          <a:lstStyle/>
          <a:p>
            <a:pPr indent="0" marL="0">
              <a:buNone/>
            </a:pPr>
            <a:r>
              <a:rPr lang="en-US" sz="3000" b="1" dirty="0">
                <a:solidFill>
                  <a:srgbClr val="4493F8"/>
                </a:solidFill>
                <a:latin typeface="Georgia" pitchFamily="34" charset="0"/>
                <a:ea typeface="Georgia" pitchFamily="34" charset="-122"/>
                <a:cs typeface="Georgia" pitchFamily="34" charset="-120"/>
              </a:rPr>
              <a:t>2,891</a:t>
            </a:r>
            <a:endParaRPr lang="en-US" sz="3000" dirty="0"/>
          </a:p>
        </p:txBody>
      </p:sp>
      <p:sp>
        <p:nvSpPr>
          <p:cNvPr id="8" name="Text 6"/>
          <p:cNvSpPr txBox="1"/>
          <p:nvPr/>
        </p:nvSpPr>
        <p:spPr>
          <a:xfrm>
            <a:off x="768096" y="2267712"/>
            <a:ext cx="3088538"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of 3,142 bins are admissible</a:t>
            </a:r>
            <a:endParaRPr lang="en-US" sz="1300" dirty="0"/>
          </a:p>
        </p:txBody>
      </p:sp>
      <p:sp>
        <p:nvSpPr>
          <p:cNvPr id="9" name="Text 7"/>
          <p:cNvSpPr txBox="1"/>
          <p:nvPr/>
        </p:nvSpPr>
        <p:spPr>
          <a:xfrm>
            <a:off x="768096" y="2560320"/>
            <a:ext cx="3088538" cy="566928"/>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all nine bins t−6 … t+2 must exist and be training bins</a:t>
            </a:r>
            <a:endParaRPr lang="en-US" sz="1150" dirty="0"/>
          </a:p>
        </p:txBody>
      </p:sp>
      <p:sp>
        <p:nvSpPr>
          <p:cNvPr id="10" name="Shape 8"/>
          <p:cNvSpPr/>
          <p:nvPr/>
        </p:nvSpPr>
        <p:spPr>
          <a:xfrm>
            <a:off x="4332122" y="1536192"/>
            <a:ext cx="3527450" cy="1691640"/>
          </a:xfrm>
          <a:prstGeom prst="roundRect">
            <a:avLst>
              <a:gd name="adj" fmla="val 3243"/>
            </a:avLst>
          </a:prstGeom>
          <a:solidFill>
            <a:srgbClr val="161B22"/>
          </a:solidFill>
          <a:ln w="12700">
            <a:solidFill>
              <a:srgbClr val="30363D"/>
            </a:solidFill>
            <a:prstDash val="solid"/>
          </a:ln>
        </p:spPr>
      </p:sp>
      <p:sp>
        <p:nvSpPr>
          <p:cNvPr id="11" name="Text 9"/>
          <p:cNvSpPr txBox="1"/>
          <p:nvPr/>
        </p:nvSpPr>
        <p:spPr>
          <a:xfrm>
            <a:off x="4551578" y="1700784"/>
            <a:ext cx="3088538" cy="548640"/>
          </a:xfrm>
          <a:prstGeom prst="rect">
            <a:avLst/>
          </a:prstGeom>
          <a:noFill/>
          <a:ln/>
        </p:spPr>
        <p:txBody>
          <a:bodyPr wrap="square" lIns="0" tIns="0" rIns="0" bIns="0" rtlCol="0" anchor="t"/>
          <a:lstStyle/>
          <a:p>
            <a:pPr indent="0" marL="0">
              <a:buNone/>
            </a:pPr>
            <a:r>
              <a:rPr lang="en-US" sz="3000" b="1" dirty="0">
                <a:solidFill>
                  <a:srgbClr val="4493F8"/>
                </a:solidFill>
                <a:latin typeface="Georgia" pitchFamily="34" charset="0"/>
                <a:ea typeface="Georgia" pitchFamily="34" charset="-122"/>
                <a:cs typeface="Georgia" pitchFamily="34" charset="-120"/>
              </a:rPr>
              <a:t>≈ 86,700</a:t>
            </a:r>
            <a:endParaRPr lang="en-US" sz="3000" dirty="0"/>
          </a:p>
        </p:txBody>
      </p:sp>
      <p:sp>
        <p:nvSpPr>
          <p:cNvPr id="12" name="Text 10"/>
          <p:cNvSpPr txBox="1"/>
          <p:nvPr/>
        </p:nvSpPr>
        <p:spPr>
          <a:xfrm>
            <a:off x="4551578" y="2267712"/>
            <a:ext cx="3088538"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ocean cells</a:t>
            </a:r>
            <a:endParaRPr lang="en-US" sz="1300" dirty="0"/>
          </a:p>
        </p:txBody>
      </p:sp>
      <p:sp>
        <p:nvSpPr>
          <p:cNvPr id="13" name="Text 11"/>
          <p:cNvSpPr txBox="1"/>
          <p:nvPr/>
        </p:nvSpPr>
        <p:spPr>
          <a:xfrm>
            <a:off x="4551578" y="2560320"/>
            <a:ext cx="3088538" cy="566928"/>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any cell where a current was ever observed</a:t>
            </a:r>
            <a:endParaRPr lang="en-US" sz="1150" dirty="0"/>
          </a:p>
        </p:txBody>
      </p:sp>
      <p:sp>
        <p:nvSpPr>
          <p:cNvPr id="14" name="Shape 12"/>
          <p:cNvSpPr/>
          <p:nvPr/>
        </p:nvSpPr>
        <p:spPr>
          <a:xfrm>
            <a:off x="8115605" y="1536192"/>
            <a:ext cx="3527450" cy="1691640"/>
          </a:xfrm>
          <a:prstGeom prst="roundRect">
            <a:avLst>
              <a:gd name="adj" fmla="val 3243"/>
            </a:avLst>
          </a:prstGeom>
          <a:solidFill>
            <a:srgbClr val="161B22"/>
          </a:solidFill>
          <a:ln w="12700">
            <a:solidFill>
              <a:srgbClr val="30363D"/>
            </a:solidFill>
            <a:prstDash val="solid"/>
          </a:ln>
        </p:spPr>
      </p:sp>
      <p:sp>
        <p:nvSpPr>
          <p:cNvPr id="15" name="Text 13"/>
          <p:cNvSpPr txBox="1"/>
          <p:nvPr/>
        </p:nvSpPr>
        <p:spPr>
          <a:xfrm>
            <a:off x="8335061" y="1700784"/>
            <a:ext cx="3088538" cy="548640"/>
          </a:xfrm>
          <a:prstGeom prst="rect">
            <a:avLst/>
          </a:prstGeom>
          <a:noFill/>
          <a:ln/>
        </p:spPr>
        <p:txBody>
          <a:bodyPr wrap="square" lIns="0" tIns="0" rIns="0" bIns="0" rtlCol="0" anchor="t"/>
          <a:lstStyle/>
          <a:p>
            <a:pPr indent="0" marL="0">
              <a:buNone/>
            </a:pPr>
            <a:r>
              <a:rPr lang="en-US" sz="3000" b="1" dirty="0">
                <a:solidFill>
                  <a:srgbClr val="E3B341"/>
                </a:solidFill>
                <a:latin typeface="Georgia" pitchFamily="34" charset="0"/>
                <a:ea typeface="Georgia" pitchFamily="34" charset="-122"/>
                <a:cs typeface="Georgia" pitchFamily="34" charset="-120"/>
              </a:rPr>
              <a:t>≈ 251 M</a:t>
            </a:r>
            <a:endParaRPr lang="en-US" sz="3000" dirty="0"/>
          </a:p>
        </p:txBody>
      </p:sp>
      <p:sp>
        <p:nvSpPr>
          <p:cNvPr id="16" name="Text 14"/>
          <p:cNvSpPr txBox="1"/>
          <p:nvPr/>
        </p:nvSpPr>
        <p:spPr>
          <a:xfrm>
            <a:off x="8335061" y="2267712"/>
            <a:ext cx="3088538"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anchors in the pool</a:t>
            </a:r>
            <a:endParaRPr lang="en-US" sz="1300" dirty="0"/>
          </a:p>
        </p:txBody>
      </p:sp>
      <p:sp>
        <p:nvSpPr>
          <p:cNvPr id="17" name="Text 15"/>
          <p:cNvSpPr txBox="1"/>
          <p:nvPr/>
        </p:nvSpPr>
        <p:spPr>
          <a:xfrm>
            <a:off x="8335061" y="2560320"/>
            <a:ext cx="3088538" cy="566928"/>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drawn uniformly, with replacement — there are no epochs</a:t>
            </a:r>
            <a:endParaRPr lang="en-US" sz="1150" dirty="0"/>
          </a:p>
        </p:txBody>
      </p:sp>
      <p:sp>
        <p:nvSpPr>
          <p:cNvPr id="18" name="Text 16"/>
          <p:cNvSpPr txBox="1"/>
          <p:nvPr/>
        </p:nvSpPr>
        <p:spPr>
          <a:xfrm>
            <a:off x="548640" y="3456432"/>
            <a:ext cx="6400800"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What a 20,000 × 256 run actually sees</a:t>
            </a:r>
            <a:endParaRPr lang="en-US" sz="1300" dirty="0"/>
          </a:p>
        </p:txBody>
      </p:sp>
      <p:sp>
        <p:nvSpPr>
          <p:cNvPr id="19" name="Shape 17"/>
          <p:cNvSpPr/>
          <p:nvPr/>
        </p:nvSpPr>
        <p:spPr>
          <a:xfrm>
            <a:off x="548640" y="3785616"/>
            <a:ext cx="11094415" cy="384048"/>
          </a:xfrm>
          <a:prstGeom prst="roundRect">
            <a:avLst>
              <a:gd name="adj" fmla="val 11905"/>
            </a:avLst>
          </a:prstGeom>
          <a:solidFill>
            <a:srgbClr val="161B22"/>
          </a:solidFill>
          <a:ln w="12700">
            <a:solidFill>
              <a:srgbClr val="30363D"/>
            </a:solidFill>
            <a:prstDash val="solid"/>
          </a:ln>
        </p:spPr>
      </p:sp>
      <p:sp>
        <p:nvSpPr>
          <p:cNvPr id="20" name="Shape 18"/>
          <p:cNvSpPr/>
          <p:nvPr/>
        </p:nvSpPr>
        <p:spPr>
          <a:xfrm>
            <a:off x="548640" y="3785616"/>
            <a:ext cx="221888" cy="384048"/>
          </a:xfrm>
          <a:prstGeom prst="roundRect">
            <a:avLst>
              <a:gd name="adj" fmla="val 20605"/>
            </a:avLst>
          </a:prstGeom>
          <a:solidFill>
            <a:srgbClr val="4493F8"/>
          </a:solidFill>
          <a:ln w="12700">
            <a:solidFill>
              <a:srgbClr val="4493F8"/>
            </a:solidFill>
            <a:prstDash val="solid"/>
          </a:ln>
        </p:spPr>
      </p:sp>
      <p:sp>
        <p:nvSpPr>
          <p:cNvPr id="21" name="Text 19"/>
          <p:cNvSpPr txBox="1"/>
          <p:nvPr/>
        </p:nvSpPr>
        <p:spPr>
          <a:xfrm>
            <a:off x="935120" y="3831336"/>
            <a:ext cx="6400800" cy="292608"/>
          </a:xfrm>
          <a:prstGeom prst="rect">
            <a:avLst/>
          </a:prstGeom>
          <a:noFill/>
          <a:ln/>
        </p:spPr>
        <p:txBody>
          <a:bodyPr wrap="square" lIns="0" tIns="0" rIns="0" bIns="0" rtlCol="0" anchor="t"/>
          <a:lstStyle/>
          <a:p>
            <a:pPr indent="0" marL="0">
              <a:buNone/>
            </a:pPr>
            <a:r>
              <a:rPr lang="en-US" sz="1250" dirty="0">
                <a:solidFill>
                  <a:srgbClr val="E6EDF3"/>
                </a:solidFill>
                <a:latin typeface="Calibri" pitchFamily="34" charset="0"/>
                <a:ea typeface="Calibri" pitchFamily="34" charset="-122"/>
                <a:cs typeface="Calibri" pitchFamily="34" charset="-120"/>
              </a:rPr>
              <a:t>5.1 million anchors = 2 % of the pool</a:t>
            </a:r>
            <a:endParaRPr lang="en-US" sz="1250" dirty="0"/>
          </a:p>
        </p:txBody>
      </p:sp>
      <p:sp>
        <p:nvSpPr>
          <p:cNvPr id="22" name="Text 20"/>
          <p:cNvSpPr txBox="1"/>
          <p:nvPr/>
        </p:nvSpPr>
        <p:spPr>
          <a:xfrm>
            <a:off x="548640" y="4526280"/>
            <a:ext cx="11094415" cy="1554480"/>
          </a:xfrm>
          <a:prstGeom prst="rect">
            <a:avLst/>
          </a:prstGeom>
          <a:noFill/>
          <a:ln/>
        </p:spPr>
        <p:txBody>
          <a:bodyPr wrap="square" lIns="0" tIns="0" rIns="0" bIns="0" rtlCol="0" anchor="t"/>
          <a:lstStyle/>
          <a:p>
            <a:pPr marL="177800" indent="-177800">
              <a:lnSpc>
                <a:spcPts val="1900"/>
              </a:lnSpc>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251 bins excluded: the three held-out years 2009 / 2017 / 2023 with their 6-bin shadows, and the axis ends.</a:t>
            </a:r>
            <a:endParaRPr lang="en-US" sz="1400" dirty="0"/>
          </a:p>
          <a:p>
            <a:pPr marL="177800" indent="-177800">
              <a:lnSpc>
                <a:spcPts val="1900"/>
              </a:lnSpc>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No duplication in storage, and near-none in sampling — but every tensor value is read by roughly 700 different examples.</a:t>
            </a:r>
            <a:endParaRPr lang="en-US" sz="1400" dirty="0"/>
          </a:p>
          <a:p>
            <a:pPr marL="177800" indent="-177800">
              <a:lnSpc>
                <a:spcPts val="1900"/>
              </a:lnSpc>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That 700× is exactly the duplication a materialized dataset would have to pay in bytes.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BOUNDARY 1 · TIME</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The held-out years, and the shadow around them</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737360"/>
            <a:ext cx="11094415" cy="420624"/>
          </a:xfrm>
          <a:prstGeom prst="rect">
            <a:avLst/>
          </a:prstGeom>
          <a:solidFill>
            <a:srgbClr val="161B22"/>
          </a:solidFill>
          <a:ln w="12700">
            <a:solidFill>
              <a:srgbClr val="30363D"/>
            </a:solidFill>
            <a:prstDash val="solid"/>
          </a:ln>
        </p:spPr>
      </p:sp>
      <p:sp>
        <p:nvSpPr>
          <p:cNvPr id="7" name="Shape 5"/>
          <p:cNvSpPr/>
          <p:nvPr/>
        </p:nvSpPr>
        <p:spPr>
          <a:xfrm>
            <a:off x="7432605" y="1691640"/>
            <a:ext cx="422602" cy="512064"/>
          </a:xfrm>
          <a:prstGeom prst="rect">
            <a:avLst/>
          </a:prstGeom>
          <a:solidFill>
            <a:srgbClr val="E3B341">
              <a:alpha val="40000"/>
            </a:srgbClr>
          </a:solidFill>
          <a:ln w="9525">
            <a:solidFill>
              <a:srgbClr val="E3B341">
                <a:alpha val="60000"/>
              </a:srgbClr>
            </a:solidFill>
            <a:prstDash val="solid"/>
          </a:ln>
        </p:spPr>
      </p:sp>
      <p:sp>
        <p:nvSpPr>
          <p:cNvPr id="8" name="Shape 6"/>
          <p:cNvSpPr/>
          <p:nvPr/>
        </p:nvSpPr>
        <p:spPr>
          <a:xfrm>
            <a:off x="7514901" y="1737360"/>
            <a:ext cx="258010" cy="420624"/>
          </a:xfrm>
          <a:prstGeom prst="rect">
            <a:avLst/>
          </a:prstGeom>
          <a:solidFill>
            <a:srgbClr val="F85149"/>
          </a:solidFill>
          <a:ln w="12700">
            <a:solidFill>
              <a:srgbClr val="F85149"/>
            </a:solidFill>
            <a:prstDash val="solid"/>
          </a:ln>
        </p:spPr>
      </p:sp>
      <p:sp>
        <p:nvSpPr>
          <p:cNvPr id="9" name="Text 7"/>
          <p:cNvSpPr txBox="1"/>
          <p:nvPr/>
        </p:nvSpPr>
        <p:spPr>
          <a:xfrm>
            <a:off x="7103421" y="2249424"/>
            <a:ext cx="1080970" cy="237744"/>
          </a:xfrm>
          <a:prstGeom prst="rect">
            <a:avLst/>
          </a:prstGeom>
          <a:noFill/>
          <a:ln/>
        </p:spPr>
        <p:txBody>
          <a:bodyPr wrap="square" lIns="0" tIns="0" rIns="0" bIns="0" rtlCol="0" anchor="t"/>
          <a:lstStyle/>
          <a:p>
            <a:pPr algn="ctr" indent="0" marL="0">
              <a:buNone/>
            </a:pPr>
            <a:r>
              <a:rPr lang="en-US" sz="1100" b="1" dirty="0">
                <a:solidFill>
                  <a:srgbClr val="F85149"/>
                </a:solidFill>
                <a:latin typeface="Calibri" pitchFamily="34" charset="0"/>
                <a:ea typeface="Calibri" pitchFamily="34" charset="-122"/>
                <a:cs typeface="Calibri" pitchFamily="34" charset="-120"/>
              </a:rPr>
              <a:t>2009</a:t>
            </a:r>
            <a:endParaRPr lang="en-US" sz="1100" dirty="0"/>
          </a:p>
        </p:txBody>
      </p:sp>
      <p:sp>
        <p:nvSpPr>
          <p:cNvPr id="10" name="Shape 8"/>
          <p:cNvSpPr/>
          <p:nvPr/>
        </p:nvSpPr>
        <p:spPr>
          <a:xfrm>
            <a:off x="9496682" y="1691640"/>
            <a:ext cx="422602" cy="512064"/>
          </a:xfrm>
          <a:prstGeom prst="rect">
            <a:avLst/>
          </a:prstGeom>
          <a:solidFill>
            <a:srgbClr val="E3B341">
              <a:alpha val="40000"/>
            </a:srgbClr>
          </a:solidFill>
          <a:ln w="9525">
            <a:solidFill>
              <a:srgbClr val="E3B341">
                <a:alpha val="60000"/>
              </a:srgbClr>
            </a:solidFill>
            <a:prstDash val="solid"/>
          </a:ln>
        </p:spPr>
      </p:sp>
      <p:sp>
        <p:nvSpPr>
          <p:cNvPr id="11" name="Shape 9"/>
          <p:cNvSpPr/>
          <p:nvPr/>
        </p:nvSpPr>
        <p:spPr>
          <a:xfrm>
            <a:off x="9578978" y="1737360"/>
            <a:ext cx="258010" cy="420624"/>
          </a:xfrm>
          <a:prstGeom prst="rect">
            <a:avLst/>
          </a:prstGeom>
          <a:solidFill>
            <a:srgbClr val="F85149"/>
          </a:solidFill>
          <a:ln w="12700">
            <a:solidFill>
              <a:srgbClr val="F85149"/>
            </a:solidFill>
            <a:prstDash val="solid"/>
          </a:ln>
        </p:spPr>
      </p:sp>
      <p:sp>
        <p:nvSpPr>
          <p:cNvPr id="12" name="Text 10"/>
          <p:cNvSpPr txBox="1"/>
          <p:nvPr/>
        </p:nvSpPr>
        <p:spPr>
          <a:xfrm>
            <a:off x="9167498" y="2249424"/>
            <a:ext cx="1080970" cy="237744"/>
          </a:xfrm>
          <a:prstGeom prst="rect">
            <a:avLst/>
          </a:prstGeom>
          <a:noFill/>
          <a:ln/>
        </p:spPr>
        <p:txBody>
          <a:bodyPr wrap="square" lIns="0" tIns="0" rIns="0" bIns="0" rtlCol="0" anchor="t"/>
          <a:lstStyle/>
          <a:p>
            <a:pPr algn="ctr" indent="0" marL="0">
              <a:buNone/>
            </a:pPr>
            <a:r>
              <a:rPr lang="en-US" sz="1100" b="1" dirty="0">
                <a:solidFill>
                  <a:srgbClr val="F85149"/>
                </a:solidFill>
                <a:latin typeface="Calibri" pitchFamily="34" charset="0"/>
                <a:ea typeface="Calibri" pitchFamily="34" charset="-122"/>
                <a:cs typeface="Calibri" pitchFamily="34" charset="-120"/>
              </a:rPr>
              <a:t>2017</a:t>
            </a:r>
            <a:endParaRPr lang="en-US" sz="1100" dirty="0"/>
          </a:p>
        </p:txBody>
      </p:sp>
      <p:sp>
        <p:nvSpPr>
          <p:cNvPr id="13" name="Shape 11"/>
          <p:cNvSpPr/>
          <p:nvPr/>
        </p:nvSpPr>
        <p:spPr>
          <a:xfrm>
            <a:off x="11044740" y="1691640"/>
            <a:ext cx="422602" cy="512064"/>
          </a:xfrm>
          <a:prstGeom prst="rect">
            <a:avLst/>
          </a:prstGeom>
          <a:solidFill>
            <a:srgbClr val="E3B341">
              <a:alpha val="40000"/>
            </a:srgbClr>
          </a:solidFill>
          <a:ln w="9525">
            <a:solidFill>
              <a:srgbClr val="E3B341">
                <a:alpha val="60000"/>
              </a:srgbClr>
            </a:solidFill>
            <a:prstDash val="solid"/>
          </a:ln>
        </p:spPr>
      </p:sp>
      <p:sp>
        <p:nvSpPr>
          <p:cNvPr id="14" name="Shape 12"/>
          <p:cNvSpPr/>
          <p:nvPr/>
        </p:nvSpPr>
        <p:spPr>
          <a:xfrm>
            <a:off x="11127036" y="1737360"/>
            <a:ext cx="258010" cy="420624"/>
          </a:xfrm>
          <a:prstGeom prst="rect">
            <a:avLst/>
          </a:prstGeom>
          <a:solidFill>
            <a:srgbClr val="F85149"/>
          </a:solidFill>
          <a:ln w="12700">
            <a:solidFill>
              <a:srgbClr val="F85149"/>
            </a:solidFill>
            <a:prstDash val="solid"/>
          </a:ln>
        </p:spPr>
      </p:sp>
      <p:sp>
        <p:nvSpPr>
          <p:cNvPr id="15" name="Text 13"/>
          <p:cNvSpPr txBox="1"/>
          <p:nvPr/>
        </p:nvSpPr>
        <p:spPr>
          <a:xfrm>
            <a:off x="10715556" y="2249424"/>
            <a:ext cx="1080970" cy="237744"/>
          </a:xfrm>
          <a:prstGeom prst="rect">
            <a:avLst/>
          </a:prstGeom>
          <a:noFill/>
          <a:ln/>
        </p:spPr>
        <p:txBody>
          <a:bodyPr wrap="square" lIns="0" tIns="0" rIns="0" bIns="0" rtlCol="0" anchor="t"/>
          <a:lstStyle/>
          <a:p>
            <a:pPr algn="ctr" indent="0" marL="0">
              <a:buNone/>
            </a:pPr>
            <a:r>
              <a:rPr lang="en-US" sz="1100" b="1" dirty="0">
                <a:solidFill>
                  <a:srgbClr val="F85149"/>
                </a:solidFill>
                <a:latin typeface="Calibri" pitchFamily="34" charset="0"/>
                <a:ea typeface="Calibri" pitchFamily="34" charset="-122"/>
                <a:cs typeface="Calibri" pitchFamily="34" charset="-120"/>
              </a:rPr>
              <a:t>2023</a:t>
            </a:r>
            <a:endParaRPr lang="en-US" sz="1100" dirty="0"/>
          </a:p>
        </p:txBody>
      </p:sp>
      <p:sp>
        <p:nvSpPr>
          <p:cNvPr id="16" name="Text 14"/>
          <p:cNvSpPr txBox="1"/>
          <p:nvPr/>
        </p:nvSpPr>
        <p:spPr>
          <a:xfrm>
            <a:off x="548640" y="1444752"/>
            <a:ext cx="1828800" cy="237744"/>
          </a:xfrm>
          <a:prstGeom prst="rect">
            <a:avLst/>
          </a:prstGeom>
          <a:noFill/>
          <a:ln/>
        </p:spPr>
        <p:txBody>
          <a:bodyPr wrap="square" lIns="0" tIns="0" rIns="0" bIns="0" rtlCol="0" anchor="t"/>
          <a:lstStyle/>
          <a:p>
            <a:pPr indent="0" marL="0">
              <a:buNone/>
            </a:pPr>
            <a:r>
              <a:rPr lang="en-US" sz="1100" dirty="0">
                <a:solidFill>
                  <a:srgbClr val="7D8590"/>
                </a:solidFill>
                <a:latin typeface="Calibri" pitchFamily="34" charset="0"/>
                <a:ea typeface="Calibri" pitchFamily="34" charset="-122"/>
                <a:cs typeface="Calibri" pitchFamily="34" charset="-120"/>
              </a:rPr>
              <a:t>1982-01-01</a:t>
            </a:r>
            <a:endParaRPr lang="en-US" sz="1100" dirty="0"/>
          </a:p>
        </p:txBody>
      </p:sp>
      <p:sp>
        <p:nvSpPr>
          <p:cNvPr id="17" name="Text 15"/>
          <p:cNvSpPr txBox="1"/>
          <p:nvPr/>
        </p:nvSpPr>
        <p:spPr>
          <a:xfrm>
            <a:off x="9814255" y="1444752"/>
            <a:ext cx="1828800" cy="237744"/>
          </a:xfrm>
          <a:prstGeom prst="rect">
            <a:avLst/>
          </a:prstGeom>
          <a:noFill/>
          <a:ln/>
        </p:spPr>
        <p:txBody>
          <a:bodyPr wrap="square" lIns="0" tIns="0" rIns="0" bIns="0" rtlCol="0" anchor="t"/>
          <a:lstStyle/>
          <a:p>
            <a:pPr algn="r" indent="0" marL="0">
              <a:buNone/>
            </a:pPr>
            <a:r>
              <a:rPr lang="en-US" sz="1100" dirty="0">
                <a:solidFill>
                  <a:srgbClr val="7D8590"/>
                </a:solidFill>
                <a:latin typeface="Calibri" pitchFamily="34" charset="0"/>
                <a:ea typeface="Calibri" pitchFamily="34" charset="-122"/>
                <a:cs typeface="Calibri" pitchFamily="34" charset="-120"/>
              </a:rPr>
              <a:t>2024-12-31</a:t>
            </a:r>
            <a:endParaRPr lang="en-US" sz="1100" dirty="0"/>
          </a:p>
        </p:txBody>
      </p:sp>
      <p:sp>
        <p:nvSpPr>
          <p:cNvPr id="18" name="Text 16"/>
          <p:cNvSpPr txBox="1"/>
          <p:nvPr/>
        </p:nvSpPr>
        <p:spPr>
          <a:xfrm>
            <a:off x="3840480" y="1444752"/>
            <a:ext cx="2377440" cy="237744"/>
          </a:xfrm>
          <a:prstGeom prst="rect">
            <a:avLst/>
          </a:prstGeom>
          <a:noFill/>
          <a:ln/>
        </p:spPr>
        <p:txBody>
          <a:bodyPr wrap="square" lIns="0" tIns="0" rIns="0" bIns="0" rtlCol="0" anchor="t"/>
          <a:lstStyle/>
          <a:p>
            <a:pPr indent="0" marL="0">
              <a:buNone/>
            </a:pPr>
            <a:r>
              <a:rPr lang="en-US" sz="1100" dirty="0">
                <a:solidFill>
                  <a:srgbClr val="F85149"/>
                </a:solidFill>
                <a:latin typeface="Calibri" pitchFamily="34" charset="0"/>
                <a:ea typeface="Calibri" pitchFamily="34" charset="-122"/>
                <a:cs typeface="Calibri" pitchFamily="34" charset="-120"/>
              </a:rPr>
              <a:t>held-out year</a:t>
            </a:r>
            <a:endParaRPr lang="en-US" sz="1100" dirty="0"/>
          </a:p>
        </p:txBody>
      </p:sp>
      <p:sp>
        <p:nvSpPr>
          <p:cNvPr id="19" name="Text 17"/>
          <p:cNvSpPr txBox="1"/>
          <p:nvPr/>
        </p:nvSpPr>
        <p:spPr>
          <a:xfrm>
            <a:off x="5577840" y="1444752"/>
            <a:ext cx="2377440" cy="237744"/>
          </a:xfrm>
          <a:prstGeom prst="rect">
            <a:avLst/>
          </a:prstGeom>
          <a:noFill/>
          <a:ln/>
        </p:spPr>
        <p:txBody>
          <a:bodyPr wrap="square" lIns="0" tIns="0" rIns="0" bIns="0" rtlCol="0" anchor="t"/>
          <a:lstStyle/>
          <a:p>
            <a:pPr indent="0" marL="0">
              <a:buNone/>
            </a:pPr>
            <a:r>
              <a:rPr lang="en-US" sz="1100" dirty="0">
                <a:solidFill>
                  <a:srgbClr val="E3B341"/>
                </a:solidFill>
                <a:latin typeface="Calibri" pitchFamily="34" charset="0"/>
                <a:ea typeface="Calibri" pitchFamily="34" charset="-122"/>
                <a:cs typeface="Calibri" pitchFamily="34" charset="-120"/>
              </a:rPr>
              <a:t>+ shadow</a:t>
            </a:r>
            <a:endParaRPr lang="en-US" sz="1100" dirty="0"/>
          </a:p>
        </p:txBody>
      </p:sp>
      <p:sp>
        <p:nvSpPr>
          <p:cNvPr id="20" name="Text 18"/>
          <p:cNvSpPr txBox="1"/>
          <p:nvPr/>
        </p:nvSpPr>
        <p:spPr>
          <a:xfrm>
            <a:off x="548640" y="2487168"/>
            <a:ext cx="6400800"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Zoom — one year edge, in 5-day bins</a:t>
            </a:r>
            <a:endParaRPr lang="en-US" sz="1300" dirty="0"/>
          </a:p>
        </p:txBody>
      </p:sp>
      <p:sp>
        <p:nvSpPr>
          <p:cNvPr id="21" name="Shape 19"/>
          <p:cNvSpPr/>
          <p:nvPr/>
        </p:nvSpPr>
        <p:spPr>
          <a:xfrm>
            <a:off x="548640" y="2834640"/>
            <a:ext cx="274320" cy="329184"/>
          </a:xfrm>
          <a:prstGeom prst="rect">
            <a:avLst/>
          </a:prstGeom>
          <a:solidFill>
            <a:srgbClr val="1F2A38"/>
          </a:solidFill>
          <a:ln w="12700">
            <a:solidFill>
              <a:srgbClr val="30363D"/>
            </a:solidFill>
            <a:prstDash val="solid"/>
          </a:ln>
        </p:spPr>
      </p:sp>
      <p:sp>
        <p:nvSpPr>
          <p:cNvPr id="22" name="Shape 20"/>
          <p:cNvSpPr/>
          <p:nvPr/>
        </p:nvSpPr>
        <p:spPr>
          <a:xfrm>
            <a:off x="873252" y="2834640"/>
            <a:ext cx="274320" cy="329184"/>
          </a:xfrm>
          <a:prstGeom prst="rect">
            <a:avLst/>
          </a:prstGeom>
          <a:solidFill>
            <a:srgbClr val="1F2A38"/>
          </a:solidFill>
          <a:ln w="12700">
            <a:solidFill>
              <a:srgbClr val="30363D"/>
            </a:solidFill>
            <a:prstDash val="solid"/>
          </a:ln>
        </p:spPr>
      </p:sp>
      <p:sp>
        <p:nvSpPr>
          <p:cNvPr id="23" name="Shape 21"/>
          <p:cNvSpPr/>
          <p:nvPr/>
        </p:nvSpPr>
        <p:spPr>
          <a:xfrm>
            <a:off x="1197864" y="2834640"/>
            <a:ext cx="274320" cy="329184"/>
          </a:xfrm>
          <a:prstGeom prst="rect">
            <a:avLst/>
          </a:prstGeom>
          <a:solidFill>
            <a:srgbClr val="1F2A38"/>
          </a:solidFill>
          <a:ln w="12700">
            <a:solidFill>
              <a:srgbClr val="30363D"/>
            </a:solidFill>
            <a:prstDash val="solid"/>
          </a:ln>
        </p:spPr>
      </p:sp>
      <p:sp>
        <p:nvSpPr>
          <p:cNvPr id="24" name="Shape 22"/>
          <p:cNvSpPr/>
          <p:nvPr/>
        </p:nvSpPr>
        <p:spPr>
          <a:xfrm>
            <a:off x="1522476" y="2834640"/>
            <a:ext cx="274320" cy="329184"/>
          </a:xfrm>
          <a:prstGeom prst="rect">
            <a:avLst/>
          </a:prstGeom>
          <a:solidFill>
            <a:srgbClr val="4A3A16"/>
          </a:solidFill>
          <a:ln w="12700">
            <a:solidFill>
              <a:srgbClr val="E3B341"/>
            </a:solidFill>
            <a:prstDash val="solid"/>
          </a:ln>
        </p:spPr>
      </p:sp>
      <p:sp>
        <p:nvSpPr>
          <p:cNvPr id="25" name="Shape 23"/>
          <p:cNvSpPr/>
          <p:nvPr/>
        </p:nvSpPr>
        <p:spPr>
          <a:xfrm>
            <a:off x="1847088" y="2834640"/>
            <a:ext cx="274320" cy="329184"/>
          </a:xfrm>
          <a:prstGeom prst="rect">
            <a:avLst/>
          </a:prstGeom>
          <a:solidFill>
            <a:srgbClr val="4A3A16"/>
          </a:solidFill>
          <a:ln w="12700">
            <a:solidFill>
              <a:srgbClr val="E3B341"/>
            </a:solidFill>
            <a:prstDash val="solid"/>
          </a:ln>
        </p:spPr>
      </p:sp>
      <p:sp>
        <p:nvSpPr>
          <p:cNvPr id="26" name="Shape 24"/>
          <p:cNvSpPr/>
          <p:nvPr/>
        </p:nvSpPr>
        <p:spPr>
          <a:xfrm>
            <a:off x="2171700" y="2834640"/>
            <a:ext cx="274320" cy="329184"/>
          </a:xfrm>
          <a:prstGeom prst="rect">
            <a:avLst/>
          </a:prstGeom>
          <a:solidFill>
            <a:srgbClr val="4A3A16"/>
          </a:solidFill>
          <a:ln w="12700">
            <a:solidFill>
              <a:srgbClr val="E3B341"/>
            </a:solidFill>
            <a:prstDash val="solid"/>
          </a:ln>
        </p:spPr>
      </p:sp>
      <p:sp>
        <p:nvSpPr>
          <p:cNvPr id="27" name="Shape 25"/>
          <p:cNvSpPr/>
          <p:nvPr/>
        </p:nvSpPr>
        <p:spPr>
          <a:xfrm>
            <a:off x="2496312" y="2834640"/>
            <a:ext cx="274320" cy="329184"/>
          </a:xfrm>
          <a:prstGeom prst="rect">
            <a:avLst/>
          </a:prstGeom>
          <a:solidFill>
            <a:srgbClr val="4A3A16"/>
          </a:solidFill>
          <a:ln w="12700">
            <a:solidFill>
              <a:srgbClr val="E3B341"/>
            </a:solidFill>
            <a:prstDash val="solid"/>
          </a:ln>
        </p:spPr>
      </p:sp>
      <p:sp>
        <p:nvSpPr>
          <p:cNvPr id="28" name="Shape 26"/>
          <p:cNvSpPr/>
          <p:nvPr/>
        </p:nvSpPr>
        <p:spPr>
          <a:xfrm>
            <a:off x="2820924" y="2834640"/>
            <a:ext cx="274320" cy="329184"/>
          </a:xfrm>
          <a:prstGeom prst="rect">
            <a:avLst/>
          </a:prstGeom>
          <a:solidFill>
            <a:srgbClr val="4A3A16"/>
          </a:solidFill>
          <a:ln w="12700">
            <a:solidFill>
              <a:srgbClr val="E3B341"/>
            </a:solidFill>
            <a:prstDash val="solid"/>
          </a:ln>
        </p:spPr>
      </p:sp>
      <p:sp>
        <p:nvSpPr>
          <p:cNvPr id="29" name="Shape 27"/>
          <p:cNvSpPr/>
          <p:nvPr/>
        </p:nvSpPr>
        <p:spPr>
          <a:xfrm>
            <a:off x="3145536" y="2834640"/>
            <a:ext cx="274320" cy="329184"/>
          </a:xfrm>
          <a:prstGeom prst="rect">
            <a:avLst/>
          </a:prstGeom>
          <a:solidFill>
            <a:srgbClr val="4A3A16"/>
          </a:solidFill>
          <a:ln w="12700">
            <a:solidFill>
              <a:srgbClr val="E3B341"/>
            </a:solidFill>
            <a:prstDash val="solid"/>
          </a:ln>
        </p:spPr>
      </p:sp>
      <p:sp>
        <p:nvSpPr>
          <p:cNvPr id="30" name="Shape 28"/>
          <p:cNvSpPr/>
          <p:nvPr/>
        </p:nvSpPr>
        <p:spPr>
          <a:xfrm>
            <a:off x="3470148" y="2834640"/>
            <a:ext cx="274320" cy="329184"/>
          </a:xfrm>
          <a:prstGeom prst="rect">
            <a:avLst/>
          </a:prstGeom>
          <a:solidFill>
            <a:srgbClr val="F85149"/>
          </a:solidFill>
          <a:ln w="12700">
            <a:solidFill>
              <a:srgbClr val="F85149"/>
            </a:solidFill>
            <a:prstDash val="solid"/>
          </a:ln>
        </p:spPr>
      </p:sp>
      <p:sp>
        <p:nvSpPr>
          <p:cNvPr id="31" name="Shape 29"/>
          <p:cNvSpPr/>
          <p:nvPr/>
        </p:nvSpPr>
        <p:spPr>
          <a:xfrm>
            <a:off x="3794760" y="2834640"/>
            <a:ext cx="274320" cy="329184"/>
          </a:xfrm>
          <a:prstGeom prst="rect">
            <a:avLst/>
          </a:prstGeom>
          <a:solidFill>
            <a:srgbClr val="F85149"/>
          </a:solidFill>
          <a:ln w="12700">
            <a:solidFill>
              <a:srgbClr val="F85149"/>
            </a:solidFill>
            <a:prstDash val="solid"/>
          </a:ln>
        </p:spPr>
      </p:sp>
      <p:sp>
        <p:nvSpPr>
          <p:cNvPr id="32" name="Shape 30"/>
          <p:cNvSpPr/>
          <p:nvPr/>
        </p:nvSpPr>
        <p:spPr>
          <a:xfrm>
            <a:off x="4119372" y="2834640"/>
            <a:ext cx="274320" cy="329184"/>
          </a:xfrm>
          <a:prstGeom prst="rect">
            <a:avLst/>
          </a:prstGeom>
          <a:solidFill>
            <a:srgbClr val="F85149"/>
          </a:solidFill>
          <a:ln w="12700">
            <a:solidFill>
              <a:srgbClr val="F85149"/>
            </a:solidFill>
            <a:prstDash val="solid"/>
          </a:ln>
        </p:spPr>
      </p:sp>
      <p:sp>
        <p:nvSpPr>
          <p:cNvPr id="33" name="Shape 31"/>
          <p:cNvSpPr/>
          <p:nvPr/>
        </p:nvSpPr>
        <p:spPr>
          <a:xfrm>
            <a:off x="4443984" y="2834640"/>
            <a:ext cx="274320" cy="329184"/>
          </a:xfrm>
          <a:prstGeom prst="rect">
            <a:avLst/>
          </a:prstGeom>
          <a:solidFill>
            <a:srgbClr val="F85149"/>
          </a:solidFill>
          <a:ln w="12700">
            <a:solidFill>
              <a:srgbClr val="F85149"/>
            </a:solidFill>
            <a:prstDash val="solid"/>
          </a:ln>
        </p:spPr>
      </p:sp>
      <p:sp>
        <p:nvSpPr>
          <p:cNvPr id="34" name="Shape 32"/>
          <p:cNvSpPr/>
          <p:nvPr/>
        </p:nvSpPr>
        <p:spPr>
          <a:xfrm>
            <a:off x="4768596" y="2834640"/>
            <a:ext cx="274320" cy="329184"/>
          </a:xfrm>
          <a:prstGeom prst="rect">
            <a:avLst/>
          </a:prstGeom>
          <a:solidFill>
            <a:srgbClr val="F85149"/>
          </a:solidFill>
          <a:ln w="12700">
            <a:solidFill>
              <a:srgbClr val="F85149"/>
            </a:solidFill>
            <a:prstDash val="solid"/>
          </a:ln>
        </p:spPr>
      </p:sp>
      <p:sp>
        <p:nvSpPr>
          <p:cNvPr id="35" name="Shape 33"/>
          <p:cNvSpPr/>
          <p:nvPr/>
        </p:nvSpPr>
        <p:spPr>
          <a:xfrm>
            <a:off x="5093208" y="2834640"/>
            <a:ext cx="274320" cy="329184"/>
          </a:xfrm>
          <a:prstGeom prst="rect">
            <a:avLst/>
          </a:prstGeom>
          <a:solidFill>
            <a:srgbClr val="F85149"/>
          </a:solidFill>
          <a:ln w="12700">
            <a:solidFill>
              <a:srgbClr val="F85149"/>
            </a:solidFill>
            <a:prstDash val="solid"/>
          </a:ln>
        </p:spPr>
      </p:sp>
      <p:sp>
        <p:nvSpPr>
          <p:cNvPr id="36" name="Shape 34"/>
          <p:cNvSpPr/>
          <p:nvPr/>
        </p:nvSpPr>
        <p:spPr>
          <a:xfrm>
            <a:off x="5417820" y="2834640"/>
            <a:ext cx="274320" cy="329184"/>
          </a:xfrm>
          <a:prstGeom prst="rect">
            <a:avLst/>
          </a:prstGeom>
          <a:solidFill>
            <a:srgbClr val="F85149"/>
          </a:solidFill>
          <a:ln w="12700">
            <a:solidFill>
              <a:srgbClr val="F85149"/>
            </a:solidFill>
            <a:prstDash val="solid"/>
          </a:ln>
        </p:spPr>
      </p:sp>
      <p:sp>
        <p:nvSpPr>
          <p:cNvPr id="37" name="Shape 35"/>
          <p:cNvSpPr/>
          <p:nvPr/>
        </p:nvSpPr>
        <p:spPr>
          <a:xfrm>
            <a:off x="5742432" y="2834640"/>
            <a:ext cx="274320" cy="329184"/>
          </a:xfrm>
          <a:prstGeom prst="rect">
            <a:avLst/>
          </a:prstGeom>
          <a:solidFill>
            <a:srgbClr val="4A3A16"/>
          </a:solidFill>
          <a:ln w="12700">
            <a:solidFill>
              <a:srgbClr val="E3B341"/>
            </a:solidFill>
            <a:prstDash val="solid"/>
          </a:ln>
        </p:spPr>
      </p:sp>
      <p:sp>
        <p:nvSpPr>
          <p:cNvPr id="38" name="Shape 36"/>
          <p:cNvSpPr/>
          <p:nvPr/>
        </p:nvSpPr>
        <p:spPr>
          <a:xfrm>
            <a:off x="6067044" y="2834640"/>
            <a:ext cx="274320" cy="329184"/>
          </a:xfrm>
          <a:prstGeom prst="rect">
            <a:avLst/>
          </a:prstGeom>
          <a:solidFill>
            <a:srgbClr val="4A3A16"/>
          </a:solidFill>
          <a:ln w="12700">
            <a:solidFill>
              <a:srgbClr val="E3B341"/>
            </a:solidFill>
            <a:prstDash val="solid"/>
          </a:ln>
        </p:spPr>
      </p:sp>
      <p:sp>
        <p:nvSpPr>
          <p:cNvPr id="39" name="Shape 37"/>
          <p:cNvSpPr/>
          <p:nvPr/>
        </p:nvSpPr>
        <p:spPr>
          <a:xfrm>
            <a:off x="6391656" y="2834640"/>
            <a:ext cx="274320" cy="329184"/>
          </a:xfrm>
          <a:prstGeom prst="rect">
            <a:avLst/>
          </a:prstGeom>
          <a:solidFill>
            <a:srgbClr val="1F2A38"/>
          </a:solidFill>
          <a:ln w="12700">
            <a:solidFill>
              <a:srgbClr val="30363D"/>
            </a:solidFill>
            <a:prstDash val="solid"/>
          </a:ln>
        </p:spPr>
      </p:sp>
      <p:sp>
        <p:nvSpPr>
          <p:cNvPr id="40" name="Shape 38"/>
          <p:cNvSpPr/>
          <p:nvPr/>
        </p:nvSpPr>
        <p:spPr>
          <a:xfrm>
            <a:off x="6716268" y="2834640"/>
            <a:ext cx="274320" cy="329184"/>
          </a:xfrm>
          <a:prstGeom prst="rect">
            <a:avLst/>
          </a:prstGeom>
          <a:solidFill>
            <a:srgbClr val="1F2A38"/>
          </a:solidFill>
          <a:ln w="12700">
            <a:solidFill>
              <a:srgbClr val="30363D"/>
            </a:solidFill>
            <a:prstDash val="solid"/>
          </a:ln>
        </p:spPr>
      </p:sp>
      <p:sp>
        <p:nvSpPr>
          <p:cNvPr id="41" name="Shape 39"/>
          <p:cNvSpPr/>
          <p:nvPr/>
        </p:nvSpPr>
        <p:spPr>
          <a:xfrm>
            <a:off x="7040880" y="2834640"/>
            <a:ext cx="274320" cy="329184"/>
          </a:xfrm>
          <a:prstGeom prst="rect">
            <a:avLst/>
          </a:prstGeom>
          <a:solidFill>
            <a:srgbClr val="1F2A38"/>
          </a:solidFill>
          <a:ln w="12700">
            <a:solidFill>
              <a:srgbClr val="30363D"/>
            </a:solidFill>
            <a:prstDash val="solid"/>
          </a:ln>
        </p:spPr>
      </p:sp>
      <p:sp>
        <p:nvSpPr>
          <p:cNvPr id="42" name="Shape 40"/>
          <p:cNvSpPr/>
          <p:nvPr/>
        </p:nvSpPr>
        <p:spPr>
          <a:xfrm>
            <a:off x="7365492" y="2834640"/>
            <a:ext cx="274320" cy="329184"/>
          </a:xfrm>
          <a:prstGeom prst="rect">
            <a:avLst/>
          </a:prstGeom>
          <a:solidFill>
            <a:srgbClr val="1F2A38"/>
          </a:solidFill>
          <a:ln w="12700">
            <a:solidFill>
              <a:srgbClr val="30363D"/>
            </a:solidFill>
            <a:prstDash val="solid"/>
          </a:ln>
        </p:spPr>
      </p:sp>
      <p:sp>
        <p:nvSpPr>
          <p:cNvPr id="43" name="Shape 41"/>
          <p:cNvSpPr/>
          <p:nvPr/>
        </p:nvSpPr>
        <p:spPr>
          <a:xfrm>
            <a:off x="7918704" y="2779776"/>
            <a:ext cx="182880" cy="182880"/>
          </a:xfrm>
          <a:prstGeom prst="rect">
            <a:avLst/>
          </a:prstGeom>
          <a:solidFill>
            <a:srgbClr val="1F2A38"/>
          </a:solidFill>
          <a:ln w="12700">
            <a:solidFill>
              <a:srgbClr val="30363D"/>
            </a:solidFill>
            <a:prstDash val="solid"/>
          </a:ln>
        </p:spPr>
      </p:sp>
      <p:sp>
        <p:nvSpPr>
          <p:cNvPr id="44" name="Text 42"/>
          <p:cNvSpPr txBox="1"/>
          <p:nvPr/>
        </p:nvSpPr>
        <p:spPr>
          <a:xfrm>
            <a:off x="8193024" y="2761488"/>
            <a:ext cx="3108960" cy="237744"/>
          </a:xfrm>
          <a:prstGeom prst="rect">
            <a:avLst/>
          </a:prstGeom>
          <a:noFill/>
          <a:ln/>
        </p:spPr>
        <p:txBody>
          <a:bodyPr wrap="square" lIns="0" tIns="0" rIns="0" bIns="0" rtlCol="0" anchor="t"/>
          <a:lstStyle/>
          <a:p>
            <a:pPr indent="0" marL="0">
              <a:buNone/>
            </a:pPr>
            <a:r>
              <a:rPr lang="en-US" sz="1050" dirty="0">
                <a:solidFill>
                  <a:srgbClr val="7D8590"/>
                </a:solidFill>
                <a:latin typeface="Calibri" pitchFamily="34" charset="0"/>
                <a:ea typeface="Calibri" pitchFamily="34" charset="-122"/>
                <a:cs typeface="Calibri" pitchFamily="34" charset="-120"/>
              </a:rPr>
              <a:t>admissible</a:t>
            </a:r>
            <a:endParaRPr lang="en-US" sz="1050" dirty="0"/>
          </a:p>
        </p:txBody>
      </p:sp>
      <p:sp>
        <p:nvSpPr>
          <p:cNvPr id="45" name="Shape 43"/>
          <p:cNvSpPr/>
          <p:nvPr/>
        </p:nvSpPr>
        <p:spPr>
          <a:xfrm>
            <a:off x="7918704" y="3054096"/>
            <a:ext cx="182880" cy="182880"/>
          </a:xfrm>
          <a:prstGeom prst="rect">
            <a:avLst/>
          </a:prstGeom>
          <a:solidFill>
            <a:srgbClr val="4A3A16"/>
          </a:solidFill>
          <a:ln w="12700">
            <a:solidFill>
              <a:srgbClr val="E3B341"/>
            </a:solidFill>
            <a:prstDash val="solid"/>
          </a:ln>
        </p:spPr>
      </p:sp>
      <p:sp>
        <p:nvSpPr>
          <p:cNvPr id="46" name="Text 44"/>
          <p:cNvSpPr txBox="1"/>
          <p:nvPr/>
        </p:nvSpPr>
        <p:spPr>
          <a:xfrm>
            <a:off x="8193024" y="3035808"/>
            <a:ext cx="3108960" cy="237744"/>
          </a:xfrm>
          <a:prstGeom prst="rect">
            <a:avLst/>
          </a:prstGeom>
          <a:noFill/>
          <a:ln/>
        </p:spPr>
        <p:txBody>
          <a:bodyPr wrap="square" lIns="0" tIns="0" rIns="0" bIns="0" rtlCol="0" anchor="t"/>
          <a:lstStyle/>
          <a:p>
            <a:pPr indent="0" marL="0">
              <a:buNone/>
            </a:pPr>
            <a:r>
              <a:rPr lang="en-US" sz="1050" dirty="0">
                <a:solidFill>
                  <a:srgbClr val="7D8590"/>
                </a:solidFill>
                <a:latin typeface="Calibri" pitchFamily="34" charset="0"/>
                <a:ea typeface="Calibri" pitchFamily="34" charset="-122"/>
                <a:cs typeface="Calibri" pitchFamily="34" charset="-120"/>
              </a:rPr>
              <a:t>shadow: 6 bins before, 2 after</a:t>
            </a:r>
            <a:endParaRPr lang="en-US" sz="1050" dirty="0"/>
          </a:p>
        </p:txBody>
      </p:sp>
      <p:sp>
        <p:nvSpPr>
          <p:cNvPr id="47" name="Shape 45"/>
          <p:cNvSpPr/>
          <p:nvPr/>
        </p:nvSpPr>
        <p:spPr>
          <a:xfrm>
            <a:off x="7918704" y="3328416"/>
            <a:ext cx="182880" cy="182880"/>
          </a:xfrm>
          <a:prstGeom prst="rect">
            <a:avLst/>
          </a:prstGeom>
          <a:solidFill>
            <a:srgbClr val="F85149"/>
          </a:solidFill>
          <a:ln w="12700">
            <a:solidFill>
              <a:srgbClr val="F85149"/>
            </a:solidFill>
            <a:prstDash val="solid"/>
          </a:ln>
        </p:spPr>
      </p:sp>
      <p:sp>
        <p:nvSpPr>
          <p:cNvPr id="48" name="Text 46"/>
          <p:cNvSpPr txBox="1"/>
          <p:nvPr/>
        </p:nvSpPr>
        <p:spPr>
          <a:xfrm>
            <a:off x="8193024" y="3310128"/>
            <a:ext cx="3108960" cy="237744"/>
          </a:xfrm>
          <a:prstGeom prst="rect">
            <a:avLst/>
          </a:prstGeom>
          <a:noFill/>
          <a:ln/>
        </p:spPr>
        <p:txBody>
          <a:bodyPr wrap="square" lIns="0" tIns="0" rIns="0" bIns="0" rtlCol="0" anchor="t"/>
          <a:lstStyle/>
          <a:p>
            <a:pPr indent="0" marL="0">
              <a:buNone/>
            </a:pPr>
            <a:r>
              <a:rPr lang="en-US" sz="1050" dirty="0">
                <a:solidFill>
                  <a:srgbClr val="7D8590"/>
                </a:solidFill>
                <a:latin typeface="Calibri" pitchFamily="34" charset="0"/>
                <a:ea typeface="Calibri" pitchFamily="34" charset="-122"/>
                <a:cs typeface="Calibri" pitchFamily="34" charset="-120"/>
              </a:rPr>
              <a:t>held-out year</a:t>
            </a:r>
            <a:endParaRPr lang="en-US" sz="1050" dirty="0"/>
          </a:p>
        </p:txBody>
      </p:sp>
      <p:sp>
        <p:nvSpPr>
          <p:cNvPr id="49" name="Shape 47"/>
          <p:cNvSpPr/>
          <p:nvPr/>
        </p:nvSpPr>
        <p:spPr>
          <a:xfrm>
            <a:off x="548640" y="3547872"/>
            <a:ext cx="5410048" cy="2148840"/>
          </a:xfrm>
          <a:prstGeom prst="roundRect">
            <a:avLst>
              <a:gd name="adj" fmla="val 2553"/>
            </a:avLst>
          </a:prstGeom>
          <a:solidFill>
            <a:srgbClr val="161B22"/>
          </a:solidFill>
          <a:ln w="12700">
            <a:solidFill>
              <a:srgbClr val="3FB950"/>
            </a:solidFill>
            <a:prstDash val="solid"/>
          </a:ln>
        </p:spPr>
      </p:sp>
      <p:sp>
        <p:nvSpPr>
          <p:cNvPr id="50" name="Text 48"/>
          <p:cNvSpPr txBox="1"/>
          <p:nvPr/>
        </p:nvSpPr>
        <p:spPr>
          <a:xfrm>
            <a:off x="786384" y="3712464"/>
            <a:ext cx="4934560" cy="292608"/>
          </a:xfrm>
          <a:prstGeom prst="rect">
            <a:avLst/>
          </a:prstGeom>
          <a:noFill/>
          <a:ln/>
        </p:spPr>
        <p:txBody>
          <a:bodyPr wrap="square" lIns="0" tIns="0" rIns="0" bIns="0" rtlCol="0" anchor="t"/>
          <a:lstStyle/>
          <a:p>
            <a:pPr indent="0" marL="0">
              <a:buNone/>
            </a:pPr>
            <a:r>
              <a:rPr lang="en-US" sz="1500" b="1" dirty="0">
                <a:solidFill>
                  <a:srgbClr val="3FB950"/>
                </a:solidFill>
                <a:latin typeface="Georgia" pitchFamily="34" charset="0"/>
                <a:ea typeface="Georgia" pitchFamily="34" charset="-122"/>
                <a:cs typeface="Georgia" pitchFamily="34" charset="-120"/>
              </a:rPr>
              <a:t>Training — certified</a:t>
            </a:r>
            <a:endParaRPr lang="en-US" sz="1500" dirty="0"/>
          </a:p>
        </p:txBody>
      </p:sp>
      <p:sp>
        <p:nvSpPr>
          <p:cNvPr id="51" name="Text 49"/>
          <p:cNvSpPr txBox="1"/>
          <p:nvPr/>
        </p:nvSpPr>
        <p:spPr>
          <a:xfrm>
            <a:off x="786384" y="4059936"/>
            <a:ext cx="4934560" cy="1508760"/>
          </a:xfrm>
          <a:prstGeom prst="rect">
            <a:avLst/>
          </a:prstGeom>
          <a:noFill/>
          <a:ln/>
        </p:spPr>
        <p:txBody>
          <a:bodyPr wrap="square" lIns="0" tIns="0" rIns="0" bIns="0" rtlCol="0" anchor="t"/>
          <a:lstStyle/>
          <a:p>
            <a:pPr indent="0" marL="0">
              <a:lnSpc>
                <a:spcPts val="1800"/>
              </a:lnSpc>
              <a:buNone/>
            </a:pPr>
            <a:r>
              <a:rPr lang="en-US" sz="1300" dirty="0">
                <a:solidFill>
                  <a:srgbClr val="E6EDF3"/>
                </a:solidFill>
                <a:latin typeface="Calibri" pitchFamily="34" charset="0"/>
                <a:ea typeface="Calibri" pitchFamily="34" charset="-122"/>
                <a:cs typeface="Calibri" pitchFamily="34" charset="-120"/>
              </a:rPr>
              <a:t>The whole cone (t−6 … t+2) must avoid held-out bins. Enforced twice: by the admissibility rule, and by an independent brute-force certificate over 4,096 drawn anchors before the model is built — 0 violations, or the run refuses to start. Runs #536 and #537 both printed 0.</a:t>
            </a:r>
            <a:endParaRPr lang="en-US" sz="1300" dirty="0"/>
          </a:p>
        </p:txBody>
      </p:sp>
      <p:sp>
        <p:nvSpPr>
          <p:cNvPr id="52" name="Shape 50"/>
          <p:cNvSpPr/>
          <p:nvPr/>
        </p:nvSpPr>
        <p:spPr>
          <a:xfrm>
            <a:off x="6233008" y="3547872"/>
            <a:ext cx="5410048" cy="2148840"/>
          </a:xfrm>
          <a:prstGeom prst="roundRect">
            <a:avLst>
              <a:gd name="adj" fmla="val 2553"/>
            </a:avLst>
          </a:prstGeom>
          <a:solidFill>
            <a:srgbClr val="161B22"/>
          </a:solidFill>
          <a:ln w="12700">
            <a:solidFill>
              <a:srgbClr val="E3B341"/>
            </a:solidFill>
            <a:prstDash val="solid"/>
          </a:ln>
        </p:spPr>
      </p:sp>
      <p:sp>
        <p:nvSpPr>
          <p:cNvPr id="53" name="Text 51"/>
          <p:cNvSpPr txBox="1"/>
          <p:nvPr/>
        </p:nvSpPr>
        <p:spPr>
          <a:xfrm>
            <a:off x="6470752" y="3712464"/>
            <a:ext cx="4934560" cy="292608"/>
          </a:xfrm>
          <a:prstGeom prst="rect">
            <a:avLst/>
          </a:prstGeom>
          <a:noFill/>
          <a:ln/>
        </p:spPr>
        <p:txBody>
          <a:bodyPr wrap="square" lIns="0" tIns="0" rIns="0" bIns="0" rtlCol="0" anchor="t"/>
          <a:lstStyle/>
          <a:p>
            <a:pPr indent="0" marL="0">
              <a:buNone/>
            </a:pPr>
            <a:r>
              <a:rPr lang="en-US" sz="1500" b="1" dirty="0">
                <a:solidFill>
                  <a:srgbClr val="E3B341"/>
                </a:solidFill>
                <a:latin typeface="Georgia" pitchFamily="34" charset="0"/>
                <a:ea typeface="Georgia" pitchFamily="34" charset="-122"/>
                <a:cs typeface="Georgia" pitchFamily="34" charset="-120"/>
              </a:rPr>
              <a:t>Evaluation — not certified</a:t>
            </a:r>
            <a:endParaRPr lang="en-US" sz="1500" dirty="0"/>
          </a:p>
        </p:txBody>
      </p:sp>
      <p:sp>
        <p:nvSpPr>
          <p:cNvPr id="54" name="Text 52"/>
          <p:cNvSpPr txBox="1"/>
          <p:nvPr/>
        </p:nvSpPr>
        <p:spPr>
          <a:xfrm>
            <a:off x="6470752" y="4059936"/>
            <a:ext cx="4934560" cy="1508760"/>
          </a:xfrm>
          <a:prstGeom prst="rect">
            <a:avLst/>
          </a:prstGeom>
          <a:noFill/>
          <a:ln/>
        </p:spPr>
        <p:txBody>
          <a:bodyPr wrap="square" lIns="0" tIns="0" rIns="0" bIns="0" rtlCol="0" anchor="t"/>
          <a:lstStyle/>
          <a:p>
            <a:pPr indent="0" marL="0">
              <a:lnSpc>
                <a:spcPts val="1800"/>
              </a:lnSpc>
              <a:buNone/>
            </a:pPr>
            <a:r>
              <a:rPr lang="en-US" sz="1300" dirty="0">
                <a:solidFill>
                  <a:srgbClr val="E6EDF3"/>
                </a:solidFill>
                <a:latin typeface="Calibri" pitchFamily="34" charset="0"/>
                <a:ea typeface="Calibri" pitchFamily="34" charset="-122"/>
                <a:cs typeface="Calibri" pitchFamily="34" charset="-120"/>
              </a:rPr>
              <a:t>Only the anchor bin must be held out; the cone’s context may reach into training bins. About 11 % of evaluation anchors sit within 6 bins of a year edge and straddle. Deliberate — “a held-out measurement, not a second training pool” — but an asymmetry.</a:t>
            </a:r>
            <a:endParaRPr lang="en-US" sz="1300" dirty="0"/>
          </a:p>
        </p:txBody>
      </p:sp>
      <p:sp>
        <p:nvSpPr>
          <p:cNvPr id="55" name="Text 53"/>
          <p:cNvSpPr txBox="1"/>
          <p:nvPr/>
        </p:nvSpPr>
        <p:spPr>
          <a:xfrm>
            <a:off x="548640" y="5852160"/>
            <a:ext cx="11094415" cy="292608"/>
          </a:xfrm>
          <a:prstGeom prst="rect">
            <a:avLst/>
          </a:prstGeom>
          <a:noFill/>
          <a:ln/>
        </p:spPr>
        <p:txBody>
          <a:bodyPr wrap="square" lIns="0" tIns="0" rIns="0" bIns="0" rtlCol="0" anchor="t"/>
          <a:lstStyle/>
          <a:p>
            <a:pPr indent="0" marL="0">
              <a:buNone/>
            </a:pPr>
            <a:r>
              <a:rPr lang="en-US" sz="1250" i="1" dirty="0">
                <a:solidFill>
                  <a:srgbClr val="7D8590"/>
                </a:solidFill>
                <a:latin typeface="Calibri" pitchFamily="34" charset="0"/>
                <a:ea typeface="Calibri" pitchFamily="34" charset="-122"/>
                <a:cs typeface="Calibri" pitchFamily="34" charset="-120"/>
              </a:rPr>
              <a:t>The axis ends: cones that would run off 1982-01-01 or past 2024-12-31 are refused from every pool, never padded.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BOUNDARY 2 · SPACE</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The edge of the map, land, and the dateline</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91640"/>
            <a:ext cx="6126480" cy="3310128"/>
          </a:xfrm>
          <a:prstGeom prst="rect">
            <a:avLst/>
          </a:prstGeom>
          <a:solidFill>
            <a:srgbClr val="0E1A26"/>
          </a:solidFill>
          <a:ln w="15875">
            <a:solidFill>
              <a:srgbClr val="30363D"/>
            </a:solidFill>
            <a:prstDash val="solid"/>
          </a:ln>
        </p:spPr>
      </p:sp>
      <p:sp>
        <p:nvSpPr>
          <p:cNvPr id="7" name="Text 5"/>
          <p:cNvSpPr txBox="1"/>
          <p:nvPr/>
        </p:nvSpPr>
        <p:spPr>
          <a:xfrm>
            <a:off x="530352" y="1417320"/>
            <a:ext cx="1463040" cy="237744"/>
          </a:xfrm>
          <a:prstGeom prst="rect">
            <a:avLst/>
          </a:prstGeom>
          <a:noFill/>
          <a:ln/>
        </p:spPr>
        <p:txBody>
          <a:bodyPr wrap="square" lIns="0" tIns="0" rIns="0" bIns="0" rtlCol="0" anchor="t"/>
          <a:lstStyle/>
          <a:p>
            <a:pPr indent="0" marL="0">
              <a:buNone/>
            </a:pPr>
            <a:r>
              <a:rPr lang="en-US" sz="1050" dirty="0">
                <a:solidFill>
                  <a:srgbClr val="7D8590"/>
                </a:solidFill>
                <a:latin typeface="Calibri" pitchFamily="34" charset="0"/>
                <a:ea typeface="Calibri" pitchFamily="34" charset="-122"/>
                <a:cs typeface="Calibri" pitchFamily="34" charset="-120"/>
              </a:rPr>
              <a:t>0–70°N</a:t>
            </a:r>
            <a:endParaRPr lang="en-US" sz="1050" dirty="0"/>
          </a:p>
        </p:txBody>
      </p:sp>
      <p:sp>
        <p:nvSpPr>
          <p:cNvPr id="8" name="Text 6"/>
          <p:cNvSpPr txBox="1"/>
          <p:nvPr/>
        </p:nvSpPr>
        <p:spPr>
          <a:xfrm>
            <a:off x="548640" y="5056632"/>
            <a:ext cx="1280160" cy="237744"/>
          </a:xfrm>
          <a:prstGeom prst="rect">
            <a:avLst/>
          </a:prstGeom>
          <a:noFill/>
          <a:ln/>
        </p:spPr>
        <p:txBody>
          <a:bodyPr wrap="square" lIns="0" tIns="0" rIns="0" bIns="0" rtlCol="0" anchor="t"/>
          <a:lstStyle/>
          <a:p>
            <a:pPr algn="ctr" indent="0" marL="0">
              <a:buNone/>
            </a:pPr>
            <a:r>
              <a:rPr lang="en-US" sz="1050" dirty="0">
                <a:solidFill>
                  <a:srgbClr val="7D8590"/>
                </a:solidFill>
                <a:latin typeface="Calibri" pitchFamily="34" charset="0"/>
                <a:ea typeface="Calibri" pitchFamily="34" charset="-122"/>
                <a:cs typeface="Calibri" pitchFamily="34" charset="-120"/>
              </a:rPr>
              <a:t>100°W</a:t>
            </a:r>
            <a:endParaRPr lang="en-US" sz="1050" dirty="0"/>
          </a:p>
        </p:txBody>
      </p:sp>
      <p:sp>
        <p:nvSpPr>
          <p:cNvPr id="9" name="Text 7"/>
          <p:cNvSpPr txBox="1"/>
          <p:nvPr/>
        </p:nvSpPr>
        <p:spPr>
          <a:xfrm>
            <a:off x="5394960" y="5056632"/>
            <a:ext cx="1280160" cy="237744"/>
          </a:xfrm>
          <a:prstGeom prst="rect">
            <a:avLst/>
          </a:prstGeom>
          <a:noFill/>
          <a:ln/>
        </p:spPr>
        <p:txBody>
          <a:bodyPr wrap="square" lIns="0" tIns="0" rIns="0" bIns="0" rtlCol="0" anchor="t"/>
          <a:lstStyle/>
          <a:p>
            <a:pPr algn="ctr" indent="0" marL="0">
              <a:buNone/>
            </a:pPr>
            <a:r>
              <a:rPr lang="en-US" sz="1050" dirty="0">
                <a:solidFill>
                  <a:srgbClr val="7D8590"/>
                </a:solidFill>
                <a:latin typeface="Calibri" pitchFamily="34" charset="0"/>
                <a:ea typeface="Calibri" pitchFamily="34" charset="-122"/>
                <a:cs typeface="Calibri" pitchFamily="34" charset="-120"/>
              </a:rPr>
              <a:t>20°E</a:t>
            </a:r>
            <a:endParaRPr lang="en-US" sz="1050" dirty="0"/>
          </a:p>
        </p:txBody>
      </p:sp>
      <p:sp>
        <p:nvSpPr>
          <p:cNvPr id="10" name="Shape 8"/>
          <p:cNvSpPr/>
          <p:nvPr/>
        </p:nvSpPr>
        <p:spPr>
          <a:xfrm>
            <a:off x="868680" y="2103120"/>
            <a:ext cx="1828800" cy="1371600"/>
          </a:xfrm>
          <a:prstGeom prst="ellipse">
            <a:avLst/>
          </a:prstGeom>
          <a:solidFill>
            <a:srgbClr val="343B45"/>
          </a:solidFill>
          <a:ln w="12700">
            <a:solidFill>
              <a:srgbClr val="434B57"/>
            </a:solidFill>
            <a:prstDash val="solid"/>
          </a:ln>
        </p:spPr>
      </p:sp>
      <p:sp>
        <p:nvSpPr>
          <p:cNvPr id="11" name="Shape 9"/>
          <p:cNvSpPr/>
          <p:nvPr/>
        </p:nvSpPr>
        <p:spPr>
          <a:xfrm>
            <a:off x="5166360" y="1965960"/>
            <a:ext cx="1280160" cy="1097280"/>
          </a:xfrm>
          <a:prstGeom prst="ellipse">
            <a:avLst/>
          </a:prstGeom>
          <a:solidFill>
            <a:srgbClr val="343B45"/>
          </a:solidFill>
          <a:ln w="12700">
            <a:solidFill>
              <a:srgbClr val="434B57"/>
            </a:solidFill>
            <a:prstDash val="solid"/>
          </a:ln>
        </p:spPr>
      </p:sp>
      <p:sp>
        <p:nvSpPr>
          <p:cNvPr id="12" name="Text 10"/>
          <p:cNvSpPr txBox="1"/>
          <p:nvPr/>
        </p:nvSpPr>
        <p:spPr>
          <a:xfrm>
            <a:off x="914400" y="2651760"/>
            <a:ext cx="1737360" cy="274320"/>
          </a:xfrm>
          <a:prstGeom prst="rect">
            <a:avLst/>
          </a:prstGeom>
          <a:noFill/>
          <a:ln/>
        </p:spPr>
        <p:txBody>
          <a:bodyPr wrap="square" lIns="0" tIns="0" rIns="0" bIns="0" rtlCol="0" anchor="t"/>
          <a:lstStyle/>
          <a:p>
            <a:pPr algn="ctr" indent="0" marL="0">
              <a:buNone/>
            </a:pPr>
            <a:r>
              <a:rPr lang="en-US" sz="1050" dirty="0">
                <a:solidFill>
                  <a:srgbClr val="C9D1D9"/>
                </a:solidFill>
                <a:latin typeface="Calibri" pitchFamily="34" charset="0"/>
                <a:ea typeface="Calibri" pitchFamily="34" charset="-122"/>
                <a:cs typeface="Calibri" pitchFamily="34" charset="-120"/>
              </a:rPr>
              <a:t>land → missing token</a:t>
            </a:r>
            <a:endParaRPr lang="en-US" sz="1050" dirty="0"/>
          </a:p>
        </p:txBody>
      </p:sp>
      <p:sp>
        <p:nvSpPr>
          <p:cNvPr id="13" name="Shape 11"/>
          <p:cNvSpPr/>
          <p:nvPr/>
        </p:nvSpPr>
        <p:spPr>
          <a:xfrm>
            <a:off x="5193792" y="2788920"/>
            <a:ext cx="1828800" cy="1828800"/>
          </a:xfrm>
          <a:prstGeom prst="ellipse">
            <a:avLst/>
          </a:prstGeom>
          <a:solidFill>
            <a:srgbClr val="4493F8">
              <a:alpha val="12000"/>
            </a:srgbClr>
          </a:solidFill>
          <a:ln w="12700">
            <a:solidFill>
              <a:srgbClr val="4493F8">
                <a:alpha val="70000"/>
              </a:srgbClr>
            </a:solidFill>
            <a:prstDash val="dash"/>
          </a:ln>
        </p:spPr>
      </p:sp>
      <p:sp>
        <p:nvSpPr>
          <p:cNvPr id="14" name="Shape 12"/>
          <p:cNvSpPr/>
          <p:nvPr/>
        </p:nvSpPr>
        <p:spPr>
          <a:xfrm>
            <a:off x="6515100" y="3653028"/>
            <a:ext cx="100584" cy="100584"/>
          </a:xfrm>
          <a:prstGeom prst="ellipse">
            <a:avLst/>
          </a:prstGeom>
          <a:solidFill>
            <a:srgbClr val="4493F8"/>
          </a:solidFill>
          <a:ln w="15875">
            <a:solidFill>
              <a:srgbClr val="4493F8"/>
            </a:solidFill>
            <a:prstDash val="solid"/>
          </a:ln>
        </p:spPr>
      </p:sp>
      <p:sp>
        <p:nvSpPr>
          <p:cNvPr id="15" name="Shape 13"/>
          <p:cNvSpPr/>
          <p:nvPr/>
        </p:nvSpPr>
        <p:spPr>
          <a:xfrm>
            <a:off x="6541225" y="4058586"/>
            <a:ext cx="100584" cy="100584"/>
          </a:xfrm>
          <a:prstGeom prst="ellipse">
            <a:avLst/>
          </a:prstGeom>
          <a:solidFill>
            <a:srgbClr val="4493F8"/>
          </a:solidFill>
          <a:ln w="15875">
            <a:solidFill>
              <a:srgbClr val="4493F8"/>
            </a:solidFill>
            <a:prstDash val="solid"/>
          </a:ln>
        </p:spPr>
      </p:sp>
      <p:sp>
        <p:nvSpPr>
          <p:cNvPr id="16" name="Shape 14"/>
          <p:cNvSpPr/>
          <p:nvPr/>
        </p:nvSpPr>
        <p:spPr>
          <a:xfrm>
            <a:off x="6197630" y="4445475"/>
            <a:ext cx="100584" cy="100584"/>
          </a:xfrm>
          <a:prstGeom prst="ellipse">
            <a:avLst/>
          </a:prstGeom>
          <a:solidFill>
            <a:srgbClr val="4493F8"/>
          </a:solidFill>
          <a:ln w="15875">
            <a:solidFill>
              <a:srgbClr val="4493F8"/>
            </a:solidFill>
            <a:prstDash val="solid"/>
          </a:ln>
        </p:spPr>
      </p:sp>
      <p:sp>
        <p:nvSpPr>
          <p:cNvPr id="17" name="Shape 15"/>
          <p:cNvSpPr/>
          <p:nvPr/>
        </p:nvSpPr>
        <p:spPr>
          <a:xfrm>
            <a:off x="5829300" y="4048975"/>
            <a:ext cx="100584" cy="100584"/>
          </a:xfrm>
          <a:prstGeom prst="ellipse">
            <a:avLst/>
          </a:prstGeom>
          <a:solidFill>
            <a:srgbClr val="4493F8"/>
          </a:solidFill>
          <a:ln w="15875">
            <a:solidFill>
              <a:srgbClr val="4493F8"/>
            </a:solidFill>
            <a:prstDash val="solid"/>
          </a:ln>
        </p:spPr>
      </p:sp>
      <p:sp>
        <p:nvSpPr>
          <p:cNvPr id="18" name="Shape 16"/>
          <p:cNvSpPr/>
          <p:nvPr/>
        </p:nvSpPr>
        <p:spPr>
          <a:xfrm>
            <a:off x="5465014" y="3868821"/>
            <a:ext cx="100584" cy="100584"/>
          </a:xfrm>
          <a:prstGeom prst="ellipse">
            <a:avLst/>
          </a:prstGeom>
          <a:solidFill>
            <a:srgbClr val="4493F8"/>
          </a:solidFill>
          <a:ln w="15875">
            <a:solidFill>
              <a:srgbClr val="4493F8"/>
            </a:solidFill>
            <a:prstDash val="solid"/>
          </a:ln>
        </p:spPr>
      </p:sp>
      <p:sp>
        <p:nvSpPr>
          <p:cNvPr id="19" name="Shape 17"/>
          <p:cNvSpPr/>
          <p:nvPr/>
        </p:nvSpPr>
        <p:spPr>
          <a:xfrm>
            <a:off x="5301756" y="3377814"/>
            <a:ext cx="100584" cy="100584"/>
          </a:xfrm>
          <a:prstGeom prst="ellipse">
            <a:avLst/>
          </a:prstGeom>
          <a:solidFill>
            <a:srgbClr val="4493F8"/>
          </a:solidFill>
          <a:ln w="15875">
            <a:solidFill>
              <a:srgbClr val="4493F8"/>
            </a:solidFill>
            <a:prstDash val="solid"/>
          </a:ln>
        </p:spPr>
      </p:sp>
      <p:sp>
        <p:nvSpPr>
          <p:cNvPr id="20" name="Shape 18"/>
          <p:cNvSpPr/>
          <p:nvPr/>
        </p:nvSpPr>
        <p:spPr>
          <a:xfrm>
            <a:off x="5829300" y="3257081"/>
            <a:ext cx="100584" cy="100584"/>
          </a:xfrm>
          <a:prstGeom prst="ellipse">
            <a:avLst/>
          </a:prstGeom>
          <a:solidFill>
            <a:srgbClr val="4493F8"/>
          </a:solidFill>
          <a:ln w="15875">
            <a:solidFill>
              <a:srgbClr val="4493F8"/>
            </a:solidFill>
            <a:prstDash val="solid"/>
          </a:ln>
        </p:spPr>
      </p:sp>
      <p:sp>
        <p:nvSpPr>
          <p:cNvPr id="21" name="Shape 19"/>
          <p:cNvSpPr/>
          <p:nvPr/>
        </p:nvSpPr>
        <p:spPr>
          <a:xfrm>
            <a:off x="6167461" y="3031677"/>
            <a:ext cx="100584" cy="100584"/>
          </a:xfrm>
          <a:prstGeom prst="ellipse">
            <a:avLst/>
          </a:prstGeom>
          <a:solidFill>
            <a:srgbClr val="4493F8"/>
          </a:solidFill>
          <a:ln w="15875">
            <a:solidFill>
              <a:srgbClr val="4493F8"/>
            </a:solidFill>
            <a:prstDash val="solid"/>
          </a:ln>
        </p:spPr>
      </p:sp>
      <p:sp>
        <p:nvSpPr>
          <p:cNvPr id="22" name="Shape 20"/>
          <p:cNvSpPr/>
          <p:nvPr/>
        </p:nvSpPr>
        <p:spPr>
          <a:xfrm>
            <a:off x="6674315" y="3135795"/>
            <a:ext cx="100584" cy="100584"/>
          </a:xfrm>
          <a:prstGeom prst="ellipse">
            <a:avLst/>
          </a:prstGeom>
          <a:solidFill>
            <a:srgbClr val="0D1117"/>
          </a:solidFill>
          <a:ln w="15875">
            <a:solidFill>
              <a:srgbClr val="F85149"/>
            </a:solidFill>
            <a:prstDash val="solid"/>
          </a:ln>
        </p:spPr>
      </p:sp>
      <p:sp>
        <p:nvSpPr>
          <p:cNvPr id="23" name="Shape 21"/>
          <p:cNvSpPr/>
          <p:nvPr/>
        </p:nvSpPr>
        <p:spPr>
          <a:xfrm>
            <a:off x="6035040" y="3630168"/>
            <a:ext cx="146304" cy="146304"/>
          </a:xfrm>
          <a:prstGeom prst="ellipse">
            <a:avLst/>
          </a:prstGeom>
          <a:solidFill>
            <a:srgbClr val="F85149"/>
          </a:solidFill>
          <a:ln w="12700">
            <a:solidFill>
              <a:srgbClr val="F85149"/>
            </a:solidFill>
            <a:prstDash val="solid"/>
          </a:ln>
        </p:spPr>
      </p:sp>
      <p:sp>
        <p:nvSpPr>
          <p:cNvPr id="24" name="Shape 22"/>
          <p:cNvSpPr/>
          <p:nvPr/>
        </p:nvSpPr>
        <p:spPr>
          <a:xfrm>
            <a:off x="640080" y="5477256"/>
            <a:ext cx="118872" cy="118872"/>
          </a:xfrm>
          <a:prstGeom prst="ellipse">
            <a:avLst/>
          </a:prstGeom>
          <a:solidFill>
            <a:srgbClr val="0D1117"/>
          </a:solidFill>
          <a:ln w="15875">
            <a:solidFill>
              <a:srgbClr val="F85149"/>
            </a:solidFill>
            <a:prstDash val="solid"/>
          </a:ln>
        </p:spPr>
      </p:sp>
      <p:sp>
        <p:nvSpPr>
          <p:cNvPr id="25" name="Text 23"/>
          <p:cNvSpPr txBox="1"/>
          <p:nvPr/>
        </p:nvSpPr>
        <p:spPr>
          <a:xfrm>
            <a:off x="859536" y="5404104"/>
            <a:ext cx="5120640" cy="310896"/>
          </a:xfrm>
          <a:prstGeom prst="rect">
            <a:avLst/>
          </a:prstGeom>
          <a:noFill/>
          <a:ln/>
        </p:spPr>
        <p:txBody>
          <a:bodyPr wrap="square" lIns="0" tIns="0" rIns="0" bIns="0" rtlCol="0" anchor="t"/>
          <a:lstStyle/>
          <a:p>
            <a:pPr indent="0" marL="0">
              <a:buNone/>
            </a:pPr>
            <a:r>
              <a:rPr lang="en-US" sz="1150" dirty="0">
                <a:solidFill>
                  <a:srgbClr val="F85149"/>
                </a:solidFill>
                <a:latin typeface="Calibri" pitchFamily="34" charset="0"/>
                <a:ea typeface="Calibri" pitchFamily="34" charset="-122"/>
                <a:cs typeface="Calibri" pitchFamily="34" charset="-120"/>
              </a:rPr>
              <a:t>off-window dot — kept as a token, valid = false, value 0, and never a target</a:t>
            </a:r>
            <a:endParaRPr lang="en-US" sz="1150" dirty="0"/>
          </a:p>
        </p:txBody>
      </p:sp>
      <p:sp>
        <p:nvSpPr>
          <p:cNvPr id="26" name="Text 24"/>
          <p:cNvSpPr txBox="1"/>
          <p:nvPr/>
        </p:nvSpPr>
        <p:spPr>
          <a:xfrm>
            <a:off x="777240" y="4526280"/>
            <a:ext cx="4114800" cy="457200"/>
          </a:xfrm>
          <a:prstGeom prst="rect">
            <a:avLst/>
          </a:prstGeom>
          <a:noFill/>
          <a:ln/>
        </p:spPr>
        <p:txBody>
          <a:bodyPr wrap="square" lIns="0" tIns="0" rIns="0" bIns="0" rtlCol="0" anchor="t"/>
          <a:lstStyle/>
          <a:p>
            <a:pPr indent="0" marL="0">
              <a:lnSpc>
                <a:spcPts val="1400"/>
              </a:lnSpc>
              <a:buNone/>
            </a:pPr>
            <a:r>
              <a:rPr lang="en-US" sz="1100" i="1" dirty="0">
                <a:solidFill>
                  <a:srgbClr val="7D8590"/>
                </a:solidFill>
                <a:latin typeface="Calibri" pitchFamily="34" charset="0"/>
                <a:ea typeface="Calibri" pitchFamily="34" charset="-122"/>
                <a:cs typeface="Calibri" pitchFamily="34" charset="-120"/>
              </a:rPr>
              <a:t>no wrap at the window edge — a wrap would put Iberia one cell west of Florida</a:t>
            </a:r>
            <a:endParaRPr lang="en-US" sz="1100" dirty="0"/>
          </a:p>
        </p:txBody>
      </p:sp>
      <p:sp>
        <p:nvSpPr>
          <p:cNvPr id="27" name="Text 25"/>
          <p:cNvSpPr txBox="1"/>
          <p:nvPr/>
        </p:nvSpPr>
        <p:spPr>
          <a:xfrm>
            <a:off x="7360920" y="1572768"/>
            <a:ext cx="4282135" cy="292608"/>
          </a:xfrm>
          <a:prstGeom prst="rect">
            <a:avLst/>
          </a:prstGeom>
          <a:noFill/>
          <a:ln/>
        </p:spPr>
        <p:txBody>
          <a:bodyPr wrap="square" lIns="0" tIns="0" rIns="0" bIns="0" rtlCol="0" anchor="t"/>
          <a:lstStyle/>
          <a:p>
            <a:pPr indent="0" marL="0">
              <a:buNone/>
            </a:pPr>
            <a:r>
              <a:rPr lang="en-US" sz="1500" b="1" dirty="0">
                <a:solidFill>
                  <a:srgbClr val="E6EDF3"/>
                </a:solidFill>
                <a:latin typeface="Georgia" pitchFamily="34" charset="0"/>
                <a:ea typeface="Georgia" pitchFamily="34" charset="-122"/>
                <a:cs typeface="Georgia" pitchFamily="34" charset="-120"/>
              </a:rPr>
              <a:t>Three kinds of token</a:t>
            </a:r>
            <a:endParaRPr lang="en-US" sz="1500" dirty="0"/>
          </a:p>
        </p:txBody>
      </p:sp>
      <p:sp>
        <p:nvSpPr>
          <p:cNvPr id="28" name="Shape 26"/>
          <p:cNvSpPr/>
          <p:nvPr/>
        </p:nvSpPr>
        <p:spPr>
          <a:xfrm>
            <a:off x="7360920" y="1975104"/>
            <a:ext cx="4282135" cy="804672"/>
          </a:xfrm>
          <a:prstGeom prst="roundRect">
            <a:avLst>
              <a:gd name="adj" fmla="val 6818"/>
            </a:avLst>
          </a:prstGeom>
          <a:solidFill>
            <a:srgbClr val="11161D"/>
          </a:solidFill>
          <a:ln w="12700">
            <a:solidFill>
              <a:srgbClr val="30363D"/>
            </a:solidFill>
            <a:prstDash val="solid"/>
          </a:ln>
        </p:spPr>
      </p:sp>
      <p:sp>
        <p:nvSpPr>
          <p:cNvPr id="29" name="Shape 27"/>
          <p:cNvSpPr/>
          <p:nvPr/>
        </p:nvSpPr>
        <p:spPr>
          <a:xfrm>
            <a:off x="7543800" y="2249424"/>
            <a:ext cx="201168" cy="201168"/>
          </a:xfrm>
          <a:prstGeom prst="ellipse">
            <a:avLst/>
          </a:prstGeom>
          <a:solidFill>
            <a:srgbClr val="4493F8"/>
          </a:solidFill>
          <a:ln w="12700">
            <a:solidFill>
              <a:srgbClr val="4493F8"/>
            </a:solidFill>
            <a:prstDash val="solid"/>
          </a:ln>
        </p:spPr>
      </p:sp>
      <p:sp>
        <p:nvSpPr>
          <p:cNvPr id="30" name="Text 28"/>
          <p:cNvSpPr txBox="1"/>
          <p:nvPr/>
        </p:nvSpPr>
        <p:spPr>
          <a:xfrm>
            <a:off x="7836408" y="2103120"/>
            <a:ext cx="3642055" cy="256032"/>
          </a:xfrm>
          <a:prstGeom prst="rect">
            <a:avLst/>
          </a:prstGeom>
          <a:noFill/>
          <a:ln/>
        </p:spPr>
        <p:txBody>
          <a:bodyPr wrap="square" lIns="0" tIns="0" rIns="0" bIns="0" rtlCol="0" anchor="t"/>
          <a:lstStyle/>
          <a:p>
            <a:pPr indent="0" marL="0">
              <a:buNone/>
            </a:pPr>
            <a:r>
              <a:rPr lang="en-US" sz="1300" b="1" dirty="0">
                <a:solidFill>
                  <a:srgbClr val="4493F8"/>
                </a:solidFill>
                <a:latin typeface="Calibri" pitchFamily="34" charset="0"/>
                <a:ea typeface="Calibri" pitchFamily="34" charset="-122"/>
                <a:cs typeface="Calibri" pitchFamily="34" charset="-120"/>
              </a:rPr>
              <a:t>real</a:t>
            </a:r>
            <a:endParaRPr lang="en-US" sz="1300" dirty="0"/>
          </a:p>
        </p:txBody>
      </p:sp>
      <p:sp>
        <p:nvSpPr>
          <p:cNvPr id="31" name="Text 29"/>
          <p:cNvSpPr txBox="1"/>
          <p:nvPr/>
        </p:nvSpPr>
        <p:spPr>
          <a:xfrm>
            <a:off x="7836408" y="2359152"/>
            <a:ext cx="3596335" cy="384048"/>
          </a:xfrm>
          <a:prstGeom prst="rect">
            <a:avLst/>
          </a:prstGeom>
          <a:noFill/>
          <a:ln/>
        </p:spPr>
        <p:txBody>
          <a:bodyPr wrap="square" lIns="0" tIns="0" rIns="0" bIns="0" rtlCol="0" anchor="t"/>
          <a:lstStyle/>
          <a:p>
            <a:pPr indent="0" marL="0">
              <a:lnSpc>
                <a:spcPts val="1300"/>
              </a:lnSpc>
              <a:buNone/>
            </a:pPr>
            <a:r>
              <a:rPr lang="en-US" sz="1100" dirty="0">
                <a:solidFill>
                  <a:srgbClr val="7D8590"/>
                </a:solidFill>
                <a:latin typeface="Calibri" pitchFamily="34" charset="0"/>
                <a:ea typeface="Calibri" pitchFamily="34" charset="-122"/>
                <a:cs typeface="Calibri" pitchFamily="34" charset="-120"/>
              </a:rPr>
              <a:t>a measured value the model may read</a:t>
            </a:r>
            <a:endParaRPr lang="en-US" sz="1100" dirty="0"/>
          </a:p>
        </p:txBody>
      </p:sp>
      <p:sp>
        <p:nvSpPr>
          <p:cNvPr id="32" name="Shape 30"/>
          <p:cNvSpPr/>
          <p:nvPr/>
        </p:nvSpPr>
        <p:spPr>
          <a:xfrm>
            <a:off x="7360920" y="2907792"/>
            <a:ext cx="4282135" cy="804672"/>
          </a:xfrm>
          <a:prstGeom prst="roundRect">
            <a:avLst>
              <a:gd name="adj" fmla="val 6818"/>
            </a:avLst>
          </a:prstGeom>
          <a:solidFill>
            <a:srgbClr val="11161D"/>
          </a:solidFill>
          <a:ln w="12700">
            <a:solidFill>
              <a:srgbClr val="30363D"/>
            </a:solidFill>
            <a:prstDash val="solid"/>
          </a:ln>
        </p:spPr>
      </p:sp>
      <p:sp>
        <p:nvSpPr>
          <p:cNvPr id="33" name="Shape 31"/>
          <p:cNvSpPr/>
          <p:nvPr/>
        </p:nvSpPr>
        <p:spPr>
          <a:xfrm>
            <a:off x="7543800" y="3182112"/>
            <a:ext cx="201168" cy="201168"/>
          </a:xfrm>
          <a:prstGeom prst="ellipse">
            <a:avLst/>
          </a:prstGeom>
          <a:solidFill>
            <a:srgbClr val="E3B341"/>
          </a:solidFill>
          <a:ln w="12700">
            <a:solidFill>
              <a:srgbClr val="E3B341"/>
            </a:solidFill>
            <a:prstDash val="solid"/>
          </a:ln>
        </p:spPr>
      </p:sp>
      <p:sp>
        <p:nvSpPr>
          <p:cNvPr id="34" name="Text 32"/>
          <p:cNvSpPr txBox="1"/>
          <p:nvPr/>
        </p:nvSpPr>
        <p:spPr>
          <a:xfrm>
            <a:off x="7836408" y="3035808"/>
            <a:ext cx="3642055" cy="256032"/>
          </a:xfrm>
          <a:prstGeom prst="rect">
            <a:avLst/>
          </a:prstGeom>
          <a:noFill/>
          <a:ln/>
        </p:spPr>
        <p:txBody>
          <a:bodyPr wrap="square" lIns="0" tIns="0" rIns="0" bIns="0" rtlCol="0" anchor="t"/>
          <a:lstStyle/>
          <a:p>
            <a:pPr indent="0" marL="0">
              <a:buNone/>
            </a:pPr>
            <a:r>
              <a:rPr lang="en-US" sz="1300" b="1" dirty="0">
                <a:solidFill>
                  <a:srgbClr val="E3B341"/>
                </a:solidFill>
                <a:latin typeface="Calibri" pitchFamily="34" charset="0"/>
                <a:ea typeface="Calibri" pitchFamily="34" charset="-122"/>
                <a:cs typeface="Calibri" pitchFamily="34" charset="-120"/>
              </a:rPr>
              <a:t>masked</a:t>
            </a:r>
            <a:endParaRPr lang="en-US" sz="1300" dirty="0"/>
          </a:p>
        </p:txBody>
      </p:sp>
      <p:sp>
        <p:nvSpPr>
          <p:cNvPr id="35" name="Text 33"/>
          <p:cNvSpPr txBox="1"/>
          <p:nvPr/>
        </p:nvSpPr>
        <p:spPr>
          <a:xfrm>
            <a:off x="7836408" y="3291840"/>
            <a:ext cx="3596335" cy="384048"/>
          </a:xfrm>
          <a:prstGeom prst="rect">
            <a:avLst/>
          </a:prstGeom>
          <a:noFill/>
          <a:ln/>
        </p:spPr>
        <p:txBody>
          <a:bodyPr wrap="square" lIns="0" tIns="0" rIns="0" bIns="0" rtlCol="0" anchor="t"/>
          <a:lstStyle/>
          <a:p>
            <a:pPr indent="0" marL="0">
              <a:lnSpc>
                <a:spcPts val="1300"/>
              </a:lnSpc>
              <a:buNone/>
            </a:pPr>
            <a:r>
              <a:rPr lang="en-US" sz="1100" dirty="0">
                <a:solidFill>
                  <a:srgbClr val="7D8590"/>
                </a:solidFill>
                <a:latin typeface="Calibri" pitchFamily="34" charset="0"/>
                <a:ea typeface="Calibri" pitchFamily="34" charset="-122"/>
                <a:cs typeface="Calibri" pitchFamily="34" charset="-120"/>
              </a:rPr>
              <a:t>a real value we hid on purpose — and ask for back</a:t>
            </a:r>
            <a:endParaRPr lang="en-US" sz="1100" dirty="0"/>
          </a:p>
        </p:txBody>
      </p:sp>
      <p:sp>
        <p:nvSpPr>
          <p:cNvPr id="36" name="Shape 34"/>
          <p:cNvSpPr/>
          <p:nvPr/>
        </p:nvSpPr>
        <p:spPr>
          <a:xfrm>
            <a:off x="7360920" y="3840480"/>
            <a:ext cx="4282135" cy="804672"/>
          </a:xfrm>
          <a:prstGeom prst="roundRect">
            <a:avLst>
              <a:gd name="adj" fmla="val 6818"/>
            </a:avLst>
          </a:prstGeom>
          <a:solidFill>
            <a:srgbClr val="11161D"/>
          </a:solidFill>
          <a:ln w="12700">
            <a:solidFill>
              <a:srgbClr val="30363D"/>
            </a:solidFill>
            <a:prstDash val="solid"/>
          </a:ln>
        </p:spPr>
      </p:sp>
      <p:sp>
        <p:nvSpPr>
          <p:cNvPr id="37" name="Shape 35"/>
          <p:cNvSpPr/>
          <p:nvPr/>
        </p:nvSpPr>
        <p:spPr>
          <a:xfrm>
            <a:off x="7543800" y="4114800"/>
            <a:ext cx="201168" cy="201168"/>
          </a:xfrm>
          <a:prstGeom prst="ellipse">
            <a:avLst/>
          </a:prstGeom>
          <a:solidFill>
            <a:srgbClr val="7D8590"/>
          </a:solidFill>
          <a:ln w="12700">
            <a:solidFill>
              <a:srgbClr val="7D8590"/>
            </a:solidFill>
            <a:prstDash val="solid"/>
          </a:ln>
        </p:spPr>
      </p:sp>
      <p:sp>
        <p:nvSpPr>
          <p:cNvPr id="38" name="Text 36"/>
          <p:cNvSpPr txBox="1"/>
          <p:nvPr/>
        </p:nvSpPr>
        <p:spPr>
          <a:xfrm>
            <a:off x="7836408" y="3968496"/>
            <a:ext cx="3642055" cy="256032"/>
          </a:xfrm>
          <a:prstGeom prst="rect">
            <a:avLst/>
          </a:prstGeom>
          <a:noFill/>
          <a:ln/>
        </p:spPr>
        <p:txBody>
          <a:bodyPr wrap="square" lIns="0" tIns="0" rIns="0" bIns="0" rtlCol="0" anchor="t"/>
          <a:lstStyle/>
          <a:p>
            <a:pPr indent="0" marL="0">
              <a:buNone/>
            </a:pPr>
            <a:r>
              <a:rPr lang="en-US" sz="1300" b="1" dirty="0">
                <a:solidFill>
                  <a:srgbClr val="7D8590"/>
                </a:solidFill>
                <a:latin typeface="Calibri" pitchFamily="34" charset="0"/>
                <a:ea typeface="Calibri" pitchFamily="34" charset="-122"/>
                <a:cs typeface="Calibri" pitchFamily="34" charset="-120"/>
              </a:rPr>
              <a:t>missing</a:t>
            </a:r>
            <a:endParaRPr lang="en-US" sz="1300" dirty="0"/>
          </a:p>
        </p:txBody>
      </p:sp>
      <p:sp>
        <p:nvSpPr>
          <p:cNvPr id="39" name="Text 37"/>
          <p:cNvSpPr txBox="1"/>
          <p:nvPr/>
        </p:nvSpPr>
        <p:spPr>
          <a:xfrm>
            <a:off x="7836408" y="4224528"/>
            <a:ext cx="3596335" cy="384048"/>
          </a:xfrm>
          <a:prstGeom prst="rect">
            <a:avLst/>
          </a:prstGeom>
          <a:noFill/>
          <a:ln/>
        </p:spPr>
        <p:txBody>
          <a:bodyPr wrap="square" lIns="0" tIns="0" rIns="0" bIns="0" rtlCol="0" anchor="t"/>
          <a:lstStyle/>
          <a:p>
            <a:pPr indent="0" marL="0">
              <a:lnSpc>
                <a:spcPts val="1300"/>
              </a:lnSpc>
              <a:buNone/>
            </a:pPr>
            <a:r>
              <a:rPr lang="en-US" sz="1100" dirty="0">
                <a:solidFill>
                  <a:srgbClr val="7D8590"/>
                </a:solidFill>
                <a:latin typeface="Calibri" pitchFamily="34" charset="0"/>
                <a:ea typeface="Calibri" pitchFamily="34" charset="-122"/>
                <a:cs typeface="Calibri" pitchFamily="34" charset="-120"/>
              </a:rPr>
              <a:t>land, never observed, or off the window — never a target</a:t>
            </a:r>
            <a:endParaRPr lang="en-US" sz="1100" dirty="0"/>
          </a:p>
        </p:txBody>
      </p:sp>
      <p:sp>
        <p:nvSpPr>
          <p:cNvPr id="40" name="Shape 38"/>
          <p:cNvSpPr/>
          <p:nvPr/>
        </p:nvSpPr>
        <p:spPr>
          <a:xfrm>
            <a:off x="7360920" y="4828032"/>
            <a:ext cx="4282135" cy="1207008"/>
          </a:xfrm>
          <a:prstGeom prst="roundRect">
            <a:avLst>
              <a:gd name="adj" fmla="val 4545"/>
            </a:avLst>
          </a:prstGeom>
          <a:solidFill>
            <a:srgbClr val="11202F"/>
          </a:solidFill>
          <a:ln w="12700">
            <a:solidFill>
              <a:srgbClr val="4493F8"/>
            </a:solidFill>
            <a:prstDash val="solid"/>
          </a:ln>
        </p:spPr>
      </p:sp>
      <p:sp>
        <p:nvSpPr>
          <p:cNvPr id="41" name="Text 39"/>
          <p:cNvSpPr txBox="1"/>
          <p:nvPr/>
        </p:nvSpPr>
        <p:spPr>
          <a:xfrm>
            <a:off x="7562088" y="4974336"/>
            <a:ext cx="3879799" cy="914400"/>
          </a:xfrm>
          <a:prstGeom prst="rect">
            <a:avLst/>
          </a:prstGeom>
          <a:noFill/>
          <a:ln/>
        </p:spPr>
        <p:txBody>
          <a:bodyPr wrap="square" lIns="0" tIns="0" rIns="0" bIns="0" rtlCol="0" anchor="t"/>
          <a:lstStyle/>
          <a:p>
            <a:pPr indent="0" marL="0">
              <a:lnSpc>
                <a:spcPts val="1600"/>
              </a:lnSpc>
              <a:buNone/>
            </a:pPr>
            <a:r>
              <a:rPr lang="en-US" sz="1200" dirty="0">
                <a:solidFill>
                  <a:srgbClr val="E6EDF3"/>
                </a:solidFill>
                <a:latin typeface="Calibri" pitchFamily="34" charset="0"/>
                <a:ea typeface="Calibri" pitchFamily="34" charset="-122"/>
                <a:cs typeface="Calibri" pitchFamily="34" charset="-120"/>
              </a:rPr>
              <a:t>Existence is enforced in exactly one place: one key-padding mask. A test flips an invalid dot’s value and asserts the embedding is bit-identical.</a:t>
            </a:r>
            <a:endParaRPr lang="en-US" sz="1200" dirty="0"/>
          </a:p>
        </p:txBody>
      </p:sp>
      <p:sp>
        <p:nvSpPr>
          <p:cNvPr id="42" name="Text 40"/>
          <p:cNvSpPr txBox="1"/>
          <p:nvPr/>
        </p:nvSpPr>
        <p:spPr>
          <a:xfrm>
            <a:off x="548640" y="5779008"/>
            <a:ext cx="11094415" cy="274320"/>
          </a:xfrm>
          <a:prstGeom prst="rect">
            <a:avLst/>
          </a:prstGeom>
          <a:noFill/>
          <a:ln/>
        </p:spPr>
        <p:txBody>
          <a:bodyPr wrap="square" lIns="0" tIns="0" rIns="0" bIns="0" rtlCol="0" anchor="t"/>
          <a:lstStyle/>
          <a:p>
            <a:pPr indent="0" marL="0">
              <a:buNone/>
            </a:pPr>
            <a:r>
              <a:rPr lang="en-US" sz="1250" i="1" dirty="0">
                <a:solidFill>
                  <a:srgbClr val="7D8590"/>
                </a:solidFill>
                <a:latin typeface="Calibri" pitchFamily="34" charset="0"/>
                <a:ea typeface="Calibri" pitchFamily="34" charset="-122"/>
                <a:cs typeface="Calibri" pitchFamily="34" charset="-120"/>
              </a:rPr>
              <a:t>The global family (E-070) will wrap at the dateline — a 10-line change, planned.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BOUNDARY 3 · MISSINGNESS</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Observation gaps are represented, never imputed</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554480"/>
            <a:ext cx="3108960" cy="1874520"/>
          </a:xfrm>
          <a:prstGeom prst="roundRect">
            <a:avLst>
              <a:gd name="adj" fmla="val 2927"/>
            </a:avLst>
          </a:prstGeom>
          <a:solidFill>
            <a:srgbClr val="11202F"/>
          </a:solidFill>
          <a:ln w="12700">
            <a:solidFill>
              <a:srgbClr val="4493F8"/>
            </a:solidFill>
            <a:prstDash val="solid"/>
          </a:ln>
        </p:spPr>
      </p:sp>
      <p:sp>
        <p:nvSpPr>
          <p:cNvPr id="7" name="Text 5"/>
          <p:cNvSpPr txBox="1"/>
          <p:nvPr/>
        </p:nvSpPr>
        <p:spPr>
          <a:xfrm>
            <a:off x="786384" y="1755648"/>
            <a:ext cx="2651760" cy="566928"/>
          </a:xfrm>
          <a:prstGeom prst="rect">
            <a:avLst/>
          </a:prstGeom>
          <a:noFill/>
          <a:ln/>
        </p:spPr>
        <p:txBody>
          <a:bodyPr wrap="square" lIns="0" tIns="0" rIns="0" bIns="0" rtlCol="0" anchor="t"/>
          <a:lstStyle/>
          <a:p>
            <a:pPr indent="0" marL="0">
              <a:buNone/>
            </a:pPr>
            <a:r>
              <a:rPr lang="en-US" sz="3400" b="1" dirty="0">
                <a:solidFill>
                  <a:srgbClr val="4493F8"/>
                </a:solidFill>
                <a:latin typeface="Georgia" pitchFamily="34" charset="0"/>
                <a:ea typeface="Georgia" pitchFamily="34" charset="-122"/>
                <a:cs typeface="Georgia" pitchFamily="34" charset="-120"/>
              </a:rPr>
              <a:t>≈ 83 %</a:t>
            </a:r>
            <a:endParaRPr lang="en-US" sz="3400" dirty="0"/>
          </a:p>
        </p:txBody>
      </p:sp>
      <p:sp>
        <p:nvSpPr>
          <p:cNvPr id="8" name="Text 6"/>
          <p:cNvSpPr txBox="1"/>
          <p:nvPr/>
        </p:nvSpPr>
        <p:spPr>
          <a:xfrm>
            <a:off x="786384" y="2377440"/>
            <a:ext cx="2651760" cy="868680"/>
          </a:xfrm>
          <a:prstGeom prst="rect">
            <a:avLst/>
          </a:prstGeom>
          <a:noFill/>
          <a:ln/>
        </p:spPr>
        <p:txBody>
          <a:bodyPr wrap="square" lIns="0" tIns="0" rIns="0" bIns="0" rtlCol="0" anchor="t"/>
          <a:lstStyle/>
          <a:p>
            <a:pPr indent="0" marL="0">
              <a:lnSpc>
                <a:spcPts val="1600"/>
              </a:lnSpc>
              <a:buNone/>
            </a:pPr>
            <a:r>
              <a:rPr lang="en-US" sz="1250" dirty="0">
                <a:solidFill>
                  <a:srgbClr val="E6EDF3"/>
                </a:solidFill>
                <a:latin typeface="Calibri" pitchFamily="34" charset="0"/>
                <a:ea typeface="Calibri" pitchFamily="34" charset="-122"/>
                <a:cs typeface="Calibri" pitchFamily="34" charset="-120"/>
              </a:rPr>
              <a:t>of depth-channel dots carry the missing token — even inside the Argo era</a:t>
            </a:r>
            <a:endParaRPr lang="en-US" sz="1250" dirty="0"/>
          </a:p>
        </p:txBody>
      </p:sp>
      <p:sp>
        <p:nvSpPr>
          <p:cNvPr id="9" name="Text 7"/>
          <p:cNvSpPr txBox="1"/>
          <p:nvPr/>
        </p:nvSpPr>
        <p:spPr>
          <a:xfrm>
            <a:off x="3977640" y="1572768"/>
            <a:ext cx="7665415" cy="274320"/>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Argo is live one bin per month — one pentad in six</a:t>
            </a:r>
            <a:endParaRPr lang="en-US" sz="1300" dirty="0"/>
          </a:p>
        </p:txBody>
      </p:sp>
      <p:sp>
        <p:nvSpPr>
          <p:cNvPr id="10" name="Shape 8"/>
          <p:cNvSpPr/>
          <p:nvPr/>
        </p:nvSpPr>
        <p:spPr>
          <a:xfrm>
            <a:off x="3977640" y="1956816"/>
            <a:ext cx="206898" cy="457200"/>
          </a:xfrm>
          <a:prstGeom prst="rect">
            <a:avLst/>
          </a:prstGeom>
          <a:solidFill>
            <a:srgbClr val="4493F8"/>
          </a:solidFill>
          <a:ln w="12700">
            <a:solidFill>
              <a:srgbClr val="4493F8"/>
            </a:solidFill>
            <a:prstDash val="solid"/>
          </a:ln>
        </p:spPr>
      </p:sp>
      <p:sp>
        <p:nvSpPr>
          <p:cNvPr id="11" name="Shape 9"/>
          <p:cNvSpPr/>
          <p:nvPr/>
        </p:nvSpPr>
        <p:spPr>
          <a:xfrm>
            <a:off x="4234830" y="1956816"/>
            <a:ext cx="206898" cy="457200"/>
          </a:xfrm>
          <a:prstGeom prst="rect">
            <a:avLst/>
          </a:prstGeom>
          <a:solidFill>
            <a:srgbClr val="161B22"/>
          </a:solidFill>
          <a:ln w="12700">
            <a:solidFill>
              <a:srgbClr val="30363D"/>
            </a:solidFill>
            <a:prstDash val="solid"/>
          </a:ln>
        </p:spPr>
      </p:sp>
      <p:sp>
        <p:nvSpPr>
          <p:cNvPr id="12" name="Shape 10"/>
          <p:cNvSpPr/>
          <p:nvPr/>
        </p:nvSpPr>
        <p:spPr>
          <a:xfrm>
            <a:off x="4492020" y="1956816"/>
            <a:ext cx="206898" cy="457200"/>
          </a:xfrm>
          <a:prstGeom prst="rect">
            <a:avLst/>
          </a:prstGeom>
          <a:solidFill>
            <a:srgbClr val="161B22"/>
          </a:solidFill>
          <a:ln w="12700">
            <a:solidFill>
              <a:srgbClr val="30363D"/>
            </a:solidFill>
            <a:prstDash val="solid"/>
          </a:ln>
        </p:spPr>
      </p:sp>
      <p:sp>
        <p:nvSpPr>
          <p:cNvPr id="13" name="Shape 11"/>
          <p:cNvSpPr/>
          <p:nvPr/>
        </p:nvSpPr>
        <p:spPr>
          <a:xfrm>
            <a:off x="4749211" y="1956816"/>
            <a:ext cx="206898" cy="457200"/>
          </a:xfrm>
          <a:prstGeom prst="rect">
            <a:avLst/>
          </a:prstGeom>
          <a:solidFill>
            <a:srgbClr val="161B22"/>
          </a:solidFill>
          <a:ln w="12700">
            <a:solidFill>
              <a:srgbClr val="30363D"/>
            </a:solidFill>
            <a:prstDash val="solid"/>
          </a:ln>
        </p:spPr>
      </p:sp>
      <p:sp>
        <p:nvSpPr>
          <p:cNvPr id="14" name="Shape 12"/>
          <p:cNvSpPr/>
          <p:nvPr/>
        </p:nvSpPr>
        <p:spPr>
          <a:xfrm>
            <a:off x="5006401" y="1956816"/>
            <a:ext cx="206898" cy="457200"/>
          </a:xfrm>
          <a:prstGeom prst="rect">
            <a:avLst/>
          </a:prstGeom>
          <a:solidFill>
            <a:srgbClr val="161B22"/>
          </a:solidFill>
          <a:ln w="12700">
            <a:solidFill>
              <a:srgbClr val="30363D"/>
            </a:solidFill>
            <a:prstDash val="solid"/>
          </a:ln>
        </p:spPr>
      </p:sp>
      <p:sp>
        <p:nvSpPr>
          <p:cNvPr id="15" name="Shape 13"/>
          <p:cNvSpPr/>
          <p:nvPr/>
        </p:nvSpPr>
        <p:spPr>
          <a:xfrm>
            <a:off x="5263591" y="1956816"/>
            <a:ext cx="206898" cy="457200"/>
          </a:xfrm>
          <a:prstGeom prst="rect">
            <a:avLst/>
          </a:prstGeom>
          <a:solidFill>
            <a:srgbClr val="161B22"/>
          </a:solidFill>
          <a:ln w="12700">
            <a:solidFill>
              <a:srgbClr val="30363D"/>
            </a:solidFill>
            <a:prstDash val="solid"/>
          </a:ln>
        </p:spPr>
      </p:sp>
      <p:sp>
        <p:nvSpPr>
          <p:cNvPr id="16" name="Shape 14"/>
          <p:cNvSpPr/>
          <p:nvPr/>
        </p:nvSpPr>
        <p:spPr>
          <a:xfrm>
            <a:off x="5520781" y="1956816"/>
            <a:ext cx="206898" cy="457200"/>
          </a:xfrm>
          <a:prstGeom prst="rect">
            <a:avLst/>
          </a:prstGeom>
          <a:solidFill>
            <a:srgbClr val="4493F8"/>
          </a:solidFill>
          <a:ln w="12700">
            <a:solidFill>
              <a:srgbClr val="4493F8"/>
            </a:solidFill>
            <a:prstDash val="solid"/>
          </a:ln>
        </p:spPr>
      </p:sp>
      <p:sp>
        <p:nvSpPr>
          <p:cNvPr id="17" name="Shape 15"/>
          <p:cNvSpPr/>
          <p:nvPr/>
        </p:nvSpPr>
        <p:spPr>
          <a:xfrm>
            <a:off x="5777972" y="1956816"/>
            <a:ext cx="206898" cy="457200"/>
          </a:xfrm>
          <a:prstGeom prst="rect">
            <a:avLst/>
          </a:prstGeom>
          <a:solidFill>
            <a:srgbClr val="161B22"/>
          </a:solidFill>
          <a:ln w="12700">
            <a:solidFill>
              <a:srgbClr val="30363D"/>
            </a:solidFill>
            <a:prstDash val="solid"/>
          </a:ln>
        </p:spPr>
      </p:sp>
      <p:sp>
        <p:nvSpPr>
          <p:cNvPr id="18" name="Shape 16"/>
          <p:cNvSpPr/>
          <p:nvPr/>
        </p:nvSpPr>
        <p:spPr>
          <a:xfrm>
            <a:off x="6035162" y="1956816"/>
            <a:ext cx="206898" cy="457200"/>
          </a:xfrm>
          <a:prstGeom prst="rect">
            <a:avLst/>
          </a:prstGeom>
          <a:solidFill>
            <a:srgbClr val="161B22"/>
          </a:solidFill>
          <a:ln w="12700">
            <a:solidFill>
              <a:srgbClr val="30363D"/>
            </a:solidFill>
            <a:prstDash val="solid"/>
          </a:ln>
        </p:spPr>
      </p:sp>
      <p:sp>
        <p:nvSpPr>
          <p:cNvPr id="19" name="Shape 17"/>
          <p:cNvSpPr/>
          <p:nvPr/>
        </p:nvSpPr>
        <p:spPr>
          <a:xfrm>
            <a:off x="6292352" y="1956816"/>
            <a:ext cx="206898" cy="457200"/>
          </a:xfrm>
          <a:prstGeom prst="rect">
            <a:avLst/>
          </a:prstGeom>
          <a:solidFill>
            <a:srgbClr val="161B22"/>
          </a:solidFill>
          <a:ln w="12700">
            <a:solidFill>
              <a:srgbClr val="30363D"/>
            </a:solidFill>
            <a:prstDash val="solid"/>
          </a:ln>
        </p:spPr>
      </p:sp>
      <p:sp>
        <p:nvSpPr>
          <p:cNvPr id="20" name="Shape 18"/>
          <p:cNvSpPr/>
          <p:nvPr/>
        </p:nvSpPr>
        <p:spPr>
          <a:xfrm>
            <a:off x="6549542" y="1956816"/>
            <a:ext cx="206898" cy="457200"/>
          </a:xfrm>
          <a:prstGeom prst="rect">
            <a:avLst/>
          </a:prstGeom>
          <a:solidFill>
            <a:srgbClr val="161B22"/>
          </a:solidFill>
          <a:ln w="12700">
            <a:solidFill>
              <a:srgbClr val="30363D"/>
            </a:solidFill>
            <a:prstDash val="solid"/>
          </a:ln>
        </p:spPr>
      </p:sp>
      <p:sp>
        <p:nvSpPr>
          <p:cNvPr id="21" name="Shape 19"/>
          <p:cNvSpPr/>
          <p:nvPr/>
        </p:nvSpPr>
        <p:spPr>
          <a:xfrm>
            <a:off x="6806733" y="1956816"/>
            <a:ext cx="206898" cy="457200"/>
          </a:xfrm>
          <a:prstGeom prst="rect">
            <a:avLst/>
          </a:prstGeom>
          <a:solidFill>
            <a:srgbClr val="161B22"/>
          </a:solidFill>
          <a:ln w="12700">
            <a:solidFill>
              <a:srgbClr val="30363D"/>
            </a:solidFill>
            <a:prstDash val="solid"/>
          </a:ln>
        </p:spPr>
      </p:sp>
      <p:sp>
        <p:nvSpPr>
          <p:cNvPr id="22" name="Shape 20"/>
          <p:cNvSpPr/>
          <p:nvPr/>
        </p:nvSpPr>
        <p:spPr>
          <a:xfrm>
            <a:off x="7063923" y="1956816"/>
            <a:ext cx="206898" cy="457200"/>
          </a:xfrm>
          <a:prstGeom prst="rect">
            <a:avLst/>
          </a:prstGeom>
          <a:solidFill>
            <a:srgbClr val="4493F8"/>
          </a:solidFill>
          <a:ln w="12700">
            <a:solidFill>
              <a:srgbClr val="4493F8"/>
            </a:solidFill>
            <a:prstDash val="solid"/>
          </a:ln>
        </p:spPr>
      </p:sp>
      <p:sp>
        <p:nvSpPr>
          <p:cNvPr id="23" name="Shape 21"/>
          <p:cNvSpPr/>
          <p:nvPr/>
        </p:nvSpPr>
        <p:spPr>
          <a:xfrm>
            <a:off x="7321113" y="1956816"/>
            <a:ext cx="206898" cy="457200"/>
          </a:xfrm>
          <a:prstGeom prst="rect">
            <a:avLst/>
          </a:prstGeom>
          <a:solidFill>
            <a:srgbClr val="161B22"/>
          </a:solidFill>
          <a:ln w="12700">
            <a:solidFill>
              <a:srgbClr val="30363D"/>
            </a:solidFill>
            <a:prstDash val="solid"/>
          </a:ln>
        </p:spPr>
      </p:sp>
      <p:sp>
        <p:nvSpPr>
          <p:cNvPr id="24" name="Shape 22"/>
          <p:cNvSpPr/>
          <p:nvPr/>
        </p:nvSpPr>
        <p:spPr>
          <a:xfrm>
            <a:off x="7578303" y="1956816"/>
            <a:ext cx="206898" cy="457200"/>
          </a:xfrm>
          <a:prstGeom prst="rect">
            <a:avLst/>
          </a:prstGeom>
          <a:solidFill>
            <a:srgbClr val="161B22"/>
          </a:solidFill>
          <a:ln w="12700">
            <a:solidFill>
              <a:srgbClr val="30363D"/>
            </a:solidFill>
            <a:prstDash val="solid"/>
          </a:ln>
        </p:spPr>
      </p:sp>
      <p:sp>
        <p:nvSpPr>
          <p:cNvPr id="25" name="Shape 23"/>
          <p:cNvSpPr/>
          <p:nvPr/>
        </p:nvSpPr>
        <p:spPr>
          <a:xfrm>
            <a:off x="7835494" y="1956816"/>
            <a:ext cx="206898" cy="457200"/>
          </a:xfrm>
          <a:prstGeom prst="rect">
            <a:avLst/>
          </a:prstGeom>
          <a:solidFill>
            <a:srgbClr val="161B22"/>
          </a:solidFill>
          <a:ln w="12700">
            <a:solidFill>
              <a:srgbClr val="30363D"/>
            </a:solidFill>
            <a:prstDash val="solid"/>
          </a:ln>
        </p:spPr>
      </p:sp>
      <p:sp>
        <p:nvSpPr>
          <p:cNvPr id="26" name="Shape 24"/>
          <p:cNvSpPr/>
          <p:nvPr/>
        </p:nvSpPr>
        <p:spPr>
          <a:xfrm>
            <a:off x="8092684" y="1956816"/>
            <a:ext cx="206898" cy="457200"/>
          </a:xfrm>
          <a:prstGeom prst="rect">
            <a:avLst/>
          </a:prstGeom>
          <a:solidFill>
            <a:srgbClr val="161B22"/>
          </a:solidFill>
          <a:ln w="12700">
            <a:solidFill>
              <a:srgbClr val="30363D"/>
            </a:solidFill>
            <a:prstDash val="solid"/>
          </a:ln>
        </p:spPr>
      </p:sp>
      <p:sp>
        <p:nvSpPr>
          <p:cNvPr id="27" name="Shape 25"/>
          <p:cNvSpPr/>
          <p:nvPr/>
        </p:nvSpPr>
        <p:spPr>
          <a:xfrm>
            <a:off x="8349874" y="1956816"/>
            <a:ext cx="206898" cy="457200"/>
          </a:xfrm>
          <a:prstGeom prst="rect">
            <a:avLst/>
          </a:prstGeom>
          <a:solidFill>
            <a:srgbClr val="161B22"/>
          </a:solidFill>
          <a:ln w="12700">
            <a:solidFill>
              <a:srgbClr val="30363D"/>
            </a:solidFill>
            <a:prstDash val="solid"/>
          </a:ln>
        </p:spPr>
      </p:sp>
      <p:sp>
        <p:nvSpPr>
          <p:cNvPr id="28" name="Shape 26"/>
          <p:cNvSpPr/>
          <p:nvPr/>
        </p:nvSpPr>
        <p:spPr>
          <a:xfrm>
            <a:off x="8607064" y="1956816"/>
            <a:ext cx="206898" cy="457200"/>
          </a:xfrm>
          <a:prstGeom prst="rect">
            <a:avLst/>
          </a:prstGeom>
          <a:solidFill>
            <a:srgbClr val="4493F8"/>
          </a:solidFill>
          <a:ln w="12700">
            <a:solidFill>
              <a:srgbClr val="4493F8"/>
            </a:solidFill>
            <a:prstDash val="solid"/>
          </a:ln>
        </p:spPr>
      </p:sp>
      <p:sp>
        <p:nvSpPr>
          <p:cNvPr id="29" name="Shape 27"/>
          <p:cNvSpPr/>
          <p:nvPr/>
        </p:nvSpPr>
        <p:spPr>
          <a:xfrm>
            <a:off x="8864255" y="1956816"/>
            <a:ext cx="206898" cy="457200"/>
          </a:xfrm>
          <a:prstGeom prst="rect">
            <a:avLst/>
          </a:prstGeom>
          <a:solidFill>
            <a:srgbClr val="161B22"/>
          </a:solidFill>
          <a:ln w="12700">
            <a:solidFill>
              <a:srgbClr val="30363D"/>
            </a:solidFill>
            <a:prstDash val="solid"/>
          </a:ln>
        </p:spPr>
      </p:sp>
      <p:sp>
        <p:nvSpPr>
          <p:cNvPr id="30" name="Shape 28"/>
          <p:cNvSpPr/>
          <p:nvPr/>
        </p:nvSpPr>
        <p:spPr>
          <a:xfrm>
            <a:off x="9121445" y="1956816"/>
            <a:ext cx="206898" cy="457200"/>
          </a:xfrm>
          <a:prstGeom prst="rect">
            <a:avLst/>
          </a:prstGeom>
          <a:solidFill>
            <a:srgbClr val="161B22"/>
          </a:solidFill>
          <a:ln w="12700">
            <a:solidFill>
              <a:srgbClr val="30363D"/>
            </a:solidFill>
            <a:prstDash val="solid"/>
          </a:ln>
        </p:spPr>
      </p:sp>
      <p:sp>
        <p:nvSpPr>
          <p:cNvPr id="31" name="Shape 29"/>
          <p:cNvSpPr/>
          <p:nvPr/>
        </p:nvSpPr>
        <p:spPr>
          <a:xfrm>
            <a:off x="9378635" y="1956816"/>
            <a:ext cx="206898" cy="457200"/>
          </a:xfrm>
          <a:prstGeom prst="rect">
            <a:avLst/>
          </a:prstGeom>
          <a:solidFill>
            <a:srgbClr val="161B22"/>
          </a:solidFill>
          <a:ln w="12700">
            <a:solidFill>
              <a:srgbClr val="30363D"/>
            </a:solidFill>
            <a:prstDash val="solid"/>
          </a:ln>
        </p:spPr>
      </p:sp>
      <p:sp>
        <p:nvSpPr>
          <p:cNvPr id="32" name="Shape 30"/>
          <p:cNvSpPr/>
          <p:nvPr/>
        </p:nvSpPr>
        <p:spPr>
          <a:xfrm>
            <a:off x="9635825" y="1956816"/>
            <a:ext cx="206898" cy="457200"/>
          </a:xfrm>
          <a:prstGeom prst="rect">
            <a:avLst/>
          </a:prstGeom>
          <a:solidFill>
            <a:srgbClr val="161B22"/>
          </a:solidFill>
          <a:ln w="12700">
            <a:solidFill>
              <a:srgbClr val="30363D"/>
            </a:solidFill>
            <a:prstDash val="solid"/>
          </a:ln>
        </p:spPr>
      </p:sp>
      <p:sp>
        <p:nvSpPr>
          <p:cNvPr id="33" name="Shape 31"/>
          <p:cNvSpPr/>
          <p:nvPr/>
        </p:nvSpPr>
        <p:spPr>
          <a:xfrm>
            <a:off x="9893016" y="1956816"/>
            <a:ext cx="206898" cy="457200"/>
          </a:xfrm>
          <a:prstGeom prst="rect">
            <a:avLst/>
          </a:prstGeom>
          <a:solidFill>
            <a:srgbClr val="161B22"/>
          </a:solidFill>
          <a:ln w="12700">
            <a:solidFill>
              <a:srgbClr val="30363D"/>
            </a:solidFill>
            <a:prstDash val="solid"/>
          </a:ln>
        </p:spPr>
      </p:sp>
      <p:sp>
        <p:nvSpPr>
          <p:cNvPr id="34" name="Shape 32"/>
          <p:cNvSpPr/>
          <p:nvPr/>
        </p:nvSpPr>
        <p:spPr>
          <a:xfrm>
            <a:off x="10150206" y="1956816"/>
            <a:ext cx="206898" cy="457200"/>
          </a:xfrm>
          <a:prstGeom prst="rect">
            <a:avLst/>
          </a:prstGeom>
          <a:solidFill>
            <a:srgbClr val="4493F8"/>
          </a:solidFill>
          <a:ln w="12700">
            <a:solidFill>
              <a:srgbClr val="4493F8"/>
            </a:solidFill>
            <a:prstDash val="solid"/>
          </a:ln>
        </p:spPr>
      </p:sp>
      <p:sp>
        <p:nvSpPr>
          <p:cNvPr id="35" name="Shape 33"/>
          <p:cNvSpPr/>
          <p:nvPr/>
        </p:nvSpPr>
        <p:spPr>
          <a:xfrm>
            <a:off x="10407396" y="1956816"/>
            <a:ext cx="206898" cy="457200"/>
          </a:xfrm>
          <a:prstGeom prst="rect">
            <a:avLst/>
          </a:prstGeom>
          <a:solidFill>
            <a:srgbClr val="161B22"/>
          </a:solidFill>
          <a:ln w="12700">
            <a:solidFill>
              <a:srgbClr val="30363D"/>
            </a:solidFill>
            <a:prstDash val="solid"/>
          </a:ln>
        </p:spPr>
      </p:sp>
      <p:sp>
        <p:nvSpPr>
          <p:cNvPr id="36" name="Shape 34"/>
          <p:cNvSpPr/>
          <p:nvPr/>
        </p:nvSpPr>
        <p:spPr>
          <a:xfrm>
            <a:off x="10664586" y="1956816"/>
            <a:ext cx="206898" cy="457200"/>
          </a:xfrm>
          <a:prstGeom prst="rect">
            <a:avLst/>
          </a:prstGeom>
          <a:solidFill>
            <a:srgbClr val="161B22"/>
          </a:solidFill>
          <a:ln w="12700">
            <a:solidFill>
              <a:srgbClr val="30363D"/>
            </a:solidFill>
            <a:prstDash val="solid"/>
          </a:ln>
        </p:spPr>
      </p:sp>
      <p:sp>
        <p:nvSpPr>
          <p:cNvPr id="37" name="Shape 35"/>
          <p:cNvSpPr/>
          <p:nvPr/>
        </p:nvSpPr>
        <p:spPr>
          <a:xfrm>
            <a:off x="10921776" y="1956816"/>
            <a:ext cx="206898" cy="457200"/>
          </a:xfrm>
          <a:prstGeom prst="rect">
            <a:avLst/>
          </a:prstGeom>
          <a:solidFill>
            <a:srgbClr val="161B22"/>
          </a:solidFill>
          <a:ln w="12700">
            <a:solidFill>
              <a:srgbClr val="30363D"/>
            </a:solidFill>
            <a:prstDash val="solid"/>
          </a:ln>
        </p:spPr>
      </p:sp>
      <p:sp>
        <p:nvSpPr>
          <p:cNvPr id="38" name="Shape 36"/>
          <p:cNvSpPr/>
          <p:nvPr/>
        </p:nvSpPr>
        <p:spPr>
          <a:xfrm>
            <a:off x="11178967" y="1956816"/>
            <a:ext cx="206898" cy="457200"/>
          </a:xfrm>
          <a:prstGeom prst="rect">
            <a:avLst/>
          </a:prstGeom>
          <a:solidFill>
            <a:srgbClr val="161B22"/>
          </a:solidFill>
          <a:ln w="12700">
            <a:solidFill>
              <a:srgbClr val="30363D"/>
            </a:solidFill>
            <a:prstDash val="solid"/>
          </a:ln>
        </p:spPr>
      </p:sp>
      <p:sp>
        <p:nvSpPr>
          <p:cNvPr id="39" name="Shape 37"/>
          <p:cNvSpPr/>
          <p:nvPr/>
        </p:nvSpPr>
        <p:spPr>
          <a:xfrm>
            <a:off x="11436157" y="1956816"/>
            <a:ext cx="206898" cy="457200"/>
          </a:xfrm>
          <a:prstGeom prst="rect">
            <a:avLst/>
          </a:prstGeom>
          <a:solidFill>
            <a:srgbClr val="161B22"/>
          </a:solidFill>
          <a:ln w="12700">
            <a:solidFill>
              <a:srgbClr val="30363D"/>
            </a:solidFill>
            <a:prstDash val="solid"/>
          </a:ln>
        </p:spPr>
      </p:sp>
      <p:sp>
        <p:nvSpPr>
          <p:cNvPr id="40" name="Text 38"/>
          <p:cNvSpPr txBox="1"/>
          <p:nvPr/>
        </p:nvSpPr>
        <p:spPr>
          <a:xfrm>
            <a:off x="3977640" y="2487168"/>
            <a:ext cx="7665415" cy="274320"/>
          </a:xfrm>
          <a:prstGeom prst="rect">
            <a:avLst/>
          </a:prstGeom>
          <a:noFill/>
          <a:ln/>
        </p:spPr>
        <p:txBody>
          <a:bodyPr wrap="square" lIns="0" tIns="0" rIns="0" bIns="0" rtlCol="0" anchor="t"/>
          <a:lstStyle/>
          <a:p>
            <a:pPr indent="0" marL="0">
              <a:buNone/>
            </a:pPr>
            <a:r>
              <a:rPr lang="en-US" sz="1100" i="1" dirty="0">
                <a:solidFill>
                  <a:srgbClr val="7D8590"/>
                </a:solidFill>
                <a:latin typeface="Calibri" pitchFamily="34" charset="0"/>
                <a:ea typeface="Calibri" pitchFamily="34" charset="-122"/>
                <a:cs typeface="Calibri" pitchFamily="34" charset="-120"/>
              </a:rPr>
              <a:t>five months of 5-day bins — filled bins are the ones Argo actually reports</a:t>
            </a:r>
            <a:endParaRPr lang="en-US" sz="1100" dirty="0"/>
          </a:p>
        </p:txBody>
      </p:sp>
      <p:sp>
        <p:nvSpPr>
          <p:cNvPr id="41" name="Shape 39"/>
          <p:cNvSpPr/>
          <p:nvPr/>
        </p:nvSpPr>
        <p:spPr>
          <a:xfrm>
            <a:off x="3977640" y="2852928"/>
            <a:ext cx="7665415" cy="576072"/>
          </a:xfrm>
          <a:prstGeom prst="roundRect">
            <a:avLst>
              <a:gd name="adj" fmla="val 9524"/>
            </a:avLst>
          </a:prstGeom>
          <a:solidFill>
            <a:srgbClr val="11161D"/>
          </a:solidFill>
          <a:ln w="12700">
            <a:solidFill>
              <a:srgbClr val="30363D"/>
            </a:solidFill>
            <a:prstDash val="solid"/>
          </a:ln>
        </p:spPr>
      </p:sp>
      <p:sp>
        <p:nvSpPr>
          <p:cNvPr id="42" name="Text 40"/>
          <p:cNvSpPr txBox="1"/>
          <p:nvPr/>
        </p:nvSpPr>
        <p:spPr>
          <a:xfrm>
            <a:off x="4197096" y="2999232"/>
            <a:ext cx="7226503" cy="292608"/>
          </a:xfrm>
          <a:prstGeom prst="rect">
            <a:avLst/>
          </a:prstGeom>
          <a:noFill/>
          <a:ln/>
        </p:spPr>
        <p:txBody>
          <a:bodyPr wrap="square" lIns="0" tIns="0" rIns="0" bIns="0" rtlCol="0" anchor="t"/>
          <a:lstStyle/>
          <a:p>
            <a:pPr indent="0" marL="0">
              <a:buNone/>
            </a:pPr>
            <a:r>
              <a:rPr lang="en-US" sz="1300" b="1" dirty="0">
                <a:solidFill>
                  <a:srgbClr val="E3B341"/>
                </a:solidFill>
                <a:latin typeface="Calibri" pitchFamily="34" charset="0"/>
                <a:ea typeface="Calibri" pitchFamily="34" charset="-122"/>
                <a:cs typeface="Calibri" pitchFamily="34" charset="-120"/>
              </a:rPr>
              <a:t>22 of 43 years carry no live Argo bins at all.</a:t>
            </a:r>
            <a:endParaRPr lang="en-US" sz="1300" dirty="0"/>
          </a:p>
        </p:txBody>
      </p:sp>
      <p:sp>
        <p:nvSpPr>
          <p:cNvPr id="43" name="Text 41"/>
          <p:cNvSpPr txBox="1"/>
          <p:nvPr/>
        </p:nvSpPr>
        <p:spPr>
          <a:xfrm>
            <a:off x="548640" y="3794760"/>
            <a:ext cx="11094415" cy="1600200"/>
          </a:xfrm>
          <a:prstGeom prst="rect">
            <a:avLst/>
          </a:prstGeom>
          <a:noFill/>
          <a:ln/>
        </p:spPr>
        <p:txBody>
          <a:bodyPr wrap="square" lIns="0" tIns="0" rIns="0" bIns="0" rtlCol="0" anchor="t"/>
          <a:lstStyle/>
          <a:p>
            <a:pPr marL="177800" indent="-177800">
              <a:lnSpc>
                <a:spcPts val="1900"/>
              </a:lnSpc>
              <a:spcAft>
                <a:spcPts val="800"/>
              </a:spcAft>
              <a:buSzPct val="100000"/>
              <a:buChar char="•"/>
            </a:pPr>
            <a:r>
              <a:rPr lang="en-US" sz="1450" dirty="0">
                <a:solidFill>
                  <a:srgbClr val="E6EDF3"/>
                </a:solidFill>
                <a:latin typeface="Calibri" pitchFamily="34" charset="0"/>
                <a:ea typeface="Calibri" pitchFamily="34" charset="-122"/>
                <a:cs typeface="Calibri" pitchFamily="34" charset="-120"/>
              </a:rPr>
              <a:t>Missing is never forward-filled: telling the model the subsurface was observed on a day it was not would be a lie in the data.</a:t>
            </a:r>
            <a:endParaRPr lang="en-US" sz="1450" dirty="0"/>
          </a:p>
          <a:p>
            <a:pPr marL="177800" indent="-177800">
              <a:lnSpc>
                <a:spcPts val="1900"/>
              </a:lnSpc>
              <a:spcAft>
                <a:spcPts val="800"/>
              </a:spcAft>
              <a:buSzPct val="100000"/>
              <a:buChar char="•"/>
            </a:pPr>
            <a:r>
              <a:rPr lang="en-US" sz="1450" dirty="0">
                <a:solidFill>
                  <a:srgbClr val="E6EDF3"/>
                </a:solidFill>
                <a:latin typeface="Calibri" pitchFamily="34" charset="0"/>
                <a:ea typeface="Calibri" pitchFamily="34" charset="-122"/>
                <a:cs typeface="Calibri" pitchFamily="34" charset="-120"/>
              </a:rPr>
              <a:t>An unobserved target has weight exactly 0 — the decoder is never scored against a made-up zero.</a:t>
            </a:r>
            <a:endParaRPr lang="en-US" sz="1450" dirty="0"/>
          </a:p>
          <a:p>
            <a:pPr marL="177800" indent="-177800">
              <a:lnSpc>
                <a:spcPts val="1900"/>
              </a:lnSpc>
              <a:spcAft>
                <a:spcPts val="800"/>
              </a:spcAft>
              <a:buSzPct val="100000"/>
              <a:buChar char="•"/>
            </a:pPr>
            <a:r>
              <a:rPr lang="en-US" sz="1450" dirty="0">
                <a:solidFill>
                  <a:srgbClr val="E6EDF3"/>
                </a:solidFill>
                <a:latin typeface="Calibri" pitchFamily="34" charset="0"/>
                <a:ea typeface="Calibri" pitchFamily="34" charset="-122"/>
                <a:cs typeface="Calibri" pitchFamily="34" charset="-120"/>
              </a:rPr>
              <a:t>The token shape stays fixed (706 dots at every latitude); liveness rides in a flag, not in the shape.</a:t>
            </a:r>
            <a:endParaRPr lang="en-US" sz="1450" dirty="0"/>
          </a:p>
        </p:txBody>
      </p:sp>
      <p:sp>
        <p:nvSpPr>
          <p:cNvPr id="44" name="Shape 42"/>
          <p:cNvSpPr/>
          <p:nvPr/>
        </p:nvSpPr>
        <p:spPr>
          <a:xfrm>
            <a:off x="548640" y="5486400"/>
            <a:ext cx="11094415" cy="658368"/>
          </a:xfrm>
          <a:prstGeom prst="roundRect">
            <a:avLst>
              <a:gd name="adj" fmla="val 8333"/>
            </a:avLst>
          </a:prstGeom>
          <a:solidFill>
            <a:srgbClr val="11202F"/>
          </a:solidFill>
          <a:ln w="12700">
            <a:solidFill>
              <a:srgbClr val="4493F8"/>
            </a:solidFill>
            <a:prstDash val="solid"/>
          </a:ln>
        </p:spPr>
      </p:sp>
      <p:sp>
        <p:nvSpPr>
          <p:cNvPr id="45" name="Text 43"/>
          <p:cNvSpPr txBox="1"/>
          <p:nvPr/>
        </p:nvSpPr>
        <p:spPr>
          <a:xfrm>
            <a:off x="804672" y="5660136"/>
            <a:ext cx="10582351" cy="329184"/>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Missingness is information — so it is a token, not a hole.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THE SELF-SUPERVISED TASK</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What the example is actually used for</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536192"/>
            <a:ext cx="5410048" cy="2331720"/>
          </a:xfrm>
          <a:prstGeom prst="roundRect">
            <a:avLst>
              <a:gd name="adj" fmla="val 2353"/>
            </a:avLst>
          </a:prstGeom>
          <a:solidFill>
            <a:srgbClr val="161B22"/>
          </a:solidFill>
          <a:ln w="12700">
            <a:solidFill>
              <a:srgbClr val="30363D"/>
            </a:solidFill>
            <a:prstDash val="solid"/>
          </a:ln>
        </p:spPr>
      </p:sp>
      <p:sp>
        <p:nvSpPr>
          <p:cNvPr id="7" name="Text 5"/>
          <p:cNvSpPr txBox="1"/>
          <p:nvPr/>
        </p:nvSpPr>
        <p:spPr>
          <a:xfrm>
            <a:off x="786384" y="1700784"/>
            <a:ext cx="4934560" cy="292608"/>
          </a:xfrm>
          <a:prstGeom prst="rect">
            <a:avLst/>
          </a:prstGeom>
          <a:noFill/>
          <a:ln/>
        </p:spPr>
        <p:txBody>
          <a:bodyPr wrap="square" lIns="0" tIns="0" rIns="0" bIns="0" rtlCol="0" anchor="t"/>
          <a:lstStyle/>
          <a:p>
            <a:pPr indent="0" marL="0">
              <a:buNone/>
            </a:pPr>
            <a:r>
              <a:rPr lang="en-US" sz="1700" b="1" dirty="0">
                <a:solidFill>
                  <a:srgbClr val="E3B341"/>
                </a:solidFill>
                <a:latin typeface="Georgia" pitchFamily="34" charset="0"/>
                <a:ea typeface="Georgia" pitchFamily="34" charset="-122"/>
                <a:cs typeface="Georgia" pitchFamily="34" charset="-120"/>
              </a:rPr>
              <a:t>Hide</a:t>
            </a:r>
            <a:endParaRPr lang="en-US" sz="1700" dirty="0"/>
          </a:p>
        </p:txBody>
      </p:sp>
      <p:sp>
        <p:nvSpPr>
          <p:cNvPr id="8" name="Shape 6"/>
          <p:cNvSpPr/>
          <p:nvPr/>
        </p:nvSpPr>
        <p:spPr>
          <a:xfrm>
            <a:off x="804672" y="2194560"/>
            <a:ext cx="146304" cy="146304"/>
          </a:xfrm>
          <a:prstGeom prst="ellipse">
            <a:avLst/>
          </a:prstGeom>
          <a:solidFill>
            <a:srgbClr val="E3B341"/>
          </a:solidFill>
          <a:ln w="12700">
            <a:solidFill>
              <a:srgbClr val="E3B341"/>
            </a:solidFill>
            <a:prstDash val="solid"/>
          </a:ln>
        </p:spPr>
      </p:sp>
      <p:sp>
        <p:nvSpPr>
          <p:cNvPr id="9" name="Text 7"/>
          <p:cNvSpPr txBox="1"/>
          <p:nvPr/>
        </p:nvSpPr>
        <p:spPr>
          <a:xfrm>
            <a:off x="1078992" y="2103120"/>
            <a:ext cx="4623664" cy="457200"/>
          </a:xfrm>
          <a:prstGeom prst="rect">
            <a:avLst/>
          </a:prstGeom>
          <a:noFill/>
          <a:ln/>
        </p:spPr>
        <p:txBody>
          <a:bodyPr wrap="square" lIns="0" tIns="0" rIns="0" bIns="0" rtlCol="0" anchor="t"/>
          <a:lstStyle/>
          <a:p>
            <a:pPr indent="0" marL="0">
              <a:lnSpc>
                <a:spcPts val="1700"/>
              </a:lnSpc>
              <a:buNone/>
            </a:pPr>
            <a:r>
              <a:rPr lang="en-US" sz="1350" b="1" dirty="0">
                <a:solidFill>
                  <a:srgbClr val="E6EDF3"/>
                </a:solidFill>
                <a:latin typeface="Calibri" pitchFamily="34" charset="0"/>
                <a:ea typeface="Calibri" pitchFamily="34" charset="-122"/>
                <a:cs typeface="Calibri" pitchFamily="34" charset="-120"/>
              </a:rPr>
              <a:t>whole channels</a:t>
            </a:r>
            <a:pPr indent="0" marL="0">
              <a:lnSpc>
                <a:spcPts val="1700"/>
              </a:lnSpc>
              <a:buNone/>
            </a:pPr>
            <a:r>
              <a:rPr lang="en-US" sz="1350" dirty="0">
                <a:solidFill>
                  <a:srgbClr val="7D8590"/>
                </a:solidFill>
                <a:latin typeface="Calibri" pitchFamily="34" charset="0"/>
                <a:ea typeface="Calibri" pitchFamily="34" charset="-122"/>
                <a:cs typeface="Calibri" pitchFamily="34" charset="-120"/>
              </a:rPr>
              <a:t>  —  currents 50 %, others 30 %</a:t>
            </a:r>
            <a:endParaRPr lang="en-US" sz="1350" dirty="0"/>
          </a:p>
        </p:txBody>
      </p:sp>
      <p:sp>
        <p:nvSpPr>
          <p:cNvPr id="10" name="Shape 8"/>
          <p:cNvSpPr/>
          <p:nvPr/>
        </p:nvSpPr>
        <p:spPr>
          <a:xfrm>
            <a:off x="804672" y="2761488"/>
            <a:ext cx="146304" cy="146304"/>
          </a:xfrm>
          <a:prstGeom prst="ellipse">
            <a:avLst/>
          </a:prstGeom>
          <a:solidFill>
            <a:srgbClr val="E3B341"/>
          </a:solidFill>
          <a:ln w="12700">
            <a:solidFill>
              <a:srgbClr val="E3B341"/>
            </a:solidFill>
            <a:prstDash val="solid"/>
          </a:ln>
        </p:spPr>
      </p:sp>
      <p:sp>
        <p:nvSpPr>
          <p:cNvPr id="11" name="Text 9"/>
          <p:cNvSpPr txBox="1"/>
          <p:nvPr/>
        </p:nvSpPr>
        <p:spPr>
          <a:xfrm>
            <a:off x="1078992" y="2670048"/>
            <a:ext cx="4623664" cy="457200"/>
          </a:xfrm>
          <a:prstGeom prst="rect">
            <a:avLst/>
          </a:prstGeom>
          <a:noFill/>
          <a:ln/>
        </p:spPr>
        <p:txBody>
          <a:bodyPr wrap="square" lIns="0" tIns="0" rIns="0" bIns="0" rtlCol="0" anchor="t"/>
          <a:lstStyle/>
          <a:p>
            <a:pPr indent="0" marL="0">
              <a:lnSpc>
                <a:spcPts val="1700"/>
              </a:lnSpc>
              <a:buNone/>
            </a:pPr>
            <a:r>
              <a:rPr lang="en-US" sz="1350" b="1" dirty="0">
                <a:solidFill>
                  <a:srgbClr val="E6EDF3"/>
                </a:solidFill>
                <a:latin typeface="Calibri" pitchFamily="34" charset="0"/>
                <a:ea typeface="Calibri" pitchFamily="34" charset="-122"/>
                <a:cs typeface="Calibri" pitchFamily="34" charset="-120"/>
              </a:rPr>
              <a:t>a band of recent lags</a:t>
            </a:r>
            <a:pPr indent="0" marL="0">
              <a:lnSpc>
                <a:spcPts val="1700"/>
              </a:lnSpc>
              <a:buNone/>
            </a:pPr>
            <a:r>
              <a:rPr lang="en-US" sz="1350" dirty="0">
                <a:solidFill>
                  <a:srgbClr val="7D8590"/>
                </a:solidFill>
                <a:latin typeface="Calibri" pitchFamily="34" charset="0"/>
                <a:ea typeface="Calibri" pitchFamily="34" charset="-122"/>
                <a:cs typeface="Calibri" pitchFamily="34" charset="-120"/>
              </a:rPr>
              <a:t>  —  30 % of examples, lags 1 … l₀</a:t>
            </a:r>
            <a:endParaRPr lang="en-US" sz="1350" dirty="0"/>
          </a:p>
        </p:txBody>
      </p:sp>
      <p:sp>
        <p:nvSpPr>
          <p:cNvPr id="12" name="Shape 10"/>
          <p:cNvSpPr/>
          <p:nvPr/>
        </p:nvSpPr>
        <p:spPr>
          <a:xfrm>
            <a:off x="804672" y="3328416"/>
            <a:ext cx="146304" cy="146304"/>
          </a:xfrm>
          <a:prstGeom prst="ellipse">
            <a:avLst/>
          </a:prstGeom>
          <a:solidFill>
            <a:srgbClr val="E3B341"/>
          </a:solidFill>
          <a:ln w="12700">
            <a:solidFill>
              <a:srgbClr val="E3B341"/>
            </a:solidFill>
            <a:prstDash val="solid"/>
          </a:ln>
        </p:spPr>
      </p:sp>
      <p:sp>
        <p:nvSpPr>
          <p:cNvPr id="13" name="Text 11"/>
          <p:cNvSpPr txBox="1"/>
          <p:nvPr/>
        </p:nvSpPr>
        <p:spPr>
          <a:xfrm>
            <a:off x="1078992" y="3236976"/>
            <a:ext cx="4623664" cy="457200"/>
          </a:xfrm>
          <a:prstGeom prst="rect">
            <a:avLst/>
          </a:prstGeom>
          <a:noFill/>
          <a:ln/>
        </p:spPr>
        <p:txBody>
          <a:bodyPr wrap="square" lIns="0" tIns="0" rIns="0" bIns="0" rtlCol="0" anchor="t"/>
          <a:lstStyle/>
          <a:p>
            <a:pPr indent="0" marL="0">
              <a:lnSpc>
                <a:spcPts val="1700"/>
              </a:lnSpc>
              <a:buNone/>
            </a:pPr>
            <a:r>
              <a:rPr lang="en-US" sz="1350" b="1" dirty="0">
                <a:solidFill>
                  <a:srgbClr val="E6EDF3"/>
                </a:solidFill>
                <a:latin typeface="Calibri" pitchFamily="34" charset="0"/>
                <a:ea typeface="Calibri" pitchFamily="34" charset="-122"/>
                <a:cs typeface="Calibri" pitchFamily="34" charset="-120"/>
              </a:rPr>
              <a:t>a 90° sector</a:t>
            </a:r>
            <a:pPr indent="0" marL="0">
              <a:lnSpc>
                <a:spcPts val="1700"/>
              </a:lnSpc>
              <a:buNone/>
            </a:pPr>
            <a:r>
              <a:rPr lang="en-US" sz="1350" dirty="0">
                <a:solidFill>
                  <a:srgbClr val="7D8590"/>
                </a:solidFill>
                <a:latin typeface="Calibri" pitchFamily="34" charset="0"/>
                <a:ea typeface="Calibri" pitchFamily="34" charset="-122"/>
                <a:cs typeface="Calibri" pitchFamily="34" charset="-120"/>
              </a:rPr>
              <a:t>  —  30 % of examples</a:t>
            </a:r>
            <a:endParaRPr lang="en-US" sz="1350" dirty="0"/>
          </a:p>
        </p:txBody>
      </p:sp>
      <p:sp>
        <p:nvSpPr>
          <p:cNvPr id="14" name="Shape 12"/>
          <p:cNvSpPr/>
          <p:nvPr/>
        </p:nvSpPr>
        <p:spPr>
          <a:xfrm>
            <a:off x="6233008" y="1536192"/>
            <a:ext cx="5410048" cy="2331720"/>
          </a:xfrm>
          <a:prstGeom prst="roundRect">
            <a:avLst>
              <a:gd name="adj" fmla="val 2353"/>
            </a:avLst>
          </a:prstGeom>
          <a:solidFill>
            <a:srgbClr val="161B22"/>
          </a:solidFill>
          <a:ln w="12700">
            <a:solidFill>
              <a:srgbClr val="30363D"/>
            </a:solidFill>
            <a:prstDash val="solid"/>
          </a:ln>
        </p:spPr>
      </p:sp>
      <p:sp>
        <p:nvSpPr>
          <p:cNvPr id="15" name="Text 13"/>
          <p:cNvSpPr txBox="1"/>
          <p:nvPr/>
        </p:nvSpPr>
        <p:spPr>
          <a:xfrm>
            <a:off x="6470752" y="1700784"/>
            <a:ext cx="4934560" cy="292608"/>
          </a:xfrm>
          <a:prstGeom prst="rect">
            <a:avLst/>
          </a:prstGeom>
          <a:noFill/>
          <a:ln/>
        </p:spPr>
        <p:txBody>
          <a:bodyPr wrap="square" lIns="0" tIns="0" rIns="0" bIns="0" rtlCol="0" anchor="t"/>
          <a:lstStyle/>
          <a:p>
            <a:pPr indent="0" marL="0">
              <a:buNone/>
            </a:pPr>
            <a:r>
              <a:rPr lang="en-US" sz="1700" b="1" dirty="0">
                <a:solidFill>
                  <a:srgbClr val="4493F8"/>
                </a:solidFill>
                <a:latin typeface="Georgia" pitchFamily="34" charset="0"/>
                <a:ea typeface="Georgia" pitchFamily="34" charset="-122"/>
                <a:cs typeface="Georgia" pitchFamily="34" charset="-120"/>
              </a:rPr>
              <a:t>Ask 382 questions</a:t>
            </a:r>
            <a:endParaRPr lang="en-US" sz="1700" dirty="0"/>
          </a:p>
        </p:txBody>
      </p:sp>
      <p:sp>
        <p:nvSpPr>
          <p:cNvPr id="16" name="Text 14"/>
          <p:cNvSpPr txBox="1"/>
          <p:nvPr/>
        </p:nvSpPr>
        <p:spPr>
          <a:xfrm>
            <a:off x="6470752" y="2103120"/>
            <a:ext cx="685800" cy="365760"/>
          </a:xfrm>
          <a:prstGeom prst="rect">
            <a:avLst/>
          </a:prstGeom>
          <a:noFill/>
          <a:ln/>
        </p:spPr>
        <p:txBody>
          <a:bodyPr wrap="square" lIns="0" tIns="0" rIns="0" bIns="0" rtlCol="0" anchor="t"/>
          <a:lstStyle/>
          <a:p>
            <a:pPr indent="0" marL="0">
              <a:buNone/>
            </a:pPr>
            <a:r>
              <a:rPr lang="en-US" sz="2000" b="1" dirty="0">
                <a:solidFill>
                  <a:srgbClr val="4493F8"/>
                </a:solidFill>
                <a:latin typeface="Georgia" pitchFamily="34" charset="0"/>
                <a:ea typeface="Georgia" pitchFamily="34" charset="-122"/>
                <a:cs typeface="Georgia" pitchFamily="34" charset="-120"/>
              </a:rPr>
              <a:t>42</a:t>
            </a:r>
            <a:endParaRPr lang="en-US" sz="2000" dirty="0"/>
          </a:p>
        </p:txBody>
      </p:sp>
      <p:sp>
        <p:nvSpPr>
          <p:cNvPr id="17" name="Text 15"/>
          <p:cNvSpPr txBox="1"/>
          <p:nvPr/>
        </p:nvSpPr>
        <p:spPr>
          <a:xfrm>
            <a:off x="7202272" y="2157984"/>
            <a:ext cx="4184752" cy="457200"/>
          </a:xfrm>
          <a:prstGeom prst="rect">
            <a:avLst/>
          </a:prstGeom>
          <a:noFill/>
          <a:ln/>
        </p:spPr>
        <p:txBody>
          <a:bodyPr wrap="square" lIns="0" tIns="0" rIns="0" bIns="0" rtlCol="0" anchor="t"/>
          <a:lstStyle/>
          <a:p>
            <a:pPr indent="0" marL="0">
              <a:lnSpc>
                <a:spcPts val="1600"/>
              </a:lnSpc>
              <a:buNone/>
            </a:pPr>
            <a:r>
              <a:rPr lang="en-US" sz="1300" dirty="0">
                <a:solidFill>
                  <a:srgbClr val="E6EDF3"/>
                </a:solidFill>
                <a:latin typeface="Calibri" pitchFamily="34" charset="0"/>
                <a:ea typeface="Calibri" pitchFamily="34" charset="-122"/>
                <a:cs typeface="Calibri" pitchFamily="34" charset="-120"/>
              </a:rPr>
              <a:t>reconstruct the anchor’s own values</a:t>
            </a:r>
            <a:endParaRPr lang="en-US" sz="1300" dirty="0"/>
          </a:p>
        </p:txBody>
      </p:sp>
      <p:sp>
        <p:nvSpPr>
          <p:cNvPr id="18" name="Text 16"/>
          <p:cNvSpPr txBox="1"/>
          <p:nvPr/>
        </p:nvSpPr>
        <p:spPr>
          <a:xfrm>
            <a:off x="6470752" y="2670048"/>
            <a:ext cx="685800" cy="365760"/>
          </a:xfrm>
          <a:prstGeom prst="rect">
            <a:avLst/>
          </a:prstGeom>
          <a:noFill/>
          <a:ln/>
        </p:spPr>
        <p:txBody>
          <a:bodyPr wrap="square" lIns="0" tIns="0" rIns="0" bIns="0" rtlCol="0" anchor="t"/>
          <a:lstStyle/>
          <a:p>
            <a:pPr indent="0" marL="0">
              <a:buNone/>
            </a:pPr>
            <a:r>
              <a:rPr lang="en-US" sz="2000" b="1" dirty="0">
                <a:solidFill>
                  <a:srgbClr val="4493F8"/>
                </a:solidFill>
                <a:latin typeface="Georgia" pitchFamily="34" charset="0"/>
                <a:ea typeface="Georgia" pitchFamily="34" charset="-122"/>
                <a:cs typeface="Georgia" pitchFamily="34" charset="-120"/>
              </a:rPr>
              <a:t>84</a:t>
            </a:r>
            <a:endParaRPr lang="en-US" sz="2000" dirty="0"/>
          </a:p>
        </p:txBody>
      </p:sp>
      <p:sp>
        <p:nvSpPr>
          <p:cNvPr id="19" name="Text 17"/>
          <p:cNvSpPr txBox="1"/>
          <p:nvPr/>
        </p:nvSpPr>
        <p:spPr>
          <a:xfrm>
            <a:off x="7202272" y="2724912"/>
            <a:ext cx="4184752" cy="457200"/>
          </a:xfrm>
          <a:prstGeom prst="rect">
            <a:avLst/>
          </a:prstGeom>
          <a:noFill/>
          <a:ln/>
        </p:spPr>
        <p:txBody>
          <a:bodyPr wrap="square" lIns="0" tIns="0" rIns="0" bIns="0" rtlCol="0" anchor="t"/>
          <a:lstStyle/>
          <a:p>
            <a:pPr indent="0" marL="0">
              <a:lnSpc>
                <a:spcPts val="1600"/>
              </a:lnSpc>
              <a:buNone/>
            </a:pPr>
            <a:r>
              <a:rPr lang="en-US" sz="1300" dirty="0">
                <a:solidFill>
                  <a:srgbClr val="E6EDF3"/>
                </a:solidFill>
                <a:latin typeface="Calibri" pitchFamily="34" charset="0"/>
                <a:ea typeface="Calibri" pitchFamily="34" charset="-122"/>
                <a:cs typeface="Calibri" pitchFamily="34" charset="-120"/>
              </a:rPr>
              <a:t>predict the future values at t+1 and t+2</a:t>
            </a:r>
            <a:endParaRPr lang="en-US" sz="1300" dirty="0"/>
          </a:p>
        </p:txBody>
      </p:sp>
      <p:sp>
        <p:nvSpPr>
          <p:cNvPr id="20" name="Text 18"/>
          <p:cNvSpPr txBox="1"/>
          <p:nvPr/>
        </p:nvSpPr>
        <p:spPr>
          <a:xfrm>
            <a:off x="6470752" y="3236976"/>
            <a:ext cx="685800" cy="365760"/>
          </a:xfrm>
          <a:prstGeom prst="rect">
            <a:avLst/>
          </a:prstGeom>
          <a:noFill/>
          <a:ln/>
        </p:spPr>
        <p:txBody>
          <a:bodyPr wrap="square" lIns="0" tIns="0" rIns="0" bIns="0" rtlCol="0" anchor="t"/>
          <a:lstStyle/>
          <a:p>
            <a:pPr indent="0" marL="0">
              <a:buNone/>
            </a:pPr>
            <a:r>
              <a:rPr lang="en-US" sz="2000" b="1" dirty="0">
                <a:solidFill>
                  <a:srgbClr val="4493F8"/>
                </a:solidFill>
                <a:latin typeface="Georgia" pitchFamily="34" charset="0"/>
                <a:ea typeface="Georgia" pitchFamily="34" charset="-122"/>
                <a:cs typeface="Georgia" pitchFamily="34" charset="-120"/>
              </a:rPr>
              <a:t>256</a:t>
            </a:r>
            <a:endParaRPr lang="en-US" sz="2000" dirty="0"/>
          </a:p>
        </p:txBody>
      </p:sp>
      <p:sp>
        <p:nvSpPr>
          <p:cNvPr id="21" name="Text 19"/>
          <p:cNvSpPr txBox="1"/>
          <p:nvPr/>
        </p:nvSpPr>
        <p:spPr>
          <a:xfrm>
            <a:off x="7202272" y="3291840"/>
            <a:ext cx="4184752" cy="457200"/>
          </a:xfrm>
          <a:prstGeom prst="rect">
            <a:avLst/>
          </a:prstGeom>
          <a:noFill/>
          <a:ln/>
        </p:spPr>
        <p:txBody>
          <a:bodyPr wrap="square" lIns="0" tIns="0" rIns="0" bIns="0" rtlCol="0" anchor="t"/>
          <a:lstStyle/>
          <a:p>
            <a:pPr indent="0" marL="0">
              <a:lnSpc>
                <a:spcPts val="1600"/>
              </a:lnSpc>
              <a:buNone/>
            </a:pPr>
            <a:r>
              <a:rPr lang="en-US" sz="1300" dirty="0">
                <a:solidFill>
                  <a:srgbClr val="E6EDF3"/>
                </a:solidFill>
                <a:latin typeface="Calibri" pitchFamily="34" charset="0"/>
                <a:ea typeface="Calibri" pitchFamily="34" charset="-122"/>
                <a:cs typeface="Calibri" pitchFamily="34" charset="-120"/>
              </a:rPr>
              <a:t>recover hidden dots from elsewhere in the cone</a:t>
            </a:r>
            <a:endParaRPr lang="en-US" sz="1300" dirty="0"/>
          </a:p>
        </p:txBody>
      </p:sp>
      <p:sp>
        <p:nvSpPr>
          <p:cNvPr id="22" name="Shape 20"/>
          <p:cNvSpPr/>
          <p:nvPr/>
        </p:nvSpPr>
        <p:spPr>
          <a:xfrm>
            <a:off x="548640" y="4041648"/>
            <a:ext cx="5410048" cy="1783080"/>
          </a:xfrm>
          <a:prstGeom prst="roundRect">
            <a:avLst>
              <a:gd name="adj" fmla="val 3077"/>
            </a:avLst>
          </a:prstGeom>
          <a:solidFill>
            <a:srgbClr val="161B22"/>
          </a:solidFill>
          <a:ln w="12700">
            <a:solidFill>
              <a:srgbClr val="30363D"/>
            </a:solidFill>
            <a:prstDash val="solid"/>
          </a:ln>
        </p:spPr>
      </p:sp>
      <p:sp>
        <p:nvSpPr>
          <p:cNvPr id="23" name="Text 21"/>
          <p:cNvSpPr txBox="1"/>
          <p:nvPr/>
        </p:nvSpPr>
        <p:spPr>
          <a:xfrm>
            <a:off x="786384" y="4206240"/>
            <a:ext cx="4934560" cy="292608"/>
          </a:xfrm>
          <a:prstGeom prst="rect">
            <a:avLst/>
          </a:prstGeom>
          <a:noFill/>
          <a:ln/>
        </p:spPr>
        <p:txBody>
          <a:bodyPr wrap="square" lIns="0" tIns="0" rIns="0" bIns="0" rtlCol="0" anchor="t"/>
          <a:lstStyle/>
          <a:p>
            <a:pPr indent="0" marL="0">
              <a:buNone/>
            </a:pPr>
            <a:r>
              <a:rPr lang="en-US" sz="1700" b="1" dirty="0">
                <a:solidFill>
                  <a:srgbClr val="E6EDF3"/>
                </a:solidFill>
                <a:latin typeface="Georgia" pitchFamily="34" charset="0"/>
                <a:ea typeface="Georgia" pitchFamily="34" charset="-122"/>
                <a:cs typeface="Georgia" pitchFamily="34" charset="-120"/>
              </a:rPr>
              <a:t>Score</a:t>
            </a:r>
            <a:endParaRPr lang="en-US" sz="1700" dirty="0"/>
          </a:p>
        </p:txBody>
      </p:sp>
      <p:sp>
        <p:nvSpPr>
          <p:cNvPr id="24" name="Text 22"/>
          <p:cNvSpPr txBox="1"/>
          <p:nvPr/>
        </p:nvSpPr>
        <p:spPr>
          <a:xfrm>
            <a:off x="786384" y="4572000"/>
            <a:ext cx="4934560" cy="1097280"/>
          </a:xfrm>
          <a:prstGeom prst="rect">
            <a:avLst/>
          </a:prstGeom>
          <a:noFill/>
          <a:ln/>
        </p:spPr>
        <p:txBody>
          <a:bodyPr wrap="square" lIns="0" tIns="0" rIns="0" bIns="0" rtlCol="0" anchor="t"/>
          <a:lstStyle/>
          <a:p>
            <a:pPr indent="0" marL="0">
              <a:lnSpc>
                <a:spcPts val="1800"/>
              </a:lnSpc>
              <a:buNone/>
            </a:pPr>
            <a:r>
              <a:rPr lang="en-US" sz="1350" dirty="0">
                <a:solidFill>
                  <a:srgbClr val="7D8590"/>
                </a:solidFill>
                <a:latin typeface="Calibri" pitchFamily="34" charset="0"/>
                <a:ea typeface="Calibri" pitchFamily="34" charset="-122"/>
                <a:cs typeface="Calibri" pitchFamily="34" charset="-120"/>
              </a:rPr>
              <a:t>Gaussian negative log-likelihood, weighted by family (A 1.0, B 2.0, C 1.5). The headline term reads the 32-number embedding z alone.</a:t>
            </a:r>
            <a:endParaRPr lang="en-US" sz="1350" dirty="0"/>
          </a:p>
        </p:txBody>
      </p:sp>
      <p:sp>
        <p:nvSpPr>
          <p:cNvPr id="25" name="Shape 23"/>
          <p:cNvSpPr/>
          <p:nvPr/>
        </p:nvSpPr>
        <p:spPr>
          <a:xfrm>
            <a:off x="6233008" y="4041648"/>
            <a:ext cx="5410048" cy="1783080"/>
          </a:xfrm>
          <a:prstGeom prst="roundRect">
            <a:avLst>
              <a:gd name="adj" fmla="val 3077"/>
            </a:avLst>
          </a:prstGeom>
          <a:solidFill>
            <a:srgbClr val="161B22"/>
          </a:solidFill>
          <a:ln w="12700">
            <a:solidFill>
              <a:srgbClr val="F85149"/>
            </a:solidFill>
            <a:prstDash val="solid"/>
          </a:ln>
        </p:spPr>
      </p:sp>
      <p:sp>
        <p:nvSpPr>
          <p:cNvPr id="26" name="Text 24"/>
          <p:cNvSpPr txBox="1"/>
          <p:nvPr/>
        </p:nvSpPr>
        <p:spPr>
          <a:xfrm>
            <a:off x="6470752" y="4206240"/>
            <a:ext cx="4934560" cy="292608"/>
          </a:xfrm>
          <a:prstGeom prst="rect">
            <a:avLst/>
          </a:prstGeom>
          <a:noFill/>
          <a:ln/>
        </p:spPr>
        <p:txBody>
          <a:bodyPr wrap="square" lIns="0" tIns="0" rIns="0" bIns="0" rtlCol="0" anchor="t"/>
          <a:lstStyle/>
          <a:p>
            <a:pPr indent="0" marL="0">
              <a:buNone/>
            </a:pPr>
            <a:r>
              <a:rPr lang="en-US" sz="1700" b="1" dirty="0">
                <a:solidFill>
                  <a:srgbClr val="F85149"/>
                </a:solidFill>
                <a:latin typeface="Georgia" pitchFamily="34" charset="0"/>
                <a:ea typeface="Georgia" pitchFamily="34" charset="-122"/>
                <a:cs typeface="Georgia" pitchFamily="34" charset="-120"/>
              </a:rPr>
              <a:t>The snapshot twin (L_in = 0)</a:t>
            </a:r>
            <a:endParaRPr lang="en-US" sz="1700" dirty="0"/>
          </a:p>
        </p:txBody>
      </p:sp>
      <p:sp>
        <p:nvSpPr>
          <p:cNvPr id="27" name="Text 25"/>
          <p:cNvSpPr txBox="1"/>
          <p:nvPr/>
        </p:nvSpPr>
        <p:spPr>
          <a:xfrm>
            <a:off x="6470752" y="4572000"/>
            <a:ext cx="4934560" cy="1097280"/>
          </a:xfrm>
          <a:prstGeom prst="rect">
            <a:avLst/>
          </a:prstGeom>
          <a:noFill/>
          <a:ln/>
        </p:spPr>
        <p:txBody>
          <a:bodyPr wrap="square" lIns="0" tIns="0" rIns="0" bIns="0" rtlCol="0" anchor="t"/>
          <a:lstStyle/>
          <a:p>
            <a:pPr indent="0" marL="0">
              <a:lnSpc>
                <a:spcPts val="1800"/>
              </a:lnSpc>
              <a:buNone/>
            </a:pPr>
            <a:r>
              <a:rPr lang="en-US" sz="1350" dirty="0">
                <a:solidFill>
                  <a:srgbClr val="E6EDF3"/>
                </a:solidFill>
                <a:latin typeface="Calibri" pitchFamily="34" charset="0"/>
                <a:ea typeface="Calibri" pitchFamily="34" charset="-122"/>
                <a:cs typeface="Calibri" pitchFamily="34" charset="-120"/>
              </a:rPr>
              <a:t>44 tokens, no history, still asked for t+1 and t+2 — the H1 control: does the embedding carry velocity?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STAGE 2, BRIEFLY</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The forecaster’s example is a different object</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536192"/>
            <a:ext cx="6858000" cy="4160520"/>
          </a:xfrm>
          <a:prstGeom prst="roundRect">
            <a:avLst>
              <a:gd name="adj" fmla="val 1319"/>
            </a:avLst>
          </a:prstGeom>
          <a:solidFill>
            <a:srgbClr val="161B22"/>
          </a:solidFill>
          <a:ln w="12700">
            <a:solidFill>
              <a:srgbClr val="30363D"/>
            </a:solidFill>
            <a:prstDash val="solid"/>
          </a:ln>
        </p:spPr>
      </p:sp>
      <p:sp>
        <p:nvSpPr>
          <p:cNvPr id="7" name="Text 5"/>
          <p:cNvSpPr txBox="1"/>
          <p:nvPr/>
        </p:nvSpPr>
        <p:spPr>
          <a:xfrm>
            <a:off x="804672" y="1719072"/>
            <a:ext cx="6345936" cy="292608"/>
          </a:xfrm>
          <a:prstGeom prst="rect">
            <a:avLst/>
          </a:prstGeom>
          <a:noFill/>
          <a:ln/>
        </p:spPr>
        <p:txBody>
          <a:bodyPr wrap="square" lIns="0" tIns="0" rIns="0" bIns="0" rtlCol="0" anchor="t"/>
          <a:lstStyle/>
          <a:p>
            <a:pPr indent="0" marL="0">
              <a:buNone/>
            </a:pPr>
            <a:r>
              <a:rPr lang="en-US" sz="1600" b="1" dirty="0">
                <a:solidFill>
                  <a:srgbClr val="E6EDF3"/>
                </a:solidFill>
                <a:latin typeface="Georgia" pitchFamily="34" charset="0"/>
                <a:ea typeface="Georgia" pitchFamily="34" charset="-122"/>
                <a:cs typeface="Georgia" pitchFamily="34" charset="-120"/>
              </a:rPr>
              <a:t>A sequence of embeddings, not raw values</a:t>
            </a:r>
            <a:endParaRPr lang="en-US" sz="1600" dirty="0"/>
          </a:p>
        </p:txBody>
      </p:sp>
      <p:sp>
        <p:nvSpPr>
          <p:cNvPr id="8" name="Text 6"/>
          <p:cNvSpPr txBox="1"/>
          <p:nvPr/>
        </p:nvSpPr>
        <p:spPr>
          <a:xfrm>
            <a:off x="804672" y="2139696"/>
            <a:ext cx="6345936" cy="3291840"/>
          </a:xfrm>
          <a:prstGeom prst="rect">
            <a:avLst/>
          </a:prstGeom>
          <a:noFill/>
          <a:ln/>
        </p:spPr>
        <p:txBody>
          <a:bodyPr wrap="square" lIns="0" tIns="0" rIns="0" bIns="0" rtlCol="0" anchor="t"/>
          <a:lstStyle/>
          <a:p>
            <a:pPr marL="177800" indent="-177800">
              <a:lnSpc>
                <a:spcPts val="1900"/>
              </a:lnSpc>
              <a:spcAft>
                <a:spcPts val="800"/>
              </a:spcAft>
              <a:buSzPct val="100000"/>
              <a:buChar char="•"/>
            </a:pPr>
            <a:r>
              <a:rPr lang="en-US" sz="1350" dirty="0">
                <a:solidFill>
                  <a:srgbClr val="E6EDF3"/>
                </a:solidFill>
                <a:latin typeface="Calibri" pitchFamily="34" charset="0"/>
                <a:ea typeface="Calibri" pitchFamily="34" charset="-122"/>
                <a:cs typeface="Calibri" pitchFamily="34" charset="-120"/>
              </a:rPr>
              <a:t>Reads 144 lags (2 years) of embeddings at the anchor column, plus the outer spiral — 24 cells per lag from lag 7.</a:t>
            </a:r>
            <a:endParaRPr lang="en-US" sz="1350" dirty="0"/>
          </a:p>
          <a:p>
            <a:pPr marL="177800" indent="-177800">
              <a:lnSpc>
                <a:spcPts val="1900"/>
              </a:lnSpc>
              <a:spcAft>
                <a:spcPts val="800"/>
              </a:spcAft>
              <a:buSzPct val="100000"/>
              <a:buChar char="•"/>
            </a:pPr>
            <a:r>
              <a:rPr lang="en-US" sz="1350" dirty="0">
                <a:solidFill>
                  <a:srgbClr val="E6EDF3"/>
                </a:solidFill>
                <a:latin typeface="Calibri" pitchFamily="34" charset="0"/>
                <a:ea typeface="Calibri" pitchFamily="34" charset="-122"/>
                <a:cs typeface="Calibri" pitchFamily="34" charset="-120"/>
              </a:rPr>
              <a:t>Embeddings come from the materialized Z cache (17.4 GB), gathered on the fly per window.</a:t>
            </a:r>
            <a:endParaRPr lang="en-US" sz="1350" dirty="0"/>
          </a:p>
          <a:p>
            <a:pPr marL="177800" indent="-177800">
              <a:lnSpc>
                <a:spcPts val="1900"/>
              </a:lnSpc>
              <a:spcAft>
                <a:spcPts val="800"/>
              </a:spcAft>
              <a:buSzPct val="100000"/>
              <a:buChar char="•"/>
            </a:pPr>
            <a:r>
              <a:rPr lang="en-US" sz="1350" dirty="0">
                <a:solidFill>
                  <a:srgbClr val="E6EDF3"/>
                </a:solidFill>
                <a:latin typeface="Calibri" pitchFamily="34" charset="0"/>
                <a:ea typeface="Calibri" pitchFamily="34" charset="-122"/>
                <a:cs typeface="Calibri" pitchFamily="34" charset="-120"/>
              </a:rPr>
              <a:t>Off-window cells are zero-filled; windows must not touch any held-out bin, including each frame’s teacher-forced target.</a:t>
            </a:r>
            <a:endParaRPr lang="en-US" sz="1350" dirty="0"/>
          </a:p>
          <a:p>
            <a:pPr marL="177800" indent="-177800">
              <a:lnSpc>
                <a:spcPts val="1900"/>
              </a:lnSpc>
              <a:spcAft>
                <a:spcPts val="800"/>
              </a:spcAft>
              <a:buSzPct val="100000"/>
              <a:buChar char="•"/>
            </a:pPr>
            <a:r>
              <a:rPr lang="en-US" sz="1350" dirty="0">
                <a:solidFill>
                  <a:srgbClr val="E6EDF3"/>
                </a:solidFill>
                <a:latin typeface="Calibri" pitchFamily="34" charset="0"/>
                <a:ea typeface="Calibri" pitchFamily="34" charset="-122"/>
                <a:cs typeface="Calibri" pitchFamily="34" charset="-120"/>
              </a:rPr>
              <a:t>That rule was derived once and then re-counted by brute force: 2,779 → 2,417 usable end-bins.</a:t>
            </a:r>
            <a:endParaRPr lang="en-US" sz="1350" dirty="0"/>
          </a:p>
        </p:txBody>
      </p:sp>
      <p:sp>
        <p:nvSpPr>
          <p:cNvPr id="9" name="Shape 7"/>
          <p:cNvSpPr/>
          <p:nvPr/>
        </p:nvSpPr>
        <p:spPr>
          <a:xfrm>
            <a:off x="7680960" y="1536192"/>
            <a:ext cx="3962095" cy="1417320"/>
          </a:xfrm>
          <a:prstGeom prst="roundRect">
            <a:avLst>
              <a:gd name="adj" fmla="val 3871"/>
            </a:avLst>
          </a:prstGeom>
          <a:solidFill>
            <a:srgbClr val="11202F"/>
          </a:solidFill>
          <a:ln w="12700">
            <a:solidFill>
              <a:srgbClr val="4493F8"/>
            </a:solidFill>
            <a:prstDash val="solid"/>
          </a:ln>
        </p:spPr>
      </p:sp>
      <p:sp>
        <p:nvSpPr>
          <p:cNvPr id="10" name="Text 8"/>
          <p:cNvSpPr txBox="1"/>
          <p:nvPr/>
        </p:nvSpPr>
        <p:spPr>
          <a:xfrm>
            <a:off x="7918704" y="1682496"/>
            <a:ext cx="3486607" cy="502920"/>
          </a:xfrm>
          <a:prstGeom prst="rect">
            <a:avLst/>
          </a:prstGeom>
          <a:noFill/>
          <a:ln/>
        </p:spPr>
        <p:txBody>
          <a:bodyPr wrap="square" lIns="0" tIns="0" rIns="0" bIns="0" rtlCol="0" anchor="t"/>
          <a:lstStyle/>
          <a:p>
            <a:pPr indent="0" marL="0">
              <a:buNone/>
            </a:pPr>
            <a:r>
              <a:rPr lang="en-US" sz="3000" b="1" dirty="0">
                <a:solidFill>
                  <a:srgbClr val="4493F8"/>
                </a:solidFill>
                <a:latin typeface="Georgia" pitchFamily="34" charset="0"/>
                <a:ea typeface="Georgia" pitchFamily="34" charset="-122"/>
                <a:cs typeface="Georgia" pitchFamily="34" charset="-120"/>
              </a:rPr>
              <a:t>3,432</a:t>
            </a:r>
            <a:endParaRPr lang="en-US" sz="3000" dirty="0"/>
          </a:p>
        </p:txBody>
      </p:sp>
      <p:sp>
        <p:nvSpPr>
          <p:cNvPr id="11" name="Text 9"/>
          <p:cNvSpPr txBox="1"/>
          <p:nvPr/>
        </p:nvSpPr>
        <p:spPr>
          <a:xfrm>
            <a:off x="7918704" y="2212848"/>
            <a:ext cx="3486607" cy="566928"/>
          </a:xfrm>
          <a:prstGeom prst="rect">
            <a:avLst/>
          </a:prstGeom>
          <a:noFill/>
          <a:ln/>
        </p:spPr>
        <p:txBody>
          <a:bodyPr wrap="square" lIns="0" tIns="0" rIns="0" bIns="0" rtlCol="0" anchor="t"/>
          <a:lstStyle/>
          <a:p>
            <a:pPr indent="0" marL="0">
              <a:lnSpc>
                <a:spcPts val="1500"/>
              </a:lnSpc>
              <a:buNone/>
            </a:pPr>
            <a:r>
              <a:rPr lang="en-US" sz="1250" dirty="0">
                <a:solidFill>
                  <a:srgbClr val="E6EDF3"/>
                </a:solidFill>
                <a:latin typeface="Calibri" pitchFamily="34" charset="0"/>
                <a:ea typeface="Calibri" pitchFamily="34" charset="-122"/>
                <a:cs typeface="Calibri" pitchFamily="34" charset="-120"/>
              </a:rPr>
              <a:t>cells read per window — the new annulus stencil</a:t>
            </a:r>
            <a:endParaRPr lang="en-US" sz="1250" dirty="0"/>
          </a:p>
        </p:txBody>
      </p:sp>
      <p:sp>
        <p:nvSpPr>
          <p:cNvPr id="12" name="Shape 10"/>
          <p:cNvSpPr/>
          <p:nvPr/>
        </p:nvSpPr>
        <p:spPr>
          <a:xfrm>
            <a:off x="7680960" y="3090672"/>
            <a:ext cx="3962095" cy="1417320"/>
          </a:xfrm>
          <a:prstGeom prst="roundRect">
            <a:avLst>
              <a:gd name="adj" fmla="val 3871"/>
            </a:avLst>
          </a:prstGeom>
          <a:solidFill>
            <a:srgbClr val="161B22"/>
          </a:solidFill>
          <a:ln w="12700">
            <a:solidFill>
              <a:srgbClr val="30363D"/>
            </a:solidFill>
            <a:prstDash val="solid"/>
          </a:ln>
        </p:spPr>
      </p:sp>
      <p:sp>
        <p:nvSpPr>
          <p:cNvPr id="13" name="Text 11"/>
          <p:cNvSpPr txBox="1"/>
          <p:nvPr/>
        </p:nvSpPr>
        <p:spPr>
          <a:xfrm>
            <a:off x="7918704" y="3236976"/>
            <a:ext cx="3486607" cy="502920"/>
          </a:xfrm>
          <a:prstGeom prst="rect">
            <a:avLst/>
          </a:prstGeom>
          <a:noFill/>
          <a:ln/>
        </p:spPr>
        <p:txBody>
          <a:bodyPr wrap="square" lIns="0" tIns="0" rIns="0" bIns="0" rtlCol="0" anchor="t"/>
          <a:lstStyle/>
          <a:p>
            <a:pPr indent="0" marL="0">
              <a:buNone/>
            </a:pPr>
            <a:r>
              <a:rPr lang="en-US" sz="3000" b="1" dirty="0">
                <a:solidFill>
                  <a:srgbClr val="7D8590"/>
                </a:solidFill>
                <a:latin typeface="Georgia" pitchFamily="34" charset="0"/>
                <a:ea typeface="Georgia" pitchFamily="34" charset="-122"/>
                <a:cs typeface="Georgia" pitchFamily="34" charset="-120"/>
              </a:rPr>
              <a:t>20,880</a:t>
            </a:r>
            <a:endParaRPr lang="en-US" sz="3000" dirty="0"/>
          </a:p>
        </p:txBody>
      </p:sp>
      <p:sp>
        <p:nvSpPr>
          <p:cNvPr id="14" name="Text 12"/>
          <p:cNvSpPr txBox="1"/>
          <p:nvPr/>
        </p:nvSpPr>
        <p:spPr>
          <a:xfrm>
            <a:off x="7918704" y="3767328"/>
            <a:ext cx="3486607" cy="566928"/>
          </a:xfrm>
          <a:prstGeom prst="rect">
            <a:avLst/>
          </a:prstGeom>
          <a:noFill/>
          <a:ln/>
        </p:spPr>
        <p:txBody>
          <a:bodyPr wrap="square" lIns="0" tIns="0" rIns="0" bIns="0" rtlCol="0" anchor="t"/>
          <a:lstStyle/>
          <a:p>
            <a:pPr indent="0" marL="0">
              <a:lnSpc>
                <a:spcPts val="1500"/>
              </a:lnSpc>
              <a:buNone/>
            </a:pPr>
            <a:r>
              <a:rPr lang="en-US" sz="1250" dirty="0">
                <a:solidFill>
                  <a:srgbClr val="7D8590"/>
                </a:solidFill>
                <a:latin typeface="Calibri" pitchFamily="34" charset="0"/>
                <a:ea typeface="Calibri" pitchFamily="34" charset="-122"/>
                <a:cs typeface="Calibri" pitchFamily="34" charset="-120"/>
              </a:rPr>
              <a:t>cells read by the older full cylinder</a:t>
            </a:r>
            <a:endParaRPr lang="en-US" sz="1250" dirty="0"/>
          </a:p>
        </p:txBody>
      </p:sp>
      <p:sp>
        <p:nvSpPr>
          <p:cNvPr id="15" name="Shape 13"/>
          <p:cNvSpPr/>
          <p:nvPr/>
        </p:nvSpPr>
        <p:spPr>
          <a:xfrm>
            <a:off x="7680960" y="4645152"/>
            <a:ext cx="3962095" cy="1051560"/>
          </a:xfrm>
          <a:prstGeom prst="roundRect">
            <a:avLst>
              <a:gd name="adj" fmla="val 5217"/>
            </a:avLst>
          </a:prstGeom>
          <a:solidFill>
            <a:srgbClr val="161B22"/>
          </a:solidFill>
          <a:ln w="12700">
            <a:solidFill>
              <a:srgbClr val="E3B341"/>
            </a:solidFill>
            <a:prstDash val="solid"/>
          </a:ln>
        </p:spPr>
      </p:sp>
      <p:sp>
        <p:nvSpPr>
          <p:cNvPr id="16" name="Text 14"/>
          <p:cNvSpPr txBox="1"/>
          <p:nvPr/>
        </p:nvSpPr>
        <p:spPr>
          <a:xfrm>
            <a:off x="7918704" y="4828032"/>
            <a:ext cx="3486607" cy="731520"/>
          </a:xfrm>
          <a:prstGeom prst="rect">
            <a:avLst/>
          </a:prstGeom>
          <a:noFill/>
          <a:ln/>
        </p:spPr>
        <p:txBody>
          <a:bodyPr wrap="square" lIns="0" tIns="0" rIns="0" bIns="0" rtlCol="0" anchor="t"/>
          <a:lstStyle/>
          <a:p>
            <a:pPr indent="0" marL="0">
              <a:lnSpc>
                <a:spcPts val="1600"/>
              </a:lnSpc>
              <a:buNone/>
            </a:pPr>
            <a:r>
              <a:rPr lang="en-US" sz="1250" dirty="0">
                <a:solidFill>
                  <a:srgbClr val="E3B341"/>
                </a:solidFill>
                <a:latin typeface="Calibri" pitchFamily="34" charset="0"/>
                <a:ea typeface="Calibri" pitchFamily="34" charset="-122"/>
                <a:cs typeface="Calibri" pitchFamily="34" charset="-120"/>
              </a:rPr>
              <a:t>Status: the annulus stencil is the one E-069 piece not yet written.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THE SPECTRUM</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Generate on the fly, or materialize every example?</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2916936" y="1417320"/>
            <a:ext cx="4253332" cy="530352"/>
          </a:xfrm>
          <a:prstGeom prst="roundRect">
            <a:avLst>
              <a:gd name="adj" fmla="val 10345"/>
            </a:avLst>
          </a:prstGeom>
          <a:solidFill>
            <a:srgbClr val="11202F"/>
          </a:solidFill>
          <a:ln w="12700">
            <a:solidFill>
              <a:srgbClr val="4493F8"/>
            </a:solidFill>
            <a:prstDash val="solid"/>
          </a:ln>
        </p:spPr>
      </p:sp>
      <p:sp>
        <p:nvSpPr>
          <p:cNvPr id="7" name="Text 5"/>
          <p:cNvSpPr txBox="1"/>
          <p:nvPr/>
        </p:nvSpPr>
        <p:spPr>
          <a:xfrm>
            <a:off x="3099816" y="1554480"/>
            <a:ext cx="3887572" cy="292608"/>
          </a:xfrm>
          <a:prstGeom prst="rect">
            <a:avLst/>
          </a:prstGeom>
          <a:noFill/>
          <a:ln/>
        </p:spPr>
        <p:txBody>
          <a:bodyPr wrap="square" lIns="0" tIns="0" rIns="0" bIns="0" rtlCol="0" anchor="t"/>
          <a:lstStyle/>
          <a:p>
            <a:pPr indent="0" marL="0">
              <a:buNone/>
            </a:pPr>
            <a:r>
              <a:rPr lang="en-US" sz="1400" b="1" dirty="0">
                <a:solidFill>
                  <a:srgbClr val="4493F8"/>
                </a:solidFill>
                <a:latin typeface="Calibri" pitchFamily="34" charset="0"/>
                <a:ea typeface="Calibri" pitchFamily="34" charset="-122"/>
                <a:cs typeface="Calibri" pitchFamily="34" charset="-120"/>
              </a:rPr>
              <a:t>Option 1 — generate on the fly  (today)</a:t>
            </a:r>
            <a:endParaRPr lang="en-US" sz="1400" dirty="0"/>
          </a:p>
        </p:txBody>
      </p:sp>
      <p:sp>
        <p:nvSpPr>
          <p:cNvPr id="8" name="Shape 6"/>
          <p:cNvSpPr/>
          <p:nvPr/>
        </p:nvSpPr>
        <p:spPr>
          <a:xfrm>
            <a:off x="7389724" y="1417320"/>
            <a:ext cx="4253332" cy="530352"/>
          </a:xfrm>
          <a:prstGeom prst="roundRect">
            <a:avLst>
              <a:gd name="adj" fmla="val 10345"/>
            </a:avLst>
          </a:prstGeom>
          <a:solidFill>
            <a:srgbClr val="211B0C"/>
          </a:solidFill>
          <a:ln w="12700">
            <a:solidFill>
              <a:srgbClr val="E3B341"/>
            </a:solidFill>
            <a:prstDash val="solid"/>
          </a:ln>
        </p:spPr>
      </p:sp>
      <p:sp>
        <p:nvSpPr>
          <p:cNvPr id="9" name="Text 7"/>
          <p:cNvSpPr txBox="1"/>
          <p:nvPr/>
        </p:nvSpPr>
        <p:spPr>
          <a:xfrm>
            <a:off x="7572604" y="1554480"/>
            <a:ext cx="3887572" cy="292608"/>
          </a:xfrm>
          <a:prstGeom prst="rect">
            <a:avLst/>
          </a:prstGeom>
          <a:noFill/>
          <a:ln/>
        </p:spPr>
        <p:txBody>
          <a:bodyPr wrap="square" lIns="0" tIns="0" rIns="0" bIns="0" rtlCol="0" anchor="t"/>
          <a:lstStyle/>
          <a:p>
            <a:pPr indent="0" marL="0">
              <a:buNone/>
            </a:pPr>
            <a:r>
              <a:rPr lang="en-US" sz="1400" b="1" dirty="0">
                <a:solidFill>
                  <a:srgbClr val="E3B341"/>
                </a:solidFill>
                <a:latin typeface="Calibri" pitchFamily="34" charset="0"/>
                <a:ea typeface="Calibri" pitchFamily="34" charset="-122"/>
                <a:cs typeface="Calibri" pitchFamily="34" charset="-120"/>
              </a:rPr>
              <a:t>Option 2 — materialize each example</a:t>
            </a:r>
            <a:endParaRPr lang="en-US" sz="1400" dirty="0"/>
          </a:p>
        </p:txBody>
      </p:sp>
      <p:sp>
        <p:nvSpPr>
          <p:cNvPr id="10" name="Shape 8"/>
          <p:cNvSpPr/>
          <p:nvPr/>
        </p:nvSpPr>
        <p:spPr>
          <a:xfrm>
            <a:off x="548640" y="2066544"/>
            <a:ext cx="11094415" cy="566928"/>
          </a:xfrm>
          <a:prstGeom prst="rect">
            <a:avLst/>
          </a:prstGeom>
          <a:solidFill>
            <a:srgbClr val="161B22"/>
          </a:solidFill>
          <a:ln w="9525">
            <a:solidFill>
              <a:srgbClr val="30363D"/>
            </a:solidFill>
            <a:prstDash val="solid"/>
          </a:ln>
        </p:spPr>
      </p:sp>
      <p:sp>
        <p:nvSpPr>
          <p:cNvPr id="11" name="Text 9"/>
          <p:cNvSpPr txBox="1"/>
          <p:nvPr/>
        </p:nvSpPr>
        <p:spPr>
          <a:xfrm>
            <a:off x="713232" y="2157984"/>
            <a:ext cx="1874520" cy="40233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Storage</a:t>
            </a:r>
            <a:endParaRPr lang="en-US" sz="1250" dirty="0"/>
          </a:p>
        </p:txBody>
      </p:sp>
      <p:sp>
        <p:nvSpPr>
          <p:cNvPr id="12" name="Text 10"/>
          <p:cNvSpPr txBox="1"/>
          <p:nvPr/>
        </p:nvSpPr>
        <p:spPr>
          <a:xfrm>
            <a:off x="2935224" y="2121408"/>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BFD4EE"/>
                </a:solidFill>
                <a:latin typeface="Calibri" pitchFamily="34" charset="0"/>
                <a:ea typeface="Calibri" pitchFamily="34" charset="-122"/>
                <a:cs typeface="Calibri" pitchFamily="34" charset="-120"/>
              </a:rPr>
              <a:t>0 per example</a:t>
            </a:r>
            <a:endParaRPr lang="en-US" sz="1200" dirty="0"/>
          </a:p>
        </p:txBody>
      </p:sp>
      <p:sp>
        <p:nvSpPr>
          <p:cNvPr id="13" name="Text 11"/>
          <p:cNvSpPr txBox="1"/>
          <p:nvPr/>
        </p:nvSpPr>
        <p:spPr>
          <a:xfrm>
            <a:off x="7408012" y="2121408"/>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DCCFA8"/>
                </a:solidFill>
                <a:latin typeface="Calibri" pitchFamily="34" charset="0"/>
                <a:ea typeface="Calibri" pitchFamily="34" charset="-122"/>
                <a:cs typeface="Calibri" pitchFamily="34" charset="-120"/>
              </a:rPr>
              <a:t>251 M × 19 KB ≈ 4.8 TB for the pool; one run’s stream ≈ 97 GB</a:t>
            </a:r>
            <a:endParaRPr lang="en-US" sz="1200" dirty="0"/>
          </a:p>
        </p:txBody>
      </p:sp>
      <p:sp>
        <p:nvSpPr>
          <p:cNvPr id="14" name="Shape 12"/>
          <p:cNvSpPr/>
          <p:nvPr/>
        </p:nvSpPr>
        <p:spPr>
          <a:xfrm>
            <a:off x="548640" y="2688336"/>
            <a:ext cx="11094415" cy="566928"/>
          </a:xfrm>
          <a:prstGeom prst="rect">
            <a:avLst/>
          </a:prstGeom>
          <a:solidFill>
            <a:srgbClr val="11161D"/>
          </a:solidFill>
          <a:ln w="9525">
            <a:solidFill>
              <a:srgbClr val="30363D"/>
            </a:solidFill>
            <a:prstDash val="solid"/>
          </a:ln>
        </p:spPr>
      </p:sp>
      <p:sp>
        <p:nvSpPr>
          <p:cNvPr id="15" name="Text 13"/>
          <p:cNvSpPr txBox="1"/>
          <p:nvPr/>
        </p:nvSpPr>
        <p:spPr>
          <a:xfrm>
            <a:off x="713232" y="2779776"/>
            <a:ext cx="1874520" cy="40233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Duplication</a:t>
            </a:r>
            <a:endParaRPr lang="en-US" sz="1250" dirty="0"/>
          </a:p>
        </p:txBody>
      </p:sp>
      <p:sp>
        <p:nvSpPr>
          <p:cNvPr id="16" name="Text 14"/>
          <p:cNvSpPr txBox="1"/>
          <p:nvPr/>
        </p:nvSpPr>
        <p:spPr>
          <a:xfrm>
            <a:off x="2935224" y="2743200"/>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BFD4EE"/>
                </a:solidFill>
                <a:latin typeface="Calibri" pitchFamily="34" charset="0"/>
                <a:ea typeface="Calibri" pitchFamily="34" charset="-122"/>
                <a:cs typeface="Calibri" pitchFamily="34" charset="-120"/>
              </a:rPr>
              <a:t>none</a:t>
            </a:r>
            <a:endParaRPr lang="en-US" sz="1200" dirty="0"/>
          </a:p>
        </p:txBody>
      </p:sp>
      <p:sp>
        <p:nvSpPr>
          <p:cNvPr id="17" name="Text 15"/>
          <p:cNvSpPr txBox="1"/>
          <p:nvPr/>
        </p:nvSpPr>
        <p:spPr>
          <a:xfrm>
            <a:off x="7408012" y="2743200"/>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DCCFA8"/>
                </a:solidFill>
                <a:latin typeface="Calibri" pitchFamily="34" charset="0"/>
                <a:ea typeface="Calibri" pitchFamily="34" charset="-122"/>
                <a:cs typeface="Calibri" pitchFamily="34" charset="-120"/>
              </a:rPr>
              <a:t>700× — each cell sits inside ~700 cones</a:t>
            </a:r>
            <a:endParaRPr lang="en-US" sz="1200" dirty="0"/>
          </a:p>
        </p:txBody>
      </p:sp>
      <p:sp>
        <p:nvSpPr>
          <p:cNvPr id="18" name="Shape 16"/>
          <p:cNvSpPr/>
          <p:nvPr/>
        </p:nvSpPr>
        <p:spPr>
          <a:xfrm>
            <a:off x="548640" y="3310128"/>
            <a:ext cx="11094415" cy="566928"/>
          </a:xfrm>
          <a:prstGeom prst="rect">
            <a:avLst/>
          </a:prstGeom>
          <a:solidFill>
            <a:srgbClr val="161B22"/>
          </a:solidFill>
          <a:ln w="9525">
            <a:solidFill>
              <a:srgbClr val="30363D"/>
            </a:solidFill>
            <a:prstDash val="solid"/>
          </a:ln>
        </p:spPr>
      </p:sp>
      <p:sp>
        <p:nvSpPr>
          <p:cNvPr id="19" name="Text 17"/>
          <p:cNvSpPr txBox="1"/>
          <p:nvPr/>
        </p:nvSpPr>
        <p:spPr>
          <a:xfrm>
            <a:off x="713232" y="3401568"/>
            <a:ext cx="1874520" cy="40233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What an example is</a:t>
            </a:r>
            <a:endParaRPr lang="en-US" sz="1250" dirty="0"/>
          </a:p>
        </p:txBody>
      </p:sp>
      <p:sp>
        <p:nvSpPr>
          <p:cNvPr id="20" name="Text 18"/>
          <p:cNvSpPr txBox="1"/>
          <p:nvPr/>
        </p:nvSpPr>
        <p:spPr>
          <a:xfrm>
            <a:off x="2935224" y="3364992"/>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BFD4EE"/>
                </a:solidFill>
                <a:latin typeface="Calibri" pitchFamily="34" charset="0"/>
                <a:ea typeface="Calibri" pitchFamily="34" charset="-122"/>
                <a:cs typeface="Calibri" pitchFamily="34" charset="-120"/>
              </a:rPr>
              <a:t>a pure function of (tensor sha, geometry, anchor, mask seed)</a:t>
            </a:r>
            <a:endParaRPr lang="en-US" sz="1200" dirty="0"/>
          </a:p>
        </p:txBody>
      </p:sp>
      <p:sp>
        <p:nvSpPr>
          <p:cNvPr id="21" name="Text 19"/>
          <p:cNvSpPr txBox="1"/>
          <p:nvPr/>
        </p:nvSpPr>
        <p:spPr>
          <a:xfrm>
            <a:off x="7408012" y="3364992"/>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DCCFA8"/>
                </a:solidFill>
                <a:latin typeface="Calibri" pitchFamily="34" charset="0"/>
                <a:ea typeface="Calibri" pitchFamily="34" charset="-122"/>
                <a:cs typeface="Calibri" pitchFamily="34" charset="-120"/>
              </a:rPr>
              <a:t>bytes on disk, with boundary flags baked in</a:t>
            </a:r>
            <a:endParaRPr lang="en-US" sz="1200" dirty="0"/>
          </a:p>
        </p:txBody>
      </p:sp>
      <p:sp>
        <p:nvSpPr>
          <p:cNvPr id="22" name="Shape 20"/>
          <p:cNvSpPr/>
          <p:nvPr/>
        </p:nvSpPr>
        <p:spPr>
          <a:xfrm>
            <a:off x="548640" y="3931920"/>
            <a:ext cx="11094415" cy="566928"/>
          </a:xfrm>
          <a:prstGeom prst="rect">
            <a:avLst/>
          </a:prstGeom>
          <a:solidFill>
            <a:srgbClr val="11161D"/>
          </a:solidFill>
          <a:ln w="9525">
            <a:solidFill>
              <a:srgbClr val="30363D"/>
            </a:solidFill>
            <a:prstDash val="solid"/>
          </a:ln>
        </p:spPr>
      </p:sp>
      <p:sp>
        <p:nvSpPr>
          <p:cNvPr id="23" name="Text 21"/>
          <p:cNvSpPr txBox="1"/>
          <p:nvPr/>
        </p:nvSpPr>
        <p:spPr>
          <a:xfrm>
            <a:off x="713232" y="4023360"/>
            <a:ext cx="1874520" cy="40233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Boundary handling</a:t>
            </a:r>
            <a:endParaRPr lang="en-US" sz="1250" dirty="0"/>
          </a:p>
        </p:txBody>
      </p:sp>
      <p:sp>
        <p:nvSpPr>
          <p:cNvPr id="24" name="Text 22"/>
          <p:cNvSpPr txBox="1"/>
          <p:nvPr/>
        </p:nvSpPr>
        <p:spPr>
          <a:xfrm>
            <a:off x="2935224" y="3986784"/>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BFD4EE"/>
                </a:solidFill>
                <a:latin typeface="Calibri" pitchFamily="34" charset="0"/>
                <a:ea typeface="Calibri" pitchFamily="34" charset="-122"/>
                <a:cs typeface="Calibri" pitchFamily="34" charset="-120"/>
              </a:rPr>
              <a:t>the sampler + a certificate that runs every dispatch</a:t>
            </a:r>
            <a:endParaRPr lang="en-US" sz="1200" dirty="0"/>
          </a:p>
        </p:txBody>
      </p:sp>
      <p:sp>
        <p:nvSpPr>
          <p:cNvPr id="25" name="Text 23"/>
          <p:cNvSpPr txBox="1"/>
          <p:nvPr/>
        </p:nvSpPr>
        <p:spPr>
          <a:xfrm>
            <a:off x="7408012" y="3986784"/>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DCCFA8"/>
                </a:solidFill>
                <a:latin typeface="Calibri" pitchFamily="34" charset="0"/>
                <a:ea typeface="Calibri" pitchFamily="34" charset="-122"/>
                <a:cs typeface="Calibri" pitchFamily="34" charset="-120"/>
              </a:rPr>
              <a:t>the pipeline — but a sampler bug becomes permanent data</a:t>
            </a:r>
            <a:endParaRPr lang="en-US" sz="1200" dirty="0"/>
          </a:p>
        </p:txBody>
      </p:sp>
      <p:sp>
        <p:nvSpPr>
          <p:cNvPr id="26" name="Shape 24"/>
          <p:cNvSpPr/>
          <p:nvPr/>
        </p:nvSpPr>
        <p:spPr>
          <a:xfrm>
            <a:off x="548640" y="4553712"/>
            <a:ext cx="11094415" cy="566928"/>
          </a:xfrm>
          <a:prstGeom prst="rect">
            <a:avLst/>
          </a:prstGeom>
          <a:solidFill>
            <a:srgbClr val="161B22"/>
          </a:solidFill>
          <a:ln w="9525">
            <a:solidFill>
              <a:srgbClr val="30363D"/>
            </a:solidFill>
            <a:prstDash val="solid"/>
          </a:ln>
        </p:spPr>
      </p:sp>
      <p:sp>
        <p:nvSpPr>
          <p:cNvPr id="27" name="Text 25"/>
          <p:cNvSpPr txBox="1"/>
          <p:nvPr/>
        </p:nvSpPr>
        <p:spPr>
          <a:xfrm>
            <a:off x="713232" y="4645152"/>
            <a:ext cx="1874520" cy="40233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Changing the geometry</a:t>
            </a:r>
            <a:endParaRPr lang="en-US" sz="1250" dirty="0"/>
          </a:p>
        </p:txBody>
      </p:sp>
      <p:sp>
        <p:nvSpPr>
          <p:cNvPr id="28" name="Text 26"/>
          <p:cNvSpPr txBox="1"/>
          <p:nvPr/>
        </p:nvSpPr>
        <p:spPr>
          <a:xfrm>
            <a:off x="2935224" y="4608576"/>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BFD4EE"/>
                </a:solidFill>
                <a:latin typeface="Calibri" pitchFamily="34" charset="0"/>
                <a:ea typeface="Calibri" pitchFamily="34" charset="-122"/>
                <a:cs typeface="Calibri" pitchFamily="34" charset="-120"/>
              </a:rPr>
              <a:t>costs nothing</a:t>
            </a:r>
            <a:endParaRPr lang="en-US" sz="1200" dirty="0"/>
          </a:p>
        </p:txBody>
      </p:sp>
      <p:sp>
        <p:nvSpPr>
          <p:cNvPr id="29" name="Text 27"/>
          <p:cNvSpPr txBox="1"/>
          <p:nvPr/>
        </p:nvSpPr>
        <p:spPr>
          <a:xfrm>
            <a:off x="7408012" y="4608576"/>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DCCFA8"/>
                </a:solidFill>
                <a:latin typeface="Calibri" pitchFamily="34" charset="0"/>
                <a:ea typeface="Calibri" pitchFamily="34" charset="-122"/>
                <a:cs typeface="Calibri" pitchFamily="34" charset="-120"/>
              </a:rPr>
              <a:t>rebuilds everything</a:t>
            </a:r>
            <a:endParaRPr lang="en-US" sz="1200" dirty="0"/>
          </a:p>
        </p:txBody>
      </p:sp>
      <p:sp>
        <p:nvSpPr>
          <p:cNvPr id="30" name="Shape 28"/>
          <p:cNvSpPr/>
          <p:nvPr/>
        </p:nvSpPr>
        <p:spPr>
          <a:xfrm>
            <a:off x="548640" y="5175504"/>
            <a:ext cx="11094415" cy="566928"/>
          </a:xfrm>
          <a:prstGeom prst="rect">
            <a:avLst/>
          </a:prstGeom>
          <a:solidFill>
            <a:srgbClr val="11161D"/>
          </a:solidFill>
          <a:ln w="9525">
            <a:solidFill>
              <a:srgbClr val="30363D"/>
            </a:solidFill>
            <a:prstDash val="solid"/>
          </a:ln>
        </p:spPr>
      </p:sp>
      <p:sp>
        <p:nvSpPr>
          <p:cNvPr id="31" name="Text 29"/>
          <p:cNvSpPr txBox="1"/>
          <p:nvPr/>
        </p:nvSpPr>
        <p:spPr>
          <a:xfrm>
            <a:off x="713232" y="5266944"/>
            <a:ext cx="1874520" cy="40233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Inspectability</a:t>
            </a:r>
            <a:endParaRPr lang="en-US" sz="1250" dirty="0"/>
          </a:p>
        </p:txBody>
      </p:sp>
      <p:sp>
        <p:nvSpPr>
          <p:cNvPr id="32" name="Text 30"/>
          <p:cNvSpPr txBox="1"/>
          <p:nvPr/>
        </p:nvSpPr>
        <p:spPr>
          <a:xfrm>
            <a:off x="2935224" y="5230368"/>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BFD4EE"/>
                </a:solidFill>
                <a:latin typeface="Calibri" pitchFamily="34" charset="0"/>
                <a:ea typeface="Calibri" pitchFamily="34" charset="-122"/>
                <a:cs typeface="Calibri" pitchFamily="34" charset="-120"/>
              </a:rPr>
              <a:t>not inspectable without running code</a:t>
            </a:r>
            <a:endParaRPr lang="en-US" sz="1200" dirty="0"/>
          </a:p>
        </p:txBody>
      </p:sp>
      <p:sp>
        <p:nvSpPr>
          <p:cNvPr id="33" name="Text 31"/>
          <p:cNvSpPr txBox="1"/>
          <p:nvPr/>
        </p:nvSpPr>
        <p:spPr>
          <a:xfrm>
            <a:off x="7408012" y="5230368"/>
            <a:ext cx="4143604" cy="457200"/>
          </a:xfrm>
          <a:prstGeom prst="rect">
            <a:avLst/>
          </a:prstGeom>
          <a:noFill/>
          <a:ln/>
        </p:spPr>
        <p:txBody>
          <a:bodyPr wrap="square" lIns="0" tIns="0" rIns="0" bIns="0" rtlCol="0" anchor="ctr"/>
          <a:lstStyle/>
          <a:p>
            <a:pPr indent="0" marL="0">
              <a:lnSpc>
                <a:spcPts val="1500"/>
              </a:lnSpc>
              <a:buNone/>
            </a:pPr>
            <a:r>
              <a:rPr lang="en-US" sz="1200" dirty="0">
                <a:solidFill>
                  <a:srgbClr val="DCCFA8"/>
                </a:solidFill>
                <a:latin typeface="Calibri" pitchFamily="34" charset="0"/>
                <a:ea typeface="Calibri" pitchFamily="34" charset="-122"/>
                <a:cs typeface="Calibri" pitchFamily="34" charset="-120"/>
              </a:rPr>
              <a:t>examples are files you can open; sequential reads are fast</a:t>
            </a:r>
            <a:endParaRPr lang="en-US" sz="1200" dirty="0"/>
          </a:p>
        </p:txBody>
      </p:sp>
      <p:sp>
        <p:nvSpPr>
          <p:cNvPr id="34" name="Shape 32"/>
          <p:cNvSpPr/>
          <p:nvPr/>
        </p:nvSpPr>
        <p:spPr>
          <a:xfrm>
            <a:off x="548640" y="5779008"/>
            <a:ext cx="11094415" cy="493776"/>
          </a:xfrm>
          <a:prstGeom prst="roundRect">
            <a:avLst>
              <a:gd name="adj" fmla="val 11111"/>
            </a:avLst>
          </a:prstGeom>
          <a:solidFill>
            <a:srgbClr val="11161D"/>
          </a:solidFill>
          <a:ln w="12700">
            <a:solidFill>
              <a:srgbClr val="30363D"/>
            </a:solidFill>
            <a:prstDash val="solid"/>
          </a:ln>
        </p:spPr>
      </p:sp>
      <p:sp>
        <p:nvSpPr>
          <p:cNvPr id="35" name="Text 33"/>
          <p:cNvSpPr txBox="1"/>
          <p:nvPr/>
        </p:nvSpPr>
        <p:spPr>
          <a:xfrm>
            <a:off x="768096" y="5897880"/>
            <a:ext cx="10655503" cy="274320"/>
          </a:xfrm>
          <a:prstGeom prst="rect">
            <a:avLst/>
          </a:prstGeom>
          <a:noFill/>
          <a:ln/>
        </p:spPr>
        <p:txBody>
          <a:bodyPr wrap="square" lIns="0" tIns="0" rIns="0" bIns="0" rtlCol="0" anchor="t"/>
          <a:lstStyle/>
          <a:p>
            <a:pPr indent="0" marL="0">
              <a:buNone/>
            </a:pPr>
            <a:r>
              <a:rPr lang="en-US" sz="1200" i="1" dirty="0">
                <a:solidFill>
                  <a:srgbClr val="7D8590"/>
                </a:solidFill>
                <a:latin typeface="Calibri" pitchFamily="34" charset="0"/>
                <a:ea typeface="Calibri" pitchFamily="34" charset="-122"/>
                <a:cs typeface="Calibri" pitchFamily="34" charset="-120"/>
              </a:rPr>
              <a:t>Runtime cost of option 1: 0.2–0.8 ms per anchor of host gather — about 1 hour of a 20,000-step run, not overlapped with the GPU today.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THE FALSE DICHOTOMY</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Materialize the key, not the bytes</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12</a:t>
            </a:r>
            <a:endParaRPr lang="en-US" sz="1000" dirty="0"/>
          </a:p>
        </p:txBody>
      </p:sp>
      <p:sp>
        <p:nvSpPr>
          <p:cNvPr id="6" name="Text 4"/>
          <p:cNvSpPr txBox="1"/>
          <p:nvPr/>
        </p:nvSpPr>
        <p:spPr>
          <a:xfrm>
            <a:off x="548640" y="1371600"/>
            <a:ext cx="11094415" cy="640080"/>
          </a:xfrm>
          <a:prstGeom prst="rect">
            <a:avLst/>
          </a:prstGeom>
          <a:noFill/>
          <a:ln/>
        </p:spPr>
        <p:txBody>
          <a:bodyPr wrap="square" lIns="0" tIns="0" rIns="0" bIns="0" rtlCol="0" anchor="t"/>
          <a:lstStyle/>
          <a:p>
            <a:pPr indent="0" marL="0">
              <a:lnSpc>
                <a:spcPts val="2100"/>
              </a:lnSpc>
              <a:buNone/>
            </a:pPr>
            <a:r>
              <a:rPr lang="en-US" sz="1500" dirty="0">
                <a:solidFill>
                  <a:srgbClr val="E6EDF3"/>
                </a:solidFill>
                <a:latin typeface="Calibri" pitchFamily="34" charset="0"/>
                <a:ea typeface="Calibri" pitchFamily="34" charset="-122"/>
                <a:cs typeface="Calibri" pitchFamily="34" charset="-120"/>
              </a:rPr>
              <a:t>An example is fully determined by a </a:t>
            </a:r>
            <a:pPr indent="0" marL="0">
              <a:lnSpc>
                <a:spcPts val="2100"/>
              </a:lnSpc>
              <a:buNone/>
            </a:pPr>
            <a:r>
              <a:rPr lang="en-US" sz="1500" b="1" dirty="0">
                <a:solidFill>
                  <a:srgbClr val="4493F8"/>
                </a:solidFill>
                <a:latin typeface="Calibri" pitchFamily="34" charset="0"/>
                <a:ea typeface="Calibri" pitchFamily="34" charset="-122"/>
                <a:cs typeface="Calibri" pitchFamily="34" charset="-120"/>
              </a:rPr>
              <a:t>small key</a:t>
            </a:r>
            <a:pPr indent="0" marL="0">
              <a:lnSpc>
                <a:spcPts val="2100"/>
              </a:lnSpc>
              <a:buNone/>
            </a:pPr>
            <a:r>
              <a:rPr lang="en-US" sz="1500" dirty="0">
                <a:solidFill>
                  <a:srgbClr val="E6EDF3"/>
                </a:solidFill>
                <a:latin typeface="Calibri" pitchFamily="34" charset="0"/>
                <a:ea typeface="Calibri" pitchFamily="34" charset="-122"/>
                <a:cs typeface="Calibri" pitchFamily="34" charset="-120"/>
              </a:rPr>
              <a:t>. Materializing the bytes is caching; materializing the key gives the same inspectability at zero storage — provided a tool turns a key back into the example, bit-identically.</a:t>
            </a:r>
            <a:endParaRPr lang="en-US" sz="1500" dirty="0"/>
          </a:p>
        </p:txBody>
      </p:sp>
      <p:sp>
        <p:nvSpPr>
          <p:cNvPr id="7" name="Shape 5"/>
          <p:cNvSpPr/>
          <p:nvPr/>
        </p:nvSpPr>
        <p:spPr>
          <a:xfrm>
            <a:off x="548640" y="2377440"/>
            <a:ext cx="3200400" cy="1691640"/>
          </a:xfrm>
          <a:prstGeom prst="roundRect">
            <a:avLst>
              <a:gd name="adj" fmla="val 3243"/>
            </a:avLst>
          </a:prstGeom>
          <a:solidFill>
            <a:srgbClr val="11202F"/>
          </a:solidFill>
          <a:ln w="12700">
            <a:solidFill>
              <a:srgbClr val="4493F8"/>
            </a:solidFill>
            <a:prstDash val="solid"/>
          </a:ln>
        </p:spPr>
      </p:sp>
      <p:sp>
        <p:nvSpPr>
          <p:cNvPr id="8" name="Text 6"/>
          <p:cNvSpPr txBox="1"/>
          <p:nvPr/>
        </p:nvSpPr>
        <p:spPr>
          <a:xfrm>
            <a:off x="768096" y="2542032"/>
            <a:ext cx="2761488" cy="292608"/>
          </a:xfrm>
          <a:prstGeom prst="rect">
            <a:avLst/>
          </a:prstGeom>
          <a:noFill/>
          <a:ln/>
        </p:spPr>
        <p:txBody>
          <a:bodyPr wrap="square" lIns="0" tIns="0" rIns="0" bIns="0" rtlCol="0" anchor="t"/>
          <a:lstStyle/>
          <a:p>
            <a:pPr indent="0" marL="0">
              <a:buNone/>
            </a:pPr>
            <a:r>
              <a:rPr lang="en-US" sz="1600" b="1" dirty="0">
                <a:solidFill>
                  <a:srgbClr val="4493F8"/>
                </a:solidFill>
                <a:latin typeface="Georgia" pitchFamily="34" charset="0"/>
                <a:ea typeface="Georgia" pitchFamily="34" charset="-122"/>
                <a:cs typeface="Georgia" pitchFamily="34" charset="-120"/>
              </a:rPr>
              <a:t>the key</a:t>
            </a:r>
            <a:endParaRPr lang="en-US" sz="1600" dirty="0"/>
          </a:p>
        </p:txBody>
      </p:sp>
      <p:sp>
        <p:nvSpPr>
          <p:cNvPr id="9" name="Text 7"/>
          <p:cNvSpPr txBox="1"/>
          <p:nvPr/>
        </p:nvSpPr>
        <p:spPr>
          <a:xfrm>
            <a:off x="768096" y="2944368"/>
            <a:ext cx="2761488" cy="960120"/>
          </a:xfrm>
          <a:prstGeom prst="rect">
            <a:avLst/>
          </a:prstGeom>
          <a:noFill/>
          <a:ln/>
        </p:spPr>
        <p:txBody>
          <a:bodyPr wrap="square" lIns="0" tIns="0" rIns="0" bIns="0" rtlCol="0" anchor="t"/>
          <a:lstStyle/>
          <a:p>
            <a:pPr indent="0" marL="0">
              <a:lnSpc>
                <a:spcPts val="1900"/>
              </a:lnSpc>
              <a:buNone/>
            </a:pPr>
            <a:r>
              <a:rPr lang="en-US" sz="1300" dirty="0">
                <a:solidFill>
                  <a:srgbClr val="E6EDF3"/>
                </a:solidFill>
                <a:latin typeface="Calibri" pitchFamily="34" charset="0"/>
                <a:ea typeface="Calibri" pitchFamily="34" charset="-122"/>
                <a:cs typeface="Calibri" pitchFamily="34" charset="-120"/>
              </a:rPr>
              <a:t>tensor sha256</a:t>
            </a:r>
            <a:endParaRPr lang="en-US" sz="1300" dirty="0"/>
          </a:p>
          <a:p>
            <a:pPr indent="0" marL="0">
              <a:lnSpc>
                <a:spcPts val="1900"/>
              </a:lnSpc>
              <a:buNone/>
            </a:pPr>
            <a:r>
              <a:rPr lang="en-US" sz="1300" dirty="0">
                <a:solidFill>
                  <a:srgbClr val="E6EDF3"/>
                </a:solidFill>
                <a:latin typeface="Calibri" pitchFamily="34" charset="0"/>
                <a:ea typeface="Calibri" pitchFamily="34" charset="-122"/>
                <a:cs typeface="Calibri" pitchFamily="34" charset="-120"/>
              </a:rPr>
              <a:t>geometry version</a:t>
            </a:r>
            <a:endParaRPr lang="en-US" sz="1300" dirty="0"/>
          </a:p>
          <a:p>
            <a:pPr indent="0" marL="0">
              <a:lnSpc>
                <a:spcPts val="1900"/>
              </a:lnSpc>
              <a:buNone/>
            </a:pPr>
            <a:r>
              <a:rPr lang="en-US" sz="1300" dirty="0">
                <a:solidFill>
                  <a:srgbClr val="E6EDF3"/>
                </a:solidFill>
                <a:latin typeface="Calibri" pitchFamily="34" charset="0"/>
                <a:ea typeface="Calibri" pitchFamily="34" charset="-122"/>
                <a:cs typeface="Calibri" pitchFamily="34" charset="-120"/>
              </a:rPr>
              <a:t>anchor  t / y / x</a:t>
            </a:r>
            <a:endParaRPr lang="en-US" sz="1300" dirty="0"/>
          </a:p>
          <a:p>
            <a:pPr indent="0" marL="0">
              <a:lnSpc>
                <a:spcPts val="1900"/>
              </a:lnSpc>
              <a:buNone/>
            </a:pPr>
            <a:r>
              <a:rPr lang="en-US" sz="1300" dirty="0">
                <a:solidFill>
                  <a:srgbClr val="E6EDF3"/>
                </a:solidFill>
                <a:latin typeface="Calibri" pitchFamily="34" charset="0"/>
                <a:ea typeface="Calibri" pitchFamily="34" charset="-122"/>
                <a:cs typeface="Calibri" pitchFamily="34" charset="-120"/>
              </a:rPr>
              <a:t>mask seed</a:t>
            </a:r>
            <a:endParaRPr lang="en-US" sz="1300" dirty="0"/>
          </a:p>
        </p:txBody>
      </p:sp>
      <p:sp>
        <p:nvSpPr>
          <p:cNvPr id="10" name="Shape 8"/>
          <p:cNvSpPr/>
          <p:nvPr/>
        </p:nvSpPr>
        <p:spPr>
          <a:xfrm>
            <a:off x="4124858" y="2377440"/>
            <a:ext cx="2331720" cy="1691640"/>
          </a:xfrm>
          <a:prstGeom prst="roundRect">
            <a:avLst>
              <a:gd name="adj" fmla="val 3243"/>
            </a:avLst>
          </a:prstGeom>
          <a:solidFill>
            <a:srgbClr val="161B22"/>
          </a:solidFill>
          <a:ln w="12700">
            <a:solidFill>
              <a:srgbClr val="30363D"/>
            </a:solidFill>
            <a:prstDash val="solid"/>
          </a:ln>
        </p:spPr>
      </p:sp>
      <p:sp>
        <p:nvSpPr>
          <p:cNvPr id="11" name="Text 9"/>
          <p:cNvSpPr txBox="1"/>
          <p:nvPr/>
        </p:nvSpPr>
        <p:spPr>
          <a:xfrm>
            <a:off x="4307738" y="2542032"/>
            <a:ext cx="1965960" cy="292608"/>
          </a:xfrm>
          <a:prstGeom prst="rect">
            <a:avLst/>
          </a:prstGeom>
          <a:noFill/>
          <a:ln/>
        </p:spPr>
        <p:txBody>
          <a:bodyPr wrap="square" lIns="0" tIns="0" rIns="0" bIns="0" rtlCol="0" anchor="t"/>
          <a:lstStyle/>
          <a:p>
            <a:pPr indent="0" marL="0">
              <a:buNone/>
            </a:pPr>
            <a:r>
              <a:rPr lang="en-US" sz="1600" b="1" dirty="0">
                <a:solidFill>
                  <a:srgbClr val="E6EDF3"/>
                </a:solidFill>
                <a:latin typeface="Georgia" pitchFamily="34" charset="0"/>
                <a:ea typeface="Georgia" pitchFamily="34" charset="-122"/>
                <a:cs typeface="Georgia" pitchFamily="34" charset="-120"/>
              </a:rPr>
              <a:t>the sampler</a:t>
            </a:r>
            <a:endParaRPr lang="en-US" sz="1600" dirty="0"/>
          </a:p>
        </p:txBody>
      </p:sp>
      <p:sp>
        <p:nvSpPr>
          <p:cNvPr id="12" name="Text 10"/>
          <p:cNvSpPr txBox="1"/>
          <p:nvPr/>
        </p:nvSpPr>
        <p:spPr>
          <a:xfrm>
            <a:off x="4307738" y="2944368"/>
            <a:ext cx="1965960" cy="822960"/>
          </a:xfrm>
          <a:prstGeom prst="rect">
            <a:avLst/>
          </a:prstGeom>
          <a:noFill/>
          <a:ln/>
        </p:spPr>
        <p:txBody>
          <a:bodyPr wrap="square" lIns="0" tIns="0" rIns="0" bIns="0" rtlCol="0" anchor="t"/>
          <a:lstStyle/>
          <a:p>
            <a:pPr indent="0" marL="0">
              <a:lnSpc>
                <a:spcPts val="1600"/>
              </a:lnSpc>
              <a:buNone/>
            </a:pPr>
            <a:r>
              <a:rPr lang="en-US" sz="1250" dirty="0">
                <a:solidFill>
                  <a:srgbClr val="7D8590"/>
                </a:solidFill>
                <a:latin typeface="Calibri" pitchFamily="34" charset="0"/>
                <a:ea typeface="Calibri" pitchFamily="34" charset="-122"/>
                <a:cs typeface="Calibri" pitchFamily="34" charset="-120"/>
              </a:rPr>
              <a:t>gathers by index from the 36 GB tensor</a:t>
            </a:r>
            <a:endParaRPr lang="en-US" sz="1250" dirty="0"/>
          </a:p>
        </p:txBody>
      </p:sp>
      <p:sp>
        <p:nvSpPr>
          <p:cNvPr id="13" name="Shape 11"/>
          <p:cNvSpPr/>
          <p:nvPr/>
        </p:nvSpPr>
        <p:spPr>
          <a:xfrm>
            <a:off x="6832397" y="2377440"/>
            <a:ext cx="2651760" cy="1691640"/>
          </a:xfrm>
          <a:prstGeom prst="roundRect">
            <a:avLst>
              <a:gd name="adj" fmla="val 3243"/>
            </a:avLst>
          </a:prstGeom>
          <a:solidFill>
            <a:srgbClr val="161B22"/>
          </a:solidFill>
          <a:ln w="12700">
            <a:solidFill>
              <a:srgbClr val="30363D"/>
            </a:solidFill>
            <a:prstDash val="solid"/>
          </a:ln>
        </p:spPr>
      </p:sp>
      <p:sp>
        <p:nvSpPr>
          <p:cNvPr id="14" name="Text 12"/>
          <p:cNvSpPr txBox="1"/>
          <p:nvPr/>
        </p:nvSpPr>
        <p:spPr>
          <a:xfrm>
            <a:off x="7015277" y="2542032"/>
            <a:ext cx="2286000" cy="292608"/>
          </a:xfrm>
          <a:prstGeom prst="rect">
            <a:avLst/>
          </a:prstGeom>
          <a:noFill/>
          <a:ln/>
        </p:spPr>
        <p:txBody>
          <a:bodyPr wrap="square" lIns="0" tIns="0" rIns="0" bIns="0" rtlCol="0" anchor="t"/>
          <a:lstStyle/>
          <a:p>
            <a:pPr indent="0" marL="0">
              <a:buNone/>
            </a:pPr>
            <a:r>
              <a:rPr lang="en-US" sz="1600" b="1" dirty="0">
                <a:solidFill>
                  <a:srgbClr val="E6EDF3"/>
                </a:solidFill>
                <a:latin typeface="Georgia" pitchFamily="34" charset="0"/>
                <a:ea typeface="Georgia" pitchFamily="34" charset="-122"/>
                <a:cs typeface="Georgia" pitchFamily="34" charset="-120"/>
              </a:rPr>
              <a:t>the example</a:t>
            </a:r>
            <a:endParaRPr lang="en-US" sz="1600" dirty="0"/>
          </a:p>
        </p:txBody>
      </p:sp>
      <p:sp>
        <p:nvSpPr>
          <p:cNvPr id="15" name="Text 13"/>
          <p:cNvSpPr txBox="1"/>
          <p:nvPr/>
        </p:nvSpPr>
        <p:spPr>
          <a:xfrm>
            <a:off x="7015277" y="2944368"/>
            <a:ext cx="2286000" cy="914400"/>
          </a:xfrm>
          <a:prstGeom prst="rect">
            <a:avLst/>
          </a:prstGeom>
          <a:noFill/>
          <a:ln/>
        </p:spPr>
        <p:txBody>
          <a:bodyPr wrap="square" lIns="0" tIns="0" rIns="0" bIns="0" rtlCol="0" anchor="t"/>
          <a:lstStyle/>
          <a:p>
            <a:pPr indent="0" marL="0">
              <a:lnSpc>
                <a:spcPts val="1600"/>
              </a:lnSpc>
              <a:buNone/>
            </a:pPr>
            <a:r>
              <a:rPr lang="en-US" sz="1250" dirty="0">
                <a:solidFill>
                  <a:srgbClr val="7D8590"/>
                </a:solidFill>
                <a:latin typeface="Calibri" pitchFamily="34" charset="0"/>
                <a:ea typeface="Calibri" pitchFamily="34" charset="-122"/>
                <a:cs typeface="Calibri" pitchFamily="34" charset="-120"/>
              </a:rPr>
              <a:t>6,579 numbers ≈ 19 KB — identical every time the key is replayed</a:t>
            </a:r>
            <a:endParaRPr lang="en-US" sz="1250" dirty="0"/>
          </a:p>
        </p:txBody>
      </p:sp>
      <p:sp>
        <p:nvSpPr>
          <p:cNvPr id="16" name="Shape 14"/>
          <p:cNvSpPr/>
          <p:nvPr/>
        </p:nvSpPr>
        <p:spPr>
          <a:xfrm>
            <a:off x="9859975" y="2377440"/>
            <a:ext cx="1783080" cy="1691640"/>
          </a:xfrm>
          <a:prstGeom prst="roundRect">
            <a:avLst>
              <a:gd name="adj" fmla="val 3243"/>
            </a:avLst>
          </a:prstGeom>
          <a:solidFill>
            <a:srgbClr val="161B22"/>
          </a:solidFill>
          <a:ln w="12700">
            <a:solidFill>
              <a:srgbClr val="30363D"/>
            </a:solidFill>
            <a:prstDash val="solid"/>
          </a:ln>
        </p:spPr>
      </p:sp>
      <p:sp>
        <p:nvSpPr>
          <p:cNvPr id="17" name="Text 15"/>
          <p:cNvSpPr txBox="1"/>
          <p:nvPr/>
        </p:nvSpPr>
        <p:spPr>
          <a:xfrm>
            <a:off x="10024567" y="2542032"/>
            <a:ext cx="1453896" cy="292608"/>
          </a:xfrm>
          <a:prstGeom prst="rect">
            <a:avLst/>
          </a:prstGeom>
          <a:noFill/>
          <a:ln/>
        </p:spPr>
        <p:txBody>
          <a:bodyPr wrap="square" lIns="0" tIns="0" rIns="0" bIns="0" rtlCol="0" anchor="t"/>
          <a:lstStyle/>
          <a:p>
            <a:pPr indent="0" marL="0">
              <a:buNone/>
            </a:pPr>
            <a:r>
              <a:rPr lang="en-US" sz="1600" b="1" dirty="0">
                <a:solidFill>
                  <a:srgbClr val="E6EDF3"/>
                </a:solidFill>
                <a:latin typeface="Georgia" pitchFamily="34" charset="0"/>
                <a:ea typeface="Georgia" pitchFamily="34" charset="-122"/>
                <a:cs typeface="Georgia" pitchFamily="34" charset="-120"/>
              </a:rPr>
              <a:t>the model</a:t>
            </a:r>
            <a:endParaRPr lang="en-US" sz="1600" dirty="0"/>
          </a:p>
        </p:txBody>
      </p:sp>
      <p:sp>
        <p:nvSpPr>
          <p:cNvPr id="18" name="Text 16"/>
          <p:cNvSpPr txBox="1"/>
          <p:nvPr/>
        </p:nvSpPr>
        <p:spPr>
          <a:xfrm>
            <a:off x="10024567" y="2944368"/>
            <a:ext cx="1453896" cy="731520"/>
          </a:xfrm>
          <a:prstGeom prst="rect">
            <a:avLst/>
          </a:prstGeom>
          <a:noFill/>
          <a:ln/>
        </p:spPr>
        <p:txBody>
          <a:bodyPr wrap="square" lIns="0" tIns="0" rIns="0" bIns="0" rtlCol="0" anchor="t"/>
          <a:lstStyle/>
          <a:p>
            <a:pPr indent="0" marL="0">
              <a:lnSpc>
                <a:spcPts val="1600"/>
              </a:lnSpc>
              <a:buNone/>
            </a:pPr>
            <a:r>
              <a:rPr lang="en-US" sz="1250" dirty="0">
                <a:solidFill>
                  <a:srgbClr val="7D8590"/>
                </a:solidFill>
                <a:latin typeface="Calibri" pitchFamily="34" charset="0"/>
                <a:ea typeface="Calibri" pitchFamily="34" charset="-122"/>
                <a:cs typeface="Calibri" pitchFamily="34" charset="-120"/>
              </a:rPr>
              <a:t>750 tokens into attention</a:t>
            </a:r>
            <a:endParaRPr lang="en-US" sz="1250" dirty="0"/>
          </a:p>
        </p:txBody>
      </p:sp>
      <p:sp>
        <p:nvSpPr>
          <p:cNvPr id="19" name="Shape 17"/>
          <p:cNvSpPr/>
          <p:nvPr/>
        </p:nvSpPr>
        <p:spPr>
          <a:xfrm>
            <a:off x="3822192" y="3223260"/>
            <a:ext cx="229514" cy="0"/>
          </a:xfrm>
          <a:prstGeom prst="line">
            <a:avLst/>
          </a:prstGeom>
          <a:noFill/>
          <a:ln w="19050">
            <a:solidFill>
              <a:srgbClr val="4493F8"/>
            </a:solidFill>
            <a:prstDash val="solid"/>
            <a:tailEnd type="triangle"/>
          </a:ln>
        </p:spPr>
      </p:sp>
      <p:sp>
        <p:nvSpPr>
          <p:cNvPr id="20" name="Shape 18"/>
          <p:cNvSpPr/>
          <p:nvPr/>
        </p:nvSpPr>
        <p:spPr>
          <a:xfrm>
            <a:off x="6529730" y="3223260"/>
            <a:ext cx="229514" cy="0"/>
          </a:xfrm>
          <a:prstGeom prst="line">
            <a:avLst/>
          </a:prstGeom>
          <a:noFill/>
          <a:ln w="19050">
            <a:solidFill>
              <a:srgbClr val="4493F8"/>
            </a:solidFill>
            <a:prstDash val="solid"/>
            <a:tailEnd type="triangle"/>
          </a:ln>
        </p:spPr>
      </p:sp>
      <p:sp>
        <p:nvSpPr>
          <p:cNvPr id="21" name="Shape 19"/>
          <p:cNvSpPr/>
          <p:nvPr/>
        </p:nvSpPr>
        <p:spPr>
          <a:xfrm>
            <a:off x="9557309" y="3223260"/>
            <a:ext cx="229514" cy="0"/>
          </a:xfrm>
          <a:prstGeom prst="line">
            <a:avLst/>
          </a:prstGeom>
          <a:noFill/>
          <a:ln w="19050">
            <a:solidFill>
              <a:srgbClr val="4493F8"/>
            </a:solidFill>
            <a:prstDash val="solid"/>
            <a:tailEnd type="triangle"/>
          </a:ln>
        </p:spPr>
      </p:sp>
      <p:sp>
        <p:nvSpPr>
          <p:cNvPr id="22" name="Shape 20"/>
          <p:cNvSpPr/>
          <p:nvPr/>
        </p:nvSpPr>
        <p:spPr>
          <a:xfrm>
            <a:off x="8158277" y="4069080"/>
            <a:ext cx="0" cy="685800"/>
          </a:xfrm>
          <a:prstGeom prst="line">
            <a:avLst/>
          </a:prstGeom>
          <a:noFill/>
          <a:ln w="19050">
            <a:solidFill>
              <a:srgbClr val="E3B341"/>
            </a:solidFill>
            <a:prstDash val="dash"/>
            <a:tailEnd type="triangle"/>
          </a:ln>
        </p:spPr>
      </p:sp>
      <p:sp>
        <p:nvSpPr>
          <p:cNvPr id="23" name="Shape 21"/>
          <p:cNvSpPr/>
          <p:nvPr/>
        </p:nvSpPr>
        <p:spPr>
          <a:xfrm>
            <a:off x="5963717" y="4754880"/>
            <a:ext cx="1298448" cy="457200"/>
          </a:xfrm>
          <a:prstGeom prst="roundRect">
            <a:avLst>
              <a:gd name="adj" fmla="val 20000"/>
            </a:avLst>
          </a:prstGeom>
          <a:solidFill>
            <a:srgbClr val="211B0C"/>
          </a:solidFill>
          <a:ln w="12700">
            <a:solidFill>
              <a:srgbClr val="E3B341"/>
            </a:solidFill>
            <a:prstDash val="solid"/>
          </a:ln>
        </p:spPr>
      </p:sp>
      <p:sp>
        <p:nvSpPr>
          <p:cNvPr id="24" name="Text 22"/>
          <p:cNvSpPr txBox="1"/>
          <p:nvPr/>
        </p:nvSpPr>
        <p:spPr>
          <a:xfrm>
            <a:off x="5963717" y="4864608"/>
            <a:ext cx="1298448" cy="256032"/>
          </a:xfrm>
          <a:prstGeom prst="rect">
            <a:avLst/>
          </a:prstGeom>
          <a:noFill/>
          <a:ln/>
        </p:spPr>
        <p:txBody>
          <a:bodyPr wrap="square" lIns="0" tIns="0" rIns="0" bIns="0" rtlCol="0" anchor="t"/>
          <a:lstStyle/>
          <a:p>
            <a:pPr algn="ctr" indent="0" marL="0">
              <a:buNone/>
            </a:pPr>
            <a:r>
              <a:rPr lang="en-US" sz="1300" b="1" dirty="0">
                <a:solidFill>
                  <a:srgbClr val="E3B341"/>
                </a:solidFill>
                <a:latin typeface="Calibri" pitchFamily="34" charset="0"/>
                <a:ea typeface="Calibri" pitchFamily="34" charset="-122"/>
                <a:cs typeface="Calibri" pitchFamily="34" charset="-120"/>
              </a:rPr>
              <a:t>dump</a:t>
            </a:r>
            <a:endParaRPr lang="en-US" sz="1300" dirty="0"/>
          </a:p>
        </p:txBody>
      </p:sp>
      <p:sp>
        <p:nvSpPr>
          <p:cNvPr id="25" name="Shape 23"/>
          <p:cNvSpPr/>
          <p:nvPr/>
        </p:nvSpPr>
        <p:spPr>
          <a:xfrm>
            <a:off x="7445045" y="4754880"/>
            <a:ext cx="1298448" cy="457200"/>
          </a:xfrm>
          <a:prstGeom prst="roundRect">
            <a:avLst>
              <a:gd name="adj" fmla="val 20000"/>
            </a:avLst>
          </a:prstGeom>
          <a:solidFill>
            <a:srgbClr val="211B0C"/>
          </a:solidFill>
          <a:ln w="12700">
            <a:solidFill>
              <a:srgbClr val="E3B341"/>
            </a:solidFill>
            <a:prstDash val="solid"/>
          </a:ln>
        </p:spPr>
      </p:sp>
      <p:sp>
        <p:nvSpPr>
          <p:cNvPr id="26" name="Text 24"/>
          <p:cNvSpPr txBox="1"/>
          <p:nvPr/>
        </p:nvSpPr>
        <p:spPr>
          <a:xfrm>
            <a:off x="7445045" y="4864608"/>
            <a:ext cx="1298448" cy="256032"/>
          </a:xfrm>
          <a:prstGeom prst="rect">
            <a:avLst/>
          </a:prstGeom>
          <a:noFill/>
          <a:ln/>
        </p:spPr>
        <p:txBody>
          <a:bodyPr wrap="square" lIns="0" tIns="0" rIns="0" bIns="0" rtlCol="0" anchor="t"/>
          <a:lstStyle/>
          <a:p>
            <a:pPr algn="ctr" indent="0" marL="0">
              <a:buNone/>
            </a:pPr>
            <a:r>
              <a:rPr lang="en-US" sz="1300" b="1" dirty="0">
                <a:solidFill>
                  <a:srgbClr val="E3B341"/>
                </a:solidFill>
                <a:latin typeface="Calibri" pitchFamily="34" charset="0"/>
                <a:ea typeface="Calibri" pitchFamily="34" charset="-122"/>
                <a:cs typeface="Calibri" pitchFamily="34" charset="-120"/>
              </a:rPr>
              <a:t>inspect</a:t>
            </a:r>
            <a:endParaRPr lang="en-US" sz="1300" dirty="0"/>
          </a:p>
        </p:txBody>
      </p:sp>
      <p:sp>
        <p:nvSpPr>
          <p:cNvPr id="27" name="Shape 25"/>
          <p:cNvSpPr/>
          <p:nvPr/>
        </p:nvSpPr>
        <p:spPr>
          <a:xfrm>
            <a:off x="8926373" y="4754880"/>
            <a:ext cx="1298448" cy="457200"/>
          </a:xfrm>
          <a:prstGeom prst="roundRect">
            <a:avLst>
              <a:gd name="adj" fmla="val 20000"/>
            </a:avLst>
          </a:prstGeom>
          <a:solidFill>
            <a:srgbClr val="211B0C"/>
          </a:solidFill>
          <a:ln w="12700">
            <a:solidFill>
              <a:srgbClr val="E3B341"/>
            </a:solidFill>
            <a:prstDash val="solid"/>
          </a:ln>
        </p:spPr>
      </p:sp>
      <p:sp>
        <p:nvSpPr>
          <p:cNvPr id="28" name="Text 26"/>
          <p:cNvSpPr txBox="1"/>
          <p:nvPr/>
        </p:nvSpPr>
        <p:spPr>
          <a:xfrm>
            <a:off x="8926373" y="4864608"/>
            <a:ext cx="1298448" cy="256032"/>
          </a:xfrm>
          <a:prstGeom prst="rect">
            <a:avLst/>
          </a:prstGeom>
          <a:noFill/>
          <a:ln/>
        </p:spPr>
        <p:txBody>
          <a:bodyPr wrap="square" lIns="0" tIns="0" rIns="0" bIns="0" rtlCol="0" anchor="t"/>
          <a:lstStyle/>
          <a:p>
            <a:pPr algn="ctr" indent="0" marL="0">
              <a:buNone/>
            </a:pPr>
            <a:r>
              <a:rPr lang="en-US" sz="1300" b="1" dirty="0">
                <a:solidFill>
                  <a:srgbClr val="E3B341"/>
                </a:solidFill>
                <a:latin typeface="Calibri" pitchFamily="34" charset="0"/>
                <a:ea typeface="Calibri" pitchFamily="34" charset="-122"/>
                <a:cs typeface="Calibri" pitchFamily="34" charset="-120"/>
              </a:rPr>
              <a:t>certify</a:t>
            </a:r>
            <a:endParaRPr lang="en-US" sz="1300" dirty="0"/>
          </a:p>
        </p:txBody>
      </p:sp>
      <p:sp>
        <p:nvSpPr>
          <p:cNvPr id="29" name="Shape 27"/>
          <p:cNvSpPr/>
          <p:nvPr/>
        </p:nvSpPr>
        <p:spPr>
          <a:xfrm>
            <a:off x="548640" y="5504688"/>
            <a:ext cx="11094415" cy="713232"/>
          </a:xfrm>
          <a:prstGeom prst="roundRect">
            <a:avLst>
              <a:gd name="adj" fmla="val 7692"/>
            </a:avLst>
          </a:prstGeom>
          <a:solidFill>
            <a:srgbClr val="11161D"/>
          </a:solidFill>
          <a:ln w="12700">
            <a:solidFill>
              <a:srgbClr val="30363D"/>
            </a:solidFill>
            <a:prstDash val="solid"/>
          </a:ln>
        </p:spPr>
      </p:sp>
      <p:sp>
        <p:nvSpPr>
          <p:cNvPr id="30" name="Text 28"/>
          <p:cNvSpPr txBox="1"/>
          <p:nvPr/>
        </p:nvSpPr>
        <p:spPr>
          <a:xfrm>
            <a:off x="786384" y="5705856"/>
            <a:ext cx="10618927" cy="365760"/>
          </a:xfrm>
          <a:prstGeom prst="rect">
            <a:avLst/>
          </a:prstGeom>
          <a:noFill/>
          <a:ln/>
        </p:spPr>
        <p:txBody>
          <a:bodyPr wrap="square" lIns="0" tIns="0" rIns="0" bIns="0" rtlCol="0" anchor="t"/>
          <a:lstStyle/>
          <a:p>
            <a:pPr indent="0" marL="0">
              <a:buNone/>
            </a:pPr>
            <a:r>
              <a:rPr lang="en-US" sz="1300" i="1" dirty="0">
                <a:solidFill>
                  <a:srgbClr val="7D8590"/>
                </a:solidFill>
                <a:latin typeface="Calibri" pitchFamily="34" charset="0"/>
                <a:ea typeface="Calibri" pitchFamily="34" charset="-122"/>
                <a:cs typeface="Calibri" pitchFamily="34" charset="-120"/>
              </a:rPr>
              <a:t>The repo already works this way: the stage-2 cache is keyed by two hashes, and the JAX port is certified by gates rather than by re-reading weights.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PROPOSAL</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What I would do — about one day of work</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444752"/>
            <a:ext cx="5410048" cy="1243584"/>
          </a:xfrm>
          <a:prstGeom prst="roundRect">
            <a:avLst>
              <a:gd name="adj" fmla="val 4412"/>
            </a:avLst>
          </a:prstGeom>
          <a:solidFill>
            <a:srgbClr val="161B22"/>
          </a:solidFill>
          <a:ln w="12700">
            <a:solidFill>
              <a:srgbClr val="30363D"/>
            </a:solidFill>
            <a:prstDash val="solid"/>
          </a:ln>
        </p:spPr>
      </p:sp>
      <p:sp>
        <p:nvSpPr>
          <p:cNvPr id="7" name="Shape 5"/>
          <p:cNvSpPr/>
          <p:nvPr/>
        </p:nvSpPr>
        <p:spPr>
          <a:xfrm>
            <a:off x="749808" y="1627632"/>
            <a:ext cx="310896" cy="310896"/>
          </a:xfrm>
          <a:prstGeom prst="ellipse">
            <a:avLst/>
          </a:prstGeom>
          <a:solidFill>
            <a:srgbClr val="4493F8"/>
          </a:solidFill>
          <a:ln w="12700">
            <a:solidFill>
              <a:srgbClr val="4493F8"/>
            </a:solidFill>
            <a:prstDash val="solid"/>
          </a:ln>
        </p:spPr>
      </p:sp>
      <p:sp>
        <p:nvSpPr>
          <p:cNvPr id="8" name="Text 6"/>
          <p:cNvSpPr txBox="1"/>
          <p:nvPr/>
        </p:nvSpPr>
        <p:spPr>
          <a:xfrm>
            <a:off x="749808" y="1664208"/>
            <a:ext cx="310896" cy="256032"/>
          </a:xfrm>
          <a:prstGeom prst="rect">
            <a:avLst/>
          </a:prstGeom>
          <a:noFill/>
          <a:ln/>
        </p:spPr>
        <p:txBody>
          <a:bodyPr wrap="square" lIns="0" tIns="0" rIns="0" bIns="0" rtlCol="0" anchor="t"/>
          <a:lstStyle/>
          <a:p>
            <a:pPr algn="ctr" indent="0" marL="0">
              <a:buNone/>
            </a:pPr>
            <a:r>
              <a:rPr lang="en-US" sz="1300" b="1" dirty="0">
                <a:solidFill>
                  <a:srgbClr val="0D1117"/>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70432" y="1627632"/>
            <a:ext cx="4550512"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A dump-by-key tool</a:t>
            </a:r>
            <a:endParaRPr lang="en-US" sz="1400" dirty="0"/>
          </a:p>
        </p:txBody>
      </p:sp>
      <p:sp>
        <p:nvSpPr>
          <p:cNvPr id="10" name="Text 8"/>
          <p:cNvSpPr txBox="1"/>
          <p:nvPr/>
        </p:nvSpPr>
        <p:spPr>
          <a:xfrm>
            <a:off x="1170432" y="1938528"/>
            <a:ext cx="4550512" cy="676656"/>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Dump any example by key — or by “run #N, step s, batch index b”, replaying the seeded stream — to NPZ, JSON and a picture. The Cones tab gains a “show a real example” mode.</a:t>
            </a:r>
            <a:endParaRPr lang="en-US" sz="1150" dirty="0"/>
          </a:p>
        </p:txBody>
      </p:sp>
      <p:sp>
        <p:nvSpPr>
          <p:cNvPr id="11" name="Shape 9"/>
          <p:cNvSpPr/>
          <p:nvPr/>
        </p:nvSpPr>
        <p:spPr>
          <a:xfrm>
            <a:off x="6233008" y="1444752"/>
            <a:ext cx="5410048" cy="1243584"/>
          </a:xfrm>
          <a:prstGeom prst="roundRect">
            <a:avLst>
              <a:gd name="adj" fmla="val 4412"/>
            </a:avLst>
          </a:prstGeom>
          <a:solidFill>
            <a:srgbClr val="161B22"/>
          </a:solidFill>
          <a:ln w="12700">
            <a:solidFill>
              <a:srgbClr val="30363D"/>
            </a:solidFill>
            <a:prstDash val="solid"/>
          </a:ln>
        </p:spPr>
      </p:sp>
      <p:sp>
        <p:nvSpPr>
          <p:cNvPr id="12" name="Shape 10"/>
          <p:cNvSpPr/>
          <p:nvPr/>
        </p:nvSpPr>
        <p:spPr>
          <a:xfrm>
            <a:off x="6434176" y="1627632"/>
            <a:ext cx="310896" cy="310896"/>
          </a:xfrm>
          <a:prstGeom prst="ellipse">
            <a:avLst/>
          </a:prstGeom>
          <a:solidFill>
            <a:srgbClr val="4493F8"/>
          </a:solidFill>
          <a:ln w="12700">
            <a:solidFill>
              <a:srgbClr val="4493F8"/>
            </a:solidFill>
            <a:prstDash val="solid"/>
          </a:ln>
        </p:spPr>
      </p:sp>
      <p:sp>
        <p:nvSpPr>
          <p:cNvPr id="13" name="Text 11"/>
          <p:cNvSpPr txBox="1"/>
          <p:nvPr/>
        </p:nvSpPr>
        <p:spPr>
          <a:xfrm>
            <a:off x="6434176" y="1664208"/>
            <a:ext cx="310896" cy="256032"/>
          </a:xfrm>
          <a:prstGeom prst="rect">
            <a:avLst/>
          </a:prstGeom>
          <a:noFill/>
          <a:ln/>
        </p:spPr>
        <p:txBody>
          <a:bodyPr wrap="square" lIns="0" tIns="0" rIns="0" bIns="0" rtlCol="0" anchor="t"/>
          <a:lstStyle/>
          <a:p>
            <a:pPr algn="ctr" indent="0" marL="0">
              <a:buNone/>
            </a:pPr>
            <a:r>
              <a:rPr lang="en-US" sz="1300" b="1" dirty="0">
                <a:solidFill>
                  <a:srgbClr val="0D1117"/>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854800" y="1627632"/>
            <a:ext cx="4550512"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A run manifest</a:t>
            </a:r>
            <a:endParaRPr lang="en-US" sz="1400" dirty="0"/>
          </a:p>
        </p:txBody>
      </p:sp>
      <p:sp>
        <p:nvSpPr>
          <p:cNvPr id="15" name="Text 13"/>
          <p:cNvSpPr txBox="1"/>
          <p:nvPr/>
        </p:nvSpPr>
        <p:spPr>
          <a:xfrm>
            <a:off x="6854800" y="1938528"/>
            <a:ext cx="4550512" cy="676656"/>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Tensor sha, geometry json sha, seed and step count written into every run’s record, so any example ever trained on is regenerable.</a:t>
            </a:r>
            <a:endParaRPr lang="en-US" sz="1150" dirty="0"/>
          </a:p>
        </p:txBody>
      </p:sp>
      <p:sp>
        <p:nvSpPr>
          <p:cNvPr id="16" name="Shape 14"/>
          <p:cNvSpPr/>
          <p:nvPr/>
        </p:nvSpPr>
        <p:spPr>
          <a:xfrm>
            <a:off x="548640" y="2779776"/>
            <a:ext cx="5410048" cy="1243584"/>
          </a:xfrm>
          <a:prstGeom prst="roundRect">
            <a:avLst>
              <a:gd name="adj" fmla="val 4412"/>
            </a:avLst>
          </a:prstGeom>
          <a:solidFill>
            <a:srgbClr val="161B22"/>
          </a:solidFill>
          <a:ln w="12700">
            <a:solidFill>
              <a:srgbClr val="30363D"/>
            </a:solidFill>
            <a:prstDash val="solid"/>
          </a:ln>
        </p:spPr>
      </p:sp>
      <p:sp>
        <p:nvSpPr>
          <p:cNvPr id="17" name="Shape 15"/>
          <p:cNvSpPr/>
          <p:nvPr/>
        </p:nvSpPr>
        <p:spPr>
          <a:xfrm>
            <a:off x="749808" y="2962656"/>
            <a:ext cx="310896" cy="310896"/>
          </a:xfrm>
          <a:prstGeom prst="ellipse">
            <a:avLst/>
          </a:prstGeom>
          <a:solidFill>
            <a:srgbClr val="3FB950"/>
          </a:solidFill>
          <a:ln w="12700">
            <a:solidFill>
              <a:srgbClr val="3FB950"/>
            </a:solidFill>
            <a:prstDash val="solid"/>
          </a:ln>
        </p:spPr>
      </p:sp>
      <p:sp>
        <p:nvSpPr>
          <p:cNvPr id="18" name="Text 16"/>
          <p:cNvSpPr txBox="1"/>
          <p:nvPr/>
        </p:nvSpPr>
        <p:spPr>
          <a:xfrm>
            <a:off x="749808" y="2999232"/>
            <a:ext cx="310896" cy="256032"/>
          </a:xfrm>
          <a:prstGeom prst="rect">
            <a:avLst/>
          </a:prstGeom>
          <a:noFill/>
          <a:ln/>
        </p:spPr>
        <p:txBody>
          <a:bodyPr wrap="square" lIns="0" tIns="0" rIns="0" bIns="0" rtlCol="0" anchor="t"/>
          <a:lstStyle/>
          <a:p>
            <a:pPr algn="ctr" indent="0" marL="0">
              <a:buNone/>
            </a:pPr>
            <a:r>
              <a:rPr lang="en-US" sz="1300" b="1" dirty="0">
                <a:solidFill>
                  <a:srgbClr val="0D1117"/>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170432" y="2962656"/>
            <a:ext cx="4550512"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Materialize the evaluation set</a:t>
            </a:r>
            <a:endParaRPr lang="en-US" sz="1400" dirty="0"/>
          </a:p>
        </p:txBody>
      </p:sp>
      <p:sp>
        <p:nvSpPr>
          <p:cNvPr id="20" name="Text 18"/>
          <p:cNvSpPr txBox="1"/>
          <p:nvPr/>
        </p:nvSpPr>
        <p:spPr>
          <a:xfrm>
            <a:off x="1170432" y="3273552"/>
            <a:ext cx="4550512" cy="676656"/>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The 1,024 evaluation anchors and their fixed mask draws, as a versioned file shipped with each run. This is where materialization pays.</a:t>
            </a:r>
            <a:endParaRPr lang="en-US" sz="1150" dirty="0"/>
          </a:p>
        </p:txBody>
      </p:sp>
      <p:sp>
        <p:nvSpPr>
          <p:cNvPr id="21" name="Shape 19"/>
          <p:cNvSpPr/>
          <p:nvPr/>
        </p:nvSpPr>
        <p:spPr>
          <a:xfrm>
            <a:off x="6233008" y="2779776"/>
            <a:ext cx="5410048" cy="1243584"/>
          </a:xfrm>
          <a:prstGeom prst="roundRect">
            <a:avLst>
              <a:gd name="adj" fmla="val 4412"/>
            </a:avLst>
          </a:prstGeom>
          <a:solidFill>
            <a:srgbClr val="161B22"/>
          </a:solidFill>
          <a:ln w="12700">
            <a:solidFill>
              <a:srgbClr val="30363D"/>
            </a:solidFill>
            <a:prstDash val="solid"/>
          </a:ln>
        </p:spPr>
      </p:sp>
      <p:sp>
        <p:nvSpPr>
          <p:cNvPr id="22" name="Shape 20"/>
          <p:cNvSpPr/>
          <p:nvPr/>
        </p:nvSpPr>
        <p:spPr>
          <a:xfrm>
            <a:off x="6434176" y="2962656"/>
            <a:ext cx="310896" cy="310896"/>
          </a:xfrm>
          <a:prstGeom prst="ellipse">
            <a:avLst/>
          </a:prstGeom>
          <a:solidFill>
            <a:srgbClr val="4493F8"/>
          </a:solidFill>
          <a:ln w="12700">
            <a:solidFill>
              <a:srgbClr val="4493F8"/>
            </a:solidFill>
            <a:prstDash val="solid"/>
          </a:ln>
        </p:spPr>
      </p:sp>
      <p:sp>
        <p:nvSpPr>
          <p:cNvPr id="23" name="Text 21"/>
          <p:cNvSpPr txBox="1"/>
          <p:nvPr/>
        </p:nvSpPr>
        <p:spPr>
          <a:xfrm>
            <a:off x="6434176" y="2999232"/>
            <a:ext cx="310896" cy="256032"/>
          </a:xfrm>
          <a:prstGeom prst="rect">
            <a:avLst/>
          </a:prstGeom>
          <a:noFill/>
          <a:ln/>
        </p:spPr>
        <p:txBody>
          <a:bodyPr wrap="square" lIns="0" tIns="0" rIns="0" bIns="0" rtlCol="0" anchor="t"/>
          <a:lstStyle/>
          <a:p>
            <a:pPr algn="ctr" indent="0" marL="0">
              <a:buNone/>
            </a:pPr>
            <a:r>
              <a:rPr lang="en-US" sz="1300" b="1" dirty="0">
                <a:solidFill>
                  <a:srgbClr val="0D1117"/>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6854800" y="2962656"/>
            <a:ext cx="4550512"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An executable boundary spec</a:t>
            </a:r>
            <a:endParaRPr lang="en-US" sz="1400" dirty="0"/>
          </a:p>
        </p:txBody>
      </p:sp>
      <p:sp>
        <p:nvSpPr>
          <p:cNvPr id="25" name="Text 23"/>
          <p:cNvSpPr txBox="1"/>
          <p:nvPr/>
        </p:nvSpPr>
        <p:spPr>
          <a:xfrm>
            <a:off x="6854800" y="3273552"/>
            <a:ext cx="4550512" cy="676656"/>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Property tests sweeping every edge row and column, both axis ends and every holdout edge; the certificate extended to evaluation anchors behind --eval-scope {anchor, window}.</a:t>
            </a:r>
            <a:endParaRPr lang="en-US" sz="1150" dirty="0"/>
          </a:p>
        </p:txBody>
      </p:sp>
      <p:sp>
        <p:nvSpPr>
          <p:cNvPr id="26" name="Shape 24"/>
          <p:cNvSpPr/>
          <p:nvPr/>
        </p:nvSpPr>
        <p:spPr>
          <a:xfrm>
            <a:off x="548640" y="4114800"/>
            <a:ext cx="5410048" cy="1243584"/>
          </a:xfrm>
          <a:prstGeom prst="roundRect">
            <a:avLst>
              <a:gd name="adj" fmla="val 4412"/>
            </a:avLst>
          </a:prstGeom>
          <a:solidFill>
            <a:srgbClr val="161B22"/>
          </a:solidFill>
          <a:ln w="12700">
            <a:solidFill>
              <a:srgbClr val="30363D"/>
            </a:solidFill>
            <a:prstDash val="solid"/>
          </a:ln>
        </p:spPr>
      </p:sp>
      <p:sp>
        <p:nvSpPr>
          <p:cNvPr id="27" name="Shape 25"/>
          <p:cNvSpPr/>
          <p:nvPr/>
        </p:nvSpPr>
        <p:spPr>
          <a:xfrm>
            <a:off x="749808" y="4297680"/>
            <a:ext cx="310896" cy="310896"/>
          </a:xfrm>
          <a:prstGeom prst="ellipse">
            <a:avLst/>
          </a:prstGeom>
          <a:solidFill>
            <a:srgbClr val="3FB950"/>
          </a:solidFill>
          <a:ln w="12700">
            <a:solidFill>
              <a:srgbClr val="3FB950"/>
            </a:solidFill>
            <a:prstDash val="solid"/>
          </a:ln>
        </p:spPr>
      </p:sp>
      <p:sp>
        <p:nvSpPr>
          <p:cNvPr id="28" name="Text 26"/>
          <p:cNvSpPr txBox="1"/>
          <p:nvPr/>
        </p:nvSpPr>
        <p:spPr>
          <a:xfrm>
            <a:off x="749808" y="4334256"/>
            <a:ext cx="310896" cy="256032"/>
          </a:xfrm>
          <a:prstGeom prst="rect">
            <a:avLst/>
          </a:prstGeom>
          <a:noFill/>
          <a:ln/>
        </p:spPr>
        <p:txBody>
          <a:bodyPr wrap="square" lIns="0" tIns="0" rIns="0" bIns="0" rtlCol="0" anchor="t"/>
          <a:lstStyle/>
          <a:p>
            <a:pPr algn="ctr" indent="0" marL="0">
              <a:buNone/>
            </a:pPr>
            <a:r>
              <a:rPr lang="en-US" sz="1300" b="1" dirty="0">
                <a:solidFill>
                  <a:srgbClr val="0D1117"/>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170432" y="4297680"/>
            <a:ext cx="4550512"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Materialize the observed mask</a:t>
            </a:r>
            <a:endParaRPr lang="en-US" sz="1400" dirty="0"/>
          </a:p>
        </p:txBody>
      </p:sp>
      <p:sp>
        <p:nvSpPr>
          <p:cNvPr id="30" name="Text 28"/>
          <p:cNvSpPr txBox="1"/>
          <p:nvPr/>
        </p:nvSpPr>
        <p:spPr>
          <a:xfrm>
            <a:off x="1170432" y="4608576"/>
            <a:ext cx="4550512" cy="676656"/>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Once per tensor — a 2.2 GB bitmask — and precompute the row tables. Removes the double read and part of the 0.2–0.8 ms.</a:t>
            </a:r>
            <a:endParaRPr lang="en-US" sz="1150" dirty="0"/>
          </a:p>
        </p:txBody>
      </p:sp>
      <p:sp>
        <p:nvSpPr>
          <p:cNvPr id="31" name="Shape 29"/>
          <p:cNvSpPr/>
          <p:nvPr/>
        </p:nvSpPr>
        <p:spPr>
          <a:xfrm>
            <a:off x="6233008" y="4114800"/>
            <a:ext cx="5410048" cy="1243584"/>
          </a:xfrm>
          <a:prstGeom prst="roundRect">
            <a:avLst>
              <a:gd name="adj" fmla="val 4412"/>
            </a:avLst>
          </a:prstGeom>
          <a:solidFill>
            <a:srgbClr val="161B22"/>
          </a:solidFill>
          <a:ln w="12700">
            <a:solidFill>
              <a:srgbClr val="30363D"/>
            </a:solidFill>
            <a:prstDash val="solid"/>
          </a:ln>
        </p:spPr>
      </p:sp>
      <p:sp>
        <p:nvSpPr>
          <p:cNvPr id="32" name="Shape 30"/>
          <p:cNvSpPr/>
          <p:nvPr/>
        </p:nvSpPr>
        <p:spPr>
          <a:xfrm>
            <a:off x="6434176" y="4297680"/>
            <a:ext cx="310896" cy="310896"/>
          </a:xfrm>
          <a:prstGeom prst="ellipse">
            <a:avLst/>
          </a:prstGeom>
          <a:solidFill>
            <a:srgbClr val="E3B341"/>
          </a:solidFill>
          <a:ln w="12700">
            <a:solidFill>
              <a:srgbClr val="E3B341"/>
            </a:solidFill>
            <a:prstDash val="solid"/>
          </a:ln>
        </p:spPr>
      </p:sp>
      <p:sp>
        <p:nvSpPr>
          <p:cNvPr id="33" name="Text 31"/>
          <p:cNvSpPr txBox="1"/>
          <p:nvPr/>
        </p:nvSpPr>
        <p:spPr>
          <a:xfrm>
            <a:off x="6434176" y="4334256"/>
            <a:ext cx="310896" cy="256032"/>
          </a:xfrm>
          <a:prstGeom prst="rect">
            <a:avLst/>
          </a:prstGeom>
          <a:noFill/>
          <a:ln/>
        </p:spPr>
        <p:txBody>
          <a:bodyPr wrap="square" lIns="0" tIns="0" rIns="0" bIns="0" rtlCol="0" anchor="t"/>
          <a:lstStyle/>
          <a:p>
            <a:pPr algn="ctr" indent="0" marL="0">
              <a:buNone/>
            </a:pPr>
            <a:r>
              <a:rPr lang="en-US" sz="1300" b="1" dirty="0">
                <a:solidFill>
                  <a:srgbClr val="0D1117"/>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6854800" y="4297680"/>
            <a:ext cx="4550512"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An escape hatch</a:t>
            </a:r>
            <a:endParaRPr lang="en-US" sz="1400" dirty="0"/>
          </a:p>
        </p:txBody>
      </p:sp>
      <p:sp>
        <p:nvSpPr>
          <p:cNvPr id="35" name="Text 33"/>
          <p:cNvSpPr txBox="1"/>
          <p:nvPr/>
        </p:nvSpPr>
        <p:spPr>
          <a:xfrm>
            <a:off x="6854800" y="4608576"/>
            <a:ext cx="4550512" cy="676656"/>
          </a:xfrm>
          <a:prstGeom prst="rect">
            <a:avLst/>
          </a:prstGeom>
          <a:noFill/>
          <a:ln/>
        </p:spPr>
        <p:txBody>
          <a:bodyPr wrap="square" lIns="0" tIns="0" rIns="0" bIns="0" rtlCol="0" anchor="t"/>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--materialize-stream writes a run’s exact examples (≈ 97 GB) for audits. Never for training.</a:t>
            </a:r>
            <a:endParaRPr lang="en-US" sz="1150" dirty="0"/>
          </a:p>
        </p:txBody>
      </p:sp>
      <p:sp>
        <p:nvSpPr>
          <p:cNvPr id="36" name="Shape 34"/>
          <p:cNvSpPr/>
          <p:nvPr/>
        </p:nvSpPr>
        <p:spPr>
          <a:xfrm>
            <a:off x="548640" y="5577840"/>
            <a:ext cx="11094415" cy="548640"/>
          </a:xfrm>
          <a:prstGeom prst="roundRect">
            <a:avLst>
              <a:gd name="adj" fmla="val 10000"/>
            </a:avLst>
          </a:prstGeom>
          <a:solidFill>
            <a:srgbClr val="11202F"/>
          </a:solidFill>
          <a:ln w="12700">
            <a:solidFill>
              <a:srgbClr val="4493F8"/>
            </a:solidFill>
            <a:prstDash val="solid"/>
          </a:ln>
        </p:spPr>
      </p:sp>
      <p:sp>
        <p:nvSpPr>
          <p:cNvPr id="37" name="Text 35"/>
          <p:cNvSpPr txBox="1"/>
          <p:nvPr/>
        </p:nvSpPr>
        <p:spPr>
          <a:xfrm>
            <a:off x="786384" y="5724144"/>
            <a:ext cx="10618927" cy="292608"/>
          </a:xfrm>
          <a:prstGeom prst="rect">
            <a:avLst/>
          </a:prstGeom>
          <a:noFill/>
          <a:ln/>
        </p:spPr>
        <p:txBody>
          <a:bodyPr wrap="square" lIns="0" tIns="0" rIns="0" bIns="0" rtlCol="0" anchor="t"/>
          <a:lstStyle/>
          <a:p>
            <a:pPr indent="0" marL="0">
              <a:buNone/>
            </a:pPr>
            <a:r>
              <a:rPr lang="en-US" sz="1300" b="1" dirty="0">
                <a:solidFill>
                  <a:srgbClr val="E6EDF3"/>
                </a:solidFill>
                <a:latin typeface="Calibri" pitchFamily="34" charset="0"/>
                <a:ea typeface="Calibri" pitchFamily="34" charset="-122"/>
                <a:cs typeface="Calibri" pitchFamily="34" charset="-120"/>
              </a:rPr>
              <a:t>Cost: about one day of implementation · no change to E-069’s numbers · the evaluation file becomes an artefact.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WHERE THE PROOF LIVES</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Boundary handling under each option</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481328"/>
            <a:ext cx="2331720" cy="475488"/>
          </a:xfrm>
          <a:prstGeom prst="rect">
            <a:avLst/>
          </a:prstGeom>
          <a:solidFill>
            <a:srgbClr val="11202F"/>
          </a:solidFill>
          <a:ln w="9525">
            <a:solidFill>
              <a:srgbClr val="30363D"/>
            </a:solidFill>
            <a:prstDash val="solid"/>
          </a:ln>
        </p:spPr>
      </p:sp>
      <p:sp>
        <p:nvSpPr>
          <p:cNvPr id="7" name="Text 5"/>
          <p:cNvSpPr txBox="1"/>
          <p:nvPr/>
        </p:nvSpPr>
        <p:spPr>
          <a:xfrm>
            <a:off x="694944" y="1618488"/>
            <a:ext cx="2039112" cy="237744"/>
          </a:xfrm>
          <a:prstGeom prst="rect">
            <a:avLst/>
          </a:prstGeom>
          <a:noFill/>
          <a:ln/>
        </p:spPr>
        <p:txBody>
          <a:bodyPr wrap="square" lIns="0" tIns="0" rIns="0" bIns="0" rtlCol="0" anchor="t"/>
          <a:lstStyle/>
          <a:p>
            <a:pPr indent="0" marL="0">
              <a:buNone/>
            </a:pPr>
            <a:r>
              <a:rPr lang="en-US" sz="1050" b="1" spc="100" kern="0" dirty="0">
                <a:solidFill>
                  <a:srgbClr val="4493F8"/>
                </a:solidFill>
                <a:latin typeface="Calibri" pitchFamily="34" charset="0"/>
                <a:ea typeface="Calibri" pitchFamily="34" charset="-122"/>
                <a:cs typeface="Calibri" pitchFamily="34" charset="-120"/>
              </a:rPr>
              <a:t>BOUNDARY</a:t>
            </a:r>
            <a:endParaRPr lang="en-US" sz="1050" dirty="0"/>
          </a:p>
        </p:txBody>
      </p:sp>
      <p:sp>
        <p:nvSpPr>
          <p:cNvPr id="8" name="Shape 6"/>
          <p:cNvSpPr/>
          <p:nvPr/>
        </p:nvSpPr>
        <p:spPr>
          <a:xfrm>
            <a:off x="2880360" y="1481328"/>
            <a:ext cx="2971800" cy="475488"/>
          </a:xfrm>
          <a:prstGeom prst="rect">
            <a:avLst/>
          </a:prstGeom>
          <a:solidFill>
            <a:srgbClr val="11202F"/>
          </a:solidFill>
          <a:ln w="9525">
            <a:solidFill>
              <a:srgbClr val="30363D"/>
            </a:solidFill>
            <a:prstDash val="solid"/>
          </a:ln>
        </p:spPr>
      </p:sp>
      <p:sp>
        <p:nvSpPr>
          <p:cNvPr id="9" name="Text 7"/>
          <p:cNvSpPr txBox="1"/>
          <p:nvPr/>
        </p:nvSpPr>
        <p:spPr>
          <a:xfrm>
            <a:off x="3026664" y="1618488"/>
            <a:ext cx="2679192" cy="237744"/>
          </a:xfrm>
          <a:prstGeom prst="rect">
            <a:avLst/>
          </a:prstGeom>
          <a:noFill/>
          <a:ln/>
        </p:spPr>
        <p:txBody>
          <a:bodyPr wrap="square" lIns="0" tIns="0" rIns="0" bIns="0" rtlCol="0" anchor="t"/>
          <a:lstStyle/>
          <a:p>
            <a:pPr indent="0" marL="0">
              <a:buNone/>
            </a:pPr>
            <a:r>
              <a:rPr lang="en-US" sz="1050" b="1" spc="100" kern="0" dirty="0">
                <a:solidFill>
                  <a:srgbClr val="4493F8"/>
                </a:solidFill>
                <a:latin typeface="Calibri" pitchFamily="34" charset="0"/>
                <a:ea typeface="Calibri" pitchFamily="34" charset="-122"/>
                <a:cs typeface="Calibri" pitchFamily="34" charset="-120"/>
              </a:rPr>
              <a:t>ENFORCED TODAY</a:t>
            </a:r>
            <a:endParaRPr lang="en-US" sz="1050" dirty="0"/>
          </a:p>
        </p:txBody>
      </p:sp>
      <p:sp>
        <p:nvSpPr>
          <p:cNvPr id="10" name="Shape 8"/>
          <p:cNvSpPr/>
          <p:nvPr/>
        </p:nvSpPr>
        <p:spPr>
          <a:xfrm>
            <a:off x="5852160" y="1481328"/>
            <a:ext cx="2834640" cy="475488"/>
          </a:xfrm>
          <a:prstGeom prst="rect">
            <a:avLst/>
          </a:prstGeom>
          <a:solidFill>
            <a:srgbClr val="11202F"/>
          </a:solidFill>
          <a:ln w="9525">
            <a:solidFill>
              <a:srgbClr val="30363D"/>
            </a:solidFill>
            <a:prstDash val="solid"/>
          </a:ln>
        </p:spPr>
      </p:sp>
      <p:sp>
        <p:nvSpPr>
          <p:cNvPr id="11" name="Text 9"/>
          <p:cNvSpPr txBox="1"/>
          <p:nvPr/>
        </p:nvSpPr>
        <p:spPr>
          <a:xfrm>
            <a:off x="5998464" y="1618488"/>
            <a:ext cx="2542032" cy="237744"/>
          </a:xfrm>
          <a:prstGeom prst="rect">
            <a:avLst/>
          </a:prstGeom>
          <a:noFill/>
          <a:ln/>
        </p:spPr>
        <p:txBody>
          <a:bodyPr wrap="square" lIns="0" tIns="0" rIns="0" bIns="0" rtlCol="0" anchor="t"/>
          <a:lstStyle/>
          <a:p>
            <a:pPr indent="0" marL="0">
              <a:buNone/>
            </a:pPr>
            <a:r>
              <a:rPr lang="en-US" sz="1050" b="1" spc="100" kern="0" dirty="0">
                <a:solidFill>
                  <a:srgbClr val="4493F8"/>
                </a:solidFill>
                <a:latin typeface="Calibri" pitchFamily="34" charset="0"/>
                <a:ea typeface="Calibri" pitchFamily="34" charset="-122"/>
                <a:cs typeface="Calibri" pitchFamily="34" charset="-120"/>
              </a:rPr>
              <a:t>UNDER OPTION 2</a:t>
            </a:r>
            <a:endParaRPr lang="en-US" sz="1050" dirty="0"/>
          </a:p>
        </p:txBody>
      </p:sp>
      <p:sp>
        <p:nvSpPr>
          <p:cNvPr id="12" name="Shape 10"/>
          <p:cNvSpPr/>
          <p:nvPr/>
        </p:nvSpPr>
        <p:spPr>
          <a:xfrm>
            <a:off x="8686800" y="1481328"/>
            <a:ext cx="2956255" cy="475488"/>
          </a:xfrm>
          <a:prstGeom prst="rect">
            <a:avLst/>
          </a:prstGeom>
          <a:solidFill>
            <a:srgbClr val="11202F"/>
          </a:solidFill>
          <a:ln w="9525">
            <a:solidFill>
              <a:srgbClr val="30363D"/>
            </a:solidFill>
            <a:prstDash val="solid"/>
          </a:ln>
        </p:spPr>
      </p:sp>
      <p:sp>
        <p:nvSpPr>
          <p:cNvPr id="13" name="Text 11"/>
          <p:cNvSpPr txBox="1"/>
          <p:nvPr/>
        </p:nvSpPr>
        <p:spPr>
          <a:xfrm>
            <a:off x="8833104" y="1618488"/>
            <a:ext cx="2663647" cy="237744"/>
          </a:xfrm>
          <a:prstGeom prst="rect">
            <a:avLst/>
          </a:prstGeom>
          <a:noFill/>
          <a:ln/>
        </p:spPr>
        <p:txBody>
          <a:bodyPr wrap="square" lIns="0" tIns="0" rIns="0" bIns="0" rtlCol="0" anchor="t"/>
          <a:lstStyle/>
          <a:p>
            <a:pPr indent="0" marL="0">
              <a:buNone/>
            </a:pPr>
            <a:r>
              <a:rPr lang="en-US" sz="1050" b="1" spc="100" kern="0" dirty="0">
                <a:solidFill>
                  <a:srgbClr val="4493F8"/>
                </a:solidFill>
                <a:latin typeface="Calibri" pitchFamily="34" charset="0"/>
                <a:ea typeface="Calibri" pitchFamily="34" charset="-122"/>
                <a:cs typeface="Calibri" pitchFamily="34" charset="-120"/>
              </a:rPr>
              <a:t>HOW IT IS PROVEN</a:t>
            </a:r>
            <a:endParaRPr lang="en-US" sz="1050" dirty="0"/>
          </a:p>
        </p:txBody>
      </p:sp>
      <p:sp>
        <p:nvSpPr>
          <p:cNvPr id="14" name="Shape 12"/>
          <p:cNvSpPr/>
          <p:nvPr/>
        </p:nvSpPr>
        <p:spPr>
          <a:xfrm>
            <a:off x="548640" y="2002536"/>
            <a:ext cx="2331720" cy="658368"/>
          </a:xfrm>
          <a:prstGeom prst="rect">
            <a:avLst/>
          </a:prstGeom>
          <a:solidFill>
            <a:srgbClr val="161B22"/>
          </a:solidFill>
          <a:ln w="9525">
            <a:solidFill>
              <a:srgbClr val="30363D"/>
            </a:solidFill>
            <a:prstDash val="solid"/>
          </a:ln>
        </p:spPr>
      </p:sp>
      <p:sp>
        <p:nvSpPr>
          <p:cNvPr id="15" name="Text 13"/>
          <p:cNvSpPr txBox="1"/>
          <p:nvPr/>
        </p:nvSpPr>
        <p:spPr>
          <a:xfrm>
            <a:off x="694944" y="2075688"/>
            <a:ext cx="2039112" cy="512064"/>
          </a:xfrm>
          <a:prstGeom prst="rect">
            <a:avLst/>
          </a:prstGeom>
          <a:noFill/>
          <a:ln/>
        </p:spPr>
        <p:txBody>
          <a:bodyPr wrap="square" lIns="0" tIns="0" rIns="0" bIns="0" rtlCol="0" anchor="ctr"/>
          <a:lstStyle/>
          <a:p>
            <a:pPr indent="0" marL="0">
              <a:lnSpc>
                <a:spcPts val="1500"/>
              </a:lnSpc>
              <a:buNone/>
            </a:pPr>
            <a:r>
              <a:rPr lang="en-US" sz="1150" b="1" dirty="0">
                <a:solidFill>
                  <a:srgbClr val="E6EDF3"/>
                </a:solidFill>
                <a:latin typeface="Calibri" pitchFamily="34" charset="0"/>
                <a:ea typeface="Calibri" pitchFamily="34" charset="-122"/>
                <a:cs typeface="Calibri" pitchFamily="34" charset="-120"/>
              </a:rPr>
              <a:t>time / held-out years</a:t>
            </a:r>
            <a:endParaRPr lang="en-US" sz="1150" dirty="0"/>
          </a:p>
        </p:txBody>
      </p:sp>
      <p:sp>
        <p:nvSpPr>
          <p:cNvPr id="16" name="Shape 14"/>
          <p:cNvSpPr/>
          <p:nvPr/>
        </p:nvSpPr>
        <p:spPr>
          <a:xfrm>
            <a:off x="2880360" y="2002536"/>
            <a:ext cx="2971800" cy="658368"/>
          </a:xfrm>
          <a:prstGeom prst="rect">
            <a:avLst/>
          </a:prstGeom>
          <a:solidFill>
            <a:srgbClr val="161B22"/>
          </a:solidFill>
          <a:ln w="9525">
            <a:solidFill>
              <a:srgbClr val="30363D"/>
            </a:solidFill>
            <a:prstDash val="solid"/>
          </a:ln>
        </p:spPr>
      </p:sp>
      <p:sp>
        <p:nvSpPr>
          <p:cNvPr id="17" name="Text 15"/>
          <p:cNvSpPr txBox="1"/>
          <p:nvPr/>
        </p:nvSpPr>
        <p:spPr>
          <a:xfrm>
            <a:off x="3026664" y="2075688"/>
            <a:ext cx="267919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the admissibility rule in the sampler</a:t>
            </a:r>
            <a:endParaRPr lang="en-US" sz="1150" dirty="0"/>
          </a:p>
        </p:txBody>
      </p:sp>
      <p:sp>
        <p:nvSpPr>
          <p:cNvPr id="18" name="Shape 16"/>
          <p:cNvSpPr/>
          <p:nvPr/>
        </p:nvSpPr>
        <p:spPr>
          <a:xfrm>
            <a:off x="5852160" y="2002536"/>
            <a:ext cx="2834640" cy="658368"/>
          </a:xfrm>
          <a:prstGeom prst="rect">
            <a:avLst/>
          </a:prstGeom>
          <a:solidFill>
            <a:srgbClr val="161B22"/>
          </a:solidFill>
          <a:ln w="9525">
            <a:solidFill>
              <a:srgbClr val="30363D"/>
            </a:solidFill>
            <a:prstDash val="solid"/>
          </a:ln>
        </p:spPr>
      </p:sp>
      <p:sp>
        <p:nvSpPr>
          <p:cNvPr id="19" name="Text 17"/>
          <p:cNvSpPr txBox="1"/>
          <p:nvPr/>
        </p:nvSpPr>
        <p:spPr>
          <a:xfrm>
            <a:off x="5998464" y="2075688"/>
            <a:ext cx="254203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a filter at build time</a:t>
            </a:r>
            <a:endParaRPr lang="en-US" sz="1150" dirty="0"/>
          </a:p>
        </p:txBody>
      </p:sp>
      <p:sp>
        <p:nvSpPr>
          <p:cNvPr id="20" name="Shape 18"/>
          <p:cNvSpPr/>
          <p:nvPr/>
        </p:nvSpPr>
        <p:spPr>
          <a:xfrm>
            <a:off x="8686800" y="2002536"/>
            <a:ext cx="2956255" cy="658368"/>
          </a:xfrm>
          <a:prstGeom prst="rect">
            <a:avLst/>
          </a:prstGeom>
          <a:solidFill>
            <a:srgbClr val="161B22"/>
          </a:solidFill>
          <a:ln w="9525">
            <a:solidFill>
              <a:srgbClr val="30363D"/>
            </a:solidFill>
            <a:prstDash val="solid"/>
          </a:ln>
        </p:spPr>
      </p:sp>
      <p:sp>
        <p:nvSpPr>
          <p:cNvPr id="21" name="Text 19"/>
          <p:cNvSpPr txBox="1"/>
          <p:nvPr/>
        </p:nvSpPr>
        <p:spPr>
          <a:xfrm>
            <a:off x="8833104" y="2075688"/>
            <a:ext cx="2663647" cy="512064"/>
          </a:xfrm>
          <a:prstGeom prst="rect">
            <a:avLst/>
          </a:prstGeom>
          <a:noFill/>
          <a:ln/>
        </p:spPr>
        <p:txBody>
          <a:bodyPr wrap="square" lIns="0" tIns="0" rIns="0" bIns="0" rtlCol="0" anchor="ctr"/>
          <a:lstStyle/>
          <a:p>
            <a:pPr indent="0" marL="0">
              <a:lnSpc>
                <a:spcPts val="1500"/>
              </a:lnSpc>
              <a:buNone/>
            </a:pPr>
            <a:r>
              <a:rPr lang="en-US" sz="1150" dirty="0">
                <a:solidFill>
                  <a:srgbClr val="BFD4EE"/>
                </a:solidFill>
                <a:latin typeface="Calibri" pitchFamily="34" charset="0"/>
                <a:ea typeface="Calibri" pitchFamily="34" charset="-122"/>
                <a:cs typeface="Calibri" pitchFamily="34" charset="-120"/>
              </a:rPr>
              <a:t>certificate over 4,096 anchors, before every run</a:t>
            </a:r>
            <a:endParaRPr lang="en-US" sz="1150" dirty="0"/>
          </a:p>
        </p:txBody>
      </p:sp>
      <p:sp>
        <p:nvSpPr>
          <p:cNvPr id="22" name="Shape 20"/>
          <p:cNvSpPr/>
          <p:nvPr/>
        </p:nvSpPr>
        <p:spPr>
          <a:xfrm>
            <a:off x="548640" y="2706624"/>
            <a:ext cx="2331720" cy="658368"/>
          </a:xfrm>
          <a:prstGeom prst="rect">
            <a:avLst/>
          </a:prstGeom>
          <a:solidFill>
            <a:srgbClr val="11161D"/>
          </a:solidFill>
          <a:ln w="9525">
            <a:solidFill>
              <a:srgbClr val="30363D"/>
            </a:solidFill>
            <a:prstDash val="solid"/>
          </a:ln>
        </p:spPr>
      </p:sp>
      <p:sp>
        <p:nvSpPr>
          <p:cNvPr id="23" name="Text 21"/>
          <p:cNvSpPr txBox="1"/>
          <p:nvPr/>
        </p:nvSpPr>
        <p:spPr>
          <a:xfrm>
            <a:off x="694944" y="2779776"/>
            <a:ext cx="2039112" cy="512064"/>
          </a:xfrm>
          <a:prstGeom prst="rect">
            <a:avLst/>
          </a:prstGeom>
          <a:noFill/>
          <a:ln/>
        </p:spPr>
        <p:txBody>
          <a:bodyPr wrap="square" lIns="0" tIns="0" rIns="0" bIns="0" rtlCol="0" anchor="ctr"/>
          <a:lstStyle/>
          <a:p>
            <a:pPr indent="0" marL="0">
              <a:lnSpc>
                <a:spcPts val="1500"/>
              </a:lnSpc>
              <a:buNone/>
            </a:pPr>
            <a:r>
              <a:rPr lang="en-US" sz="1150" b="1" dirty="0">
                <a:solidFill>
                  <a:srgbClr val="E6EDF3"/>
                </a:solidFill>
                <a:latin typeface="Calibri" pitchFamily="34" charset="0"/>
                <a:ea typeface="Calibri" pitchFamily="34" charset="-122"/>
                <a:cs typeface="Calibri" pitchFamily="34" charset="-120"/>
              </a:rPr>
              <a:t>window edge</a:t>
            </a:r>
            <a:endParaRPr lang="en-US" sz="1150" dirty="0"/>
          </a:p>
        </p:txBody>
      </p:sp>
      <p:sp>
        <p:nvSpPr>
          <p:cNvPr id="24" name="Shape 22"/>
          <p:cNvSpPr/>
          <p:nvPr/>
        </p:nvSpPr>
        <p:spPr>
          <a:xfrm>
            <a:off x="2880360" y="2706624"/>
            <a:ext cx="2971800" cy="658368"/>
          </a:xfrm>
          <a:prstGeom prst="rect">
            <a:avLst/>
          </a:prstGeom>
          <a:solidFill>
            <a:srgbClr val="11161D"/>
          </a:solidFill>
          <a:ln w="9525">
            <a:solidFill>
              <a:srgbClr val="30363D"/>
            </a:solidFill>
            <a:prstDash val="solid"/>
          </a:ln>
        </p:spPr>
      </p:sp>
      <p:sp>
        <p:nvSpPr>
          <p:cNvPr id="25" name="Text 23"/>
          <p:cNvSpPr txBox="1"/>
          <p:nvPr/>
        </p:nvSpPr>
        <p:spPr>
          <a:xfrm>
            <a:off x="3026664" y="2779776"/>
            <a:ext cx="267919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dot kept, valid = false; one key-padding mask</a:t>
            </a:r>
            <a:endParaRPr lang="en-US" sz="1150" dirty="0"/>
          </a:p>
        </p:txBody>
      </p:sp>
      <p:sp>
        <p:nvSpPr>
          <p:cNvPr id="26" name="Shape 24"/>
          <p:cNvSpPr/>
          <p:nvPr/>
        </p:nvSpPr>
        <p:spPr>
          <a:xfrm>
            <a:off x="5852160" y="2706624"/>
            <a:ext cx="2834640" cy="658368"/>
          </a:xfrm>
          <a:prstGeom prst="rect">
            <a:avLst/>
          </a:prstGeom>
          <a:solidFill>
            <a:srgbClr val="11161D"/>
          </a:solidFill>
          <a:ln w="9525">
            <a:solidFill>
              <a:srgbClr val="30363D"/>
            </a:solidFill>
            <a:prstDash val="solid"/>
          </a:ln>
        </p:spPr>
      </p:sp>
      <p:sp>
        <p:nvSpPr>
          <p:cNvPr id="27" name="Text 25"/>
          <p:cNvSpPr txBox="1"/>
          <p:nvPr/>
        </p:nvSpPr>
        <p:spPr>
          <a:xfrm>
            <a:off x="5998464" y="2779776"/>
            <a:ext cx="254203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a flag baked into each stored example</a:t>
            </a:r>
            <a:endParaRPr lang="en-US" sz="1150" dirty="0"/>
          </a:p>
        </p:txBody>
      </p:sp>
      <p:sp>
        <p:nvSpPr>
          <p:cNvPr id="28" name="Shape 26"/>
          <p:cNvSpPr/>
          <p:nvPr/>
        </p:nvSpPr>
        <p:spPr>
          <a:xfrm>
            <a:off x="8686800" y="2706624"/>
            <a:ext cx="2956255" cy="658368"/>
          </a:xfrm>
          <a:prstGeom prst="rect">
            <a:avLst/>
          </a:prstGeom>
          <a:solidFill>
            <a:srgbClr val="11161D"/>
          </a:solidFill>
          <a:ln w="9525">
            <a:solidFill>
              <a:srgbClr val="30363D"/>
            </a:solidFill>
            <a:prstDash val="solid"/>
          </a:ln>
        </p:spPr>
      </p:sp>
      <p:sp>
        <p:nvSpPr>
          <p:cNvPr id="29" name="Text 27"/>
          <p:cNvSpPr txBox="1"/>
          <p:nvPr/>
        </p:nvSpPr>
        <p:spPr>
          <a:xfrm>
            <a:off x="8833104" y="2779776"/>
            <a:ext cx="2663647" cy="512064"/>
          </a:xfrm>
          <a:prstGeom prst="rect">
            <a:avLst/>
          </a:prstGeom>
          <a:noFill/>
          <a:ln/>
        </p:spPr>
        <p:txBody>
          <a:bodyPr wrap="square" lIns="0" tIns="0" rIns="0" bIns="0" rtlCol="0" anchor="ctr"/>
          <a:lstStyle/>
          <a:p>
            <a:pPr indent="0" marL="0">
              <a:lnSpc>
                <a:spcPts val="1500"/>
              </a:lnSpc>
              <a:buNone/>
            </a:pPr>
            <a:r>
              <a:rPr lang="en-US" sz="1150" dirty="0">
                <a:solidFill>
                  <a:srgbClr val="BFD4EE"/>
                </a:solidFill>
                <a:latin typeface="Calibri" pitchFamily="34" charset="0"/>
                <a:ea typeface="Calibri" pitchFamily="34" charset="-122"/>
                <a:cs typeface="Calibri" pitchFamily="34" charset="-120"/>
              </a:rPr>
              <a:t>test: flip an invalid dot, embedding is bit-identical</a:t>
            </a:r>
            <a:endParaRPr lang="en-US" sz="1150" dirty="0"/>
          </a:p>
        </p:txBody>
      </p:sp>
      <p:sp>
        <p:nvSpPr>
          <p:cNvPr id="30" name="Shape 28"/>
          <p:cNvSpPr/>
          <p:nvPr/>
        </p:nvSpPr>
        <p:spPr>
          <a:xfrm>
            <a:off x="548640" y="3410712"/>
            <a:ext cx="2331720" cy="658368"/>
          </a:xfrm>
          <a:prstGeom prst="rect">
            <a:avLst/>
          </a:prstGeom>
          <a:solidFill>
            <a:srgbClr val="161B22"/>
          </a:solidFill>
          <a:ln w="9525">
            <a:solidFill>
              <a:srgbClr val="30363D"/>
            </a:solidFill>
            <a:prstDash val="solid"/>
          </a:ln>
        </p:spPr>
      </p:sp>
      <p:sp>
        <p:nvSpPr>
          <p:cNvPr id="31" name="Text 29"/>
          <p:cNvSpPr txBox="1"/>
          <p:nvPr/>
        </p:nvSpPr>
        <p:spPr>
          <a:xfrm>
            <a:off x="694944" y="3483864"/>
            <a:ext cx="2039112" cy="512064"/>
          </a:xfrm>
          <a:prstGeom prst="rect">
            <a:avLst/>
          </a:prstGeom>
          <a:noFill/>
          <a:ln/>
        </p:spPr>
        <p:txBody>
          <a:bodyPr wrap="square" lIns="0" tIns="0" rIns="0" bIns="0" rtlCol="0" anchor="ctr"/>
          <a:lstStyle/>
          <a:p>
            <a:pPr indent="0" marL="0">
              <a:lnSpc>
                <a:spcPts val="1500"/>
              </a:lnSpc>
              <a:buNone/>
            </a:pPr>
            <a:r>
              <a:rPr lang="en-US" sz="1150" b="1" dirty="0">
                <a:solidFill>
                  <a:srgbClr val="E6EDF3"/>
                </a:solidFill>
                <a:latin typeface="Calibri" pitchFamily="34" charset="0"/>
                <a:ea typeface="Calibri" pitchFamily="34" charset="-122"/>
                <a:cs typeface="Calibri" pitchFamily="34" charset="-120"/>
              </a:rPr>
              <a:t>land / never observed</a:t>
            </a:r>
            <a:endParaRPr lang="en-US" sz="1150" dirty="0"/>
          </a:p>
        </p:txBody>
      </p:sp>
      <p:sp>
        <p:nvSpPr>
          <p:cNvPr id="32" name="Shape 30"/>
          <p:cNvSpPr/>
          <p:nvPr/>
        </p:nvSpPr>
        <p:spPr>
          <a:xfrm>
            <a:off x="2880360" y="3410712"/>
            <a:ext cx="2971800" cy="658368"/>
          </a:xfrm>
          <a:prstGeom prst="rect">
            <a:avLst/>
          </a:prstGeom>
          <a:solidFill>
            <a:srgbClr val="161B22"/>
          </a:solidFill>
          <a:ln w="9525">
            <a:solidFill>
              <a:srgbClr val="30363D"/>
            </a:solidFill>
            <a:prstDash val="solid"/>
          </a:ln>
        </p:spPr>
      </p:sp>
      <p:sp>
        <p:nvSpPr>
          <p:cNvPr id="33" name="Text 31"/>
          <p:cNvSpPr txBox="1"/>
          <p:nvPr/>
        </p:nvSpPr>
        <p:spPr>
          <a:xfrm>
            <a:off x="3026664" y="3483864"/>
            <a:ext cx="267919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the missing token, at gather time</a:t>
            </a:r>
            <a:endParaRPr lang="en-US" sz="1150" dirty="0"/>
          </a:p>
        </p:txBody>
      </p:sp>
      <p:sp>
        <p:nvSpPr>
          <p:cNvPr id="34" name="Shape 32"/>
          <p:cNvSpPr/>
          <p:nvPr/>
        </p:nvSpPr>
        <p:spPr>
          <a:xfrm>
            <a:off x="5852160" y="3410712"/>
            <a:ext cx="2834640" cy="658368"/>
          </a:xfrm>
          <a:prstGeom prst="rect">
            <a:avLst/>
          </a:prstGeom>
          <a:solidFill>
            <a:srgbClr val="161B22"/>
          </a:solidFill>
          <a:ln w="9525">
            <a:solidFill>
              <a:srgbClr val="30363D"/>
            </a:solidFill>
            <a:prstDash val="solid"/>
          </a:ln>
        </p:spPr>
      </p:sp>
      <p:sp>
        <p:nvSpPr>
          <p:cNvPr id="35" name="Text 33"/>
          <p:cNvSpPr txBox="1"/>
          <p:nvPr/>
        </p:nvSpPr>
        <p:spPr>
          <a:xfrm>
            <a:off x="5998464" y="3483864"/>
            <a:ext cx="254203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a missing flag written once at build</a:t>
            </a:r>
            <a:endParaRPr lang="en-US" sz="1150" dirty="0"/>
          </a:p>
        </p:txBody>
      </p:sp>
      <p:sp>
        <p:nvSpPr>
          <p:cNvPr id="36" name="Shape 34"/>
          <p:cNvSpPr/>
          <p:nvPr/>
        </p:nvSpPr>
        <p:spPr>
          <a:xfrm>
            <a:off x="8686800" y="3410712"/>
            <a:ext cx="2956255" cy="658368"/>
          </a:xfrm>
          <a:prstGeom prst="rect">
            <a:avLst/>
          </a:prstGeom>
          <a:solidFill>
            <a:srgbClr val="161B22"/>
          </a:solidFill>
          <a:ln w="9525">
            <a:solidFill>
              <a:srgbClr val="30363D"/>
            </a:solidFill>
            <a:prstDash val="solid"/>
          </a:ln>
        </p:spPr>
      </p:sp>
      <p:sp>
        <p:nvSpPr>
          <p:cNvPr id="37" name="Text 35"/>
          <p:cNvSpPr txBox="1"/>
          <p:nvPr/>
        </p:nvSpPr>
        <p:spPr>
          <a:xfrm>
            <a:off x="8833104" y="3483864"/>
            <a:ext cx="2663647" cy="512064"/>
          </a:xfrm>
          <a:prstGeom prst="rect">
            <a:avLst/>
          </a:prstGeom>
          <a:noFill/>
          <a:ln/>
        </p:spPr>
        <p:txBody>
          <a:bodyPr wrap="square" lIns="0" tIns="0" rIns="0" bIns="0" rtlCol="0" anchor="ctr"/>
          <a:lstStyle/>
          <a:p>
            <a:pPr indent="0" marL="0">
              <a:lnSpc>
                <a:spcPts val="1500"/>
              </a:lnSpc>
              <a:buNone/>
            </a:pPr>
            <a:r>
              <a:rPr lang="en-US" sz="1150" dirty="0">
                <a:solidFill>
                  <a:srgbClr val="BFD4EE"/>
                </a:solidFill>
                <a:latin typeface="Calibri" pitchFamily="34" charset="0"/>
                <a:ea typeface="Calibri" pitchFamily="34" charset="-122"/>
                <a:cs typeface="Calibri" pitchFamily="34" charset="-120"/>
              </a:rPr>
              <a:t>by construction, plus gather tests</a:t>
            </a:r>
            <a:endParaRPr lang="en-US" sz="1150" dirty="0"/>
          </a:p>
        </p:txBody>
      </p:sp>
      <p:sp>
        <p:nvSpPr>
          <p:cNvPr id="38" name="Shape 36"/>
          <p:cNvSpPr/>
          <p:nvPr/>
        </p:nvSpPr>
        <p:spPr>
          <a:xfrm>
            <a:off x="548640" y="4114800"/>
            <a:ext cx="2331720" cy="658368"/>
          </a:xfrm>
          <a:prstGeom prst="rect">
            <a:avLst/>
          </a:prstGeom>
          <a:solidFill>
            <a:srgbClr val="11161D"/>
          </a:solidFill>
          <a:ln w="9525">
            <a:solidFill>
              <a:srgbClr val="30363D"/>
            </a:solidFill>
            <a:prstDash val="solid"/>
          </a:ln>
        </p:spPr>
      </p:sp>
      <p:sp>
        <p:nvSpPr>
          <p:cNvPr id="39" name="Text 37"/>
          <p:cNvSpPr txBox="1"/>
          <p:nvPr/>
        </p:nvSpPr>
        <p:spPr>
          <a:xfrm>
            <a:off x="694944" y="4187952"/>
            <a:ext cx="2039112" cy="512064"/>
          </a:xfrm>
          <a:prstGeom prst="rect">
            <a:avLst/>
          </a:prstGeom>
          <a:noFill/>
          <a:ln/>
        </p:spPr>
        <p:txBody>
          <a:bodyPr wrap="square" lIns="0" tIns="0" rIns="0" bIns="0" rtlCol="0" anchor="ctr"/>
          <a:lstStyle/>
          <a:p>
            <a:pPr indent="0" marL="0">
              <a:lnSpc>
                <a:spcPts val="1500"/>
              </a:lnSpc>
              <a:buNone/>
            </a:pPr>
            <a:r>
              <a:rPr lang="en-US" sz="1150" b="1" dirty="0">
                <a:solidFill>
                  <a:srgbClr val="E6EDF3"/>
                </a:solidFill>
                <a:latin typeface="Calibri" pitchFamily="34" charset="0"/>
                <a:ea typeface="Calibri" pitchFamily="34" charset="-122"/>
                <a:cs typeface="Calibri" pitchFamily="34" charset="-120"/>
              </a:rPr>
              <a:t>dateline / wrap</a:t>
            </a:r>
            <a:endParaRPr lang="en-US" sz="1150" dirty="0"/>
          </a:p>
        </p:txBody>
      </p:sp>
      <p:sp>
        <p:nvSpPr>
          <p:cNvPr id="40" name="Shape 38"/>
          <p:cNvSpPr/>
          <p:nvPr/>
        </p:nvSpPr>
        <p:spPr>
          <a:xfrm>
            <a:off x="2880360" y="4114800"/>
            <a:ext cx="2971800" cy="658368"/>
          </a:xfrm>
          <a:prstGeom prst="rect">
            <a:avLst/>
          </a:prstGeom>
          <a:solidFill>
            <a:srgbClr val="11161D"/>
          </a:solidFill>
          <a:ln w="9525">
            <a:solidFill>
              <a:srgbClr val="30363D"/>
            </a:solidFill>
            <a:prstDash val="solid"/>
          </a:ln>
        </p:spPr>
      </p:sp>
      <p:sp>
        <p:nvSpPr>
          <p:cNvPr id="41" name="Text 39"/>
          <p:cNvSpPr txBox="1"/>
          <p:nvPr/>
        </p:nvSpPr>
        <p:spPr>
          <a:xfrm>
            <a:off x="3026664" y="4187952"/>
            <a:ext cx="267919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no wrap; E-070 will wrap — a 10-line change</a:t>
            </a:r>
            <a:endParaRPr lang="en-US" sz="1150" dirty="0"/>
          </a:p>
        </p:txBody>
      </p:sp>
      <p:sp>
        <p:nvSpPr>
          <p:cNvPr id="42" name="Shape 40"/>
          <p:cNvSpPr/>
          <p:nvPr/>
        </p:nvSpPr>
        <p:spPr>
          <a:xfrm>
            <a:off x="5852160" y="4114800"/>
            <a:ext cx="2834640" cy="658368"/>
          </a:xfrm>
          <a:prstGeom prst="rect">
            <a:avLst/>
          </a:prstGeom>
          <a:solidFill>
            <a:srgbClr val="11161D"/>
          </a:solidFill>
          <a:ln w="9525">
            <a:solidFill>
              <a:srgbClr val="30363D"/>
            </a:solidFill>
            <a:prstDash val="solid"/>
          </a:ln>
        </p:spPr>
      </p:sp>
      <p:sp>
        <p:nvSpPr>
          <p:cNvPr id="43" name="Text 41"/>
          <p:cNvSpPr txBox="1"/>
          <p:nvPr/>
        </p:nvSpPr>
        <p:spPr>
          <a:xfrm>
            <a:off x="5998464" y="4187952"/>
            <a:ext cx="254203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a full rebuild of every byte</a:t>
            </a:r>
            <a:endParaRPr lang="en-US" sz="1150" dirty="0"/>
          </a:p>
        </p:txBody>
      </p:sp>
      <p:sp>
        <p:nvSpPr>
          <p:cNvPr id="44" name="Shape 42"/>
          <p:cNvSpPr/>
          <p:nvPr/>
        </p:nvSpPr>
        <p:spPr>
          <a:xfrm>
            <a:off x="8686800" y="4114800"/>
            <a:ext cx="2956255" cy="658368"/>
          </a:xfrm>
          <a:prstGeom prst="rect">
            <a:avLst/>
          </a:prstGeom>
          <a:solidFill>
            <a:srgbClr val="11161D"/>
          </a:solidFill>
          <a:ln w="9525">
            <a:solidFill>
              <a:srgbClr val="30363D"/>
            </a:solidFill>
            <a:prstDash val="solid"/>
          </a:ln>
        </p:spPr>
      </p:sp>
      <p:sp>
        <p:nvSpPr>
          <p:cNvPr id="45" name="Text 43"/>
          <p:cNvSpPr txBox="1"/>
          <p:nvPr/>
        </p:nvSpPr>
        <p:spPr>
          <a:xfrm>
            <a:off x="8833104" y="4187952"/>
            <a:ext cx="2663647" cy="512064"/>
          </a:xfrm>
          <a:prstGeom prst="rect">
            <a:avLst/>
          </a:prstGeom>
          <a:noFill/>
          <a:ln/>
        </p:spPr>
        <p:txBody>
          <a:bodyPr wrap="square" lIns="0" tIns="0" rIns="0" bIns="0" rtlCol="0" anchor="ctr"/>
          <a:lstStyle/>
          <a:p>
            <a:pPr indent="0" marL="0">
              <a:lnSpc>
                <a:spcPts val="1500"/>
              </a:lnSpc>
              <a:buNone/>
            </a:pPr>
            <a:r>
              <a:rPr lang="en-US" sz="1150" dirty="0">
                <a:solidFill>
                  <a:srgbClr val="BFD4EE"/>
                </a:solidFill>
                <a:latin typeface="Calibri" pitchFamily="34" charset="0"/>
                <a:ea typeface="Calibri" pitchFamily="34" charset="-122"/>
                <a:cs typeface="Calibri" pitchFamily="34" charset="-120"/>
              </a:rPr>
              <a:t>geometry test (planned)</a:t>
            </a:r>
            <a:endParaRPr lang="en-US" sz="1150" dirty="0"/>
          </a:p>
        </p:txBody>
      </p:sp>
      <p:sp>
        <p:nvSpPr>
          <p:cNvPr id="46" name="Shape 44"/>
          <p:cNvSpPr/>
          <p:nvPr/>
        </p:nvSpPr>
        <p:spPr>
          <a:xfrm>
            <a:off x="548640" y="4818888"/>
            <a:ext cx="2331720" cy="658368"/>
          </a:xfrm>
          <a:prstGeom prst="rect">
            <a:avLst/>
          </a:prstGeom>
          <a:solidFill>
            <a:srgbClr val="161B22"/>
          </a:solidFill>
          <a:ln w="9525">
            <a:solidFill>
              <a:srgbClr val="30363D"/>
            </a:solidFill>
            <a:prstDash val="solid"/>
          </a:ln>
        </p:spPr>
      </p:sp>
      <p:sp>
        <p:nvSpPr>
          <p:cNvPr id="47" name="Text 45"/>
          <p:cNvSpPr txBox="1"/>
          <p:nvPr/>
        </p:nvSpPr>
        <p:spPr>
          <a:xfrm>
            <a:off x="694944" y="4892040"/>
            <a:ext cx="2039112" cy="512064"/>
          </a:xfrm>
          <a:prstGeom prst="rect">
            <a:avLst/>
          </a:prstGeom>
          <a:noFill/>
          <a:ln/>
        </p:spPr>
        <p:txBody>
          <a:bodyPr wrap="square" lIns="0" tIns="0" rIns="0" bIns="0" rtlCol="0" anchor="ctr"/>
          <a:lstStyle/>
          <a:p>
            <a:pPr indent="0" marL="0">
              <a:lnSpc>
                <a:spcPts val="1500"/>
              </a:lnSpc>
              <a:buNone/>
            </a:pPr>
            <a:r>
              <a:rPr lang="en-US" sz="1150" b="1" dirty="0">
                <a:solidFill>
                  <a:srgbClr val="E6EDF3"/>
                </a:solidFill>
                <a:latin typeface="Calibri" pitchFamily="34" charset="0"/>
                <a:ea typeface="Calibri" pitchFamily="34" charset="-122"/>
                <a:cs typeface="Calibri" pitchFamily="34" charset="-120"/>
              </a:rPr>
              <a:t>axis ends 1982 / 2024</a:t>
            </a:r>
            <a:endParaRPr lang="en-US" sz="1150" dirty="0"/>
          </a:p>
        </p:txBody>
      </p:sp>
      <p:sp>
        <p:nvSpPr>
          <p:cNvPr id="48" name="Shape 46"/>
          <p:cNvSpPr/>
          <p:nvPr/>
        </p:nvSpPr>
        <p:spPr>
          <a:xfrm>
            <a:off x="2880360" y="4818888"/>
            <a:ext cx="2971800" cy="658368"/>
          </a:xfrm>
          <a:prstGeom prst="rect">
            <a:avLst/>
          </a:prstGeom>
          <a:solidFill>
            <a:srgbClr val="161B22"/>
          </a:solidFill>
          <a:ln w="9525">
            <a:solidFill>
              <a:srgbClr val="30363D"/>
            </a:solidFill>
            <a:prstDash val="solid"/>
          </a:ln>
        </p:spPr>
      </p:sp>
      <p:sp>
        <p:nvSpPr>
          <p:cNvPr id="49" name="Text 47"/>
          <p:cNvSpPr txBox="1"/>
          <p:nvPr/>
        </p:nvSpPr>
        <p:spPr>
          <a:xfrm>
            <a:off x="3026664" y="4892040"/>
            <a:ext cx="267919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cones refused from every pool, never padded</a:t>
            </a:r>
            <a:endParaRPr lang="en-US" sz="1150" dirty="0"/>
          </a:p>
        </p:txBody>
      </p:sp>
      <p:sp>
        <p:nvSpPr>
          <p:cNvPr id="50" name="Shape 48"/>
          <p:cNvSpPr/>
          <p:nvPr/>
        </p:nvSpPr>
        <p:spPr>
          <a:xfrm>
            <a:off x="5852160" y="4818888"/>
            <a:ext cx="2834640" cy="658368"/>
          </a:xfrm>
          <a:prstGeom prst="rect">
            <a:avLst/>
          </a:prstGeom>
          <a:solidFill>
            <a:srgbClr val="161B22"/>
          </a:solidFill>
          <a:ln w="9525">
            <a:solidFill>
              <a:srgbClr val="30363D"/>
            </a:solidFill>
            <a:prstDash val="solid"/>
          </a:ln>
        </p:spPr>
      </p:sp>
      <p:sp>
        <p:nvSpPr>
          <p:cNvPr id="51" name="Text 49"/>
          <p:cNvSpPr txBox="1"/>
          <p:nvPr/>
        </p:nvSpPr>
        <p:spPr>
          <a:xfrm>
            <a:off x="5998464" y="4892040"/>
            <a:ext cx="2542032" cy="512064"/>
          </a:xfrm>
          <a:prstGeom prst="rect">
            <a:avLst/>
          </a:prstGeom>
          <a:noFill/>
          <a:ln/>
        </p:spPr>
        <p:txBody>
          <a:bodyPr wrap="square" lIns="0" tIns="0" rIns="0" bIns="0" rtlCol="0" anchor="ctr"/>
          <a:lstStyle/>
          <a:p>
            <a:pPr indent="0" marL="0">
              <a:lnSpc>
                <a:spcPts val="1500"/>
              </a:lnSpc>
              <a:buNone/>
            </a:pPr>
            <a:r>
              <a:rPr lang="en-US" sz="1150" dirty="0">
                <a:solidFill>
                  <a:srgbClr val="7D8590"/>
                </a:solidFill>
                <a:latin typeface="Calibri" pitchFamily="34" charset="0"/>
                <a:ea typeface="Calibri" pitchFamily="34" charset="-122"/>
                <a:cs typeface="Calibri" pitchFamily="34" charset="-120"/>
              </a:rPr>
              <a:t>rows simply absent from the built set</a:t>
            </a:r>
            <a:endParaRPr lang="en-US" sz="1150" dirty="0"/>
          </a:p>
        </p:txBody>
      </p:sp>
      <p:sp>
        <p:nvSpPr>
          <p:cNvPr id="52" name="Shape 50"/>
          <p:cNvSpPr/>
          <p:nvPr/>
        </p:nvSpPr>
        <p:spPr>
          <a:xfrm>
            <a:off x="8686800" y="4818888"/>
            <a:ext cx="2956255" cy="658368"/>
          </a:xfrm>
          <a:prstGeom prst="rect">
            <a:avLst/>
          </a:prstGeom>
          <a:solidFill>
            <a:srgbClr val="161B22"/>
          </a:solidFill>
          <a:ln w="9525">
            <a:solidFill>
              <a:srgbClr val="30363D"/>
            </a:solidFill>
            <a:prstDash val="solid"/>
          </a:ln>
        </p:spPr>
      </p:sp>
      <p:sp>
        <p:nvSpPr>
          <p:cNvPr id="53" name="Text 51"/>
          <p:cNvSpPr txBox="1"/>
          <p:nvPr/>
        </p:nvSpPr>
        <p:spPr>
          <a:xfrm>
            <a:off x="8833104" y="4892040"/>
            <a:ext cx="2663647" cy="512064"/>
          </a:xfrm>
          <a:prstGeom prst="rect">
            <a:avLst/>
          </a:prstGeom>
          <a:noFill/>
          <a:ln/>
        </p:spPr>
        <p:txBody>
          <a:bodyPr wrap="square" lIns="0" tIns="0" rIns="0" bIns="0" rtlCol="0" anchor="ctr"/>
          <a:lstStyle/>
          <a:p>
            <a:pPr indent="0" marL="0">
              <a:lnSpc>
                <a:spcPts val="1500"/>
              </a:lnSpc>
              <a:buNone/>
            </a:pPr>
            <a:r>
              <a:rPr lang="en-US" sz="1150" dirty="0">
                <a:solidFill>
                  <a:srgbClr val="BFD4EE"/>
                </a:solidFill>
                <a:latin typeface="Calibri" pitchFamily="34" charset="0"/>
                <a:ea typeface="Calibri" pitchFamily="34" charset="-122"/>
                <a:cs typeface="Calibri" pitchFamily="34" charset="-120"/>
              </a:rPr>
              <a:t>admissibility count + the same certificate</a:t>
            </a:r>
            <a:endParaRPr lang="en-US" sz="1150" dirty="0"/>
          </a:p>
        </p:txBody>
      </p:sp>
      <p:sp>
        <p:nvSpPr>
          <p:cNvPr id="54" name="Shape 52"/>
          <p:cNvSpPr/>
          <p:nvPr/>
        </p:nvSpPr>
        <p:spPr>
          <a:xfrm>
            <a:off x="548640" y="5632704"/>
            <a:ext cx="11094415" cy="658368"/>
          </a:xfrm>
          <a:prstGeom prst="roundRect">
            <a:avLst>
              <a:gd name="adj" fmla="val 8333"/>
            </a:avLst>
          </a:prstGeom>
          <a:solidFill>
            <a:srgbClr val="11202F"/>
          </a:solidFill>
          <a:ln w="12700">
            <a:solidFill>
              <a:srgbClr val="4493F8"/>
            </a:solidFill>
            <a:prstDash val="solid"/>
          </a:ln>
        </p:spPr>
      </p:sp>
      <p:sp>
        <p:nvSpPr>
          <p:cNvPr id="55" name="Text 53"/>
          <p:cNvSpPr txBox="1"/>
          <p:nvPr/>
        </p:nvSpPr>
        <p:spPr>
          <a:xfrm>
            <a:off x="786384" y="5806440"/>
            <a:ext cx="10618927" cy="329184"/>
          </a:xfrm>
          <a:prstGeom prst="rect">
            <a:avLst/>
          </a:prstGeom>
          <a:noFill/>
          <a:ln/>
        </p:spPr>
        <p:txBody>
          <a:bodyPr wrap="square" lIns="0" tIns="0" rIns="0" bIns="0" rtlCol="0" anchor="t"/>
          <a:lstStyle/>
          <a:p>
            <a:pPr indent="0" marL="0">
              <a:buNone/>
            </a:pPr>
            <a:r>
              <a:rPr lang="en-US" sz="1350" b="1" dirty="0">
                <a:solidFill>
                  <a:srgbClr val="E6EDF3"/>
                </a:solidFill>
                <a:latin typeface="Calibri" pitchFamily="34" charset="0"/>
                <a:ea typeface="Calibri" pitchFamily="34" charset="-122"/>
                <a:cs typeface="Calibri" pitchFamily="34" charset="-120"/>
              </a:rPr>
              <a:t>Under option 1 the proof is a test that runs every dispatch. Under option 2 the proof is a build that ran once.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100" b="1" spc="200" kern="0" dirty="0">
                <a:solidFill>
                  <a:srgbClr val="4493F8"/>
                </a:solidFill>
                <a:latin typeface="Calibri" pitchFamily="34" charset="0"/>
                <a:ea typeface="Calibri" pitchFamily="34" charset="-122"/>
                <a:cs typeface="Calibri" pitchFamily="34" charset="-120"/>
              </a:rPr>
              <a:t>DECISIONS</a:t>
            </a:r>
            <a:endParaRPr lang="en-US" sz="1100" dirty="0"/>
          </a:p>
        </p:txBody>
      </p:sp>
      <p:sp>
        <p:nvSpPr>
          <p:cNvPr id="3" name="Text 1"/>
          <p:cNvSpPr txBox="1"/>
          <p:nvPr/>
        </p:nvSpPr>
        <p:spPr>
          <a:xfrm>
            <a:off x="548640" y="548640"/>
            <a:ext cx="11094415" cy="713232"/>
          </a:xfrm>
          <a:prstGeom prst="rect">
            <a:avLst/>
          </a:prstGeom>
          <a:noFill/>
          <a:ln/>
        </p:spPr>
        <p:txBody>
          <a:bodyPr wrap="square" lIns="0" tIns="0" rIns="0" bIns="0" rtlCol="0" anchor="t"/>
          <a:lstStyle/>
          <a:p>
            <a:pPr indent="0" marL="0">
              <a:buNone/>
            </a:pPr>
            <a:r>
              <a:rPr lang="en-US" sz="3000" b="1" dirty="0">
                <a:solidFill>
                  <a:srgbClr val="E6EDF3"/>
                </a:solidFill>
                <a:latin typeface="Georgia" pitchFamily="34" charset="0"/>
                <a:ea typeface="Georgia" pitchFamily="34" charset="-122"/>
                <a:cs typeface="Georgia" pitchFamily="34" charset="-120"/>
              </a:rPr>
              <a:t>Four questions for you</a:t>
            </a:r>
            <a:endParaRPr lang="en-US" sz="3000" dirty="0"/>
          </a:p>
        </p:txBody>
      </p:sp>
      <p:sp>
        <p:nvSpPr>
          <p:cNvPr id="4" name="Text 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What is a training example?</a:t>
            </a:r>
            <a:endParaRPr lang="en-US" sz="1000" dirty="0"/>
          </a:p>
        </p:txBody>
      </p:sp>
      <p:sp>
        <p:nvSpPr>
          <p:cNvPr id="5" name="Text 3"/>
          <p:cNvSpPr txBox="1"/>
          <p:nvPr/>
        </p:nvSpPr>
        <p:spPr>
          <a:xfrm>
            <a:off x="10728655" y="6382512"/>
            <a:ext cx="914400" cy="274320"/>
          </a:xfrm>
          <a:prstGeom prst="rect">
            <a:avLst/>
          </a:prstGeom>
          <a:noFill/>
          <a:ln/>
        </p:spPr>
        <p:txBody>
          <a:bodyPr wrap="square" lIns="0" tIns="0" rIns="0" bIns="0" rtlCol="0" anchor="ctr"/>
          <a:lstStyle/>
          <a:p>
            <a:pPr algn="r" indent="0" marL="0">
              <a:buNone/>
            </a:pPr>
            <a:r>
              <a:rPr lang="en-US" sz="1000" dirty="0">
                <a:solidFill>
                  <a:srgbClr val="4A5460"/>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444752"/>
            <a:ext cx="5410048" cy="1691640"/>
          </a:xfrm>
          <a:prstGeom prst="roundRect">
            <a:avLst>
              <a:gd name="adj" fmla="val 3243"/>
            </a:avLst>
          </a:prstGeom>
          <a:solidFill>
            <a:srgbClr val="161B22"/>
          </a:solidFill>
          <a:ln w="12700">
            <a:solidFill>
              <a:srgbClr val="30363D"/>
            </a:solidFill>
            <a:prstDash val="solid"/>
          </a:ln>
        </p:spPr>
      </p:sp>
      <p:sp>
        <p:nvSpPr>
          <p:cNvPr id="7" name="Text 5"/>
          <p:cNvSpPr txBox="1"/>
          <p:nvPr/>
        </p:nvSpPr>
        <p:spPr>
          <a:xfrm>
            <a:off x="804672" y="1664208"/>
            <a:ext cx="4897984" cy="310896"/>
          </a:xfrm>
          <a:prstGeom prst="rect">
            <a:avLst/>
          </a:prstGeom>
          <a:noFill/>
          <a:ln/>
        </p:spPr>
        <p:txBody>
          <a:bodyPr wrap="square" lIns="0" tIns="0" rIns="0" bIns="0" rtlCol="0" anchor="t"/>
          <a:lstStyle/>
          <a:p>
            <a:pPr indent="0" marL="0">
              <a:buNone/>
            </a:pPr>
            <a:r>
              <a:rPr lang="en-US" sz="1700" b="1" dirty="0">
                <a:solidFill>
                  <a:srgbClr val="4493F8"/>
                </a:solidFill>
                <a:latin typeface="Georgia" pitchFamily="34" charset="0"/>
                <a:ea typeface="Georgia" pitchFamily="34" charset="-122"/>
                <a:cs typeface="Georgia" pitchFamily="34" charset="-120"/>
              </a:rPr>
              <a:t>Generation</a:t>
            </a:r>
            <a:endParaRPr lang="en-US" sz="1700" dirty="0"/>
          </a:p>
        </p:txBody>
      </p:sp>
      <p:sp>
        <p:nvSpPr>
          <p:cNvPr id="8" name="Text 6"/>
          <p:cNvSpPr txBox="1"/>
          <p:nvPr/>
        </p:nvSpPr>
        <p:spPr>
          <a:xfrm>
            <a:off x="804672" y="2066544"/>
            <a:ext cx="4897984" cy="914400"/>
          </a:xfrm>
          <a:prstGeom prst="rect">
            <a:avLst/>
          </a:prstGeom>
          <a:noFill/>
          <a:ln/>
        </p:spPr>
        <p:txBody>
          <a:bodyPr wrap="square" lIns="0" tIns="0" rIns="0" bIns="0" rtlCol="0" anchor="t"/>
          <a:lstStyle/>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Keep on-the-fly generation, as proposed — or materialize a run’s stream by default?</a:t>
            </a:r>
            <a:endParaRPr lang="en-US" sz="1350" dirty="0"/>
          </a:p>
        </p:txBody>
      </p:sp>
      <p:sp>
        <p:nvSpPr>
          <p:cNvPr id="9" name="Shape 7"/>
          <p:cNvSpPr/>
          <p:nvPr/>
        </p:nvSpPr>
        <p:spPr>
          <a:xfrm>
            <a:off x="6233008" y="1444752"/>
            <a:ext cx="5410048" cy="1691640"/>
          </a:xfrm>
          <a:prstGeom prst="roundRect">
            <a:avLst>
              <a:gd name="adj" fmla="val 3243"/>
            </a:avLst>
          </a:prstGeom>
          <a:solidFill>
            <a:srgbClr val="161B22"/>
          </a:solidFill>
          <a:ln w="12700">
            <a:solidFill>
              <a:srgbClr val="30363D"/>
            </a:solidFill>
            <a:prstDash val="solid"/>
          </a:ln>
        </p:spPr>
      </p:sp>
      <p:sp>
        <p:nvSpPr>
          <p:cNvPr id="10" name="Text 8"/>
          <p:cNvSpPr txBox="1"/>
          <p:nvPr/>
        </p:nvSpPr>
        <p:spPr>
          <a:xfrm>
            <a:off x="6489040" y="1664208"/>
            <a:ext cx="4897984" cy="310896"/>
          </a:xfrm>
          <a:prstGeom prst="rect">
            <a:avLst/>
          </a:prstGeom>
          <a:noFill/>
          <a:ln/>
        </p:spPr>
        <p:txBody>
          <a:bodyPr wrap="square" lIns="0" tIns="0" rIns="0" bIns="0" rtlCol="0" anchor="t"/>
          <a:lstStyle/>
          <a:p>
            <a:pPr indent="0" marL="0">
              <a:buNone/>
            </a:pPr>
            <a:r>
              <a:rPr lang="en-US" sz="1700" b="1" dirty="0">
                <a:solidFill>
                  <a:srgbClr val="E3B341"/>
                </a:solidFill>
                <a:latin typeface="Georgia" pitchFamily="34" charset="0"/>
                <a:ea typeface="Georgia" pitchFamily="34" charset="-122"/>
                <a:cs typeface="Georgia" pitchFamily="34" charset="-120"/>
              </a:rPr>
              <a:t>Evaluation scope</a:t>
            </a:r>
            <a:endParaRPr lang="en-US" sz="1700" dirty="0"/>
          </a:p>
        </p:txBody>
      </p:sp>
      <p:sp>
        <p:nvSpPr>
          <p:cNvPr id="11" name="Text 9"/>
          <p:cNvSpPr txBox="1"/>
          <p:nvPr/>
        </p:nvSpPr>
        <p:spPr>
          <a:xfrm>
            <a:off x="6489040" y="2066544"/>
            <a:ext cx="4897984" cy="914400"/>
          </a:xfrm>
          <a:prstGeom prst="rect">
            <a:avLst/>
          </a:prstGeom>
          <a:noFill/>
          <a:ln/>
        </p:spPr>
        <p:txBody>
          <a:bodyPr wrap="square" lIns="0" tIns="0" rIns="0" bIns="0" rtlCol="0" anchor="t"/>
          <a:lstStyle/>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Keep “anchor bin held out, context may straddle” — or measure the strict variant too?</a:t>
            </a:r>
            <a:endParaRPr lang="en-US" sz="1350" dirty="0"/>
          </a:p>
        </p:txBody>
      </p:sp>
      <p:sp>
        <p:nvSpPr>
          <p:cNvPr id="12" name="Shape 10"/>
          <p:cNvSpPr/>
          <p:nvPr/>
        </p:nvSpPr>
        <p:spPr>
          <a:xfrm>
            <a:off x="548640" y="3319272"/>
            <a:ext cx="5410048" cy="1691640"/>
          </a:xfrm>
          <a:prstGeom prst="roundRect">
            <a:avLst>
              <a:gd name="adj" fmla="val 3243"/>
            </a:avLst>
          </a:prstGeom>
          <a:solidFill>
            <a:srgbClr val="161B22"/>
          </a:solidFill>
          <a:ln w="12700">
            <a:solidFill>
              <a:srgbClr val="30363D"/>
            </a:solidFill>
            <a:prstDash val="solid"/>
          </a:ln>
        </p:spPr>
      </p:sp>
      <p:sp>
        <p:nvSpPr>
          <p:cNvPr id="13" name="Text 11"/>
          <p:cNvSpPr txBox="1"/>
          <p:nvPr/>
        </p:nvSpPr>
        <p:spPr>
          <a:xfrm>
            <a:off x="804672" y="3538728"/>
            <a:ext cx="4897984" cy="310896"/>
          </a:xfrm>
          <a:prstGeom prst="rect">
            <a:avLst/>
          </a:prstGeom>
          <a:noFill/>
          <a:ln/>
        </p:spPr>
        <p:txBody>
          <a:bodyPr wrap="square" lIns="0" tIns="0" rIns="0" bIns="0" rtlCol="0" anchor="t"/>
          <a:lstStyle/>
          <a:p>
            <a:pPr indent="0" marL="0">
              <a:buNone/>
            </a:pPr>
            <a:r>
              <a:rPr lang="en-US" sz="1700" b="1" dirty="0">
                <a:solidFill>
                  <a:srgbClr val="4493F8"/>
                </a:solidFill>
                <a:latin typeface="Georgia" pitchFamily="34" charset="0"/>
                <a:ea typeface="Georgia" pitchFamily="34" charset="-122"/>
                <a:cs typeface="Georgia" pitchFamily="34" charset="-120"/>
              </a:rPr>
              <a:t>A public gallery</a:t>
            </a:r>
            <a:endParaRPr lang="en-US" sz="1700" dirty="0"/>
          </a:p>
        </p:txBody>
      </p:sp>
      <p:sp>
        <p:nvSpPr>
          <p:cNvPr id="14" name="Text 12"/>
          <p:cNvSpPr txBox="1"/>
          <p:nvPr/>
        </p:nvSpPr>
        <p:spPr>
          <a:xfrm>
            <a:off x="804672" y="3941064"/>
            <a:ext cx="4897984" cy="914400"/>
          </a:xfrm>
          <a:prstGeom prst="rect">
            <a:avLst/>
          </a:prstGeom>
          <a:noFill/>
          <a:ln/>
        </p:spPr>
        <p:txBody>
          <a:bodyPr wrap="square" lIns="0" tIns="0" rIns="0" bIns="0" rtlCol="0" anchor="t"/>
          <a:lstStyle/>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A small gallery of real examples — say 50, about 1 MB — for the Cones tab and the paper. Yes or no?</a:t>
            </a:r>
            <a:endParaRPr lang="en-US" sz="1350" dirty="0"/>
          </a:p>
        </p:txBody>
      </p:sp>
      <p:sp>
        <p:nvSpPr>
          <p:cNvPr id="15" name="Shape 13"/>
          <p:cNvSpPr/>
          <p:nvPr/>
        </p:nvSpPr>
        <p:spPr>
          <a:xfrm>
            <a:off x="6233008" y="3319272"/>
            <a:ext cx="5410048" cy="1691640"/>
          </a:xfrm>
          <a:prstGeom prst="roundRect">
            <a:avLst>
              <a:gd name="adj" fmla="val 3243"/>
            </a:avLst>
          </a:prstGeom>
          <a:solidFill>
            <a:srgbClr val="161B22"/>
          </a:solidFill>
          <a:ln w="12700">
            <a:solidFill>
              <a:srgbClr val="30363D"/>
            </a:solidFill>
            <a:prstDash val="solid"/>
          </a:ln>
        </p:spPr>
      </p:sp>
      <p:sp>
        <p:nvSpPr>
          <p:cNvPr id="16" name="Text 14"/>
          <p:cNvSpPr txBox="1"/>
          <p:nvPr/>
        </p:nvSpPr>
        <p:spPr>
          <a:xfrm>
            <a:off x="6489040" y="3538728"/>
            <a:ext cx="4897984" cy="310896"/>
          </a:xfrm>
          <a:prstGeom prst="rect">
            <a:avLst/>
          </a:prstGeom>
          <a:noFill/>
          <a:ln/>
        </p:spPr>
        <p:txBody>
          <a:bodyPr wrap="square" lIns="0" tIns="0" rIns="0" bIns="0" rtlCol="0" anchor="t"/>
          <a:lstStyle/>
          <a:p>
            <a:pPr indent="0" marL="0">
              <a:buNone/>
            </a:pPr>
            <a:r>
              <a:rPr lang="en-US" sz="1700" b="1" dirty="0">
                <a:solidFill>
                  <a:srgbClr val="3FB950"/>
                </a:solidFill>
                <a:latin typeface="Georgia" pitchFamily="34" charset="0"/>
                <a:ea typeface="Georgia" pitchFamily="34" charset="-122"/>
                <a:cs typeface="Georgia" pitchFamily="34" charset="-120"/>
              </a:rPr>
              <a:t>Order of work</a:t>
            </a:r>
            <a:endParaRPr lang="en-US" sz="1700" dirty="0"/>
          </a:p>
        </p:txBody>
      </p:sp>
      <p:sp>
        <p:nvSpPr>
          <p:cNvPr id="17" name="Text 15"/>
          <p:cNvSpPr txBox="1"/>
          <p:nvPr/>
        </p:nvSpPr>
        <p:spPr>
          <a:xfrm>
            <a:off x="6489040" y="3941064"/>
            <a:ext cx="4897984" cy="914400"/>
          </a:xfrm>
          <a:prstGeom prst="rect">
            <a:avLst/>
          </a:prstGeom>
          <a:noFill/>
          <a:ln/>
        </p:spPr>
        <p:txBody>
          <a:bodyPr wrap="square" lIns="0" tIns="0" rIns="0" bIns="0" rtlCol="0" anchor="t"/>
          <a:lstStyle/>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After run #537’s H1 reading, or in parallel? It touches no training code path except the evaluation-set file.</a:t>
            </a:r>
            <a:endParaRPr lang="en-US" sz="1350" dirty="0"/>
          </a:p>
        </p:txBody>
      </p:sp>
      <p:sp>
        <p:nvSpPr>
          <p:cNvPr id="18" name="Shape 16"/>
          <p:cNvSpPr/>
          <p:nvPr/>
        </p:nvSpPr>
        <p:spPr>
          <a:xfrm>
            <a:off x="548640" y="5212080"/>
            <a:ext cx="11094415" cy="896112"/>
          </a:xfrm>
          <a:prstGeom prst="roundRect">
            <a:avLst>
              <a:gd name="adj" fmla="val 6122"/>
            </a:avLst>
          </a:prstGeom>
          <a:solidFill>
            <a:srgbClr val="11202F"/>
          </a:solidFill>
          <a:ln w="12700">
            <a:solidFill>
              <a:srgbClr val="4493F8"/>
            </a:solidFill>
            <a:prstDash val="solid"/>
          </a:ln>
        </p:spPr>
      </p:sp>
      <p:sp>
        <p:nvSpPr>
          <p:cNvPr id="19" name="Text 17"/>
          <p:cNvSpPr txBox="1"/>
          <p:nvPr/>
        </p:nvSpPr>
        <p:spPr>
          <a:xfrm>
            <a:off x="822960" y="5413248"/>
            <a:ext cx="10545775" cy="548640"/>
          </a:xfrm>
          <a:prstGeom prst="rect">
            <a:avLst/>
          </a:prstGeom>
          <a:noFill/>
          <a:ln/>
        </p:spPr>
        <p:txBody>
          <a:bodyPr wrap="square" lIns="0" tIns="0" rIns="0" bIns="0" rtlCol="0" anchor="t"/>
          <a:lstStyle/>
          <a:p>
            <a:pPr indent="0" marL="0">
              <a:lnSpc>
                <a:spcPts val="2000"/>
              </a:lnSpc>
              <a:buNone/>
            </a:pPr>
            <a:r>
              <a:rPr lang="en-US" sz="1450" b="1" dirty="0">
                <a:solidFill>
                  <a:srgbClr val="4493F8"/>
                </a:solidFill>
                <a:latin typeface="Calibri" pitchFamily="34" charset="0"/>
                <a:ea typeface="Calibri" pitchFamily="34" charset="-122"/>
                <a:cs typeface="Calibri" pitchFamily="34" charset="-120"/>
              </a:rPr>
              <a:t>Recommendation:  </a:t>
            </a:r>
            <a:pPr indent="0" marL="0">
              <a:lnSpc>
                <a:spcPts val="2000"/>
              </a:lnSpc>
              <a:buNone/>
            </a:pPr>
            <a:r>
              <a:rPr lang="en-US" sz="1450" dirty="0">
                <a:solidFill>
                  <a:srgbClr val="E6EDF3"/>
                </a:solidFill>
                <a:latin typeface="Calibri" pitchFamily="34" charset="0"/>
                <a:ea typeface="Calibri" pitchFamily="34" charset="-122"/>
                <a:cs typeface="Calibri" pitchFamily="34" charset="-120"/>
              </a:rPr>
              <a:t>parallel, small, and the strict evaluation variant measured once — so the straddle’s effect is a number rather than an assumption.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training example?</dc:title>
  <dc:subject>PptxGenJS Presentation</dc:subject>
  <dc:creator>Deck builder</dc:creator>
  <cp:lastModifiedBy>Deck builder</cp:lastModifiedBy>
  <cp:revision>1</cp:revision>
  <dcterms:created xsi:type="dcterms:W3CDTF">2026-09-03T18:01:26Z</dcterms:created>
  <dcterms:modified xsi:type="dcterms:W3CDTF">2026-09-03T18:01:26Z</dcterms:modified>
</cp:coreProperties>
</file>