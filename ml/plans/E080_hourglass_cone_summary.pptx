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Two pictures carry the argument for a reader who has not seen the deck: the hourglass in space-time — the past cone narrowing to the waist and opening again into the mirrored future cone — and the warped sunflower, the fixed dot pattern first stretched into an ellipse and then drifting lag by lag toward the source. The third panel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blauewelt.github.io/earth/docs.html?f=ml/plans/E070_family7_build.md"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 · ONE-SLIDE SUMMARY</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11091672"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3"/>
          <p:cNvSpPr txBox="1"/>
          <p:nvPr/>
        </p:nvSpPr>
        <p:spPr>
          <a:xfrm>
            <a:off x="54864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HOURGLASS</a:t>
            </a:r>
            <a:endParaRPr lang="en-US" sz="1000" dirty="0"/>
          </a:p>
        </p:txBody>
      </p:sp>
      <p:pic>
        <p:nvPicPr>
          <p:cNvPr id="7" name="Image 0" descr="/home/claude/earth/ml/plans/E080_figures/summary_hourglass.png">    </p:cNvPr>
          <p:cNvPicPr>
            <a:picLocks noChangeAspect="1"/>
          </p:cNvPicPr>
          <p:nvPr/>
        </p:nvPicPr>
        <p:blipFill>
          <a:blip r:embed="rId1"/>
          <a:stretch>
            <a:fillRect/>
          </a:stretch>
        </p:blipFill>
        <p:spPr>
          <a:xfrm>
            <a:off x="548640" y="1627632"/>
            <a:ext cx="3337560" cy="2103120"/>
          </a:xfrm>
          <a:prstGeom prst="rect">
            <a:avLst/>
          </a:prstGeom>
        </p:spPr>
      </p:pic>
      <p:sp>
        <p:nvSpPr>
          <p:cNvPr id="8" name="Shape 4"/>
          <p:cNvSpPr/>
          <p:nvPr/>
        </p:nvSpPr>
        <p:spPr>
          <a:xfrm>
            <a:off x="548640" y="3803904"/>
            <a:ext cx="3337560" cy="2368296"/>
          </a:xfrm>
          <a:prstGeom prst="roundRect">
            <a:avLst>
              <a:gd name="adj" fmla="val 2317"/>
            </a:avLst>
          </a:prstGeom>
          <a:solidFill>
            <a:srgbClr val="161B22"/>
          </a:solidFill>
          <a:ln w="12700">
            <a:solidFill>
              <a:srgbClr val="30363D"/>
            </a:solidFill>
            <a:prstDash val="solid"/>
          </a:ln>
        </p:spPr>
      </p:sp>
      <p:sp>
        <p:nvSpPr>
          <p:cNvPr id="9" name="Text 5"/>
          <p:cNvSpPr txBox="1"/>
          <p:nvPr/>
        </p:nvSpPr>
        <p:spPr>
          <a:xfrm>
            <a:off x="74980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design · slides 3–7</a:t>
            </a:r>
            <a:endParaRPr lang="en-US" sz="105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single tip; the past cone reads the last 30 days at every pentad; a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forecast from waist + past (0.35), from the waist alone (0.15), nowcast the hidden present from the past under five dropout patterns (0.25), fill-in (0.25) — under E-069b's rules: knowable targets only, no copy targets, every loss family scored against its own predict-the-mean bar</a:t>
            </a:r>
            <a:endParaRPr lang="en-US" sz="1050" dirty="0"/>
          </a:p>
        </p:txBody>
      </p:sp>
      <p:sp>
        <p:nvSpPr>
          <p:cNvPr id="10" name="Text 6"/>
          <p:cNvSpPr txBox="1"/>
          <p:nvPr/>
        </p:nvSpPr>
        <p:spPr>
          <a:xfrm>
            <a:off x="406908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CONE THE MODEL SHAPES</a:t>
            </a:r>
            <a:endParaRPr lang="en-US" sz="1000" dirty="0"/>
          </a:p>
        </p:txBody>
      </p:sp>
      <p:pic>
        <p:nvPicPr>
          <p:cNvPr id="11" name="Image 1" descr="/home/claude/earth/ml/plans/E080_figures/summary_cone.png">    </p:cNvPr>
          <p:cNvPicPr>
            <a:picLocks noChangeAspect="1"/>
          </p:cNvPicPr>
          <p:nvPr/>
        </p:nvPicPr>
        <p:blipFill>
          <a:blip r:embed="rId2"/>
          <a:stretch>
            <a:fillRect/>
          </a:stretch>
        </p:blipFill>
        <p:spPr>
          <a:xfrm>
            <a:off x="4069080" y="1627632"/>
            <a:ext cx="3337560" cy="2103120"/>
          </a:xfrm>
          <a:prstGeom prst="rect">
            <a:avLst/>
          </a:prstGeom>
        </p:spPr>
      </p:pic>
      <p:sp>
        <p:nvSpPr>
          <p:cNvPr id="12" name="Shape 7"/>
          <p:cNvSpPr/>
          <p:nvPr/>
        </p:nvSpPr>
        <p:spPr>
          <a:xfrm>
            <a:off x="4069080" y="3803904"/>
            <a:ext cx="3337560" cy="2368296"/>
          </a:xfrm>
          <a:prstGeom prst="roundRect">
            <a:avLst>
              <a:gd name="adj" fmla="val 2317"/>
            </a:avLst>
          </a:prstGeom>
          <a:solidFill>
            <a:srgbClr val="161B22"/>
          </a:solidFill>
          <a:ln w="12700">
            <a:solidFill>
              <a:srgbClr val="30363D"/>
            </a:solidFill>
            <a:prstDash val="solid"/>
          </a:ln>
        </p:spPr>
      </p:sp>
      <p:sp>
        <p:nvSpPr>
          <p:cNvPr id="13" name="Text 8"/>
          <p:cNvSpPr txBox="1"/>
          <p:nvPr/>
        </p:nvSpPr>
        <p:spPr>
          <a:xfrm>
            <a:off x="427024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cone the model shapes · slides 8–12</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850" b="1" dirty="0">
                <a:solidFill>
                  <a:srgbClr val="4493F8"/>
                </a:solidFill>
                <a:latin typeface="Calibri" pitchFamily="34" charset="0"/>
                <a:ea typeface="Calibri" pitchFamily="34" charset="-122"/>
                <a:cs typeface="Calibri" pitchFamily="34" charset="-120"/>
              </a:rPr>
              <a:t>eight dimensionless numbers per 1° cell and channel group</a:t>
            </a:r>
            <a:r>
              <a:rPr lang="en-US" sz="850" dirty="0">
                <a:solidFill>
                  <a:srgbClr val="E6EDF3"/>
                </a:solidFill>
                <a:latin typeface="Calibri" pitchFamily="34" charset="0"/>
                <a:ea typeface="Calibri" pitchFamily="34" charset="-122"/>
                <a:cs typeface="Calibri" pitchFamily="34" charset="-120"/>
              </a:rPr>
              <a:t>: a drift </a:t>
            </a:r>
            <a:r>
              <a:rPr lang="en-US" sz="850" b="1" dirty="0">
                <a:solidFill>
                  <a:srgbClr val="4493F8"/>
                </a:solidFill>
                <a:latin typeface="Calibri" pitchFamily="34" charset="0"/>
                <a:ea typeface="Calibri" pitchFamily="34" charset="-122"/>
                <a:cs typeface="Calibri" pitchFamily="34" charset="-120"/>
              </a:rPr>
              <a:t>d</a:t>
            </a:r>
            <a:r>
              <a:rPr lang="en-US" sz="85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850" b="1" dirty="0">
                <a:solidFill>
                  <a:srgbClr val="4493F8"/>
                </a:solidFill>
                <a:latin typeface="Calibri" pitchFamily="34" charset="0"/>
                <a:ea typeface="Calibri" pitchFamily="34" charset="-122"/>
                <a:cs typeface="Calibri" pitchFamily="34" charset="-120"/>
              </a:rPr>
              <a:t>matrix logarithms</a:t>
            </a:r>
            <a:r>
              <a:rPr lang="en-US" sz="850" dirty="0">
                <a:solidFill>
                  <a:srgbClr val="E6EDF3"/>
                </a:solidFill>
                <a:latin typeface="Calibri" pitchFamily="34" charset="0"/>
                <a:ea typeface="Calibri" pitchFamily="34" charset="-122"/>
                <a:cs typeface="Calibri" pitchFamily="34" charset="-120"/>
              </a:rPr>
              <a:t> — no kilometres, no angle to wrap — with Σ(ℓ) = Σ</a:t>
            </a:r>
            <a:r>
              <a:rPr lang="en-US" sz="850" baseline="-40000" dirty="0">
                <a:solidFill>
                  <a:srgbClr val="E6EDF3"/>
                </a:solidFill>
                <a:latin typeface="Calibri" pitchFamily="34" charset="0"/>
                <a:ea typeface="Calibri" pitchFamily="34" charset="-122"/>
                <a:cs typeface="Calibri" pitchFamily="34" charset="-120"/>
              </a:rPr>
              <a:t>0</a:t>
            </a:r>
            <a:r>
              <a:rPr lang="en-US" sz="850" dirty="0">
                <a:solidFill>
                  <a:srgbClr val="E6EDF3"/>
                </a:solidFill>
                <a:latin typeface="Calibri" pitchFamily="34" charset="0"/>
                <a:ea typeface="Calibri" pitchFamily="34" charset="-122"/>
                <a:cs typeface="Calibri" pitchFamily="34" charset="-120"/>
              </a:rPr>
              <a:t> + ℓ</a:t>
            </a:r>
            <a:r>
              <a:rPr lang="en-US" sz="850" baseline="30000" dirty="0">
                <a:solidFill>
                  <a:srgbClr val="E6EDF3"/>
                </a:solidFill>
                <a:latin typeface="Calibri" pitchFamily="34" charset="0"/>
                <a:ea typeface="Calibri" pitchFamily="34" charset="-122"/>
                <a:cs typeface="Calibri" pitchFamily="34" charset="-120"/>
              </a:rPr>
              <a:t>2</a:t>
            </a:r>
            <a:r>
              <a:rPr lang="en-US" sz="850" dirty="0">
                <a:solidFill>
                  <a:srgbClr val="E6EDF3"/>
                </a:solidFill>
                <a:latin typeface="Calibri" pitchFamily="34" charset="0"/>
                <a:ea typeface="Calibri" pitchFamily="34" charset="-122"/>
                <a:cs typeface="Calibri" pitchFamily="34" charset="-120"/>
              </a:rPr>
              <a:t>Σ</a:t>
            </a:r>
            <a:r>
              <a:rPr lang="en-US" sz="850" baseline="-40000" dirty="0">
                <a:solidFill>
                  <a:srgbClr val="E6EDF3"/>
                </a:solidFill>
                <a:latin typeface="Calibri" pitchFamily="34" charset="0"/>
                <a:ea typeface="Calibri" pitchFamily="34" charset="-122"/>
                <a:cs typeface="Calibri" pitchFamily="34" charset="-120"/>
              </a:rPr>
              <a:t>v</a:t>
            </a:r>
            <a:r>
              <a:rPr lang="en-US" sz="850" dirty="0">
                <a:solidFill>
                  <a:srgbClr val="E6EDF3"/>
                </a:solidFill>
                <a:latin typeface="Calibri" pitchFamily="34" charset="0"/>
                <a:ea typeface="Calibri" pitchFamily="34" charset="-122"/>
                <a:cs typeface="Calibri" pitchFamily="34" charset="-120"/>
              </a:rPr>
              <a:t>. </a:t>
            </a:r>
            <a:r>
              <a:rPr lang="en-US" sz="85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850" dirty="0">
                <a:solidFill>
                  <a:srgbClr val="E6EDF3"/>
                </a:solidFill>
                <a:latin typeface="Calibri" pitchFamily="34" charset="0"/>
                <a:ea typeface="Calibri" pitchFamily="34" charset="-122"/>
                <a:cs typeface="Calibri" pitchFamily="34" charset="-120"/>
              </a:rPr>
              <a:t>: s</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and τ</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850" b="1" dirty="0">
                <a:solidFill>
                  <a:srgbClr val="4493F8"/>
                </a:solidFill>
                <a:latin typeface="Calibri" pitchFamily="34" charset="0"/>
                <a:ea typeface="Calibri" pitchFamily="34" charset="-122"/>
                <a:cs typeface="Calibri" pitchFamily="34" charset="-120"/>
              </a:rPr>
              <a:t>aperture</a:t>
            </a:r>
            <a:r>
              <a:rPr lang="en-US" sz="85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850" b="1" dirty="0">
                <a:solidFill>
                  <a:srgbClr val="4493F8"/>
                </a:solidFill>
                <a:latin typeface="Calibri" pitchFamily="34" charset="0"/>
                <a:ea typeface="Calibri" pitchFamily="34" charset="-122"/>
                <a:cs typeface="Calibri" pitchFamily="34" charset="-120"/>
              </a:rPr>
              <a:t>gate-first</a:t>
            </a:r>
            <a:r>
              <a:rPr lang="en-US" sz="85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850" b="1" dirty="0">
                <a:solidFill>
                  <a:srgbClr val="4493F8"/>
                </a:solidFill>
                <a:latin typeface="Calibri" pitchFamily="34" charset="0"/>
                <a:ea typeface="Calibri" pitchFamily="34" charset="-122"/>
                <a:cs typeface="Calibri" pitchFamily="34" charset="-120"/>
              </a:rPr>
              <a:t>hardened</a:t>
            </a:r>
            <a:r>
              <a:rPr lang="en-US" sz="850" dirty="0">
                <a:solidFill>
                  <a:srgbClr val="E6EDF3"/>
                </a:solidFill>
                <a:latin typeface="Calibri" pitchFamily="34" charset="0"/>
                <a:ea typeface="Calibri" pitchFamily="34" charset="-122"/>
                <a:cs typeface="Calibri" pitchFamily="34" charset="-120"/>
              </a:rPr>
              <a:t> (dot tables re-baked at epoch boundaries)</a:t>
            </a:r>
            <a:endParaRPr lang="en-US" sz="1050" dirty="0"/>
          </a:p>
        </p:txBody>
      </p:sp>
      <p:sp>
        <p:nvSpPr>
          <p:cNvPr id="14" name="Text 9"/>
          <p:cNvSpPr txBox="1"/>
          <p:nvPr/>
        </p:nvSpPr>
        <p:spPr>
          <a:xfrm>
            <a:off x="7589520" y="1371600"/>
            <a:ext cx="4050792"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EXPERIMENT</a:t>
            </a:r>
            <a:endParaRPr lang="en-US" sz="1000" dirty="0"/>
          </a:p>
        </p:txBody>
      </p:sp>
      <p:sp>
        <p:nvSpPr>
          <p:cNvPr id="15" name="Shape 10"/>
          <p:cNvSpPr/>
          <p:nvPr/>
        </p:nvSpPr>
        <p:spPr>
          <a:xfrm>
            <a:off x="7589520" y="1627632"/>
            <a:ext cx="4050792" cy="2103120"/>
          </a:xfrm>
          <a:prstGeom prst="roundRect">
            <a:avLst>
              <a:gd name="adj" fmla="val 2609"/>
            </a:avLst>
          </a:prstGeom>
          <a:solidFill>
            <a:srgbClr val="11202F"/>
          </a:solidFill>
          <a:ln w="19050">
            <a:solidFill>
              <a:srgbClr val="E3B341"/>
            </a:solidFill>
            <a:prstDash val="dash"/>
          </a:ln>
        </p:spPr>
      </p:sp>
      <p:sp>
        <p:nvSpPr>
          <p:cNvPr id="16" name="Text 11"/>
          <p:cNvSpPr txBox="1"/>
          <p:nvPr/>
        </p:nvSpPr>
        <p:spPr>
          <a:xfrm>
            <a:off x="7589520" y="2176272"/>
            <a:ext cx="4050792" cy="384048"/>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7" name="Text 12"/>
          <p:cNvSpPr txBox="1"/>
          <p:nvPr/>
        </p:nvSpPr>
        <p:spPr>
          <a:xfrm>
            <a:off x="7955280" y="2651760"/>
            <a:ext cx="3319272"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8" name="Text 13"/>
          <p:cNvSpPr txBox="1"/>
          <p:nvPr/>
        </p:nvSpPr>
        <p:spPr>
          <a:xfrm>
            <a:off x="7589520" y="3749040"/>
            <a:ext cx="4050792" cy="274320"/>
          </a:xfrm>
          <a:prstGeom prst="rect">
            <a:avLst/>
          </a:prstGeom>
          <a:noFill/>
          <a:ln/>
        </p:spPr>
        <p:txBody>
          <a:bodyPr wrap="square" lIns="0" tIns="0" rIns="0" bIns="0" rtlCol="0" anchor="ctr"/>
          <a:lstStyle/>
          <a:p>
            <a:pPr indent="0" marL="0">
              <a:buNone/>
            </a:pPr>
            <a:r>
              <a:rPr lang="en-US" sz="950" i="1" dirty="0">
                <a:solidFill>
                  <a:srgbClr val="7D8590"/>
                </a:solidFill>
                <a:latin typeface="Calibri" pitchFamily="34" charset="0"/>
                <a:ea typeface="Calibri" pitchFamily="34" charset="-122"/>
                <a:cs typeface="Calibri" pitchFamily="34" charset="-120"/>
              </a:rPr>
              <a:t>Reserved for the measured result — empty until a run has produced it.</a:t>
            </a:r>
            <a:endParaRPr lang="en-US" sz="950" dirty="0"/>
          </a:p>
        </p:txBody>
      </p:sp>
      <p:sp>
        <p:nvSpPr>
          <p:cNvPr id="19" name="Shape 14"/>
          <p:cNvSpPr/>
          <p:nvPr/>
        </p:nvSpPr>
        <p:spPr>
          <a:xfrm>
            <a:off x="7589520" y="4041648"/>
            <a:ext cx="4050792" cy="960120"/>
          </a:xfrm>
          <a:prstGeom prst="roundRect">
            <a:avLst>
              <a:gd name="adj" fmla="val 5714"/>
            </a:avLst>
          </a:prstGeom>
          <a:solidFill>
            <a:srgbClr val="161B22"/>
          </a:solidFill>
          <a:ln w="12700">
            <a:solidFill>
              <a:srgbClr val="30363D"/>
            </a:solidFill>
            <a:prstDash val="solid"/>
          </a:ln>
        </p:spPr>
      </p:sp>
      <p:sp>
        <p:nvSpPr>
          <p:cNvPr id="20" name="Text 15"/>
          <p:cNvSpPr txBox="1"/>
          <p:nvPr/>
        </p:nvSpPr>
        <p:spPr>
          <a:xfrm>
            <a:off x="7790688" y="4133088"/>
            <a:ext cx="3648456" cy="777240"/>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guards · slides 13, 15</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050" dirty="0"/>
          </a:p>
        </p:txBody>
      </p:sp>
      <p:sp>
        <p:nvSpPr>
          <p:cNvPr id="21" name="Shape 16"/>
          <p:cNvSpPr/>
          <p:nvPr/>
        </p:nvSpPr>
        <p:spPr>
          <a:xfrm>
            <a:off x="7589520" y="5056632"/>
            <a:ext cx="4050792" cy="1115568"/>
          </a:xfrm>
          <a:prstGeom prst="roundRect">
            <a:avLst>
              <a:gd name="adj" fmla="val 4918"/>
            </a:avLst>
          </a:prstGeom>
          <a:solidFill>
            <a:srgbClr val="161B22"/>
          </a:solidFill>
          <a:ln w="12700">
            <a:solidFill>
              <a:srgbClr val="30363D"/>
            </a:solidFill>
            <a:prstDash val="solid"/>
          </a:ln>
        </p:spPr>
      </p:sp>
      <p:sp>
        <p:nvSpPr>
          <p:cNvPr id="22" name="Text 17"/>
          <p:cNvSpPr txBox="1"/>
          <p:nvPr/>
        </p:nvSpPr>
        <p:spPr>
          <a:xfrm>
            <a:off x="7790688" y="5148072"/>
            <a:ext cx="3648456" cy="932688"/>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experiment · verdict · slide 17</a:t>
            </a:r>
            <a:endParaRPr lang="en-US" sz="1050" dirty="0"/>
          </a:p>
          <a:p>
            <a:pPr indent="0" marL="0">
              <a:buNone/>
            </a:pPr>
            <a:r>
              <a:rPr lang="en-US" sz="850" b="1" dirty="0">
                <a:solidFill>
                  <a:srgbClr val="4493F8"/>
                </a:solidFill>
                <a:latin typeface="Calibri" pitchFamily="34" charset="0"/>
                <a:ea typeface="Calibri" pitchFamily="34" charset="-122"/>
                <a:cs typeface="Calibri" pitchFamily="34" charset="-120"/>
              </a:rPr>
              <a:t>A0</a:t>
            </a:r>
            <a:r>
              <a:rPr lang="en-US" sz="850" dirty="0">
                <a:solidFill>
                  <a:srgbClr val="E6EDF3"/>
                </a:solidFill>
                <a:latin typeface="Calibri" pitchFamily="34" charset="0"/>
                <a:ea typeface="Calibri" pitchFamily="34" charset="-122"/>
                <a:cs typeface="Calibri" pitchFamily="34" charset="-120"/>
              </a:rPr>
              <a:t> fixed hourglass — the control and everyone's eval geometry · </a:t>
            </a:r>
            <a:r>
              <a:rPr lang="en-US" sz="850" b="1" dirty="0">
                <a:solidFill>
                  <a:srgbClr val="4493F8"/>
                </a:solidFill>
                <a:latin typeface="Calibri" pitchFamily="34" charset="0"/>
                <a:ea typeface="Calibri" pitchFamily="34" charset="-122"/>
                <a:cs typeface="Calibri" pitchFamily="34" charset="-120"/>
              </a:rPr>
              <a:t>A1</a:t>
            </a:r>
            <a:r>
              <a:rPr lang="en-US" sz="850" dirty="0">
                <a:solidFill>
                  <a:srgbClr val="E6EDF3"/>
                </a:solidFill>
                <a:latin typeface="Calibri" pitchFamily="34" charset="0"/>
                <a:ea typeface="Calibri" pitchFamily="34" charset="-122"/>
                <a:cs typeface="Calibri" pitchFamily="34" charset="-120"/>
              </a:rPr>
              <a:t> learned from A0's init · </a:t>
            </a:r>
            <a:r>
              <a:rPr lang="en-US" sz="850" b="1" dirty="0">
                <a:solidFill>
                  <a:srgbClr val="4493F8"/>
                </a:solidFill>
                <a:latin typeface="Calibri" pitchFamily="34" charset="0"/>
                <a:ea typeface="Calibri" pitchFamily="34" charset="-122"/>
                <a:cs typeface="Calibri" pitchFamily="34" charset="-120"/>
              </a:rPr>
              <a:t>A2</a:t>
            </a:r>
            <a:r>
              <a:rPr lang="en-US" sz="85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850" b="1" dirty="0">
                <a:solidFill>
                  <a:srgbClr val="4493F8"/>
                </a:solidFill>
                <a:latin typeface="Calibri" pitchFamily="34" charset="0"/>
                <a:ea typeface="Calibri" pitchFamily="34" charset="-122"/>
                <a:cs typeface="Calibri" pitchFamily="34" charset="-120"/>
              </a:rPr>
              <a:t>3 seeds each</a:t>
            </a:r>
            <a:r>
              <a:rPr lang="en-US" sz="850" dirty="0">
                <a:solidFill>
                  <a:srgbClr val="E6EDF3"/>
                </a:solidFill>
                <a:latin typeface="Calibri" pitchFamily="34" charset="0"/>
                <a:ea typeface="Calibri" pitchFamily="34" charset="-122"/>
                <a:cs typeface="Calibri" pitchFamily="34" charset="-120"/>
              </a:rPr>
              <a:t>, one tensor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family 7.2</a:t>
            </a:r>
            <a:r>
              <a:rPr lang="en-US" sz="850" dirty="0">
                <a:solidFill>
                  <a:srgbClr val="E6EDF3"/>
                </a:solidFill>
                <a:latin typeface="Calibri" pitchFamily="34" charset="0"/>
                <a:ea typeface="Calibri" pitchFamily="34" charset="-122"/>
                <a:cs typeface="Calibri" pitchFamily="34" charset="-120"/>
              </a:rPr>
              <a:t>); read-outs R1–R5. </a:t>
            </a:r>
            <a:r>
              <a:rPr lang="en-US" sz="850" b="1" dirty="0">
                <a:solidFill>
                  <a:srgbClr val="4493F8"/>
                </a:solidFill>
                <a:latin typeface="Calibri" pitchFamily="34" charset="0"/>
                <a:ea typeface="Calibri" pitchFamily="34" charset="-122"/>
                <a:cs typeface="Calibri" pitchFamily="34" charset="-120"/>
              </a:rPr>
              <a:t>Verdict</a:t>
            </a:r>
            <a:r>
              <a:rPr lang="en-US" sz="850" dirty="0">
                <a:solidFill>
                  <a:srgbClr val="E6EDF3"/>
                </a:solidFill>
                <a:latin typeface="Calibri" pitchFamily="34" charset="0"/>
                <a:ea typeface="Calibri" pitchFamily="34" charset="-122"/>
                <a:cs typeface="Calibri" pitchFamily="34" charset="-120"/>
              </a:rPr>
              <a:t>: A1 beats A0 on R1 at every lead ≤ 3, paired at all seeds, R5 clean → adopt; A2 &gt; A1 ≈ A0 → geometry from climatology; neither → keep A0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 — one-slide summary</dc:title>
  <dc:subject>PptxGenJS Presentation</dc:subject>
  <dc:creator>Deck builder</dc:creator>
  <cp:lastModifiedBy>Deck builder</cp:lastModifiedBy>
  <cp:revision>1</cp:revision>
  <dcterms:created xsi:type="dcterms:W3CDTF">2026-09-17T12:43:24Z</dcterms:created>
  <dcterms:modified xsi:type="dcterms:W3CDTF">2026-09-17T12:43:24Z</dcterms:modified>
</cp:coreProperties>
</file>