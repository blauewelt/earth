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deck on one slide, for anyone who reads nothing else, and it is where the result goes when there is one. The left half is the argument in four steps. First, the design of the input and the targets: the present is a waist of about thirteen cells rather than a single point, because gradients need neighbours; the past is read at every pentad of the last thirty days; the future is a mirror image of the past cone, sampled identically and used only as targets; and each training example draws one of four tasks — forecast from everything, forecast from the present alone, nowcast the hidden present from the past, or fill in — under the three rules the E-069 experiment taught us (E-069 is the cone codec as built and measured at five seeds; the rules are that a target must be knowable from the input, must not be a copy of an input, and every loss family is scored against a predict-the-mean bar of its own). Second, the cone the model shapes: a fixed sunflower pattern, pushed through eight learned numbers per one-degree cell and channel group — a drift toward the source and two ellipses, stored as matrix logarithms so nothing is in kilometres and no angle wraps; the direction is shared by everything the water carries, while each channel has its own scale and its own memory, applied as a weight over shared tokens so it costs nothing; and the geometry is learned first through a soft weighting over fixed dots and only then baked into the dot table, so the data loader never has to know where the geometry currently is. Third, the guards, which exist because a learnable cone can learn to ask easy questions: the prior, the floors, the mirror tie, the stop-gradient on target positions, the frozen evaluation geometry, the ungated safety ring, and the rule that the aperture never reaches the loss weights. Fourth, the experiment as pre-registered: three arms — fixed, learned, and learned but primed with the climatological current reversed — on the global family 7.2 tensor (the first tensor covering the whole globe at quarter-degree resolution and five-day cadence, in its 7.2 build), the seven-million-parameter codec, twenty thousand steps, the frozen protocol with its held-out years, three seeds each; five read-outs; and the verdict rule written before any run. Two pictures carry the argument for a reader who has not seen the deck: the hourglass in space-time — the past cone narrowing to the waist and opening again into the mirrored future cone — and the warped sunflower, the fixed dot pattern first stretched into an ellipse and then drifting lag by lag toward the source. The third panel is deliberately empty. It is the space for the actual result — the forecast loss per lead for the three arms, the learned drift against the upstream direction, and the western-boundary depth check — and it stays empty until a run has produced those numbers, so that this slide can never show a picture of what we expected in place of what we measured. When the figure lands, the caption under the panel says which read-outs it shows, and the verdict line on the left is read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lauewelt.github.io/earth/docs.html?f=ml/plans/E070_family7_build.md"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37744"/>
          </a:xfrm>
          <a:prstGeom prst="rect">
            <a:avLst/>
          </a:prstGeom>
          <a:noFill/>
          <a:ln/>
        </p:spPr>
        <p:txBody>
          <a:bodyPr wrap="square" lIns="0" tIns="0" rIns="0" bIns="0" rtlCol="0" anchor="ctr"/>
          <a:lstStyle/>
          <a:p>
            <a:pPr indent="0" marL="0">
              <a:buNone/>
            </a:pPr>
            <a:r>
              <a:rPr lang="en-US" sz="1100" b="1" spc="130" kern="0" dirty="0">
                <a:solidFill>
                  <a:srgbClr val="4493F8"/>
                </a:solidFill>
                <a:latin typeface="Calibri" pitchFamily="34" charset="0"/>
                <a:ea typeface="Calibri" pitchFamily="34" charset="-122"/>
                <a:cs typeface="Calibri" pitchFamily="34" charset="-120"/>
              </a:rPr>
              <a:t>E-080 · THE CUT-OFF MIRRORED DOUBLE CONE · ONE-SLIDE SUMMARY</a:t>
            </a:r>
            <a:endParaRPr lang="en-US" sz="1100" dirty="0"/>
          </a:p>
        </p:txBody>
      </p:sp>
      <p:sp>
        <p:nvSpPr>
          <p:cNvPr id="3" name="Text 1"/>
          <p:cNvSpPr txBox="1"/>
          <p:nvPr/>
        </p:nvSpPr>
        <p:spPr>
          <a:xfrm>
            <a:off x="548640" y="512064"/>
            <a:ext cx="11091672" cy="768096"/>
          </a:xfrm>
          <a:prstGeom prst="rect">
            <a:avLst/>
          </a:prstGeom>
          <a:noFill/>
          <a:ln/>
        </p:spPr>
        <p:txBody>
          <a:bodyPr wrap="square" lIns="0" tIns="0" rIns="0" bIns="0" rtlCol="0" anchor="ctr"/>
          <a:lstStyle/>
          <a:p>
            <a:pPr indent="0" marL="0">
              <a:buNone/>
            </a:pPr>
            <a:r>
              <a:rPr lang="en-US" sz="2300" b="1" dirty="0">
                <a:solidFill>
                  <a:srgbClr val="E6EDF3"/>
                </a:solidFill>
                <a:latin typeface="Georgia" pitchFamily="34" charset="0"/>
                <a:ea typeface="Georgia" pitchFamily="34" charset="-122"/>
                <a:cs typeface="Georgia" pitchFamily="34" charset="-120"/>
              </a:rPr>
              <a:t>An hourglass that reads the past through a cone it shapes itself, tested three ways against its own fixed twin</a:t>
            </a:r>
            <a:endParaRPr lang="en-US" sz="2300" dirty="0"/>
          </a:p>
        </p:txBody>
      </p:sp>
      <p:sp>
        <p:nvSpPr>
          <p:cNvPr id="4" name="Text 2"/>
          <p:cNvSpPr txBox="1"/>
          <p:nvPr/>
        </p:nvSpPr>
        <p:spPr>
          <a:xfrm>
            <a:off x="548640" y="6355080"/>
            <a:ext cx="11091672" cy="274320"/>
          </a:xfrm>
          <a:prstGeom prst="rect">
            <a:avLst/>
          </a:prstGeom>
          <a:noFill/>
          <a:ln/>
        </p:spPr>
        <p:txBody>
          <a:bodyPr wrap="square" lIns="0" tIns="0" rIns="0" bIns="0" rtlCol="0" anchor="ctr"/>
          <a:lstStyle/>
          <a:p>
            <a:pPr indent="0" marL="0">
              <a:buNone/>
            </a:pPr>
            <a:r>
              <a:rPr lang="en-US" sz="1000" dirty="0">
                <a:solidFill>
                  <a:srgbClr val="4A5460"/>
                </a:solidFill>
                <a:latin typeface="Calibri" pitchFamily="34" charset="0"/>
                <a:ea typeface="Calibri" pitchFamily="34" charset="-122"/>
                <a:cs typeface="Calibri" pitchFamily="34" charset="-120"/>
              </a:rPr>
              <a:t>E-080 · the cut-off mirrored double cone</a:t>
            </a:r>
            <a:endParaRPr lang="en-US" sz="1000" dirty="0"/>
          </a:p>
        </p:txBody>
      </p:sp>
      <p:sp>
        <p:nvSpPr>
          <p:cNvPr id="6" name="Text 3"/>
          <p:cNvSpPr txBox="1"/>
          <p:nvPr/>
        </p:nvSpPr>
        <p:spPr>
          <a:xfrm>
            <a:off x="548640" y="1371600"/>
            <a:ext cx="3337560"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HOURGLASS</a:t>
            </a:r>
            <a:endParaRPr lang="en-US" sz="1000" dirty="0"/>
          </a:p>
        </p:txBody>
      </p:sp>
      <p:pic>
        <p:nvPicPr>
          <p:cNvPr id="7" name="Image 0" descr="/home/claude/earth/ml/plans/E080_figures/summary_hourglass.png">    </p:cNvPr>
          <p:cNvPicPr>
            <a:picLocks noChangeAspect="1"/>
          </p:cNvPicPr>
          <p:nvPr/>
        </p:nvPicPr>
        <p:blipFill>
          <a:blip r:embed="rId1"/>
          <a:stretch>
            <a:fillRect/>
          </a:stretch>
        </p:blipFill>
        <p:spPr>
          <a:xfrm>
            <a:off x="548640" y="1627632"/>
            <a:ext cx="3337560" cy="2103120"/>
          </a:xfrm>
          <a:prstGeom prst="rect">
            <a:avLst/>
          </a:prstGeom>
        </p:spPr>
      </p:pic>
      <p:sp>
        <p:nvSpPr>
          <p:cNvPr id="8" name="Shape 4"/>
          <p:cNvSpPr/>
          <p:nvPr/>
        </p:nvSpPr>
        <p:spPr>
          <a:xfrm>
            <a:off x="548640" y="3803904"/>
            <a:ext cx="3337560" cy="2368296"/>
          </a:xfrm>
          <a:prstGeom prst="roundRect">
            <a:avLst>
              <a:gd name="adj" fmla="val 2317"/>
            </a:avLst>
          </a:prstGeom>
          <a:solidFill>
            <a:srgbClr val="161B22"/>
          </a:solidFill>
          <a:ln w="12700">
            <a:solidFill>
              <a:srgbClr val="30363D"/>
            </a:solidFill>
            <a:prstDash val="solid"/>
          </a:ln>
        </p:spPr>
      </p:sp>
      <p:sp>
        <p:nvSpPr>
          <p:cNvPr id="9" name="Text 5"/>
          <p:cNvSpPr txBox="1"/>
          <p:nvPr/>
        </p:nvSpPr>
        <p:spPr>
          <a:xfrm>
            <a:off x="749808" y="3895344"/>
            <a:ext cx="2935224" cy="2185416"/>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design · slides 3–7</a:t>
            </a:r>
            <a:endParaRPr lang="en-US" sz="1050" dirty="0"/>
          </a:p>
          <a:p>
            <a:pPr indent="0" marL="0">
              <a:buNone/>
            </a:pPr>
            <a:r>
              <a:rPr lang="en-US" sz="900" dirty="0">
                <a:solidFill>
                  <a:srgbClr val="E6EDF3"/>
                </a:solidFill>
                <a:latin typeface="Calibri" pitchFamily="34" charset="0"/>
                <a:ea typeface="Calibri" pitchFamily="34" charset="-122"/>
                <a:cs typeface="Calibri" pitchFamily="34" charset="-120"/>
              </a:rPr>
              <a:t>The present is a </a:t>
            </a:r>
            <a:r>
              <a:rPr lang="en-US" sz="900" b="1" dirty="0">
                <a:solidFill>
                  <a:srgbClr val="4493F8"/>
                </a:solidFill>
                <a:latin typeface="Calibri" pitchFamily="34" charset="0"/>
                <a:ea typeface="Calibri" pitchFamily="34" charset="-122"/>
                <a:cs typeface="Calibri" pitchFamily="34" charset="-120"/>
              </a:rPr>
              <a:t>waist</a:t>
            </a:r>
            <a:r>
              <a:rPr lang="en-US" sz="900" dirty="0">
                <a:solidFill>
                  <a:srgbClr val="E6EDF3"/>
                </a:solidFill>
                <a:latin typeface="Calibri" pitchFamily="34" charset="0"/>
                <a:ea typeface="Calibri" pitchFamily="34" charset="-122"/>
                <a:cs typeface="Calibri" pitchFamily="34" charset="-120"/>
              </a:rPr>
              <a:t> of ~13 cells, not a single tip; the past cone reads the last 30 days at every pentad; a </a:t>
            </a:r>
            <a:r>
              <a:rPr lang="en-US" sz="900" b="1" dirty="0">
                <a:solidFill>
                  <a:srgbClr val="4493F8"/>
                </a:solidFill>
                <a:latin typeface="Calibri" pitchFamily="34" charset="0"/>
                <a:ea typeface="Calibri" pitchFamily="34" charset="-122"/>
                <a:cs typeface="Calibri" pitchFamily="34" charset="-120"/>
              </a:rPr>
              <a:t>prediction cone</a:t>
            </a:r>
            <a:r>
              <a:rPr lang="en-US" sz="900" dirty="0">
                <a:solidFill>
                  <a:srgbClr val="E6EDF3"/>
                </a:solidFill>
                <a:latin typeface="Calibri" pitchFamily="34" charset="0"/>
                <a:ea typeface="Calibri" pitchFamily="34" charset="-122"/>
                <a:cs typeface="Calibri" pitchFamily="34" charset="-120"/>
              </a:rPr>
              <a:t> — the past cone mirrored through the anchor, +1…+6 pentads — is sampled the same way and used only as targets. Each example draws one of </a:t>
            </a:r>
            <a:r>
              <a:rPr lang="en-US" sz="900" b="1" dirty="0">
                <a:solidFill>
                  <a:srgbClr val="4493F8"/>
                </a:solidFill>
                <a:latin typeface="Calibri" pitchFamily="34" charset="0"/>
                <a:ea typeface="Calibri" pitchFamily="34" charset="-122"/>
                <a:cs typeface="Calibri" pitchFamily="34" charset="-120"/>
              </a:rPr>
              <a:t>four tasks</a:t>
            </a:r>
            <a:r>
              <a:rPr lang="en-US" sz="900" dirty="0">
                <a:solidFill>
                  <a:srgbClr val="E6EDF3"/>
                </a:solidFill>
                <a:latin typeface="Calibri" pitchFamily="34" charset="0"/>
                <a:ea typeface="Calibri" pitchFamily="34" charset="-122"/>
                <a:cs typeface="Calibri" pitchFamily="34" charset="-120"/>
              </a:rPr>
              <a:t>: forecast from waist + past (0.35), from the waist alone (0.15), nowcast the hidden present from the past under five dropout patterns (0.25), fill-in (0.25) — under E-069b's rules: knowable targets only, no copy targets, every loss family scored against its own predict-the-mean bar</a:t>
            </a:r>
            <a:endParaRPr lang="en-US" sz="1050" dirty="0"/>
          </a:p>
        </p:txBody>
      </p:sp>
      <p:sp>
        <p:nvSpPr>
          <p:cNvPr id="10" name="Text 6"/>
          <p:cNvSpPr txBox="1"/>
          <p:nvPr/>
        </p:nvSpPr>
        <p:spPr>
          <a:xfrm>
            <a:off x="4069080" y="1371600"/>
            <a:ext cx="3337560"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CONE THE MODEL SHAPES</a:t>
            </a:r>
            <a:endParaRPr lang="en-US" sz="1000" dirty="0"/>
          </a:p>
        </p:txBody>
      </p:sp>
      <p:pic>
        <p:nvPicPr>
          <p:cNvPr id="11" name="Image 1" descr="/home/claude/earth/ml/plans/E080_figures/summary_cone.png">    </p:cNvPr>
          <p:cNvPicPr>
            <a:picLocks noChangeAspect="1"/>
          </p:cNvPicPr>
          <p:nvPr/>
        </p:nvPicPr>
        <p:blipFill>
          <a:blip r:embed="rId2"/>
          <a:stretch>
            <a:fillRect/>
          </a:stretch>
        </p:blipFill>
        <p:spPr>
          <a:xfrm>
            <a:off x="4069080" y="1627632"/>
            <a:ext cx="3337560" cy="2103120"/>
          </a:xfrm>
          <a:prstGeom prst="rect">
            <a:avLst/>
          </a:prstGeom>
        </p:spPr>
      </p:pic>
      <p:sp>
        <p:nvSpPr>
          <p:cNvPr id="12" name="Shape 7"/>
          <p:cNvSpPr/>
          <p:nvPr/>
        </p:nvSpPr>
        <p:spPr>
          <a:xfrm>
            <a:off x="4069080" y="3803904"/>
            <a:ext cx="3337560" cy="2368296"/>
          </a:xfrm>
          <a:prstGeom prst="roundRect">
            <a:avLst>
              <a:gd name="adj" fmla="val 2317"/>
            </a:avLst>
          </a:prstGeom>
          <a:solidFill>
            <a:srgbClr val="161B22"/>
          </a:solidFill>
          <a:ln w="12700">
            <a:solidFill>
              <a:srgbClr val="30363D"/>
            </a:solidFill>
            <a:prstDash val="solid"/>
          </a:ln>
        </p:spPr>
      </p:sp>
      <p:sp>
        <p:nvSpPr>
          <p:cNvPr id="13" name="Text 8"/>
          <p:cNvSpPr txBox="1"/>
          <p:nvPr/>
        </p:nvSpPr>
        <p:spPr>
          <a:xfrm>
            <a:off x="4270248" y="3895344"/>
            <a:ext cx="2935224" cy="2185416"/>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cone the model shapes · slides 8–12</a:t>
            </a:r>
            <a:endParaRPr lang="en-US" sz="1050" dirty="0"/>
          </a:p>
          <a:p>
            <a:pPr indent="0" marL="0">
              <a:buNone/>
            </a:pPr>
            <a:r>
              <a:rPr lang="en-US" sz="850" dirty="0">
                <a:solidFill>
                  <a:srgbClr val="E6EDF3"/>
                </a:solidFill>
                <a:latin typeface="Calibri" pitchFamily="34" charset="0"/>
                <a:ea typeface="Calibri" pitchFamily="34" charset="-122"/>
                <a:cs typeface="Calibri" pitchFamily="34" charset="-120"/>
              </a:rPr>
              <a:t>A fixed 24-point sunflower, phase-rotated by the golden angle per lag, warped by </a:t>
            </a:r>
            <a:r>
              <a:rPr lang="en-US" sz="850" b="1" dirty="0">
                <a:solidFill>
                  <a:srgbClr val="4493F8"/>
                </a:solidFill>
                <a:latin typeface="Calibri" pitchFamily="34" charset="0"/>
                <a:ea typeface="Calibri" pitchFamily="34" charset="-122"/>
                <a:cs typeface="Calibri" pitchFamily="34" charset="-120"/>
              </a:rPr>
              <a:t>eight dimensionless numbers per 1° cell and channel group</a:t>
            </a:r>
            <a:r>
              <a:rPr lang="en-US" sz="850" dirty="0">
                <a:solidFill>
                  <a:srgbClr val="E6EDF3"/>
                </a:solidFill>
                <a:latin typeface="Calibri" pitchFamily="34" charset="0"/>
                <a:ea typeface="Calibri" pitchFamily="34" charset="-122"/>
                <a:cs typeface="Calibri" pitchFamily="34" charset="-120"/>
              </a:rPr>
              <a:t>: a drift </a:t>
            </a:r>
            <a:r>
              <a:rPr lang="en-US" sz="850" b="1" dirty="0">
                <a:solidFill>
                  <a:srgbClr val="4493F8"/>
                </a:solidFill>
                <a:latin typeface="Calibri" pitchFamily="34" charset="0"/>
                <a:ea typeface="Calibri" pitchFamily="34" charset="-122"/>
                <a:cs typeface="Calibri" pitchFamily="34" charset="-120"/>
              </a:rPr>
              <a:t>d</a:t>
            </a:r>
            <a:r>
              <a:rPr lang="en-US" sz="850" dirty="0">
                <a:solidFill>
                  <a:srgbClr val="E6EDF3"/>
                </a:solidFill>
                <a:latin typeface="Calibri" pitchFamily="34" charset="0"/>
                <a:ea typeface="Calibri" pitchFamily="34" charset="-122"/>
                <a:cs typeface="Calibri" pitchFamily="34" charset="-120"/>
              </a:rPr>
              <a:t> toward the source (capped at cone v2's design speed) and two ellipses stored as </a:t>
            </a:r>
            <a:r>
              <a:rPr lang="en-US" sz="850" b="1" dirty="0">
                <a:solidFill>
                  <a:srgbClr val="4493F8"/>
                </a:solidFill>
                <a:latin typeface="Calibri" pitchFamily="34" charset="0"/>
                <a:ea typeface="Calibri" pitchFamily="34" charset="-122"/>
                <a:cs typeface="Calibri" pitchFamily="34" charset="-120"/>
              </a:rPr>
              <a:t>matrix logarithms</a:t>
            </a:r>
            <a:r>
              <a:rPr lang="en-US" sz="850" dirty="0">
                <a:solidFill>
                  <a:srgbClr val="E6EDF3"/>
                </a:solidFill>
                <a:latin typeface="Calibri" pitchFamily="34" charset="0"/>
                <a:ea typeface="Calibri" pitchFamily="34" charset="-122"/>
                <a:cs typeface="Calibri" pitchFamily="34" charset="-120"/>
              </a:rPr>
              <a:t> — no kilometres, no angle to wrap — with Σ(ℓ) = Σ</a:t>
            </a:r>
            <a:r>
              <a:rPr lang="en-US" sz="850" baseline="-40000" dirty="0">
                <a:solidFill>
                  <a:srgbClr val="E6EDF3"/>
                </a:solidFill>
                <a:latin typeface="Calibri" pitchFamily="34" charset="0"/>
                <a:ea typeface="Calibri" pitchFamily="34" charset="-122"/>
                <a:cs typeface="Calibri" pitchFamily="34" charset="-120"/>
              </a:rPr>
              <a:t>0</a:t>
            </a:r>
            <a:r>
              <a:rPr lang="en-US" sz="850" dirty="0">
                <a:solidFill>
                  <a:srgbClr val="E6EDF3"/>
                </a:solidFill>
                <a:latin typeface="Calibri" pitchFamily="34" charset="0"/>
                <a:ea typeface="Calibri" pitchFamily="34" charset="-122"/>
                <a:cs typeface="Calibri" pitchFamily="34" charset="-120"/>
              </a:rPr>
              <a:t> + ℓ</a:t>
            </a:r>
            <a:r>
              <a:rPr lang="en-US" sz="850" baseline="30000" dirty="0">
                <a:solidFill>
                  <a:srgbClr val="E6EDF3"/>
                </a:solidFill>
                <a:latin typeface="Calibri" pitchFamily="34" charset="0"/>
                <a:ea typeface="Calibri" pitchFamily="34" charset="-122"/>
                <a:cs typeface="Calibri" pitchFamily="34" charset="-120"/>
              </a:rPr>
              <a:t>2</a:t>
            </a:r>
            <a:r>
              <a:rPr lang="en-US" sz="850" dirty="0">
                <a:solidFill>
                  <a:srgbClr val="E6EDF3"/>
                </a:solidFill>
                <a:latin typeface="Calibri" pitchFamily="34" charset="0"/>
                <a:ea typeface="Calibri" pitchFamily="34" charset="-122"/>
                <a:cs typeface="Calibri" pitchFamily="34" charset="-120"/>
              </a:rPr>
              <a:t>Σ</a:t>
            </a:r>
            <a:r>
              <a:rPr lang="en-US" sz="850" baseline="-40000" dirty="0">
                <a:solidFill>
                  <a:srgbClr val="E6EDF3"/>
                </a:solidFill>
                <a:latin typeface="Calibri" pitchFamily="34" charset="0"/>
                <a:ea typeface="Calibri" pitchFamily="34" charset="-122"/>
                <a:cs typeface="Calibri" pitchFamily="34" charset="-120"/>
              </a:rPr>
              <a:t>v</a:t>
            </a:r>
            <a:r>
              <a:rPr lang="en-US" sz="850" dirty="0">
                <a:solidFill>
                  <a:srgbClr val="E6EDF3"/>
                </a:solidFill>
                <a:latin typeface="Calibri" pitchFamily="34" charset="0"/>
                <a:ea typeface="Calibri" pitchFamily="34" charset="-122"/>
                <a:cs typeface="Calibri" pitchFamily="34" charset="-120"/>
              </a:rPr>
              <a:t>. </a:t>
            </a:r>
            <a:r>
              <a:rPr lang="en-US" sz="850" b="1" dirty="0">
                <a:solidFill>
                  <a:srgbClr val="4493F8"/>
                </a:solidFill>
                <a:latin typeface="Calibri" pitchFamily="34" charset="0"/>
                <a:ea typeface="Calibri" pitchFamily="34" charset="-122"/>
                <a:cs typeface="Calibri" pitchFamily="34" charset="-120"/>
              </a:rPr>
              <a:t>One direction per flow, one scale and one memory per channel</a:t>
            </a:r>
            <a:r>
              <a:rPr lang="en-US" sz="850" dirty="0">
                <a:solidFill>
                  <a:srgbClr val="E6EDF3"/>
                </a:solidFill>
                <a:latin typeface="Calibri" pitchFamily="34" charset="0"/>
                <a:ea typeface="Calibri" pitchFamily="34" charset="-122"/>
                <a:cs typeface="Calibri" pitchFamily="34" charset="-120"/>
              </a:rPr>
              <a:t>: s</a:t>
            </a:r>
            <a:r>
              <a:rPr lang="en-US" sz="850" baseline="-40000" dirty="0">
                <a:solidFill>
                  <a:srgbClr val="E6EDF3"/>
                </a:solidFill>
                <a:latin typeface="Calibri" pitchFamily="34" charset="0"/>
                <a:ea typeface="Calibri" pitchFamily="34" charset="-122"/>
                <a:cs typeface="Calibri" pitchFamily="34" charset="-120"/>
              </a:rPr>
              <a:t>c</a:t>
            </a:r>
            <a:r>
              <a:rPr lang="en-US" sz="850" dirty="0">
                <a:solidFill>
                  <a:srgbClr val="E6EDF3"/>
                </a:solidFill>
                <a:latin typeface="Calibri" pitchFamily="34" charset="0"/>
                <a:ea typeface="Calibri" pitchFamily="34" charset="-122"/>
                <a:cs typeface="Calibri" pitchFamily="34" charset="-120"/>
              </a:rPr>
              <a:t> and τ</a:t>
            </a:r>
            <a:r>
              <a:rPr lang="en-US" sz="850" baseline="-40000" dirty="0">
                <a:solidFill>
                  <a:srgbClr val="E6EDF3"/>
                </a:solidFill>
                <a:latin typeface="Calibri" pitchFamily="34" charset="0"/>
                <a:ea typeface="Calibri" pitchFamily="34" charset="-122"/>
                <a:cs typeface="Calibri" pitchFamily="34" charset="-120"/>
              </a:rPr>
              <a:t>c</a:t>
            </a:r>
            <a:r>
              <a:rPr lang="en-US" sz="850" dirty="0">
                <a:solidFill>
                  <a:srgbClr val="E6EDF3"/>
                </a:solidFill>
                <a:latin typeface="Calibri" pitchFamily="34" charset="0"/>
                <a:ea typeface="Calibri" pitchFamily="34" charset="-122"/>
                <a:cs typeface="Calibri" pitchFamily="34" charset="-120"/>
              </a:rPr>
              <a:t> inflate or shrink the shared ellipse and set how far back the channel reads, applied as a Gaussian </a:t>
            </a:r>
            <a:r>
              <a:rPr lang="en-US" sz="850" b="1" dirty="0">
                <a:solidFill>
                  <a:srgbClr val="4493F8"/>
                </a:solidFill>
                <a:latin typeface="Calibri" pitchFamily="34" charset="0"/>
                <a:ea typeface="Calibri" pitchFamily="34" charset="-122"/>
                <a:cs typeface="Calibri" pitchFamily="34" charset="-120"/>
              </a:rPr>
              <a:t>aperture</a:t>
            </a:r>
            <a:r>
              <a:rPr lang="en-US" sz="850" dirty="0">
                <a:solidFill>
                  <a:srgbClr val="E6EDF3"/>
                </a:solidFill>
                <a:latin typeface="Calibri" pitchFamily="34" charset="0"/>
                <a:ea typeface="Calibri" pitchFamily="34" charset="-122"/>
                <a:cs typeface="Calibri" pitchFamily="34" charset="-120"/>
              </a:rPr>
              <a:t> over the group's shared per-location tokens — zero extra tokens. Learned </a:t>
            </a:r>
            <a:r>
              <a:rPr lang="en-US" sz="850" b="1" dirty="0">
                <a:solidFill>
                  <a:srgbClr val="4493F8"/>
                </a:solidFill>
                <a:latin typeface="Calibri" pitchFamily="34" charset="0"/>
                <a:ea typeface="Calibri" pitchFamily="34" charset="-122"/>
                <a:cs typeface="Calibri" pitchFamily="34" charset="-120"/>
              </a:rPr>
              <a:t>gate-first</a:t>
            </a:r>
            <a:r>
              <a:rPr lang="en-US" sz="850" dirty="0">
                <a:solidFill>
                  <a:srgbClr val="E6EDF3"/>
                </a:solidFill>
                <a:latin typeface="Calibri" pitchFamily="34" charset="0"/>
                <a:ea typeface="Calibri" pitchFamily="34" charset="-122"/>
                <a:cs typeface="Calibri" pitchFamily="34" charset="-120"/>
              </a:rPr>
              <a:t> (a soft aperture over fixed dots, so the loader never depends on live weights), then </a:t>
            </a:r>
            <a:r>
              <a:rPr lang="en-US" sz="850" b="1" dirty="0">
                <a:solidFill>
                  <a:srgbClr val="4493F8"/>
                </a:solidFill>
                <a:latin typeface="Calibri" pitchFamily="34" charset="0"/>
                <a:ea typeface="Calibri" pitchFamily="34" charset="-122"/>
                <a:cs typeface="Calibri" pitchFamily="34" charset="-120"/>
              </a:rPr>
              <a:t>hardened</a:t>
            </a:r>
            <a:r>
              <a:rPr lang="en-US" sz="850" dirty="0">
                <a:solidFill>
                  <a:srgbClr val="E6EDF3"/>
                </a:solidFill>
                <a:latin typeface="Calibri" pitchFamily="34" charset="0"/>
                <a:ea typeface="Calibri" pitchFamily="34" charset="-122"/>
                <a:cs typeface="Calibri" pitchFamily="34" charset="-120"/>
              </a:rPr>
              <a:t> (dot tables re-baked at epoch boundaries)</a:t>
            </a:r>
            <a:endParaRPr lang="en-US" sz="1050" dirty="0"/>
          </a:p>
        </p:txBody>
      </p:sp>
      <p:sp>
        <p:nvSpPr>
          <p:cNvPr id="14" name="Text 9"/>
          <p:cNvSpPr txBox="1"/>
          <p:nvPr/>
        </p:nvSpPr>
        <p:spPr>
          <a:xfrm>
            <a:off x="7589520" y="1371600"/>
            <a:ext cx="4050792" cy="201168"/>
          </a:xfrm>
          <a:prstGeom prst="rect">
            <a:avLst/>
          </a:prstGeom>
          <a:noFill/>
          <a:ln/>
        </p:spPr>
        <p:txBody>
          <a:bodyPr wrap="square" lIns="0" tIns="0" rIns="0" bIns="0" rtlCol="0" anchor="ctr"/>
          <a:lstStyle/>
          <a:p>
            <a:pPr indent="0" marL="0">
              <a:buNone/>
            </a:pPr>
            <a:r>
              <a:rPr lang="en-US" sz="1000" b="1" spc="110" kern="0" dirty="0">
                <a:solidFill>
                  <a:srgbClr val="E3B341"/>
                </a:solidFill>
                <a:latin typeface="Calibri" pitchFamily="34" charset="0"/>
                <a:ea typeface="Calibri" pitchFamily="34" charset="-122"/>
                <a:cs typeface="Calibri" pitchFamily="34" charset="-120"/>
              </a:rPr>
              <a:t>THE EXPERIMENT</a:t>
            </a:r>
            <a:endParaRPr lang="en-US" sz="1000" dirty="0"/>
          </a:p>
        </p:txBody>
      </p:sp>
      <p:sp>
        <p:nvSpPr>
          <p:cNvPr id="15" name="Shape 10"/>
          <p:cNvSpPr/>
          <p:nvPr/>
        </p:nvSpPr>
        <p:spPr>
          <a:xfrm>
            <a:off x="7589520" y="1627632"/>
            <a:ext cx="4050792" cy="2103120"/>
          </a:xfrm>
          <a:prstGeom prst="roundRect">
            <a:avLst>
              <a:gd name="adj" fmla="val 2609"/>
            </a:avLst>
          </a:prstGeom>
          <a:solidFill>
            <a:srgbClr val="11202F"/>
          </a:solidFill>
          <a:ln w="19050">
            <a:solidFill>
              <a:srgbClr val="E3B341"/>
            </a:solidFill>
            <a:prstDash val="dash"/>
          </a:ln>
        </p:spPr>
      </p:sp>
      <p:sp>
        <p:nvSpPr>
          <p:cNvPr id="16" name="Text 11"/>
          <p:cNvSpPr txBox="1"/>
          <p:nvPr/>
        </p:nvSpPr>
        <p:spPr>
          <a:xfrm>
            <a:off x="7589520" y="2176272"/>
            <a:ext cx="4050792" cy="384048"/>
          </a:xfrm>
          <a:prstGeom prst="rect">
            <a:avLst/>
          </a:prstGeom>
          <a:noFill/>
          <a:ln/>
        </p:spPr>
        <p:txBody>
          <a:bodyPr wrap="square" lIns="0" tIns="0" rIns="0" bIns="0" rtlCol="0" anchor="ctr"/>
          <a:lstStyle/>
          <a:p>
            <a:pPr algn="ctr" indent="0" marL="0">
              <a:buNone/>
            </a:pPr>
            <a:r>
              <a:rPr lang="en-US" sz="1600" b="1" dirty="0">
                <a:solidFill>
                  <a:srgbClr val="7D8590"/>
                </a:solidFill>
                <a:latin typeface="Calibri" pitchFamily="34" charset="0"/>
                <a:ea typeface="Calibri" pitchFamily="34" charset="-122"/>
                <a:cs typeface="Calibri" pitchFamily="34" charset="-120"/>
              </a:rPr>
              <a:t>RESULTS — figure to be inserted</a:t>
            </a:r>
            <a:endParaRPr lang="en-US" sz="1600" dirty="0"/>
          </a:p>
        </p:txBody>
      </p:sp>
      <p:sp>
        <p:nvSpPr>
          <p:cNvPr id="17" name="Text 12"/>
          <p:cNvSpPr txBox="1"/>
          <p:nvPr/>
        </p:nvSpPr>
        <p:spPr>
          <a:xfrm>
            <a:off x="7955280" y="2651760"/>
            <a:ext cx="3319272" cy="731520"/>
          </a:xfrm>
          <a:prstGeom prst="rect">
            <a:avLst/>
          </a:prstGeom>
          <a:noFill/>
          <a:ln/>
        </p:spPr>
        <p:txBody>
          <a:bodyPr wrap="square" lIns="0" tIns="0" rIns="0" bIns="0" rtlCol="0" anchor="t"/>
          <a:lstStyle/>
          <a:p>
            <a:pPr algn="ctr" indent="0" marL="0">
              <a:buNone/>
            </a:pPr>
            <a:r>
              <a:rPr lang="en-US" sz="1000" dirty="0">
                <a:solidFill>
                  <a:srgbClr val="7D8590"/>
                </a:solidFill>
                <a:latin typeface="Calibri" pitchFamily="34" charset="0"/>
                <a:ea typeface="Calibri" pitchFamily="34" charset="-122"/>
                <a:cs typeface="Calibri" pitchFamily="34" charset="-120"/>
              </a:rPr>
              <a:t>R1 · future-cone loss per lead, A0 fixed / A1 learned / A2 primed, 3 seeds · R3 · learned drift vs upstream · R4 · the western-boundary depth check</a:t>
            </a:r>
            <a:endParaRPr lang="en-US" sz="1000" dirty="0"/>
          </a:p>
        </p:txBody>
      </p:sp>
      <p:sp>
        <p:nvSpPr>
          <p:cNvPr id="18" name="Text 13"/>
          <p:cNvSpPr txBox="1"/>
          <p:nvPr/>
        </p:nvSpPr>
        <p:spPr>
          <a:xfrm>
            <a:off x="7589520" y="3749040"/>
            <a:ext cx="4050792" cy="274320"/>
          </a:xfrm>
          <a:prstGeom prst="rect">
            <a:avLst/>
          </a:prstGeom>
          <a:noFill/>
          <a:ln/>
        </p:spPr>
        <p:txBody>
          <a:bodyPr wrap="square" lIns="0" tIns="0" rIns="0" bIns="0" rtlCol="0" anchor="ctr"/>
          <a:lstStyle/>
          <a:p>
            <a:pPr indent="0" marL="0">
              <a:buNone/>
            </a:pPr>
            <a:r>
              <a:rPr lang="en-US" sz="950" i="1" dirty="0">
                <a:solidFill>
                  <a:srgbClr val="7D8590"/>
                </a:solidFill>
                <a:latin typeface="Calibri" pitchFamily="34" charset="0"/>
                <a:ea typeface="Calibri" pitchFamily="34" charset="-122"/>
                <a:cs typeface="Calibri" pitchFamily="34" charset="-120"/>
              </a:rPr>
              <a:t>Reserved for the measured result — empty until a run has produced it.</a:t>
            </a:r>
            <a:endParaRPr lang="en-US" sz="950" dirty="0"/>
          </a:p>
        </p:txBody>
      </p:sp>
      <p:sp>
        <p:nvSpPr>
          <p:cNvPr id="19" name="Shape 14"/>
          <p:cNvSpPr/>
          <p:nvPr/>
        </p:nvSpPr>
        <p:spPr>
          <a:xfrm>
            <a:off x="7589520" y="4041648"/>
            <a:ext cx="4050792" cy="960120"/>
          </a:xfrm>
          <a:prstGeom prst="roundRect">
            <a:avLst>
              <a:gd name="adj" fmla="val 5714"/>
            </a:avLst>
          </a:prstGeom>
          <a:solidFill>
            <a:srgbClr val="161B22"/>
          </a:solidFill>
          <a:ln w="12700">
            <a:solidFill>
              <a:srgbClr val="30363D"/>
            </a:solidFill>
            <a:prstDash val="solid"/>
          </a:ln>
        </p:spPr>
      </p:sp>
      <p:sp>
        <p:nvSpPr>
          <p:cNvPr id="20" name="Text 15"/>
          <p:cNvSpPr txBox="1"/>
          <p:nvPr/>
        </p:nvSpPr>
        <p:spPr>
          <a:xfrm>
            <a:off x="7790688" y="4133088"/>
            <a:ext cx="3648456" cy="777240"/>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guards · slides 13, 15</a:t>
            </a:r>
            <a:endParaRPr lang="en-US" sz="1050" dirty="0"/>
          </a:p>
          <a:p>
            <a:pPr indent="0" marL="0">
              <a:buNone/>
            </a:pPr>
            <a:r>
              <a:rPr lang="en-US" sz="850" dirty="0">
                <a:solidFill>
                  <a:srgbClr val="E6EDF3"/>
                </a:solidFill>
                <a:latin typeface="Calibri" pitchFamily="34" charset="0"/>
                <a:ea typeface="Calibri" pitchFamily="34" charset="-122"/>
                <a:cs typeface="Calibri" pitchFamily="34" charset="-120"/>
              </a:rPr>
              <a:t>Coarse-10°-plus-1°-residual prior; log-space soft floors; mirror tie; stop-gradient on target positions; evaluation geometry frozen for every arm; the far ring kept and never gated; the aperture never touches the loss weights — so the cone cannot learn to ask easy questions</a:t>
            </a:r>
            <a:endParaRPr lang="en-US" sz="1050" dirty="0"/>
          </a:p>
        </p:txBody>
      </p:sp>
      <p:sp>
        <p:nvSpPr>
          <p:cNvPr id="21" name="Shape 16"/>
          <p:cNvSpPr/>
          <p:nvPr/>
        </p:nvSpPr>
        <p:spPr>
          <a:xfrm>
            <a:off x="7589520" y="5056632"/>
            <a:ext cx="4050792" cy="1115568"/>
          </a:xfrm>
          <a:prstGeom prst="roundRect">
            <a:avLst>
              <a:gd name="adj" fmla="val 4918"/>
            </a:avLst>
          </a:prstGeom>
          <a:solidFill>
            <a:srgbClr val="161B22"/>
          </a:solidFill>
          <a:ln w="12700">
            <a:solidFill>
              <a:srgbClr val="30363D"/>
            </a:solidFill>
            <a:prstDash val="solid"/>
          </a:ln>
        </p:spPr>
      </p:sp>
      <p:sp>
        <p:nvSpPr>
          <p:cNvPr id="22" name="Text 17"/>
          <p:cNvSpPr txBox="1"/>
          <p:nvPr/>
        </p:nvSpPr>
        <p:spPr>
          <a:xfrm>
            <a:off x="7790688" y="5148072"/>
            <a:ext cx="3648456" cy="932688"/>
          </a:xfrm>
          <a:prstGeom prst="rect">
            <a:avLst/>
          </a:prstGeom>
          <a:noFill/>
          <a:ln/>
        </p:spPr>
        <p:txBody>
          <a:bodyPr wrap="square" lIns="0" tIns="0" rIns="0" bIns="0" rtlCol="0" anchor="t"/>
          <a:lstStyle/>
          <a:p>
            <a:pPr indent="0" marL="0">
              <a:spcAft>
                <a:spcPts val="500"/>
              </a:spcAft>
              <a:buNone/>
            </a:pPr>
            <a:r>
              <a:rPr lang="en-US" sz="1050" b="1" dirty="0">
                <a:solidFill>
                  <a:srgbClr val="E3B341"/>
                </a:solidFill>
                <a:latin typeface="Calibri" pitchFamily="34" charset="0"/>
                <a:ea typeface="Calibri" pitchFamily="34" charset="-122"/>
                <a:cs typeface="Calibri" pitchFamily="34" charset="-120"/>
              </a:rPr>
              <a:t>The experiment · verdict · slide 17</a:t>
            </a:r>
            <a:endParaRPr lang="en-US" sz="1050" dirty="0"/>
          </a:p>
          <a:p>
            <a:pPr indent="0" marL="0">
              <a:buNone/>
            </a:pPr>
            <a:r>
              <a:rPr lang="en-US" sz="850" b="1" dirty="0">
                <a:solidFill>
                  <a:srgbClr val="4493F8"/>
                </a:solidFill>
                <a:latin typeface="Calibri" pitchFamily="34" charset="0"/>
                <a:ea typeface="Calibri" pitchFamily="34" charset="-122"/>
                <a:cs typeface="Calibri" pitchFamily="34" charset="-120"/>
              </a:rPr>
              <a:t>A0</a:t>
            </a:r>
            <a:r>
              <a:rPr lang="en-US" sz="850" dirty="0">
                <a:solidFill>
                  <a:srgbClr val="E6EDF3"/>
                </a:solidFill>
                <a:latin typeface="Calibri" pitchFamily="34" charset="0"/>
                <a:ea typeface="Calibri" pitchFamily="34" charset="-122"/>
                <a:cs typeface="Calibri" pitchFamily="34" charset="-120"/>
              </a:rPr>
              <a:t> fixed hourglass — the control and everyone's eval geometry · </a:t>
            </a:r>
            <a:r>
              <a:rPr lang="en-US" sz="850" b="1" dirty="0">
                <a:solidFill>
                  <a:srgbClr val="4493F8"/>
                </a:solidFill>
                <a:latin typeface="Calibri" pitchFamily="34" charset="0"/>
                <a:ea typeface="Calibri" pitchFamily="34" charset="-122"/>
                <a:cs typeface="Calibri" pitchFamily="34" charset="-120"/>
              </a:rPr>
              <a:t>A1</a:t>
            </a:r>
            <a:r>
              <a:rPr lang="en-US" sz="850" dirty="0">
                <a:solidFill>
                  <a:srgbClr val="E6EDF3"/>
                </a:solidFill>
                <a:latin typeface="Calibri" pitchFamily="34" charset="0"/>
                <a:ea typeface="Calibri" pitchFamily="34" charset="-122"/>
                <a:cs typeface="Calibri" pitchFamily="34" charset="-120"/>
              </a:rPr>
              <a:t> learned from A0's init · </a:t>
            </a:r>
            <a:r>
              <a:rPr lang="en-US" sz="850" b="1" dirty="0">
                <a:solidFill>
                  <a:srgbClr val="4493F8"/>
                </a:solidFill>
                <a:latin typeface="Calibri" pitchFamily="34" charset="0"/>
                <a:ea typeface="Calibri" pitchFamily="34" charset="-122"/>
                <a:cs typeface="Calibri" pitchFamily="34" charset="-120"/>
              </a:rPr>
              <a:t>A2</a:t>
            </a:r>
            <a:r>
              <a:rPr lang="en-US" sz="850" dirty="0">
                <a:solidFill>
                  <a:srgbClr val="E6EDF3"/>
                </a:solidFill>
                <a:latin typeface="Calibri" pitchFamily="34" charset="0"/>
                <a:ea typeface="Calibri" pitchFamily="34" charset="-122"/>
                <a:cs typeface="Calibri" pitchFamily="34" charset="-120"/>
              </a:rPr>
              <a:t> learned, surface drift primed at −u_clim·Δt. Same 7 M codec, 20 k steps, frozen protocol, </a:t>
            </a:r>
            <a:r>
              <a:rPr lang="en-US" sz="850" b="1" dirty="0">
                <a:solidFill>
                  <a:srgbClr val="4493F8"/>
                </a:solidFill>
                <a:latin typeface="Calibri" pitchFamily="34" charset="0"/>
                <a:ea typeface="Calibri" pitchFamily="34" charset="-122"/>
                <a:cs typeface="Calibri" pitchFamily="34" charset="-120"/>
              </a:rPr>
              <a:t>3 seeds each</a:t>
            </a:r>
            <a:r>
              <a:rPr lang="en-US" sz="850" dirty="0">
                <a:solidFill>
                  <a:srgbClr val="E6EDF3"/>
                </a:solidFill>
                <a:latin typeface="Calibri" pitchFamily="34" charset="0"/>
                <a:ea typeface="Calibri" pitchFamily="34" charset="-122"/>
                <a:cs typeface="Calibri" pitchFamily="34" charset="-120"/>
              </a:rPr>
              <a:t>, one tensor (</a:t>
            </a:r>
            <a:r>
              <a:rPr lang="en-US" sz="850" u="sng" dirty="0">
                <a:solidFill>
                  <a:srgbClr val="4493F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family 7.2</a:t>
            </a:r>
            <a:r>
              <a:rPr lang="en-US" sz="850" dirty="0">
                <a:solidFill>
                  <a:srgbClr val="E6EDF3"/>
                </a:solidFill>
                <a:latin typeface="Calibri" pitchFamily="34" charset="0"/>
                <a:ea typeface="Calibri" pitchFamily="34" charset="-122"/>
                <a:cs typeface="Calibri" pitchFamily="34" charset="-120"/>
              </a:rPr>
              <a:t>); read-outs R1–R5. </a:t>
            </a:r>
            <a:r>
              <a:rPr lang="en-US" sz="850" b="1" dirty="0">
                <a:solidFill>
                  <a:srgbClr val="4493F8"/>
                </a:solidFill>
                <a:latin typeface="Calibri" pitchFamily="34" charset="0"/>
                <a:ea typeface="Calibri" pitchFamily="34" charset="-122"/>
                <a:cs typeface="Calibri" pitchFamily="34" charset="-120"/>
              </a:rPr>
              <a:t>Verdict</a:t>
            </a:r>
            <a:r>
              <a:rPr lang="en-US" sz="850" dirty="0">
                <a:solidFill>
                  <a:srgbClr val="E6EDF3"/>
                </a:solidFill>
                <a:latin typeface="Calibri" pitchFamily="34" charset="0"/>
                <a:ea typeface="Calibri" pitchFamily="34" charset="-122"/>
                <a:cs typeface="Calibri" pitchFamily="34" charset="-120"/>
              </a:rPr>
              <a:t>: A1 beats A0 on R1 at every lead ≤ 3, paired at all seeds, R5 clean → adopt; A2 &gt; A1 ≈ A0 → geometry from climatology; neither → keep A0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cut-off mirrored double cone — one-slide summary</dc:title>
  <dc:subject>PptxGenJS Presentation</dc:subject>
  <dc:creator>Deck builder</dc:creator>
  <cp:lastModifiedBy>Deck builder</cp:lastModifiedBy>
  <cp:revision>1</cp:revision>
  <dcterms:created xsi:type="dcterms:W3CDTF">2026-09-16T11:12:46Z</dcterms:created>
  <dcterms:modified xsi:type="dcterms:W3CDTF">2026-09-16T11:12:46Z</dcterms:modified>
</cp:coreProperties>
</file>