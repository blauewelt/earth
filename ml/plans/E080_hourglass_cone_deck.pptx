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proposes the next shape of the stage-one model, the encoder that turns one place at one time into an embedding. Chris set four points this morning: the input cone loses its tip and becomes a bottleneck of several points; a second cone is sampled into the future and used only as targets; the model trains under a random mix of forecasting and reconstruction tasks; and the shape of the cone — where it points, how wide it is, which way it is stretched — becomes something the model learns separately for every region of the planet. The first three points are settled decisions and the deck turns them into a specification. The fourth is a request for a proposal, and the deck's recommendation is a warped sunflower: a fixed pattern of sample points that a small set of per-region numbers stretches and shifts, with one direction shared by everything a flow carries and one scale per channel, read through a soft aperture so that the loss can push on the numbers directly. Everything is written so it can be measured as one experiment, E-080, against the geometry we already have. Nothing in this deck has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the record, because the new design is a response to it. E-069 was the first cone-native codec: for every ocean cell it read a thirty-day cone of samples around it, called dots, plus the present three-by-three patch, and it was asked to predict the cell's own future one and two pentads out — a pentad is a five-day bin. Its headline hypothesis, that thirty days of history would put the cell's own current velocity into the embedding, was refuted at five seeds under two objectives. What the history did buy was real: fields that persist, like sea-surface height, were reconstructed far better from history, and the short forecast improved by seven to eight percent. Then cone v2 fixed the geometry's known faults — it went global, it smoothed the seasonal baseline, it placed the Argo float tokens where floats actually were, and it sized every cone from the fastest thing that could carry information, times a safety factor. That last choice has a cost the v2 plan named itself: with a reach of a hemisphere by lag three, a fixed budget of dots samples the near field very thinly. The design in this deck is what lets the cone be both — wide enough to never exclude a cause, and dense where the causes actually are — by letting each region decide where its dense part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shape on one page. Time runs upward, space sideways. Below the middle is the past cone: everything the model reads about the last thirty days, widening with lag because a driver further back in time can have come from further away. In the middle is the waist — the tip of the cone, cut off. In E-069 the present was a single three-by-three patch; here it is a small disc of several cells, and it is the only place the model both reads and is asked to reconstruct. The embedding is made here, at the waist. Above the middle is the future cone: the same shape reflected through the anchor point, widening into the future, and never read — it exists only to be predicted. Mirrored means point-mirrored: the future cone at lead plus three is the past cone at lag minus three turned through the anchor. That is not a decoration; it is what advection looks like in space-time. Water that reaches the anchor came from upstream and will go downstream, so a cone that leans upstream in the past should lean downstream in the future. The dashed line is the anchor column — the cell's own history and its own future — and it is always inside both cones whatever else the geometry does, so the fixed-frame forecast that stage two needs is always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one. Why cut the tip off at all? Because the quantities the AMOC read-out actually depends on are gradients. Thermal wind — the vertical shear of the current — is a horizontal density gradient. Geostrophic velocity is a slope in sea-surface height. A gradient does not exist inside one cell; it needs neighbours at the same moment. The E-069 record says the same thing from the other side: the snapshot twin's velocity read-out was exactly what a ridge regression on the raw three-by-three patch gives — geostrophy from the patch — and the cone added nothing to it. So the present deserves more than a single point. The waist is a small disc of cells around the anchor, thirteen by default, arranged as a tiny sunflower so that every bearing is represented. It is read as input, and it is what the model reconstructs in the anchor-reconstruction task. It carries the same shape parameters as the rest of the cone evaluated at lag zero, so where the flow is a narrow jet the waist can be stretched along it. One embedding per anchor summarises the waist, exactly as today, so stage two and every archived probe see the same kind of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two. The prediction cone is the future half of the hourglass. It is sampled by the same machinery as the past cone, reflected through the anchor, out to six pentads ahead — thirty days, matching the thirty days of history. Nothing in it is ever read by the encoder. Each dot in it is a question put to the decoder: at this channel, this offset, this lead, this depth, what is the value? The decoder answers with a mean and a variance, and is scored with the Gaussian negative log-likelihood we already use. Two rules carry over from E-069b, the run that fixed the first masking plan: every loss family is reported against the score you would get by predicting the mean, so a target that cannot be known shows up as a bar of one rather than hiding in an average; and the anchor's own column is always among the targets, so the forecast at the anchor itself — the thing stage two rolls forward — is always trained. One more rule is new and matters for point four: the geometry used at evaluation time is frozen to the fixed hourglass. The training cone may move; the yardstick does not. Otherwise two runs with different learned cones would be scoring themselves on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three. Each training example draws one of four tasks. Task one is the full problem: read the waist and the past, predict the future cone. Task two is the same question with the past entirely hidden — the snapshot twin from E-069, but now living inside the same model, so every run reports what history buys without a second run. Task three is the nowcast: hide the present and reconstruct it from history, under one of several dropout patterns applied to the past. Task four keeps E-069b's reconstruction family: hide some cells and dots in both the waist and the past and fill them in. The dropout patterns are the ones already in the code plus one: dropping a channel at the present only, hiding the most recent lags so the model must extrapolate from stale history, hiding a wedge of bearings so it cannot lean on one direction, hiding dots at random to imitate sparse observations, and — for the nowcast only — hiding the whole present. The shares are a starting point, not a result; they are a knob the experiment records. The one rule that is not a knob comes from E-069b's failure: a target's channel must be visible somewhere in the input, at some lag, or the target is unknowable and only teaches the model to predict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all paid for already. The first is that every target must be knowable from the input: the first E-069 plan hid a channel at the present and at every dot, so most of the hidden-dot targets belonged to channels the encoder could not see at all, and two thirds of the loss became a lesson in predicting the mean. The second is that no target may be a copy of something visible: the anchor family scores only channels that were dropped, because a target the model can read off the input is not a question. The third is that every loss family is reported against its own predict-the-mean bar, per task, per family, per lead, so a number is only called learned where the ratio sits below one at held-out anchors. On mechanics: the model is not told which task it is in by a special token. The masks are visible — there is already a token for "hidden by us" and a different one for "the data never observed this" — and every decoder query carries its lead in its coordinates. That is enough for the model to know what is being asked. The shares in the table decide how often each task is drawn; within an example the loss weights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four, the proposal, in its revision-3 form. The cone at a given lag is a Gaussian footprint: a centre, and a covariance that says how wide it is and in which direction it is stretched. The dots are the fixed sunflower — the same twenty-four-point pattern the project has used since E-026, the experiment that introduced the sunflower stencil for stage two — pushed through that covariance, so the pattern is squashed, stretched and shifted but never re-invented. One small change from earlier revisions, prompted by Chris asking whether time is sampled the same way: it is not a three-dimensional sunflower — time is sampled densely, one slice per pentad, because five days is the finest cadence the tensor has and the thirty-day window is the codec's whole job under cone v2's split — but a stack of identical slices repeats the same bearings at every lag, and consecutive lags sit closer together than the dots do, which is a redundant sampling of the cone's volume. So the sunflower's phase now advances by the golden angle from one lag to the next: the slices interleave, the cone is covered like a three-dimensional Fibonacci lattice, and it costs nothing. Eight numbers per region and channel group define it. Two are the drift: where the centre moves for each pentad you step back, the arrow toward the source, stored as a fraction of the design speed so it can never exceed it. Three are the waist ellipse, and here the storage matters: instead of an angle and two radii, we store the matrix logarithm of the covariance — a symmetric two-by-two matrix whose entries are in log-kilometres. Its trace is the overall size; its traceless part is the log of the aspect ratio times the double-angle phasor, cos two theta and sin two theta. That representation has no angle to wrap around at 180 degrees, treats a circle as the natural zero, and — the point the reviewer raised — is scale-free. Three more numbers are the velocity-spread ellipse, which says how fast the footprint widens per pentad; a footprint whose standard deviation grows linearly with lag is exactly the reach-grows-with-lag rule the geometry module already encodes. Why log form, in one sentence: the Adam optimiser moves every parameter by roughly one learning rate per step in that parameter's own units, so a radius stored in kilometres moves a fixed number of kilometres — which freezes a wide aperture and makes a narrow one jitter — while a log-radius moves by a fixed fraction of its current size, the same at every scale. The future cone is the mirror image with the same covariance, the anchor's own cell is always included, and the one thing this slide leaves out — that channels need different sizes —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question Chris asked: don't we need a scale for each channel? Yes — and the split is the whole design. What is shared is the direction: the drift toward the source and the elongation of the footprint along the jet. Those are properties of the flow. Temperature, salinity, sea-surface height and the currents themselves are all carried by the same water, so giving each of them its own arrow would multiply the parameters and let the model learn different "upstreams" for quantities that arrive from the same place. What is per channel is the scale. The current geometry module — the file `ml/cone.py`, whose `FAMILIES` table assigns every channel a propagation speed, a memory and a correlation length — already says the channels differ: wind stress reads five hundred kilometres at the two lags inside its ten-day memory and nothing beyond, the ocean channels grow at a hundred and thirty kilometres per pentad, sea-surface temperature and mixed-layer depth are L-shaped — wide at lags zero and one where the atmosphere stirs them, then the ocean's slow growth — and land is a flat four hundred kilometres because soil does not advect. So each channel gets a log-scale offset that inflates or shrinks the shared ellipse without turning it — two of them for the L-shaped channels, one for the first two lags and one beyond — and, since revision 3.1, a memory: a time constant that says how far back the channel is worth reading, applied as an exponential weight over lag. That second number is the same table's other column made learnable: wind stress today is hard-coded to read lags zero and one and nothing beyond, because its memory is ten days; with a learned memory that cut-off is a starting value, not a rule. Both start at the values the geometry module already uses, so at step zero every channel reads exactly the reach and the lags it reads today. In the picture: the left panel is one dot set with three apertures of different size but the same centre and orientation; the right panel shows the same dots weighted for two channels — for the currents only the inner dots count, for sea-surface temperature at lag one more of them do. How the weighting happens, and why it costs no tokens,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that makes a per-channel scale free is the per-location token, which cone v2 introduced in its section 6.4: instead of one token per channel per dot — the E-069 layout, seven hundred and six dot tokens for a handful of channels — one token per dot that carries every channel of the group as a vector of values and a vector of observed flags. Each channel's entries in that vector are multiplied by that channel's own aperture weight at that dot before the token is projected into the model. The weight has two factors. In space it is a Gaussian of the dot's offset under the channel's covariance: near the centre it is one, far outside the channel's aperture it is essentially zero. In time it is an exponential decay over lag with the channel's own memory, so a channel with a ten-day memory reads lag four at about fourteen percent — the hard "lags zero and one only" rule for wind stress, turned into a soft weight the model can move. So a dot four hundred kilometres from the anchor at lag one is read by the currents at about thirty percent — their initial aperture is two hundred and sixty kilometres — and by sea-surface temperature at about seventy percent, because its initial aperture at that lag is five hundred. Same token, same read, two different weights. No new tokens, no new reads, one elementwise multiply per token. And because the weight is a smooth function of the shared shape, the shared drift and the channel's own scale and memory, the loss reaches all four through every dot at once — a far better gradient than the four-neighbouring-cells one that reading at interpolated positions would give, and the reason the next slide can let the geometry learn without the data loader knowing where it currently is. One exception, stated once: the fixed far ring of cone v2 is never gated. It is the safety net, and a safety net the model can switch off is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loss reach a geometry, without the data loader having to know where the geometry currently is? In two phases. In the first, the candidate dots are fixed: the log-radial set cone v2 already specified, thirty-six per lag per group out to the design reach, plus the anchor's own column. Because the set is fixed, the sampler reads the same cells for a given region every time — regular, cacheable reads that never depend on what the model has learned so far, which is what the reviewer's comment B was rightly worried about. What the model learns is how much each candidate counts, per channel, through the aperture weights of the previous slide; and because every candidate contributes to those weights, the gradient on the ellipse, the drift and the per-channel offsets is informed by the whole candidate set at once, not by the four cells nearest each dot. In the second phase the geometry is hardened: every couple of thousand steps the dense dot table for each region is regenerated from the current ellipses — the warped sunflower of slide 8 — and the loader swaps to the new table at that boundary, so within an epoch the reads are as regular as before. The far ring stays fixed as the safety net, and the apertures stay on, because they are what carries the per-channel scale. This replaces revision 1's plan of reading at continuous positions by interpolation, which would have made the loader's read pattern depend on the live weights and whose gradient only ever saw four neighbouring cells; it also removes the pre-averaged pyramid that plan needed. One practical detail from the deformable-attention literature: the geometry parameters get their own learning-rate multiplier, ten times the codec's to start, recorded in the run so it can be tuned. And nothing here touches the evaluation geometry, which stays frozen to the fixed hourglass for every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 eight numbers live? On a one-degree map. A one-degree grid over the globe has about sixty-five thousand cells; an anchor takes the blend of the four cells around it, so the geometry varies smoothly and never jumps at a cell edge. One degree is not a round number picked for comfort: the currents that carry the overturning are about a hundred kilometres wide — the Florida Current runs through an eighty-kilometre strait — and a ten-degree cell would average the Gulf Stream with the water flowing back the other way beside it and learn an arrow of nearly zero. The concern with a fine map is noise in cells that see little data, at the ice edge or along coasts. The answer is a hierarchical prior rather than a coarser map: every map is a coarse ten-degree map plus a one-degree residual, and the residual is shrunk toward zero and smoothed toward its neighbours, so a cell with little evidence inherits the arrow of its region. Even so, each one-degree cell sees about fifty thousand anchor-pentads for its eight numbers. There is one map per channel group, because what moves a signal decides where its source is: the ocean surface group, the atmosphere group with drift only inside its ten-day memory, and the land group, which does not advect and learns only axes and angle. Argo gets no map at all. Its channels arrive as the nearest profile tokens, placed where the floats actually were, each carrying its own offset, age and depth — there is no ellipse there to learn, and the earlier draft's three depth maps were a leftover from the column-only Argo of E-069. The physics that motivated them still matters — at the RAPID line the upper limb flows north and the deep boundary current south — but a token that carries its own depth and offset lets attention weight deep tokens from the north and surface tokens from the south by itself. That becomes a diagnostic rather than a geometry. All told the maps hold about one and a half million numbers, half of them live, plus a hundred or so per-channel scales and memories that are global rather than per region, and none of it costs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numbers are bounded by physics and tied to the fixed cone. The drift cannot exceed the design speed cone v2 set — the fastest measured current times one and a half, about two thousand three hundred kilometres per pentad — so the learned cone always lives inside the envelope v2 argued for. The shapes are stored as logarithms, so the optimiser moves them by fractions rather than by kilometres, and the floors — no waist narrower than one cell, no spread faster than the design speed — are soft offsets in that log space rather than hard clips that would kill the gradient. The one-degree residual is shrunk and smoothed under a single prior weight that the run records. The future cone shares the numbers, reflected; letting it have its own is an ablation. Two guards protect the learning itself. First, the loss reaches the geometry only through the input reads; where a target sits is treated as a constant. Without that, the model would learn to move its questions to wherever they are easiest, and a cone that points at flat water would look excellent. Second, the v2 safety net stays, and it is never gated: alongside the learned ellipse, every lag keeps one fixed ring of twenty-four dots at log-spaced radii to the far side of the planet, read at full weight. That is the point of v2 — a cone that is too narrow silently asserts that a driver could not have arrived — and the learned ellipse adds direction and density on top of it rather than replacing it. And the initial values reproduce the fixed hourglass exactly — the measured anisotropy for the waist, the geometry module's speed for the spread, its reach table for each channel's scale — so the learned arm starts as the control and every departure from it is something the data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picture Chris asked for, drawn as we expect the model to draw it. An anchor on the western boundary just north of the RAPID line. For the surface group, water arrives up the Florida Current from the Caribbean, so the past cone should drift south-west, growing as it goes back, and the future cone should lean north-east along the Gulf Stream. The deep ocean is read differently, because Argo has no ellipse: the anchor sees the nearest profiles within the search radius, each token saying where it was, how old it is and how deep. The Deep Western Boundary Current runs the other way along the continental slope, so if the model has understood the deep ocean, its attention on deep profiles should sit north of the anchor, toward the Grand Banks, while its attention on shallow profiles sits south. Neither is programmed. They are what we expect to see if the mechanism works — a geometry check for the surface, an attention check for the deep — and they are written down now, before any run, so the check cannot be shaped by the result. The world-ocean version of the surface check is a single number: the correlation between the learned surface drift and the climatological surface current reversed, over cells where that current is at least a fifth of a metre per second. A clearly positive value means the cone learned "upstream" from the data alone. And the faint ring around the anchor is the fixed v2 safety net — always there, never learned, so nothing the model does can wall off a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the trap, because it is the kind that produces a beautiful curve and a wrong conclusion. If the model can move where its questions are asked, the gradient will move them to where the answers are easy — smooth open water, away from fronts — and the loss will fall for no reason we want. Three fixes. The target positions are constants as far as the gradient is concerned, so the geometry learns only from which inputs help. The future cone is tied to the past cone, so it cannot be tuned on its own. And every held-out number is scored on the frozen hourglass, the same for every arm. A fourth guard follows from the gate design: the learned aperture weights the inputs only, never the loss — the targets in phase one are the fixed mirrored candidate set with fixed weights, so a model that narrows its aperture gains nothing on the questions it is scored on. There is a residual, second-order version of the trap: as the input cone moves, the mirrored targets move with it. We do not assume that away. At every evaluation the run reports the variance of its targets under the learned cone against the fixed cone, and a drop of more than ten percent is a flag that the geometry is drifting toward easy water rather than toward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costs, in the same units as the earlier decks. The waist is thirteen per-location tokens each carrying all surface channels, which is fewer than the forty-two per-channel patch tokens E-069 used. The past cone is, in the gate phase, six lags of one anchor column and thirty-six fixed candidates for four channel groups — about nine hundred tokens — and after hardening six lags of the column, twenty-four ellipse dots and twenty-four ring dots — about twelve hundred. Argo comes as the twenty-six profile tokens cone v2 already specified. Targets are drawn as two hundred and fifty-six decoder queries per example, as now. The geometry adds about one and a half million parameters, half of them live and none of them costing compute, and no new per-tensor artefact — the pyramid of revision 1 is gone, and the re-baked dot tables are small. Because the encoder is a Perceiver, its cost is linear in the token count, so this is between one point two and one and a half times E-069 per step — inside the two-times cone v2 already budgeted for itself. Per seed, E-069 ran under one GPU-hour on the North Atlantic; on the global tensor, budget two to three. Nine runs for the experiment on the next slide is on the order of twenty-five GPU-hours.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written before anything runs. Three arms. The fixed hourglass with cone v2's geometry is the control and also the evaluation yardstick for every arm. The learned arm starts from the control. The primed arm starts its surface drift at the climatological current reversed, which separates two questions: can the gradient find upstream on its own, or can it only keep upstream if handed it? Everything else is held fixed — the global family 7.2 tensor, the seven-million codec, twenty thousand steps, the frozen protocol with its held-out years, three seeds per arm because the read-outs are probe-scored. Five read-outs: the forecast loss per lead against its bar; the gap between the full task and the snapshot task, which is what history buys; the correlation of the learned drift with upstream over the world ocean; the depth check at the western boundary — the surface drift read from the map, the deep direction read from where the model puts its attention among the profile tokens; and the target-variance flag. The verdict rule is written now. The learned cone is adopted if it beats the control on the forecast at every lead up to three, paired at all three seeds, with the flag clean. If only the primed arm wins, the gradient cannot find upstream and geometry should be set from climatology rather than learned. If neither wins, the fixed hourglass stays and the next design is a dynamic cone — one whose drift is predicted per example from the waist — not a bigger static one. And the first ablation after the three arms is the one the reviewer and I disagree on: the same learned arm without the far ring, which measures whether the ring pays for its tokens rather than arguing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order, for whoever implements it. Five steps, each small enough to land with its own test before the next begins. First the geometry: the waist and the future cone as functions in the cone module, with the coverage report extended to assert the mirror identity — pure numpy, testable on a laptop. Second the task mix, as a new masking plan next to the existing one, with a test that draws ten thousand examples and finds zero targets whose channel is invisible. Third the aperture gate in the codec: per-channel weights on the candidate tokens, with two tests — an infinite aperture must reproduce the ungated model exactly, and the gradient of the loss with respect to every geometry number must match finite differences. Fourth the parameter maps and the harden step — coarse plus residual, the matrix-log storage, the log-space floors, the prior, the mirror, the stop-gradient, the control initialisation, and the sampler's dot table as a per-region lookup that is only ever swapped at an epoch boundary — with a test that the table re-baked at initialisation equals the fixed dots and that a swap never changes a read inside the current epoch. Fifth the read-outs in the trainer, including exporting the learned drift maps to the app so the Cones tab can draw them, and the attention-by-depth diagnostic at the western-boundary anchors. Then the three arms are three recipes on the global tensor, and E-080 is dispatched under the usual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choices are settled: the maps are at one degree with the coarse-plus-residual prior, and Argo keeps its nearest-profile tokens with no ellipse. Seven remain, each one line to change. The future cone goes to six pentads to mirror the past, where E-069 only asked for one and two. The task shares are a first guess. The strength of the prior on the fine map is one number, and the honest way to set it is by held-out loss on the training years rather than by hand — but the first arm may simply fix it. The v2 safety ring is kept at every lag, which is the safe and more expensive choice. The seasonal term on the drift waits for phase two. The harden interval and the geometry learning-rate multiplier are first guesses that every run records. And time stays dense inside the thirty-day window, one slice per pentad; a log-spaced time ramp that would stretch six slices over sixty-five days is listed as an ablation because it would move the codec's window into stage two's territory, which cone v2 deliberately separated in time. Say the word on any of these and the spec changes; none of them affects the build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deck leans on. The E-069 plan and its five-seed record; the E-069b masking fix in the codec; cone v2 for the design speeds, the profile tokens and the per-location tokens; family 8 for the token that carries its own offset; the geometry module for every constant. The learning mechanism borrows two things from the deformable-attention literature — soft sampling weights and a separate learning rate for the geometry — and the scale-free storage rests on how the Adam optimiser sizes its steps; the matrix-logarithm form of an ellipse is textbook linear algebra. The current speeds and the directions of the two AMOC limbs are the ones cone v2 already tabulated and the RAPID array's own description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deck on one slide, for anyone who reads nothing else, and it is where the result goes when there is one. The left half is the argument in four steps. First, the design of the input and the targets: the present is a waist of about thirteen cells rather than a single point, because gradients need neighbours; the past is read at every pentad of the last thirty days; the future is a mirror image of the past cone, sampled identically and used only as targets; and each training example draws one of four tasks — forecast from everything, forecast from the present alone, nowcast the hidden present from the past, or fill in — under the three rules the E-069 experiment taught us (E-069 is the cone codec as built and measured at five seeds; the rules are that a target must be knowable from the input, must not be a copy of an input, and every loss family is scored against a predict-the-mean bar of its own). Second, the cone the model shapes: a fixed sunflower pattern, pushed through eight learned numbers per one-degree cell and channel group — a drift toward the source and two ellipses, stored as matrix logarithms so nothing is in kilometres and no angle wraps; the direction is shared by everything the water carries, while each channel has its own scale and its own memory, applied as a weight over shared tokens so it costs nothing; and the geometry is learned first through a soft weighting over fixed dots and only then baked into the dot table, so the data loader never has to know where the geometry currently is. Third, the guards, which exist because a learnable cone can learn to ask easy questions: the prior, the floors, the mirror tie, the stop-gradient on target positions, the frozen evaluation geometry, the ungated safety ring, and the rule that the aperture never reaches the loss weights. Fourth, the experiment as pre-registered: three arms — fixed, learned, and learned but primed with the climatological current reversed — on the global family 7.2 tensor (the first tensor covering the whole globe at quarter-degree resolution and five-day cadence, in its 7.2 build), the seven-million-parameter codec, twenty thousand steps, the frozen protocol with its held-out years, three seeds each; five read-outs; and the verdict rule written before any run. Two pictures carry the argument for a reader who has not seen the deck: the hourglass in space-time — the past cone narrowing to the waist and opening again into the mirrored future cone — and the warped sunflower, the fixed dot pattern first stretched into an ellipse and then drifting lag by lag toward the source. The third panel is deliberately empty. It is the space for the actual result — the forecast loss per lead for the three arms, the learned drift against the upstream direction, and the western-boundary depth check — and it stays empty until a run has produced those numbers, so that this slide can never show a picture of what we expected in place of what we measured. When the figure lands, the caption under the panel says which read-outs it shows, and the verdict line on the left is read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shape, two scales. On the left, stage one: the codec, the encoder that turns one place at one time into an embedding. It reads raw values through the small hourglass — the past cone of the last thirty days, six pentads deep and about nine hundred kilometres wide at its mouth for the ocean-surface channels; the waist of about thirteen cells at the present; and the mirrored future cone, six pentads ahead, which is only ever a target. Three rules, colour-coded and true at both scales. The past cone is input and never a forecast target; it is sometimes held out — a dropout pattern hides the most recent lags, a wedge of bearings, random dots, or one channel — and the one thing the model is ever asked to do with a hidden past dot is to fill it back in, which is task four, the reconstruction family kept from E-069b. The waist is the present: it is passed as input in the forecast tasks and in fill-in, and hidden and predicted in task three, the nowcast from history. The future cone is targets only and never input. On the right, stage two: the forecaster, which reads what stage one wrote. Each dot in its wide cone is an embedding, not a raw value, and the hourglass is the same shape drawn about twenty times longer and five times wider — lags seven to a hundred and forty-three pentads, two years, opening to the four-thousand-four-hundred-kilometre cap of the outer spiral, with the near field the codec already read cut out of the centre; that cut-out, drawn to scale, is the whole of stage one's hourglass. The present embedding is the waist. The future side, mirrored like stage one's, is the E-080 idea carried up a level: predict a cone of future embeddings rather than a single next step. That is stated here as the design intent; the stage-two heads the programme has scored so far predict the next embedding and roll it forward, one step at a time, over the long window that cone v2 assigns to stage two. Making stage two's targets a mirrored cone is a change to the forecaster's training, not to the codec, and it is not part of the E-080 experiment as pre-registered.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blauewelt/earth/blob/main/ml/temporal.py" TargetMode="External"/><Relationship Id="rId3" Type="http://schemas.openxmlformats.org/officeDocument/2006/relationships/hyperlink" Target="https://github.com/blauewelt/earth/blob/main/ml/cone.py" TargetMode="External"/><Relationship Id="rId1"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blauewelt/earth/blob/main/ml/cone.py"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blauewelt.github.io/earth/docs.html?f=ml/plans/E071_cone_v2.md"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blauewelt.github.io/earth/docs.html?f=ml/plans/E071_cone_v2.md" TargetMode="External"/><Relationship Id="rId2" Type="http://schemas.openxmlformats.org/officeDocument/2006/relationships/hyperlink" Target="https://arxiv.org/abs/2010.04159"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blauewelt.github.io/earth/docs.html?f=ml/plans/E071_cone_v2.md" TargetMode="External"/><Relationship Id="rId2" Type="http://schemas.openxmlformats.org/officeDocument/2006/relationships/hyperlink" Target="https://blauewelt.github.io/earth/docs.html?f=ml/plans/E076_family8_nearest_observations.md"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blauewelt/earth/blob/main/ml/measure_flow_anisotropy.py" TargetMode="External"/><Relationship Id="rId2" Type="http://schemas.openxmlformats.org/officeDocument/2006/relationships/hyperlink" Target="https://github.com/blauewelt/earth/blob/main/ml/cone.py"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blauewelt.github.io/earth/docs.html?f=ml/plans/E069_cone_codec.md" TargetMode="External"/><Relationship Id="rId2" Type="http://schemas.openxmlformats.org/officeDocument/2006/relationships/hyperlink" Target="https://blauewelt.github.io/earth/docs.html?f=ml/EXPERIMENTS.md#e-069" TargetMode="External"/><Relationship Id="rId3" Type="http://schemas.openxmlformats.org/officeDocument/2006/relationships/hyperlink" Target="https://github.com/blauewelt/earth/blob/main/ml/cone_codec.py" TargetMode="External"/><Relationship Id="rId4" Type="http://schemas.openxmlformats.org/officeDocument/2006/relationships/hyperlink" Target="https://github.com/blauewelt/earth/blob/main/ml/train_cone.py" TargetMode="External"/><Relationship Id="rId5" Type="http://schemas.openxmlformats.org/officeDocument/2006/relationships/hyperlink" Target="https://blauewelt.github.io/earth/docs.html?f=ml/plans/E071_cone_v2.md" TargetMode="External"/><Relationship Id="rId6" Type="http://schemas.openxmlformats.org/officeDocument/2006/relationships/hyperlink" Target="https://blauewelt.github.io/earth/docs.html?f=ml/plans/E076_family8_nearest_observations.md" TargetMode="External"/><Relationship Id="rId7" Type="http://schemas.openxmlformats.org/officeDocument/2006/relationships/hyperlink" Target="https://github.com/blauewelt/earth/blob/main/ml/cone.py" TargetMode="External"/><Relationship Id="rId8" Type="http://schemas.openxmlformats.org/officeDocument/2006/relationships/hyperlink" Target="https://github.com/blauewelt/earth/blob/main/ml/temporal.py" TargetMode="External"/><Relationship Id="rId9" Type="http://schemas.openxmlformats.org/officeDocument/2006/relationships/hyperlink" Target="https://arxiv.org/abs/2010.04159" TargetMode="External"/><Relationship Id="rId10" Type="http://schemas.openxmlformats.org/officeDocument/2006/relationships/hyperlink" Target="https://arxiv.org/abs/1412.6980" TargetMode="External"/><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blauewelt.github.io/earth/docs.html?f=ml/plans/E070_family7_build.md" TargetMode="External"/><Relationship Id="rId1" Type="http://schemas.openxmlformats.org/officeDocument/2006/relationships/image" Target="../media/image-21-1.png"/><Relationship Id="rId2"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blauewelt/earth/blob/main/ml/cone.py" TargetMode="External"/><Relationship Id="rId3" Type="http://schemas.openxmlformats.org/officeDocument/2006/relationships/hyperlink" Target="https://blauewelt.github.io/earth/docs.html?f=ml/plans/E071_cone_v2.md" TargetMode="External"/><Relationship Id="rId1" Type="http://schemas.openxmlformats.org/officeDocument/2006/relationships/image" Target="../media/image-22-1.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E-080 · DESIGN PROPOSAL · 15 SEPTEMBER 2026</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The cut-off mirrored double cone</a:t>
            </a:r>
            <a:endParaRPr lang="en-US" sz="30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a:t>
            </a:r>
            <a:endParaRPr lang="en-US" sz="1000" dirty="0"/>
          </a:p>
        </p:txBody>
      </p:sp>
      <p:sp>
        <p:nvSpPr>
          <p:cNvPr id="7" name="Text 4"/>
          <p:cNvSpPr txBox="1"/>
          <p:nvPr/>
        </p:nvSpPr>
        <p:spPr>
          <a:xfrm>
            <a:off x="548640" y="1316736"/>
            <a:ext cx="7315200" cy="457200"/>
          </a:xfrm>
          <a:prstGeom prst="rect">
            <a:avLst/>
          </a:prstGeom>
          <a:noFill/>
          <a:ln/>
        </p:spPr>
        <p:txBody>
          <a:bodyPr wrap="square" lIns="0" tIns="0" rIns="0" bIns="0" rtlCol="0" anchor="ctr"/>
          <a:lstStyle/>
          <a:p>
            <a:pPr indent="0" marL="0">
              <a:buNone/>
            </a:pPr>
            <a:r>
              <a:rPr lang="en-US" sz="1700" i="1" dirty="0">
                <a:solidFill>
                  <a:srgbClr val="7D8590"/>
                </a:solidFill>
                <a:latin typeface="Georgia" pitchFamily="34" charset="0"/>
                <a:ea typeface="Georgia" pitchFamily="34" charset="-122"/>
                <a:cs typeface="Georgia" pitchFamily="34" charset="-120"/>
              </a:rPr>
              <a:t>Stage 1 as an hourglass — and a cone the model shapes itself</a:t>
            </a:r>
            <a:endParaRPr lang="en-US" sz="1700" dirty="0"/>
          </a:p>
        </p:txBody>
      </p:sp>
      <p:sp>
        <p:nvSpPr>
          <p:cNvPr id="8" name="Shape 5"/>
          <p:cNvSpPr/>
          <p:nvPr/>
        </p:nvSpPr>
        <p:spPr>
          <a:xfrm>
            <a:off x="548640" y="2148840"/>
            <a:ext cx="6217920" cy="1051560"/>
          </a:xfrm>
          <a:prstGeom prst="roundRect">
            <a:avLst>
              <a:gd name="adj" fmla="val 5217"/>
            </a:avLst>
          </a:prstGeom>
          <a:solidFill>
            <a:srgbClr val="161B22"/>
          </a:solidFill>
          <a:ln w="12700">
            <a:solidFill>
              <a:srgbClr val="30363D"/>
            </a:solidFill>
            <a:prstDash val="solid"/>
          </a:ln>
        </p:spPr>
      </p:sp>
      <p:sp>
        <p:nvSpPr>
          <p:cNvPr id="9" name="Text 6"/>
          <p:cNvSpPr txBox="1"/>
          <p:nvPr/>
        </p:nvSpPr>
        <p:spPr>
          <a:xfrm>
            <a:off x="804672" y="2331720"/>
            <a:ext cx="5705856" cy="685800"/>
          </a:xfrm>
          <a:prstGeom prst="rect">
            <a:avLst/>
          </a:prstGeom>
          <a:noFill/>
          <a:ln/>
        </p:spPr>
        <p:txBody>
          <a:bodyPr wrap="square" lIns="0" tIns="0" rIns="0" bIns="0" rtlCol="0" anchor="ctr"/>
          <a:lstStyle/>
          <a:p>
            <a:pPr indent="0" marL="0">
              <a:buNone/>
            </a:pPr>
            <a:r>
              <a:rPr lang="en-US" sz="1350" dirty="0">
                <a:solidFill>
                  <a:srgbClr val="E6EDF3"/>
                </a:solidFill>
                <a:latin typeface="Calibri" pitchFamily="34" charset="0"/>
                <a:ea typeface="Calibri" pitchFamily="34" charset="-122"/>
                <a:cs typeface="Calibri" pitchFamily="34" charset="-120"/>
              </a:rPr>
              <a:t>E-080 · design proposal · 15 September 2026 · </a:t>
            </a:r>
            <a:r>
              <a:rPr lang="en-US" sz="1350" b="1" dirty="0">
                <a:solidFill>
                  <a:srgbClr val="E3B341"/>
                </a:solidFill>
                <a:latin typeface="Calibri" pitchFamily="34" charset="0"/>
                <a:ea typeface="Calibri" pitchFamily="34" charset="-122"/>
                <a:cs typeface="Calibri" pitchFamily="34" charset="-120"/>
              </a:rPr>
              <a:t>nothing here is measured yet</a:t>
            </a:r>
            <a:endParaRPr lang="en-US" sz="1350" dirty="0"/>
          </a:p>
        </p:txBody>
      </p:sp>
      <p:sp>
        <p:nvSpPr>
          <p:cNvPr id="10" name="Text 7"/>
          <p:cNvSpPr txBox="1"/>
          <p:nvPr/>
        </p:nvSpPr>
        <p:spPr>
          <a:xfrm>
            <a:off x="548640" y="3429000"/>
            <a:ext cx="6217920" cy="1097280"/>
          </a:xfrm>
          <a:prstGeom prst="rect">
            <a:avLst/>
          </a:prstGeom>
          <a:noFill/>
          <a:ln/>
        </p:spPr>
        <p:txBody>
          <a:bodyPr wrap="square" lIns="0" tIns="0" rIns="0" bIns="0" rtlCol="0" anchor="t"/>
          <a:lstStyle/>
          <a:p>
            <a:pPr indent="0" marL="0">
              <a:buNone/>
            </a:pPr>
            <a:r>
              <a:rPr lang="en-US" sz="1250" dirty="0">
                <a:solidFill>
                  <a:srgbClr val="7D8590"/>
                </a:solidFill>
                <a:latin typeface="Calibri" pitchFamily="34" charset="0"/>
                <a:ea typeface="Calibri" pitchFamily="34" charset="-122"/>
                <a:cs typeface="Calibri" pitchFamily="34" charset="-120"/>
              </a:rPr>
              <a:t>The deck turns Chris's four points into a specification: a waist instead of a tip, a mirrored cone of targets, a random mix of four tasks, and a cone whose shape the model learns per region — one direction per flow, one scale per channel.</a:t>
            </a:r>
            <a:endParaRPr lang="en-US" sz="1250" dirty="0"/>
          </a:p>
        </p:txBody>
      </p:sp>
      <p:sp>
        <p:nvSpPr>
          <p:cNvPr id="11" name="Shape 8"/>
          <p:cNvSpPr/>
          <p:nvPr/>
        </p:nvSpPr>
        <p:spPr>
          <a:xfrm rot="10800000">
            <a:off x="8503920" y="1783080"/>
            <a:ext cx="2926080" cy="1783080"/>
          </a:xfrm>
          <a:prstGeom prst="triangle">
            <a:avLst/>
          </a:prstGeom>
          <a:solidFill>
            <a:srgbClr val="E8734A">
              <a:alpha val="18000"/>
            </a:srgbClr>
          </a:solidFill>
          <a:ln w="15875">
            <a:solidFill>
              <a:srgbClr val="E8734A"/>
            </a:solidFill>
            <a:prstDash val="solid"/>
          </a:ln>
        </p:spPr>
      </p:sp>
      <p:sp>
        <p:nvSpPr>
          <p:cNvPr id="12" name="Shape 9"/>
          <p:cNvSpPr/>
          <p:nvPr/>
        </p:nvSpPr>
        <p:spPr>
          <a:xfrm>
            <a:off x="8503920" y="3886200"/>
            <a:ext cx="2926080" cy="1783080"/>
          </a:xfrm>
          <a:prstGeom prst="triangle">
            <a:avLst/>
          </a:prstGeom>
          <a:solidFill>
            <a:srgbClr val="4493F8">
              <a:alpha val="20000"/>
            </a:srgbClr>
          </a:solidFill>
          <a:ln w="15875">
            <a:solidFill>
              <a:srgbClr val="4493F8"/>
            </a:solidFill>
            <a:prstDash val="solid"/>
          </a:ln>
        </p:spPr>
      </p:sp>
      <p:sp>
        <p:nvSpPr>
          <p:cNvPr id="13" name="Shape 10"/>
          <p:cNvSpPr/>
          <p:nvPr/>
        </p:nvSpPr>
        <p:spPr>
          <a:xfrm>
            <a:off x="9464040" y="3657600"/>
            <a:ext cx="1005840" cy="146304"/>
          </a:xfrm>
          <a:prstGeom prst="roundRect">
            <a:avLst>
              <a:gd name="adj" fmla="val 43750"/>
            </a:avLst>
          </a:prstGeom>
          <a:solidFill>
            <a:srgbClr val="E3B341"/>
          </a:solidFill>
          <a:ln w="12700">
            <a:solidFill>
              <a:srgbClr val="E3B341"/>
            </a:solidFill>
            <a:prstDash val="solid"/>
          </a:ln>
        </p:spPr>
      </p:sp>
      <p:sp>
        <p:nvSpPr>
          <p:cNvPr id="14" name="Text 11"/>
          <p:cNvSpPr txBox="1"/>
          <p:nvPr/>
        </p:nvSpPr>
        <p:spPr>
          <a:xfrm>
            <a:off x="7863840" y="1444752"/>
            <a:ext cx="4206240" cy="274320"/>
          </a:xfrm>
          <a:prstGeom prst="rect">
            <a:avLst/>
          </a:prstGeom>
          <a:noFill/>
          <a:ln/>
        </p:spPr>
        <p:txBody>
          <a:bodyPr wrap="square" lIns="0" tIns="0" rIns="0" bIns="0" rtlCol="0" anchor="ctr"/>
          <a:lstStyle/>
          <a:p>
            <a:pPr algn="ctr" indent="0" marL="0">
              <a:buNone/>
            </a:pPr>
            <a:r>
              <a:rPr lang="en-US" sz="1100" b="1" dirty="0">
                <a:solidFill>
                  <a:srgbClr val="E8734A"/>
                </a:solidFill>
                <a:latin typeface="Calibri" pitchFamily="34" charset="0"/>
                <a:ea typeface="Calibri" pitchFamily="34" charset="-122"/>
                <a:cs typeface="Calibri" pitchFamily="34" charset="-120"/>
              </a:rPr>
              <a:t>future cone · targets only</a:t>
            </a:r>
            <a:endParaRPr lang="en-US" sz="1100" dirty="0"/>
          </a:p>
        </p:txBody>
      </p:sp>
      <p:sp>
        <p:nvSpPr>
          <p:cNvPr id="15" name="Text 12"/>
          <p:cNvSpPr txBox="1"/>
          <p:nvPr/>
        </p:nvSpPr>
        <p:spPr>
          <a:xfrm>
            <a:off x="7863840" y="5742432"/>
            <a:ext cx="4206240" cy="274320"/>
          </a:xfrm>
          <a:prstGeom prst="rect">
            <a:avLst/>
          </a:prstGeom>
          <a:noFill/>
          <a:ln/>
        </p:spPr>
        <p:txBody>
          <a:bodyPr wrap="square" lIns="0" tIns="0" rIns="0" bIns="0" rtlCol="0" anchor="ctr"/>
          <a:lstStyle/>
          <a:p>
            <a:pPr algn="ctr" indent="0" marL="0">
              <a:buNone/>
            </a:pPr>
            <a:r>
              <a:rPr lang="en-US" sz="1100" b="1" dirty="0">
                <a:solidFill>
                  <a:srgbClr val="4493F8"/>
                </a:solidFill>
                <a:latin typeface="Calibri" pitchFamily="34" charset="0"/>
                <a:ea typeface="Calibri" pitchFamily="34" charset="-122"/>
                <a:cs typeface="Calibri" pitchFamily="34" charset="-120"/>
              </a:rPr>
              <a:t>past cone · input</a:t>
            </a:r>
            <a:endParaRPr lang="en-US" sz="1100" dirty="0"/>
          </a:p>
        </p:txBody>
      </p:sp>
      <p:sp>
        <p:nvSpPr>
          <p:cNvPr id="16" name="Text 13"/>
          <p:cNvSpPr txBox="1"/>
          <p:nvPr/>
        </p:nvSpPr>
        <p:spPr>
          <a:xfrm>
            <a:off x="7223760" y="3593592"/>
            <a:ext cx="2103120" cy="274320"/>
          </a:xfrm>
          <a:prstGeom prst="rect">
            <a:avLst/>
          </a:prstGeom>
          <a:noFill/>
          <a:ln/>
        </p:spPr>
        <p:txBody>
          <a:bodyPr wrap="square" lIns="0" tIns="0" rIns="0" bIns="0" rtlCol="0" anchor="ctr"/>
          <a:lstStyle/>
          <a:p>
            <a:pPr algn="r" indent="0" marL="0">
              <a:buNone/>
            </a:pPr>
            <a:r>
              <a:rPr lang="en-US" sz="1100" b="1" dirty="0">
                <a:solidFill>
                  <a:srgbClr val="E3B341"/>
                </a:solidFill>
                <a:latin typeface="Calibri" pitchFamily="34" charset="0"/>
                <a:ea typeface="Calibri" pitchFamily="34" charset="-122"/>
                <a:cs typeface="Calibri" pitchFamily="34" charset="-120"/>
              </a:rPr>
              <a:t>waist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WHERE WE COME FROM</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One cone, five seeds, one clear reading</a:t>
            </a:r>
            <a:endParaRPr lang="en-US" sz="30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463040"/>
            <a:ext cx="5440680" cy="2788920"/>
          </a:xfrm>
          <a:prstGeom prst="roundRect">
            <a:avLst>
              <a:gd name="adj" fmla="val 1967"/>
            </a:avLst>
          </a:prstGeom>
          <a:solidFill>
            <a:srgbClr val="161B22"/>
          </a:solidFill>
          <a:ln w="12700">
            <a:solidFill>
              <a:srgbClr val="30363D"/>
            </a:solidFill>
            <a:prstDash val="solid"/>
          </a:ln>
        </p:spPr>
      </p:sp>
      <p:sp>
        <p:nvSpPr>
          <p:cNvPr id="8" name="Text 5"/>
          <p:cNvSpPr txBox="1"/>
          <p:nvPr/>
        </p:nvSpPr>
        <p:spPr>
          <a:xfrm>
            <a:off x="804672" y="1664208"/>
            <a:ext cx="4928616" cy="256032"/>
          </a:xfrm>
          <a:prstGeom prst="rect">
            <a:avLst/>
          </a:prstGeom>
          <a:noFill/>
          <a:ln/>
        </p:spPr>
        <p:txBody>
          <a:bodyPr wrap="square" lIns="0" tIns="0" rIns="0" bIns="0" rtlCol="0" anchor="ctr"/>
          <a:lstStyle/>
          <a:p>
            <a:pPr indent="0" marL="0">
              <a:buNone/>
            </a:pPr>
            <a:r>
              <a:rPr lang="en-US" sz="1250" b="1" dirty="0">
                <a:solidFill>
                  <a:srgbClr val="4493F8"/>
                </a:solidFill>
                <a:latin typeface="Calibri" pitchFamily="34" charset="0"/>
                <a:ea typeface="Calibri" pitchFamily="34" charset="-122"/>
                <a:cs typeface="Calibri" pitchFamily="34" charset="-120"/>
              </a:rPr>
              <a:t>E-069 · the cone-native codec</a:t>
            </a:r>
            <a:endParaRPr lang="en-US" sz="1250" dirty="0"/>
          </a:p>
        </p:txBody>
      </p:sp>
      <p:sp>
        <p:nvSpPr>
          <p:cNvPr id="9" name="Text 6"/>
          <p:cNvSpPr txBox="1"/>
          <p:nvPr/>
        </p:nvSpPr>
        <p:spPr>
          <a:xfrm>
            <a:off x="804672" y="2011680"/>
            <a:ext cx="4928616" cy="2075688"/>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30 days of dots around a North Atlantic cell, one 3×3 patch at the present, targets at +1 and +2 pentads</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History did </a:t>
            </a:r>
            <a:r>
              <a:rPr lang="en-US" sz="1250" b="1" dirty="0">
                <a:solidFill>
                  <a:srgbClr val="4493F8"/>
                </a:solidFill>
                <a:latin typeface="Calibri" pitchFamily="34" charset="0"/>
                <a:ea typeface="Calibri" pitchFamily="34" charset="-122"/>
                <a:cs typeface="Calibri" pitchFamily="34" charset="-120"/>
              </a:rPr>
              <a:t>not</a:t>
            </a:r>
            <a:r>
              <a:rPr lang="en-US" sz="1250" dirty="0">
                <a:solidFill>
                  <a:srgbClr val="E6EDF3"/>
                </a:solidFill>
                <a:latin typeface="Calibri" pitchFamily="34" charset="0"/>
                <a:ea typeface="Calibri" pitchFamily="34" charset="-122"/>
                <a:cs typeface="Calibri" pitchFamily="34" charset="-120"/>
              </a:rPr>
              <a:t> put the cell's own velocity into the embedding — five seeds, two objectives, refuted</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History </a:t>
            </a:r>
            <a:r>
              <a:rPr lang="en-US" sz="1250" b="1" dirty="0">
                <a:solidFill>
                  <a:srgbClr val="4493F8"/>
                </a:solidFill>
                <a:latin typeface="Calibri" pitchFamily="34" charset="0"/>
                <a:ea typeface="Calibri" pitchFamily="34" charset="-122"/>
                <a:cs typeface="Calibri" pitchFamily="34" charset="-120"/>
              </a:rPr>
              <a:t>did</a:t>
            </a:r>
            <a:r>
              <a:rPr lang="en-US" sz="1250" dirty="0">
                <a:solidFill>
                  <a:srgbClr val="E6EDF3"/>
                </a:solidFill>
                <a:latin typeface="Calibri" pitchFamily="34" charset="0"/>
                <a:ea typeface="Calibri" pitchFamily="34" charset="-122"/>
                <a:cs typeface="Calibri" pitchFamily="34" charset="-120"/>
              </a:rPr>
              <a:t> buy persistent fields (hidden sea-surface height at ~0.36 of the bar vs 0.75–0.90) and a 7–8 % better one- and two-pentad forecast</a:t>
            </a:r>
            <a:endParaRPr lang="en-US" sz="1250" dirty="0"/>
          </a:p>
        </p:txBody>
      </p:sp>
      <p:sp>
        <p:nvSpPr>
          <p:cNvPr id="10" name="Shape 7"/>
          <p:cNvSpPr/>
          <p:nvPr/>
        </p:nvSpPr>
        <p:spPr>
          <a:xfrm>
            <a:off x="6199632" y="1463040"/>
            <a:ext cx="5440680" cy="2788920"/>
          </a:xfrm>
          <a:prstGeom prst="roundRect">
            <a:avLst>
              <a:gd name="adj" fmla="val 1967"/>
            </a:avLst>
          </a:prstGeom>
          <a:solidFill>
            <a:srgbClr val="161B22"/>
          </a:solidFill>
          <a:ln w="12700">
            <a:solidFill>
              <a:srgbClr val="30363D"/>
            </a:solidFill>
            <a:prstDash val="solid"/>
          </a:ln>
        </p:spPr>
      </p:sp>
      <p:sp>
        <p:nvSpPr>
          <p:cNvPr id="11" name="Text 8"/>
          <p:cNvSpPr txBox="1"/>
          <p:nvPr/>
        </p:nvSpPr>
        <p:spPr>
          <a:xfrm>
            <a:off x="6455664" y="1664208"/>
            <a:ext cx="4928616" cy="256032"/>
          </a:xfrm>
          <a:prstGeom prst="rect">
            <a:avLst/>
          </a:prstGeom>
          <a:noFill/>
          <a:ln/>
        </p:spPr>
        <p:txBody>
          <a:bodyPr wrap="square" lIns="0" tIns="0" rIns="0" bIns="0" rtlCol="0" anchor="ctr"/>
          <a:lstStyle/>
          <a:p>
            <a:pPr indent="0" marL="0">
              <a:buNone/>
            </a:pPr>
            <a:r>
              <a:rPr lang="en-US" sz="1250" b="1" dirty="0">
                <a:solidFill>
                  <a:srgbClr val="4493F8"/>
                </a:solidFill>
                <a:latin typeface="Calibri" pitchFamily="34" charset="0"/>
                <a:ea typeface="Calibri" pitchFamily="34" charset="-122"/>
                <a:cs typeface="Calibri" pitchFamily="34" charset="-120"/>
              </a:rPr>
              <a:t>E-071 · cone v2</a:t>
            </a:r>
            <a:endParaRPr lang="en-US" sz="1250" dirty="0"/>
          </a:p>
        </p:txBody>
      </p:sp>
      <p:sp>
        <p:nvSpPr>
          <p:cNvPr id="12" name="Text 9"/>
          <p:cNvSpPr txBox="1"/>
          <p:nvPr/>
        </p:nvSpPr>
        <p:spPr>
          <a:xfrm>
            <a:off x="6455664" y="2011680"/>
            <a:ext cx="4928616" cy="2075688"/>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Global, harmonic climatology, profile tokens — the geometry's known faults, fixed</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Reach from the fastest mechanism × 1.5 — a hemisphere by lag 3, so dots go log-radial</a:t>
            </a:r>
            <a:endParaRPr lang="en-US" sz="1250" dirty="0"/>
          </a:p>
        </p:txBody>
      </p:sp>
      <p:sp>
        <p:nvSpPr>
          <p:cNvPr id="13" name="Shape 10"/>
          <p:cNvSpPr/>
          <p:nvPr/>
        </p:nvSpPr>
        <p:spPr>
          <a:xfrm>
            <a:off x="548640" y="4526280"/>
            <a:ext cx="11091672" cy="1188720"/>
          </a:xfrm>
          <a:prstGeom prst="roundRect">
            <a:avLst>
              <a:gd name="adj" fmla="val 4615"/>
            </a:avLst>
          </a:prstGeom>
          <a:solidFill>
            <a:srgbClr val="11202F"/>
          </a:solidFill>
          <a:ln w="12700">
            <a:solidFill>
              <a:srgbClr val="4493F8"/>
            </a:solidFill>
            <a:prstDash val="solid"/>
          </a:ln>
        </p:spPr>
      </p:sp>
      <p:sp>
        <p:nvSpPr>
          <p:cNvPr id="14" name="Text 11"/>
          <p:cNvSpPr txBox="1"/>
          <p:nvPr/>
        </p:nvSpPr>
        <p:spPr>
          <a:xfrm>
            <a:off x="822960" y="4709160"/>
            <a:ext cx="10543032" cy="822960"/>
          </a:xfrm>
          <a:prstGeom prst="rect">
            <a:avLst/>
          </a:prstGeom>
          <a:noFill/>
          <a:ln/>
        </p:spPr>
        <p:txBody>
          <a:bodyPr wrap="square" lIns="0" tIns="0" rIns="0" bIns="0" rtlCol="0" anchor="ctr"/>
          <a:lstStyle/>
          <a:p>
            <a:pPr indent="0" marL="0">
              <a:buNone/>
            </a:pPr>
            <a:r>
              <a:rPr lang="en-US" sz="1300" b="1" dirty="0">
                <a:solidFill>
                  <a:srgbClr val="4493F8"/>
                </a:solidFill>
                <a:latin typeface="Calibri" pitchFamily="34" charset="0"/>
                <a:ea typeface="Calibri" pitchFamily="34" charset="-122"/>
                <a:cs typeface="Calibri" pitchFamily="34" charset="-120"/>
              </a:rPr>
              <a:t>The open question v2 left: </a:t>
            </a:r>
            <a:r>
              <a:rPr lang="en-US" sz="1300" dirty="0">
                <a:solidFill>
                  <a:srgbClr val="E6EDF3"/>
                </a:solidFill>
                <a:latin typeface="Calibri" pitchFamily="34" charset="0"/>
                <a:ea typeface="Calibri" pitchFamily="34" charset="-122"/>
                <a:cs typeface="Calibri" pitchFamily="34" charset="-120"/>
              </a:rPr>
              <a:t>a cone wide enough to never exclude a driver samples the near field at one dot per thousands of kilometres.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THE HOURGLASS IN ONE PICTURE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Past cone → waist → future cone</a:t>
            </a:r>
            <a:endParaRPr lang="en-US" sz="30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3</a:t>
            </a:r>
            <a:endParaRPr lang="en-US" sz="1000" dirty="0"/>
          </a:p>
        </p:txBody>
      </p:sp>
      <p:pic>
        <p:nvPicPr>
          <p:cNvPr id="7" name="Image 0" descr="/home/claude/earth/ml/plans/E080_figures/hourglass_spacetime.png">    </p:cNvPr>
          <p:cNvPicPr>
            <a:picLocks noChangeAspect="1"/>
          </p:cNvPicPr>
          <p:nvPr/>
        </p:nvPicPr>
        <p:blipFill>
          <a:blip r:embed="rId1"/>
          <a:stretch>
            <a:fillRect/>
          </a:stretch>
        </p:blipFill>
        <p:spPr>
          <a:xfrm>
            <a:off x="548640" y="1481328"/>
            <a:ext cx="6629400" cy="4178808"/>
          </a:xfrm>
          <a:prstGeom prst="rect">
            <a:avLst/>
          </a:prstGeom>
        </p:spPr>
      </p:pic>
      <p:sp>
        <p:nvSpPr>
          <p:cNvPr id="8" name="Shape 4"/>
          <p:cNvSpPr/>
          <p:nvPr/>
        </p:nvSpPr>
        <p:spPr>
          <a:xfrm>
            <a:off x="7452360" y="1481328"/>
            <a:ext cx="4187952" cy="4178808"/>
          </a:xfrm>
          <a:prstGeom prst="roundRect">
            <a:avLst>
              <a:gd name="adj" fmla="val 1313"/>
            </a:avLst>
          </a:prstGeom>
          <a:solidFill>
            <a:srgbClr val="161B22"/>
          </a:solidFill>
          <a:ln w="12700">
            <a:solidFill>
              <a:srgbClr val="30363D"/>
            </a:solidFill>
            <a:prstDash val="solid"/>
          </a:ln>
        </p:spPr>
      </p:sp>
      <p:sp>
        <p:nvSpPr>
          <p:cNvPr id="9" name="Text 5"/>
          <p:cNvSpPr txBox="1"/>
          <p:nvPr/>
        </p:nvSpPr>
        <p:spPr>
          <a:xfrm>
            <a:off x="7708392" y="1682496"/>
            <a:ext cx="3675888" cy="3813048"/>
          </a:xfrm>
          <a:prstGeom prst="rect">
            <a:avLst/>
          </a:prstGeom>
          <a:noFill/>
          <a:ln/>
        </p:spPr>
        <p:txBody>
          <a:bodyPr wrap="square" lIns="0" tIns="0" rIns="0" bIns="0" rtlCol="0" anchor="ctr"/>
          <a:lstStyle/>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Past cone</a:t>
            </a:r>
            <a:r>
              <a:rPr lang="en-US" sz="1200" dirty="0">
                <a:solidFill>
                  <a:srgbClr val="E6EDF3"/>
                </a:solidFill>
                <a:latin typeface="Calibri" pitchFamily="34" charset="0"/>
                <a:ea typeface="Calibri" pitchFamily="34" charset="-122"/>
                <a:cs typeface="Calibri" pitchFamily="34" charset="-120"/>
              </a:rPr>
              <a:t> (lags −6…−1): read as input, dots at the per-lag ellipse plus the anchor column</a:t>
            </a:r>
            <a:endParaRPr lang="en-US" sz="1200" dirty="0"/>
          </a:p>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Waist</a:t>
            </a:r>
            <a:r>
              <a:rPr lang="en-US" sz="1200" dirty="0">
                <a:solidFill>
                  <a:srgbClr val="E6EDF3"/>
                </a:solidFill>
                <a:latin typeface="Calibri" pitchFamily="34" charset="0"/>
                <a:ea typeface="Calibri" pitchFamily="34" charset="-122"/>
                <a:cs typeface="Calibri" pitchFamily="34" charset="-120"/>
              </a:rPr>
              <a:t> (lag 0): a disc of several cells — the cut-off tip — read as input and reconstructed; the embedding z summarises the waist</a:t>
            </a:r>
            <a:endParaRPr lang="en-US" sz="1200" dirty="0"/>
          </a:p>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Future cone</a:t>
            </a:r>
            <a:r>
              <a:rPr lang="en-US" sz="1200" dirty="0">
                <a:solidFill>
                  <a:srgbClr val="E6EDF3"/>
                </a:solidFill>
                <a:latin typeface="Calibri" pitchFamily="34" charset="0"/>
                <a:ea typeface="Calibri" pitchFamily="34" charset="-122"/>
                <a:cs typeface="Calibri" pitchFamily="34" charset="-120"/>
              </a:rPr>
              <a:t> (leads +1…+6): never read; sampled the same way and used as targets only</a:t>
            </a:r>
            <a:endParaRPr lang="en-US" sz="1200" dirty="0"/>
          </a:p>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Point-mirrored:</a:t>
            </a:r>
            <a:r>
              <a:rPr lang="en-US" sz="1200" dirty="0">
                <a:solidFill>
                  <a:srgbClr val="E6EDF3"/>
                </a:solidFill>
                <a:latin typeface="Calibri" pitchFamily="34" charset="0"/>
                <a:ea typeface="Calibri" pitchFamily="34" charset="-122"/>
                <a:cs typeface="Calibri" pitchFamily="34" charset="-120"/>
              </a:rPr>
              <a:t> the future cone at lead +ℓ is the past cone at lag −ℓ reflected through the anchor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1 — THE WAIST: WHY THE TIP IS CUT OFF</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800" b="1" dirty="0">
                <a:solidFill>
                  <a:srgbClr val="E6EDF3"/>
                </a:solidFill>
                <a:latin typeface="Georgia" pitchFamily="34" charset="0"/>
                <a:ea typeface="Georgia" pitchFamily="34" charset="-122"/>
                <a:cs typeface="Georgia" pitchFamily="34" charset="-120"/>
              </a:rPr>
              <a:t>A gradient does not exist within a single cell</a:t>
            </a:r>
            <a:endParaRPr lang="en-US" sz="28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463040"/>
            <a:ext cx="7406640" cy="4206240"/>
          </a:xfrm>
          <a:prstGeom prst="roundRect">
            <a:avLst>
              <a:gd name="adj" fmla="val 1304"/>
            </a:avLst>
          </a:prstGeom>
          <a:solidFill>
            <a:srgbClr val="161B22"/>
          </a:solidFill>
          <a:ln w="12700">
            <a:solidFill>
              <a:srgbClr val="30363D"/>
            </a:solidFill>
            <a:prstDash val="solid"/>
          </a:ln>
        </p:spPr>
      </p:sp>
      <p:sp>
        <p:nvSpPr>
          <p:cNvPr id="8" name="Text 5"/>
          <p:cNvSpPr txBox="1"/>
          <p:nvPr/>
        </p:nvSpPr>
        <p:spPr>
          <a:xfrm>
            <a:off x="804672" y="1664208"/>
            <a:ext cx="6894576" cy="3840480"/>
          </a:xfrm>
          <a:prstGeom prst="rect">
            <a:avLst/>
          </a:prstGeom>
          <a:noFill/>
          <a:ln/>
        </p:spPr>
        <p:txBody>
          <a:bodyPr wrap="square" lIns="0" tIns="0" rIns="0" bIns="0" rtlCol="0" anchor="ctr"/>
          <a:lstStyle/>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The waist is a disc of radius r</a:t>
            </a:r>
            <a:r>
              <a:rPr lang="en-US" sz="1250" baseline="-40000" dirty="0">
                <a:solidFill>
                  <a:srgbClr val="E6EDF3"/>
                </a:solidFill>
                <a:latin typeface="Calibri" pitchFamily="34" charset="0"/>
                <a:ea typeface="Calibri" pitchFamily="34" charset="-122"/>
                <a:cs typeface="Calibri" pitchFamily="34" charset="-120"/>
              </a:rPr>
              <a:t>0</a:t>
            </a:r>
            <a:r>
              <a:rPr lang="en-US" sz="1250" dirty="0">
                <a:solidFill>
                  <a:srgbClr val="E6EDF3"/>
                </a:solidFill>
                <a:latin typeface="Calibri" pitchFamily="34" charset="0"/>
                <a:ea typeface="Calibri" pitchFamily="34" charset="-122"/>
                <a:cs typeface="Calibri" pitchFamily="34" charset="-120"/>
              </a:rPr>
              <a:t> around the anchor, sampled as a small sunflower: ~13 cells at the default (one centre + 12), never fewer than the 3×3 patch's nine</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Read as input at lag 0 (values + observed flags) and reconstructed as the anchor family's target</a:t>
            </a:r>
            <a:endParaRPr lang="en-US" sz="1250" dirty="0"/>
          </a:p>
          <a:p>
            <a:pPr marL="203200" indent="-203200">
              <a:spcAft>
                <a:spcPts val="700"/>
              </a:spcAft>
              <a:buSzPct val="100000"/>
              <a:buChar char="•"/>
            </a:pPr>
            <a:r>
              <a:rPr lang="en-US" sz="1250" b="1" dirty="0">
                <a:solidFill>
                  <a:srgbClr val="4493F8"/>
                </a:solidFill>
                <a:latin typeface="Calibri" pitchFamily="34" charset="0"/>
                <a:ea typeface="Calibri" pitchFamily="34" charset="-122"/>
                <a:cs typeface="Calibri" pitchFamily="34" charset="-120"/>
              </a:rPr>
              <a:t>What the waist buys:</a:t>
            </a:r>
            <a:r>
              <a:rPr lang="en-US" sz="1250" dirty="0">
                <a:solidFill>
                  <a:srgbClr val="E6EDF3"/>
                </a:solidFill>
                <a:latin typeface="Calibri" pitchFamily="34" charset="0"/>
                <a:ea typeface="Calibri" pitchFamily="34" charset="-122"/>
                <a:cs typeface="Calibri" pitchFamily="34" charset="-120"/>
              </a:rPr>
              <a:t> thermal wind is a density gradient; geostrophy is a sea-surface-height slope — both need neighbours at the same instant, not in the past</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The waist has the same shape parameters as the cone at lag 0 (orientation, two semi-axes), so a boundary current can have an elongated waist along the flow</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The embedding z summarises the waist; one z per anchor, as today</a:t>
            </a:r>
            <a:endParaRPr lang="en-US" sz="1250" dirty="0"/>
          </a:p>
        </p:txBody>
      </p:sp>
      <p:sp>
        <p:nvSpPr>
          <p:cNvPr id="9" name="Shape 6"/>
          <p:cNvSpPr/>
          <p:nvPr/>
        </p:nvSpPr>
        <p:spPr>
          <a:xfrm>
            <a:off x="8138160" y="1463040"/>
            <a:ext cx="3502152" cy="2011680"/>
          </a:xfrm>
          <a:prstGeom prst="roundRect">
            <a:avLst>
              <a:gd name="adj" fmla="val 2727"/>
            </a:avLst>
          </a:prstGeom>
          <a:solidFill>
            <a:srgbClr val="161B22"/>
          </a:solidFill>
          <a:ln w="12700">
            <a:solidFill>
              <a:srgbClr val="30363D"/>
            </a:solidFill>
            <a:prstDash val="solid"/>
          </a:ln>
        </p:spPr>
      </p:sp>
      <p:sp>
        <p:nvSpPr>
          <p:cNvPr id="10" name="Text 7"/>
          <p:cNvSpPr txBox="1"/>
          <p:nvPr/>
        </p:nvSpPr>
        <p:spPr>
          <a:xfrm>
            <a:off x="8375904" y="1609344"/>
            <a:ext cx="3026664" cy="1719072"/>
          </a:xfrm>
          <a:prstGeom prst="rect">
            <a:avLst/>
          </a:prstGeom>
          <a:noFill/>
          <a:ln/>
        </p:spPr>
        <p:txBody>
          <a:bodyPr wrap="square" lIns="0" tIns="0" rIns="0" bIns="0" rtlCol="0" anchor="ctr"/>
          <a:lstStyle/>
          <a:p>
            <a:pPr indent="0" marL="0">
              <a:spcAft>
                <a:spcPts val="600"/>
              </a:spcAft>
              <a:buNone/>
            </a:pPr>
            <a:r>
              <a:rPr lang="en-US" sz="3000" b="1" dirty="0">
                <a:solidFill>
                  <a:srgbClr val="4493F8"/>
                </a:solidFill>
                <a:latin typeface="Georgia" pitchFamily="34" charset="0"/>
                <a:ea typeface="Georgia" pitchFamily="34" charset="-122"/>
                <a:cs typeface="Georgia" pitchFamily="34" charset="-120"/>
              </a:rPr>
              <a:t>≈ 13</a:t>
            </a:r>
            <a:endParaRPr lang="en-US" sz="3000" dirty="0"/>
          </a:p>
          <a:p>
            <a:pPr indent="0" marL="0">
              <a:spcAft>
                <a:spcPts val="600"/>
              </a:spcAft>
              <a:buNone/>
            </a:pPr>
            <a:r>
              <a:rPr lang="en-US" sz="1250" b="1" dirty="0">
                <a:solidFill>
                  <a:srgbClr val="E6EDF3"/>
                </a:solidFill>
                <a:latin typeface="Calibri" pitchFamily="34" charset="0"/>
                <a:ea typeface="Calibri" pitchFamily="34" charset="-122"/>
                <a:cs typeface="Calibri" pitchFamily="34" charset="-120"/>
              </a:rPr>
              <a:t>cells at the waist</a:t>
            </a:r>
            <a:endParaRPr lang="en-US" sz="3000" dirty="0"/>
          </a:p>
          <a:p>
            <a:pPr indent="0" marL="0">
              <a:buNone/>
            </a:pPr>
            <a:r>
              <a:rPr lang="en-US" sz="1050" dirty="0">
                <a:solidFill>
                  <a:srgbClr val="7D8590"/>
                </a:solidFill>
                <a:latin typeface="Calibri" pitchFamily="34" charset="0"/>
                <a:ea typeface="Calibri" pitchFamily="34" charset="-122"/>
                <a:cs typeface="Calibri" pitchFamily="34" charset="-120"/>
              </a:rPr>
              <a:t>one centre + 12, never fewer than the nine of the 3×3 patch</a:t>
            </a:r>
            <a:endParaRPr lang="en-US" sz="3000" dirty="0"/>
          </a:p>
        </p:txBody>
      </p:sp>
      <p:sp>
        <p:nvSpPr>
          <p:cNvPr id="11" name="Shape 8"/>
          <p:cNvSpPr/>
          <p:nvPr/>
        </p:nvSpPr>
        <p:spPr>
          <a:xfrm>
            <a:off x="8138160" y="3657600"/>
            <a:ext cx="3502152" cy="2011680"/>
          </a:xfrm>
          <a:prstGeom prst="roundRect">
            <a:avLst>
              <a:gd name="adj" fmla="val 2727"/>
            </a:avLst>
          </a:prstGeom>
          <a:solidFill>
            <a:srgbClr val="161B22"/>
          </a:solidFill>
          <a:ln w="12700">
            <a:solidFill>
              <a:srgbClr val="30363D"/>
            </a:solidFill>
            <a:prstDash val="solid"/>
          </a:ln>
        </p:spPr>
      </p:sp>
      <p:sp>
        <p:nvSpPr>
          <p:cNvPr id="12" name="Text 9"/>
          <p:cNvSpPr txBox="1"/>
          <p:nvPr/>
        </p:nvSpPr>
        <p:spPr>
          <a:xfrm>
            <a:off x="8375904" y="3803904"/>
            <a:ext cx="3026664" cy="1719072"/>
          </a:xfrm>
          <a:prstGeom prst="rect">
            <a:avLst/>
          </a:prstGeom>
          <a:noFill/>
          <a:ln/>
        </p:spPr>
        <p:txBody>
          <a:bodyPr wrap="square" lIns="0" tIns="0" rIns="0" bIns="0" rtlCol="0" anchor="ctr"/>
          <a:lstStyle/>
          <a:p>
            <a:pPr indent="0" marL="0">
              <a:spcAft>
                <a:spcPts val="600"/>
              </a:spcAft>
              <a:buNone/>
            </a:pPr>
            <a:r>
              <a:rPr lang="en-US" sz="3000" b="1" dirty="0">
                <a:solidFill>
                  <a:srgbClr val="E3B341"/>
                </a:solidFill>
                <a:latin typeface="Georgia" pitchFamily="34" charset="0"/>
                <a:ea typeface="Georgia" pitchFamily="34" charset="-122"/>
                <a:cs typeface="Georgia" pitchFamily="34" charset="-120"/>
              </a:rPr>
              <a:t>1 z</a:t>
            </a:r>
            <a:endParaRPr lang="en-US" sz="3000" dirty="0"/>
          </a:p>
          <a:p>
            <a:pPr indent="0" marL="0">
              <a:spcAft>
                <a:spcPts val="600"/>
              </a:spcAft>
              <a:buNone/>
            </a:pPr>
            <a:r>
              <a:rPr lang="en-US" sz="1250" b="1" dirty="0">
                <a:solidFill>
                  <a:srgbClr val="E6EDF3"/>
                </a:solidFill>
                <a:latin typeface="Calibri" pitchFamily="34" charset="0"/>
                <a:ea typeface="Calibri" pitchFamily="34" charset="-122"/>
                <a:cs typeface="Calibri" pitchFamily="34" charset="-120"/>
              </a:rPr>
              <a:t>per anchor, as today</a:t>
            </a:r>
            <a:endParaRPr lang="en-US" sz="3000" dirty="0"/>
          </a:p>
          <a:p>
            <a:pPr indent="0" marL="0">
              <a:buNone/>
            </a:pPr>
            <a:r>
              <a:rPr lang="en-US" sz="1050" dirty="0">
                <a:solidFill>
                  <a:srgbClr val="7D8590"/>
                </a:solidFill>
                <a:latin typeface="Calibri" pitchFamily="34" charset="0"/>
                <a:ea typeface="Calibri" pitchFamily="34" charset="-122"/>
                <a:cs typeface="Calibri" pitchFamily="34" charset="-120"/>
              </a:rPr>
              <a:t>so stage 2 and every archived probe see the same kind of object</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2 — THE PREDICTION CONE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Sampled like the past cone, read by nobody</a:t>
            </a:r>
            <a:endParaRPr lang="en-US" sz="30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463040"/>
            <a:ext cx="3557016" cy="1143000"/>
          </a:xfrm>
          <a:prstGeom prst="roundRect">
            <a:avLst>
              <a:gd name="adj" fmla="val 4800"/>
            </a:avLst>
          </a:prstGeom>
          <a:solidFill>
            <a:srgbClr val="161B22"/>
          </a:solidFill>
          <a:ln w="12700">
            <a:solidFill>
              <a:srgbClr val="30363D"/>
            </a:solidFill>
            <a:prstDash val="solid"/>
          </a:ln>
        </p:spPr>
      </p:sp>
      <p:sp>
        <p:nvSpPr>
          <p:cNvPr id="8" name="Text 5"/>
          <p:cNvSpPr txBox="1"/>
          <p:nvPr/>
        </p:nvSpPr>
        <p:spPr>
          <a:xfrm>
            <a:off x="786384" y="1609344"/>
            <a:ext cx="3081528" cy="850392"/>
          </a:xfrm>
          <a:prstGeom prst="rect">
            <a:avLst/>
          </a:prstGeom>
          <a:noFill/>
          <a:ln/>
        </p:spPr>
        <p:txBody>
          <a:bodyPr wrap="square" lIns="0" tIns="0" rIns="0" bIns="0" rtlCol="0" anchor="ctr"/>
          <a:lstStyle/>
          <a:p>
            <a:pPr indent="0" marL="0">
              <a:spcAft>
                <a:spcPts val="800"/>
              </a:spcAft>
              <a:buNone/>
            </a:pPr>
            <a:r>
              <a:rPr lang="en-US" sz="1500" b="1" dirty="0">
                <a:solidFill>
                  <a:srgbClr val="4493F8"/>
                </a:solidFill>
                <a:latin typeface="Calibri" pitchFamily="34" charset="0"/>
                <a:ea typeface="Calibri" pitchFamily="34" charset="-122"/>
                <a:cs typeface="Calibri" pitchFamily="34" charset="-120"/>
              </a:rPr>
              <a:t>+1 … +6 pentads</a:t>
            </a:r>
            <a:endParaRPr lang="en-US" sz="1500" dirty="0"/>
          </a:p>
          <a:p>
            <a:pPr indent="0" marL="0">
              <a:buNone/>
            </a:pPr>
            <a:r>
              <a:rPr lang="en-US" sz="1100" dirty="0">
                <a:solidFill>
                  <a:srgbClr val="E6EDF3"/>
                </a:solidFill>
                <a:latin typeface="Calibri" pitchFamily="34" charset="0"/>
                <a:ea typeface="Calibri" pitchFamily="34" charset="-122"/>
                <a:cs typeface="Calibri" pitchFamily="34" charset="-120"/>
              </a:rPr>
              <a:t>30 days ahead, matching the 30 days of history</a:t>
            </a:r>
            <a:endParaRPr lang="en-US" sz="1500" dirty="0"/>
          </a:p>
        </p:txBody>
      </p:sp>
      <p:sp>
        <p:nvSpPr>
          <p:cNvPr id="9" name="Shape 6"/>
          <p:cNvSpPr/>
          <p:nvPr/>
        </p:nvSpPr>
        <p:spPr>
          <a:xfrm>
            <a:off x="4315968" y="1463040"/>
            <a:ext cx="3557016" cy="1143000"/>
          </a:xfrm>
          <a:prstGeom prst="roundRect">
            <a:avLst>
              <a:gd name="adj" fmla="val 4800"/>
            </a:avLst>
          </a:prstGeom>
          <a:solidFill>
            <a:srgbClr val="161B22"/>
          </a:solidFill>
          <a:ln w="12700">
            <a:solidFill>
              <a:srgbClr val="30363D"/>
            </a:solidFill>
            <a:prstDash val="solid"/>
          </a:ln>
        </p:spPr>
      </p:sp>
      <p:sp>
        <p:nvSpPr>
          <p:cNvPr id="10" name="Text 7"/>
          <p:cNvSpPr txBox="1"/>
          <p:nvPr/>
        </p:nvSpPr>
        <p:spPr>
          <a:xfrm>
            <a:off x="4553712" y="1609344"/>
            <a:ext cx="3081528" cy="850392"/>
          </a:xfrm>
          <a:prstGeom prst="rect">
            <a:avLst/>
          </a:prstGeom>
          <a:noFill/>
          <a:ln/>
        </p:spPr>
        <p:txBody>
          <a:bodyPr wrap="square" lIns="0" tIns="0" rIns="0" bIns="0" rtlCol="0" anchor="ctr"/>
          <a:lstStyle/>
          <a:p>
            <a:pPr indent="0" marL="0">
              <a:spcAft>
                <a:spcPts val="800"/>
              </a:spcAft>
              <a:buNone/>
            </a:pPr>
            <a:r>
              <a:rPr lang="en-US" sz="1500" b="1" dirty="0">
                <a:solidFill>
                  <a:srgbClr val="E8734A"/>
                </a:solidFill>
                <a:latin typeface="Calibri" pitchFamily="34" charset="0"/>
                <a:ea typeface="Calibri" pitchFamily="34" charset="-122"/>
                <a:cs typeface="Calibri" pitchFamily="34" charset="-120"/>
              </a:rPr>
              <a:t>targets only</a:t>
            </a:r>
            <a:endParaRPr lang="en-US" sz="1500" dirty="0"/>
          </a:p>
          <a:p>
            <a:pPr indent="0" marL="0">
              <a:buNone/>
            </a:pPr>
            <a:r>
              <a:rPr lang="en-US" sz="1100" dirty="0">
                <a:solidFill>
                  <a:srgbClr val="E6EDF3"/>
                </a:solidFill>
                <a:latin typeface="Calibri" pitchFamily="34" charset="0"/>
                <a:ea typeface="Calibri" pitchFamily="34" charset="-122"/>
                <a:cs typeface="Calibri" pitchFamily="34" charset="-120"/>
              </a:rPr>
              <a:t>nothing in the future cone is ever read by the encoder</a:t>
            </a:r>
            <a:endParaRPr lang="en-US" sz="1500" dirty="0"/>
          </a:p>
        </p:txBody>
      </p:sp>
      <p:sp>
        <p:nvSpPr>
          <p:cNvPr id="11" name="Shape 8"/>
          <p:cNvSpPr/>
          <p:nvPr/>
        </p:nvSpPr>
        <p:spPr>
          <a:xfrm>
            <a:off x="8083296" y="1463040"/>
            <a:ext cx="3557016" cy="1143000"/>
          </a:xfrm>
          <a:prstGeom prst="roundRect">
            <a:avLst>
              <a:gd name="adj" fmla="val 4800"/>
            </a:avLst>
          </a:prstGeom>
          <a:solidFill>
            <a:srgbClr val="161B22"/>
          </a:solidFill>
          <a:ln w="12700">
            <a:solidFill>
              <a:srgbClr val="30363D"/>
            </a:solidFill>
            <a:prstDash val="solid"/>
          </a:ln>
        </p:spPr>
      </p:sp>
      <p:sp>
        <p:nvSpPr>
          <p:cNvPr id="12" name="Text 9"/>
          <p:cNvSpPr txBox="1"/>
          <p:nvPr/>
        </p:nvSpPr>
        <p:spPr>
          <a:xfrm>
            <a:off x="8321040" y="1609344"/>
            <a:ext cx="3081528" cy="850392"/>
          </a:xfrm>
          <a:prstGeom prst="rect">
            <a:avLst/>
          </a:prstGeom>
          <a:noFill/>
          <a:ln/>
        </p:spPr>
        <p:txBody>
          <a:bodyPr wrap="square" lIns="0" tIns="0" rIns="0" bIns="0" rtlCol="0" anchor="ctr"/>
          <a:lstStyle/>
          <a:p>
            <a:pPr indent="0" marL="0">
              <a:spcAft>
                <a:spcPts val="800"/>
              </a:spcAft>
              <a:buNone/>
            </a:pPr>
            <a:r>
              <a:rPr lang="en-US" sz="1500" b="1" dirty="0">
                <a:solidFill>
                  <a:srgbClr val="E3B341"/>
                </a:solidFill>
                <a:latin typeface="Calibri" pitchFamily="34" charset="0"/>
                <a:ea typeface="Calibri" pitchFamily="34" charset="-122"/>
                <a:cs typeface="Calibri" pitchFamily="34" charset="-120"/>
              </a:rPr>
              <a:t>frozen at evaluation</a:t>
            </a:r>
            <a:endParaRPr lang="en-US" sz="1500" dirty="0"/>
          </a:p>
          <a:p>
            <a:pPr indent="0" marL="0">
              <a:buNone/>
            </a:pPr>
            <a:r>
              <a:rPr lang="en-US" sz="1100" dirty="0">
                <a:solidFill>
                  <a:srgbClr val="E6EDF3"/>
                </a:solidFill>
                <a:latin typeface="Calibri" pitchFamily="34" charset="0"/>
                <a:ea typeface="Calibri" pitchFamily="34" charset="-122"/>
                <a:cs typeface="Calibri" pitchFamily="34" charset="-120"/>
              </a:rPr>
              <a:t>the fixed v2 hourglass scores every arm and every seed</a:t>
            </a:r>
            <a:endParaRPr lang="en-US" sz="1500" dirty="0"/>
          </a:p>
        </p:txBody>
      </p:sp>
      <p:sp>
        <p:nvSpPr>
          <p:cNvPr id="13" name="Shape 10"/>
          <p:cNvSpPr/>
          <p:nvPr/>
        </p:nvSpPr>
        <p:spPr>
          <a:xfrm>
            <a:off x="548640" y="2834640"/>
            <a:ext cx="11091672" cy="2834640"/>
          </a:xfrm>
          <a:prstGeom prst="roundRect">
            <a:avLst>
              <a:gd name="adj" fmla="val 1935"/>
            </a:avLst>
          </a:prstGeom>
          <a:solidFill>
            <a:srgbClr val="161B22"/>
          </a:solidFill>
          <a:ln w="12700">
            <a:solidFill>
              <a:srgbClr val="30363D"/>
            </a:solidFill>
            <a:prstDash val="solid"/>
          </a:ln>
        </p:spPr>
      </p:sp>
      <p:sp>
        <p:nvSpPr>
          <p:cNvPr id="14" name="Text 11"/>
          <p:cNvSpPr txBox="1"/>
          <p:nvPr/>
        </p:nvSpPr>
        <p:spPr>
          <a:xfrm>
            <a:off x="804672" y="3035808"/>
            <a:ext cx="10579608" cy="2468880"/>
          </a:xfrm>
          <a:prstGeom prst="rect">
            <a:avLst/>
          </a:prstGeom>
          <a:noFill/>
          <a:ln/>
        </p:spPr>
        <p:txBody>
          <a:bodyPr wrap="square" lIns="0" tIns="0" rIns="0" bIns="0" rtlCol="0" anchor="ctr"/>
          <a:lstStyle/>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Leads +1…+6 pentads (30 days ahead), the mirror image of the past cone through the anchor: centre c(+ℓ) = −c(−ℓ), same axes and orientation at the same |ℓ|</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Dots are </a:t>
            </a:r>
            <a:r>
              <a:rPr lang="en-US" sz="1250" b="1" dirty="0">
                <a:solidFill>
                  <a:srgbClr val="4493F8"/>
                </a:solidFill>
                <a:latin typeface="Calibri" pitchFamily="34" charset="0"/>
                <a:ea typeface="Calibri" pitchFamily="34" charset="-122"/>
                <a:cs typeface="Calibri" pitchFamily="34" charset="-120"/>
              </a:rPr>
              <a:t>targets only</a:t>
            </a:r>
            <a:r>
              <a:rPr lang="en-US" sz="1250" dirty="0">
                <a:solidFill>
                  <a:srgbClr val="E6EDF3"/>
                </a:solidFill>
                <a:latin typeface="Calibri" pitchFamily="34" charset="0"/>
                <a:ea typeface="Calibri" pitchFamily="34" charset="-122"/>
                <a:cs typeface="Calibri" pitchFamily="34" charset="-120"/>
              </a:rPr>
              <a:t>: each is a decoder query (channel, Δx, Δy, lead, depth) → (μ, log σ</a:t>
            </a:r>
            <a:r>
              <a:rPr lang="en-US" sz="1250" baseline="30000" dirty="0">
                <a:solidFill>
                  <a:srgbClr val="E6EDF3"/>
                </a:solidFill>
                <a:latin typeface="Calibri" pitchFamily="34" charset="0"/>
                <a:ea typeface="Calibri" pitchFamily="34" charset="-122"/>
                <a:cs typeface="Calibri" pitchFamily="34" charset="-120"/>
              </a:rPr>
              <a:t>2</a:t>
            </a:r>
            <a:r>
              <a:rPr lang="en-US" sz="1250" dirty="0">
                <a:solidFill>
                  <a:srgbClr val="E6EDF3"/>
                </a:solidFill>
                <a:latin typeface="Calibri" pitchFamily="34" charset="0"/>
                <a:ea typeface="Calibri" pitchFamily="34" charset="-122"/>
                <a:cs typeface="Calibri" pitchFamily="34" charset="-120"/>
              </a:rPr>
              <a:t>), scored with the Gaussian negative log-likelihood already in cone_codec.py</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The anchor column at every lead is always among the targets — the fixed-frame forecast stage 2 needs</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Per-lead and per-family loss, each reported against its own predict-the-mean bar (the E-069b rule)</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Evaluation geometry is </a:t>
            </a:r>
            <a:r>
              <a:rPr lang="en-US" sz="1250" b="1" dirty="0">
                <a:solidFill>
                  <a:srgbClr val="4493F8"/>
                </a:solidFill>
                <a:latin typeface="Calibri" pitchFamily="34" charset="0"/>
                <a:ea typeface="Calibri" pitchFamily="34" charset="-122"/>
                <a:cs typeface="Calibri" pitchFamily="34" charset="-120"/>
              </a:rPr>
              <a:t>frozen</a:t>
            </a:r>
            <a:r>
              <a:rPr lang="en-US" sz="1250" dirty="0">
                <a:solidFill>
                  <a:srgbClr val="E6EDF3"/>
                </a:solidFill>
                <a:latin typeface="Calibri" pitchFamily="34" charset="0"/>
                <a:ea typeface="Calibri" pitchFamily="34" charset="-122"/>
                <a:cs typeface="Calibri" pitchFamily="34" charset="-120"/>
              </a:rPr>
              <a:t> (the fixed v2 hourglass), whatever the training cone learns — so every number stays comparable across arms and seeds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3 — THE SAMPLING REGIME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400" b="1" dirty="0">
                <a:solidFill>
                  <a:srgbClr val="E6EDF3"/>
                </a:solidFill>
                <a:latin typeface="Georgia" pitchFamily="34" charset="0"/>
                <a:ea typeface="Georgia" pitchFamily="34" charset="-122"/>
                <a:cs typeface="Georgia" pitchFamily="34" charset="-120"/>
              </a:rPr>
              <a:t>One model, four questions, drawn at random per example</a:t>
            </a:r>
            <a:endParaRPr lang="en-US" sz="24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65960"/>
                <a:gridCol w="3063240"/>
                <a:gridCol w="1691640"/>
                <a:gridCol w="685800"/>
                <a:gridCol w="3685032"/>
              </a:tblGrid>
              <a:tr h="310896">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targets</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what it teaches</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0624">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T1 forecast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waist + past cone</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future cone</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100" b="1" dirty="0">
                          <a:solidFill>
                            <a:srgbClr val="E3B341"/>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the full problem</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0624">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T2 snapshot forecast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waist only (past cone fully hidden)</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future cone</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100" b="1" dirty="0">
                          <a:solidFill>
                            <a:srgbClr val="E3B341"/>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the built-in twin: what history buys, inside one model</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0624">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T3 nowcast from history</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past cone under a dropout pattern; waist hidden</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waist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100" b="1" dirty="0">
                          <a:solidFill>
                            <a:srgbClr val="E3B341"/>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the present from the past — persistence, advection, memory</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0624">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T4 fill-in</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waist + past cone, both under a dropout pattern</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the hidden waist cells and dots</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100" b="1" dirty="0">
                          <a:solidFill>
                            <a:srgbClr val="E3B341"/>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E-069b's reconstruction family, kept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bl>
          </a:graphicData>
        </a:graphic>
      </p:graphicFrame>
      <p:sp>
        <p:nvSpPr>
          <p:cNvPr id="8" name="Text 4"/>
          <p:cNvSpPr txBox="1"/>
          <p:nvPr/>
        </p:nvSpPr>
        <p:spPr>
          <a:xfrm>
            <a:off x="548640" y="3931920"/>
            <a:ext cx="11091672" cy="274320"/>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Dropout patterns for T3 and T4, drawn independently </a:t>
            </a:r>
            <a:r>
              <a:rPr lang="en-US" sz="1250" dirty="0">
                <a:solidFill>
                  <a:srgbClr val="7D8590"/>
                </a:solidFill>
                <a:latin typeface="Calibri" pitchFamily="34" charset="0"/>
                <a:ea typeface="Calibri" pitchFamily="34" charset="-122"/>
                <a:cs typeface="Calibri" pitchFamily="34" charset="-120"/>
              </a:rPr>
              <a:t>(each fires with its own probability)</a:t>
            </a:r>
            <a:endParaRPr lang="en-US" sz="1250" dirty="0"/>
          </a:p>
        </p:txBody>
      </p:sp>
      <p:sp>
        <p:nvSpPr>
          <p:cNvPr id="9" name="Shape 5"/>
          <p:cNvSpPr/>
          <p:nvPr/>
        </p:nvSpPr>
        <p:spPr>
          <a:xfrm>
            <a:off x="548640" y="4315968"/>
            <a:ext cx="2112264" cy="1371600"/>
          </a:xfrm>
          <a:prstGeom prst="roundRect">
            <a:avLst>
              <a:gd name="adj" fmla="val 4000"/>
            </a:avLst>
          </a:prstGeom>
          <a:solidFill>
            <a:srgbClr val="161B22"/>
          </a:solidFill>
          <a:ln w="12700">
            <a:solidFill>
              <a:srgbClr val="30363D"/>
            </a:solidFill>
            <a:prstDash val="solid"/>
          </a:ln>
        </p:spPr>
      </p:sp>
      <p:sp>
        <p:nvSpPr>
          <p:cNvPr id="10" name="Text 6"/>
          <p:cNvSpPr txBox="1"/>
          <p:nvPr/>
        </p:nvSpPr>
        <p:spPr>
          <a:xfrm>
            <a:off x="786384" y="4462272"/>
            <a:ext cx="1636776" cy="1078992"/>
          </a:xfrm>
          <a:prstGeom prst="rect">
            <a:avLst/>
          </a:prstGeom>
          <a:noFill/>
          <a:ln/>
        </p:spPr>
        <p:txBody>
          <a:bodyPr wrap="square" lIns="0" tIns="0" rIns="0" bIns="0" rtlCol="0" anchor="ctr"/>
          <a:lstStyle/>
          <a:p>
            <a:pPr indent="0" marL="0">
              <a:spcAft>
                <a:spcPts val="800"/>
              </a:spcAft>
              <a:buNone/>
            </a:pPr>
            <a:r>
              <a:rPr lang="en-US" sz="1150" b="1" dirty="0">
                <a:solidFill>
                  <a:srgbClr val="4493F8"/>
                </a:solidFill>
                <a:latin typeface="Calibri" pitchFamily="34" charset="0"/>
                <a:ea typeface="Calibri" pitchFamily="34" charset="-122"/>
                <a:cs typeface="Calibri" pitchFamily="34" charset="-120"/>
              </a:rPr>
              <a:t>channel drop</a:t>
            </a:r>
            <a:endParaRPr lang="en-US" sz="1150" dirty="0"/>
          </a:p>
          <a:p>
            <a:pPr indent="0" marL="0">
              <a:buNone/>
            </a:pPr>
            <a:r>
              <a:rPr lang="en-US" sz="1050" dirty="0">
                <a:solidFill>
                  <a:srgbClr val="7D8590"/>
                </a:solidFill>
                <a:latin typeface="Calibri" pitchFamily="34" charset="0"/>
                <a:ea typeface="Calibri" pitchFamily="34" charset="-122"/>
                <a:cs typeface="Calibri" pitchFamily="34" charset="-120"/>
              </a:rPr>
              <a:t>at the waist — lag 0 only, chan_drop_scope lag0</a:t>
            </a:r>
            <a:endParaRPr lang="en-US" sz="1150" dirty="0"/>
          </a:p>
        </p:txBody>
      </p:sp>
      <p:sp>
        <p:nvSpPr>
          <p:cNvPr id="11" name="Shape 7"/>
          <p:cNvSpPr/>
          <p:nvPr/>
        </p:nvSpPr>
        <p:spPr>
          <a:xfrm>
            <a:off x="2798064" y="4315968"/>
            <a:ext cx="2112264" cy="1371600"/>
          </a:xfrm>
          <a:prstGeom prst="roundRect">
            <a:avLst>
              <a:gd name="adj" fmla="val 4000"/>
            </a:avLst>
          </a:prstGeom>
          <a:solidFill>
            <a:srgbClr val="161B22"/>
          </a:solidFill>
          <a:ln w="12700">
            <a:solidFill>
              <a:srgbClr val="30363D"/>
            </a:solidFill>
            <a:prstDash val="solid"/>
          </a:ln>
        </p:spPr>
      </p:sp>
      <p:sp>
        <p:nvSpPr>
          <p:cNvPr id="12" name="Text 8"/>
          <p:cNvSpPr txBox="1"/>
          <p:nvPr/>
        </p:nvSpPr>
        <p:spPr>
          <a:xfrm>
            <a:off x="3035808" y="4462272"/>
            <a:ext cx="1636776" cy="1078992"/>
          </a:xfrm>
          <a:prstGeom prst="rect">
            <a:avLst/>
          </a:prstGeom>
          <a:noFill/>
          <a:ln/>
        </p:spPr>
        <p:txBody>
          <a:bodyPr wrap="square" lIns="0" tIns="0" rIns="0" bIns="0" rtlCol="0" anchor="ctr"/>
          <a:lstStyle/>
          <a:p>
            <a:pPr indent="0" marL="0">
              <a:spcAft>
                <a:spcPts val="800"/>
              </a:spcAft>
              <a:buNone/>
            </a:pPr>
            <a:r>
              <a:rPr lang="en-US" sz="1150" b="1" dirty="0">
                <a:solidFill>
                  <a:srgbClr val="4493F8"/>
                </a:solidFill>
                <a:latin typeface="Calibri" pitchFamily="34" charset="0"/>
                <a:ea typeface="Calibri" pitchFamily="34" charset="-122"/>
                <a:cs typeface="Calibri" pitchFamily="34" charset="-120"/>
              </a:rPr>
              <a:t>recent-lag band</a:t>
            </a:r>
            <a:endParaRPr lang="en-US" sz="1150" dirty="0"/>
          </a:p>
          <a:p>
            <a:pPr indent="0" marL="0">
              <a:buNone/>
            </a:pPr>
            <a:r>
              <a:rPr lang="en-US" sz="1050" dirty="0">
                <a:solidFill>
                  <a:srgbClr val="7D8590"/>
                </a:solidFill>
                <a:latin typeface="Calibri" pitchFamily="34" charset="0"/>
                <a:ea typeface="Calibri" pitchFamily="34" charset="-122"/>
                <a:cs typeface="Calibri" pitchFamily="34" charset="-120"/>
              </a:rPr>
              <a:t>hide every dot at lag ≤ ℓ</a:t>
            </a:r>
            <a:r>
              <a:rPr lang="en-US" sz="1050" baseline="-40000" dirty="0">
                <a:solidFill>
                  <a:srgbClr val="7D8590"/>
                </a:solidFill>
                <a:latin typeface="Calibri" pitchFamily="34" charset="0"/>
                <a:ea typeface="Calibri" pitchFamily="34" charset="-122"/>
                <a:cs typeface="Calibri" pitchFamily="34" charset="-120"/>
              </a:rPr>
              <a:t>0</a:t>
            </a:r>
            <a:r>
              <a:rPr lang="en-US" sz="1050" dirty="0">
                <a:solidFill>
                  <a:srgbClr val="7D8590"/>
                </a:solidFill>
                <a:latin typeface="Calibri" pitchFamily="34" charset="0"/>
                <a:ea typeface="Calibri" pitchFamily="34" charset="-122"/>
                <a:cs typeface="Calibri" pitchFamily="34" charset="-120"/>
              </a:rPr>
              <a:t>, ℓ</a:t>
            </a:r>
            <a:r>
              <a:rPr lang="en-US" sz="1050" baseline="-40000" dirty="0">
                <a:solidFill>
                  <a:srgbClr val="7D8590"/>
                </a:solidFill>
                <a:latin typeface="Calibri" pitchFamily="34" charset="0"/>
                <a:ea typeface="Calibri" pitchFamily="34" charset="-122"/>
                <a:cs typeface="Calibri" pitchFamily="34" charset="-120"/>
              </a:rPr>
              <a:t>0</a:t>
            </a:r>
            <a:r>
              <a:rPr lang="en-US" sz="1050" dirty="0">
                <a:solidFill>
                  <a:srgbClr val="7D8590"/>
                </a:solidFill>
                <a:latin typeface="Calibri" pitchFamily="34" charset="0"/>
                <a:ea typeface="Calibri" pitchFamily="34" charset="-122"/>
                <a:cs typeface="Calibri" pitchFamily="34" charset="-120"/>
              </a:rPr>
              <a:t> ∈ {1, 2, 3}</a:t>
            </a:r>
            <a:endParaRPr lang="en-US" sz="1150" dirty="0"/>
          </a:p>
        </p:txBody>
      </p:sp>
      <p:sp>
        <p:nvSpPr>
          <p:cNvPr id="13" name="Shape 9"/>
          <p:cNvSpPr/>
          <p:nvPr/>
        </p:nvSpPr>
        <p:spPr>
          <a:xfrm>
            <a:off x="5047488" y="4315968"/>
            <a:ext cx="2112264" cy="1371600"/>
          </a:xfrm>
          <a:prstGeom prst="roundRect">
            <a:avLst>
              <a:gd name="adj" fmla="val 4000"/>
            </a:avLst>
          </a:prstGeom>
          <a:solidFill>
            <a:srgbClr val="161B22"/>
          </a:solidFill>
          <a:ln w="12700">
            <a:solidFill>
              <a:srgbClr val="30363D"/>
            </a:solidFill>
            <a:prstDash val="solid"/>
          </a:ln>
        </p:spPr>
      </p:sp>
      <p:sp>
        <p:nvSpPr>
          <p:cNvPr id="14" name="Text 10"/>
          <p:cNvSpPr txBox="1"/>
          <p:nvPr/>
        </p:nvSpPr>
        <p:spPr>
          <a:xfrm>
            <a:off x="5285232" y="4462272"/>
            <a:ext cx="1636776" cy="1078992"/>
          </a:xfrm>
          <a:prstGeom prst="rect">
            <a:avLst/>
          </a:prstGeom>
          <a:noFill/>
          <a:ln/>
        </p:spPr>
        <p:txBody>
          <a:bodyPr wrap="square" lIns="0" tIns="0" rIns="0" bIns="0" rtlCol="0" anchor="ctr"/>
          <a:lstStyle/>
          <a:p>
            <a:pPr indent="0" marL="0">
              <a:spcAft>
                <a:spcPts val="800"/>
              </a:spcAft>
              <a:buNone/>
            </a:pPr>
            <a:r>
              <a:rPr lang="en-US" sz="1150" b="1" dirty="0">
                <a:solidFill>
                  <a:srgbClr val="4493F8"/>
                </a:solidFill>
                <a:latin typeface="Calibri" pitchFamily="34" charset="0"/>
                <a:ea typeface="Calibri" pitchFamily="34" charset="-122"/>
                <a:cs typeface="Calibri" pitchFamily="34" charset="-120"/>
              </a:rPr>
              <a:t>bearing wedge</a:t>
            </a:r>
            <a:endParaRPr lang="en-US" sz="1150" dirty="0"/>
          </a:p>
          <a:p>
            <a:pPr indent="0" marL="0">
              <a:buNone/>
            </a:pPr>
            <a:r>
              <a:rPr lang="en-US" sz="1050" dirty="0">
                <a:solidFill>
                  <a:srgbClr val="7D8590"/>
                </a:solidFill>
                <a:latin typeface="Calibri" pitchFamily="34" charset="0"/>
                <a:ea typeface="Calibri" pitchFamily="34" charset="-122"/>
                <a:cs typeface="Calibri" pitchFamily="34" charset="-120"/>
              </a:rPr>
              <a:t>hide a 90° sector</a:t>
            </a:r>
            <a:endParaRPr lang="en-US" sz="1150" dirty="0"/>
          </a:p>
        </p:txBody>
      </p:sp>
      <p:sp>
        <p:nvSpPr>
          <p:cNvPr id="15" name="Shape 11"/>
          <p:cNvSpPr/>
          <p:nvPr/>
        </p:nvSpPr>
        <p:spPr>
          <a:xfrm>
            <a:off x="7296912" y="4315968"/>
            <a:ext cx="2112264" cy="1371600"/>
          </a:xfrm>
          <a:prstGeom prst="roundRect">
            <a:avLst>
              <a:gd name="adj" fmla="val 4000"/>
            </a:avLst>
          </a:prstGeom>
          <a:solidFill>
            <a:srgbClr val="161B22"/>
          </a:solidFill>
          <a:ln w="12700">
            <a:solidFill>
              <a:srgbClr val="30363D"/>
            </a:solidFill>
            <a:prstDash val="solid"/>
          </a:ln>
        </p:spPr>
      </p:sp>
      <p:sp>
        <p:nvSpPr>
          <p:cNvPr id="16" name="Text 12"/>
          <p:cNvSpPr txBox="1"/>
          <p:nvPr/>
        </p:nvSpPr>
        <p:spPr>
          <a:xfrm>
            <a:off x="7534656" y="4462272"/>
            <a:ext cx="1636776" cy="1078992"/>
          </a:xfrm>
          <a:prstGeom prst="rect">
            <a:avLst/>
          </a:prstGeom>
          <a:noFill/>
          <a:ln/>
        </p:spPr>
        <p:txBody>
          <a:bodyPr wrap="square" lIns="0" tIns="0" rIns="0" bIns="0" rtlCol="0" anchor="ctr"/>
          <a:lstStyle/>
          <a:p>
            <a:pPr indent="0" marL="0">
              <a:spcAft>
                <a:spcPts val="800"/>
              </a:spcAft>
              <a:buNone/>
            </a:pPr>
            <a:r>
              <a:rPr lang="en-US" sz="1150" b="1" dirty="0">
                <a:solidFill>
                  <a:srgbClr val="4493F8"/>
                </a:solidFill>
                <a:latin typeface="Calibri" pitchFamily="34" charset="0"/>
                <a:ea typeface="Calibri" pitchFamily="34" charset="-122"/>
                <a:cs typeface="Calibri" pitchFamily="34" charset="-120"/>
              </a:rPr>
              <a:t>random dots</a:t>
            </a:r>
            <a:endParaRPr lang="en-US" sz="1150" dirty="0"/>
          </a:p>
          <a:p>
            <a:pPr indent="0" marL="0">
              <a:buNone/>
            </a:pPr>
            <a:r>
              <a:rPr lang="en-US" sz="1050" dirty="0">
                <a:solidFill>
                  <a:srgbClr val="7D8590"/>
                </a:solidFill>
                <a:latin typeface="Calibri" pitchFamily="34" charset="0"/>
                <a:ea typeface="Calibri" pitchFamily="34" charset="-122"/>
                <a:cs typeface="Calibri" pitchFamily="34" charset="-120"/>
              </a:rPr>
              <a:t>each dot hidden with p = 0.3</a:t>
            </a:r>
            <a:endParaRPr lang="en-US" sz="1150" dirty="0"/>
          </a:p>
        </p:txBody>
      </p:sp>
      <p:sp>
        <p:nvSpPr>
          <p:cNvPr id="17" name="Shape 13"/>
          <p:cNvSpPr/>
          <p:nvPr/>
        </p:nvSpPr>
        <p:spPr>
          <a:xfrm>
            <a:off x="9546336" y="4315968"/>
            <a:ext cx="2112264" cy="1371600"/>
          </a:xfrm>
          <a:prstGeom prst="roundRect">
            <a:avLst>
              <a:gd name="adj" fmla="val 4000"/>
            </a:avLst>
          </a:prstGeom>
          <a:solidFill>
            <a:srgbClr val="161B22"/>
          </a:solidFill>
          <a:ln w="12700">
            <a:solidFill>
              <a:srgbClr val="30363D"/>
            </a:solidFill>
            <a:prstDash val="solid"/>
          </a:ln>
        </p:spPr>
      </p:sp>
      <p:sp>
        <p:nvSpPr>
          <p:cNvPr id="18" name="Text 14"/>
          <p:cNvSpPr txBox="1"/>
          <p:nvPr/>
        </p:nvSpPr>
        <p:spPr>
          <a:xfrm>
            <a:off x="9784080" y="4462272"/>
            <a:ext cx="1636776" cy="1078992"/>
          </a:xfrm>
          <a:prstGeom prst="rect">
            <a:avLst/>
          </a:prstGeom>
          <a:noFill/>
          <a:ln/>
        </p:spPr>
        <p:txBody>
          <a:bodyPr wrap="square" lIns="0" tIns="0" rIns="0" bIns="0" rtlCol="0" anchor="ctr"/>
          <a:lstStyle/>
          <a:p>
            <a:pPr indent="0" marL="0">
              <a:spcAft>
                <a:spcPts val="800"/>
              </a:spcAft>
              <a:buNone/>
            </a:pPr>
            <a:r>
              <a:rPr lang="en-US" sz="1150" b="1" dirty="0">
                <a:solidFill>
                  <a:srgbClr val="4493F8"/>
                </a:solidFill>
                <a:latin typeface="Calibri" pitchFamily="34" charset="0"/>
                <a:ea typeface="Calibri" pitchFamily="34" charset="-122"/>
                <a:cs typeface="Calibri" pitchFamily="34" charset="-120"/>
              </a:rPr>
              <a:t>whole waist</a:t>
            </a:r>
            <a:endParaRPr lang="en-US" sz="1150" dirty="0"/>
          </a:p>
          <a:p>
            <a:pPr indent="0" marL="0">
              <a:buNone/>
            </a:pPr>
            <a:r>
              <a:rPr lang="en-US" sz="1050" dirty="0">
                <a:solidFill>
                  <a:srgbClr val="7D8590"/>
                </a:solidFill>
                <a:latin typeface="Calibri" pitchFamily="34" charset="0"/>
                <a:ea typeface="Calibri" pitchFamily="34" charset="-122"/>
                <a:cs typeface="Calibri" pitchFamily="34" charset="-120"/>
              </a:rPr>
              <a:t>T3 only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3 — THE RULES THAT MAKE THE MIX SAFE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800" b="1" dirty="0">
                <a:solidFill>
                  <a:srgbClr val="E6EDF3"/>
                </a:solidFill>
                <a:latin typeface="Georgia" pitchFamily="34" charset="0"/>
                <a:ea typeface="Georgia" pitchFamily="34" charset="-122"/>
                <a:cs typeface="Georgia" pitchFamily="34" charset="-120"/>
              </a:rPr>
              <a:t>Three rules, all learned the hard way in E-069</a:t>
            </a:r>
            <a:endParaRPr lang="en-US" sz="28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463040"/>
            <a:ext cx="3557016" cy="2377440"/>
          </a:xfrm>
          <a:prstGeom prst="roundRect">
            <a:avLst>
              <a:gd name="adj" fmla="val 2308"/>
            </a:avLst>
          </a:prstGeom>
          <a:solidFill>
            <a:srgbClr val="161B22"/>
          </a:solidFill>
          <a:ln w="12700">
            <a:solidFill>
              <a:srgbClr val="30363D"/>
            </a:solidFill>
            <a:prstDash val="solid"/>
          </a:ln>
        </p:spPr>
      </p:sp>
      <p:sp>
        <p:nvSpPr>
          <p:cNvPr id="8" name="Text 5"/>
          <p:cNvSpPr txBox="1"/>
          <p:nvPr/>
        </p:nvSpPr>
        <p:spPr>
          <a:xfrm>
            <a:off x="786384" y="1609344"/>
            <a:ext cx="3081528" cy="20848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1 · Knowable targets only</a:t>
            </a:r>
            <a:endParaRPr lang="en-US" sz="1250" dirty="0"/>
          </a:p>
          <a:p>
            <a:pPr indent="0" marL="0">
              <a:buNone/>
            </a:pPr>
            <a:r>
              <a:rPr lang="en-US" sz="1200" dirty="0">
                <a:solidFill>
                  <a:srgbClr val="E6EDF3"/>
                </a:solidFill>
                <a:latin typeface="Calibri" pitchFamily="34" charset="0"/>
                <a:ea typeface="Calibri" pitchFamily="34" charset="-122"/>
                <a:cs typeface="Calibri" pitchFamily="34" charset="-120"/>
              </a:rPr>
              <a:t>A target channel must be visible somewhere in the input (any lag, any dot). Under the first E-069 plan 80 % of hidden-dot targets broke this and 64 % of the loss was predict-the-mean.</a:t>
            </a:r>
            <a:endParaRPr lang="en-US" sz="1250" dirty="0"/>
          </a:p>
        </p:txBody>
      </p:sp>
      <p:sp>
        <p:nvSpPr>
          <p:cNvPr id="9" name="Shape 6"/>
          <p:cNvSpPr/>
          <p:nvPr/>
        </p:nvSpPr>
        <p:spPr>
          <a:xfrm>
            <a:off x="4315968" y="1463040"/>
            <a:ext cx="3557016" cy="2377440"/>
          </a:xfrm>
          <a:prstGeom prst="roundRect">
            <a:avLst>
              <a:gd name="adj" fmla="val 2308"/>
            </a:avLst>
          </a:prstGeom>
          <a:solidFill>
            <a:srgbClr val="161B22"/>
          </a:solidFill>
          <a:ln w="12700">
            <a:solidFill>
              <a:srgbClr val="30363D"/>
            </a:solidFill>
            <a:prstDash val="solid"/>
          </a:ln>
        </p:spPr>
      </p:sp>
      <p:sp>
        <p:nvSpPr>
          <p:cNvPr id="10" name="Text 7"/>
          <p:cNvSpPr txBox="1"/>
          <p:nvPr/>
        </p:nvSpPr>
        <p:spPr>
          <a:xfrm>
            <a:off x="4553712" y="1609344"/>
            <a:ext cx="3081528" cy="20848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2 · No copy targets</a:t>
            </a:r>
            <a:endParaRPr lang="en-US" sz="1250" dirty="0"/>
          </a:p>
          <a:p>
            <a:pPr indent="0" marL="0">
              <a:buNone/>
            </a:pPr>
            <a:r>
              <a:rPr lang="en-US" sz="1200" dirty="0">
                <a:solidFill>
                  <a:srgbClr val="E6EDF3"/>
                </a:solidFill>
                <a:latin typeface="Calibri" pitchFamily="34" charset="0"/>
                <a:ea typeface="Calibri" pitchFamily="34" charset="-122"/>
                <a:cs typeface="Calibri" pitchFamily="34" charset="-120"/>
              </a:rPr>
              <a:t>The anchor family scores hidden channels only (anchor_hidden_only); a target visible in the input is a copy, not a question.</a:t>
            </a:r>
            <a:endParaRPr lang="en-US" sz="1250" dirty="0"/>
          </a:p>
        </p:txBody>
      </p:sp>
      <p:sp>
        <p:nvSpPr>
          <p:cNvPr id="11" name="Shape 8"/>
          <p:cNvSpPr/>
          <p:nvPr/>
        </p:nvSpPr>
        <p:spPr>
          <a:xfrm>
            <a:off x="8083296" y="1463040"/>
            <a:ext cx="3557016" cy="2377440"/>
          </a:xfrm>
          <a:prstGeom prst="roundRect">
            <a:avLst>
              <a:gd name="adj" fmla="val 2308"/>
            </a:avLst>
          </a:prstGeom>
          <a:solidFill>
            <a:srgbClr val="161B22"/>
          </a:solidFill>
          <a:ln w="12700">
            <a:solidFill>
              <a:srgbClr val="30363D"/>
            </a:solidFill>
            <a:prstDash val="solid"/>
          </a:ln>
        </p:spPr>
      </p:sp>
      <p:sp>
        <p:nvSpPr>
          <p:cNvPr id="12" name="Text 9"/>
          <p:cNvSpPr txBox="1"/>
          <p:nvPr/>
        </p:nvSpPr>
        <p:spPr>
          <a:xfrm>
            <a:off x="8321040" y="1609344"/>
            <a:ext cx="3081528" cy="20848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3 · Every family against its own bar</a:t>
            </a:r>
            <a:endParaRPr lang="en-US" sz="1250" dirty="0"/>
          </a:p>
          <a:p>
            <a:pPr indent="0" marL="0">
              <a:buNone/>
            </a:pPr>
            <a:r>
              <a:rPr lang="en-US" sz="1200" dirty="0">
                <a:solidFill>
                  <a:srgbClr val="E6EDF3"/>
                </a:solidFill>
                <a:latin typeface="Calibri" pitchFamily="34" charset="0"/>
                <a:ea typeface="Calibri" pitchFamily="34" charset="-122"/>
                <a:cs typeface="Calibri" pitchFamily="34" charset="-120"/>
              </a:rPr>
              <a:t>Per (task, family, lead) loss, each divided by its predict-the-mean score; a task is “learned” only where the ratio is below one at held-out anchors.</a:t>
            </a:r>
            <a:endParaRPr lang="en-US" sz="1250" dirty="0"/>
          </a:p>
        </p:txBody>
      </p:sp>
      <p:sp>
        <p:nvSpPr>
          <p:cNvPr id="13" name="Shape 10"/>
          <p:cNvSpPr/>
          <p:nvPr/>
        </p:nvSpPr>
        <p:spPr>
          <a:xfrm>
            <a:off x="548640" y="4069080"/>
            <a:ext cx="11091672" cy="1600200"/>
          </a:xfrm>
          <a:prstGeom prst="roundRect">
            <a:avLst>
              <a:gd name="adj" fmla="val 3429"/>
            </a:avLst>
          </a:prstGeom>
          <a:solidFill>
            <a:srgbClr val="161B22"/>
          </a:solidFill>
          <a:ln w="12700">
            <a:solidFill>
              <a:srgbClr val="30363D"/>
            </a:solidFill>
            <a:prstDash val="solid"/>
          </a:ln>
        </p:spPr>
      </p:sp>
      <p:sp>
        <p:nvSpPr>
          <p:cNvPr id="14" name="Text 11"/>
          <p:cNvSpPr txBox="1"/>
          <p:nvPr/>
        </p:nvSpPr>
        <p:spPr>
          <a:xfrm>
            <a:off x="804672" y="4270248"/>
            <a:ext cx="10579608" cy="1234440"/>
          </a:xfrm>
          <a:prstGeom prst="rect">
            <a:avLst/>
          </a:prstGeom>
          <a:noFill/>
          <a:ln/>
        </p:spPr>
        <p:txBody>
          <a:bodyPr wrap="square" lIns="0" tIns="0" rIns="0" bIns="0" rtlCol="0" anchor="ctr"/>
          <a:lstStyle/>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The task is not told to the model by a token; the masks are visible (the mask_tok / miss_tok distinction stays), and the lead is in every query's coordinates — that is enough</a:t>
            </a:r>
            <a:endParaRPr lang="en-US" sz="1250" dirty="0"/>
          </a:p>
          <a:p>
            <a:pPr marL="203200" indent="-203200">
              <a:spcAft>
                <a:spcPts val="700"/>
              </a:spcAft>
              <a:buSzPct val="100000"/>
              <a:buChar char="•"/>
            </a:pPr>
            <a:r>
              <a:rPr lang="en-US" sz="1250" dirty="0">
                <a:solidFill>
                  <a:srgbClr val="E6EDF3"/>
                </a:solidFill>
                <a:latin typeface="Calibri" pitchFamily="34" charset="0"/>
                <a:ea typeface="Calibri" pitchFamily="34" charset="-122"/>
                <a:cs typeface="Calibri" pitchFamily="34" charset="-120"/>
              </a:rPr>
              <a:t>Loss weights: equal across tasks per example; the shares in the table set the mix, not the weights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THE CONE AS A WARPED SUNFLOWER</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600" b="1" dirty="0">
                <a:solidFill>
                  <a:srgbClr val="E6EDF3"/>
                </a:solidFill>
                <a:latin typeface="Georgia" pitchFamily="34" charset="0"/>
                <a:ea typeface="Georgia" pitchFamily="34" charset="-122"/>
                <a:cs typeface="Georgia" pitchFamily="34" charset="-120"/>
              </a:rPr>
              <a:t>Eight numbers per region shape the whole hourglass — and none of them is in kilometres</a:t>
            </a:r>
            <a:endParaRPr lang="en-US" sz="26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8</a:t>
            </a:r>
            <a:endParaRPr lang="en-US" sz="1000" dirty="0"/>
          </a:p>
        </p:txBody>
      </p:sp>
      <p:pic>
        <p:nvPicPr>
          <p:cNvPr id="7" name="Image 0" descr="/home/claude/earth/ml/plans/E080_figures/warped_sunflower.png">    </p:cNvPr>
          <p:cNvPicPr>
            <a:picLocks noChangeAspect="1"/>
          </p:cNvPicPr>
          <p:nvPr/>
        </p:nvPicPr>
        <p:blipFill>
          <a:blip r:embed="rId1"/>
          <a:stretch>
            <a:fillRect/>
          </a:stretch>
        </p:blipFill>
        <p:spPr>
          <a:xfrm>
            <a:off x="1179576" y="1316736"/>
            <a:ext cx="9829800" cy="2331720"/>
          </a:xfrm>
          <a:prstGeom prst="rect">
            <a:avLst/>
          </a:prstGeom>
        </p:spPr>
      </p:pic>
      <p:sp>
        <p:nvSpPr>
          <p:cNvPr id="8" name="Shape 4"/>
          <p:cNvSpPr/>
          <p:nvPr/>
        </p:nvSpPr>
        <p:spPr>
          <a:xfrm>
            <a:off x="548640" y="3721608"/>
            <a:ext cx="11091672" cy="731520"/>
          </a:xfrm>
          <a:prstGeom prst="roundRect">
            <a:avLst>
              <a:gd name="adj" fmla="val 7500"/>
            </a:avLst>
          </a:prstGeom>
          <a:solidFill>
            <a:srgbClr val="11202F"/>
          </a:solidFill>
          <a:ln w="12700">
            <a:solidFill>
              <a:srgbClr val="30363D"/>
            </a:solidFill>
            <a:prstDash val="solid"/>
          </a:ln>
        </p:spPr>
      </p:sp>
      <p:sp>
        <p:nvSpPr>
          <p:cNvPr id="9" name="Text 5"/>
          <p:cNvSpPr txBox="1"/>
          <p:nvPr/>
        </p:nvSpPr>
        <p:spPr>
          <a:xfrm>
            <a:off x="822960" y="3794760"/>
            <a:ext cx="10543032" cy="219456"/>
          </a:xfrm>
          <a:prstGeom prst="rect">
            <a:avLst/>
          </a:prstGeom>
          <a:noFill/>
          <a:ln/>
        </p:spPr>
        <p:txBody>
          <a:bodyPr wrap="square" lIns="0" tIns="0" rIns="0" bIns="0" rtlCol="0" anchor="ctr"/>
          <a:lstStyle/>
          <a:p>
            <a:pPr indent="0" marL="0">
              <a:buNone/>
            </a:pPr>
            <a:r>
              <a:rPr lang="en-US" sz="1050" dirty="0">
                <a:solidFill>
                  <a:srgbClr val="7D8590"/>
                </a:solidFill>
                <a:latin typeface="Calibri" pitchFamily="34" charset="0"/>
                <a:ea typeface="Calibri" pitchFamily="34" charset="-122"/>
                <a:cs typeface="Calibri" pitchFamily="34" charset="-120"/>
              </a:rPr>
              <a:t>For each region and channel group, the past cone at lag ℓ is a Gaussian footprint centred at anchor + ℓ·d with covariance Σ(ℓ), and the dots are the canonical sunflower mapped through it:</a:t>
            </a:r>
            <a:endParaRPr lang="en-US" sz="1050" dirty="0"/>
          </a:p>
        </p:txBody>
      </p:sp>
      <p:sp>
        <p:nvSpPr>
          <p:cNvPr id="10" name="Text 6"/>
          <p:cNvSpPr txBox="1"/>
          <p:nvPr/>
        </p:nvSpPr>
        <p:spPr>
          <a:xfrm>
            <a:off x="822960" y="4032504"/>
            <a:ext cx="10543032" cy="365760"/>
          </a:xfrm>
          <a:prstGeom prst="rect">
            <a:avLst/>
          </a:prstGeom>
          <a:noFill/>
          <a:ln/>
        </p:spPr>
        <p:txBody>
          <a:bodyPr wrap="square" lIns="0" tIns="0" rIns="0" bIns="0" rtlCol="0" anchor="ctr"/>
          <a:lstStyle/>
          <a:p>
            <a:pPr indent="0" marL="0">
              <a:buNone/>
            </a:pPr>
            <a:r>
              <a:rPr lang="en-US" sz="1500" dirty="0">
                <a:solidFill>
                  <a:srgbClr val="E6EDF3"/>
                </a:solidFill>
                <a:latin typeface="Cambria" pitchFamily="34" charset="0"/>
                <a:ea typeface="Cambria" pitchFamily="34" charset="-122"/>
                <a:cs typeface="Cambria" pitchFamily="34" charset="-120"/>
              </a:rPr>
              <a:t>Σ(ℓ) = Σ</a:t>
            </a:r>
            <a:r>
              <a:rPr lang="en-US" sz="1500" baseline="-40000" dirty="0">
                <a:solidFill>
                  <a:srgbClr val="E6EDF3"/>
                </a:solidFill>
                <a:latin typeface="Cambria" pitchFamily="34" charset="0"/>
                <a:ea typeface="Cambria" pitchFamily="34" charset="-122"/>
                <a:cs typeface="Cambria" pitchFamily="34" charset="-120"/>
              </a:rPr>
              <a:t>0</a:t>
            </a:r>
            <a:r>
              <a:rPr lang="en-US" sz="1500" dirty="0">
                <a:solidFill>
                  <a:srgbClr val="E6EDF3"/>
                </a:solidFill>
                <a:latin typeface="Cambria" pitchFamily="34" charset="0"/>
                <a:ea typeface="Cambria" pitchFamily="34" charset="-122"/>
                <a:cs typeface="Cambria" pitchFamily="34" charset="-120"/>
              </a:rPr>
              <a:t> + ℓ</a:t>
            </a:r>
            <a:r>
              <a:rPr lang="en-US" sz="1500" baseline="30000" dirty="0">
                <a:solidFill>
                  <a:srgbClr val="E6EDF3"/>
                </a:solidFill>
                <a:latin typeface="Cambria" pitchFamily="34" charset="0"/>
                <a:ea typeface="Cambria" pitchFamily="34" charset="-122"/>
                <a:cs typeface="Cambria" pitchFamily="34" charset="-120"/>
              </a:rPr>
              <a:t>2</a:t>
            </a:r>
            <a:r>
              <a:rPr lang="en-US" sz="1500" dirty="0">
                <a:solidFill>
                  <a:srgbClr val="E6EDF3"/>
                </a:solidFill>
                <a:latin typeface="Cambria" pitchFamily="34" charset="0"/>
                <a:ea typeface="Cambria" pitchFamily="34" charset="-122"/>
                <a:cs typeface="Cambria" pitchFamily="34" charset="-120"/>
              </a:rPr>
              <a:t>·Σ</a:t>
            </a:r>
            <a:r>
              <a:rPr lang="en-US" sz="1500" baseline="-40000" dirty="0">
                <a:solidFill>
                  <a:srgbClr val="E6EDF3"/>
                </a:solidFill>
                <a:latin typeface="Cambria" pitchFamily="34" charset="0"/>
                <a:ea typeface="Cambria" pitchFamily="34" charset="-122"/>
                <a:cs typeface="Cambria" pitchFamily="34" charset="-120"/>
              </a:rPr>
              <a:t>v</a:t>
            </a:r>
            <a:r>
              <a:rPr lang="en-US" sz="1500" dirty="0">
                <a:solidFill>
                  <a:srgbClr val="E6EDF3"/>
                </a:solidFill>
                <a:latin typeface="Cambria" pitchFamily="34" charset="0"/>
                <a:ea typeface="Cambria" pitchFamily="34" charset="-122"/>
                <a:cs typeface="Cambria" pitchFamily="34" charset="-120"/>
              </a:rPr>
              <a:t>          p(ℓ, i) = anchor + ℓ·</a:t>
            </a:r>
            <a:r>
              <a:rPr lang="en-US" sz="1500" b="1" dirty="0">
                <a:solidFill>
                  <a:srgbClr val="E3B341"/>
                </a:solidFill>
                <a:latin typeface="Cambria" pitchFamily="34" charset="0"/>
                <a:ea typeface="Cambria" pitchFamily="34" charset="-122"/>
                <a:cs typeface="Cambria" pitchFamily="34" charset="-120"/>
              </a:rPr>
              <a:t>d</a:t>
            </a:r>
            <a:r>
              <a:rPr lang="en-US" sz="1500" dirty="0">
                <a:solidFill>
                  <a:srgbClr val="E6EDF3"/>
                </a:solidFill>
                <a:latin typeface="Cambria" pitchFamily="34" charset="0"/>
                <a:ea typeface="Cambria" pitchFamily="34" charset="-122"/>
                <a:cs typeface="Cambria" pitchFamily="34" charset="-120"/>
              </a:rPr>
              <a:t> + Σ(ℓ)</a:t>
            </a:r>
            <a:r>
              <a:rPr lang="en-US" sz="1500" baseline="30000" dirty="0">
                <a:solidFill>
                  <a:srgbClr val="E6EDF3"/>
                </a:solidFill>
                <a:latin typeface="Cambria" pitchFamily="34" charset="0"/>
                <a:ea typeface="Cambria" pitchFamily="34" charset="-122"/>
                <a:cs typeface="Cambria" pitchFamily="34" charset="-120"/>
              </a:rPr>
              <a:t>½</a:t>
            </a:r>
            <a:r>
              <a:rPr lang="en-US" sz="1500" dirty="0">
                <a:solidFill>
                  <a:srgbClr val="E6EDF3"/>
                </a:solidFill>
                <a:latin typeface="Cambria" pitchFamily="34" charset="0"/>
                <a:ea typeface="Cambria" pitchFamily="34" charset="-122"/>
                <a:cs typeface="Cambria" pitchFamily="34" charset="-120"/>
              </a:rPr>
              <a:t> · u</a:t>
            </a:r>
            <a:r>
              <a:rPr lang="en-US" sz="1500" baseline="-40000" dirty="0">
                <a:solidFill>
                  <a:srgbClr val="E6EDF3"/>
                </a:solidFill>
                <a:latin typeface="Cambria" pitchFamily="34" charset="0"/>
                <a:ea typeface="Cambria" pitchFamily="34" charset="-122"/>
                <a:cs typeface="Cambria" pitchFamily="34" charset="-120"/>
              </a:rPr>
              <a:t>i</a:t>
            </a:r>
            <a:endParaRPr lang="en-US" sz="1500" dirty="0"/>
          </a:p>
        </p:txBody>
      </p:sp>
      <p:sp>
        <p:nvSpPr>
          <p:cNvPr id="11" name="Text 7"/>
          <p:cNvSpPr txBox="1"/>
          <p:nvPr/>
        </p:nvSpPr>
        <p:spPr>
          <a:xfrm>
            <a:off x="548640" y="4526280"/>
            <a:ext cx="5440680" cy="1691640"/>
          </a:xfrm>
          <a:prstGeom prst="rect">
            <a:avLst/>
          </a:prstGeom>
          <a:noFill/>
          <a:ln/>
        </p:spPr>
        <p:txBody>
          <a:bodyPr wrap="square" lIns="0" tIns="0" rIns="0" bIns="0" rtlCol="0" anchor="t"/>
          <a:lstStyle/>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u</a:t>
            </a:r>
            <a:r>
              <a:rPr lang="en-US" sz="1000" b="1" baseline="-40000" dirty="0">
                <a:solidFill>
                  <a:srgbClr val="4493F8"/>
                </a:solidFill>
                <a:latin typeface="Calibri" pitchFamily="34" charset="0"/>
                <a:ea typeface="Calibri" pitchFamily="34" charset="-122"/>
                <a:cs typeface="Calibri" pitchFamily="34" charset="-120"/>
              </a:rPr>
              <a:t>i</a:t>
            </a:r>
            <a:r>
              <a:rPr lang="en-US" sz="1000" dirty="0">
                <a:solidFill>
                  <a:srgbClr val="E6EDF3"/>
                </a:solidFill>
                <a:latin typeface="Calibri" pitchFamily="34" charset="0"/>
                <a:ea typeface="Calibri" pitchFamily="34" charset="-122"/>
                <a:cs typeface="Calibri" pitchFamily="34" charset="-120"/>
              </a:rPr>
              <a:t> : the canonical sunflower on the unit disc (Vogel spiral, golden angle — the E-026 pattern in </a:t>
            </a:r>
            <a:r>
              <a:rPr lang="en-US" sz="10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ml/temporal.py::spiral_offsets</a:t>
            </a:r>
            <a:r>
              <a:rPr lang="en-US" sz="1000" dirty="0">
                <a:solidFill>
                  <a:srgbClr val="E6EDF3"/>
                </a:solidFill>
                <a:latin typeface="Calibri" pitchFamily="34" charset="0"/>
                <a:ea typeface="Calibri" pitchFamily="34" charset="-122"/>
                <a:cs typeface="Calibri" pitchFamily="34" charset="-120"/>
              </a:rPr>
              <a:t>), fixed, 24 points</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Phase-rotated by the golden angle per lag</a:t>
            </a:r>
            <a:r>
              <a:rPr lang="en-US" sz="1000" dirty="0">
                <a:solidFill>
                  <a:srgbClr val="E6EDF3"/>
                </a:solidFill>
                <a:latin typeface="Calibri" pitchFamily="34" charset="0"/>
                <a:ea typeface="Calibri" pitchFamily="34" charset="-122"/>
                <a:cs typeface="Calibri" pitchFamily="34" charset="-120"/>
              </a:rPr>
              <a:t>: bearing</a:t>
            </a:r>
            <a:r>
              <a:rPr lang="en-US" sz="1000" baseline="-40000" dirty="0">
                <a:solidFill>
                  <a:srgbClr val="E6EDF3"/>
                </a:solidFill>
                <a:latin typeface="Calibri" pitchFamily="34" charset="0"/>
                <a:ea typeface="Calibri" pitchFamily="34" charset="-122"/>
                <a:cs typeface="Calibri" pitchFamily="34" charset="-120"/>
              </a:rPr>
              <a:t>i,ℓ</a:t>
            </a:r>
            <a:r>
              <a:rPr lang="en-US" sz="1000" dirty="0">
                <a:solidFill>
                  <a:srgbClr val="E6EDF3"/>
                </a:solidFill>
                <a:latin typeface="Calibri" pitchFamily="34" charset="0"/>
                <a:ea typeface="Calibri" pitchFamily="34" charset="-122"/>
                <a:cs typeface="Calibri" pitchFamily="34" charset="-120"/>
              </a:rPr>
              <a:t> = i·137.5° + ℓ·137.5°, so the six slices interleave in space-time instead of repeating the same bearings</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Time itself stays dense</a:t>
            </a:r>
            <a:r>
              <a:rPr lang="en-US" sz="1000" dirty="0">
                <a:solidFill>
                  <a:srgbClr val="E6EDF3"/>
                </a:solidFill>
                <a:latin typeface="Calibri" pitchFamily="34" charset="0"/>
                <a:ea typeface="Calibri" pitchFamily="34" charset="-122"/>
                <a:cs typeface="Calibri" pitchFamily="34" charset="-120"/>
              </a:rPr>
              <a:t>: one slice per pentad — the finest cadence we have, and the 30-day window is the codec's whole job</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d</a:t>
            </a:r>
            <a:r>
              <a:rPr lang="en-US" sz="1000" dirty="0">
                <a:solidFill>
                  <a:srgbClr val="E6EDF3"/>
                </a:solidFill>
                <a:latin typeface="Calibri" pitchFamily="34" charset="0"/>
                <a:ea typeface="Calibri" pitchFamily="34" charset="-122"/>
                <a:cs typeface="Calibri" pitchFamily="34" charset="-120"/>
              </a:rPr>
              <a:t> (2 numbers): the drift per pentad — where the footprint's centre moves for each pentad back in time; </a:t>
            </a:r>
            <a:r>
              <a:rPr lang="en-US" sz="1000" b="1" dirty="0">
                <a:solidFill>
                  <a:srgbClr val="4493F8"/>
                </a:solidFill>
                <a:latin typeface="Calibri" pitchFamily="34" charset="0"/>
                <a:ea typeface="Calibri" pitchFamily="34" charset="-122"/>
                <a:cs typeface="Calibri" pitchFamily="34" charset="-120"/>
              </a:rPr>
              <a:t>the arrow toward the source</a:t>
            </a:r>
            <a:r>
              <a:rPr lang="en-US" sz="1000" dirty="0">
                <a:solidFill>
                  <a:srgbClr val="E6EDF3"/>
                </a:solidFill>
                <a:latin typeface="Calibri" pitchFamily="34" charset="0"/>
                <a:ea typeface="Calibri" pitchFamily="34" charset="-122"/>
                <a:cs typeface="Calibri" pitchFamily="34" charset="-120"/>
              </a:rPr>
              <a:t>. Stored dimensionless: d = tanh(x) · v_design·Δt</a:t>
            </a:r>
            <a:endParaRPr lang="en-US" sz="1000" dirty="0"/>
          </a:p>
        </p:txBody>
      </p:sp>
      <p:sp>
        <p:nvSpPr>
          <p:cNvPr id="12" name="Text 8"/>
          <p:cNvSpPr txBox="1"/>
          <p:nvPr/>
        </p:nvSpPr>
        <p:spPr>
          <a:xfrm>
            <a:off x="6199632" y="4526280"/>
            <a:ext cx="5440680" cy="1691640"/>
          </a:xfrm>
          <a:prstGeom prst="rect">
            <a:avLst/>
          </a:prstGeom>
          <a:noFill/>
          <a:ln/>
        </p:spPr>
        <p:txBody>
          <a:bodyPr wrap="square" lIns="0" tIns="0" rIns="0" bIns="0" rtlCol="0" anchor="t"/>
          <a:lstStyle/>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Σ</a:t>
            </a:r>
            <a:r>
              <a:rPr lang="en-US" sz="1000" b="1" baseline="-40000" dirty="0">
                <a:solidFill>
                  <a:srgbClr val="4493F8"/>
                </a:solidFill>
                <a:latin typeface="Calibri" pitchFamily="34" charset="0"/>
                <a:ea typeface="Calibri" pitchFamily="34" charset="-122"/>
                <a:cs typeface="Calibri" pitchFamily="34" charset="-120"/>
              </a:rPr>
              <a:t>0</a:t>
            </a:r>
            <a:r>
              <a:rPr lang="en-US" sz="1000" dirty="0">
                <a:solidFill>
                  <a:srgbClr val="E6EDF3"/>
                </a:solidFill>
                <a:latin typeface="Calibri" pitchFamily="34" charset="0"/>
                <a:ea typeface="Calibri" pitchFamily="34" charset="-122"/>
                <a:cs typeface="Calibri" pitchFamily="34" charset="-120"/>
              </a:rPr>
              <a:t> (3): the waist ellipse, stored as its </a:t>
            </a:r>
            <a:r>
              <a:rPr lang="en-US" sz="1000" b="1" dirty="0">
                <a:solidFill>
                  <a:srgbClr val="4493F8"/>
                </a:solidFill>
                <a:latin typeface="Calibri" pitchFamily="34" charset="0"/>
                <a:ea typeface="Calibri" pitchFamily="34" charset="-122"/>
                <a:cs typeface="Calibri" pitchFamily="34" charset="-120"/>
              </a:rPr>
              <a:t>matrix logarithm</a:t>
            </a:r>
            <a:r>
              <a:rPr lang="en-US" sz="1000" dirty="0">
                <a:solidFill>
                  <a:srgbClr val="E6EDF3"/>
                </a:solidFill>
                <a:latin typeface="Calibri" pitchFamily="34" charset="0"/>
                <a:ea typeface="Calibri" pitchFamily="34" charset="-122"/>
                <a:cs typeface="Calibri" pitchFamily="34" charset="-120"/>
              </a:rPr>
              <a:t> S</a:t>
            </a:r>
            <a:r>
              <a:rPr lang="en-US" sz="1000" baseline="-40000" dirty="0">
                <a:solidFill>
                  <a:srgbClr val="E6EDF3"/>
                </a:solidFill>
                <a:latin typeface="Calibri" pitchFamily="34" charset="0"/>
                <a:ea typeface="Calibri" pitchFamily="34" charset="-122"/>
                <a:cs typeface="Calibri" pitchFamily="34" charset="-120"/>
              </a:rPr>
              <a:t>0</a:t>
            </a:r>
            <a:r>
              <a:rPr lang="en-US" sz="1000" dirty="0">
                <a:solidFill>
                  <a:srgbClr val="E6EDF3"/>
                </a:solidFill>
                <a:latin typeface="Calibri" pitchFamily="34" charset="0"/>
                <a:ea typeface="Calibri" pitchFamily="34" charset="-122"/>
                <a:cs typeface="Calibri" pitchFamily="34" charset="-120"/>
              </a:rPr>
              <a:t> = log Σ</a:t>
            </a:r>
            <a:r>
              <a:rPr lang="en-US" sz="1000" baseline="-40000" dirty="0">
                <a:solidFill>
                  <a:srgbClr val="E6EDF3"/>
                </a:solidFill>
                <a:latin typeface="Calibri" pitchFamily="34" charset="0"/>
                <a:ea typeface="Calibri" pitchFamily="34" charset="-122"/>
                <a:cs typeface="Calibri" pitchFamily="34" charset="-120"/>
              </a:rPr>
              <a:t>0</a:t>
            </a:r>
            <a:r>
              <a:rPr lang="en-US" sz="1000" dirty="0">
                <a:solidFill>
                  <a:srgbClr val="E6EDF3"/>
                </a:solidFill>
                <a:latin typeface="Calibri" pitchFamily="34" charset="0"/>
                <a:ea typeface="Calibri" pitchFamily="34" charset="-122"/>
                <a:cs typeface="Calibri" pitchFamily="34" charset="-120"/>
              </a:rPr>
              <a:t> — a symmetric 2×2 in log-km. Its trace is the size; its traceless part is (log aspect ratio) × (cos 2θ, sin 2θ); no 180° wrap, and a circle is S = m·I</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Σ</a:t>
            </a:r>
            <a:r>
              <a:rPr lang="en-US" sz="1000" b="1" baseline="-40000" dirty="0">
                <a:solidFill>
                  <a:srgbClr val="4493F8"/>
                </a:solidFill>
                <a:latin typeface="Calibri" pitchFamily="34" charset="0"/>
                <a:ea typeface="Calibri" pitchFamily="34" charset="-122"/>
                <a:cs typeface="Calibri" pitchFamily="34" charset="-120"/>
              </a:rPr>
              <a:t>v</a:t>
            </a:r>
            <a:r>
              <a:rPr lang="en-US" sz="1000" dirty="0">
                <a:solidFill>
                  <a:srgbClr val="E6EDF3"/>
                </a:solidFill>
                <a:latin typeface="Calibri" pitchFamily="34" charset="0"/>
                <a:ea typeface="Calibri" pitchFamily="34" charset="-122"/>
                <a:cs typeface="Calibri" pitchFamily="34" charset="-120"/>
              </a:rPr>
              <a:t> (3): the velocity-spread ellipse, also as log Σ</a:t>
            </a:r>
            <a:r>
              <a:rPr lang="en-US" sz="1000" baseline="-40000" dirty="0">
                <a:solidFill>
                  <a:srgbClr val="E6EDF3"/>
                </a:solidFill>
                <a:latin typeface="Calibri" pitchFamily="34" charset="0"/>
                <a:ea typeface="Calibri" pitchFamily="34" charset="-122"/>
                <a:cs typeface="Calibri" pitchFamily="34" charset="-120"/>
              </a:rPr>
              <a:t>v</a:t>
            </a:r>
            <a:r>
              <a:rPr lang="en-US" sz="1000" dirty="0">
                <a:solidFill>
                  <a:srgbClr val="E6EDF3"/>
                </a:solidFill>
                <a:latin typeface="Calibri" pitchFamily="34" charset="0"/>
                <a:ea typeface="Calibri" pitchFamily="34" charset="-122"/>
                <a:cs typeface="Calibri" pitchFamily="34" charset="-120"/>
              </a:rPr>
              <a:t> — how fast the footprint widens with lag (standard deviation ∝ ℓ, as the reach ∝ (1 + ℓ) in </a:t>
            </a:r>
            <a:r>
              <a:rPr lang="en-US" sz="1000" u="sng" dirty="0">
                <a:solidFill>
                  <a:srgbClr val="4493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ml/cone.py::reach_km</a:t>
            </a:r>
            <a:r>
              <a:rPr lang="en-US" sz="1000" dirty="0">
                <a:solidFill>
                  <a:srgbClr val="E6EDF3"/>
                </a:solidFill>
                <a:latin typeface="Calibri" pitchFamily="34" charset="0"/>
                <a:ea typeface="Calibri" pitchFamily="34" charset="-122"/>
                <a:cs typeface="Calibri" pitchFamily="34" charset="-120"/>
              </a:rPr>
              <a:t>)</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Why log form</a:t>
            </a:r>
            <a:r>
              <a:rPr lang="en-US" sz="1000" dirty="0">
                <a:solidFill>
                  <a:srgbClr val="E6EDF3"/>
                </a:solidFill>
                <a:latin typeface="Calibri" pitchFamily="34" charset="0"/>
                <a:ea typeface="Calibri" pitchFamily="34" charset="-122"/>
                <a:cs typeface="Calibri" pitchFamily="34" charset="-120"/>
              </a:rPr>
              <a:t>: under Adam every parameter moves about one learning rate per step in its own units. A radius in km moves a fixed number of km (frozen at 850 km, twitchy at 30 km); a log-radius moves a fixed </a:t>
            </a:r>
            <a:r>
              <a:rPr lang="en-US" sz="1000" b="1" dirty="0">
                <a:solidFill>
                  <a:srgbClr val="4493F8"/>
                </a:solidFill>
                <a:latin typeface="Calibri" pitchFamily="34" charset="0"/>
                <a:ea typeface="Calibri" pitchFamily="34" charset="-122"/>
                <a:cs typeface="Calibri" pitchFamily="34" charset="-120"/>
              </a:rPr>
              <a:t>fraction</a:t>
            </a:r>
            <a:r>
              <a:rPr lang="en-US" sz="1000" dirty="0">
                <a:solidFill>
                  <a:srgbClr val="E6EDF3"/>
                </a:solidFill>
                <a:latin typeface="Calibri" pitchFamily="34" charset="0"/>
                <a:ea typeface="Calibri" pitchFamily="34" charset="-122"/>
                <a:cs typeface="Calibri" pitchFamily="34" charset="-120"/>
              </a:rPr>
              <a:t> — the same at any size</a:t>
            </a:r>
            <a:endParaRPr lang="en-US" sz="1000" dirty="0"/>
          </a:p>
          <a:p>
            <a:pPr marL="203200" indent="-203200">
              <a:spcAft>
                <a:spcPts val="600"/>
              </a:spcAft>
              <a:buSzPct val="100000"/>
              <a:buChar char="•"/>
            </a:pPr>
            <a:r>
              <a:rPr lang="en-US" sz="1000" b="1" dirty="0">
                <a:solidFill>
                  <a:srgbClr val="4493F8"/>
                </a:solidFill>
                <a:latin typeface="Calibri" pitchFamily="34" charset="0"/>
                <a:ea typeface="Calibri" pitchFamily="34" charset="-122"/>
                <a:cs typeface="Calibri" pitchFamily="34" charset="-120"/>
              </a:rPr>
              <a:t>Future cone:</a:t>
            </a:r>
            <a:r>
              <a:rPr lang="en-US" sz="1000" dirty="0">
                <a:solidFill>
                  <a:srgbClr val="E6EDF3"/>
                </a:solidFill>
                <a:latin typeface="Calibri" pitchFamily="34" charset="0"/>
                <a:ea typeface="Calibri" pitchFamily="34" charset="-122"/>
                <a:cs typeface="Calibri" pitchFamily="34" charset="-120"/>
              </a:rPr>
              <a:t> reflected — centre −ℓ·d, the same Σ(ℓ); the anchor column (0, 0) is always added. Per-channel scale and memory: next slide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ONE DIRECTION PER FLOW, ONE SCALE PER CHANNEL</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600" b="1" dirty="0">
                <a:solidFill>
                  <a:srgbClr val="E6EDF3"/>
                </a:solidFill>
                <a:latin typeface="Georgia" pitchFamily="34" charset="0"/>
                <a:ea typeface="Georgia" pitchFamily="34" charset="-122"/>
                <a:cs typeface="Georgia" pitchFamily="34" charset="-120"/>
              </a:rPr>
              <a:t>The shape and the drift belong to the flow; only the size belongs to the channel</a:t>
            </a:r>
            <a:endParaRPr lang="en-US" sz="26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9</a:t>
            </a:r>
            <a:endParaRPr lang="en-US" sz="1000" dirty="0"/>
          </a:p>
        </p:txBody>
      </p:sp>
      <p:pic>
        <p:nvPicPr>
          <p:cNvPr id="7" name="Image 0" descr="/home/claude/earth/ml/plans/E080_figures/channel_apertures_ab.png">    </p:cNvPr>
          <p:cNvPicPr>
            <a:picLocks noChangeAspect="1"/>
          </p:cNvPicPr>
          <p:nvPr/>
        </p:nvPicPr>
        <p:blipFill>
          <a:blip r:embed="rId1"/>
          <a:stretch>
            <a:fillRect/>
          </a:stretch>
        </p:blipFill>
        <p:spPr>
          <a:xfrm>
            <a:off x="1069848" y="1316736"/>
            <a:ext cx="10058400" cy="3337560"/>
          </a:xfrm>
          <a:prstGeom prst="rect">
            <a:avLst/>
          </a:prstGeom>
        </p:spPr>
      </p:pic>
      <p:sp>
        <p:nvSpPr>
          <p:cNvPr id="8" name="Shape 4"/>
          <p:cNvSpPr/>
          <p:nvPr/>
        </p:nvSpPr>
        <p:spPr>
          <a:xfrm>
            <a:off x="548640" y="4727448"/>
            <a:ext cx="11091672" cy="1581912"/>
          </a:xfrm>
          <a:prstGeom prst="roundRect">
            <a:avLst>
              <a:gd name="adj" fmla="val 3468"/>
            </a:avLst>
          </a:prstGeom>
          <a:solidFill>
            <a:srgbClr val="161B22"/>
          </a:solidFill>
          <a:ln w="12700">
            <a:solidFill>
              <a:srgbClr val="30363D"/>
            </a:solidFill>
            <a:prstDash val="solid"/>
          </a:ln>
        </p:spPr>
      </p:sp>
      <p:sp>
        <p:nvSpPr>
          <p:cNvPr id="9" name="Text 5"/>
          <p:cNvSpPr txBox="1"/>
          <p:nvPr/>
        </p:nvSpPr>
        <p:spPr>
          <a:xfrm>
            <a:off x="804672" y="4928616"/>
            <a:ext cx="10579608" cy="1216152"/>
          </a:xfrm>
          <a:prstGeom prst="rect">
            <a:avLst/>
          </a:prstGeom>
          <a:noFill/>
          <a:ln/>
        </p:spPr>
        <p:txBody>
          <a:bodyPr wrap="square" lIns="0" tIns="0" rIns="0" bIns="0" rtlCol="0" anchor="ctr"/>
          <a:lstStyle/>
          <a:p>
            <a:pPr marL="203200" indent="-203200">
              <a:spcAft>
                <a:spcPts val="500"/>
              </a:spcAft>
              <a:buSzPct val="100000"/>
              <a:buChar char="•"/>
            </a:pPr>
            <a:r>
              <a:rPr lang="en-US" sz="1000" b="1" dirty="0">
                <a:solidFill>
                  <a:srgbClr val="4493F8"/>
                </a:solidFill>
                <a:latin typeface="Calibri" pitchFamily="34" charset="0"/>
                <a:ea typeface="Calibri" pitchFamily="34" charset="-122"/>
                <a:cs typeface="Calibri" pitchFamily="34" charset="-120"/>
              </a:rPr>
              <a:t>1 · Shared</a:t>
            </a:r>
            <a:r>
              <a:rPr lang="en-US" sz="1000" dirty="0">
                <a:solidFill>
                  <a:srgbClr val="E6EDF3"/>
                </a:solidFill>
                <a:latin typeface="Calibri" pitchFamily="34" charset="0"/>
                <a:ea typeface="Calibri" pitchFamily="34" charset="-122"/>
                <a:cs typeface="Calibri" pitchFamily="34" charset="-120"/>
              </a:rPr>
              <a:t> per region, lag and channel group: the shape Σ(ℓ) and the drift </a:t>
            </a:r>
            <a:r>
              <a:rPr lang="en-US" sz="1000" b="1" dirty="0">
                <a:solidFill>
                  <a:srgbClr val="4493F8"/>
                </a:solidFill>
                <a:latin typeface="Calibri" pitchFamily="34" charset="0"/>
                <a:ea typeface="Calibri" pitchFamily="34" charset="-122"/>
                <a:cs typeface="Calibri" pitchFamily="34" charset="-120"/>
              </a:rPr>
              <a:t>d</a:t>
            </a:r>
            <a:r>
              <a:rPr lang="en-US" sz="1000" dirty="0">
                <a:solidFill>
                  <a:srgbClr val="E6EDF3"/>
                </a:solidFill>
                <a:latin typeface="Calibri" pitchFamily="34" charset="0"/>
                <a:ea typeface="Calibri" pitchFamily="34" charset="-122"/>
                <a:cs typeface="Calibri" pitchFamily="34" charset="-120"/>
              </a:rPr>
              <a:t> of slide 8. Everything the water carries is carried the same way — the arrow toward the source and the elongation along the jet are properties of the </a:t>
            </a:r>
            <a:r>
              <a:rPr lang="en-US" sz="1000" b="1" dirty="0">
                <a:solidFill>
                  <a:srgbClr val="4493F8"/>
                </a:solidFill>
                <a:latin typeface="Calibri" pitchFamily="34" charset="0"/>
                <a:ea typeface="Calibri" pitchFamily="34" charset="-122"/>
                <a:cs typeface="Calibri" pitchFamily="34" charset="-120"/>
              </a:rPr>
              <a:t>flow</a:t>
            </a:r>
            <a:r>
              <a:rPr lang="en-US" sz="1000" dirty="0">
                <a:solidFill>
                  <a:srgbClr val="E6EDF3"/>
                </a:solidFill>
                <a:latin typeface="Calibri" pitchFamily="34" charset="0"/>
                <a:ea typeface="Calibri" pitchFamily="34" charset="-122"/>
                <a:cs typeface="Calibri" pitchFamily="34" charset="-120"/>
              </a:rPr>
              <a:t>, not of the tracer. </a:t>
            </a:r>
            <a:r>
              <a:rPr lang="en-US" sz="1000" i="1" dirty="0">
                <a:solidFill>
                  <a:srgbClr val="E3B341"/>
                </a:solidFill>
                <a:latin typeface="Calibri" pitchFamily="34" charset="0"/>
                <a:ea typeface="Calibri" pitchFamily="34" charset="-122"/>
                <a:cs typeface="Calibri" pitchFamily="34" charset="-120"/>
              </a:rPr>
              <a:t>One direction per flow.</a:t>
            </a:r>
            <a:endParaRPr lang="en-US" sz="1000" dirty="0"/>
          </a:p>
          <a:p>
            <a:pPr marL="203200" indent="-203200">
              <a:spcAft>
                <a:spcPts val="500"/>
              </a:spcAft>
              <a:buSzPct val="100000"/>
              <a:buChar char="•"/>
            </a:pPr>
            <a:r>
              <a:rPr lang="en-US" sz="1000" b="1" dirty="0">
                <a:solidFill>
                  <a:srgbClr val="4493F8"/>
                </a:solidFill>
                <a:latin typeface="Calibri" pitchFamily="34" charset="0"/>
                <a:ea typeface="Calibri" pitchFamily="34" charset="-122"/>
                <a:cs typeface="Calibri" pitchFamily="34" charset="-120"/>
              </a:rPr>
              <a:t>2 · Per channel</a:t>
            </a:r>
            <a:r>
              <a:rPr lang="en-US" sz="1000" dirty="0">
                <a:solidFill>
                  <a:srgbClr val="E6EDF3"/>
                </a:solidFill>
                <a:latin typeface="Calibri" pitchFamily="34" charset="0"/>
                <a:ea typeface="Calibri" pitchFamily="34" charset="-122"/>
                <a:cs typeface="Calibri" pitchFamily="34" charset="-120"/>
              </a:rPr>
              <a:t>: two log-parameters — a </a:t>
            </a:r>
            <a:r>
              <a:rPr lang="en-US" sz="1000" b="1" dirty="0">
                <a:solidFill>
                  <a:srgbClr val="4493F8"/>
                </a:solidFill>
                <a:latin typeface="Calibri" pitchFamily="34" charset="0"/>
                <a:ea typeface="Calibri" pitchFamily="34" charset="-122"/>
                <a:cs typeface="Calibri" pitchFamily="34" charset="-120"/>
              </a:rPr>
              <a:t>scale</a:t>
            </a:r>
            <a:r>
              <a:rPr lang="en-US" sz="1000" dirty="0">
                <a:solidFill>
                  <a:srgbClr val="E6EDF3"/>
                </a:solidFill>
                <a:latin typeface="Calibri" pitchFamily="34" charset="0"/>
                <a:ea typeface="Calibri" pitchFamily="34" charset="-122"/>
                <a:cs typeface="Calibri" pitchFamily="34" charset="-120"/>
              </a:rPr>
              <a:t> s</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 (two for the L-shaped channels: lags 0–1 and 2–6) and a </a:t>
            </a:r>
            <a:r>
              <a:rPr lang="en-US" sz="1000" b="1" dirty="0">
                <a:solidFill>
                  <a:srgbClr val="4493F8"/>
                </a:solidFill>
                <a:latin typeface="Calibri" pitchFamily="34" charset="0"/>
                <a:ea typeface="Calibri" pitchFamily="34" charset="-122"/>
                <a:cs typeface="Calibri" pitchFamily="34" charset="-120"/>
              </a:rPr>
              <a:t>memory</a:t>
            </a:r>
            <a:r>
              <a:rPr lang="en-US" sz="1000" dirty="0">
                <a:solidFill>
                  <a:srgbClr val="E6EDF3"/>
                </a:solidFill>
                <a:latin typeface="Calibri" pitchFamily="34" charset="0"/>
                <a:ea typeface="Calibri" pitchFamily="34" charset="-122"/>
                <a:cs typeface="Calibri" pitchFamily="34" charset="-120"/>
              </a:rPr>
              <a:t> τ</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 In space, S</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(ℓ) = S(ℓ) + s</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·I, i.e. Σ</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(ℓ) = exp(s</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 · Σ(ℓ) — the same ellipse inflated or shrunk, </a:t>
            </a:r>
            <a:r>
              <a:rPr lang="en-US" sz="1000" b="1" dirty="0">
                <a:solidFill>
                  <a:srgbClr val="4493F8"/>
                </a:solidFill>
                <a:latin typeface="Calibri" pitchFamily="34" charset="0"/>
                <a:ea typeface="Calibri" pitchFamily="34" charset="-122"/>
                <a:cs typeface="Calibri" pitchFamily="34" charset="-120"/>
              </a:rPr>
              <a:t>never turned</a:t>
            </a:r>
            <a:r>
              <a:rPr lang="en-US" sz="1000" dirty="0">
                <a:solidFill>
                  <a:srgbClr val="E6EDF3"/>
                </a:solidFill>
                <a:latin typeface="Calibri" pitchFamily="34" charset="0"/>
                <a:ea typeface="Calibri" pitchFamily="34" charset="-122"/>
                <a:cs typeface="Calibri" pitchFamily="34" charset="-120"/>
              </a:rPr>
              <a:t>. In time, lag ℓ is weighted by exp(−ℓΔt/τ</a:t>
            </a:r>
            <a:r>
              <a:rPr lang="en-US" sz="1000" baseline="-40000" dirty="0">
                <a:solidFill>
                  <a:srgbClr val="E6EDF3"/>
                </a:solidFill>
                <a:latin typeface="Calibri" pitchFamily="34" charset="0"/>
                <a:ea typeface="Calibri" pitchFamily="34" charset="-122"/>
                <a:cs typeface="Calibri" pitchFamily="34" charset="-120"/>
              </a:rPr>
              <a:t>c</a:t>
            </a:r>
            <a:r>
              <a:rPr lang="en-US" sz="1000" dirty="0">
                <a:solidFill>
                  <a:srgbClr val="E6EDF3"/>
                </a:solidFill>
                <a:latin typeface="Calibri" pitchFamily="34" charset="0"/>
                <a:ea typeface="Calibri" pitchFamily="34" charset="-122"/>
                <a:cs typeface="Calibri" pitchFamily="34" charset="-120"/>
              </a:rPr>
              <a:t>) — how far back this channel is worth reading. </a:t>
            </a:r>
            <a:r>
              <a:rPr lang="en-US" sz="1000" i="1" dirty="0">
                <a:solidFill>
                  <a:srgbClr val="E3B341"/>
                </a:solidFill>
                <a:latin typeface="Calibri" pitchFamily="34" charset="0"/>
                <a:ea typeface="Calibri" pitchFamily="34" charset="-122"/>
                <a:cs typeface="Calibri" pitchFamily="34" charset="-120"/>
              </a:rPr>
              <a:t>One scale and one memory per channel; the aperture is a space-time object.</a:t>
            </a:r>
            <a:endParaRPr lang="en-US" sz="1000" dirty="0"/>
          </a:p>
          <a:p>
            <a:pPr marL="203200" indent="-203200">
              <a:spcAft>
                <a:spcPts val="500"/>
              </a:spcAft>
              <a:buSzPct val="100000"/>
              <a:buChar char="•"/>
            </a:pPr>
            <a:r>
              <a:rPr lang="en-US" sz="1000" b="1" dirty="0">
                <a:solidFill>
                  <a:srgbClr val="4493F8"/>
                </a:solidFill>
                <a:latin typeface="Calibri" pitchFamily="34" charset="0"/>
                <a:ea typeface="Calibri" pitchFamily="34" charset="-122"/>
                <a:cs typeface="Calibri" pitchFamily="34" charset="-120"/>
              </a:rPr>
              <a:t>3 · Initialised from the reach-and-memory table</a:t>
            </a:r>
            <a:r>
              <a:rPr lang="en-US" sz="1000" dirty="0">
                <a:solidFill>
                  <a:srgbClr val="E6EDF3"/>
                </a:solidFill>
                <a:latin typeface="Calibri" pitchFamily="34" charset="0"/>
                <a:ea typeface="Calibri" pitchFamily="34" charset="-122"/>
                <a:cs typeface="Calibri" pitchFamily="34" charset="-120"/>
              </a:rPr>
              <a:t> in </a:t>
            </a:r>
            <a:r>
              <a:rPr lang="en-US" sz="10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ml/cone.py::FAMILIES</a:t>
            </a:r>
            <a:r>
              <a:rPr lang="en-US" sz="1000" dirty="0">
                <a:solidFill>
                  <a:srgbClr val="E6EDF3"/>
                </a:solidFill>
                <a:latin typeface="Calibri" pitchFamily="34" charset="0"/>
                <a:ea typeface="Calibri" pitchFamily="34" charset="-122"/>
                <a:cs typeface="Calibri" pitchFamily="34" charset="-120"/>
              </a:rPr>
              <a:t>: wind stress 500 km with τ = 10 days (lags 0–1 count; lag 6 is at e</a:t>
            </a:r>
            <a:r>
              <a:rPr lang="en-US" sz="1000" baseline="30000" dirty="0">
                <a:solidFill>
                  <a:srgbClr val="E6EDF3"/>
                </a:solidFill>
                <a:latin typeface="Calibri" pitchFamily="34" charset="0"/>
                <a:ea typeface="Calibri" pitchFamily="34" charset="-122"/>
                <a:cs typeface="Calibri" pitchFamily="34" charset="-120"/>
              </a:rPr>
              <a:t>−3</a:t>
            </a:r>
            <a:r>
              <a:rPr lang="en-US" sz="1000" dirty="0">
                <a:solidFill>
                  <a:srgbClr val="E6EDF3"/>
                </a:solidFill>
                <a:latin typeface="Calibri" pitchFamily="34" charset="0"/>
                <a:ea typeface="Calibri" pitchFamily="34" charset="-122"/>
                <a:cs typeface="Calibri" pitchFamily="34" charset="-120"/>
              </a:rPr>
              <a:t>); currents and sea-surface height 129.6 km·(1 + ℓ), long memory; sea-surface temperature and mixed-layer depth max(that, 500 km) at lags ≤ 1, then the ocean's growth; land 400 km flat, long memory. At step 0 every channel reads the reach and the lags the current geometry gives 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READ AT ZERO EXTRA TOKENS: THE PER-CHANNEL APERTURE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200" b="1" dirty="0">
                <a:solidFill>
                  <a:srgbClr val="E6EDF3"/>
                </a:solidFill>
                <a:latin typeface="Georgia" pitchFamily="34" charset="0"/>
                <a:ea typeface="Georgia" pitchFamily="34" charset="-122"/>
                <a:cs typeface="Georgia" pitchFamily="34" charset="-120"/>
              </a:rPr>
              <a:t>One token per dot carries every channel; each channel's entries are weighted by its own aperture before the projection</a:t>
            </a:r>
            <a:endParaRPr lang="en-US" sz="22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10</a:t>
            </a:r>
            <a:endParaRPr lang="en-US" sz="1000" dirty="0"/>
          </a:p>
        </p:txBody>
      </p:sp>
      <p:pic>
        <p:nvPicPr>
          <p:cNvPr id="7" name="Image 0" descr="/home/claude/earth/ml/plans/E080_figures/channel_apertures_c.png">    </p:cNvPr>
          <p:cNvPicPr>
            <a:picLocks noChangeAspect="1"/>
          </p:cNvPicPr>
          <p:nvPr/>
        </p:nvPicPr>
        <p:blipFill>
          <a:blip r:embed="rId1"/>
          <a:stretch>
            <a:fillRect/>
          </a:stretch>
        </p:blipFill>
        <p:spPr>
          <a:xfrm>
            <a:off x="548640" y="1371600"/>
            <a:ext cx="11091672" cy="2999232"/>
          </a:xfrm>
          <a:prstGeom prst="rect">
            <a:avLst/>
          </a:prstGeom>
        </p:spPr>
      </p:pic>
      <p:sp>
        <p:nvSpPr>
          <p:cNvPr id="8" name="Shape 4"/>
          <p:cNvSpPr/>
          <p:nvPr/>
        </p:nvSpPr>
        <p:spPr>
          <a:xfrm>
            <a:off x="548640" y="4462272"/>
            <a:ext cx="11091672" cy="1847088"/>
          </a:xfrm>
          <a:prstGeom prst="roundRect">
            <a:avLst>
              <a:gd name="adj" fmla="val 2970"/>
            </a:avLst>
          </a:prstGeom>
          <a:solidFill>
            <a:srgbClr val="161B22"/>
          </a:solidFill>
          <a:ln w="12700">
            <a:solidFill>
              <a:srgbClr val="30363D"/>
            </a:solidFill>
            <a:prstDash val="solid"/>
          </a:ln>
        </p:spPr>
      </p:sp>
      <p:sp>
        <p:nvSpPr>
          <p:cNvPr id="9" name="Text 5"/>
          <p:cNvSpPr txBox="1"/>
          <p:nvPr/>
        </p:nvSpPr>
        <p:spPr>
          <a:xfrm>
            <a:off x="804672" y="4663440"/>
            <a:ext cx="10579608" cy="1481328"/>
          </a:xfrm>
          <a:prstGeom prst="rect">
            <a:avLst/>
          </a:prstGeom>
          <a:noFill/>
          <a:ln/>
        </p:spPr>
        <p:txBody>
          <a:bodyPr wrap="square" lIns="0" tIns="0" rIns="0" bIns="0" rtlCol="0" anchor="ctr"/>
          <a:lstStyle/>
          <a:p>
            <a:pPr marL="203200" indent="-203200">
              <a:spcAft>
                <a:spcPts val="600"/>
              </a:spcAft>
              <a:buSzPct val="100000"/>
              <a:buChar char="•"/>
            </a:pPr>
            <a:r>
              <a:rPr lang="en-US" sz="1100" dirty="0">
                <a:solidFill>
                  <a:srgbClr val="E6EDF3"/>
                </a:solidFill>
                <a:latin typeface="Calibri" pitchFamily="34" charset="0"/>
                <a:ea typeface="Calibri" pitchFamily="34" charset="-122"/>
                <a:cs typeface="Calibri" pitchFamily="34" charset="-120"/>
              </a:rPr>
              <a:t>A </a:t>
            </a:r>
            <a:r>
              <a:rPr lang="en-US" sz="1100" b="1" dirty="0">
                <a:solidFill>
                  <a:srgbClr val="4493F8"/>
                </a:solidFill>
                <a:latin typeface="Calibri" pitchFamily="34" charset="0"/>
                <a:ea typeface="Calibri" pitchFamily="34" charset="-122"/>
                <a:cs typeface="Calibri" pitchFamily="34" charset="-120"/>
              </a:rPr>
              <a:t>per-location token</a:t>
            </a:r>
            <a:r>
              <a:rPr lang="en-US" sz="1100" dirty="0">
                <a:solidFill>
                  <a:srgbClr val="E6EDF3"/>
                </a:solidFill>
                <a:latin typeface="Calibri" pitchFamily="34" charset="0"/>
                <a:ea typeface="Calibri" pitchFamily="34" charset="-122"/>
                <a:cs typeface="Calibri" pitchFamily="34" charset="-120"/>
              </a:rPr>
              <a:t> (</a:t>
            </a:r>
            <a:r>
              <a:rPr lang="en-US" sz="11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E-071 §6.4</a:t>
            </a:r>
            <a:r>
              <a:rPr lang="en-US" sz="1100" dirty="0">
                <a:solidFill>
                  <a:srgbClr val="E6EDF3"/>
                </a:solidFill>
                <a:latin typeface="Calibri" pitchFamily="34" charset="0"/>
                <a:ea typeface="Calibri" pitchFamily="34" charset="-122"/>
                <a:cs typeface="Calibri" pitchFamily="34" charset="-120"/>
              </a:rPr>
              <a:t>) carries all channels of a group at one dot position p</a:t>
            </a:r>
            <a:r>
              <a:rPr lang="en-US" sz="1100" baseline="-40000" dirty="0">
                <a:solidFill>
                  <a:srgbClr val="E6EDF3"/>
                </a:solidFill>
                <a:latin typeface="Calibri" pitchFamily="34" charset="0"/>
                <a:ea typeface="Calibri" pitchFamily="34" charset="-122"/>
                <a:cs typeface="Calibri" pitchFamily="34" charset="-120"/>
              </a:rPr>
              <a:t>i</a:t>
            </a:r>
            <a:r>
              <a:rPr lang="en-US" sz="1100" dirty="0">
                <a:solidFill>
                  <a:srgbClr val="E6EDF3"/>
                </a:solidFill>
                <a:latin typeface="Calibri" pitchFamily="34" charset="0"/>
                <a:ea typeface="Calibri" pitchFamily="34" charset="-122"/>
                <a:cs typeface="Calibri" pitchFamily="34" charset="-120"/>
              </a:rPr>
              <a:t>: a vector of values and a vector of observed flags, one token per dot — not one token per channel per dot</a:t>
            </a:r>
            <a:endParaRPr lang="en-US" sz="1100" dirty="0"/>
          </a:p>
          <a:p>
            <a:pPr marL="203200" indent="-203200">
              <a:spcAft>
                <a:spcPts val="600"/>
              </a:spcAft>
              <a:buSzPct val="100000"/>
              <a:buChar char="•"/>
            </a:pPr>
            <a:r>
              <a:rPr lang="en-US" sz="1100" dirty="0">
                <a:solidFill>
                  <a:srgbClr val="E6EDF3"/>
                </a:solidFill>
                <a:latin typeface="Calibri" pitchFamily="34" charset="0"/>
                <a:ea typeface="Calibri" pitchFamily="34" charset="-122"/>
                <a:cs typeface="Calibri" pitchFamily="34" charset="-120"/>
              </a:rPr>
              <a:t>Each channel gets its own weight at that dot, w</a:t>
            </a:r>
            <a:r>
              <a:rPr lang="en-US" sz="1100" baseline="-40000" dirty="0">
                <a:solidFill>
                  <a:srgbClr val="E6EDF3"/>
                </a:solidFill>
                <a:latin typeface="Calibri" pitchFamily="34" charset="0"/>
                <a:ea typeface="Calibri" pitchFamily="34" charset="-122"/>
                <a:cs typeface="Calibri" pitchFamily="34" charset="-120"/>
              </a:rPr>
              <a:t>c,i,ℓ</a:t>
            </a:r>
            <a:r>
              <a:rPr lang="en-US" sz="1100" dirty="0">
                <a:solidFill>
                  <a:srgbClr val="E6EDF3"/>
                </a:solidFill>
                <a:latin typeface="Calibri" pitchFamily="34" charset="0"/>
                <a:ea typeface="Calibri" pitchFamily="34" charset="-122"/>
                <a:cs typeface="Calibri" pitchFamily="34" charset="-120"/>
              </a:rPr>
              <a:t> = exp(−½ · p</a:t>
            </a:r>
            <a:r>
              <a:rPr lang="en-US" sz="1100" baseline="-40000" dirty="0">
                <a:solidFill>
                  <a:srgbClr val="E6EDF3"/>
                </a:solidFill>
                <a:latin typeface="Calibri" pitchFamily="34" charset="0"/>
                <a:ea typeface="Calibri" pitchFamily="34" charset="-122"/>
                <a:cs typeface="Calibri" pitchFamily="34" charset="-120"/>
              </a:rPr>
              <a:t>i</a:t>
            </a:r>
            <a:r>
              <a:rPr lang="en-US" sz="1100" dirty="0">
                <a:solidFill>
                  <a:srgbClr val="E6EDF3"/>
                </a:solidFill>
                <a:latin typeface="Calibri" pitchFamily="34" charset="0"/>
                <a:ea typeface="Calibri" pitchFamily="34" charset="-122"/>
                <a:cs typeface="Calibri" pitchFamily="34" charset="-120"/>
              </a:rPr>
              <a:t>ᵀ Σ</a:t>
            </a:r>
            <a:r>
              <a:rPr lang="en-US" sz="1100" baseline="-40000" dirty="0">
                <a:solidFill>
                  <a:srgbClr val="E6EDF3"/>
                </a:solidFill>
                <a:latin typeface="Calibri" pitchFamily="34" charset="0"/>
                <a:ea typeface="Calibri" pitchFamily="34" charset="-122"/>
                <a:cs typeface="Calibri" pitchFamily="34" charset="-120"/>
              </a:rPr>
              <a:t>c</a:t>
            </a:r>
            <a:r>
              <a:rPr lang="en-US" sz="1100" dirty="0">
                <a:solidFill>
                  <a:srgbClr val="E6EDF3"/>
                </a:solidFill>
                <a:latin typeface="Calibri" pitchFamily="34" charset="0"/>
                <a:ea typeface="Calibri" pitchFamily="34" charset="-122"/>
                <a:cs typeface="Calibri" pitchFamily="34" charset="-120"/>
              </a:rPr>
              <a:t>(ℓ)⁻¹ p</a:t>
            </a:r>
            <a:r>
              <a:rPr lang="en-US" sz="1100" baseline="-40000" dirty="0">
                <a:solidFill>
                  <a:srgbClr val="E6EDF3"/>
                </a:solidFill>
                <a:latin typeface="Calibri" pitchFamily="34" charset="0"/>
                <a:ea typeface="Calibri" pitchFamily="34" charset="-122"/>
                <a:cs typeface="Calibri" pitchFamily="34" charset="-120"/>
              </a:rPr>
              <a:t>i</a:t>
            </a:r>
            <a:r>
              <a:rPr lang="en-US" sz="1100" dirty="0">
                <a:solidFill>
                  <a:srgbClr val="E6EDF3"/>
                </a:solidFill>
                <a:latin typeface="Calibri" pitchFamily="34" charset="0"/>
                <a:ea typeface="Calibri" pitchFamily="34" charset="-122"/>
                <a:cs typeface="Calibri" pitchFamily="34" charset="-120"/>
              </a:rPr>
              <a:t>) · exp(−ℓΔt/τ</a:t>
            </a:r>
            <a:r>
              <a:rPr lang="en-US" sz="1100" baseline="-40000" dirty="0">
                <a:solidFill>
                  <a:srgbClr val="E6EDF3"/>
                </a:solidFill>
                <a:latin typeface="Calibri" pitchFamily="34" charset="0"/>
                <a:ea typeface="Calibri" pitchFamily="34" charset="-122"/>
                <a:cs typeface="Calibri" pitchFamily="34" charset="-120"/>
              </a:rPr>
              <a:t>c</a:t>
            </a:r>
            <a:r>
              <a:rPr lang="en-US" sz="1100" dirty="0">
                <a:solidFill>
                  <a:srgbClr val="E6EDF3"/>
                </a:solidFill>
                <a:latin typeface="Calibri" pitchFamily="34" charset="0"/>
                <a:ea typeface="Calibri" pitchFamily="34" charset="-122"/>
                <a:cs typeface="Calibri" pitchFamily="34" charset="-120"/>
              </a:rPr>
              <a:t>) — </a:t>
            </a:r>
            <a:r>
              <a:rPr lang="en-US" sz="1100" b="1" dirty="0">
                <a:solidFill>
                  <a:srgbClr val="4493F8"/>
                </a:solidFill>
                <a:latin typeface="Calibri" pitchFamily="34" charset="0"/>
                <a:ea typeface="Calibri" pitchFamily="34" charset="-122"/>
                <a:cs typeface="Calibri" pitchFamily="34" charset="-120"/>
              </a:rPr>
              <a:t>a space factor and a time factor</a:t>
            </a:r>
            <a:r>
              <a:rPr lang="en-US" sz="1100" dirty="0">
                <a:solidFill>
                  <a:srgbClr val="E6EDF3"/>
                </a:solidFill>
                <a:latin typeface="Calibri" pitchFamily="34" charset="0"/>
                <a:ea typeface="Calibri" pitchFamily="34" charset="-122"/>
                <a:cs typeface="Calibri" pitchFamily="34" charset="-120"/>
              </a:rPr>
              <a:t> — and it multiplies that channel's value and observed-flag entries before the projection. A dot outside channel c's aperture in space </a:t>
            </a:r>
            <a:r>
              <a:rPr lang="en-US" sz="1100" i="1" dirty="0">
                <a:solidFill>
                  <a:srgbClr val="E3B341"/>
                </a:solidFill>
                <a:latin typeface="Calibri" pitchFamily="34" charset="0"/>
                <a:ea typeface="Calibri" pitchFamily="34" charset="-122"/>
                <a:cs typeface="Calibri" pitchFamily="34" charset="-120"/>
              </a:rPr>
              <a:t>or</a:t>
            </a:r>
            <a:r>
              <a:rPr lang="en-US" sz="1100" dirty="0">
                <a:solidFill>
                  <a:srgbClr val="E6EDF3"/>
                </a:solidFill>
                <a:latin typeface="Calibri" pitchFamily="34" charset="0"/>
                <a:ea typeface="Calibri" pitchFamily="34" charset="-122"/>
                <a:cs typeface="Calibri" pitchFamily="34" charset="-120"/>
              </a:rPr>
              <a:t> beyond its memory in time contributes ≈ 0 for c and still carries the others at full weight</a:t>
            </a:r>
            <a:endParaRPr lang="en-US" sz="1100" dirty="0"/>
          </a:p>
          <a:p>
            <a:pPr marL="203200" indent="-203200">
              <a:spcAft>
                <a:spcPts val="600"/>
              </a:spcAft>
              <a:buSzPct val="100000"/>
              <a:buChar char="•"/>
            </a:pPr>
            <a:r>
              <a:rPr lang="en-US" sz="1100" b="1" dirty="0">
                <a:solidFill>
                  <a:srgbClr val="4493F8"/>
                </a:solidFill>
                <a:latin typeface="Calibri" pitchFamily="34" charset="0"/>
                <a:ea typeface="Calibri" pitchFamily="34" charset="-122"/>
                <a:cs typeface="Calibri" pitchFamily="34" charset="-120"/>
              </a:rPr>
              <a:t>Worked example</a:t>
            </a:r>
            <a:r>
              <a:rPr lang="en-US" sz="1100" dirty="0">
                <a:solidFill>
                  <a:srgbClr val="E6EDF3"/>
                </a:solidFill>
                <a:latin typeface="Calibri" pitchFamily="34" charset="0"/>
                <a:ea typeface="Calibri" pitchFamily="34" charset="-122"/>
                <a:cs typeface="Calibri" pitchFamily="34" charset="-120"/>
              </a:rPr>
              <a:t>, a dot 400 km from the anchor at lag 1, apertures at their initial values: currents σ = 259 km → w ≈ 0.30; sea-surface temperature σ = 500 km → w ≈ 0.73 (both with a long memory, time factor ≈ 1). For wind stress at lag 4 the time factor alone is e</a:t>
            </a:r>
            <a:r>
              <a:rPr lang="en-US" sz="1100" baseline="30000" dirty="0">
                <a:solidFill>
                  <a:srgbClr val="E6EDF3"/>
                </a:solidFill>
                <a:latin typeface="Calibri" pitchFamily="34" charset="0"/>
                <a:ea typeface="Calibri" pitchFamily="34" charset="-122"/>
                <a:cs typeface="Calibri" pitchFamily="34" charset="-120"/>
              </a:rPr>
              <a:t>−20/10</a:t>
            </a:r>
            <a:r>
              <a:rPr lang="en-US" sz="1100" dirty="0">
                <a:solidFill>
                  <a:srgbClr val="E6EDF3"/>
                </a:solidFill>
                <a:latin typeface="Calibri" pitchFamily="34" charset="0"/>
                <a:ea typeface="Calibri" pitchFamily="34" charset="-122"/>
                <a:cs typeface="Calibri" pitchFamily="34" charset="-120"/>
              </a:rPr>
              <a:t> ≈ 0.14 — the “lags 0–1 only” rule, as a soft weight</a:t>
            </a:r>
            <a:endParaRPr lang="en-US" sz="1100" dirty="0"/>
          </a:p>
          <a:p>
            <a:pPr marL="203200" indent="-203200">
              <a:spcAft>
                <a:spcPts val="600"/>
              </a:spcAft>
              <a:buSzPct val="100000"/>
              <a:buChar char="•"/>
            </a:pPr>
            <a:r>
              <a:rPr lang="en-US" sz="1100" b="1" dirty="0">
                <a:solidFill>
                  <a:srgbClr val="4493F8"/>
                </a:solidFill>
                <a:latin typeface="Calibri" pitchFamily="34" charset="0"/>
                <a:ea typeface="Calibri" pitchFamily="34" charset="-122"/>
                <a:cs typeface="Calibri" pitchFamily="34" charset="-120"/>
              </a:rPr>
              <a:t>The gradient reaches S, d, s</a:t>
            </a:r>
            <a:r>
              <a:rPr lang="en-US" sz="1100" b="1" baseline="-40000" dirty="0">
                <a:solidFill>
                  <a:srgbClr val="4493F8"/>
                </a:solidFill>
                <a:latin typeface="Calibri" pitchFamily="34" charset="0"/>
                <a:ea typeface="Calibri" pitchFamily="34" charset="-122"/>
                <a:cs typeface="Calibri" pitchFamily="34" charset="-120"/>
              </a:rPr>
              <a:t>c</a:t>
            </a:r>
            <a:r>
              <a:rPr lang="en-US" sz="1100" b="1" dirty="0">
                <a:solidFill>
                  <a:srgbClr val="4493F8"/>
                </a:solidFill>
                <a:latin typeface="Calibri" pitchFamily="34" charset="0"/>
                <a:ea typeface="Calibri" pitchFamily="34" charset="-122"/>
                <a:cs typeface="Calibri" pitchFamily="34" charset="-120"/>
              </a:rPr>
              <a:t> and τ</a:t>
            </a:r>
            <a:r>
              <a:rPr lang="en-US" sz="1100" b="1" baseline="-40000" dirty="0">
                <a:solidFill>
                  <a:srgbClr val="4493F8"/>
                </a:solidFill>
                <a:latin typeface="Calibri" pitchFamily="34" charset="0"/>
                <a:ea typeface="Calibri" pitchFamily="34" charset="-122"/>
                <a:cs typeface="Calibri" pitchFamily="34" charset="-120"/>
              </a:rPr>
              <a:t>c</a:t>
            </a:r>
            <a:r>
              <a:rPr lang="en-US" sz="1100" b="1" dirty="0">
                <a:solidFill>
                  <a:srgbClr val="4493F8"/>
                </a:solidFill>
                <a:latin typeface="Calibri" pitchFamily="34" charset="0"/>
                <a:ea typeface="Calibri" pitchFamily="34" charset="-122"/>
                <a:cs typeface="Calibri" pitchFamily="34" charset="-120"/>
              </a:rPr>
              <a:t> through w from every dot at once</a:t>
            </a:r>
            <a:r>
              <a:rPr lang="en-US" sz="1100" dirty="0">
                <a:solidFill>
                  <a:srgbClr val="E6EDF3"/>
                </a:solidFill>
                <a:latin typeface="Calibri" pitchFamily="34" charset="0"/>
                <a:ea typeface="Calibri" pitchFamily="34" charset="-122"/>
                <a:cs typeface="Calibri" pitchFamily="34" charset="-120"/>
              </a:rPr>
              <a:t> — not through four neighbouring cells — which is what lets the geometry learn (next slide)</a:t>
            </a:r>
            <a:endParaRPr lang="en-US" sz="1100" dirty="0"/>
          </a:p>
          <a:p>
            <a:pPr marL="203200" indent="-203200">
              <a:spcAft>
                <a:spcPts val="600"/>
              </a:spcAft>
              <a:buSzPct val="100000"/>
              <a:buChar char="•"/>
            </a:pPr>
            <a:r>
              <a:rPr lang="en-US" sz="1100" dirty="0">
                <a:solidFill>
                  <a:srgbClr val="E6EDF3"/>
                </a:solidFill>
                <a:latin typeface="Calibri" pitchFamily="34" charset="0"/>
                <a:ea typeface="Calibri" pitchFamily="34" charset="-122"/>
                <a:cs typeface="Calibri" pitchFamily="34" charset="-120"/>
              </a:rPr>
              <a:t>The fixed safety ring (slide 13) is </a:t>
            </a:r>
            <a:r>
              <a:rPr lang="en-US" sz="1100" b="1" dirty="0">
                <a:solidFill>
                  <a:srgbClr val="4493F8"/>
                </a:solidFill>
                <a:latin typeface="Calibri" pitchFamily="34" charset="0"/>
                <a:ea typeface="Calibri" pitchFamily="34" charset="-122"/>
                <a:cs typeface="Calibri" pitchFamily="34" charset="-120"/>
              </a:rPr>
              <a:t>not gated</a:t>
            </a:r>
            <a:r>
              <a:rPr lang="en-US" sz="1100" dirty="0">
                <a:solidFill>
                  <a:srgbClr val="E6EDF3"/>
                </a:solidFill>
                <a:latin typeface="Calibri" pitchFamily="34" charset="0"/>
                <a:ea typeface="Calibri" pitchFamily="34" charset="-122"/>
                <a:cs typeface="Calibri" pitchFamily="34" charset="-120"/>
              </a:rPr>
              <a:t>: read at full weight, always. A safety net the model can switch off is not one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HOW THE NUMBERS LEARN: GATE FIRST, HARDEN LATER</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300" b="1" dirty="0">
                <a:solidFill>
                  <a:srgbClr val="E6EDF3"/>
                </a:solidFill>
                <a:latin typeface="Georgia" pitchFamily="34" charset="0"/>
                <a:ea typeface="Georgia" pitchFamily="34" charset="-122"/>
                <a:cs typeface="Georgia" pitchFamily="34" charset="-120"/>
              </a:rPr>
              <a:t>A soft aperture over fixed candidate dots in phase 1; the dot table re-baked from the learned ellipses in phase 2</a:t>
            </a:r>
            <a:endParaRPr lang="en-US" sz="23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463040"/>
            <a:ext cx="5440680" cy="2240280"/>
          </a:xfrm>
          <a:prstGeom prst="roundRect">
            <a:avLst>
              <a:gd name="adj" fmla="val 2449"/>
            </a:avLst>
          </a:prstGeom>
          <a:solidFill>
            <a:srgbClr val="161B22"/>
          </a:solidFill>
          <a:ln w="12700">
            <a:solidFill>
              <a:srgbClr val="30363D"/>
            </a:solidFill>
            <a:prstDash val="solid"/>
          </a:ln>
        </p:spPr>
      </p:sp>
      <p:sp>
        <p:nvSpPr>
          <p:cNvPr id="8" name="Text 5"/>
          <p:cNvSpPr txBox="1"/>
          <p:nvPr/>
        </p:nvSpPr>
        <p:spPr>
          <a:xfrm>
            <a:off x="786384" y="1609344"/>
            <a:ext cx="4965192" cy="19476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Phase 1 — gate</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The candidate dots per region and group are </a:t>
            </a:r>
            <a:r>
              <a:rPr lang="en-US" sz="1100" b="1" dirty="0">
                <a:solidFill>
                  <a:srgbClr val="4493F8"/>
                </a:solidFill>
                <a:latin typeface="Calibri" pitchFamily="34" charset="0"/>
                <a:ea typeface="Calibri" pitchFamily="34" charset="-122"/>
                <a:cs typeface="Calibri" pitchFamily="34" charset="-120"/>
              </a:rPr>
              <a:t>fixed</a:t>
            </a:r>
            <a:r>
              <a:rPr lang="en-US" sz="1100" dirty="0">
                <a:solidFill>
                  <a:srgbClr val="E6EDF3"/>
                </a:solidFill>
                <a:latin typeface="Calibri" pitchFamily="34" charset="0"/>
                <a:ea typeface="Calibri" pitchFamily="34" charset="-122"/>
                <a:cs typeface="Calibri" pitchFamily="34" charset="-120"/>
              </a:rPr>
              <a:t>: cone v2's log-radial set out to the design reach (</a:t>
            </a:r>
            <a:r>
              <a:rPr lang="en-US" sz="1100" u="sng" dirty="0">
                <a:solidFill>
                  <a:srgbClr val="4493F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E-071 §4.4</a:t>
            </a:r>
            <a:r>
              <a:rPr lang="en-US" sz="1100" dirty="0">
                <a:solidFill>
                  <a:srgbClr val="E6EDF3"/>
                </a:solidFill>
                <a:latin typeface="Calibri" pitchFamily="34" charset="0"/>
                <a:ea typeface="Calibri" pitchFamily="34" charset="-122"/>
                <a:cs typeface="Calibri" pitchFamily="34" charset="-120"/>
              </a:rPr>
              <a:t>, 36 per lag) plus the anchor column. The data loader's reads are regular, cacheable, and never depend on the model's weights. Each candidate token is weighted by the per-channel aperture of slide 10, and the ellipses, drift and offsets learn through those weights — from every candidate at once</a:t>
            </a:r>
            <a:endParaRPr lang="en-US" sz="1250" dirty="0"/>
          </a:p>
        </p:txBody>
      </p:sp>
      <p:sp>
        <p:nvSpPr>
          <p:cNvPr id="9" name="Shape 6"/>
          <p:cNvSpPr/>
          <p:nvPr/>
        </p:nvSpPr>
        <p:spPr>
          <a:xfrm>
            <a:off x="6199632" y="1463040"/>
            <a:ext cx="5440680" cy="2240280"/>
          </a:xfrm>
          <a:prstGeom prst="roundRect">
            <a:avLst>
              <a:gd name="adj" fmla="val 2449"/>
            </a:avLst>
          </a:prstGeom>
          <a:solidFill>
            <a:srgbClr val="161B22"/>
          </a:solidFill>
          <a:ln w="12700">
            <a:solidFill>
              <a:srgbClr val="30363D"/>
            </a:solidFill>
            <a:prstDash val="solid"/>
          </a:ln>
        </p:spPr>
      </p:sp>
      <p:sp>
        <p:nvSpPr>
          <p:cNvPr id="10" name="Text 7"/>
          <p:cNvSpPr txBox="1"/>
          <p:nvPr/>
        </p:nvSpPr>
        <p:spPr>
          <a:xfrm>
            <a:off x="6437376" y="1609344"/>
            <a:ext cx="4965192" cy="1947672"/>
          </a:xfrm>
          <a:prstGeom prst="rect">
            <a:avLst/>
          </a:prstGeom>
          <a:noFill/>
          <a:ln/>
        </p:spPr>
        <p:txBody>
          <a:bodyPr wrap="square" lIns="0" tIns="0" rIns="0" bIns="0" rtlCol="0" anchor="ctr"/>
          <a:lstStyle/>
          <a:p>
            <a:pPr indent="0" marL="0">
              <a:spcAft>
                <a:spcPts val="800"/>
              </a:spcAft>
              <a:buNone/>
            </a:pPr>
            <a:r>
              <a:rPr lang="en-US" sz="1250" b="1" dirty="0">
                <a:solidFill>
                  <a:srgbClr val="E3B341"/>
                </a:solidFill>
                <a:latin typeface="Calibri" pitchFamily="34" charset="0"/>
                <a:ea typeface="Calibri" pitchFamily="34" charset="-122"/>
                <a:cs typeface="Calibri" pitchFamily="34" charset="-120"/>
              </a:rPr>
              <a:t>Phase 2 — harden</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Every N steps (2 k to start) the dense dot table per region is re-baked from the current ellipses — the warped sunflower of slide 8, 24 dots per lag — and the loader swaps tables at the epoch boundary. The fixed ring of 24 stays as the safety net; the apertures stay on (they </a:t>
            </a:r>
            <a:r>
              <a:rPr lang="en-US" sz="1100" b="1" dirty="0">
                <a:solidFill>
                  <a:srgbClr val="4493F8"/>
                </a:solidFill>
                <a:latin typeface="Calibri" pitchFamily="34" charset="0"/>
                <a:ea typeface="Calibri" pitchFamily="34" charset="-122"/>
                <a:cs typeface="Calibri" pitchFamily="34" charset="-120"/>
              </a:rPr>
              <a:t>are</a:t>
            </a:r>
            <a:r>
              <a:rPr lang="en-US" sz="1100" dirty="0">
                <a:solidFill>
                  <a:srgbClr val="E6EDF3"/>
                </a:solidFill>
                <a:latin typeface="Calibri" pitchFamily="34" charset="0"/>
                <a:ea typeface="Calibri" pitchFamily="34" charset="-122"/>
                <a:cs typeface="Calibri" pitchFamily="34" charset="-120"/>
              </a:rPr>
              <a:t> the per-channel scale). Reads remain regular within an epoch</a:t>
            </a:r>
            <a:endParaRPr lang="en-US" sz="1250" dirty="0"/>
          </a:p>
        </p:txBody>
      </p:sp>
      <p:sp>
        <p:nvSpPr>
          <p:cNvPr id="11" name="Shape 8"/>
          <p:cNvSpPr/>
          <p:nvPr/>
        </p:nvSpPr>
        <p:spPr>
          <a:xfrm>
            <a:off x="548640" y="3840480"/>
            <a:ext cx="11091672" cy="2240280"/>
          </a:xfrm>
          <a:prstGeom prst="roundRect">
            <a:avLst>
              <a:gd name="adj" fmla="val 2449"/>
            </a:avLst>
          </a:prstGeom>
          <a:solidFill>
            <a:srgbClr val="161B22"/>
          </a:solidFill>
          <a:ln w="12700">
            <a:solidFill>
              <a:srgbClr val="30363D"/>
            </a:solidFill>
            <a:prstDash val="solid"/>
          </a:ln>
        </p:spPr>
      </p:sp>
      <p:sp>
        <p:nvSpPr>
          <p:cNvPr id="12" name="Text 9"/>
          <p:cNvSpPr txBox="1"/>
          <p:nvPr/>
        </p:nvSpPr>
        <p:spPr>
          <a:xfrm>
            <a:off x="804672" y="4041648"/>
            <a:ext cx="10579608" cy="1874520"/>
          </a:xfrm>
          <a:prstGeom prst="rect">
            <a:avLst/>
          </a:prstGeom>
          <a:noFill/>
          <a:ln/>
        </p:spPr>
        <p:txBody>
          <a:bodyPr wrap="square" lIns="0" tIns="0" rIns="0" bIns="0" rtlCol="0" anchor="ctr"/>
          <a:lstStyle/>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Why not read at continuous positions</a:t>
            </a:r>
            <a:r>
              <a:rPr lang="en-US" sz="1200" dirty="0">
                <a:solidFill>
                  <a:srgbClr val="E6EDF3"/>
                </a:solidFill>
                <a:latin typeface="Calibri" pitchFamily="34" charset="0"/>
                <a:ea typeface="Calibri" pitchFamily="34" charset="-122"/>
                <a:cs typeface="Calibri" pitchFamily="34" charset="-120"/>
              </a:rPr>
              <a:t> (the deformable gather of revision 1): it couples the loader's read pattern to the live weights — irregular reads on the sampler's memory-mapped tensor and on the JAX/TPU port of the cone trainer — and its gradient sees only the four cells around each dot. The gate has neither problem, and the per-tensor pyramid of revision 1 is no longer needed</a:t>
            </a:r>
            <a:endParaRPr lang="en-US" sz="1200" dirty="0"/>
          </a:p>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Learning rate</a:t>
            </a:r>
            <a:r>
              <a:rPr lang="en-US" sz="1200" dirty="0">
                <a:solidFill>
                  <a:srgbClr val="E6EDF3"/>
                </a:solidFill>
                <a:latin typeface="Calibri" pitchFamily="34" charset="0"/>
                <a:ea typeface="Calibri" pitchFamily="34" charset="-122"/>
                <a:cs typeface="Calibri" pitchFamily="34" charset="-120"/>
              </a:rPr>
              <a:t>: the geometry parameters get their own multiplier (×10 the codec's to start — the deformable-attention practice, </a:t>
            </a:r>
            <a:r>
              <a:rPr lang="en-US" sz="12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Zhu et al. 2021</a:t>
            </a:r>
            <a:r>
              <a:rPr lang="en-US" sz="1200" dirty="0">
                <a:solidFill>
                  <a:srgbClr val="E6EDF3"/>
                </a:solidFill>
                <a:latin typeface="Calibri" pitchFamily="34" charset="0"/>
                <a:ea typeface="Calibri" pitchFamily="34" charset="-122"/>
                <a:cs typeface="Calibri" pitchFamily="34" charset="-120"/>
              </a:rPr>
              <a:t>), recorded in the run's metrics</a:t>
            </a:r>
            <a:endParaRPr lang="en-US" sz="1200" dirty="0"/>
          </a:p>
          <a:p>
            <a:pPr marL="203200" indent="-203200">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Evaluation geometry stays </a:t>
            </a:r>
            <a:r>
              <a:rPr lang="en-US" sz="1200" b="1" dirty="0">
                <a:solidFill>
                  <a:srgbClr val="4493F8"/>
                </a:solidFill>
                <a:latin typeface="Calibri" pitchFamily="34" charset="0"/>
                <a:ea typeface="Calibri" pitchFamily="34" charset="-122"/>
                <a:cs typeface="Calibri" pitchFamily="34" charset="-120"/>
              </a:rPr>
              <a:t>frozen</a:t>
            </a:r>
            <a:r>
              <a:rPr lang="en-US" sz="1200" dirty="0">
                <a:solidFill>
                  <a:srgbClr val="E6EDF3"/>
                </a:solidFill>
                <a:latin typeface="Calibri" pitchFamily="34" charset="0"/>
                <a:ea typeface="Calibri" pitchFamily="34" charset="-122"/>
                <a:cs typeface="Calibri" pitchFamily="34" charset="-120"/>
              </a:rPr>
              <a:t> (slide 5) whatever phase training is in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WHERE THE NUMBERS LIVE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400" b="1" dirty="0">
                <a:solidFill>
                  <a:srgbClr val="E6EDF3"/>
                </a:solidFill>
                <a:latin typeface="Georgia" pitchFamily="34" charset="0"/>
                <a:ea typeface="Georgia" pitchFamily="34" charset="-122"/>
                <a:cs typeface="Georgia" pitchFamily="34" charset="-120"/>
              </a:rPr>
              <a:t>A 1° map per channel group, interpolated to the anchor</a:t>
            </a:r>
            <a:endParaRPr lang="en-US" sz="24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463040"/>
            <a:ext cx="6903720" cy="4206240"/>
          </a:xfrm>
          <a:prstGeom prst="roundRect">
            <a:avLst>
              <a:gd name="adj" fmla="val 1304"/>
            </a:avLst>
          </a:prstGeom>
          <a:solidFill>
            <a:srgbClr val="161B22"/>
          </a:solidFill>
          <a:ln w="12700">
            <a:solidFill>
              <a:srgbClr val="30363D"/>
            </a:solidFill>
            <a:prstDash val="solid"/>
          </a:ln>
        </p:spPr>
      </p:sp>
      <p:sp>
        <p:nvSpPr>
          <p:cNvPr id="8" name="Text 5"/>
          <p:cNvSpPr txBox="1"/>
          <p:nvPr/>
        </p:nvSpPr>
        <p:spPr>
          <a:xfrm>
            <a:off x="804672" y="1664208"/>
            <a:ext cx="6391656" cy="3840480"/>
          </a:xfrm>
          <a:prstGeom prst="rect">
            <a:avLst/>
          </a:prstGeom>
          <a:noFill/>
          <a:ln/>
        </p:spPr>
        <p:txBody>
          <a:bodyPr wrap="square" lIns="0" tIns="0" rIns="0" bIns="0" rtlCol="0" anchor="ctr"/>
          <a:lstStyle/>
          <a:p>
            <a:pPr marL="203200" indent="-203200">
              <a:spcAft>
                <a:spcPts val="700"/>
              </a:spcAft>
              <a:buSzPct val="100000"/>
              <a:buChar char="•"/>
            </a:pPr>
            <a:r>
              <a:rPr lang="en-US" sz="1100" dirty="0">
                <a:solidFill>
                  <a:srgbClr val="E6EDF3"/>
                </a:solidFill>
                <a:latin typeface="Calibri" pitchFamily="34" charset="0"/>
                <a:ea typeface="Calibri" pitchFamily="34" charset="-122"/>
                <a:cs typeface="Calibri" pitchFamily="34" charset="-120"/>
              </a:rPr>
              <a:t>A </a:t>
            </a:r>
            <a:r>
              <a:rPr lang="en-US" sz="1100" b="1" dirty="0">
                <a:solidFill>
                  <a:srgbClr val="4493F8"/>
                </a:solidFill>
                <a:latin typeface="Calibri" pitchFamily="34" charset="0"/>
                <a:ea typeface="Calibri" pitchFamily="34" charset="-122"/>
                <a:cs typeface="Calibri" pitchFamily="34" charset="-120"/>
              </a:rPr>
              <a:t>1° grid</a:t>
            </a:r>
            <a:r>
              <a:rPr lang="en-US" sz="1100" dirty="0">
                <a:solidFill>
                  <a:srgbClr val="E6EDF3"/>
                </a:solidFill>
                <a:latin typeface="Calibri" pitchFamily="34" charset="0"/>
                <a:ea typeface="Calibri" pitchFamily="34" charset="-122"/>
                <a:cs typeface="Calibri" pitchFamily="34" charset="-120"/>
              </a:rPr>
              <a:t> over the globe (180 × 360 = 64,800 cells); the anchor's parameters are the bilinear blend of the four surrounding map cells — smooth by construction, no seams</a:t>
            </a:r>
            <a:endParaRPr lang="en-US" sz="1100" dirty="0"/>
          </a:p>
          <a:p>
            <a:pPr marL="203200" indent="-203200">
              <a:spcAft>
                <a:spcPts val="700"/>
              </a:spcAft>
              <a:buSzPct val="100000"/>
              <a:buChar char="•"/>
            </a:pPr>
            <a:r>
              <a:rPr lang="en-US" sz="1100" b="1" dirty="0">
                <a:solidFill>
                  <a:srgbClr val="4493F8"/>
                </a:solidFill>
                <a:latin typeface="Calibri" pitchFamily="34" charset="0"/>
                <a:ea typeface="Calibri" pitchFamily="34" charset="-122"/>
                <a:cs typeface="Calibri" pitchFamily="34" charset="-120"/>
              </a:rPr>
              <a:t>1° because</a:t>
            </a:r>
            <a:r>
              <a:rPr lang="en-US" sz="1100" dirty="0">
                <a:solidFill>
                  <a:srgbClr val="E6EDF3"/>
                </a:solidFill>
                <a:latin typeface="Calibri" pitchFamily="34" charset="0"/>
                <a:ea typeface="Calibri" pitchFamily="34" charset="-122"/>
                <a:cs typeface="Calibri" pitchFamily="34" charset="-120"/>
              </a:rPr>
              <a:t> the currents that carry the overturning are ~100 km wide (the Florida Current sits in an 80 km strait); a 10° cell would average the Gulf Stream with its recirculation and learn a drift near zero</a:t>
            </a:r>
            <a:endParaRPr lang="en-US" sz="1100" dirty="0"/>
          </a:p>
          <a:p>
            <a:pPr marL="203200" indent="-203200">
              <a:spcAft>
                <a:spcPts val="700"/>
              </a:spcAft>
              <a:buSzPct val="100000"/>
              <a:buChar char="•"/>
            </a:pPr>
            <a:r>
              <a:rPr lang="en-US" sz="1100" b="1" dirty="0">
                <a:solidFill>
                  <a:srgbClr val="4493F8"/>
                </a:solidFill>
                <a:latin typeface="Calibri" pitchFamily="34" charset="0"/>
                <a:ea typeface="Calibri" pitchFamily="34" charset="-122"/>
                <a:cs typeface="Calibri" pitchFamily="34" charset="-120"/>
              </a:rPr>
              <a:t>Hierarchical prior:</a:t>
            </a:r>
            <a:r>
              <a:rPr lang="en-US" sz="1100" dirty="0">
                <a:solidFill>
                  <a:srgbClr val="E6EDF3"/>
                </a:solidFill>
                <a:latin typeface="Calibri" pitchFamily="34" charset="0"/>
                <a:ea typeface="Calibri" pitchFamily="34" charset="-122"/>
                <a:cs typeface="Calibri" pitchFamily="34" charset="-120"/>
              </a:rPr>
              <a:t> each map is a coarse 10° map plus a 1° residual, the residual under L2 shrinkage and a Laplacian smoothness penalty — a data-poor cell (ice edge, coast) inherits its neighbourhood's arrow instead of fitting noise. Each 1° cell still sees 16 anchors × 3,142 pentads ≈ 50 k anchor-pentads for eight numbers</a:t>
            </a:r>
            <a:endParaRPr lang="en-US" sz="1100" dirty="0"/>
          </a:p>
          <a:p>
            <a:pPr marL="203200" indent="-203200">
              <a:spcAft>
                <a:spcPts val="700"/>
              </a:spcAft>
              <a:buSzPct val="100000"/>
              <a:buChar char="•"/>
            </a:pPr>
            <a:r>
              <a:rPr lang="en-US" sz="1100" b="1" dirty="0">
                <a:solidFill>
                  <a:srgbClr val="4493F8"/>
                </a:solidFill>
                <a:latin typeface="Calibri" pitchFamily="34" charset="0"/>
                <a:ea typeface="Calibri" pitchFamily="34" charset="-122"/>
                <a:cs typeface="Calibri" pitchFamily="34" charset="-120"/>
              </a:rPr>
              <a:t>No Argo ellipse.</a:t>
            </a:r>
            <a:r>
              <a:rPr lang="en-US" sz="1100" dirty="0">
                <a:solidFill>
                  <a:srgbClr val="E6EDF3"/>
                </a:solidFill>
                <a:latin typeface="Calibri" pitchFamily="34" charset="0"/>
                <a:ea typeface="Calibri" pitchFamily="34" charset="-122"/>
                <a:cs typeface="Calibri" pitchFamily="34" charset="-120"/>
              </a:rPr>
              <a:t> The Argo channels are the k nearest profile tokens (</a:t>
            </a:r>
            <a:r>
              <a:rPr lang="en-US" sz="1100" u="sng" dirty="0">
                <a:solidFill>
                  <a:srgbClr val="4493F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E-071 §3</a:t>
            </a:r>
            <a:r>
              <a:rPr lang="en-US" sz="1100" dirty="0">
                <a:solidFill>
                  <a:srgbClr val="E6EDF3"/>
                </a:solidFill>
                <a:latin typeface="Calibri" pitchFamily="34" charset="0"/>
                <a:ea typeface="Calibri" pitchFamily="34" charset="-122"/>
                <a:cs typeface="Calibri" pitchFamily="34" charset="-120"/>
              </a:rPr>
              <a:t>, </a:t>
            </a:r>
            <a:r>
              <a:rPr lang="en-US" sz="11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E-076</a:t>
            </a:r>
            <a:r>
              <a:rPr lang="en-US" sz="1100" dirty="0">
                <a:solidFill>
                  <a:srgbClr val="E6EDF3"/>
                </a:solidFill>
                <a:latin typeface="Calibri" pitchFamily="34" charset="0"/>
                <a:ea typeface="Calibri" pitchFamily="34" charset="-122"/>
                <a:cs typeface="Calibri" pitchFamily="34" charset="-120"/>
              </a:rPr>
              <a:t>) — placed where floats were, each carrying its own offset, age and depth. There is no elliptic shape to learn; the search radius stays as specified there. Depth-dependent sourcing (at the RAPID line the upper limb flows north, the Deep Western Boundary Current south) is left to attention over those tokens, which see depth and offset together</a:t>
            </a:r>
            <a:endParaRPr lang="en-US" sz="1100" dirty="0"/>
          </a:p>
          <a:p>
            <a:pPr marL="203200" indent="-203200">
              <a:spcAft>
                <a:spcPts val="700"/>
              </a:spcAft>
              <a:buSzPct val="100000"/>
              <a:buChar char="•"/>
            </a:pPr>
            <a:r>
              <a:rPr lang="en-US" sz="1100" b="1" dirty="0">
                <a:solidFill>
                  <a:srgbClr val="4493F8"/>
                </a:solidFill>
                <a:latin typeface="Calibri" pitchFamily="34" charset="0"/>
                <a:ea typeface="Calibri" pitchFamily="34" charset="-122"/>
                <a:cs typeface="Calibri" pitchFamily="34" charset="-120"/>
              </a:rPr>
              <a:t>Optional, phase 2:</a:t>
            </a:r>
            <a:r>
              <a:rPr lang="en-US" sz="1100" dirty="0">
                <a:solidFill>
                  <a:srgbClr val="E6EDF3"/>
                </a:solidFill>
                <a:latin typeface="Calibri" pitchFamily="34" charset="0"/>
                <a:ea typeface="Calibri" pitchFamily="34" charset="-122"/>
                <a:cs typeface="Calibri" pitchFamily="34" charset="-120"/>
              </a:rPr>
              <a:t> a first-harmonic seasonal term on the drift, d(τ) = d</a:t>
            </a:r>
            <a:r>
              <a:rPr lang="en-US" sz="1100" baseline="-40000" dirty="0">
                <a:solidFill>
                  <a:srgbClr val="E6EDF3"/>
                </a:solidFill>
                <a:latin typeface="Calibri" pitchFamily="34" charset="0"/>
                <a:ea typeface="Calibri" pitchFamily="34" charset="-122"/>
                <a:cs typeface="Calibri" pitchFamily="34" charset="-120"/>
              </a:rPr>
              <a:t>0</a:t>
            </a:r>
            <a:r>
              <a:rPr lang="en-US" sz="1100" dirty="0">
                <a:solidFill>
                  <a:srgbClr val="E6EDF3"/>
                </a:solidFill>
                <a:latin typeface="Calibri" pitchFamily="34" charset="0"/>
                <a:ea typeface="Calibri" pitchFamily="34" charset="-122"/>
                <a:cs typeface="Calibri" pitchFamily="34" charset="-120"/>
              </a:rPr>
              <a:t> + d</a:t>
            </a:r>
            <a:r>
              <a:rPr lang="en-US" sz="1100" baseline="-40000" dirty="0">
                <a:solidFill>
                  <a:srgbClr val="E6EDF3"/>
                </a:solidFill>
                <a:latin typeface="Calibri" pitchFamily="34" charset="0"/>
                <a:ea typeface="Calibri" pitchFamily="34" charset="-122"/>
                <a:cs typeface="Calibri" pitchFamily="34" charset="-120"/>
              </a:rPr>
              <a:t>1</a:t>
            </a:r>
            <a:r>
              <a:rPr lang="en-US" sz="1100" dirty="0">
                <a:solidFill>
                  <a:srgbClr val="E6EDF3"/>
                </a:solidFill>
                <a:latin typeface="Calibri" pitchFamily="34" charset="0"/>
                <a:ea typeface="Calibri" pitchFamily="34" charset="-122"/>
                <a:cs typeface="Calibri" pitchFamily="34" charset="-120"/>
              </a:rPr>
              <a:t> cos τ + d</a:t>
            </a:r>
            <a:r>
              <a:rPr lang="en-US" sz="1100" baseline="-40000" dirty="0">
                <a:solidFill>
                  <a:srgbClr val="E6EDF3"/>
                </a:solidFill>
                <a:latin typeface="Calibri" pitchFamily="34" charset="0"/>
                <a:ea typeface="Calibri" pitchFamily="34" charset="-122"/>
                <a:cs typeface="Calibri" pitchFamily="34" charset="-120"/>
              </a:rPr>
              <a:t>2</a:t>
            </a:r>
            <a:r>
              <a:rPr lang="en-US" sz="1100" dirty="0">
                <a:solidFill>
                  <a:srgbClr val="E6EDF3"/>
                </a:solidFill>
                <a:latin typeface="Calibri" pitchFamily="34" charset="0"/>
                <a:ea typeface="Calibri" pitchFamily="34" charset="-122"/>
                <a:cs typeface="Calibri" pitchFamily="34" charset="-120"/>
              </a:rPr>
              <a:t> sin τ — the Somali Current reverses with the monsoon</a:t>
            </a:r>
            <a:endParaRPr lang="en-US" sz="1100" dirty="0"/>
          </a:p>
        </p:txBody>
      </p:sp>
      <p:sp>
        <p:nvSpPr>
          <p:cNvPr id="9" name="Shape 6"/>
          <p:cNvSpPr/>
          <p:nvPr/>
        </p:nvSpPr>
        <p:spPr>
          <a:xfrm>
            <a:off x="7635240" y="1463040"/>
            <a:ext cx="4005072" cy="1783080"/>
          </a:xfrm>
          <a:prstGeom prst="roundRect">
            <a:avLst>
              <a:gd name="adj" fmla="val 3077"/>
            </a:avLst>
          </a:prstGeom>
          <a:solidFill>
            <a:srgbClr val="161B22"/>
          </a:solidFill>
          <a:ln w="12700">
            <a:solidFill>
              <a:srgbClr val="30363D"/>
            </a:solidFill>
            <a:prstDash val="solid"/>
          </a:ln>
        </p:spPr>
      </p:sp>
      <p:sp>
        <p:nvSpPr>
          <p:cNvPr id="10" name="Text 7"/>
          <p:cNvSpPr txBox="1"/>
          <p:nvPr/>
        </p:nvSpPr>
        <p:spPr>
          <a:xfrm>
            <a:off x="7891272" y="1627632"/>
            <a:ext cx="3493008" cy="256032"/>
          </a:xfrm>
          <a:prstGeom prst="rect">
            <a:avLst/>
          </a:prstGeom>
          <a:noFill/>
          <a:ln/>
        </p:spPr>
        <p:txBody>
          <a:bodyPr wrap="square" lIns="0" tIns="0" rIns="0" bIns="0" rtlCol="0" anchor="ctr"/>
          <a:lstStyle/>
          <a:p>
            <a:pPr indent="0" marL="0">
              <a:buNone/>
            </a:pPr>
            <a:r>
              <a:rPr lang="en-US" sz="1250" b="1" dirty="0">
                <a:solidFill>
                  <a:srgbClr val="4493F8"/>
                </a:solidFill>
                <a:latin typeface="Calibri" pitchFamily="34" charset="0"/>
                <a:ea typeface="Calibri" pitchFamily="34" charset="-122"/>
                <a:cs typeface="Calibri" pitchFamily="34" charset="-120"/>
              </a:rPr>
              <a:t>one map per channel group</a:t>
            </a:r>
            <a:endParaRPr lang="en-US" sz="1250" dirty="0"/>
          </a:p>
        </p:txBody>
      </p:sp>
      <p:sp>
        <p:nvSpPr>
          <p:cNvPr id="11" name="Text 8"/>
          <p:cNvSpPr txBox="1"/>
          <p:nvPr/>
        </p:nvSpPr>
        <p:spPr>
          <a:xfrm>
            <a:off x="7891272" y="1956816"/>
            <a:ext cx="3493008" cy="1143000"/>
          </a:xfrm>
          <a:prstGeom prst="rect">
            <a:avLst/>
          </a:prstGeom>
          <a:noFill/>
          <a:ln/>
        </p:spPr>
        <p:txBody>
          <a:bodyPr wrap="square" lIns="0" tIns="0" rIns="0" bIns="0" rtlCol="0" anchor="t"/>
          <a:lstStyle/>
          <a:p>
            <a:pPr indent="0" marL="0">
              <a:spcAft>
                <a:spcPts val="600"/>
              </a:spcAft>
              <a:buNone/>
            </a:pPr>
            <a:r>
              <a:rPr lang="en-US" sz="1050" b="1" dirty="0">
                <a:solidFill>
                  <a:srgbClr val="4493F8"/>
                </a:solidFill>
                <a:latin typeface="Calibri" pitchFamily="34" charset="0"/>
                <a:ea typeface="Calibri" pitchFamily="34" charset="-122"/>
                <a:cs typeface="Calibri" pitchFamily="34" charset="-120"/>
              </a:rPr>
              <a:t>ocean surface</a:t>
            </a:r>
            <a:r>
              <a:rPr lang="en-US" sz="1050" dirty="0">
                <a:solidFill>
                  <a:srgbClr val="E6EDF3"/>
                </a:solidFill>
                <a:latin typeface="Calibri" pitchFamily="34" charset="0"/>
                <a:ea typeface="Calibri" pitchFamily="34" charset="-122"/>
                <a:cs typeface="Calibri" pitchFamily="34" charset="-120"/>
              </a:rPr>
              <a:t> — currents, sea-surface height, sea-surface temperature, mixed layer</a:t>
            </a:r>
            <a:endParaRPr lang="en-US" sz="1050" dirty="0"/>
          </a:p>
          <a:p>
            <a:pPr indent="0" marL="0">
              <a:spcAft>
                <a:spcPts val="600"/>
              </a:spcAft>
              <a:buNone/>
            </a:pPr>
            <a:r>
              <a:rPr lang="en-US" sz="1050" b="1" dirty="0">
                <a:solidFill>
                  <a:srgbClr val="4493F8"/>
                </a:solidFill>
                <a:latin typeface="Calibri" pitchFamily="34" charset="0"/>
                <a:ea typeface="Calibri" pitchFamily="34" charset="-122"/>
                <a:cs typeface="Calibri" pitchFamily="34" charset="-120"/>
              </a:rPr>
              <a:t>atmosphere</a:t>
            </a:r>
            <a:r>
              <a:rPr lang="en-US" sz="1050" dirty="0">
                <a:solidFill>
                  <a:srgbClr val="E6EDF3"/>
                </a:solidFill>
                <a:latin typeface="Calibri" pitchFamily="34" charset="0"/>
                <a:ea typeface="Calibri" pitchFamily="34" charset="-122"/>
                <a:cs typeface="Calibri" pitchFamily="34" charset="-120"/>
              </a:rPr>
              <a:t> — drift only at lags 0–1</a:t>
            </a:r>
            <a:endParaRPr lang="en-US" sz="1050" dirty="0"/>
          </a:p>
          <a:p>
            <a:pPr indent="0" marL="0">
              <a:spcAft>
                <a:spcPts val="600"/>
              </a:spcAft>
              <a:buNone/>
            </a:pPr>
            <a:r>
              <a:rPr lang="en-US" sz="1050" b="1" dirty="0">
                <a:solidFill>
                  <a:srgbClr val="4493F8"/>
                </a:solidFill>
                <a:latin typeface="Calibri" pitchFamily="34" charset="0"/>
                <a:ea typeface="Calibri" pitchFamily="34" charset="-122"/>
                <a:cs typeface="Calibri" pitchFamily="34" charset="-120"/>
              </a:rPr>
              <a:t>land</a:t>
            </a:r>
            <a:r>
              <a:rPr lang="en-US" sz="1050" dirty="0">
                <a:solidFill>
                  <a:srgbClr val="E6EDF3"/>
                </a:solidFill>
                <a:latin typeface="Calibri" pitchFamily="34" charset="0"/>
                <a:ea typeface="Calibri" pitchFamily="34" charset="-122"/>
                <a:cs typeface="Calibri" pitchFamily="34" charset="-120"/>
              </a:rPr>
              <a:t> — no drift: v = 0, axes and angle only</a:t>
            </a:r>
            <a:endParaRPr lang="en-US" sz="1050" dirty="0"/>
          </a:p>
        </p:txBody>
      </p:sp>
      <p:sp>
        <p:nvSpPr>
          <p:cNvPr id="12" name="Shape 9"/>
          <p:cNvSpPr/>
          <p:nvPr/>
        </p:nvSpPr>
        <p:spPr>
          <a:xfrm>
            <a:off x="7635240" y="3429000"/>
            <a:ext cx="4005072" cy="2240280"/>
          </a:xfrm>
          <a:prstGeom prst="roundRect">
            <a:avLst>
              <a:gd name="adj" fmla="val 2449"/>
            </a:avLst>
          </a:prstGeom>
          <a:solidFill>
            <a:srgbClr val="161B22"/>
          </a:solidFill>
          <a:ln w="12700">
            <a:solidFill>
              <a:srgbClr val="30363D"/>
            </a:solidFill>
            <a:prstDash val="solid"/>
          </a:ln>
        </p:spPr>
      </p:sp>
      <p:sp>
        <p:nvSpPr>
          <p:cNvPr id="13" name="Text 10"/>
          <p:cNvSpPr txBox="1"/>
          <p:nvPr/>
        </p:nvSpPr>
        <p:spPr>
          <a:xfrm>
            <a:off x="7872984" y="3575304"/>
            <a:ext cx="3529584" cy="1947672"/>
          </a:xfrm>
          <a:prstGeom prst="rect">
            <a:avLst/>
          </a:prstGeom>
          <a:noFill/>
          <a:ln/>
        </p:spPr>
        <p:txBody>
          <a:bodyPr wrap="square" lIns="0" tIns="0" rIns="0" bIns="0" rtlCol="0" anchor="ctr"/>
          <a:lstStyle/>
          <a:p>
            <a:pPr indent="0" marL="0">
              <a:spcAft>
                <a:spcPts val="600"/>
              </a:spcAft>
              <a:buNone/>
            </a:pPr>
            <a:r>
              <a:rPr lang="en-US" sz="3000" b="1" dirty="0">
                <a:solidFill>
                  <a:srgbClr val="E3B341"/>
                </a:solidFill>
                <a:latin typeface="Georgia" pitchFamily="34" charset="0"/>
                <a:ea typeface="Georgia" pitchFamily="34" charset="-122"/>
                <a:cs typeface="Georgia" pitchFamily="34" charset="-120"/>
              </a:rPr>
              <a:t>≈ 1.6 M</a:t>
            </a:r>
            <a:endParaRPr lang="en-US" sz="3000" dirty="0"/>
          </a:p>
          <a:p>
            <a:pPr indent="0" marL="0">
              <a:spcAft>
                <a:spcPts val="600"/>
              </a:spcAft>
              <a:buNone/>
            </a:pPr>
            <a:r>
              <a:rPr lang="en-US" sz="1250" b="1" dirty="0">
                <a:solidFill>
                  <a:srgbClr val="E6EDF3"/>
                </a:solidFill>
                <a:latin typeface="Calibri" pitchFamily="34" charset="0"/>
                <a:ea typeface="Calibri" pitchFamily="34" charset="-122"/>
                <a:cs typeface="Calibri" pitchFamily="34" charset="-120"/>
              </a:rPr>
              <a:t>geometry parameters, nominal</a:t>
            </a:r>
            <a:endParaRPr lang="en-US" sz="3000" dirty="0"/>
          </a:p>
          <a:p>
            <a:pPr indent="0" marL="0">
              <a:buNone/>
            </a:pPr>
            <a:r>
              <a:rPr lang="en-US" sz="1050" dirty="0">
                <a:solidFill>
                  <a:srgbClr val="7D8590"/>
                </a:solidFill>
                <a:latin typeface="Calibri" pitchFamily="34" charset="0"/>
                <a:ea typeface="Calibri" pitchFamily="34" charset="-122"/>
                <a:cs typeface="Calibri" pitchFamily="34" charset="-120"/>
              </a:rPr>
              <a:t>64,800 cells × 3 groups × 8 numbers, about half of it live (ocean maps over ocean, land maps over land), plus a scale s_c and a memory τ_c per channel (~100 numbers, global — slide 9) — cheap, and no compute</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CONSTRAINTS, THE MIRROR, AND THE INITIAL CONE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600" b="1" dirty="0">
                <a:solidFill>
                  <a:srgbClr val="E6EDF3"/>
                </a:solidFill>
                <a:latin typeface="Georgia" pitchFamily="34" charset="0"/>
                <a:ea typeface="Georgia" pitchFamily="34" charset="-122"/>
                <a:cs typeface="Georgia" pitchFamily="34" charset="-120"/>
              </a:rPr>
              <a:t>Bounded by physics, tied to the fixed cone, started isotropic</a:t>
            </a:r>
            <a:endParaRPr lang="en-US" sz="26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463040"/>
            <a:ext cx="2621585" cy="2148840"/>
          </a:xfrm>
          <a:prstGeom prst="roundRect">
            <a:avLst>
              <a:gd name="adj" fmla="val 2553"/>
            </a:avLst>
          </a:prstGeom>
          <a:solidFill>
            <a:srgbClr val="161B22"/>
          </a:solidFill>
          <a:ln w="12700">
            <a:solidFill>
              <a:srgbClr val="30363D"/>
            </a:solidFill>
            <a:prstDash val="solid"/>
          </a:ln>
        </p:spPr>
      </p:sp>
      <p:sp>
        <p:nvSpPr>
          <p:cNvPr id="8" name="Text 5"/>
          <p:cNvSpPr txBox="1"/>
          <p:nvPr/>
        </p:nvSpPr>
        <p:spPr>
          <a:xfrm>
            <a:off x="786384" y="1609344"/>
            <a:ext cx="2146097"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Speed cap</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a:t>
            </a:r>
            <a:r>
              <a:rPr lang="en-US" sz="1050" b="1" dirty="0">
                <a:solidFill>
                  <a:srgbClr val="4493F8"/>
                </a:solidFill>
                <a:latin typeface="Calibri" pitchFamily="34" charset="0"/>
                <a:ea typeface="Calibri" pitchFamily="34" charset="-122"/>
                <a:cs typeface="Calibri" pitchFamily="34" charset="-120"/>
              </a:rPr>
              <a:t>d</a:t>
            </a:r>
            <a:r>
              <a:rPr lang="en-US" sz="1050" dirty="0">
                <a:solidFill>
                  <a:srgbClr val="E6EDF3"/>
                </a:solidFill>
                <a:latin typeface="Calibri" pitchFamily="34" charset="0"/>
                <a:ea typeface="Calibri" pitchFamily="34" charset="-122"/>
                <a:cs typeface="Calibri" pitchFamily="34" charset="-120"/>
              </a:rPr>
              <a:t>| ≤ v_design · Δt = 5.4 m/s × 5 d = 2,333 km per pentad (E-071's fastest mechanism × 1.5), via a tanh parameterisation — the learned cone lives inside the v2 envelope</a:t>
            </a:r>
            <a:endParaRPr lang="en-US" sz="1250" dirty="0"/>
          </a:p>
        </p:txBody>
      </p:sp>
      <p:sp>
        <p:nvSpPr>
          <p:cNvPr id="9" name="Shape 6"/>
          <p:cNvSpPr/>
          <p:nvPr/>
        </p:nvSpPr>
        <p:spPr>
          <a:xfrm>
            <a:off x="3371393" y="1463040"/>
            <a:ext cx="2621585" cy="2148840"/>
          </a:xfrm>
          <a:prstGeom prst="roundRect">
            <a:avLst>
              <a:gd name="adj" fmla="val 2553"/>
            </a:avLst>
          </a:prstGeom>
          <a:solidFill>
            <a:srgbClr val="161B22"/>
          </a:solidFill>
          <a:ln w="12700">
            <a:solidFill>
              <a:srgbClr val="30363D"/>
            </a:solidFill>
            <a:prstDash val="solid"/>
          </a:ln>
        </p:spPr>
      </p:sp>
      <p:sp>
        <p:nvSpPr>
          <p:cNvPr id="10" name="Text 7"/>
          <p:cNvSpPr txBox="1"/>
          <p:nvPr/>
        </p:nvSpPr>
        <p:spPr>
          <a:xfrm>
            <a:off x="3609137" y="1609344"/>
            <a:ext cx="2146097"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Log-space, with soft floors</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Σ</a:t>
            </a:r>
            <a:r>
              <a:rPr lang="en-US" sz="1050" baseline="-40000" dirty="0">
                <a:solidFill>
                  <a:srgbClr val="E6EDF3"/>
                </a:solidFill>
                <a:latin typeface="Calibri" pitchFamily="34" charset="0"/>
                <a:ea typeface="Calibri" pitchFamily="34" charset="-122"/>
                <a:cs typeface="Calibri" pitchFamily="34" charset="-120"/>
              </a:rPr>
              <a:t>0</a:t>
            </a:r>
            <a:r>
              <a:rPr lang="en-US" sz="1050" dirty="0">
                <a:solidFill>
                  <a:srgbClr val="E6EDF3"/>
                </a:solidFill>
                <a:latin typeface="Calibri" pitchFamily="34" charset="0"/>
                <a:ea typeface="Calibri" pitchFamily="34" charset="-122"/>
                <a:cs typeface="Calibri" pitchFamily="34" charset="-120"/>
              </a:rPr>
              <a:t>, Σ</a:t>
            </a:r>
            <a:r>
              <a:rPr lang="en-US" sz="1050" baseline="-40000" dirty="0">
                <a:solidFill>
                  <a:srgbClr val="E6EDF3"/>
                </a:solidFill>
                <a:latin typeface="Calibri" pitchFamily="34" charset="0"/>
                <a:ea typeface="Calibri" pitchFamily="34" charset="-122"/>
                <a:cs typeface="Calibri" pitchFamily="34" charset="-120"/>
              </a:rPr>
              <a:t>v</a:t>
            </a:r>
            <a:r>
              <a:rPr lang="en-US" sz="1050" dirty="0">
                <a:solidFill>
                  <a:srgbClr val="E6EDF3"/>
                </a:solidFill>
                <a:latin typeface="Calibri" pitchFamily="34" charset="0"/>
                <a:ea typeface="Calibri" pitchFamily="34" charset="-122"/>
                <a:cs typeface="Calibri" pitchFamily="34" charset="-120"/>
              </a:rPr>
              <a:t>, s</a:t>
            </a:r>
            <a:r>
              <a:rPr lang="en-US" sz="1050" baseline="-40000" dirty="0">
                <a:solidFill>
                  <a:srgbClr val="E6EDF3"/>
                </a:solidFill>
                <a:latin typeface="Calibri" pitchFamily="34" charset="0"/>
                <a:ea typeface="Calibri" pitchFamily="34" charset="-122"/>
                <a:cs typeface="Calibri" pitchFamily="34" charset="-120"/>
              </a:rPr>
              <a:t>c</a:t>
            </a:r>
            <a:r>
              <a:rPr lang="en-US" sz="1050" dirty="0">
                <a:solidFill>
                  <a:srgbClr val="E6EDF3"/>
                </a:solidFill>
                <a:latin typeface="Calibri" pitchFamily="34" charset="0"/>
                <a:ea typeface="Calibri" pitchFamily="34" charset="-122"/>
                <a:cs typeface="Calibri" pitchFamily="34" charset="-120"/>
              </a:rPr>
              <a:t> and τ</a:t>
            </a:r>
            <a:r>
              <a:rPr lang="en-US" sz="1050" baseline="-40000" dirty="0">
                <a:solidFill>
                  <a:srgbClr val="E6EDF3"/>
                </a:solidFill>
                <a:latin typeface="Calibri" pitchFamily="34" charset="0"/>
                <a:ea typeface="Calibri" pitchFamily="34" charset="-122"/>
                <a:cs typeface="Calibri" pitchFamily="34" charset="-120"/>
              </a:rPr>
              <a:t>c</a:t>
            </a:r>
            <a:r>
              <a:rPr lang="en-US" sz="1050" dirty="0">
                <a:solidFill>
                  <a:srgbClr val="E6EDF3"/>
                </a:solidFill>
                <a:latin typeface="Calibri" pitchFamily="34" charset="0"/>
                <a:ea typeface="Calibri" pitchFamily="34" charset="-122"/>
                <a:cs typeface="Calibri" pitchFamily="34" charset="-120"/>
              </a:rPr>
              <a:t> are stored as logarithms (slide 8), so Adam's step is a fixed fraction at any size; the waist's eigenvalues are floored at one cell (28 km) and Σ</a:t>
            </a:r>
            <a:r>
              <a:rPr lang="en-US" sz="1050" baseline="-40000" dirty="0">
                <a:solidFill>
                  <a:srgbClr val="E6EDF3"/>
                </a:solidFill>
                <a:latin typeface="Calibri" pitchFamily="34" charset="0"/>
                <a:ea typeface="Calibri" pitchFamily="34" charset="-122"/>
                <a:cs typeface="Calibri" pitchFamily="34" charset="-120"/>
              </a:rPr>
              <a:t>v</a:t>
            </a:r>
            <a:r>
              <a:rPr lang="en-US" sz="1050" dirty="0">
                <a:solidFill>
                  <a:srgbClr val="E6EDF3"/>
                </a:solidFill>
                <a:latin typeface="Calibri" pitchFamily="34" charset="0"/>
                <a:ea typeface="Calibri" pitchFamily="34" charset="-122"/>
                <a:cs typeface="Calibri" pitchFamily="34" charset="-120"/>
              </a:rPr>
              <a:t>'s at the design speed, by a softplus offset in log space rather than a clip</a:t>
            </a:r>
            <a:endParaRPr lang="en-US" sz="1250" dirty="0"/>
          </a:p>
        </p:txBody>
      </p:sp>
      <p:sp>
        <p:nvSpPr>
          <p:cNvPr id="11" name="Shape 8"/>
          <p:cNvSpPr/>
          <p:nvPr/>
        </p:nvSpPr>
        <p:spPr>
          <a:xfrm>
            <a:off x="6194146" y="1463040"/>
            <a:ext cx="2621585" cy="2148840"/>
          </a:xfrm>
          <a:prstGeom prst="roundRect">
            <a:avLst>
              <a:gd name="adj" fmla="val 2553"/>
            </a:avLst>
          </a:prstGeom>
          <a:solidFill>
            <a:srgbClr val="161B22"/>
          </a:solidFill>
          <a:ln w="12700">
            <a:solidFill>
              <a:srgbClr val="30363D"/>
            </a:solidFill>
            <a:prstDash val="solid"/>
          </a:ln>
        </p:spPr>
      </p:sp>
      <p:sp>
        <p:nvSpPr>
          <p:cNvPr id="12" name="Text 9"/>
          <p:cNvSpPr txBox="1"/>
          <p:nvPr/>
        </p:nvSpPr>
        <p:spPr>
          <a:xfrm>
            <a:off x="6431890" y="1609344"/>
            <a:ext cx="2146097"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Prior</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Coarse 10° + 1° residual, L2 shrinkage and Laplacian smoothness on the residual (slide 12) — one weight, recorded in the run's metrics</a:t>
            </a:r>
            <a:endParaRPr lang="en-US" sz="1250" dirty="0"/>
          </a:p>
        </p:txBody>
      </p:sp>
      <p:sp>
        <p:nvSpPr>
          <p:cNvPr id="13" name="Shape 10"/>
          <p:cNvSpPr/>
          <p:nvPr/>
        </p:nvSpPr>
        <p:spPr>
          <a:xfrm>
            <a:off x="9016898" y="1463040"/>
            <a:ext cx="2621585" cy="2148840"/>
          </a:xfrm>
          <a:prstGeom prst="roundRect">
            <a:avLst>
              <a:gd name="adj" fmla="val 2553"/>
            </a:avLst>
          </a:prstGeom>
          <a:solidFill>
            <a:srgbClr val="161B22"/>
          </a:solidFill>
          <a:ln w="12700">
            <a:solidFill>
              <a:srgbClr val="30363D"/>
            </a:solidFill>
            <a:prstDash val="solid"/>
          </a:ln>
        </p:spPr>
      </p:sp>
      <p:sp>
        <p:nvSpPr>
          <p:cNvPr id="14" name="Text 11"/>
          <p:cNvSpPr txBox="1"/>
          <p:nvPr/>
        </p:nvSpPr>
        <p:spPr>
          <a:xfrm>
            <a:off x="9254642" y="1609344"/>
            <a:ext cx="2146097"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Mirror tie, by default</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The future cone shares the eight numbers (reflected); an untied arm is the ablation, not the design</a:t>
            </a:r>
            <a:endParaRPr lang="en-US" sz="1250" dirty="0"/>
          </a:p>
        </p:txBody>
      </p:sp>
      <p:sp>
        <p:nvSpPr>
          <p:cNvPr id="15" name="Shape 12"/>
          <p:cNvSpPr/>
          <p:nvPr/>
        </p:nvSpPr>
        <p:spPr>
          <a:xfrm>
            <a:off x="548640" y="3840480"/>
            <a:ext cx="3557016" cy="2148840"/>
          </a:xfrm>
          <a:prstGeom prst="roundRect">
            <a:avLst>
              <a:gd name="adj" fmla="val 2553"/>
            </a:avLst>
          </a:prstGeom>
          <a:solidFill>
            <a:srgbClr val="161B22"/>
          </a:solidFill>
          <a:ln w="12700">
            <a:solidFill>
              <a:srgbClr val="30363D"/>
            </a:solidFill>
            <a:prstDash val="solid"/>
          </a:ln>
        </p:spPr>
      </p:sp>
      <p:sp>
        <p:nvSpPr>
          <p:cNvPr id="16" name="Text 13"/>
          <p:cNvSpPr txBox="1"/>
          <p:nvPr/>
        </p:nvSpPr>
        <p:spPr>
          <a:xfrm>
            <a:off x="786384" y="3986784"/>
            <a:ext cx="3081528"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Stop-gradient on the target side</a:t>
            </a:r>
            <a:endParaRPr lang="en-US" sz="1250" dirty="0"/>
          </a:p>
          <a:p>
            <a:pPr indent="0" marL="0">
              <a:buNone/>
            </a:pPr>
            <a:r>
              <a:rPr lang="en-US" sz="1150" dirty="0">
                <a:solidFill>
                  <a:srgbClr val="E6EDF3"/>
                </a:solidFill>
                <a:latin typeface="Calibri" pitchFamily="34" charset="0"/>
                <a:ea typeface="Calibri" pitchFamily="34" charset="-122"/>
                <a:cs typeface="Calibri" pitchFamily="34" charset="-120"/>
              </a:rPr>
              <a:t>The loss reaches the geometry only through the </a:t>
            </a:r>
            <a:r>
              <a:rPr lang="en-US" sz="1150" b="1" dirty="0">
                <a:solidFill>
                  <a:srgbClr val="4493F8"/>
                </a:solidFill>
                <a:latin typeface="Calibri" pitchFamily="34" charset="0"/>
                <a:ea typeface="Calibri" pitchFamily="34" charset="-122"/>
                <a:cs typeface="Calibri" pitchFamily="34" charset="-120"/>
              </a:rPr>
              <a:t>input</a:t>
            </a:r>
            <a:r>
              <a:rPr lang="en-US" sz="1150" dirty="0">
                <a:solidFill>
                  <a:srgbClr val="E6EDF3"/>
                </a:solidFill>
                <a:latin typeface="Calibri" pitchFamily="34" charset="0"/>
                <a:ea typeface="Calibri" pitchFamily="34" charset="-122"/>
                <a:cs typeface="Calibri" pitchFamily="34" charset="-120"/>
              </a:rPr>
              <a:t> reads; the positions of targets are treated as constants</a:t>
            </a:r>
            <a:endParaRPr lang="en-US" sz="1250" dirty="0"/>
          </a:p>
        </p:txBody>
      </p:sp>
      <p:sp>
        <p:nvSpPr>
          <p:cNvPr id="17" name="Shape 14"/>
          <p:cNvSpPr/>
          <p:nvPr/>
        </p:nvSpPr>
        <p:spPr>
          <a:xfrm>
            <a:off x="4315968" y="3840480"/>
            <a:ext cx="3557016" cy="2148840"/>
          </a:xfrm>
          <a:prstGeom prst="roundRect">
            <a:avLst>
              <a:gd name="adj" fmla="val 2553"/>
            </a:avLst>
          </a:prstGeom>
          <a:solidFill>
            <a:srgbClr val="161B22"/>
          </a:solidFill>
          <a:ln w="12700">
            <a:solidFill>
              <a:srgbClr val="30363D"/>
            </a:solidFill>
            <a:prstDash val="solid"/>
          </a:ln>
        </p:spPr>
      </p:sp>
      <p:sp>
        <p:nvSpPr>
          <p:cNvPr id="18" name="Text 15"/>
          <p:cNvSpPr txBox="1"/>
          <p:nvPr/>
        </p:nvSpPr>
        <p:spPr>
          <a:xfrm>
            <a:off x="4553712" y="3986784"/>
            <a:ext cx="3081528" cy="185623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The v2 safety net stays, ungated</a:t>
            </a:r>
            <a:endParaRPr lang="en-US" sz="1250" dirty="0"/>
          </a:p>
          <a:p>
            <a:pPr indent="0" marL="0">
              <a:buNone/>
            </a:pPr>
            <a:r>
              <a:rPr lang="en-US" sz="1150" dirty="0">
                <a:solidFill>
                  <a:srgbClr val="E6EDF3"/>
                </a:solidFill>
                <a:latin typeface="Calibri" pitchFamily="34" charset="0"/>
                <a:ea typeface="Calibri" pitchFamily="34" charset="-122"/>
                <a:cs typeface="Calibri" pitchFamily="34" charset="-120"/>
              </a:rPr>
              <a:t>In addition to the learned ellipse, each lag keeps one fixed log-radial ring of 24 dots to the antipode, read at full weight — the cone can be directed without asserting that a driver could not have come from elsewhere</a:t>
            </a:r>
            <a:endParaRPr lang="en-US" sz="1250" dirty="0"/>
          </a:p>
        </p:txBody>
      </p:sp>
      <p:sp>
        <p:nvSpPr>
          <p:cNvPr id="19" name="Shape 16"/>
          <p:cNvSpPr/>
          <p:nvPr/>
        </p:nvSpPr>
        <p:spPr>
          <a:xfrm>
            <a:off x="8083296" y="3840480"/>
            <a:ext cx="3557016" cy="2148840"/>
          </a:xfrm>
          <a:prstGeom prst="roundRect">
            <a:avLst>
              <a:gd name="adj" fmla="val 2553"/>
            </a:avLst>
          </a:prstGeom>
          <a:solidFill>
            <a:srgbClr val="161B22"/>
          </a:solidFill>
          <a:ln w="12700">
            <a:solidFill>
              <a:srgbClr val="30363D"/>
            </a:solidFill>
            <a:prstDash val="solid"/>
          </a:ln>
        </p:spPr>
      </p:sp>
      <p:sp>
        <p:nvSpPr>
          <p:cNvPr id="20" name="Text 17"/>
          <p:cNvSpPr txBox="1"/>
          <p:nvPr/>
        </p:nvSpPr>
        <p:spPr>
          <a:xfrm>
            <a:off x="8321040" y="3986784"/>
            <a:ext cx="3081528" cy="1856232"/>
          </a:xfrm>
          <a:prstGeom prst="rect">
            <a:avLst/>
          </a:prstGeom>
          <a:noFill/>
          <a:ln/>
        </p:spPr>
        <p:txBody>
          <a:bodyPr wrap="square" lIns="0" tIns="0" rIns="0" bIns="0" rtlCol="0" anchor="ctr"/>
          <a:lstStyle/>
          <a:p>
            <a:pPr indent="0" marL="0">
              <a:spcAft>
                <a:spcPts val="800"/>
              </a:spcAft>
              <a:buNone/>
            </a:pPr>
            <a:r>
              <a:rPr lang="en-US" sz="1250" b="1" dirty="0">
                <a:solidFill>
                  <a:srgbClr val="E3B341"/>
                </a:solidFill>
                <a:latin typeface="Calibri" pitchFamily="34" charset="0"/>
                <a:ea typeface="Calibri" pitchFamily="34" charset="-122"/>
                <a:cs typeface="Calibri" pitchFamily="34" charset="-120"/>
              </a:rPr>
              <a:t>Init</a:t>
            </a:r>
            <a:endParaRPr lang="en-US" sz="1250" dirty="0"/>
          </a:p>
          <a:p>
            <a:pPr indent="0" marL="0">
              <a:buNone/>
            </a:pPr>
            <a:r>
              <a:rPr lang="en-US" sz="1100" b="1" dirty="0">
                <a:solidFill>
                  <a:srgbClr val="4493F8"/>
                </a:solidFill>
                <a:latin typeface="Calibri" pitchFamily="34" charset="0"/>
                <a:ea typeface="Calibri" pitchFamily="34" charset="-122"/>
                <a:cs typeface="Calibri" pitchFamily="34" charset="-120"/>
              </a:rPr>
              <a:t>d</a:t>
            </a:r>
            <a:r>
              <a:rPr lang="en-US" sz="1100" dirty="0">
                <a:solidFill>
                  <a:srgbClr val="E6EDF3"/>
                </a:solidFill>
                <a:latin typeface="Calibri" pitchFamily="34" charset="0"/>
                <a:ea typeface="Calibri" pitchFamily="34" charset="-122"/>
                <a:cs typeface="Calibri" pitchFamily="34" charset="-120"/>
              </a:rPr>
              <a:t> = 0; S</a:t>
            </a:r>
            <a:r>
              <a:rPr lang="en-US" sz="1100" baseline="-40000" dirty="0">
                <a:solidFill>
                  <a:srgbClr val="E6EDF3"/>
                </a:solidFill>
                <a:latin typeface="Calibri" pitchFamily="34" charset="0"/>
                <a:ea typeface="Calibri" pitchFamily="34" charset="-122"/>
                <a:cs typeface="Calibri" pitchFamily="34" charset="-120"/>
              </a:rPr>
              <a:t>0</a:t>
            </a:r>
            <a:r>
              <a:rPr lang="en-US" sz="1100" dirty="0">
                <a:solidFill>
                  <a:srgbClr val="E6EDF3"/>
                </a:solidFill>
                <a:latin typeface="Calibri" pitchFamily="34" charset="0"/>
                <a:ea typeface="Calibri" pitchFamily="34" charset="-122"/>
                <a:cs typeface="Calibri" pitchFamily="34" charset="-120"/>
              </a:rPr>
              <a:t> = the log of a 3-cell circle with the measured aspect 0.71 (</a:t>
            </a:r>
            <a:r>
              <a:rPr lang="en-US" sz="1100" u="sng" dirty="0">
                <a:solidFill>
                  <a:srgbClr val="4493F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ml/measure_flow_anisotropy.py</a:t>
            </a:r>
            <a:r>
              <a:rPr lang="en-US" sz="1100" dirty="0">
                <a:solidFill>
                  <a:srgbClr val="E6EDF3"/>
                </a:solidFill>
                <a:latin typeface="Calibri" pitchFamily="34" charset="0"/>
                <a:ea typeface="Calibri" pitchFamily="34" charset="-122"/>
                <a:cs typeface="Calibri" pitchFamily="34" charset="-120"/>
              </a:rPr>
              <a:t>); Σ</a:t>
            </a:r>
            <a:r>
              <a:rPr lang="en-US" sz="1100" baseline="-40000" dirty="0">
                <a:solidFill>
                  <a:srgbClr val="E6EDF3"/>
                </a:solidFill>
                <a:latin typeface="Calibri" pitchFamily="34" charset="0"/>
                <a:ea typeface="Calibri" pitchFamily="34" charset="-122"/>
                <a:cs typeface="Calibri" pitchFamily="34" charset="-120"/>
              </a:rPr>
              <a:t>v</a:t>
            </a:r>
            <a:r>
              <a:rPr lang="en-US" sz="1100" dirty="0">
                <a:solidFill>
                  <a:srgbClr val="E6EDF3"/>
                </a:solidFill>
                <a:latin typeface="Calibri" pitchFamily="34" charset="0"/>
                <a:ea typeface="Calibri" pitchFamily="34" charset="-122"/>
                <a:cs typeface="Calibri" pitchFamily="34" charset="-120"/>
              </a:rPr>
              <a:t> from the 0.3 m/s of </a:t>
            </a:r>
            <a:r>
              <a:rPr lang="en-US" sz="110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ml/cone.py::FAMILIES</a:t>
            </a:r>
            <a:r>
              <a:rPr lang="en-US" sz="1100" dirty="0">
                <a:solidFill>
                  <a:srgbClr val="E6EDF3"/>
                </a:solidFill>
                <a:latin typeface="Calibri" pitchFamily="34" charset="0"/>
                <a:ea typeface="Calibri" pitchFamily="34" charset="-122"/>
                <a:cs typeface="Calibri" pitchFamily="34" charset="-120"/>
              </a:rPr>
              <a:t>; s</a:t>
            </a:r>
            <a:r>
              <a:rPr lang="en-US" sz="1100" baseline="-40000" dirty="0">
                <a:solidFill>
                  <a:srgbClr val="E6EDF3"/>
                </a:solidFill>
                <a:latin typeface="Calibri" pitchFamily="34" charset="0"/>
                <a:ea typeface="Calibri" pitchFamily="34" charset="-122"/>
                <a:cs typeface="Calibri" pitchFamily="34" charset="-120"/>
              </a:rPr>
              <a:t>c</a:t>
            </a:r>
            <a:r>
              <a:rPr lang="en-US" sz="1100" dirty="0">
                <a:solidFill>
                  <a:srgbClr val="E6EDF3"/>
                </a:solidFill>
                <a:latin typeface="Calibri" pitchFamily="34" charset="0"/>
                <a:ea typeface="Calibri" pitchFamily="34" charset="-122"/>
                <a:cs typeface="Calibri" pitchFamily="34" charset="-120"/>
              </a:rPr>
              <a:t> and τ</a:t>
            </a:r>
            <a:r>
              <a:rPr lang="en-US" sz="1100" baseline="-40000" dirty="0">
                <a:solidFill>
                  <a:srgbClr val="E6EDF3"/>
                </a:solidFill>
                <a:latin typeface="Calibri" pitchFamily="34" charset="0"/>
                <a:ea typeface="Calibri" pitchFamily="34" charset="-122"/>
                <a:cs typeface="Calibri" pitchFamily="34" charset="-120"/>
              </a:rPr>
              <a:t>c</a:t>
            </a:r>
            <a:r>
              <a:rPr lang="en-US" sz="1100" dirty="0">
                <a:solidFill>
                  <a:srgbClr val="E6EDF3"/>
                </a:solidFill>
                <a:latin typeface="Calibri" pitchFamily="34" charset="0"/>
                <a:ea typeface="Calibri" pitchFamily="34" charset="-122"/>
                <a:cs typeface="Calibri" pitchFamily="34" charset="-120"/>
              </a:rPr>
              <a:t> from the same table per channel — the fixed hourglass exactly, so step 0 of the learned arm is the control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POINT 4 — THE AMOC EXAMPLE, DRAWN</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500" b="1" dirty="0">
                <a:solidFill>
                  <a:srgbClr val="E6EDF3"/>
                </a:solidFill>
                <a:latin typeface="Georgia" pitchFamily="34" charset="0"/>
                <a:ea typeface="Georgia" pitchFamily="34" charset="-122"/>
                <a:cs typeface="Georgia" pitchFamily="34" charset="-120"/>
              </a:rPr>
              <a:t>One anchor on the western boundary: a learned surface cone, and deep profiles read from the other side</a:t>
            </a:r>
            <a:endParaRPr lang="en-US" sz="25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14</a:t>
            </a:r>
            <a:endParaRPr lang="en-US" sz="1000" dirty="0"/>
          </a:p>
        </p:txBody>
      </p:sp>
      <p:pic>
        <p:nvPicPr>
          <p:cNvPr id="7" name="Image 0" descr="/home/claude/earth/ml/plans/E080_figures/amoc_cones.png">    </p:cNvPr>
          <p:cNvPicPr>
            <a:picLocks noChangeAspect="1"/>
          </p:cNvPicPr>
          <p:nvPr/>
        </p:nvPicPr>
        <p:blipFill>
          <a:blip r:embed="rId1"/>
          <a:stretch>
            <a:fillRect/>
          </a:stretch>
        </p:blipFill>
        <p:spPr>
          <a:xfrm>
            <a:off x="548640" y="1463040"/>
            <a:ext cx="5065776" cy="4434840"/>
          </a:xfrm>
          <a:prstGeom prst="rect">
            <a:avLst/>
          </a:prstGeom>
        </p:spPr>
      </p:pic>
      <p:sp>
        <p:nvSpPr>
          <p:cNvPr id="8" name="Shape 4"/>
          <p:cNvSpPr/>
          <p:nvPr/>
        </p:nvSpPr>
        <p:spPr>
          <a:xfrm>
            <a:off x="5824728" y="1463040"/>
            <a:ext cx="5815584" cy="4434840"/>
          </a:xfrm>
          <a:prstGeom prst="roundRect">
            <a:avLst>
              <a:gd name="adj" fmla="val 1237"/>
            </a:avLst>
          </a:prstGeom>
          <a:solidFill>
            <a:srgbClr val="161B22"/>
          </a:solidFill>
          <a:ln w="12700">
            <a:solidFill>
              <a:srgbClr val="30363D"/>
            </a:solidFill>
            <a:prstDash val="solid"/>
          </a:ln>
        </p:spPr>
      </p:sp>
      <p:sp>
        <p:nvSpPr>
          <p:cNvPr id="9" name="Text 5"/>
          <p:cNvSpPr txBox="1"/>
          <p:nvPr/>
        </p:nvSpPr>
        <p:spPr>
          <a:xfrm>
            <a:off x="6080760" y="1664208"/>
            <a:ext cx="5303520" cy="4069080"/>
          </a:xfrm>
          <a:prstGeom prst="rect">
            <a:avLst/>
          </a:prstGeom>
          <a:noFill/>
          <a:ln/>
        </p:spPr>
        <p:txBody>
          <a:bodyPr wrap="square" lIns="0" tIns="0" rIns="0" bIns="0" rtlCol="0" anchor="ctr"/>
          <a:lstStyle/>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Surface group:</a:t>
            </a:r>
            <a:r>
              <a:rPr lang="en-US" sz="1200" dirty="0">
                <a:solidFill>
                  <a:srgbClr val="E6EDF3"/>
                </a:solidFill>
                <a:latin typeface="Calibri" pitchFamily="34" charset="0"/>
                <a:ea typeface="Calibri" pitchFamily="34" charset="-122"/>
                <a:cs typeface="Calibri" pitchFamily="34" charset="-120"/>
              </a:rPr>
              <a:t> the learned d should point south-west (up the Florida Current, toward the Loop Current); the future cone leans north-east along the Gulf Stream</a:t>
            </a:r>
            <a:endParaRPr lang="en-US" sz="1200" dirty="0"/>
          </a:p>
          <a:p>
            <a:pPr marL="203200" indent="-203200">
              <a:spcAft>
                <a:spcPts val="700"/>
              </a:spcAft>
              <a:buSzPct val="100000"/>
              <a:buChar char="•"/>
            </a:pPr>
            <a:r>
              <a:rPr lang="en-US" sz="1200" b="1" dirty="0">
                <a:solidFill>
                  <a:srgbClr val="4493F8"/>
                </a:solidFill>
                <a:latin typeface="Calibri" pitchFamily="34" charset="0"/>
                <a:ea typeface="Calibri" pitchFamily="34" charset="-122"/>
                <a:cs typeface="Calibri" pitchFamily="34" charset="-120"/>
              </a:rPr>
              <a:t>Deep Argo:</a:t>
            </a:r>
            <a:r>
              <a:rPr lang="en-US" sz="1200" dirty="0">
                <a:solidFill>
                  <a:srgbClr val="E6EDF3"/>
                </a:solidFill>
                <a:latin typeface="Calibri" pitchFamily="34" charset="0"/>
                <a:ea typeface="Calibri" pitchFamily="34" charset="-122"/>
                <a:cs typeface="Calibri" pitchFamily="34" charset="-120"/>
              </a:rPr>
              <a:t> no ellipse to learn. The profile tokens within the search radius carry their own offset and depth; the model should put its attention on the deep (&gt; 1000 dbar) profiles </a:t>
            </a:r>
            <a:r>
              <a:rPr lang="en-US" sz="1200" b="1" dirty="0">
                <a:solidFill>
                  <a:srgbClr val="4493F8"/>
                </a:solidFill>
                <a:latin typeface="Calibri" pitchFamily="34" charset="0"/>
                <a:ea typeface="Calibri" pitchFamily="34" charset="-122"/>
                <a:cs typeface="Calibri" pitchFamily="34" charset="-120"/>
              </a:rPr>
              <a:t>north</a:t>
            </a:r>
            <a:r>
              <a:rPr lang="en-US" sz="1200" dirty="0">
                <a:solidFill>
                  <a:srgbClr val="E6EDF3"/>
                </a:solidFill>
                <a:latin typeface="Calibri" pitchFamily="34" charset="0"/>
                <a:ea typeface="Calibri" pitchFamily="34" charset="-122"/>
                <a:cs typeface="Calibri" pitchFamily="34" charset="-120"/>
              </a:rPr>
              <a:t> of the anchor — up the Deep Western Boundary Current — and on the shallow ones to the south</a:t>
            </a:r>
            <a:endParaRPr lang="en-US" sz="1200" dirty="0"/>
          </a:p>
          <a:p>
            <a:pPr marL="203200" indent="-203200">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Neither is programmed: these are the </a:t>
            </a:r>
            <a:r>
              <a:rPr lang="en-US" sz="1200" b="1" dirty="0">
                <a:solidFill>
                  <a:srgbClr val="4493F8"/>
                </a:solidFill>
                <a:latin typeface="Calibri" pitchFamily="34" charset="0"/>
                <a:ea typeface="Calibri" pitchFamily="34" charset="-122"/>
                <a:cs typeface="Calibri" pitchFamily="34" charset="-120"/>
              </a:rPr>
              <a:t>pre-registered expectations</a:t>
            </a:r>
            <a:r>
              <a:rPr lang="en-US" sz="1200" dirty="0">
                <a:solidFill>
                  <a:srgbClr val="E6EDF3"/>
                </a:solidFill>
                <a:latin typeface="Calibri" pitchFamily="34" charset="0"/>
                <a:ea typeface="Calibri" pitchFamily="34" charset="-122"/>
                <a:cs typeface="Calibri" pitchFamily="34" charset="-120"/>
              </a:rPr>
              <a:t> — a geometry check for the surface, an attention check for the deep</a:t>
            </a:r>
            <a:endParaRPr lang="en-US" sz="1200" dirty="0"/>
          </a:p>
          <a:p>
            <a:pPr marL="203200" indent="-203200">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If the learned surface drift correlates with −u_clim (the climatological surface current, reversed) over the world ocean, the cone learned “upstream” from the data alone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THE LOOPHOLE AND ITS FIX</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700" b="1" dirty="0">
                <a:solidFill>
                  <a:srgbClr val="E6EDF3"/>
                </a:solidFill>
                <a:latin typeface="Georgia" pitchFamily="34" charset="0"/>
                <a:ea typeface="Georgia" pitchFamily="34" charset="-122"/>
                <a:cs typeface="Georgia" pitchFamily="34" charset="-120"/>
              </a:rPr>
              <a:t>A learnable cone can learn to ask easy questions</a:t>
            </a:r>
            <a:endParaRPr lang="en-US" sz="27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463040"/>
            <a:ext cx="11091672" cy="749808"/>
          </a:xfrm>
          <a:prstGeom prst="roundRect">
            <a:avLst>
              <a:gd name="adj" fmla="val 7317"/>
            </a:avLst>
          </a:prstGeom>
          <a:solidFill>
            <a:srgbClr val="2A1518"/>
          </a:solidFill>
          <a:ln w="12700">
            <a:solidFill>
              <a:srgbClr val="F85149"/>
            </a:solidFill>
            <a:prstDash val="solid"/>
          </a:ln>
        </p:spPr>
      </p:sp>
      <p:sp>
        <p:nvSpPr>
          <p:cNvPr id="8" name="Text 5"/>
          <p:cNvSpPr txBox="1"/>
          <p:nvPr/>
        </p:nvSpPr>
        <p:spPr>
          <a:xfrm>
            <a:off x="822960" y="1591056"/>
            <a:ext cx="10543032" cy="502920"/>
          </a:xfrm>
          <a:prstGeom prst="rect">
            <a:avLst/>
          </a:prstGeom>
          <a:noFill/>
          <a:ln/>
        </p:spPr>
        <p:txBody>
          <a:bodyPr wrap="square" lIns="0" tIns="0" rIns="0" bIns="0" rtlCol="0" anchor="ctr"/>
          <a:lstStyle/>
          <a:p>
            <a:pPr indent="0" marL="0">
              <a:buNone/>
            </a:pPr>
            <a:r>
              <a:rPr lang="en-US" sz="1300" b="1" dirty="0">
                <a:solidFill>
                  <a:srgbClr val="F85149"/>
                </a:solidFill>
                <a:latin typeface="Calibri" pitchFamily="34" charset="0"/>
                <a:ea typeface="Calibri" pitchFamily="34" charset="-122"/>
                <a:cs typeface="Calibri" pitchFamily="34" charset="-120"/>
              </a:rPr>
              <a:t>The loophole:  </a:t>
            </a:r>
            <a:r>
              <a:rPr lang="en-US" sz="1300" dirty="0">
                <a:solidFill>
                  <a:srgbClr val="E6EDF3"/>
                </a:solidFill>
                <a:latin typeface="Calibri" pitchFamily="34" charset="0"/>
                <a:ea typeface="Calibri" pitchFamily="34" charset="-122"/>
                <a:cs typeface="Calibri" pitchFamily="34" charset="-120"/>
              </a:rPr>
              <a:t>if target positions could move, the gradient would move them to smooth water — a lower loss that means nothing.</a:t>
            </a:r>
            <a:endParaRPr lang="en-US" sz="1300" dirty="0"/>
          </a:p>
        </p:txBody>
      </p:sp>
      <p:sp>
        <p:nvSpPr>
          <p:cNvPr id="9" name="Shape 6"/>
          <p:cNvSpPr/>
          <p:nvPr/>
        </p:nvSpPr>
        <p:spPr>
          <a:xfrm>
            <a:off x="548640" y="2487168"/>
            <a:ext cx="2621585" cy="2011680"/>
          </a:xfrm>
          <a:prstGeom prst="roundRect">
            <a:avLst>
              <a:gd name="adj" fmla="val 2727"/>
            </a:avLst>
          </a:prstGeom>
          <a:solidFill>
            <a:srgbClr val="161B22"/>
          </a:solidFill>
          <a:ln w="12700">
            <a:solidFill>
              <a:srgbClr val="30363D"/>
            </a:solidFill>
            <a:prstDash val="solid"/>
          </a:ln>
        </p:spPr>
      </p:sp>
      <p:sp>
        <p:nvSpPr>
          <p:cNvPr id="10" name="Text 7"/>
          <p:cNvSpPr txBox="1"/>
          <p:nvPr/>
        </p:nvSpPr>
        <p:spPr>
          <a:xfrm>
            <a:off x="786384" y="2633472"/>
            <a:ext cx="2146097" cy="17190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Fix 1 · stop-gradient on target positions</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Slide 13. The geometry is trained only by “which inputs help”, never by “which targets are easy”.</a:t>
            </a:r>
            <a:endParaRPr lang="en-US" sz="1250" dirty="0"/>
          </a:p>
        </p:txBody>
      </p:sp>
      <p:sp>
        <p:nvSpPr>
          <p:cNvPr id="11" name="Shape 8"/>
          <p:cNvSpPr/>
          <p:nvPr/>
        </p:nvSpPr>
        <p:spPr>
          <a:xfrm>
            <a:off x="3371393" y="2487168"/>
            <a:ext cx="2621585" cy="2011680"/>
          </a:xfrm>
          <a:prstGeom prst="roundRect">
            <a:avLst>
              <a:gd name="adj" fmla="val 2727"/>
            </a:avLst>
          </a:prstGeom>
          <a:solidFill>
            <a:srgbClr val="161B22"/>
          </a:solidFill>
          <a:ln w="12700">
            <a:solidFill>
              <a:srgbClr val="30363D"/>
            </a:solidFill>
            <a:prstDash val="solid"/>
          </a:ln>
        </p:spPr>
      </p:sp>
      <p:sp>
        <p:nvSpPr>
          <p:cNvPr id="12" name="Text 9"/>
          <p:cNvSpPr txBox="1"/>
          <p:nvPr/>
        </p:nvSpPr>
        <p:spPr>
          <a:xfrm>
            <a:off x="3609137" y="2633472"/>
            <a:ext cx="2146097" cy="17190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Fix 2 · the mirror tie</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The future cone cannot be tuned separately from the past cone.</a:t>
            </a:r>
            <a:endParaRPr lang="en-US" sz="1250" dirty="0"/>
          </a:p>
        </p:txBody>
      </p:sp>
      <p:sp>
        <p:nvSpPr>
          <p:cNvPr id="13" name="Shape 10"/>
          <p:cNvSpPr/>
          <p:nvPr/>
        </p:nvSpPr>
        <p:spPr>
          <a:xfrm>
            <a:off x="6194146" y="2487168"/>
            <a:ext cx="2621585" cy="2011680"/>
          </a:xfrm>
          <a:prstGeom prst="roundRect">
            <a:avLst>
              <a:gd name="adj" fmla="val 2727"/>
            </a:avLst>
          </a:prstGeom>
          <a:solidFill>
            <a:srgbClr val="161B22"/>
          </a:solidFill>
          <a:ln w="12700">
            <a:solidFill>
              <a:srgbClr val="30363D"/>
            </a:solidFill>
            <a:prstDash val="solid"/>
          </a:ln>
        </p:spPr>
      </p:sp>
      <p:sp>
        <p:nvSpPr>
          <p:cNvPr id="14" name="Text 11"/>
          <p:cNvSpPr txBox="1"/>
          <p:nvPr/>
        </p:nvSpPr>
        <p:spPr>
          <a:xfrm>
            <a:off x="6431890" y="2633472"/>
            <a:ext cx="2146097" cy="17190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Fix 3 · frozen evaluation geometry</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Held-out numbers are always scored on the fixed hourglass, for every arm.</a:t>
            </a:r>
            <a:endParaRPr lang="en-US" sz="1250" dirty="0"/>
          </a:p>
        </p:txBody>
      </p:sp>
      <p:sp>
        <p:nvSpPr>
          <p:cNvPr id="15" name="Shape 12"/>
          <p:cNvSpPr/>
          <p:nvPr/>
        </p:nvSpPr>
        <p:spPr>
          <a:xfrm>
            <a:off x="9016898" y="2487168"/>
            <a:ext cx="2621585" cy="2011680"/>
          </a:xfrm>
          <a:prstGeom prst="roundRect">
            <a:avLst>
              <a:gd name="adj" fmla="val 2727"/>
            </a:avLst>
          </a:prstGeom>
          <a:solidFill>
            <a:srgbClr val="161B22"/>
          </a:solidFill>
          <a:ln w="12700">
            <a:solidFill>
              <a:srgbClr val="30363D"/>
            </a:solidFill>
            <a:prstDash val="solid"/>
          </a:ln>
        </p:spPr>
      </p:sp>
      <p:sp>
        <p:nvSpPr>
          <p:cNvPr id="16" name="Text 13"/>
          <p:cNvSpPr txBox="1"/>
          <p:nvPr/>
        </p:nvSpPr>
        <p:spPr>
          <a:xfrm>
            <a:off x="9254642" y="2633472"/>
            <a:ext cx="2146097" cy="17190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Fix 4 · the aperture never touches the loss weights</a:t>
            </a:r>
            <a:endParaRPr lang="en-US" sz="1250" dirty="0"/>
          </a:p>
          <a:p>
            <a:pPr indent="0" marL="0">
              <a:buNone/>
            </a:pPr>
            <a:r>
              <a:rPr lang="en-US" sz="1100" dirty="0">
                <a:solidFill>
                  <a:srgbClr val="E6EDF3"/>
                </a:solidFill>
                <a:latin typeface="Calibri" pitchFamily="34" charset="0"/>
                <a:ea typeface="Calibri" pitchFamily="34" charset="-122"/>
                <a:cs typeface="Calibri" pitchFamily="34" charset="-120"/>
              </a:rPr>
              <a:t>In phase 1 the targets are the fixed mirrored candidate set with fixed weights; a model that shrinks its aperture cannot thereby shrink the set of questions it is scored on.</a:t>
            </a:r>
            <a:endParaRPr lang="en-US" sz="1250" dirty="0"/>
          </a:p>
        </p:txBody>
      </p:sp>
      <p:sp>
        <p:nvSpPr>
          <p:cNvPr id="17" name="Shape 14"/>
          <p:cNvSpPr/>
          <p:nvPr/>
        </p:nvSpPr>
        <p:spPr>
          <a:xfrm>
            <a:off x="548640" y="4754880"/>
            <a:ext cx="11091672" cy="1097280"/>
          </a:xfrm>
          <a:prstGeom prst="roundRect">
            <a:avLst>
              <a:gd name="adj" fmla="val 5000"/>
            </a:avLst>
          </a:prstGeom>
          <a:solidFill>
            <a:srgbClr val="11202F"/>
          </a:solidFill>
          <a:ln w="12700">
            <a:solidFill>
              <a:srgbClr val="E3B341"/>
            </a:solidFill>
            <a:prstDash val="solid"/>
          </a:ln>
        </p:spPr>
      </p:sp>
      <p:sp>
        <p:nvSpPr>
          <p:cNvPr id="18" name="Text 15"/>
          <p:cNvSpPr txBox="1"/>
          <p:nvPr/>
        </p:nvSpPr>
        <p:spPr>
          <a:xfrm>
            <a:off x="822960" y="4901184"/>
            <a:ext cx="10543032" cy="804672"/>
          </a:xfrm>
          <a:prstGeom prst="rect">
            <a:avLst/>
          </a:prstGeom>
          <a:noFill/>
          <a:ln/>
        </p:spPr>
        <p:txBody>
          <a:bodyPr wrap="square" lIns="0" tIns="0" rIns="0" bIns="0" rtlCol="0" anchor="ctr"/>
          <a:lstStyle/>
          <a:p>
            <a:pPr indent="0" marL="0">
              <a:buNone/>
            </a:pPr>
            <a:r>
              <a:rPr lang="en-US" sz="1250" b="1" dirty="0">
                <a:solidFill>
                  <a:srgbClr val="E3B341"/>
                </a:solidFill>
                <a:latin typeface="Calibri" pitchFamily="34" charset="0"/>
                <a:ea typeface="Calibri" pitchFamily="34" charset="-122"/>
                <a:cs typeface="Calibri" pitchFamily="34" charset="-120"/>
              </a:rPr>
              <a:t>Residual second-order effect:  </a:t>
            </a:r>
            <a:r>
              <a:rPr lang="en-US" sz="1250" dirty="0">
                <a:solidFill>
                  <a:srgbClr val="E6EDF3"/>
                </a:solidFill>
                <a:latin typeface="Calibri" pitchFamily="34" charset="0"/>
                <a:ea typeface="Calibri" pitchFamily="34" charset="-122"/>
                <a:cs typeface="Calibri" pitchFamily="34" charset="-120"/>
              </a:rPr>
              <a:t>as the input cone moves, the mirrored targets move with it. Monitored, not assumed away — report the target-variance under the learned cone vs the fixed cone at every eval; a drop &gt; 10 % is a flag.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WHAT IT COSTS</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500" b="1" dirty="0">
                <a:solidFill>
                  <a:srgbClr val="E6EDF3"/>
                </a:solidFill>
                <a:latin typeface="Georgia" pitchFamily="34" charset="0"/>
                <a:ea typeface="Georgia" pitchFamily="34" charset="-122"/>
                <a:cs typeface="Georgia" pitchFamily="34" charset="-120"/>
              </a:rPr>
              <a:t>Tokens, gathers, parameters — the same regime as v2</a:t>
            </a:r>
            <a:endParaRPr lang="en-US" sz="25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2743200"/>
                <a:gridCol w="5971032"/>
              </a:tblGrid>
              <a:tr h="310896">
                <a:tc>
                  <a:txBody>
                    <a:bodyPr/>
                    <a:lstStyle/>
                    <a:p>
                      <a:pPr indent="0" marL="0">
                        <a:buNone/>
                      </a:pP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7D8590"/>
                          </a:solidFill>
                          <a:latin typeface="Calibri" pitchFamily="34" charset="0"/>
                          <a:ea typeface="Calibri" pitchFamily="34" charset="-122"/>
                          <a:cs typeface="Calibri" pitchFamily="34" charset="-120"/>
                        </a:rPr>
                        <a:t>E-069 (measured)</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this design (budget)</a:t>
                      </a:r>
                      <a:endParaRPr lang="en-US" sz="115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waist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42 patch tokens (14 ch × 3×3)</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13 per-location tokens carrying all surface channels</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530352">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past cone</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706 dot tokens</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phase 1: 6 lags × (1 + 36 candidates) × 4 groups ≈ 888  ·  phase 2: 6 × (1 + 24 ellipse + 24 ring) × 4 ≈ 1,176</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Argo</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192 (32 × 6, column only)</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26 profile tokens (E-071 §3)</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530352">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targets</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42 + 84</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256 dot queries per example, drawn from the future cone and the hidden waist / dots (as n_dot_queries today)</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geometry parameters</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 1.6 M nominal, ~half live (slide 12); no compute</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530352">
                <a:tc>
                  <a:txBody>
                    <a:bodyPr/>
                    <a:lstStyle/>
                    <a:p>
                      <a:pPr indent="0" marL="0">
                        <a:buNone/>
                      </a:pPr>
                      <a:r>
                        <a:rPr lang="en-US" sz="1100" b="1" dirty="0">
                          <a:solidFill>
                            <a:srgbClr val="E6EDF3"/>
                          </a:solidFill>
                          <a:latin typeface="Calibri" pitchFamily="34" charset="0"/>
                          <a:ea typeface="Calibri" pitchFamily="34" charset="-122"/>
                          <a:cs typeface="Calibri" pitchFamily="34" charset="-120"/>
                        </a:rPr>
                        <a:t>extra per-tensor artefact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alibri" pitchFamily="34" charset="0"/>
                          <a:ea typeface="Calibri" pitchFamily="34" charset="-122"/>
                          <a:cs typeface="Calibri" pitchFamily="34" charset="-120"/>
                        </a:rPr>
                        <a:t>none (revision 1's pyramid is gone); the per-region dot tables re-baked at epoch boundaries are small</a:t>
                      </a:r>
                      <a:endParaRPr lang="en-US" sz="1100" dirty="0">
                        <a:latin typeface="Calibri" charset="0"/>
                        <a:ea typeface="Calibri" charset="0"/>
                        <a:cs typeface="Calibri" charset="0"/>
                      </a:endParaRPr>
                    </a:p>
                  </a:txBody>
                  <a:tcPr marL="88900" marR="889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bl>
          </a:graphicData>
        </a:graphic>
      </p:graphicFrame>
      <p:sp>
        <p:nvSpPr>
          <p:cNvPr id="8" name="Shape 4"/>
          <p:cNvSpPr/>
          <p:nvPr/>
        </p:nvSpPr>
        <p:spPr>
          <a:xfrm>
            <a:off x="548640" y="4800600"/>
            <a:ext cx="11091672" cy="1280160"/>
          </a:xfrm>
          <a:prstGeom prst="roundRect">
            <a:avLst>
              <a:gd name="adj" fmla="val 4286"/>
            </a:avLst>
          </a:prstGeom>
          <a:solidFill>
            <a:srgbClr val="161B22"/>
          </a:solidFill>
          <a:ln w="12700">
            <a:solidFill>
              <a:srgbClr val="30363D"/>
            </a:solidFill>
            <a:prstDash val="solid"/>
          </a:ln>
        </p:spPr>
      </p:sp>
      <p:sp>
        <p:nvSpPr>
          <p:cNvPr id="9" name="Text 5"/>
          <p:cNvSpPr txBox="1"/>
          <p:nvPr/>
        </p:nvSpPr>
        <p:spPr>
          <a:xfrm>
            <a:off x="804672" y="5001768"/>
            <a:ext cx="10579608" cy="914400"/>
          </a:xfrm>
          <a:prstGeom prst="rect">
            <a:avLst/>
          </a:prstGeom>
          <a:noFill/>
          <a:ln/>
        </p:spPr>
        <p:txBody>
          <a:bodyPr wrap="square" lIns="0" tIns="0" rIns="0" bIns="0" rtlCol="0" anchor="ctr"/>
          <a:lstStyle/>
          <a:p>
            <a:pPr marL="203200" indent="-203200">
              <a:spcAft>
                <a:spcPts val="700"/>
              </a:spcAft>
              <a:buSzPct val="100000"/>
              <a:buChar char="•"/>
            </a:pPr>
            <a:r>
              <a:rPr lang="en-US" sz="1150" dirty="0">
                <a:solidFill>
                  <a:srgbClr val="E6EDF3"/>
                </a:solidFill>
                <a:latin typeface="Calibri" pitchFamily="34" charset="0"/>
                <a:ea typeface="Calibri" pitchFamily="34" charset="-122"/>
                <a:cs typeface="Calibri" pitchFamily="34" charset="-120"/>
              </a:rPr>
              <a:t>Perceiver cost is linear in tokens: ~1.2× (phase 1) to ~1.6× (phase 2) E-069's encoder time, inside v2's own 2.1× estimate; the aperture weights are one elementwise multiply per token</a:t>
            </a:r>
            <a:endParaRPr lang="en-US" sz="1150" dirty="0"/>
          </a:p>
          <a:p>
            <a:pPr marL="203200" indent="-203200">
              <a:spcAft>
                <a:spcPts val="700"/>
              </a:spcAft>
              <a:buSzPct val="100000"/>
              <a:buChar char="•"/>
            </a:pPr>
            <a:r>
              <a:rPr lang="en-US" sz="1150" dirty="0">
                <a:solidFill>
                  <a:srgbClr val="E6EDF3"/>
                </a:solidFill>
                <a:latin typeface="Calibri" pitchFamily="34" charset="0"/>
                <a:ea typeface="Calibri" pitchFamily="34" charset="-122"/>
                <a:cs typeface="Calibri" pitchFamily="34" charset="-120"/>
              </a:rPr>
              <a:t>Training cost per seed: E-069 seeds ran under one 4090-hour on the North Atlantic; budget 2–3 4090-hours per seed on the global tensor</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THE EXPERIMENT — E-080, PRE-REGISTERED</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600" b="1" dirty="0">
                <a:solidFill>
                  <a:srgbClr val="E6EDF3"/>
                </a:solidFill>
                <a:latin typeface="Georgia" pitchFamily="34" charset="0"/>
                <a:ea typeface="Georgia" pitchFamily="34" charset="-122"/>
                <a:cs typeface="Georgia" pitchFamily="34" charset="-120"/>
              </a:rPr>
              <a:t>Three arms, three seeds, four read-outs, one verdict rule</a:t>
            </a:r>
            <a:endParaRPr lang="en-US" sz="26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444752"/>
            <a:ext cx="3557016" cy="1783080"/>
          </a:xfrm>
          <a:prstGeom prst="roundRect">
            <a:avLst>
              <a:gd name="adj" fmla="val 3077"/>
            </a:avLst>
          </a:prstGeom>
          <a:solidFill>
            <a:srgbClr val="161B22"/>
          </a:solidFill>
          <a:ln w="12700">
            <a:solidFill>
              <a:srgbClr val="30363D"/>
            </a:solidFill>
            <a:prstDash val="solid"/>
          </a:ln>
        </p:spPr>
      </p:sp>
      <p:sp>
        <p:nvSpPr>
          <p:cNvPr id="8" name="Text 5"/>
          <p:cNvSpPr txBox="1"/>
          <p:nvPr/>
        </p:nvSpPr>
        <p:spPr>
          <a:xfrm>
            <a:off x="786384" y="1591056"/>
            <a:ext cx="3081528" cy="14904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A0 · fixed</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The hourglass with the v2 geometry (isotropic ellipses, ring, mirror), no learning — the control, and the eval geometry for everyone</a:t>
            </a:r>
            <a:endParaRPr lang="en-US" sz="1250" dirty="0"/>
          </a:p>
        </p:txBody>
      </p:sp>
      <p:sp>
        <p:nvSpPr>
          <p:cNvPr id="9" name="Shape 6"/>
          <p:cNvSpPr/>
          <p:nvPr/>
        </p:nvSpPr>
        <p:spPr>
          <a:xfrm>
            <a:off x="4315968" y="1444752"/>
            <a:ext cx="3557016" cy="1783080"/>
          </a:xfrm>
          <a:prstGeom prst="roundRect">
            <a:avLst>
              <a:gd name="adj" fmla="val 3077"/>
            </a:avLst>
          </a:prstGeom>
          <a:solidFill>
            <a:srgbClr val="161B22"/>
          </a:solidFill>
          <a:ln w="12700">
            <a:solidFill>
              <a:srgbClr val="30363D"/>
            </a:solidFill>
            <a:prstDash val="solid"/>
          </a:ln>
        </p:spPr>
      </p:sp>
      <p:sp>
        <p:nvSpPr>
          <p:cNvPr id="10" name="Text 7"/>
          <p:cNvSpPr txBox="1"/>
          <p:nvPr/>
        </p:nvSpPr>
        <p:spPr>
          <a:xfrm>
            <a:off x="4553712" y="1591056"/>
            <a:ext cx="3081528" cy="1490472"/>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A1 · learned</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The eight numbers per region plus the per-channel scales, gate-then-harden (slide 11), initialised at A0</a:t>
            </a:r>
            <a:endParaRPr lang="en-US" sz="1250" dirty="0"/>
          </a:p>
        </p:txBody>
      </p:sp>
      <p:sp>
        <p:nvSpPr>
          <p:cNvPr id="11" name="Shape 8"/>
          <p:cNvSpPr/>
          <p:nvPr/>
        </p:nvSpPr>
        <p:spPr>
          <a:xfrm>
            <a:off x="8083296" y="1444752"/>
            <a:ext cx="3557016" cy="1783080"/>
          </a:xfrm>
          <a:prstGeom prst="roundRect">
            <a:avLst>
              <a:gd name="adj" fmla="val 3077"/>
            </a:avLst>
          </a:prstGeom>
          <a:solidFill>
            <a:srgbClr val="161B22"/>
          </a:solidFill>
          <a:ln w="12700">
            <a:solidFill>
              <a:srgbClr val="30363D"/>
            </a:solidFill>
            <a:prstDash val="solid"/>
          </a:ln>
        </p:spPr>
      </p:sp>
      <p:sp>
        <p:nvSpPr>
          <p:cNvPr id="12" name="Text 9"/>
          <p:cNvSpPr txBox="1"/>
          <p:nvPr/>
        </p:nvSpPr>
        <p:spPr>
          <a:xfrm>
            <a:off x="8321040" y="1591056"/>
            <a:ext cx="3081528" cy="1490472"/>
          </a:xfrm>
          <a:prstGeom prst="rect">
            <a:avLst/>
          </a:prstGeom>
          <a:noFill/>
          <a:ln/>
        </p:spPr>
        <p:txBody>
          <a:bodyPr wrap="square" lIns="0" tIns="0" rIns="0" bIns="0" rtlCol="0" anchor="ctr"/>
          <a:lstStyle/>
          <a:p>
            <a:pPr indent="0" marL="0">
              <a:spcAft>
                <a:spcPts val="800"/>
              </a:spcAft>
              <a:buNone/>
            </a:pPr>
            <a:r>
              <a:rPr lang="en-US" sz="1250" b="1" dirty="0">
                <a:solidFill>
                  <a:srgbClr val="E3B341"/>
                </a:solidFill>
                <a:latin typeface="Calibri" pitchFamily="34" charset="0"/>
                <a:ea typeface="Calibri" pitchFamily="34" charset="-122"/>
                <a:cs typeface="Calibri" pitchFamily="34" charset="-120"/>
              </a:rPr>
              <a:t>A2 · learned, primed</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As A1, but </a:t>
            </a:r>
            <a:r>
              <a:rPr lang="en-US" sz="1050" b="1" dirty="0">
                <a:solidFill>
                  <a:srgbClr val="4493F8"/>
                </a:solidFill>
                <a:latin typeface="Calibri" pitchFamily="34" charset="0"/>
                <a:ea typeface="Calibri" pitchFamily="34" charset="-122"/>
                <a:cs typeface="Calibri" pitchFamily="34" charset="-120"/>
              </a:rPr>
              <a:t>d</a:t>
            </a:r>
            <a:r>
              <a:rPr lang="en-US" sz="1050" dirty="0">
                <a:solidFill>
                  <a:srgbClr val="E6EDF3"/>
                </a:solidFill>
                <a:latin typeface="Calibri" pitchFamily="34" charset="0"/>
                <a:ea typeface="Calibri" pitchFamily="34" charset="-122"/>
                <a:cs typeface="Calibri" pitchFamily="34" charset="-120"/>
              </a:rPr>
              <a:t> initialised at −u_clim · Δt (the climatological surface current, reversed) for the ocean surface group — tests whether the gradient can find upstream on its own (A1) or only keep it (A2)</a:t>
            </a:r>
            <a:endParaRPr lang="en-US" sz="1250" dirty="0"/>
          </a:p>
        </p:txBody>
      </p:sp>
      <p:sp>
        <p:nvSpPr>
          <p:cNvPr id="13" name="Text 10"/>
          <p:cNvSpPr txBox="1"/>
          <p:nvPr/>
        </p:nvSpPr>
        <p:spPr>
          <a:xfrm>
            <a:off x="548640" y="3310128"/>
            <a:ext cx="11091672" cy="27432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Held fixed: </a:t>
            </a:r>
            <a:r>
              <a:rPr lang="en-US" sz="1150" dirty="0">
                <a:solidFill>
                  <a:srgbClr val="7D8590"/>
                </a:solidFill>
                <a:latin typeface="Calibri" pitchFamily="34" charset="0"/>
                <a:ea typeface="Calibri" pitchFamily="34" charset="-122"/>
                <a:cs typeface="Calibri" pitchFamily="34" charset="-120"/>
              </a:rPr>
              <a:t>same tensor (family 7.2, global), same 7 M codec, 20 k steps, frozen protocol (train ≤ 2020; 2008–09, 2016–17, 2021–24 held out), 3 seeds each.</a:t>
            </a:r>
            <a:endParaRPr lang="en-US" sz="1150" dirty="0"/>
          </a:p>
        </p:txBody>
      </p:sp>
      <p:sp>
        <p:nvSpPr>
          <p:cNvPr id="14" name="Shape 11"/>
          <p:cNvSpPr/>
          <p:nvPr/>
        </p:nvSpPr>
        <p:spPr>
          <a:xfrm>
            <a:off x="548640" y="3639312"/>
            <a:ext cx="11091672" cy="1298448"/>
          </a:xfrm>
          <a:prstGeom prst="roundRect">
            <a:avLst>
              <a:gd name="adj" fmla="val 4225"/>
            </a:avLst>
          </a:prstGeom>
          <a:solidFill>
            <a:srgbClr val="161B22"/>
          </a:solidFill>
          <a:ln w="12700">
            <a:solidFill>
              <a:srgbClr val="30363D"/>
            </a:solidFill>
            <a:prstDash val="solid"/>
          </a:ln>
        </p:spPr>
      </p:sp>
      <p:sp>
        <p:nvSpPr>
          <p:cNvPr id="15" name="Text 12"/>
          <p:cNvSpPr txBox="1"/>
          <p:nvPr/>
        </p:nvSpPr>
        <p:spPr>
          <a:xfrm>
            <a:off x="822960" y="3767328"/>
            <a:ext cx="10543032" cy="1042416"/>
          </a:xfrm>
          <a:prstGeom prst="rect">
            <a:avLst/>
          </a:prstGeom>
          <a:noFill/>
          <a:ln/>
        </p:spPr>
        <p:txBody>
          <a:bodyPr wrap="square" lIns="0" tIns="0" rIns="0" bIns="0" rtlCol="0" anchor="t"/>
          <a:lstStyle/>
          <a:p>
            <a:pPr indent="0" marL="0">
              <a:spcAft>
                <a:spcPts val="500"/>
              </a:spcAft>
              <a:buNone/>
            </a:pPr>
            <a:r>
              <a:rPr lang="en-US" sz="1100" b="1" dirty="0">
                <a:solidFill>
                  <a:srgbClr val="4493F8"/>
                </a:solidFill>
                <a:latin typeface="Calibri" pitchFamily="34" charset="0"/>
                <a:ea typeface="Calibri" pitchFamily="34" charset="-122"/>
                <a:cs typeface="Calibri" pitchFamily="34" charset="-120"/>
              </a:rPr>
              <a:t>R1</a:t>
            </a:r>
            <a:r>
              <a:rPr lang="en-US" sz="1100" dirty="0">
                <a:solidFill>
                  <a:srgbClr val="E6EDF3"/>
                </a:solidFill>
                <a:latin typeface="Calibri" pitchFamily="34" charset="0"/>
                <a:ea typeface="Calibri" pitchFamily="34" charset="-122"/>
                <a:cs typeface="Calibri" pitchFamily="34" charset="-120"/>
              </a:rPr>
              <a:t> T1 future-cone loss per lead vs bar  ·  </a:t>
            </a:r>
            <a:r>
              <a:rPr lang="en-US" sz="1100" b="1" dirty="0">
                <a:solidFill>
                  <a:srgbClr val="4493F8"/>
                </a:solidFill>
                <a:latin typeface="Calibri" pitchFamily="34" charset="0"/>
                <a:ea typeface="Calibri" pitchFamily="34" charset="-122"/>
                <a:cs typeface="Calibri" pitchFamily="34" charset="-120"/>
              </a:rPr>
              <a:t>R2</a:t>
            </a:r>
            <a:r>
              <a:rPr lang="en-US" sz="1100" dirty="0">
                <a:solidFill>
                  <a:srgbClr val="E6EDF3"/>
                </a:solidFill>
                <a:latin typeface="Calibri" pitchFamily="34" charset="0"/>
                <a:ea typeface="Calibri" pitchFamily="34" charset="-122"/>
                <a:cs typeface="Calibri" pitchFamily="34" charset="-120"/>
              </a:rPr>
              <a:t> the T1 − T2 gap (what history buys)  ·  </a:t>
            </a:r>
            <a:r>
              <a:rPr lang="en-US" sz="1100" b="1" dirty="0">
                <a:solidFill>
                  <a:srgbClr val="4493F8"/>
                </a:solidFill>
                <a:latin typeface="Calibri" pitchFamily="34" charset="0"/>
                <a:ea typeface="Calibri" pitchFamily="34" charset="-122"/>
                <a:cs typeface="Calibri" pitchFamily="34" charset="-120"/>
              </a:rPr>
              <a:t>R3</a:t>
            </a:r>
            <a:r>
              <a:rPr lang="en-US" sz="1100" dirty="0">
                <a:solidFill>
                  <a:srgbClr val="E6EDF3"/>
                </a:solidFill>
                <a:latin typeface="Calibri" pitchFamily="34" charset="0"/>
                <a:ea typeface="Calibri" pitchFamily="34" charset="-122"/>
                <a:cs typeface="Calibri" pitchFamily="34" charset="-120"/>
              </a:rPr>
              <a:t> drift-vs-upstream correlation, world ocean, |u_clim| &gt; 0.2 m/s</a:t>
            </a:r>
            <a:endParaRPr lang="en-US" sz="1100" dirty="0"/>
          </a:p>
          <a:p>
            <a:pPr indent="0" marL="0">
              <a:spcAft>
                <a:spcPts val="500"/>
              </a:spcAft>
              <a:buNone/>
            </a:pPr>
            <a:r>
              <a:rPr lang="en-US" sz="1100" b="1" dirty="0">
                <a:solidFill>
                  <a:srgbClr val="4493F8"/>
                </a:solidFill>
                <a:latin typeface="Calibri" pitchFamily="34" charset="0"/>
                <a:ea typeface="Calibri" pitchFamily="34" charset="-122"/>
                <a:cs typeface="Calibri" pitchFamily="34" charset="-120"/>
              </a:rPr>
              <a:t>R4</a:t>
            </a:r>
            <a:r>
              <a:rPr lang="en-US" sz="1100" dirty="0">
                <a:solidFill>
                  <a:srgbClr val="E6EDF3"/>
                </a:solidFill>
                <a:latin typeface="Calibri" pitchFamily="34" charset="0"/>
                <a:ea typeface="Calibri" pitchFamily="34" charset="-122"/>
                <a:cs typeface="Calibri" pitchFamily="34" charset="-120"/>
              </a:rPr>
              <a:t> the western-boundary depth check — surface drift south-west (geometry); attention mass on deep (&gt; 1000 dbar) profile tokens north of the anchor, on shallow ones south (attention diagnostic)</a:t>
            </a:r>
            <a:endParaRPr lang="en-US" sz="1100" dirty="0"/>
          </a:p>
          <a:p>
            <a:pPr indent="0" marL="0">
              <a:spcAft>
                <a:spcPts val="500"/>
              </a:spcAft>
              <a:buNone/>
            </a:pPr>
            <a:r>
              <a:rPr lang="en-US" sz="1100" b="1" dirty="0">
                <a:solidFill>
                  <a:srgbClr val="4493F8"/>
                </a:solidFill>
                <a:latin typeface="Calibri" pitchFamily="34" charset="0"/>
                <a:ea typeface="Calibri" pitchFamily="34" charset="-122"/>
                <a:cs typeface="Calibri" pitchFamily="34" charset="-120"/>
              </a:rPr>
              <a:t>R5</a:t>
            </a:r>
            <a:r>
              <a:rPr lang="en-US" sz="1100" dirty="0">
                <a:solidFill>
                  <a:srgbClr val="E6EDF3"/>
                </a:solidFill>
                <a:latin typeface="Calibri" pitchFamily="34" charset="0"/>
                <a:ea typeface="Calibri" pitchFamily="34" charset="-122"/>
                <a:cs typeface="Calibri" pitchFamily="34" charset="-120"/>
              </a:rPr>
              <a:t> target-variance flag (slide 15)</a:t>
            </a:r>
            <a:endParaRPr lang="en-US" sz="1100" dirty="0"/>
          </a:p>
        </p:txBody>
      </p:sp>
      <p:sp>
        <p:nvSpPr>
          <p:cNvPr id="16" name="Shape 13"/>
          <p:cNvSpPr/>
          <p:nvPr/>
        </p:nvSpPr>
        <p:spPr>
          <a:xfrm>
            <a:off x="548640" y="5029200"/>
            <a:ext cx="11091672" cy="1188720"/>
          </a:xfrm>
          <a:prstGeom prst="roundRect">
            <a:avLst>
              <a:gd name="adj" fmla="val 4615"/>
            </a:avLst>
          </a:prstGeom>
          <a:solidFill>
            <a:srgbClr val="11202F"/>
          </a:solidFill>
          <a:ln w="12700">
            <a:solidFill>
              <a:srgbClr val="E3B341"/>
            </a:solidFill>
            <a:prstDash val="solid"/>
          </a:ln>
        </p:spPr>
      </p:sp>
      <p:sp>
        <p:nvSpPr>
          <p:cNvPr id="17" name="Text 14"/>
          <p:cNvSpPr txBox="1"/>
          <p:nvPr/>
        </p:nvSpPr>
        <p:spPr>
          <a:xfrm>
            <a:off x="822960" y="5138928"/>
            <a:ext cx="10543032" cy="969264"/>
          </a:xfrm>
          <a:prstGeom prst="rect">
            <a:avLst/>
          </a:prstGeom>
          <a:noFill/>
          <a:ln/>
        </p:spPr>
        <p:txBody>
          <a:bodyPr wrap="square" lIns="0" tIns="0" rIns="0" bIns="0" rtlCol="0" anchor="ctr"/>
          <a:lstStyle/>
          <a:p>
            <a:pPr indent="0" marL="0">
              <a:buNone/>
            </a:pPr>
            <a:r>
              <a:rPr lang="en-US" sz="1150" b="1" dirty="0">
                <a:solidFill>
                  <a:srgbClr val="E3B341"/>
                </a:solidFill>
                <a:latin typeface="Calibri" pitchFamily="34" charset="0"/>
                <a:ea typeface="Calibri" pitchFamily="34" charset="-122"/>
                <a:cs typeface="Calibri" pitchFamily="34" charset="-120"/>
              </a:rPr>
              <a:t>Verdict:  </a:t>
            </a:r>
            <a:r>
              <a:rPr lang="en-US" sz="1150" dirty="0">
                <a:solidFill>
                  <a:srgbClr val="E6EDF3"/>
                </a:solidFill>
                <a:latin typeface="Calibri" pitchFamily="34" charset="0"/>
                <a:ea typeface="Calibri" pitchFamily="34" charset="-122"/>
                <a:cs typeface="Calibri" pitchFamily="34" charset="-120"/>
              </a:rPr>
              <a:t>A1 adopted if it beats A0 on R1 at every lead ≤ 3, paired at all three seeds, with R5 clean. A2 &gt; A1 with A1 ≈ A0 means the gradient cannot find upstream — then geometry is set from climatology, not learned. Neither → keep A0 and move to a dynamic (per-example) cone.   </a:t>
            </a:r>
            <a:r>
              <a:rPr lang="en-US" sz="1150" b="1" dirty="0">
                <a:solidFill>
                  <a:srgbClr val="E3B341"/>
                </a:solidFill>
                <a:latin typeface="Calibri" pitchFamily="34" charset="0"/>
                <a:ea typeface="Calibri" pitchFamily="34" charset="-122"/>
                <a:cs typeface="Calibri" pitchFamily="34" charset="-120"/>
              </a:rPr>
              <a:t>First ablation after the arms: </a:t>
            </a:r>
            <a:r>
              <a:rPr lang="en-US" sz="1150" dirty="0">
                <a:solidFill>
                  <a:srgbClr val="E6EDF3"/>
                </a:solidFill>
                <a:latin typeface="Calibri" pitchFamily="34" charset="0"/>
                <a:ea typeface="Calibri" pitchFamily="34" charset="-122"/>
                <a:cs typeface="Calibri" pitchFamily="34" charset="-120"/>
              </a:rPr>
              <a:t>A1 without the far ring — does the ring pay for its tokens?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BUILD ORDER</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Five steps, each with its test</a:t>
            </a:r>
            <a:endParaRPr lang="en-US" sz="3000" dirty="0"/>
          </a:p>
        </p:txBody>
      </p:sp>
      <p:sp>
        <p:nvSpPr>
          <p:cNvPr id="4" name="Text 2"/>
          <p:cNvSpPr txBox="1"/>
          <p:nvPr/>
        </p:nvSpPr>
        <p:spPr>
          <a:xfrm>
            <a:off x="548640" y="1243584"/>
            <a:ext cx="11091672" cy="274320"/>
          </a:xfrm>
          <a:prstGeom prst="rect">
            <a:avLst/>
          </a:prstGeom>
          <a:noFill/>
          <a:ln/>
        </p:spPr>
        <p:txBody>
          <a:bodyPr wrap="square" lIns="0" tIns="0" rIns="0" bIns="0" rtlCol="0" anchor="ctr"/>
          <a:lstStyle/>
          <a:p>
            <a:pPr indent="0" marL="0">
              <a:buNone/>
            </a:pPr>
            <a:r>
              <a:rPr lang="en-US" sz="1350" dirty="0">
                <a:solidFill>
                  <a:srgbClr val="7D8590"/>
                </a:solidFill>
                <a:latin typeface="Calibri" pitchFamily="34" charset="0"/>
                <a:ea typeface="Calibri" pitchFamily="34" charset="-122"/>
                <a:cs typeface="Calibri" pitchFamily="34" charset="-120"/>
              </a:rPr>
              <a:t>in ml/cone.py · ml/cone_sampler.py · ml/cone_codec.py · ml/train_cone.py</a:t>
            </a:r>
            <a:endParaRPr lang="en-US" sz="1350" dirty="0"/>
          </a:p>
        </p:txBody>
      </p:sp>
      <p:sp>
        <p:nvSpPr>
          <p:cNvPr id="5" name="Text 3"/>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6" name="Text 4"/>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18</a:t>
            </a:r>
            <a:endParaRPr lang="en-US" sz="1000" dirty="0"/>
          </a:p>
        </p:txBody>
      </p:sp>
      <p:sp>
        <p:nvSpPr>
          <p:cNvPr id="8" name="Shape 5"/>
          <p:cNvSpPr/>
          <p:nvPr/>
        </p:nvSpPr>
        <p:spPr>
          <a:xfrm>
            <a:off x="548640" y="1645920"/>
            <a:ext cx="11091672" cy="768096"/>
          </a:xfrm>
          <a:prstGeom prst="roundRect">
            <a:avLst>
              <a:gd name="adj" fmla="val 7143"/>
            </a:avLst>
          </a:prstGeom>
          <a:solidFill>
            <a:srgbClr val="161B22"/>
          </a:solidFill>
          <a:ln w="12700">
            <a:solidFill>
              <a:srgbClr val="30363D"/>
            </a:solidFill>
            <a:prstDash val="solid"/>
          </a:ln>
        </p:spPr>
      </p:sp>
      <p:sp>
        <p:nvSpPr>
          <p:cNvPr id="9" name="Shape 6"/>
          <p:cNvSpPr/>
          <p:nvPr/>
        </p:nvSpPr>
        <p:spPr>
          <a:xfrm>
            <a:off x="768096" y="1874520"/>
            <a:ext cx="310896" cy="310896"/>
          </a:xfrm>
          <a:prstGeom prst="ellipse">
            <a:avLst/>
          </a:prstGeom>
          <a:solidFill>
            <a:srgbClr val="1F3A5F"/>
          </a:solidFill>
          <a:ln w="12700">
            <a:solidFill>
              <a:srgbClr val="4493F8"/>
            </a:solidFill>
            <a:prstDash val="solid"/>
          </a:ln>
        </p:spPr>
      </p:sp>
      <p:sp>
        <p:nvSpPr>
          <p:cNvPr id="10" name="Text 7"/>
          <p:cNvSpPr txBox="1"/>
          <p:nvPr/>
        </p:nvSpPr>
        <p:spPr>
          <a:xfrm>
            <a:off x="768096" y="1874520"/>
            <a:ext cx="310896" cy="310896"/>
          </a:xfrm>
          <a:prstGeom prst="rect">
            <a:avLst/>
          </a:prstGeom>
          <a:noFill/>
          <a:ln/>
        </p:spPr>
        <p:txBody>
          <a:bodyPr wrap="square" lIns="0" tIns="0" rIns="0" bIns="0" rtlCol="0" anchor="ctr"/>
          <a:lstStyle/>
          <a:p>
            <a:pPr algn="ctr" indent="0" marL="0">
              <a:buNone/>
            </a:pPr>
            <a:r>
              <a:rPr lang="en-US" sz="1200" b="1" dirty="0">
                <a:solidFill>
                  <a:srgbClr val="4493F8"/>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1207008" y="1755648"/>
            <a:ext cx="10195560" cy="54864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Waist + future cone in the geometry (cone.py)  </a:t>
            </a:r>
            <a:r>
              <a:rPr lang="en-US" sz="1050" dirty="0">
                <a:solidFill>
                  <a:srgbClr val="7D8590"/>
                </a:solidFill>
                <a:latin typeface="Calibri" pitchFamily="34" charset="0"/>
                <a:ea typeface="Calibri" pitchFamily="34" charset="-122"/>
                <a:cs typeface="Calibri" pitchFamily="34" charset="-120"/>
              </a:rPr>
              <a:t>waist_dots, future_dots = reflected inner_dots, the per-lag golden-angle phase in inner_dots; coverage_report extended with the mirror identity (future set = −past set) and re-asserted per lag under the phase — pure numpy, CPU test</a:t>
            </a:r>
            <a:endParaRPr lang="en-US" sz="1150" dirty="0"/>
          </a:p>
        </p:txBody>
      </p:sp>
      <p:sp>
        <p:nvSpPr>
          <p:cNvPr id="12" name="Shape 9"/>
          <p:cNvSpPr/>
          <p:nvPr/>
        </p:nvSpPr>
        <p:spPr>
          <a:xfrm>
            <a:off x="548640" y="2468880"/>
            <a:ext cx="11091672" cy="768096"/>
          </a:xfrm>
          <a:prstGeom prst="roundRect">
            <a:avLst>
              <a:gd name="adj" fmla="val 7143"/>
            </a:avLst>
          </a:prstGeom>
          <a:solidFill>
            <a:srgbClr val="161B22"/>
          </a:solidFill>
          <a:ln w="12700">
            <a:solidFill>
              <a:srgbClr val="30363D"/>
            </a:solidFill>
            <a:prstDash val="solid"/>
          </a:ln>
        </p:spPr>
      </p:sp>
      <p:sp>
        <p:nvSpPr>
          <p:cNvPr id="13" name="Shape 10"/>
          <p:cNvSpPr/>
          <p:nvPr/>
        </p:nvSpPr>
        <p:spPr>
          <a:xfrm>
            <a:off x="768096" y="2697480"/>
            <a:ext cx="310896" cy="310896"/>
          </a:xfrm>
          <a:prstGeom prst="ellipse">
            <a:avLst/>
          </a:prstGeom>
          <a:solidFill>
            <a:srgbClr val="1F3A5F"/>
          </a:solidFill>
          <a:ln w="12700">
            <a:solidFill>
              <a:srgbClr val="4493F8"/>
            </a:solidFill>
            <a:prstDash val="solid"/>
          </a:ln>
        </p:spPr>
      </p:sp>
      <p:sp>
        <p:nvSpPr>
          <p:cNvPr id="14" name="Text 11"/>
          <p:cNvSpPr txBox="1"/>
          <p:nvPr/>
        </p:nvSpPr>
        <p:spPr>
          <a:xfrm>
            <a:off x="768096" y="2697480"/>
            <a:ext cx="310896" cy="310896"/>
          </a:xfrm>
          <a:prstGeom prst="rect">
            <a:avLst/>
          </a:prstGeom>
          <a:noFill/>
          <a:ln/>
        </p:spPr>
        <p:txBody>
          <a:bodyPr wrap="square" lIns="0" tIns="0" rIns="0" bIns="0" rtlCol="0" anchor="ctr"/>
          <a:lstStyle/>
          <a:p>
            <a:pPr algn="ctr" indent="0" marL="0">
              <a:buNone/>
            </a:pPr>
            <a:r>
              <a:rPr lang="en-US" sz="1200" b="1" dirty="0">
                <a:solidFill>
                  <a:srgbClr val="4493F8"/>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1207008" y="2578608"/>
            <a:ext cx="10195560" cy="54864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The task mix (cone_codec.py::default_plan → plan_v3)  </a:t>
            </a:r>
            <a:r>
              <a:rPr lang="en-US" sz="1050" dirty="0">
                <a:solidFill>
                  <a:srgbClr val="7D8590"/>
                </a:solidFill>
                <a:latin typeface="Calibri" pitchFamily="34" charset="0"/>
                <a:ea typeface="Calibri" pitchFamily="34" charset="-122"/>
                <a:cs typeface="Calibri" pitchFamily="34" charset="-120"/>
              </a:rPr>
              <a:t>T1–T4 with shares and the five dropout patterns; test: every target's channel is visible somewhere in the input, for 10 k drawn examples, zero violations</a:t>
            </a:r>
            <a:endParaRPr lang="en-US" sz="1150" dirty="0"/>
          </a:p>
        </p:txBody>
      </p:sp>
      <p:sp>
        <p:nvSpPr>
          <p:cNvPr id="16" name="Shape 13"/>
          <p:cNvSpPr/>
          <p:nvPr/>
        </p:nvSpPr>
        <p:spPr>
          <a:xfrm>
            <a:off x="548640" y="3291840"/>
            <a:ext cx="11091672" cy="768096"/>
          </a:xfrm>
          <a:prstGeom prst="roundRect">
            <a:avLst>
              <a:gd name="adj" fmla="val 7143"/>
            </a:avLst>
          </a:prstGeom>
          <a:solidFill>
            <a:srgbClr val="161B22"/>
          </a:solidFill>
          <a:ln w="12700">
            <a:solidFill>
              <a:srgbClr val="30363D"/>
            </a:solidFill>
            <a:prstDash val="solid"/>
          </a:ln>
        </p:spPr>
      </p:sp>
      <p:sp>
        <p:nvSpPr>
          <p:cNvPr id="17" name="Shape 14"/>
          <p:cNvSpPr/>
          <p:nvPr/>
        </p:nvSpPr>
        <p:spPr>
          <a:xfrm>
            <a:off x="768096" y="3520440"/>
            <a:ext cx="310896" cy="310896"/>
          </a:xfrm>
          <a:prstGeom prst="ellipse">
            <a:avLst/>
          </a:prstGeom>
          <a:solidFill>
            <a:srgbClr val="1F3A5F"/>
          </a:solidFill>
          <a:ln w="12700">
            <a:solidFill>
              <a:srgbClr val="4493F8"/>
            </a:solidFill>
            <a:prstDash val="solid"/>
          </a:ln>
        </p:spPr>
      </p:sp>
      <p:sp>
        <p:nvSpPr>
          <p:cNvPr id="18" name="Text 15"/>
          <p:cNvSpPr txBox="1"/>
          <p:nvPr/>
        </p:nvSpPr>
        <p:spPr>
          <a:xfrm>
            <a:off x="768096" y="3520440"/>
            <a:ext cx="310896" cy="310896"/>
          </a:xfrm>
          <a:prstGeom prst="rect">
            <a:avLst/>
          </a:prstGeom>
          <a:noFill/>
          <a:ln/>
        </p:spPr>
        <p:txBody>
          <a:bodyPr wrap="square" lIns="0" tIns="0" rIns="0" bIns="0" rtlCol="0" anchor="ctr"/>
          <a:lstStyle/>
          <a:p>
            <a:pPr algn="ctr" indent="0" marL="0">
              <a:buNone/>
            </a:pPr>
            <a:r>
              <a:rPr lang="en-US" sz="1200" b="1" dirty="0">
                <a:solidFill>
                  <a:srgbClr val="4493F8"/>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1207008" y="3401568"/>
            <a:ext cx="10195560" cy="54864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The aperture gate (cone_codec.py)  </a:t>
            </a:r>
            <a:r>
              <a:rPr lang="en-US" sz="1050" dirty="0">
                <a:solidFill>
                  <a:srgbClr val="7D8590"/>
                </a:solidFill>
                <a:latin typeface="Calibri" pitchFamily="34" charset="0"/>
                <a:ea typeface="Calibri" pitchFamily="34" charset="-122"/>
                <a:cs typeface="Calibri" pitchFamily="34" charset="-120"/>
              </a:rPr>
              <a:t>per-channel space-time weights w_{c,i,ℓ} on the per-location candidate tokens, ring ungated; test: with every s_c → +∞ and τ_c → +∞ the forward pass equals the ungated model bit-for-bit, and the finite-difference gradient of the loss w.r.t. S₀, Σ_v, d, s_c, τ_c matches autograd</a:t>
            </a:r>
            <a:endParaRPr lang="en-US" sz="1150" dirty="0"/>
          </a:p>
        </p:txBody>
      </p:sp>
      <p:sp>
        <p:nvSpPr>
          <p:cNvPr id="20" name="Shape 17"/>
          <p:cNvSpPr/>
          <p:nvPr/>
        </p:nvSpPr>
        <p:spPr>
          <a:xfrm>
            <a:off x="548640" y="4114800"/>
            <a:ext cx="11091672" cy="768096"/>
          </a:xfrm>
          <a:prstGeom prst="roundRect">
            <a:avLst>
              <a:gd name="adj" fmla="val 7143"/>
            </a:avLst>
          </a:prstGeom>
          <a:solidFill>
            <a:srgbClr val="161B22"/>
          </a:solidFill>
          <a:ln w="12700">
            <a:solidFill>
              <a:srgbClr val="30363D"/>
            </a:solidFill>
            <a:prstDash val="solid"/>
          </a:ln>
        </p:spPr>
      </p:sp>
      <p:sp>
        <p:nvSpPr>
          <p:cNvPr id="21" name="Shape 18"/>
          <p:cNvSpPr/>
          <p:nvPr/>
        </p:nvSpPr>
        <p:spPr>
          <a:xfrm>
            <a:off x="768096" y="4343400"/>
            <a:ext cx="310896" cy="310896"/>
          </a:xfrm>
          <a:prstGeom prst="ellipse">
            <a:avLst/>
          </a:prstGeom>
          <a:solidFill>
            <a:srgbClr val="1F3A5F"/>
          </a:solidFill>
          <a:ln w="12700">
            <a:solidFill>
              <a:srgbClr val="4493F8"/>
            </a:solidFill>
            <a:prstDash val="solid"/>
          </a:ln>
        </p:spPr>
      </p:sp>
      <p:sp>
        <p:nvSpPr>
          <p:cNvPr id="22" name="Text 19"/>
          <p:cNvSpPr txBox="1"/>
          <p:nvPr/>
        </p:nvSpPr>
        <p:spPr>
          <a:xfrm>
            <a:off x="768096" y="4343400"/>
            <a:ext cx="310896" cy="310896"/>
          </a:xfrm>
          <a:prstGeom prst="rect">
            <a:avLst/>
          </a:prstGeom>
          <a:noFill/>
          <a:ln/>
        </p:spPr>
        <p:txBody>
          <a:bodyPr wrap="square" lIns="0" tIns="0" rIns="0" bIns="0" rtlCol="0" anchor="ctr"/>
          <a:lstStyle/>
          <a:p>
            <a:pPr algn="ctr" indent="0" marL="0">
              <a:buNone/>
            </a:pPr>
            <a:r>
              <a:rPr lang="en-US" sz="1200" b="1" dirty="0">
                <a:solidFill>
                  <a:srgbClr val="4493F8"/>
                </a:solidFill>
                <a:latin typeface="Calibri" pitchFamily="34" charset="0"/>
                <a:ea typeface="Calibri" pitchFamily="34" charset="-122"/>
                <a:cs typeface="Calibri" pitchFamily="34" charset="-120"/>
              </a:rPr>
              <a:t>4</a:t>
            </a:r>
            <a:endParaRPr lang="en-US" sz="1200" dirty="0"/>
          </a:p>
        </p:txBody>
      </p:sp>
      <p:sp>
        <p:nvSpPr>
          <p:cNvPr id="23" name="Text 20"/>
          <p:cNvSpPr txBox="1"/>
          <p:nvPr/>
        </p:nvSpPr>
        <p:spPr>
          <a:xfrm>
            <a:off x="1207008" y="4224528"/>
            <a:ext cx="10195560" cy="54864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The parameter maps and the harden step (cone_codec.py::ConeGeometry, cone_sampler.py)  </a:t>
            </a:r>
            <a:r>
              <a:rPr lang="en-US" sz="1050" dirty="0">
                <a:solidFill>
                  <a:srgbClr val="7D8590"/>
                </a:solidFill>
                <a:latin typeface="Calibri" pitchFamily="34" charset="0"/>
                <a:ea typeface="Calibri" pitchFamily="34" charset="-122"/>
                <a:cs typeface="Calibri" pitchFamily="34" charset="-120"/>
              </a:rPr>
              <a:t>1° maps per group as coarse 10° + residual, matrix-log storage, the log-space floors, the prior, mirror, stop-gradient, init = A0; the sampler's dot table becomes a per-region lookup swapped at epoch boundaries; test: the table re-baked at init equals step 1's fixed dots to &lt; 0.1 cell, and a swap mid-run changes no read of the current epoch</a:t>
            </a:r>
            <a:endParaRPr lang="en-US" sz="1150" dirty="0"/>
          </a:p>
        </p:txBody>
      </p:sp>
      <p:sp>
        <p:nvSpPr>
          <p:cNvPr id="24" name="Shape 21"/>
          <p:cNvSpPr/>
          <p:nvPr/>
        </p:nvSpPr>
        <p:spPr>
          <a:xfrm>
            <a:off x="548640" y="4937760"/>
            <a:ext cx="11091672" cy="768096"/>
          </a:xfrm>
          <a:prstGeom prst="roundRect">
            <a:avLst>
              <a:gd name="adj" fmla="val 7143"/>
            </a:avLst>
          </a:prstGeom>
          <a:solidFill>
            <a:srgbClr val="161B22"/>
          </a:solidFill>
          <a:ln w="12700">
            <a:solidFill>
              <a:srgbClr val="30363D"/>
            </a:solidFill>
            <a:prstDash val="solid"/>
          </a:ln>
        </p:spPr>
      </p:sp>
      <p:sp>
        <p:nvSpPr>
          <p:cNvPr id="25" name="Shape 22"/>
          <p:cNvSpPr/>
          <p:nvPr/>
        </p:nvSpPr>
        <p:spPr>
          <a:xfrm>
            <a:off x="768096" y="5166360"/>
            <a:ext cx="310896" cy="310896"/>
          </a:xfrm>
          <a:prstGeom prst="ellipse">
            <a:avLst/>
          </a:prstGeom>
          <a:solidFill>
            <a:srgbClr val="1F3A5F"/>
          </a:solidFill>
          <a:ln w="12700">
            <a:solidFill>
              <a:srgbClr val="4493F8"/>
            </a:solidFill>
            <a:prstDash val="solid"/>
          </a:ln>
        </p:spPr>
      </p:sp>
      <p:sp>
        <p:nvSpPr>
          <p:cNvPr id="26" name="Text 23"/>
          <p:cNvSpPr txBox="1"/>
          <p:nvPr/>
        </p:nvSpPr>
        <p:spPr>
          <a:xfrm>
            <a:off x="768096" y="5166360"/>
            <a:ext cx="310896" cy="310896"/>
          </a:xfrm>
          <a:prstGeom prst="rect">
            <a:avLst/>
          </a:prstGeom>
          <a:noFill/>
          <a:ln/>
        </p:spPr>
        <p:txBody>
          <a:bodyPr wrap="square" lIns="0" tIns="0" rIns="0" bIns="0" rtlCol="0" anchor="ctr"/>
          <a:lstStyle/>
          <a:p>
            <a:pPr algn="ctr" indent="0" marL="0">
              <a:buNone/>
            </a:pPr>
            <a:r>
              <a:rPr lang="en-US" sz="1200" b="1" dirty="0">
                <a:solidFill>
                  <a:srgbClr val="4493F8"/>
                </a:solidFill>
                <a:latin typeface="Calibri" pitchFamily="34" charset="0"/>
                <a:ea typeface="Calibri" pitchFamily="34" charset="-122"/>
                <a:cs typeface="Calibri" pitchFamily="34" charset="-120"/>
              </a:rPr>
              <a:t>5</a:t>
            </a:r>
            <a:endParaRPr lang="en-US" sz="1200" dirty="0"/>
          </a:p>
        </p:txBody>
      </p:sp>
      <p:sp>
        <p:nvSpPr>
          <p:cNvPr id="27" name="Text 24"/>
          <p:cNvSpPr txBox="1"/>
          <p:nvPr/>
        </p:nvSpPr>
        <p:spPr>
          <a:xfrm>
            <a:off x="1207008" y="5047488"/>
            <a:ext cx="10195560" cy="54864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Read-outs in the trainer (train_cone.py)  </a:t>
            </a:r>
            <a:r>
              <a:rPr lang="en-US" sz="1050" dirty="0">
                <a:solidFill>
                  <a:srgbClr val="7D8590"/>
                </a:solidFill>
                <a:latin typeface="Calibri" pitchFamily="34" charset="0"/>
                <a:ea typeface="Calibri" pitchFamily="34" charset="-122"/>
                <a:cs typeface="Calibri" pitchFamily="34" charset="-120"/>
              </a:rPr>
              <a:t>per-task bars, R3 drift maps exported as data/cone_drift_&lt;group&gt;.json for the app's Cones tab, R4 attention-by-depth-and-bearing at the western-boundary anchors, R5 flag; then the three arms as recipes f7l2-hourglass-{fixed,learned,primed}</a:t>
            </a:r>
            <a:endParaRPr lang="en-US" sz="1150" dirty="0"/>
          </a:p>
        </p:txBody>
      </p:sp>
      <p:sp>
        <p:nvSpPr>
          <p:cNvPr id="28" name="Text 25"/>
          <p:cNvSpPr txBox="1"/>
          <p:nvPr/>
        </p:nvSpPr>
        <p:spPr>
          <a:xfrm>
            <a:off x="548640" y="5833872"/>
            <a:ext cx="11091672" cy="274320"/>
          </a:xfrm>
          <a:prstGeom prst="rect">
            <a:avLst/>
          </a:prstGeom>
          <a:noFill/>
          <a:ln/>
        </p:spPr>
        <p:txBody>
          <a:bodyPr wrap="square" lIns="0" tIns="0" rIns="0" bIns="0" rtlCol="0" anchor="ctr"/>
          <a:lstStyle/>
          <a:p>
            <a:pPr indent="0" marL="0">
              <a:buNone/>
            </a:pPr>
            <a:r>
              <a:rPr lang="en-US" sz="1100" i="1" dirty="0">
                <a:solidFill>
                  <a:srgbClr val="7D8590"/>
                </a:solidFill>
                <a:latin typeface="Calibri" pitchFamily="34" charset="0"/>
                <a:ea typeface="Calibri" pitchFamily="34" charset="-122"/>
                <a:cs typeface="Calibri" pitchFamily="34" charset="-120"/>
              </a:rPr>
              <a:t>Each step lands on main with its test before the next starts; step 4 is the only one that touches the data path, and only at epoch boundaries.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OPEN DECISIONS FOR CHRIS</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800" b="1" dirty="0">
                <a:solidFill>
                  <a:srgbClr val="E6EDF3"/>
                </a:solidFill>
                <a:latin typeface="Georgia" pitchFamily="34" charset="0"/>
                <a:ea typeface="Georgia" pitchFamily="34" charset="-122"/>
                <a:cs typeface="Georgia" pitchFamily="34" charset="-120"/>
              </a:rPr>
              <a:t>Two settled, seven still open — all reversible</a:t>
            </a:r>
            <a:endParaRPr lang="en-US" sz="28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426464"/>
            <a:ext cx="11091672" cy="804672"/>
          </a:xfrm>
          <a:prstGeom prst="roundRect">
            <a:avLst>
              <a:gd name="adj" fmla="val 6818"/>
            </a:avLst>
          </a:prstGeom>
          <a:solidFill>
            <a:srgbClr val="11202F"/>
          </a:solidFill>
          <a:ln w="12700">
            <a:solidFill>
              <a:srgbClr val="E3B341"/>
            </a:solidFill>
            <a:prstDash val="solid"/>
          </a:ln>
        </p:spPr>
      </p:sp>
      <p:sp>
        <p:nvSpPr>
          <p:cNvPr id="8" name="Text 5"/>
          <p:cNvSpPr txBox="1"/>
          <p:nvPr/>
        </p:nvSpPr>
        <p:spPr>
          <a:xfrm>
            <a:off x="822960" y="1554480"/>
            <a:ext cx="10543032" cy="548640"/>
          </a:xfrm>
          <a:prstGeom prst="rect">
            <a:avLst/>
          </a:prstGeom>
          <a:noFill/>
          <a:ln/>
        </p:spPr>
        <p:txBody>
          <a:bodyPr wrap="square" lIns="0" tIns="0" rIns="0" bIns="0" rtlCol="0" anchor="ctr"/>
          <a:lstStyle/>
          <a:p>
            <a:pPr indent="0" marL="0">
              <a:buNone/>
            </a:pPr>
            <a:r>
              <a:rPr lang="en-US" sz="1250" b="1" dirty="0">
                <a:solidFill>
                  <a:srgbClr val="E3B341"/>
                </a:solidFill>
                <a:latin typeface="Calibri" pitchFamily="34" charset="0"/>
                <a:ea typeface="Calibri" pitchFamily="34" charset="-122"/>
                <a:cs typeface="Calibri" pitchFamily="34" charset="-120"/>
              </a:rPr>
              <a:t>Settled 15 Sep (Chris):  </a:t>
            </a:r>
            <a:r>
              <a:rPr lang="en-US" sz="1250" b="1" dirty="0">
                <a:solidFill>
                  <a:srgbClr val="4493F8"/>
                </a:solidFill>
                <a:latin typeface="Calibri" pitchFamily="34" charset="0"/>
                <a:ea typeface="Calibri" pitchFamily="34" charset="-122"/>
                <a:cs typeface="Calibri" pitchFamily="34" charset="-120"/>
              </a:rPr>
              <a:t>1°</a:t>
            </a:r>
            <a:r>
              <a:rPr lang="en-US" sz="1250" dirty="0">
                <a:solidFill>
                  <a:srgbClr val="E6EDF3"/>
                </a:solidFill>
                <a:latin typeface="Calibri" pitchFamily="34" charset="0"/>
                <a:ea typeface="Calibri" pitchFamily="34" charset="-122"/>
                <a:cs typeface="Calibri" pitchFamily="34" charset="-120"/>
              </a:rPr>
              <a:t> parameter maps with the coarse-plus-residual prior; </a:t>
            </a:r>
            <a:r>
              <a:rPr lang="en-US" sz="1250" b="1" dirty="0">
                <a:solidFill>
                  <a:srgbClr val="4493F8"/>
                </a:solidFill>
                <a:latin typeface="Calibri" pitchFamily="34" charset="0"/>
                <a:ea typeface="Calibri" pitchFamily="34" charset="-122"/>
                <a:cs typeface="Calibri" pitchFamily="34" charset="-120"/>
              </a:rPr>
              <a:t>no Argo ellipses</a:t>
            </a:r>
            <a:r>
              <a:rPr lang="en-US" sz="1250" dirty="0">
                <a:solidFill>
                  <a:srgbClr val="E6EDF3"/>
                </a:solidFill>
                <a:latin typeface="Calibri" pitchFamily="34" charset="0"/>
                <a:ea typeface="Calibri" pitchFamily="34" charset="-122"/>
                <a:cs typeface="Calibri" pitchFamily="34" charset="-120"/>
              </a:rPr>
              <a:t> — the nearest-profile tokens stay as E-071 §3 specifies them.</a:t>
            </a:r>
            <a:endParaRPr lang="en-US" sz="1250" dirty="0"/>
          </a:p>
        </p:txBody>
      </p:sp>
      <p:sp>
        <p:nvSpPr>
          <p:cNvPr id="9" name="Shape 6"/>
          <p:cNvSpPr/>
          <p:nvPr/>
        </p:nvSpPr>
        <p:spPr>
          <a:xfrm>
            <a:off x="548640" y="2432304"/>
            <a:ext cx="2621585" cy="1755648"/>
          </a:xfrm>
          <a:prstGeom prst="roundRect">
            <a:avLst>
              <a:gd name="adj" fmla="val 3125"/>
            </a:avLst>
          </a:prstGeom>
          <a:solidFill>
            <a:srgbClr val="161B22"/>
          </a:solidFill>
          <a:ln w="12700">
            <a:solidFill>
              <a:srgbClr val="30363D"/>
            </a:solidFill>
            <a:prstDash val="solid"/>
          </a:ln>
        </p:spPr>
      </p:sp>
      <p:sp>
        <p:nvSpPr>
          <p:cNvPr id="10" name="Text 7"/>
          <p:cNvSpPr txBox="1"/>
          <p:nvPr/>
        </p:nvSpPr>
        <p:spPr>
          <a:xfrm>
            <a:off x="786384" y="2578608"/>
            <a:ext cx="2146097"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Future horizon</a:t>
            </a:r>
            <a:endParaRPr lang="en-US" sz="1250" dirty="0"/>
          </a:p>
          <a:p>
            <a:pPr indent="0" marL="0">
              <a:buNone/>
            </a:pPr>
            <a:r>
              <a:rPr lang="en-US" sz="1050" b="1" dirty="0">
                <a:solidFill>
                  <a:srgbClr val="4493F8"/>
                </a:solidFill>
                <a:latin typeface="Calibri" pitchFamily="34" charset="0"/>
                <a:ea typeface="Calibri" pitchFamily="34" charset="-122"/>
                <a:cs typeface="Calibri" pitchFamily="34" charset="-120"/>
              </a:rPr>
              <a:t>+6 pentads</a:t>
            </a:r>
            <a:r>
              <a:rPr lang="en-US" sz="1050" dirty="0">
                <a:solidFill>
                  <a:srgbClr val="E6EDF3"/>
                </a:solidFill>
                <a:latin typeface="Calibri" pitchFamily="34" charset="0"/>
                <a:ea typeface="Calibri" pitchFamily="34" charset="-122"/>
                <a:cs typeface="Calibri" pitchFamily="34" charset="-120"/>
              </a:rPr>
              <a:t> to mirror the past; or shorter (+1…+2 as E-069) with denser targets?</a:t>
            </a:r>
            <a:endParaRPr lang="en-US" sz="1250" dirty="0"/>
          </a:p>
        </p:txBody>
      </p:sp>
      <p:sp>
        <p:nvSpPr>
          <p:cNvPr id="11" name="Shape 8"/>
          <p:cNvSpPr/>
          <p:nvPr/>
        </p:nvSpPr>
        <p:spPr>
          <a:xfrm>
            <a:off x="3371393" y="2432304"/>
            <a:ext cx="2621585" cy="1755648"/>
          </a:xfrm>
          <a:prstGeom prst="roundRect">
            <a:avLst>
              <a:gd name="adj" fmla="val 3125"/>
            </a:avLst>
          </a:prstGeom>
          <a:solidFill>
            <a:srgbClr val="161B22"/>
          </a:solidFill>
          <a:ln w="12700">
            <a:solidFill>
              <a:srgbClr val="30363D"/>
            </a:solidFill>
            <a:prstDash val="solid"/>
          </a:ln>
        </p:spPr>
      </p:sp>
      <p:sp>
        <p:nvSpPr>
          <p:cNvPr id="12" name="Text 9"/>
          <p:cNvSpPr txBox="1"/>
          <p:nvPr/>
        </p:nvSpPr>
        <p:spPr>
          <a:xfrm>
            <a:off x="3609137" y="2578608"/>
            <a:ext cx="2146097"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Task shares</a:t>
            </a:r>
            <a:endParaRPr lang="en-US" sz="1250" dirty="0"/>
          </a:p>
          <a:p>
            <a:pPr indent="0" marL="0">
              <a:buNone/>
            </a:pPr>
            <a:r>
              <a:rPr lang="en-US" sz="1050" b="1" dirty="0">
                <a:solidFill>
                  <a:srgbClr val="4493F8"/>
                </a:solidFill>
                <a:latin typeface="Calibri" pitchFamily="34" charset="0"/>
                <a:ea typeface="Calibri" pitchFamily="34" charset="-122"/>
                <a:cs typeface="Calibri" pitchFamily="34" charset="-120"/>
              </a:rPr>
              <a:t>0.35 / 0.15 / 0.25 / 0.25</a:t>
            </a:r>
            <a:r>
              <a:rPr lang="en-US" sz="1050" dirty="0">
                <a:solidFill>
                  <a:srgbClr val="E6EDF3"/>
                </a:solidFill>
                <a:latin typeface="Calibri" pitchFamily="34" charset="0"/>
                <a:ea typeface="Calibri" pitchFamily="34" charset="-122"/>
                <a:cs typeface="Calibri" pitchFamily="34" charset="-120"/>
              </a:rPr>
              <a:t> — any of them a lever you want set differently?</a:t>
            </a:r>
            <a:endParaRPr lang="en-US" sz="1250" dirty="0"/>
          </a:p>
        </p:txBody>
      </p:sp>
      <p:sp>
        <p:nvSpPr>
          <p:cNvPr id="13" name="Shape 10"/>
          <p:cNvSpPr/>
          <p:nvPr/>
        </p:nvSpPr>
        <p:spPr>
          <a:xfrm>
            <a:off x="6194146" y="2432304"/>
            <a:ext cx="2621585" cy="1755648"/>
          </a:xfrm>
          <a:prstGeom prst="roundRect">
            <a:avLst>
              <a:gd name="adj" fmla="val 3125"/>
            </a:avLst>
          </a:prstGeom>
          <a:solidFill>
            <a:srgbClr val="161B22"/>
          </a:solidFill>
          <a:ln w="12700">
            <a:solidFill>
              <a:srgbClr val="30363D"/>
            </a:solidFill>
            <a:prstDash val="solid"/>
          </a:ln>
        </p:spPr>
      </p:sp>
      <p:sp>
        <p:nvSpPr>
          <p:cNvPr id="14" name="Text 11"/>
          <p:cNvSpPr txBox="1"/>
          <p:nvPr/>
        </p:nvSpPr>
        <p:spPr>
          <a:xfrm>
            <a:off x="6431890" y="2578608"/>
            <a:ext cx="2146097"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Prior strength on the 1° residual</a:t>
            </a:r>
            <a:endParaRPr lang="en-US" sz="1250" dirty="0"/>
          </a:p>
          <a:p>
            <a:pPr indent="0" marL="0">
              <a:buNone/>
            </a:pPr>
            <a:r>
              <a:rPr lang="en-US" sz="1050" dirty="0">
                <a:solidFill>
                  <a:srgbClr val="E6EDF3"/>
                </a:solidFill>
                <a:latin typeface="Calibri" pitchFamily="34" charset="0"/>
                <a:ea typeface="Calibri" pitchFamily="34" charset="-122"/>
                <a:cs typeface="Calibri" pitchFamily="34" charset="-120"/>
              </a:rPr>
              <a:t>One weight, to be set by held-out loss on the training years — or fixed by hand for the first arm?</a:t>
            </a:r>
            <a:endParaRPr lang="en-US" sz="1250" dirty="0"/>
          </a:p>
        </p:txBody>
      </p:sp>
      <p:sp>
        <p:nvSpPr>
          <p:cNvPr id="15" name="Shape 12"/>
          <p:cNvSpPr/>
          <p:nvPr/>
        </p:nvSpPr>
        <p:spPr>
          <a:xfrm>
            <a:off x="9016898" y="2432304"/>
            <a:ext cx="2621585" cy="1755648"/>
          </a:xfrm>
          <a:prstGeom prst="roundRect">
            <a:avLst>
              <a:gd name="adj" fmla="val 3125"/>
            </a:avLst>
          </a:prstGeom>
          <a:solidFill>
            <a:srgbClr val="161B22"/>
          </a:solidFill>
          <a:ln w="12700">
            <a:solidFill>
              <a:srgbClr val="30363D"/>
            </a:solidFill>
            <a:prstDash val="solid"/>
          </a:ln>
        </p:spPr>
      </p:sp>
      <p:sp>
        <p:nvSpPr>
          <p:cNvPr id="16" name="Text 13"/>
          <p:cNvSpPr txBox="1"/>
          <p:nvPr/>
        </p:nvSpPr>
        <p:spPr>
          <a:xfrm>
            <a:off x="9254642" y="2578608"/>
            <a:ext cx="2146097"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The v2 safety ring</a:t>
            </a:r>
            <a:endParaRPr lang="en-US" sz="1250" dirty="0"/>
          </a:p>
          <a:p>
            <a:pPr indent="0" marL="0">
              <a:buNone/>
            </a:pPr>
            <a:r>
              <a:rPr lang="en-US" sz="1050" b="1" dirty="0">
                <a:solidFill>
                  <a:srgbClr val="4493F8"/>
                </a:solidFill>
                <a:latin typeface="Calibri" pitchFamily="34" charset="0"/>
                <a:ea typeface="Calibri" pitchFamily="34" charset="-122"/>
                <a:cs typeface="Calibri" pitchFamily="34" charset="-120"/>
              </a:rPr>
              <a:t>Kept</a:t>
            </a:r>
            <a:r>
              <a:rPr lang="en-US" sz="1050" dirty="0">
                <a:solidFill>
                  <a:srgbClr val="E6EDF3"/>
                </a:solidFill>
                <a:latin typeface="Calibri" pitchFamily="34" charset="0"/>
                <a:ea typeface="Calibri" pitchFamily="34" charset="-122"/>
                <a:cs typeface="Calibri" pitchFamily="34" charset="-120"/>
              </a:rPr>
              <a:t> at every lag (24 tokens per lag per group); dropping it halves the past-cone tokens but restores v2's “too narrow” risk</a:t>
            </a:r>
            <a:endParaRPr lang="en-US" sz="1250" dirty="0"/>
          </a:p>
        </p:txBody>
      </p:sp>
      <p:sp>
        <p:nvSpPr>
          <p:cNvPr id="17" name="Shape 14"/>
          <p:cNvSpPr/>
          <p:nvPr/>
        </p:nvSpPr>
        <p:spPr>
          <a:xfrm>
            <a:off x="548640" y="4334256"/>
            <a:ext cx="3557016" cy="1755648"/>
          </a:xfrm>
          <a:prstGeom prst="roundRect">
            <a:avLst>
              <a:gd name="adj" fmla="val 3125"/>
            </a:avLst>
          </a:prstGeom>
          <a:solidFill>
            <a:srgbClr val="161B22"/>
          </a:solidFill>
          <a:ln w="12700">
            <a:solidFill>
              <a:srgbClr val="30363D"/>
            </a:solidFill>
            <a:prstDash val="solid"/>
          </a:ln>
        </p:spPr>
      </p:sp>
      <p:sp>
        <p:nvSpPr>
          <p:cNvPr id="18" name="Text 15"/>
          <p:cNvSpPr txBox="1"/>
          <p:nvPr/>
        </p:nvSpPr>
        <p:spPr>
          <a:xfrm>
            <a:off x="786384" y="4480560"/>
            <a:ext cx="3081528"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Seasonal drift term</a:t>
            </a:r>
            <a:endParaRPr lang="en-US" sz="1250" dirty="0"/>
          </a:p>
          <a:p>
            <a:pPr indent="0" marL="0">
              <a:buNone/>
            </a:pPr>
            <a:r>
              <a:rPr lang="en-US" sz="1100" b="1" dirty="0">
                <a:solidFill>
                  <a:srgbClr val="4493F8"/>
                </a:solidFill>
                <a:latin typeface="Calibri" pitchFamily="34" charset="0"/>
                <a:ea typeface="Calibri" pitchFamily="34" charset="-122"/>
                <a:cs typeface="Calibri" pitchFamily="34" charset="-120"/>
              </a:rPr>
              <a:t>Deferred</a:t>
            </a:r>
            <a:r>
              <a:rPr lang="en-US" sz="1100" dirty="0">
                <a:solidFill>
                  <a:srgbClr val="E6EDF3"/>
                </a:solidFill>
                <a:latin typeface="Calibri" pitchFamily="34" charset="0"/>
                <a:ea typeface="Calibri" pitchFamily="34" charset="-122"/>
                <a:cs typeface="Calibri" pitchFamily="34" charset="-120"/>
              </a:rPr>
              <a:t> to phase 2; or in from the start (monsoon regions)?</a:t>
            </a:r>
            <a:endParaRPr lang="en-US" sz="1250" dirty="0"/>
          </a:p>
        </p:txBody>
      </p:sp>
      <p:sp>
        <p:nvSpPr>
          <p:cNvPr id="19" name="Shape 16"/>
          <p:cNvSpPr/>
          <p:nvPr/>
        </p:nvSpPr>
        <p:spPr>
          <a:xfrm>
            <a:off x="4315968" y="4334256"/>
            <a:ext cx="3557016" cy="1755648"/>
          </a:xfrm>
          <a:prstGeom prst="roundRect">
            <a:avLst>
              <a:gd name="adj" fmla="val 3125"/>
            </a:avLst>
          </a:prstGeom>
          <a:solidFill>
            <a:srgbClr val="161B22"/>
          </a:solidFill>
          <a:ln w="12700">
            <a:solidFill>
              <a:srgbClr val="30363D"/>
            </a:solidFill>
            <a:prstDash val="solid"/>
          </a:ln>
        </p:spPr>
      </p:sp>
      <p:sp>
        <p:nvSpPr>
          <p:cNvPr id="20" name="Text 17"/>
          <p:cNvSpPr txBox="1"/>
          <p:nvPr/>
        </p:nvSpPr>
        <p:spPr>
          <a:xfrm>
            <a:off x="4553712" y="4480560"/>
            <a:ext cx="3081528"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Harden interval and geometry LR</a:t>
            </a:r>
            <a:endParaRPr lang="en-US" sz="1250" dirty="0"/>
          </a:p>
          <a:p>
            <a:pPr indent="0" marL="0">
              <a:buNone/>
            </a:pPr>
            <a:r>
              <a:rPr lang="en-US" sz="1100" b="1" dirty="0">
                <a:solidFill>
                  <a:srgbClr val="4493F8"/>
                </a:solidFill>
                <a:latin typeface="Calibri" pitchFamily="34" charset="0"/>
                <a:ea typeface="Calibri" pitchFamily="34" charset="-122"/>
                <a:cs typeface="Calibri" pitchFamily="34" charset="-120"/>
              </a:rPr>
              <a:t>N = 2 k steps</a:t>
            </a:r>
            <a:r>
              <a:rPr lang="en-US" sz="1100" dirty="0">
                <a:solidFill>
                  <a:srgbClr val="E6EDF3"/>
                </a:solidFill>
                <a:latin typeface="Calibri" pitchFamily="34" charset="0"/>
                <a:ea typeface="Calibri" pitchFamily="34" charset="-122"/>
                <a:cs typeface="Calibri" pitchFamily="34" charset="-120"/>
              </a:rPr>
              <a:t> and the geometry learning-rate multiplier </a:t>
            </a:r>
            <a:r>
              <a:rPr lang="en-US" sz="1100" b="1" dirty="0">
                <a:solidFill>
                  <a:srgbClr val="4493F8"/>
                </a:solidFill>
                <a:latin typeface="Calibri" pitchFamily="34" charset="0"/>
                <a:ea typeface="Calibri" pitchFamily="34" charset="-122"/>
                <a:cs typeface="Calibri" pitchFamily="34" charset="-120"/>
              </a:rPr>
              <a:t>×10</a:t>
            </a:r>
            <a:r>
              <a:rPr lang="en-US" sz="1100" dirty="0">
                <a:solidFill>
                  <a:srgbClr val="E6EDF3"/>
                </a:solidFill>
                <a:latin typeface="Calibri" pitchFamily="34" charset="0"/>
                <a:ea typeface="Calibri" pitchFamily="34" charset="-122"/>
                <a:cs typeface="Calibri" pitchFamily="34" charset="-120"/>
              </a:rPr>
              <a:t> — first guesses, both recorded per run</a:t>
            </a:r>
            <a:endParaRPr lang="en-US" sz="1250" dirty="0"/>
          </a:p>
        </p:txBody>
      </p:sp>
      <p:sp>
        <p:nvSpPr>
          <p:cNvPr id="21" name="Shape 18"/>
          <p:cNvSpPr/>
          <p:nvPr/>
        </p:nvSpPr>
        <p:spPr>
          <a:xfrm>
            <a:off x="8083296" y="4334256"/>
            <a:ext cx="3557016" cy="1755648"/>
          </a:xfrm>
          <a:prstGeom prst="roundRect">
            <a:avLst>
              <a:gd name="adj" fmla="val 3125"/>
            </a:avLst>
          </a:prstGeom>
          <a:solidFill>
            <a:srgbClr val="161B22"/>
          </a:solidFill>
          <a:ln w="12700">
            <a:solidFill>
              <a:srgbClr val="30363D"/>
            </a:solidFill>
            <a:prstDash val="solid"/>
          </a:ln>
        </p:spPr>
      </p:sp>
      <p:sp>
        <p:nvSpPr>
          <p:cNvPr id="22" name="Text 19"/>
          <p:cNvSpPr txBox="1"/>
          <p:nvPr/>
        </p:nvSpPr>
        <p:spPr>
          <a:xfrm>
            <a:off x="8321040" y="4480560"/>
            <a:ext cx="3081528" cy="1463040"/>
          </a:xfrm>
          <a:prstGeom prst="rect">
            <a:avLst/>
          </a:prstGeom>
          <a:noFill/>
          <a:ln/>
        </p:spPr>
        <p:txBody>
          <a:bodyPr wrap="square" lIns="0" tIns="0" rIns="0" bIns="0" rtlCol="0" anchor="ctr"/>
          <a:lstStyle/>
          <a:p>
            <a:pPr indent="0" marL="0">
              <a:spcAft>
                <a:spcPts val="800"/>
              </a:spcAft>
              <a:buNone/>
            </a:pPr>
            <a:r>
              <a:rPr lang="en-US" sz="1250" b="1" dirty="0">
                <a:solidFill>
                  <a:srgbClr val="4493F8"/>
                </a:solidFill>
                <a:latin typeface="Calibri" pitchFamily="34" charset="0"/>
                <a:ea typeface="Calibri" pitchFamily="34" charset="-122"/>
                <a:cs typeface="Calibri" pitchFamily="34" charset="-120"/>
              </a:rPr>
              <a:t>Time inside the 30-day window</a:t>
            </a:r>
            <a:endParaRPr lang="en-US" sz="1250" dirty="0"/>
          </a:p>
          <a:p>
            <a:pPr indent="0" marL="0">
              <a:buNone/>
            </a:pPr>
            <a:r>
              <a:rPr lang="en-US" sz="1100" b="1" dirty="0">
                <a:solidFill>
                  <a:srgbClr val="4493F8"/>
                </a:solidFill>
                <a:latin typeface="Calibri" pitchFamily="34" charset="0"/>
                <a:ea typeface="Calibri" pitchFamily="34" charset="-122"/>
                <a:cs typeface="Calibri" pitchFamily="34" charset="-120"/>
              </a:rPr>
              <a:t>Dense</a:t>
            </a:r>
            <a:r>
              <a:rPr lang="en-US" sz="1100" dirty="0">
                <a:solidFill>
                  <a:srgbClr val="E6EDF3"/>
                </a:solidFill>
                <a:latin typeface="Calibri" pitchFamily="34" charset="0"/>
                <a:ea typeface="Calibri" pitchFamily="34" charset="-122"/>
                <a:cs typeface="Calibri" pitchFamily="34" charset="-120"/>
              </a:rPr>
              <a:t>, one slice per pentad. A log-spaced inner time ramp (1, 2, 3, 5, 8, 13 pentads at the same six slices) is an </a:t>
            </a:r>
            <a:r>
              <a:rPr lang="en-US" sz="1100" b="1" dirty="0">
                <a:solidFill>
                  <a:srgbClr val="4493F8"/>
                </a:solidFill>
                <a:latin typeface="Calibri" pitchFamily="34" charset="0"/>
                <a:ea typeface="Calibri" pitchFamily="34" charset="-122"/>
                <a:cs typeface="Calibri" pitchFamily="34" charset="-120"/>
              </a:rPr>
              <a:t>ablation</a:t>
            </a:r>
            <a:r>
              <a:rPr lang="en-US" sz="1100" dirty="0">
                <a:solidFill>
                  <a:srgbClr val="E6EDF3"/>
                </a:solidFill>
                <a:latin typeface="Calibri" pitchFamily="34" charset="0"/>
                <a:ea typeface="Calibri" pitchFamily="34" charset="-122"/>
                <a:cs typeface="Calibri" pitchFamily="34" charset="-120"/>
              </a:rPr>
              <a:t>, not the design — it would move the codec's window into stage 2's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E-080 · THE CUT-OFF MIRRORED DOUBLE CONE</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3000" b="1" dirty="0">
                <a:solidFill>
                  <a:srgbClr val="E6EDF3"/>
                </a:solidFill>
                <a:latin typeface="Georgia" pitchFamily="34" charset="0"/>
                <a:ea typeface="Georgia" pitchFamily="34" charset="-122"/>
                <a:cs typeface="Georgia" pitchFamily="34" charset="-120"/>
              </a:rPr>
              <a:t>Sources</a:t>
            </a:r>
            <a:endParaRPr lang="en-US" sz="30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463040"/>
            <a:ext cx="6903720" cy="4206240"/>
          </a:xfrm>
          <a:prstGeom prst="roundRect">
            <a:avLst>
              <a:gd name="adj" fmla="val 1304"/>
            </a:avLst>
          </a:prstGeom>
          <a:solidFill>
            <a:srgbClr val="161B22"/>
          </a:solidFill>
          <a:ln w="12700">
            <a:solidFill>
              <a:srgbClr val="30363D"/>
            </a:solidFill>
            <a:prstDash val="solid"/>
          </a:ln>
        </p:spPr>
      </p:sp>
      <p:sp>
        <p:nvSpPr>
          <p:cNvPr id="8" name="Text 5"/>
          <p:cNvSpPr txBox="1"/>
          <p:nvPr/>
        </p:nvSpPr>
        <p:spPr>
          <a:xfrm>
            <a:off x="804672" y="1664208"/>
            <a:ext cx="6391656" cy="256032"/>
          </a:xfrm>
          <a:prstGeom prst="rect">
            <a:avLst/>
          </a:prstGeom>
          <a:noFill/>
          <a:ln/>
        </p:spPr>
        <p:txBody>
          <a:bodyPr wrap="square" lIns="0" tIns="0" rIns="0" bIns="0" rtlCol="0" anchor="ctr"/>
          <a:lstStyle/>
          <a:p>
            <a:pPr indent="0" marL="0">
              <a:buNone/>
            </a:pPr>
            <a:r>
              <a:rPr lang="en-US" sz="1250" b="1" dirty="0">
                <a:solidFill>
                  <a:srgbClr val="4493F8"/>
                </a:solidFill>
                <a:latin typeface="Calibri" pitchFamily="34" charset="0"/>
                <a:ea typeface="Calibri" pitchFamily="34" charset="-122"/>
                <a:cs typeface="Calibri" pitchFamily="34" charset="-120"/>
              </a:rPr>
              <a:t>the record this deck stands on</a:t>
            </a:r>
            <a:endParaRPr lang="en-US" sz="1250" dirty="0"/>
          </a:p>
        </p:txBody>
      </p:sp>
      <p:sp>
        <p:nvSpPr>
          <p:cNvPr id="9" name="Text 6"/>
          <p:cNvSpPr txBox="1"/>
          <p:nvPr/>
        </p:nvSpPr>
        <p:spPr>
          <a:xfrm>
            <a:off x="804672" y="2011680"/>
            <a:ext cx="6391656" cy="3493008"/>
          </a:xfrm>
          <a:prstGeom prst="rect">
            <a:avLst/>
          </a:prstGeom>
          <a:noFill/>
          <a:ln/>
        </p:spPr>
        <p:txBody>
          <a:bodyPr wrap="square" lIns="0" tIns="0" rIns="0" bIns="0" rtlCol="0" anchor="t"/>
          <a:lstStyle/>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E-069 · Two stencils, one cone</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ml/plans/E069_cone_codec.md</a:t>
            </a:r>
            <a:r>
              <a:rPr lang="en-US" sz="1050" dirty="0">
                <a:solidFill>
                  <a:srgbClr val="E6EDF3"/>
                </a:solidFill>
                <a:latin typeface="Calibri" pitchFamily="34" charset="0"/>
                <a:ea typeface="Calibri" pitchFamily="34" charset="-122"/>
                <a:cs typeface="Calibri" pitchFamily="34" charset="-120"/>
              </a:rPr>
              <a:t>; results in </a:t>
            </a:r>
            <a:r>
              <a:rPr lang="en-US" sz="105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ml/EXPERIMENTS.md#e-069</a:t>
            </a:r>
            <a:r>
              <a:rPr lang="en-US" sz="1050" dirty="0">
                <a:solidFill>
                  <a:srgbClr val="E6EDF3"/>
                </a:solidFill>
                <a:latin typeface="Calibri" pitchFamily="34" charset="0"/>
                <a:ea typeface="Calibri" pitchFamily="34" charset="-122"/>
                <a:cs typeface="Calibri" pitchFamily="34" charset="-120"/>
              </a:rPr>
              <a:t> (five seeds, H1 refuted; what history buys)</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E-069b masking-plan fix</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ml/cone_codec.py::default_plan</a:t>
            </a:r>
            <a:r>
              <a:rPr lang="en-US" sz="1050" dirty="0">
                <a:solidFill>
                  <a:srgbClr val="E6EDF3"/>
                </a:solidFill>
                <a:latin typeface="Calibri" pitchFamily="34" charset="0"/>
                <a:ea typeface="Calibri" pitchFamily="34" charset="-122"/>
                <a:cs typeface="Calibri" pitchFamily="34" charset="-120"/>
              </a:rPr>
              <a:t> (chan_drop_scope, anchor_hidden_only), </a:t>
            </a:r>
            <a:r>
              <a:rPr lang="en-US" sz="1050" u="sng" dirty="0">
                <a:solidFill>
                  <a:srgbClr val="4493F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ml/train_cone.py</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E-071 · Cone v2</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ml/plans/E071_cone_v2.md</a:t>
            </a:r>
            <a:r>
              <a:rPr lang="en-US" sz="1050" dirty="0">
                <a:solidFill>
                  <a:srgbClr val="E6EDF3"/>
                </a:solidFill>
                <a:latin typeface="Calibri" pitchFamily="34" charset="0"/>
                <a:ea typeface="Calibri" pitchFamily="34" charset="-122"/>
                <a:cs typeface="Calibri" pitchFamily="34" charset="-120"/>
              </a:rPr>
              <a:t> (§3 profile tokens, §4 design speeds and log-radial dots, §4.5 the split in time, §6.4 per-location tokens)</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E-076 · Family 8 nearest observations</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ml/plans/E076_family8_nearest_observations.md</a:t>
            </a:r>
            <a:r>
              <a:rPr lang="en-US" sz="1050" dirty="0">
                <a:solidFill>
                  <a:srgbClr val="E6EDF3"/>
                </a:solidFill>
                <a:latin typeface="Calibri" pitchFamily="34" charset="0"/>
                <a:ea typeface="Calibri" pitchFamily="34" charset="-122"/>
                <a:cs typeface="Calibri" pitchFamily="34" charset="-120"/>
              </a:rPr>
              <a:t> (the (value, Δx, Δy, Δt, n_R) token)</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The geometry as built</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ml/cone.py</a:t>
            </a:r>
            <a:r>
              <a:rPr lang="en-US" sz="1050" dirty="0">
                <a:solidFill>
                  <a:srgbClr val="E6EDF3"/>
                </a:solidFill>
                <a:latin typeface="Calibri" pitchFamily="34" charset="0"/>
                <a:ea typeface="Calibri" pitchFamily="34" charset="-122"/>
                <a:cs typeface="Calibri" pitchFamily="34" charset="-120"/>
              </a:rPr>
              <a:t> (FAMILIES, reach_km, slots, inner_dots, outer_spiral, coverage_report)</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E-026 · the sunflower stencil</a:t>
            </a:r>
            <a:r>
              <a:rPr lang="en-US" sz="1050" dirty="0">
                <a:solidFill>
                  <a:srgbClr val="E6EDF3"/>
                </a:solidFill>
                <a:latin typeface="Calibri" pitchFamily="34" charset="0"/>
                <a:ea typeface="Calibri" pitchFamily="34" charset="-122"/>
                <a:cs typeface="Calibri" pitchFamily="34" charset="-120"/>
              </a:rPr>
              <a:t> — </a:t>
            </a:r>
            <a:r>
              <a:rPr lang="en-US" sz="1050" u="sng" dirty="0">
                <a:solidFill>
                  <a:srgbClr val="4493F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ml/temporal.py::spiral_offsets</a:t>
            </a:r>
            <a:r>
              <a:rPr lang="en-US" sz="1050" dirty="0">
                <a:solidFill>
                  <a:srgbClr val="E6EDF3"/>
                </a:solidFill>
                <a:latin typeface="Calibri" pitchFamily="34" charset="0"/>
                <a:ea typeface="Calibri" pitchFamily="34" charset="-122"/>
                <a:cs typeface="Calibri" pitchFamily="34" charset="-120"/>
              </a:rPr>
              <a:t>, the pattern the warped sunflower reuses</a:t>
            </a:r>
            <a:endParaRPr lang="en-US" sz="1050" dirty="0"/>
          </a:p>
        </p:txBody>
      </p:sp>
      <p:sp>
        <p:nvSpPr>
          <p:cNvPr id="10" name="Shape 7"/>
          <p:cNvSpPr/>
          <p:nvPr/>
        </p:nvSpPr>
        <p:spPr>
          <a:xfrm>
            <a:off x="7635240" y="1463040"/>
            <a:ext cx="4005072" cy="4206240"/>
          </a:xfrm>
          <a:prstGeom prst="roundRect">
            <a:avLst>
              <a:gd name="adj" fmla="val 1370"/>
            </a:avLst>
          </a:prstGeom>
          <a:solidFill>
            <a:srgbClr val="161B22"/>
          </a:solidFill>
          <a:ln w="12700">
            <a:solidFill>
              <a:srgbClr val="30363D"/>
            </a:solidFill>
            <a:prstDash val="solid"/>
          </a:ln>
        </p:spPr>
      </p:sp>
      <p:sp>
        <p:nvSpPr>
          <p:cNvPr id="11" name="Text 8"/>
          <p:cNvSpPr txBox="1"/>
          <p:nvPr/>
        </p:nvSpPr>
        <p:spPr>
          <a:xfrm>
            <a:off x="7891272" y="1664208"/>
            <a:ext cx="3493008" cy="256032"/>
          </a:xfrm>
          <a:prstGeom prst="rect">
            <a:avLst/>
          </a:prstGeom>
          <a:noFill/>
          <a:ln/>
        </p:spPr>
        <p:txBody>
          <a:bodyPr wrap="square" lIns="0" tIns="0" rIns="0" bIns="0" rtlCol="0" anchor="ctr"/>
          <a:lstStyle/>
          <a:p>
            <a:pPr indent="0" marL="0">
              <a:buNone/>
            </a:pPr>
            <a:r>
              <a:rPr lang="en-US" sz="1250" b="1" dirty="0">
                <a:solidFill>
                  <a:srgbClr val="4493F8"/>
                </a:solidFill>
                <a:latin typeface="Calibri" pitchFamily="34" charset="0"/>
                <a:ea typeface="Calibri" pitchFamily="34" charset="-122"/>
                <a:cs typeface="Calibri" pitchFamily="34" charset="-120"/>
              </a:rPr>
              <a:t>and on</a:t>
            </a:r>
            <a:endParaRPr lang="en-US" sz="1250" dirty="0"/>
          </a:p>
        </p:txBody>
      </p:sp>
      <p:sp>
        <p:nvSpPr>
          <p:cNvPr id="12" name="Text 9"/>
          <p:cNvSpPr txBox="1"/>
          <p:nvPr/>
        </p:nvSpPr>
        <p:spPr>
          <a:xfrm>
            <a:off x="7891272" y="2011680"/>
            <a:ext cx="3493008" cy="3493008"/>
          </a:xfrm>
          <a:prstGeom prst="rect">
            <a:avLst/>
          </a:prstGeom>
          <a:noFill/>
          <a:ln/>
        </p:spPr>
        <p:txBody>
          <a:bodyPr wrap="square" lIns="0" tIns="0" rIns="0" bIns="0" rtlCol="0" anchor="t"/>
          <a:lstStyle/>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The geometry learning-rate multiplier and soft sampling weights:</a:t>
            </a:r>
            <a:r>
              <a:rPr lang="en-US" sz="1050" dirty="0">
                <a:solidFill>
                  <a:srgbClr val="E6EDF3"/>
                </a:solidFill>
                <a:latin typeface="Calibri" pitchFamily="34" charset="0"/>
                <a:ea typeface="Calibri" pitchFamily="34" charset="-122"/>
                <a:cs typeface="Calibri" pitchFamily="34" charset="-120"/>
              </a:rPr>
              <a:t> </a:t>
            </a:r>
            <a:r>
              <a:rPr lang="en-US" sz="1050" u="sng" dirty="0">
                <a:solidFill>
                  <a:srgbClr val="4493F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Zhu et al. 2021, Deformable DETR</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The step-size argument for log-space parameters:</a:t>
            </a:r>
            <a:r>
              <a:rPr lang="en-US" sz="1050" dirty="0">
                <a:solidFill>
                  <a:srgbClr val="E6EDF3"/>
                </a:solidFill>
                <a:latin typeface="Calibri" pitchFamily="34" charset="0"/>
                <a:ea typeface="Calibri" pitchFamily="34" charset="-122"/>
                <a:cs typeface="Calibri" pitchFamily="34" charset="-120"/>
              </a:rPr>
              <a:t> </a:t>
            </a:r>
            <a:r>
              <a:rPr lang="en-US" sz="1050" u="sng" dirty="0">
                <a:solidFill>
                  <a:srgbClr val="4493F8"/>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Kingma &amp; Ba 2015, Adam</a:t>
            </a:r>
            <a:r>
              <a:rPr lang="en-US" sz="1050" dirty="0">
                <a:solidFill>
                  <a:srgbClr val="E6EDF3"/>
                </a:solidFill>
                <a:latin typeface="Calibri" pitchFamily="34" charset="0"/>
                <a:ea typeface="Calibri" pitchFamily="34" charset="-122"/>
                <a:cs typeface="Calibri" pitchFamily="34" charset="-120"/>
              </a:rPr>
              <a:t> — the update is ≈ lr per step in the parameter's own units</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The matrix logarithm of a symmetric 2×2 covariance:</a:t>
            </a:r>
            <a:r>
              <a:rPr lang="en-US" sz="1050" dirty="0">
                <a:solidFill>
                  <a:srgbClr val="E6EDF3"/>
                </a:solidFill>
                <a:latin typeface="Calibri" pitchFamily="34" charset="0"/>
                <a:ea typeface="Calibri" pitchFamily="34" charset="-122"/>
                <a:cs typeface="Calibri" pitchFamily="34" charset="-120"/>
              </a:rPr>
              <a:t> S = m·I + k·[cos 2θ, sin 2θ; sin 2θ, −cos 2θ] with m = ln σ</a:t>
            </a:r>
            <a:r>
              <a:rPr lang="en-US" sz="1050" baseline="-40000" dirty="0">
                <a:solidFill>
                  <a:srgbClr val="E6EDF3"/>
                </a:solidFill>
                <a:latin typeface="Calibri" pitchFamily="34" charset="0"/>
                <a:ea typeface="Calibri" pitchFamily="34" charset="-122"/>
                <a:cs typeface="Calibri" pitchFamily="34" charset="-120"/>
              </a:rPr>
              <a:t>1</a:t>
            </a:r>
            <a:r>
              <a:rPr lang="en-US" sz="1050" dirty="0">
                <a:solidFill>
                  <a:srgbClr val="E6EDF3"/>
                </a:solidFill>
                <a:latin typeface="Calibri" pitchFamily="34" charset="0"/>
                <a:ea typeface="Calibri" pitchFamily="34" charset="-122"/>
                <a:cs typeface="Calibri" pitchFamily="34" charset="-120"/>
              </a:rPr>
              <a:t> + ln σ</a:t>
            </a:r>
            <a:r>
              <a:rPr lang="en-US" sz="1050" baseline="-40000" dirty="0">
                <a:solidFill>
                  <a:srgbClr val="E6EDF3"/>
                </a:solidFill>
                <a:latin typeface="Calibri" pitchFamily="34" charset="0"/>
                <a:ea typeface="Calibri" pitchFamily="34" charset="-122"/>
                <a:cs typeface="Calibri" pitchFamily="34" charset="-120"/>
              </a:rPr>
              <a:t>2</a:t>
            </a:r>
            <a:r>
              <a:rPr lang="en-US" sz="1050" dirty="0">
                <a:solidFill>
                  <a:srgbClr val="E6EDF3"/>
                </a:solidFill>
                <a:latin typeface="Calibri" pitchFamily="34" charset="0"/>
                <a:ea typeface="Calibri" pitchFamily="34" charset="-122"/>
                <a:cs typeface="Calibri" pitchFamily="34" charset="-120"/>
              </a:rPr>
              <a:t>, k = ln σ</a:t>
            </a:r>
            <a:r>
              <a:rPr lang="en-US" sz="1050" baseline="-40000" dirty="0">
                <a:solidFill>
                  <a:srgbClr val="E6EDF3"/>
                </a:solidFill>
                <a:latin typeface="Calibri" pitchFamily="34" charset="0"/>
                <a:ea typeface="Calibri" pitchFamily="34" charset="-122"/>
                <a:cs typeface="Calibri" pitchFamily="34" charset="-120"/>
              </a:rPr>
              <a:t>1</a:t>
            </a:r>
            <a:r>
              <a:rPr lang="en-US" sz="1050" dirty="0">
                <a:solidFill>
                  <a:srgbClr val="E6EDF3"/>
                </a:solidFill>
                <a:latin typeface="Calibri" pitchFamily="34" charset="0"/>
                <a:ea typeface="Calibri" pitchFamily="34" charset="-122"/>
                <a:cs typeface="Calibri" pitchFamily="34" charset="-120"/>
              </a:rPr>
              <a:t> − ln σ</a:t>
            </a:r>
            <a:r>
              <a:rPr lang="en-US" sz="1050" baseline="-40000" dirty="0">
                <a:solidFill>
                  <a:srgbClr val="E6EDF3"/>
                </a:solidFill>
                <a:latin typeface="Calibri" pitchFamily="34" charset="0"/>
                <a:ea typeface="Calibri" pitchFamily="34" charset="-122"/>
                <a:cs typeface="Calibri" pitchFamily="34" charset="-120"/>
              </a:rPr>
              <a:t>2</a:t>
            </a:r>
            <a:r>
              <a:rPr lang="en-US" sz="1050" dirty="0">
                <a:solidFill>
                  <a:srgbClr val="E6EDF3"/>
                </a:solidFill>
                <a:latin typeface="Calibri" pitchFamily="34" charset="0"/>
                <a:ea typeface="Calibri" pitchFamily="34" charset="-122"/>
                <a:cs typeface="Calibri" pitchFamily="34" charset="-120"/>
              </a:rPr>
              <a:t> — standard, no reference needed</a:t>
            </a:r>
            <a:endParaRPr lang="en-US" sz="1050" dirty="0"/>
          </a:p>
          <a:p>
            <a:pPr marL="203200" indent="-203200">
              <a:spcAft>
                <a:spcPts val="700"/>
              </a:spcAft>
              <a:buSzPct val="100000"/>
              <a:buChar char="•"/>
            </a:pPr>
            <a:r>
              <a:rPr lang="en-US" sz="1050" b="1" dirty="0">
                <a:solidFill>
                  <a:srgbClr val="4493F8"/>
                </a:solidFill>
                <a:latin typeface="Calibri" pitchFamily="34" charset="0"/>
                <a:ea typeface="Calibri" pitchFamily="34" charset="-122"/>
                <a:cs typeface="Calibri" pitchFamily="34" charset="-120"/>
              </a:rPr>
              <a:t>Currents:</a:t>
            </a:r>
            <a:r>
              <a:rPr lang="en-US" sz="1050" dirty="0">
                <a:solidFill>
                  <a:srgbClr val="E6EDF3"/>
                </a:solidFill>
                <a:latin typeface="Calibri" pitchFamily="34" charset="0"/>
                <a:ea typeface="Calibri" pitchFamily="34" charset="-122"/>
                <a:cs typeface="Calibri" pitchFamily="34" charset="-120"/>
              </a:rPr>
              <a:t> E-071 §4.1's table (Somali 3.6 m/s, Gulf Stream ~2.5, DWBC 0.02–0.1 m/s); RAPID 26.5°N array for the limb directions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THE DECK ON ONE SLIDE — WITH ROOM FOR THE RESULT</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300" b="1" dirty="0">
                <a:solidFill>
                  <a:srgbClr val="E6EDF3"/>
                </a:solidFill>
                <a:latin typeface="Georgia" pitchFamily="34" charset="0"/>
                <a:ea typeface="Georgia" pitchFamily="34" charset="-122"/>
                <a:cs typeface="Georgia" pitchFamily="34" charset="-120"/>
              </a:rPr>
              <a:t>An hourglass that reads the past through a cone it shapes itself, tested three ways against its own fixed twin</a:t>
            </a:r>
            <a:endParaRPr lang="en-US" sz="23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21</a:t>
            </a:r>
            <a:endParaRPr lang="en-US" sz="1000" dirty="0"/>
          </a:p>
        </p:txBody>
      </p:sp>
      <p:sp>
        <p:nvSpPr>
          <p:cNvPr id="7" name="Text 4"/>
          <p:cNvSpPr txBox="1"/>
          <p:nvPr/>
        </p:nvSpPr>
        <p:spPr>
          <a:xfrm>
            <a:off x="548640" y="1371600"/>
            <a:ext cx="3337560"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HOURGLASS</a:t>
            </a:r>
            <a:endParaRPr lang="en-US" sz="1000" dirty="0"/>
          </a:p>
        </p:txBody>
      </p:sp>
      <p:pic>
        <p:nvPicPr>
          <p:cNvPr id="8" name="Image 0" descr="/home/claude/earth/ml/plans/E080_figures/summary_hourglass.png">    </p:cNvPr>
          <p:cNvPicPr>
            <a:picLocks noChangeAspect="1"/>
          </p:cNvPicPr>
          <p:nvPr/>
        </p:nvPicPr>
        <p:blipFill>
          <a:blip r:embed="rId1"/>
          <a:stretch>
            <a:fillRect/>
          </a:stretch>
        </p:blipFill>
        <p:spPr>
          <a:xfrm>
            <a:off x="548640" y="1627632"/>
            <a:ext cx="3337560" cy="2103120"/>
          </a:xfrm>
          <a:prstGeom prst="rect">
            <a:avLst/>
          </a:prstGeom>
        </p:spPr>
      </p:pic>
      <p:sp>
        <p:nvSpPr>
          <p:cNvPr id="9" name="Shape 5"/>
          <p:cNvSpPr/>
          <p:nvPr/>
        </p:nvSpPr>
        <p:spPr>
          <a:xfrm>
            <a:off x="548640" y="3803904"/>
            <a:ext cx="3337560" cy="2368296"/>
          </a:xfrm>
          <a:prstGeom prst="roundRect">
            <a:avLst>
              <a:gd name="adj" fmla="val 2317"/>
            </a:avLst>
          </a:prstGeom>
          <a:solidFill>
            <a:srgbClr val="161B22"/>
          </a:solidFill>
          <a:ln w="12700">
            <a:solidFill>
              <a:srgbClr val="30363D"/>
            </a:solidFill>
            <a:prstDash val="solid"/>
          </a:ln>
        </p:spPr>
      </p:sp>
      <p:sp>
        <p:nvSpPr>
          <p:cNvPr id="10" name="Text 6"/>
          <p:cNvSpPr txBox="1"/>
          <p:nvPr/>
        </p:nvSpPr>
        <p:spPr>
          <a:xfrm>
            <a:off x="749808" y="3895344"/>
            <a:ext cx="2935224" cy="2185416"/>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design · slides 3–7</a:t>
            </a:r>
            <a:endParaRPr lang="en-US" sz="1050" dirty="0"/>
          </a:p>
          <a:p>
            <a:pPr indent="0" marL="0">
              <a:buNone/>
            </a:pPr>
            <a:r>
              <a:rPr lang="en-US" sz="900" dirty="0">
                <a:solidFill>
                  <a:srgbClr val="E6EDF3"/>
                </a:solidFill>
                <a:latin typeface="Calibri" pitchFamily="34" charset="0"/>
                <a:ea typeface="Calibri" pitchFamily="34" charset="-122"/>
                <a:cs typeface="Calibri" pitchFamily="34" charset="-120"/>
              </a:rPr>
              <a:t>The present is a </a:t>
            </a:r>
            <a:r>
              <a:rPr lang="en-US" sz="900" b="1" dirty="0">
                <a:solidFill>
                  <a:srgbClr val="4493F8"/>
                </a:solidFill>
                <a:latin typeface="Calibri" pitchFamily="34" charset="0"/>
                <a:ea typeface="Calibri" pitchFamily="34" charset="-122"/>
                <a:cs typeface="Calibri" pitchFamily="34" charset="-120"/>
              </a:rPr>
              <a:t>waist</a:t>
            </a:r>
            <a:r>
              <a:rPr lang="en-US" sz="900" dirty="0">
                <a:solidFill>
                  <a:srgbClr val="E6EDF3"/>
                </a:solidFill>
                <a:latin typeface="Calibri" pitchFamily="34" charset="0"/>
                <a:ea typeface="Calibri" pitchFamily="34" charset="-122"/>
                <a:cs typeface="Calibri" pitchFamily="34" charset="-120"/>
              </a:rPr>
              <a:t> of ~13 cells, not a single tip; the past cone reads the last 30 days at every pentad; a </a:t>
            </a:r>
            <a:r>
              <a:rPr lang="en-US" sz="900" b="1" dirty="0">
                <a:solidFill>
                  <a:srgbClr val="4493F8"/>
                </a:solidFill>
                <a:latin typeface="Calibri" pitchFamily="34" charset="0"/>
                <a:ea typeface="Calibri" pitchFamily="34" charset="-122"/>
                <a:cs typeface="Calibri" pitchFamily="34" charset="-120"/>
              </a:rPr>
              <a:t>prediction cone</a:t>
            </a:r>
            <a:r>
              <a:rPr lang="en-US" sz="900" dirty="0">
                <a:solidFill>
                  <a:srgbClr val="E6EDF3"/>
                </a:solidFill>
                <a:latin typeface="Calibri" pitchFamily="34" charset="0"/>
                <a:ea typeface="Calibri" pitchFamily="34" charset="-122"/>
                <a:cs typeface="Calibri" pitchFamily="34" charset="-120"/>
              </a:rPr>
              <a:t> — the past cone mirrored through the anchor, +1…+6 pentads — is sampled the same way and used only as targets. Each example draws one of </a:t>
            </a:r>
            <a:r>
              <a:rPr lang="en-US" sz="900" b="1" dirty="0">
                <a:solidFill>
                  <a:srgbClr val="4493F8"/>
                </a:solidFill>
                <a:latin typeface="Calibri" pitchFamily="34" charset="0"/>
                <a:ea typeface="Calibri" pitchFamily="34" charset="-122"/>
                <a:cs typeface="Calibri" pitchFamily="34" charset="-120"/>
              </a:rPr>
              <a:t>four tasks</a:t>
            </a:r>
            <a:r>
              <a:rPr lang="en-US" sz="900" dirty="0">
                <a:solidFill>
                  <a:srgbClr val="E6EDF3"/>
                </a:solidFill>
                <a:latin typeface="Calibri" pitchFamily="34" charset="0"/>
                <a:ea typeface="Calibri" pitchFamily="34" charset="-122"/>
                <a:cs typeface="Calibri" pitchFamily="34" charset="-120"/>
              </a:rPr>
              <a:t>: forecast from waist + past (0.35), from the waist alone (0.15), nowcast the hidden present from the past under five dropout patterns (0.25), fill-in (0.25) — under E-069b's rules: knowable targets only, no copy targets, every loss family scored against its own predict-the-mean bar</a:t>
            </a:r>
            <a:endParaRPr lang="en-US" sz="1050" dirty="0"/>
          </a:p>
        </p:txBody>
      </p:sp>
      <p:sp>
        <p:nvSpPr>
          <p:cNvPr id="11" name="Text 7"/>
          <p:cNvSpPr txBox="1"/>
          <p:nvPr/>
        </p:nvSpPr>
        <p:spPr>
          <a:xfrm>
            <a:off x="4069080" y="1371600"/>
            <a:ext cx="3337560"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CONE THE MODEL SHAPES</a:t>
            </a:r>
            <a:endParaRPr lang="en-US" sz="1000" dirty="0"/>
          </a:p>
        </p:txBody>
      </p:sp>
      <p:pic>
        <p:nvPicPr>
          <p:cNvPr id="12" name="Image 1" descr="/home/claude/earth/ml/plans/E080_figures/summary_cone.png">    </p:cNvPr>
          <p:cNvPicPr>
            <a:picLocks noChangeAspect="1"/>
          </p:cNvPicPr>
          <p:nvPr/>
        </p:nvPicPr>
        <p:blipFill>
          <a:blip r:embed="rId2"/>
          <a:stretch>
            <a:fillRect/>
          </a:stretch>
        </p:blipFill>
        <p:spPr>
          <a:xfrm>
            <a:off x="4069080" y="1627632"/>
            <a:ext cx="3337560" cy="2103120"/>
          </a:xfrm>
          <a:prstGeom prst="rect">
            <a:avLst/>
          </a:prstGeom>
        </p:spPr>
      </p:pic>
      <p:sp>
        <p:nvSpPr>
          <p:cNvPr id="13" name="Shape 8"/>
          <p:cNvSpPr/>
          <p:nvPr/>
        </p:nvSpPr>
        <p:spPr>
          <a:xfrm>
            <a:off x="4069080" y="3803904"/>
            <a:ext cx="3337560" cy="2368296"/>
          </a:xfrm>
          <a:prstGeom prst="roundRect">
            <a:avLst>
              <a:gd name="adj" fmla="val 2317"/>
            </a:avLst>
          </a:prstGeom>
          <a:solidFill>
            <a:srgbClr val="161B22"/>
          </a:solidFill>
          <a:ln w="12700">
            <a:solidFill>
              <a:srgbClr val="30363D"/>
            </a:solidFill>
            <a:prstDash val="solid"/>
          </a:ln>
        </p:spPr>
      </p:sp>
      <p:sp>
        <p:nvSpPr>
          <p:cNvPr id="14" name="Text 9"/>
          <p:cNvSpPr txBox="1"/>
          <p:nvPr/>
        </p:nvSpPr>
        <p:spPr>
          <a:xfrm>
            <a:off x="4270248" y="3895344"/>
            <a:ext cx="2935224" cy="2185416"/>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cone the model shapes · slides 8–12</a:t>
            </a:r>
            <a:endParaRPr lang="en-US" sz="1050" dirty="0"/>
          </a:p>
          <a:p>
            <a:pPr indent="0" marL="0">
              <a:buNone/>
            </a:pPr>
            <a:r>
              <a:rPr lang="en-US" sz="850" dirty="0">
                <a:solidFill>
                  <a:srgbClr val="E6EDF3"/>
                </a:solidFill>
                <a:latin typeface="Calibri" pitchFamily="34" charset="0"/>
                <a:ea typeface="Calibri" pitchFamily="34" charset="-122"/>
                <a:cs typeface="Calibri" pitchFamily="34" charset="-120"/>
              </a:rPr>
              <a:t>A fixed 24-point sunflower, phase-rotated by the golden angle per lag, warped by </a:t>
            </a:r>
            <a:r>
              <a:rPr lang="en-US" sz="850" b="1" dirty="0">
                <a:solidFill>
                  <a:srgbClr val="4493F8"/>
                </a:solidFill>
                <a:latin typeface="Calibri" pitchFamily="34" charset="0"/>
                <a:ea typeface="Calibri" pitchFamily="34" charset="-122"/>
                <a:cs typeface="Calibri" pitchFamily="34" charset="-120"/>
              </a:rPr>
              <a:t>eight dimensionless numbers per 1° cell and channel group</a:t>
            </a:r>
            <a:r>
              <a:rPr lang="en-US" sz="850" dirty="0">
                <a:solidFill>
                  <a:srgbClr val="E6EDF3"/>
                </a:solidFill>
                <a:latin typeface="Calibri" pitchFamily="34" charset="0"/>
                <a:ea typeface="Calibri" pitchFamily="34" charset="-122"/>
                <a:cs typeface="Calibri" pitchFamily="34" charset="-120"/>
              </a:rPr>
              <a:t>: a drift </a:t>
            </a:r>
            <a:r>
              <a:rPr lang="en-US" sz="850" b="1" dirty="0">
                <a:solidFill>
                  <a:srgbClr val="4493F8"/>
                </a:solidFill>
                <a:latin typeface="Calibri" pitchFamily="34" charset="0"/>
                <a:ea typeface="Calibri" pitchFamily="34" charset="-122"/>
                <a:cs typeface="Calibri" pitchFamily="34" charset="-120"/>
              </a:rPr>
              <a:t>d</a:t>
            </a:r>
            <a:r>
              <a:rPr lang="en-US" sz="850" dirty="0">
                <a:solidFill>
                  <a:srgbClr val="E6EDF3"/>
                </a:solidFill>
                <a:latin typeface="Calibri" pitchFamily="34" charset="0"/>
                <a:ea typeface="Calibri" pitchFamily="34" charset="-122"/>
                <a:cs typeface="Calibri" pitchFamily="34" charset="-120"/>
              </a:rPr>
              <a:t> toward the source (capped at cone v2's design speed) and two ellipses stored as </a:t>
            </a:r>
            <a:r>
              <a:rPr lang="en-US" sz="850" b="1" dirty="0">
                <a:solidFill>
                  <a:srgbClr val="4493F8"/>
                </a:solidFill>
                <a:latin typeface="Calibri" pitchFamily="34" charset="0"/>
                <a:ea typeface="Calibri" pitchFamily="34" charset="-122"/>
                <a:cs typeface="Calibri" pitchFamily="34" charset="-120"/>
              </a:rPr>
              <a:t>matrix logarithms</a:t>
            </a:r>
            <a:r>
              <a:rPr lang="en-US" sz="850" dirty="0">
                <a:solidFill>
                  <a:srgbClr val="E6EDF3"/>
                </a:solidFill>
                <a:latin typeface="Calibri" pitchFamily="34" charset="0"/>
                <a:ea typeface="Calibri" pitchFamily="34" charset="-122"/>
                <a:cs typeface="Calibri" pitchFamily="34" charset="-120"/>
              </a:rPr>
              <a:t> — no kilometres, no angle to wrap — with Σ(ℓ) = Σ</a:t>
            </a:r>
            <a:r>
              <a:rPr lang="en-US" sz="850" baseline="-40000" dirty="0">
                <a:solidFill>
                  <a:srgbClr val="E6EDF3"/>
                </a:solidFill>
                <a:latin typeface="Calibri" pitchFamily="34" charset="0"/>
                <a:ea typeface="Calibri" pitchFamily="34" charset="-122"/>
                <a:cs typeface="Calibri" pitchFamily="34" charset="-120"/>
              </a:rPr>
              <a:t>0</a:t>
            </a:r>
            <a:r>
              <a:rPr lang="en-US" sz="850" dirty="0">
                <a:solidFill>
                  <a:srgbClr val="E6EDF3"/>
                </a:solidFill>
                <a:latin typeface="Calibri" pitchFamily="34" charset="0"/>
                <a:ea typeface="Calibri" pitchFamily="34" charset="-122"/>
                <a:cs typeface="Calibri" pitchFamily="34" charset="-120"/>
              </a:rPr>
              <a:t> + ℓ</a:t>
            </a:r>
            <a:r>
              <a:rPr lang="en-US" sz="850" baseline="30000" dirty="0">
                <a:solidFill>
                  <a:srgbClr val="E6EDF3"/>
                </a:solidFill>
                <a:latin typeface="Calibri" pitchFamily="34" charset="0"/>
                <a:ea typeface="Calibri" pitchFamily="34" charset="-122"/>
                <a:cs typeface="Calibri" pitchFamily="34" charset="-120"/>
              </a:rPr>
              <a:t>2</a:t>
            </a:r>
            <a:r>
              <a:rPr lang="en-US" sz="850" dirty="0">
                <a:solidFill>
                  <a:srgbClr val="E6EDF3"/>
                </a:solidFill>
                <a:latin typeface="Calibri" pitchFamily="34" charset="0"/>
                <a:ea typeface="Calibri" pitchFamily="34" charset="-122"/>
                <a:cs typeface="Calibri" pitchFamily="34" charset="-120"/>
              </a:rPr>
              <a:t>Σ</a:t>
            </a:r>
            <a:r>
              <a:rPr lang="en-US" sz="850" baseline="-40000" dirty="0">
                <a:solidFill>
                  <a:srgbClr val="E6EDF3"/>
                </a:solidFill>
                <a:latin typeface="Calibri" pitchFamily="34" charset="0"/>
                <a:ea typeface="Calibri" pitchFamily="34" charset="-122"/>
                <a:cs typeface="Calibri" pitchFamily="34" charset="-120"/>
              </a:rPr>
              <a:t>v</a:t>
            </a:r>
            <a:r>
              <a:rPr lang="en-US" sz="850" dirty="0">
                <a:solidFill>
                  <a:srgbClr val="E6EDF3"/>
                </a:solidFill>
                <a:latin typeface="Calibri" pitchFamily="34" charset="0"/>
                <a:ea typeface="Calibri" pitchFamily="34" charset="-122"/>
                <a:cs typeface="Calibri" pitchFamily="34" charset="-120"/>
              </a:rPr>
              <a:t>. </a:t>
            </a:r>
            <a:r>
              <a:rPr lang="en-US" sz="850" b="1" dirty="0">
                <a:solidFill>
                  <a:srgbClr val="4493F8"/>
                </a:solidFill>
                <a:latin typeface="Calibri" pitchFamily="34" charset="0"/>
                <a:ea typeface="Calibri" pitchFamily="34" charset="-122"/>
                <a:cs typeface="Calibri" pitchFamily="34" charset="-120"/>
              </a:rPr>
              <a:t>One direction per flow, one scale and one memory per channel</a:t>
            </a:r>
            <a:r>
              <a:rPr lang="en-US" sz="850" dirty="0">
                <a:solidFill>
                  <a:srgbClr val="E6EDF3"/>
                </a:solidFill>
                <a:latin typeface="Calibri" pitchFamily="34" charset="0"/>
                <a:ea typeface="Calibri" pitchFamily="34" charset="-122"/>
                <a:cs typeface="Calibri" pitchFamily="34" charset="-120"/>
              </a:rPr>
              <a:t>: s</a:t>
            </a:r>
            <a:r>
              <a:rPr lang="en-US" sz="850" baseline="-40000" dirty="0">
                <a:solidFill>
                  <a:srgbClr val="E6EDF3"/>
                </a:solidFill>
                <a:latin typeface="Calibri" pitchFamily="34" charset="0"/>
                <a:ea typeface="Calibri" pitchFamily="34" charset="-122"/>
                <a:cs typeface="Calibri" pitchFamily="34" charset="-120"/>
              </a:rPr>
              <a:t>c</a:t>
            </a:r>
            <a:r>
              <a:rPr lang="en-US" sz="850" dirty="0">
                <a:solidFill>
                  <a:srgbClr val="E6EDF3"/>
                </a:solidFill>
                <a:latin typeface="Calibri" pitchFamily="34" charset="0"/>
                <a:ea typeface="Calibri" pitchFamily="34" charset="-122"/>
                <a:cs typeface="Calibri" pitchFamily="34" charset="-120"/>
              </a:rPr>
              <a:t> and τ</a:t>
            </a:r>
            <a:r>
              <a:rPr lang="en-US" sz="850" baseline="-40000" dirty="0">
                <a:solidFill>
                  <a:srgbClr val="E6EDF3"/>
                </a:solidFill>
                <a:latin typeface="Calibri" pitchFamily="34" charset="0"/>
                <a:ea typeface="Calibri" pitchFamily="34" charset="-122"/>
                <a:cs typeface="Calibri" pitchFamily="34" charset="-120"/>
              </a:rPr>
              <a:t>c</a:t>
            </a:r>
            <a:r>
              <a:rPr lang="en-US" sz="850" dirty="0">
                <a:solidFill>
                  <a:srgbClr val="E6EDF3"/>
                </a:solidFill>
                <a:latin typeface="Calibri" pitchFamily="34" charset="0"/>
                <a:ea typeface="Calibri" pitchFamily="34" charset="-122"/>
                <a:cs typeface="Calibri" pitchFamily="34" charset="-120"/>
              </a:rPr>
              <a:t> inflate or shrink the shared ellipse and set how far back the channel reads, applied as a Gaussian </a:t>
            </a:r>
            <a:r>
              <a:rPr lang="en-US" sz="850" b="1" dirty="0">
                <a:solidFill>
                  <a:srgbClr val="4493F8"/>
                </a:solidFill>
                <a:latin typeface="Calibri" pitchFamily="34" charset="0"/>
                <a:ea typeface="Calibri" pitchFamily="34" charset="-122"/>
                <a:cs typeface="Calibri" pitchFamily="34" charset="-120"/>
              </a:rPr>
              <a:t>aperture</a:t>
            </a:r>
            <a:r>
              <a:rPr lang="en-US" sz="850" dirty="0">
                <a:solidFill>
                  <a:srgbClr val="E6EDF3"/>
                </a:solidFill>
                <a:latin typeface="Calibri" pitchFamily="34" charset="0"/>
                <a:ea typeface="Calibri" pitchFamily="34" charset="-122"/>
                <a:cs typeface="Calibri" pitchFamily="34" charset="-120"/>
              </a:rPr>
              <a:t> over the group's shared per-location tokens — zero extra tokens. Learned </a:t>
            </a:r>
            <a:r>
              <a:rPr lang="en-US" sz="850" b="1" dirty="0">
                <a:solidFill>
                  <a:srgbClr val="4493F8"/>
                </a:solidFill>
                <a:latin typeface="Calibri" pitchFamily="34" charset="0"/>
                <a:ea typeface="Calibri" pitchFamily="34" charset="-122"/>
                <a:cs typeface="Calibri" pitchFamily="34" charset="-120"/>
              </a:rPr>
              <a:t>gate-first</a:t>
            </a:r>
            <a:r>
              <a:rPr lang="en-US" sz="850" dirty="0">
                <a:solidFill>
                  <a:srgbClr val="E6EDF3"/>
                </a:solidFill>
                <a:latin typeface="Calibri" pitchFamily="34" charset="0"/>
                <a:ea typeface="Calibri" pitchFamily="34" charset="-122"/>
                <a:cs typeface="Calibri" pitchFamily="34" charset="-120"/>
              </a:rPr>
              <a:t> (a soft aperture over fixed dots, so the loader never depends on live weights), then </a:t>
            </a:r>
            <a:r>
              <a:rPr lang="en-US" sz="850" b="1" dirty="0">
                <a:solidFill>
                  <a:srgbClr val="4493F8"/>
                </a:solidFill>
                <a:latin typeface="Calibri" pitchFamily="34" charset="0"/>
                <a:ea typeface="Calibri" pitchFamily="34" charset="-122"/>
                <a:cs typeface="Calibri" pitchFamily="34" charset="-120"/>
              </a:rPr>
              <a:t>hardened</a:t>
            </a:r>
            <a:r>
              <a:rPr lang="en-US" sz="850" dirty="0">
                <a:solidFill>
                  <a:srgbClr val="E6EDF3"/>
                </a:solidFill>
                <a:latin typeface="Calibri" pitchFamily="34" charset="0"/>
                <a:ea typeface="Calibri" pitchFamily="34" charset="-122"/>
                <a:cs typeface="Calibri" pitchFamily="34" charset="-120"/>
              </a:rPr>
              <a:t> (dot tables re-baked at epoch boundaries)</a:t>
            </a:r>
            <a:endParaRPr lang="en-US" sz="1050" dirty="0"/>
          </a:p>
        </p:txBody>
      </p:sp>
      <p:sp>
        <p:nvSpPr>
          <p:cNvPr id="15" name="Text 10"/>
          <p:cNvSpPr txBox="1"/>
          <p:nvPr/>
        </p:nvSpPr>
        <p:spPr>
          <a:xfrm>
            <a:off x="7589520" y="1371600"/>
            <a:ext cx="4050792"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EXPERIMENT</a:t>
            </a:r>
            <a:endParaRPr lang="en-US" sz="1000" dirty="0"/>
          </a:p>
        </p:txBody>
      </p:sp>
      <p:sp>
        <p:nvSpPr>
          <p:cNvPr id="16" name="Shape 11"/>
          <p:cNvSpPr/>
          <p:nvPr/>
        </p:nvSpPr>
        <p:spPr>
          <a:xfrm>
            <a:off x="7589520" y="1627632"/>
            <a:ext cx="4050792" cy="2103120"/>
          </a:xfrm>
          <a:prstGeom prst="roundRect">
            <a:avLst>
              <a:gd name="adj" fmla="val 2609"/>
            </a:avLst>
          </a:prstGeom>
          <a:solidFill>
            <a:srgbClr val="11202F"/>
          </a:solidFill>
          <a:ln w="19050">
            <a:solidFill>
              <a:srgbClr val="E3B341"/>
            </a:solidFill>
            <a:prstDash val="dash"/>
          </a:ln>
        </p:spPr>
      </p:sp>
      <p:sp>
        <p:nvSpPr>
          <p:cNvPr id="17" name="Text 12"/>
          <p:cNvSpPr txBox="1"/>
          <p:nvPr/>
        </p:nvSpPr>
        <p:spPr>
          <a:xfrm>
            <a:off x="7589520" y="2176272"/>
            <a:ext cx="4050792" cy="384048"/>
          </a:xfrm>
          <a:prstGeom prst="rect">
            <a:avLst/>
          </a:prstGeom>
          <a:noFill/>
          <a:ln/>
        </p:spPr>
        <p:txBody>
          <a:bodyPr wrap="square" lIns="0" tIns="0" rIns="0" bIns="0" rtlCol="0" anchor="ctr"/>
          <a:lstStyle/>
          <a:p>
            <a:pPr algn="ctr" indent="0" marL="0">
              <a:buNone/>
            </a:pPr>
            <a:r>
              <a:rPr lang="en-US" sz="1600" b="1" dirty="0">
                <a:solidFill>
                  <a:srgbClr val="7D8590"/>
                </a:solidFill>
                <a:latin typeface="Calibri" pitchFamily="34" charset="0"/>
                <a:ea typeface="Calibri" pitchFamily="34" charset="-122"/>
                <a:cs typeface="Calibri" pitchFamily="34" charset="-120"/>
              </a:rPr>
              <a:t>RESULTS — figure to be inserted</a:t>
            </a:r>
            <a:endParaRPr lang="en-US" sz="1600" dirty="0"/>
          </a:p>
        </p:txBody>
      </p:sp>
      <p:sp>
        <p:nvSpPr>
          <p:cNvPr id="18" name="Text 13"/>
          <p:cNvSpPr txBox="1"/>
          <p:nvPr/>
        </p:nvSpPr>
        <p:spPr>
          <a:xfrm>
            <a:off x="7955280" y="2651760"/>
            <a:ext cx="3319272" cy="731520"/>
          </a:xfrm>
          <a:prstGeom prst="rect">
            <a:avLst/>
          </a:prstGeom>
          <a:noFill/>
          <a:ln/>
        </p:spPr>
        <p:txBody>
          <a:bodyPr wrap="square" lIns="0" tIns="0" rIns="0" bIns="0" rtlCol="0" anchor="t"/>
          <a:lstStyle/>
          <a:p>
            <a:pPr algn="ctr" indent="0" marL="0">
              <a:buNone/>
            </a:pPr>
            <a:r>
              <a:rPr lang="en-US" sz="1000" dirty="0">
                <a:solidFill>
                  <a:srgbClr val="7D8590"/>
                </a:solidFill>
                <a:latin typeface="Calibri" pitchFamily="34" charset="0"/>
                <a:ea typeface="Calibri" pitchFamily="34" charset="-122"/>
                <a:cs typeface="Calibri" pitchFamily="34" charset="-120"/>
              </a:rPr>
              <a:t>R1 · future-cone loss per lead, A0 fixed / A1 learned / A2 primed, 3 seeds · R3 · learned drift vs upstream · R4 · the western-boundary depth check</a:t>
            </a:r>
            <a:endParaRPr lang="en-US" sz="1000" dirty="0"/>
          </a:p>
        </p:txBody>
      </p:sp>
      <p:sp>
        <p:nvSpPr>
          <p:cNvPr id="19" name="Text 14"/>
          <p:cNvSpPr txBox="1"/>
          <p:nvPr/>
        </p:nvSpPr>
        <p:spPr>
          <a:xfrm>
            <a:off x="7589520" y="3749040"/>
            <a:ext cx="4050792" cy="274320"/>
          </a:xfrm>
          <a:prstGeom prst="rect">
            <a:avLst/>
          </a:prstGeom>
          <a:noFill/>
          <a:ln/>
        </p:spPr>
        <p:txBody>
          <a:bodyPr wrap="square" lIns="0" tIns="0" rIns="0" bIns="0" rtlCol="0" anchor="ctr"/>
          <a:lstStyle/>
          <a:p>
            <a:pPr indent="0" marL="0">
              <a:buNone/>
            </a:pPr>
            <a:r>
              <a:rPr lang="en-US" sz="950" i="1" dirty="0">
                <a:solidFill>
                  <a:srgbClr val="7D8590"/>
                </a:solidFill>
                <a:latin typeface="Calibri" pitchFamily="34" charset="0"/>
                <a:ea typeface="Calibri" pitchFamily="34" charset="-122"/>
                <a:cs typeface="Calibri" pitchFamily="34" charset="-120"/>
              </a:rPr>
              <a:t>Reserved for the measured result — empty until a run has produced it.</a:t>
            </a:r>
            <a:endParaRPr lang="en-US" sz="950" dirty="0"/>
          </a:p>
        </p:txBody>
      </p:sp>
      <p:sp>
        <p:nvSpPr>
          <p:cNvPr id="20" name="Shape 15"/>
          <p:cNvSpPr/>
          <p:nvPr/>
        </p:nvSpPr>
        <p:spPr>
          <a:xfrm>
            <a:off x="7589520" y="4041648"/>
            <a:ext cx="4050792" cy="960120"/>
          </a:xfrm>
          <a:prstGeom prst="roundRect">
            <a:avLst>
              <a:gd name="adj" fmla="val 5714"/>
            </a:avLst>
          </a:prstGeom>
          <a:solidFill>
            <a:srgbClr val="161B22"/>
          </a:solidFill>
          <a:ln w="12700">
            <a:solidFill>
              <a:srgbClr val="30363D"/>
            </a:solidFill>
            <a:prstDash val="solid"/>
          </a:ln>
        </p:spPr>
      </p:sp>
      <p:sp>
        <p:nvSpPr>
          <p:cNvPr id="21" name="Text 16"/>
          <p:cNvSpPr txBox="1"/>
          <p:nvPr/>
        </p:nvSpPr>
        <p:spPr>
          <a:xfrm>
            <a:off x="7790688" y="4133088"/>
            <a:ext cx="3648456" cy="777240"/>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guards · slides 13, 15</a:t>
            </a:r>
            <a:endParaRPr lang="en-US" sz="1050" dirty="0"/>
          </a:p>
          <a:p>
            <a:pPr indent="0" marL="0">
              <a:buNone/>
            </a:pPr>
            <a:r>
              <a:rPr lang="en-US" sz="850" dirty="0">
                <a:solidFill>
                  <a:srgbClr val="E6EDF3"/>
                </a:solidFill>
                <a:latin typeface="Calibri" pitchFamily="34" charset="0"/>
                <a:ea typeface="Calibri" pitchFamily="34" charset="-122"/>
                <a:cs typeface="Calibri" pitchFamily="34" charset="-120"/>
              </a:rPr>
              <a:t>Coarse-10°-plus-1°-residual prior; log-space soft floors; mirror tie; stop-gradient on target positions; evaluation geometry frozen for every arm; the far ring kept and never gated; the aperture never touches the loss weights — so the cone cannot learn to ask easy questions</a:t>
            </a:r>
            <a:endParaRPr lang="en-US" sz="1050" dirty="0"/>
          </a:p>
        </p:txBody>
      </p:sp>
      <p:sp>
        <p:nvSpPr>
          <p:cNvPr id="22" name="Shape 17"/>
          <p:cNvSpPr/>
          <p:nvPr/>
        </p:nvSpPr>
        <p:spPr>
          <a:xfrm>
            <a:off x="7589520" y="5056632"/>
            <a:ext cx="4050792" cy="1115568"/>
          </a:xfrm>
          <a:prstGeom prst="roundRect">
            <a:avLst>
              <a:gd name="adj" fmla="val 4918"/>
            </a:avLst>
          </a:prstGeom>
          <a:solidFill>
            <a:srgbClr val="161B22"/>
          </a:solidFill>
          <a:ln w="12700">
            <a:solidFill>
              <a:srgbClr val="30363D"/>
            </a:solidFill>
            <a:prstDash val="solid"/>
          </a:ln>
        </p:spPr>
      </p:sp>
      <p:sp>
        <p:nvSpPr>
          <p:cNvPr id="23" name="Text 18"/>
          <p:cNvSpPr txBox="1"/>
          <p:nvPr/>
        </p:nvSpPr>
        <p:spPr>
          <a:xfrm>
            <a:off x="7790688" y="5148072"/>
            <a:ext cx="3648456" cy="932688"/>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experiment · verdict · slide 17</a:t>
            </a:r>
            <a:endParaRPr lang="en-US" sz="1050" dirty="0"/>
          </a:p>
          <a:p>
            <a:pPr indent="0" marL="0">
              <a:buNone/>
            </a:pPr>
            <a:r>
              <a:rPr lang="en-US" sz="850" b="1" dirty="0">
                <a:solidFill>
                  <a:srgbClr val="4493F8"/>
                </a:solidFill>
                <a:latin typeface="Calibri" pitchFamily="34" charset="0"/>
                <a:ea typeface="Calibri" pitchFamily="34" charset="-122"/>
                <a:cs typeface="Calibri" pitchFamily="34" charset="-120"/>
              </a:rPr>
              <a:t>A0</a:t>
            </a:r>
            <a:r>
              <a:rPr lang="en-US" sz="850" dirty="0">
                <a:solidFill>
                  <a:srgbClr val="E6EDF3"/>
                </a:solidFill>
                <a:latin typeface="Calibri" pitchFamily="34" charset="0"/>
                <a:ea typeface="Calibri" pitchFamily="34" charset="-122"/>
                <a:cs typeface="Calibri" pitchFamily="34" charset="-120"/>
              </a:rPr>
              <a:t> fixed hourglass — the control and everyone's eval geometry · </a:t>
            </a:r>
            <a:r>
              <a:rPr lang="en-US" sz="850" b="1" dirty="0">
                <a:solidFill>
                  <a:srgbClr val="4493F8"/>
                </a:solidFill>
                <a:latin typeface="Calibri" pitchFamily="34" charset="0"/>
                <a:ea typeface="Calibri" pitchFamily="34" charset="-122"/>
                <a:cs typeface="Calibri" pitchFamily="34" charset="-120"/>
              </a:rPr>
              <a:t>A1</a:t>
            </a:r>
            <a:r>
              <a:rPr lang="en-US" sz="850" dirty="0">
                <a:solidFill>
                  <a:srgbClr val="E6EDF3"/>
                </a:solidFill>
                <a:latin typeface="Calibri" pitchFamily="34" charset="0"/>
                <a:ea typeface="Calibri" pitchFamily="34" charset="-122"/>
                <a:cs typeface="Calibri" pitchFamily="34" charset="-120"/>
              </a:rPr>
              <a:t> learned from A0's init · </a:t>
            </a:r>
            <a:r>
              <a:rPr lang="en-US" sz="850" b="1" dirty="0">
                <a:solidFill>
                  <a:srgbClr val="4493F8"/>
                </a:solidFill>
                <a:latin typeface="Calibri" pitchFamily="34" charset="0"/>
                <a:ea typeface="Calibri" pitchFamily="34" charset="-122"/>
                <a:cs typeface="Calibri" pitchFamily="34" charset="-120"/>
              </a:rPr>
              <a:t>A2</a:t>
            </a:r>
            <a:r>
              <a:rPr lang="en-US" sz="850" dirty="0">
                <a:solidFill>
                  <a:srgbClr val="E6EDF3"/>
                </a:solidFill>
                <a:latin typeface="Calibri" pitchFamily="34" charset="0"/>
                <a:ea typeface="Calibri" pitchFamily="34" charset="-122"/>
                <a:cs typeface="Calibri" pitchFamily="34" charset="-120"/>
              </a:rPr>
              <a:t> learned, surface drift primed at −u_clim·Δt. Same 7 M codec, 20 k steps, frozen protocol, </a:t>
            </a:r>
            <a:r>
              <a:rPr lang="en-US" sz="850" b="1" dirty="0">
                <a:solidFill>
                  <a:srgbClr val="4493F8"/>
                </a:solidFill>
                <a:latin typeface="Calibri" pitchFamily="34" charset="0"/>
                <a:ea typeface="Calibri" pitchFamily="34" charset="-122"/>
                <a:cs typeface="Calibri" pitchFamily="34" charset="-120"/>
              </a:rPr>
              <a:t>3 seeds each</a:t>
            </a:r>
            <a:r>
              <a:rPr lang="en-US" sz="850" dirty="0">
                <a:solidFill>
                  <a:srgbClr val="E6EDF3"/>
                </a:solidFill>
                <a:latin typeface="Calibri" pitchFamily="34" charset="0"/>
                <a:ea typeface="Calibri" pitchFamily="34" charset="-122"/>
                <a:cs typeface="Calibri" pitchFamily="34" charset="-120"/>
              </a:rPr>
              <a:t>, one tensor (</a:t>
            </a:r>
            <a:r>
              <a:rPr lang="en-US" sz="850" u="sng" dirty="0">
                <a:solidFill>
                  <a:srgbClr val="4493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family 7.2</a:t>
            </a:r>
            <a:r>
              <a:rPr lang="en-US" sz="850" dirty="0">
                <a:solidFill>
                  <a:srgbClr val="E6EDF3"/>
                </a:solidFill>
                <a:latin typeface="Calibri" pitchFamily="34" charset="0"/>
                <a:ea typeface="Calibri" pitchFamily="34" charset="-122"/>
                <a:cs typeface="Calibri" pitchFamily="34" charset="-120"/>
              </a:rPr>
              <a:t>); read-outs R1–R5. </a:t>
            </a:r>
            <a:r>
              <a:rPr lang="en-US" sz="850" b="1" dirty="0">
                <a:solidFill>
                  <a:srgbClr val="4493F8"/>
                </a:solidFill>
                <a:latin typeface="Calibri" pitchFamily="34" charset="0"/>
                <a:ea typeface="Calibri" pitchFamily="34" charset="-122"/>
                <a:cs typeface="Calibri" pitchFamily="34" charset="-120"/>
              </a:rPr>
              <a:t>Verdict</a:t>
            </a:r>
            <a:r>
              <a:rPr lang="en-US" sz="850" dirty="0">
                <a:solidFill>
                  <a:srgbClr val="E6EDF3"/>
                </a:solidFill>
                <a:latin typeface="Calibri" pitchFamily="34" charset="0"/>
                <a:ea typeface="Calibri" pitchFamily="34" charset="-122"/>
                <a:cs typeface="Calibri" pitchFamily="34" charset="-120"/>
              </a:rPr>
              <a:t>: A1 beats A0 on R1 at every lead ≤ 3, paired at all seeds, R5 clean → adopt; A2 &gt; A1 ≈ A0 → geometry from climatology; neither → keep A0</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THE SAME HOURGLASS AT TWO SCALES</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1700" b="1" dirty="0">
                <a:solidFill>
                  <a:srgbClr val="E6EDF3"/>
                </a:solidFill>
                <a:latin typeface="Georgia" pitchFamily="34" charset="0"/>
                <a:ea typeface="Georgia" pitchFamily="34" charset="-122"/>
                <a:cs typeface="Georgia" pitchFamily="34" charset="-120"/>
              </a:rPr>
              <a:t>Stage 1 reads raw values through a small hourglass; stage 2 reads stage 1's embeddings through the same shape, twenty times longer and five times wider</a:t>
            </a:r>
            <a:endParaRPr lang="en-US" sz="1700" dirty="0"/>
          </a:p>
        </p:txBody>
      </p:sp>
      <p:sp>
        <p:nvSpPr>
          <p:cNvPr id="4" name="Text 2"/>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5" name="Text 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22</a:t>
            </a:r>
            <a:endParaRPr lang="en-US" sz="1000" dirty="0"/>
          </a:p>
        </p:txBody>
      </p:sp>
      <p:pic>
        <p:nvPicPr>
          <p:cNvPr id="7" name="Image 0" descr="/home/claude/earth/ml/plans/E080_figures/two_scales_3d.png">    </p:cNvPr>
          <p:cNvPicPr>
            <a:picLocks noChangeAspect="1"/>
          </p:cNvPicPr>
          <p:nvPr/>
        </p:nvPicPr>
        <p:blipFill>
          <a:blip r:embed="rId1"/>
          <a:stretch>
            <a:fillRect/>
          </a:stretch>
        </p:blipFill>
        <p:spPr>
          <a:xfrm>
            <a:off x="956920" y="1316736"/>
            <a:ext cx="10277856" cy="4484817"/>
          </a:xfrm>
          <a:prstGeom prst="rect">
            <a:avLst/>
          </a:prstGeom>
        </p:spPr>
      </p:pic>
      <p:sp>
        <p:nvSpPr>
          <p:cNvPr id="8" name="Text 4"/>
          <p:cNvSpPr txBox="1"/>
          <p:nvPr/>
        </p:nvSpPr>
        <p:spPr>
          <a:xfrm>
            <a:off x="548640" y="5861304"/>
            <a:ext cx="11091672" cy="219456"/>
          </a:xfrm>
          <a:prstGeom prst="rect">
            <a:avLst/>
          </a:prstGeom>
          <a:noFill/>
          <a:ln/>
        </p:spPr>
        <p:txBody>
          <a:bodyPr wrap="square" lIns="0" tIns="0" rIns="0" bIns="0" rtlCol="0" anchor="ctr"/>
          <a:lstStyle/>
          <a:p>
            <a:pPr indent="0" marL="0">
              <a:buNone/>
            </a:pPr>
            <a:r>
              <a:rPr lang="en-US" sz="900" i="1" dirty="0">
                <a:solidFill>
                  <a:srgbClr val="7D8590"/>
                </a:solidFill>
                <a:latin typeface="Calibri" pitchFamily="34" charset="0"/>
                <a:ea typeface="Calibri" pitchFamily="34" charset="-122"/>
                <a:cs typeface="Calibri" pitchFamily="34" charset="-120"/>
              </a:rPr>
              <a:t>Stage 2's mirrored future side is the E-080 shape carried up a level — design intent; the stage-2 heads scored so far predict the next embedding and roll it forward.</a:t>
            </a:r>
            <a:endParaRPr lang="en-US" sz="900" dirty="0"/>
          </a:p>
        </p:txBody>
      </p:sp>
      <p:sp>
        <p:nvSpPr>
          <p:cNvPr id="9" name="Shape 5"/>
          <p:cNvSpPr/>
          <p:nvPr/>
        </p:nvSpPr>
        <p:spPr>
          <a:xfrm>
            <a:off x="548640" y="6158484"/>
            <a:ext cx="118872" cy="118872"/>
          </a:xfrm>
          <a:prstGeom prst="rect">
            <a:avLst/>
          </a:prstGeom>
          <a:solidFill>
            <a:srgbClr val="4493F8"/>
          </a:solidFill>
          <a:ln w="6350">
            <a:solidFill>
              <a:srgbClr val="4493F8"/>
            </a:solidFill>
            <a:prstDash val="solid"/>
          </a:ln>
        </p:spPr>
      </p:sp>
      <p:sp>
        <p:nvSpPr>
          <p:cNvPr id="10" name="Text 6"/>
          <p:cNvSpPr txBox="1"/>
          <p:nvPr/>
        </p:nvSpPr>
        <p:spPr>
          <a:xfrm>
            <a:off x="731520" y="6089904"/>
            <a:ext cx="3337560" cy="256032"/>
          </a:xfrm>
          <a:prstGeom prst="rect">
            <a:avLst/>
          </a:prstGeom>
          <a:noFill/>
          <a:ln/>
        </p:spPr>
        <p:txBody>
          <a:bodyPr wrap="square" lIns="0" tIns="0" rIns="0" bIns="0" rtlCol="0" anchor="ctr"/>
          <a:lstStyle/>
          <a:p>
            <a:pPr indent="0" marL="0">
              <a:buNone/>
            </a:pPr>
            <a:r>
              <a:rPr lang="en-US" sz="900" b="1" dirty="0">
                <a:solidFill>
                  <a:srgbClr val="4493F8"/>
                </a:solidFill>
                <a:latin typeface="Calibri" pitchFamily="34" charset="0"/>
                <a:ea typeface="Calibri" pitchFamily="34" charset="-122"/>
                <a:cs typeface="Calibri" pitchFamily="34" charset="-120"/>
              </a:rPr>
              <a:t>past cone</a:t>
            </a:r>
            <a:r>
              <a:rPr lang="en-US" sz="900" dirty="0">
                <a:solidFill>
                  <a:srgbClr val="E6EDF3"/>
                </a:solidFill>
                <a:latin typeface="Calibri" pitchFamily="34" charset="0"/>
                <a:ea typeface="Calibri" pitchFamily="34" charset="-122"/>
                <a:cs typeface="Calibri" pitchFamily="34" charset="-120"/>
              </a:rPr>
              <a:t> · input, never a forecast target, sometimes held out</a:t>
            </a:r>
            <a:endParaRPr lang="en-US" sz="900" dirty="0"/>
          </a:p>
        </p:txBody>
      </p:sp>
      <p:sp>
        <p:nvSpPr>
          <p:cNvPr id="11" name="Shape 7"/>
          <p:cNvSpPr/>
          <p:nvPr/>
        </p:nvSpPr>
        <p:spPr>
          <a:xfrm>
            <a:off x="4160520" y="6158484"/>
            <a:ext cx="118872" cy="118872"/>
          </a:xfrm>
          <a:prstGeom prst="rect">
            <a:avLst/>
          </a:prstGeom>
          <a:solidFill>
            <a:srgbClr val="E3B341"/>
          </a:solidFill>
          <a:ln w="6350">
            <a:solidFill>
              <a:srgbClr val="E3B341"/>
            </a:solidFill>
            <a:prstDash val="solid"/>
          </a:ln>
        </p:spPr>
      </p:sp>
      <p:sp>
        <p:nvSpPr>
          <p:cNvPr id="12" name="Text 8"/>
          <p:cNvSpPr txBox="1"/>
          <p:nvPr/>
        </p:nvSpPr>
        <p:spPr>
          <a:xfrm>
            <a:off x="4343400" y="6089904"/>
            <a:ext cx="2880360" cy="256032"/>
          </a:xfrm>
          <a:prstGeom prst="rect">
            <a:avLst/>
          </a:prstGeom>
          <a:noFill/>
          <a:ln/>
        </p:spPr>
        <p:txBody>
          <a:bodyPr wrap="square" lIns="0" tIns="0" rIns="0" bIns="0" rtlCol="0" anchor="ctr"/>
          <a:lstStyle/>
          <a:p>
            <a:pPr indent="0" marL="0">
              <a:buNone/>
            </a:pPr>
            <a:r>
              <a:rPr lang="en-US" sz="900" b="1" dirty="0">
                <a:solidFill>
                  <a:srgbClr val="E3B341"/>
                </a:solidFill>
                <a:latin typeface="Calibri" pitchFamily="34" charset="0"/>
                <a:ea typeface="Calibri" pitchFamily="34" charset="-122"/>
                <a:cs typeface="Calibri" pitchFamily="34" charset="-120"/>
              </a:rPr>
              <a:t>waist</a:t>
            </a:r>
            <a:r>
              <a:rPr lang="en-US" sz="900" dirty="0">
                <a:solidFill>
                  <a:srgbClr val="E6EDF3"/>
                </a:solidFill>
                <a:latin typeface="Calibri" pitchFamily="34" charset="0"/>
                <a:ea typeface="Calibri" pitchFamily="34" charset="-122"/>
                <a:cs typeface="Calibri" pitchFamily="34" charset="-120"/>
              </a:rPr>
              <a:t> · present — input in T1/T2/T4, predicted in T3</a:t>
            </a:r>
            <a:endParaRPr lang="en-US" sz="900" dirty="0"/>
          </a:p>
        </p:txBody>
      </p:sp>
      <p:sp>
        <p:nvSpPr>
          <p:cNvPr id="13" name="Shape 9"/>
          <p:cNvSpPr/>
          <p:nvPr/>
        </p:nvSpPr>
        <p:spPr>
          <a:xfrm>
            <a:off x="7360920" y="6158484"/>
            <a:ext cx="118872" cy="118872"/>
          </a:xfrm>
          <a:prstGeom prst="rect">
            <a:avLst/>
          </a:prstGeom>
          <a:solidFill>
            <a:srgbClr val="E8734A"/>
          </a:solidFill>
          <a:ln w="6350">
            <a:solidFill>
              <a:srgbClr val="E8734A"/>
            </a:solidFill>
            <a:prstDash val="solid"/>
          </a:ln>
        </p:spPr>
      </p:sp>
      <p:sp>
        <p:nvSpPr>
          <p:cNvPr id="14" name="Text 10"/>
          <p:cNvSpPr txBox="1"/>
          <p:nvPr/>
        </p:nvSpPr>
        <p:spPr>
          <a:xfrm>
            <a:off x="7543800" y="6089904"/>
            <a:ext cx="2103120" cy="256032"/>
          </a:xfrm>
          <a:prstGeom prst="rect">
            <a:avLst/>
          </a:prstGeom>
          <a:noFill/>
          <a:ln/>
        </p:spPr>
        <p:txBody>
          <a:bodyPr wrap="square" lIns="0" tIns="0" rIns="0" bIns="0" rtlCol="0" anchor="ctr"/>
          <a:lstStyle/>
          <a:p>
            <a:pPr indent="0" marL="0">
              <a:buNone/>
            </a:pPr>
            <a:r>
              <a:rPr lang="en-US" sz="900" b="1" dirty="0">
                <a:solidFill>
                  <a:srgbClr val="E8734A"/>
                </a:solidFill>
                <a:latin typeface="Calibri" pitchFamily="34" charset="0"/>
                <a:ea typeface="Calibri" pitchFamily="34" charset="-122"/>
                <a:cs typeface="Calibri" pitchFamily="34" charset="-120"/>
              </a:rPr>
              <a:t>future cone</a:t>
            </a:r>
            <a:r>
              <a:rPr lang="en-US" sz="900" dirty="0">
                <a:solidFill>
                  <a:srgbClr val="E6EDF3"/>
                </a:solidFill>
                <a:latin typeface="Calibri" pitchFamily="34" charset="0"/>
                <a:ea typeface="Calibri" pitchFamily="34" charset="-122"/>
                <a:cs typeface="Calibri" pitchFamily="34" charset="-120"/>
              </a:rPr>
              <a:t> · targets only, never input</a:t>
            </a:r>
            <a:endParaRPr lang="en-US" sz="900" dirty="0"/>
          </a:p>
        </p:txBody>
      </p:sp>
      <p:sp>
        <p:nvSpPr>
          <p:cNvPr id="15" name="Text 11"/>
          <p:cNvSpPr txBox="1"/>
          <p:nvPr/>
        </p:nvSpPr>
        <p:spPr>
          <a:xfrm>
            <a:off x="9674352" y="6089904"/>
            <a:ext cx="1965960" cy="256032"/>
          </a:xfrm>
          <a:prstGeom prst="rect">
            <a:avLst/>
          </a:prstGeom>
          <a:noFill/>
          <a:ln/>
        </p:spPr>
        <p:txBody>
          <a:bodyPr wrap="square" lIns="0" tIns="0" rIns="0" bIns="0" rtlCol="0" anchor="ctr"/>
          <a:lstStyle/>
          <a:p>
            <a:pPr algn="r" indent="0" marL="0">
              <a:buNone/>
            </a:pPr>
            <a:r>
              <a:rPr lang="en-US" sz="850" u="sng" dirty="0">
                <a:solidFill>
                  <a:srgbClr val="4493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cone.py::outer_spiral</a:t>
            </a:r>
            <a:r>
              <a:rPr lang="en-US" sz="850" dirty="0">
                <a:solidFill>
                  <a:srgbClr val="7D8590"/>
                </a:solidFill>
                <a:latin typeface="Calibri" pitchFamily="34" charset="0"/>
                <a:ea typeface="Calibri" pitchFamily="34" charset="-122"/>
                <a:cs typeface="Calibri" pitchFamily="34" charset="-120"/>
              </a:rPr>
              <a:t>  ·  </a:t>
            </a:r>
            <a:r>
              <a:rPr lang="en-US" sz="850" u="sng" dirty="0">
                <a:solidFill>
                  <a:srgbClr val="4493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E-071 §4.5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cut-off mirrored double cone</dc:title>
  <dc:subject>PptxGenJS Presentation</dc:subject>
  <dc:creator>Deck builder</dc:creator>
  <cp:lastModifiedBy>Deck builder</cp:lastModifiedBy>
  <cp:revision>1</cp:revision>
  <dcterms:created xsi:type="dcterms:W3CDTF">2026-09-17T12:58:24Z</dcterms:created>
  <dcterms:modified xsi:type="dcterms:W3CDTF">2026-09-17T12:58:24Z</dcterms:modified>
</cp:coreProperties>
</file>