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rotates, stretches and shifts, read from the data by interpolation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The cone becomes a warped sunflower. Start with the sunflower we already use — a fixed pattern of about twenty-four points on the unit disc, placed by the golden angle so every bearing is covered once. Seven numbers per region turn that pattern into a cone. A drift vector, two numbers, says where the centre of the pattern moves for each pentad you step back in time; that is the arrow toward the source of the current, and it is the thing Chris asked the model to learn. An angle orients the ellipse. Two semi-axes set the size and elongation of the waist. Two growth rates say how much each axis widens per pentad — the spread, which stands in for eddies and uncertainty in the path. The future cone uses the same seven numbers reflected: its centre at lead plus three is minus three times the drift, downstream. And at every lag the anchor's own cell is added as a fixed point, so the cone can lean away from the anchor without ever losing the anchor's own history. Seven numbers is deliberately few. It makes the learned shape something you can draw on a map and argue with — a drift map of the world ocean is itself a result — and it keeps the parameters far too few to memorise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By never snapping the dots to cells. A dot sits at a continuous position and reads the field by interpolating the four cells around it, with the observed flags folded into the weights so a missing cell contributes nothing and the dot also reports what fraction of its footprint was observed. The interpolation weights depend smoothly on the position; the position depends on the seven numbers; so the derivative of the loss with respect to the drift, the angle and the axes exists and ordinary backpropagation delivers it. This is the trick behind deformable convolutions and spatial transformer networks, applied here to a gather rather than a convolution. One refinement matters: a plain bilinear read has a gradient that only sees four cells, so a cone could never discover a driver half a degree away. Instead each dot reads a Gaussian footprint whose width follows the spacing between dots — a dot means "this area", which is physically right — taken from a pre-averaged pyramid of the tensor, so the read is still one gather. The cost class is the one we have: one gather per dot, on the fly, addressed by the same key an E-069 example has, plus the pyramid built once per tensor.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seven numbers live? On a one-degree map. A one-degree grid over the globe has about sixty-five thousand cells; an anchor takes the blend of the four cells around it, so the geometry varies smoothly and never jumps at a cell edge. One degree is not a round number picked for comfort: the currents that carry the overturning are about a hundred kilometres wide — the Florida Current runs through an eighty-kilometre strait — and a ten-degree cell would average the Gulf Stream with the water flowing back the other way beside it and learn an arrow of nearly zero. The concern with a fine map is noise in cells that see little data, at the ice edge or along coasts. The answer is a hierarchical prior rather than a coarser map: every map is a coarse ten-degree map plus a one-degree residual, and the residual is shrunk toward zero and smoothed toward its neighbours, so a cell with little evidence inherits the arrow of its region. Even so, each one-degree cell sees about fifty thousand anchor-pentads for its seven numbers. There is one map per channel group, because what moves a signal decides where its source is: the ocean surface group, the atmosphere group with drift only inside its ten-day memory, and the land group, which does not advect and learns only axes and angle. Argo gets no map at all. Its channels arrive as the nearest profile tokens, placed where the floats actually were, each carrying its own offset, age and depth — there is no ellipse there to learn, and the earlier draft's three depth maps were a leftover from the column-only Argo of E-069. The physics that motivated them still matters — at the RAPID line the upper limb flows north and the deep boundary current south — but a token that carries its own depth and offset lets attention weight deep tokens from the north and surface tokens from the south by itself. That becomes a diagnostic rather than a geometry. All told the maps hold about one and a half million numbers, half of them live, and they cost no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axes cannot shrink below one cell or grow faster than the design speed. The one-degree residual is shrunk and smoothed under a single prior weight that the run records.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alongside the learned ellipse, every lag keeps one fixed ring of twenty-four dots at log-spaced radii to the far side of the planet. That is the point of v2 — a cone that is too narrow silently asserts that a driver could not have arrived — and the learned ellipse adds direction and density on top of it rather than replacing it. And the initial values reproduce the fixed hourglass exactly,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The deep ocean is read differently, because Argo has no ellipse: the anchor sees the nearest profiles within the search radius, each token saying where it was, how old it is and how deep. The Deep Western Boundary Current runs the other way along the continental slope, so if the model has understood the deep ocean, its attention on deep profiles should sit north of the anchor, toward the Grand Banks, while its attention on shallow profiles sits south. Neither is programmed. They are what we expect to see if the mechanism works — a geometry check for the surface, an attention check for the deep — and they are written down now, before any run, so the check cannot be shaped by the result. The world-ocean version of the surface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six lags of one anchor column, twenty-four ellipse dots and twenty-four ring dots, for four channel groups — about twelve hundred tokens. Argo comes as the twenty-six profile tokens cone v2 already specified. Targets are drawn as two hundred and fifty-six decoder queries per example, as now. The geometry adds about one and a half million parameters, half of them live and none of them costing compute, and one new artefact: a pre-averaged pyramid of the tensor, about a third of its size, built once. Because the encoder is a Perceiver, its cost is linear in the token count, so this is about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 the surface drift read from the map, the deep direction read from where the model puts its attention among the profile tokens;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only step that touches the data path: the pyramid and the interpolated gather, gated on a bit-identity test — at integer positions with everything observed it must reproduce today's gather exactly. Fourth the parameter maps as a module — coarse plus residual, with its bounds, the prior, the mirror, the stop-gradient and the control initialisation — checked by finite differences. Fifth the read-outs in the trainer, including exporting the learned drift maps to the app so the Cones tab can draw them, and the attention-by-depth diagnostic at the western-boundary anchors.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choices are settled: the maps are at one degree with the coarse-plus-residual prior, and Argo keeps its nearest-profile tokens with no ellipse. Five remain, each one line to change. The future cone goes to six pentads to mirror the past, where E-069 only asked for one and two. The task shares are a first guess. The strength of the prior on the fine map is one number, and the honest way to set it is by held-out loss on the training years rather than by hand — but the first arm may simply fix it. The v2 safety ring is kept at every lag, which is the safe and more expensive choice. And the seasonal term on the drift waits for phase two.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is the deformable-sampling family from computer vision — deformable convolutions, spatial transformers and Deformable DETR — used here on a gather.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Seven numbers per region shape the whole hourglass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621792" y="1389888"/>
            <a:ext cx="10954512" cy="2395728"/>
          </a:xfrm>
          <a:prstGeom prst="rect">
            <a:avLst/>
          </a:prstGeom>
        </p:spPr>
      </p:pic>
      <p:sp>
        <p:nvSpPr>
          <p:cNvPr id="8" name="Shape 4"/>
          <p:cNvSpPr/>
          <p:nvPr/>
        </p:nvSpPr>
        <p:spPr>
          <a:xfrm>
            <a:off x="548640" y="3858768"/>
            <a:ext cx="11091672" cy="786384"/>
          </a:xfrm>
          <a:prstGeom prst="roundRect">
            <a:avLst>
              <a:gd name="adj" fmla="val 6977"/>
            </a:avLst>
          </a:prstGeom>
          <a:solidFill>
            <a:srgbClr val="11202F"/>
          </a:solidFill>
          <a:ln w="12700">
            <a:solidFill>
              <a:srgbClr val="30363D"/>
            </a:solidFill>
            <a:prstDash val="solid"/>
          </a:ln>
        </p:spPr>
      </p:sp>
      <p:sp>
        <p:nvSpPr>
          <p:cNvPr id="9" name="Text 5"/>
          <p:cNvSpPr txBox="1"/>
          <p:nvPr/>
        </p:nvSpPr>
        <p:spPr>
          <a:xfrm>
            <a:off x="822960" y="3931920"/>
            <a:ext cx="10543032" cy="237744"/>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at lag ℓ (past, ℓ = 1…6) the sample points are</a:t>
            </a:r>
            <a:endParaRPr lang="en-US" sz="1050" dirty="0"/>
          </a:p>
        </p:txBody>
      </p:sp>
      <p:sp>
        <p:nvSpPr>
          <p:cNvPr id="10" name="Text 6"/>
          <p:cNvSpPr txBox="1"/>
          <p:nvPr/>
        </p:nvSpPr>
        <p:spPr>
          <a:xfrm>
            <a:off x="822960" y="4169664"/>
            <a:ext cx="10543032" cy="384048"/>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R(θ) · diag(a</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ℓ·s</a:t>
            </a:r>
            <a:r>
              <a:rPr lang="en-US" sz="1500" baseline="-40000" dirty="0">
                <a:solidFill>
                  <a:srgbClr val="E6EDF3"/>
                </a:solidFill>
                <a:latin typeface="Cambria" pitchFamily="34" charset="0"/>
                <a:ea typeface="Cambria" pitchFamily="34" charset="-122"/>
                <a:cs typeface="Cambria" pitchFamily="34" charset="-120"/>
              </a:rPr>
              <a:t>a</a:t>
            </a:r>
            <a:r>
              <a:rPr lang="en-US" sz="1500" dirty="0">
                <a:solidFill>
                  <a:srgbClr val="E6EDF3"/>
                </a:solidFill>
                <a:latin typeface="Cambria" pitchFamily="34" charset="0"/>
                <a:ea typeface="Cambria" pitchFamily="34" charset="-122"/>
                <a:cs typeface="Cambria" pitchFamily="34" charset="-120"/>
              </a:rPr>
              <a:t>, b</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ℓ·s</a:t>
            </a:r>
            <a:r>
              <a:rPr lang="en-US" sz="1500" baseline="-40000" dirty="0">
                <a:solidFill>
                  <a:srgbClr val="E6EDF3"/>
                </a:solidFill>
                <a:latin typeface="Cambria" pitchFamily="34" charset="0"/>
                <a:ea typeface="Cambria" pitchFamily="34" charset="-122"/>
                <a:cs typeface="Cambria" pitchFamily="34" charset="-120"/>
              </a:rPr>
              <a:t>b</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800600"/>
            <a:ext cx="5440680" cy="1463040"/>
          </a:xfrm>
          <a:prstGeom prst="rect">
            <a:avLst/>
          </a:prstGeom>
          <a:noFill/>
          <a:ln/>
        </p:spPr>
        <p:txBody>
          <a:bodyPr wrap="square" lIns="0" tIns="0" rIns="0" bIns="0" rtlCol="0" anchor="t"/>
          <a:lstStyle/>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u</a:t>
            </a:r>
            <a:r>
              <a:rPr lang="en-US" sz="1100" b="1" baseline="-40000" dirty="0">
                <a:solidFill>
                  <a:srgbClr val="4493F8"/>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 the canonical sunflower on the unit disc (Vogel spiral, golden angle), fixed, ~24 points — the same pattern at every lag</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(2 numbers): the drift per pentad, in km — where the cone's centre moves as you go back in time; this is the arrow toward the source</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θ</a:t>
            </a:r>
            <a:r>
              <a:rPr lang="en-US" sz="1100" dirty="0">
                <a:solidFill>
                  <a:srgbClr val="E6EDF3"/>
                </a:solidFill>
                <a:latin typeface="Calibri" pitchFamily="34" charset="0"/>
                <a:ea typeface="Calibri" pitchFamily="34" charset="-122"/>
                <a:cs typeface="Calibri" pitchFamily="34" charset="-120"/>
              </a:rPr>
              <a:t> (1): orientation of the ellipse</a:t>
            </a:r>
            <a:endParaRPr lang="en-US" sz="1100" dirty="0"/>
          </a:p>
        </p:txBody>
      </p:sp>
      <p:sp>
        <p:nvSpPr>
          <p:cNvPr id="12" name="Text 8"/>
          <p:cNvSpPr txBox="1"/>
          <p:nvPr/>
        </p:nvSpPr>
        <p:spPr>
          <a:xfrm>
            <a:off x="6199632" y="4800600"/>
            <a:ext cx="5440680" cy="1463040"/>
          </a:xfrm>
          <a:prstGeom prst="rect">
            <a:avLst/>
          </a:prstGeom>
          <a:noFill/>
          <a:ln/>
        </p:spPr>
        <p:txBody>
          <a:bodyPr wrap="square" lIns="0" tIns="0" rIns="0" bIns="0" rtlCol="0" anchor="t"/>
          <a:lstStyle/>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a</a:t>
            </a:r>
            <a:r>
              <a:rPr lang="en-US" sz="1100" b="1" baseline="-40000" dirty="0">
                <a:solidFill>
                  <a:srgbClr val="4493F8"/>
                </a:solidFill>
                <a:latin typeface="Calibri" pitchFamily="34" charset="0"/>
                <a:ea typeface="Calibri" pitchFamily="34" charset="-122"/>
                <a:cs typeface="Calibri" pitchFamily="34" charset="-120"/>
              </a:rPr>
              <a:t>0</a:t>
            </a:r>
            <a:r>
              <a:rPr lang="en-US" sz="1100" b="1" dirty="0">
                <a:solidFill>
                  <a:srgbClr val="4493F8"/>
                </a:solidFill>
                <a:latin typeface="Calibri" pitchFamily="34" charset="0"/>
                <a:ea typeface="Calibri" pitchFamily="34" charset="-122"/>
                <a:cs typeface="Calibri" pitchFamily="34" charset="-120"/>
              </a:rPr>
              <a:t>, b</a:t>
            </a:r>
            <a:r>
              <a:rPr lang="en-US" sz="1100" b="1" baseline="-40000" dirty="0">
                <a:solidFill>
                  <a:srgbClr val="4493F8"/>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(2): the waist semi-axes, in km — the cut-off tip's size and elongation</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s</a:t>
            </a:r>
            <a:r>
              <a:rPr lang="en-US" sz="1100" b="1" baseline="-40000" dirty="0">
                <a:solidFill>
                  <a:srgbClr val="4493F8"/>
                </a:solidFill>
                <a:latin typeface="Calibri" pitchFamily="34" charset="0"/>
                <a:ea typeface="Calibri" pitchFamily="34" charset="-122"/>
                <a:cs typeface="Calibri" pitchFamily="34" charset="-120"/>
              </a:rPr>
              <a:t>a</a:t>
            </a:r>
            <a:r>
              <a:rPr lang="en-US" sz="1100" b="1" dirty="0">
                <a:solidFill>
                  <a:srgbClr val="4493F8"/>
                </a:solidFill>
                <a:latin typeface="Calibri" pitchFamily="34" charset="0"/>
                <a:ea typeface="Calibri" pitchFamily="34" charset="-122"/>
                <a:cs typeface="Calibri" pitchFamily="34" charset="-120"/>
              </a:rPr>
              <a:t>, s</a:t>
            </a:r>
            <a:r>
              <a:rPr lang="en-US" sz="1100" b="1" baseline="-40000" dirty="0">
                <a:solidFill>
                  <a:srgbClr val="4493F8"/>
                </a:solidFill>
                <a:latin typeface="Calibri" pitchFamily="34" charset="0"/>
                <a:ea typeface="Calibri" pitchFamily="34" charset="-122"/>
                <a:cs typeface="Calibri" pitchFamily="34" charset="-120"/>
              </a:rPr>
              <a:t>b</a:t>
            </a:r>
            <a:r>
              <a:rPr lang="en-US" sz="1100" dirty="0">
                <a:solidFill>
                  <a:srgbClr val="E6EDF3"/>
                </a:solidFill>
                <a:latin typeface="Calibri" pitchFamily="34" charset="0"/>
                <a:ea typeface="Calibri" pitchFamily="34" charset="-122"/>
                <a:cs typeface="Calibri" pitchFamily="34" charset="-120"/>
              </a:rPr>
              <a:t> (2): how fast each axis grows per pentad — spread</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Future cone:</a:t>
            </a:r>
            <a:r>
              <a:rPr lang="en-US" sz="1100" dirty="0">
                <a:solidFill>
                  <a:srgbClr val="E6EDF3"/>
                </a:solidFill>
                <a:latin typeface="Calibri" pitchFamily="34" charset="0"/>
                <a:ea typeface="Calibri" pitchFamily="34" charset="-122"/>
                <a:cs typeface="Calibri" pitchFamily="34" charset="-120"/>
              </a:rPr>
              <a:t> p(−ℓ) reflected, c(+ℓ) = −ℓ·d, same axes at the same |ℓ|; the anchor column (0, 0) is added at every lag regardless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Continuous positions, interpolated reads — the gradient reaches the geometry</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572768"/>
            <a:ext cx="5440680" cy="2103120"/>
          </a:xfrm>
          <a:prstGeom prst="roundRect">
            <a:avLst>
              <a:gd name="adj" fmla="val 2609"/>
            </a:avLst>
          </a:prstGeom>
          <a:solidFill>
            <a:srgbClr val="161B22"/>
          </a:solidFill>
          <a:ln w="12700">
            <a:solidFill>
              <a:srgbClr val="30363D"/>
            </a:solidFill>
            <a:prstDash val="solid"/>
          </a:ln>
        </p:spPr>
      </p:sp>
      <p:sp>
        <p:nvSpPr>
          <p:cNvPr id="8" name="Text 5"/>
          <p:cNvSpPr txBox="1"/>
          <p:nvPr/>
        </p:nvSpPr>
        <p:spPr>
          <a:xfrm>
            <a:off x="786384" y="1719072"/>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Sample between the cells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dot at a continuous position reads the field by </a:t>
            </a:r>
            <a:r>
              <a:rPr lang="en-US" sz="1200" b="1" dirty="0">
                <a:solidFill>
                  <a:srgbClr val="4493F8"/>
                </a:solidFill>
                <a:latin typeface="Calibri" pitchFamily="34" charset="0"/>
                <a:ea typeface="Calibri" pitchFamily="34" charset="-122"/>
                <a:cs typeface="Calibri" pitchFamily="34" charset="-120"/>
              </a:rPr>
              <a:t>bilinear interpolation</a:t>
            </a:r>
            <a:r>
              <a:rPr lang="en-US" sz="1200" dirty="0">
                <a:solidFill>
                  <a:srgbClr val="E6EDF3"/>
                </a:solidFill>
                <a:latin typeface="Calibri" pitchFamily="34" charset="0"/>
                <a:ea typeface="Calibri" pitchFamily="34" charset="-122"/>
                <a:cs typeface="Calibri" pitchFamily="34" charset="-120"/>
              </a:rPr>
              <a:t> over its four surrounding cells, weighting by the observed flags:  value = Σ w</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m</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v</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 Σ w</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m</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  observed-fraction = Σ w</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m</a:t>
            </a:r>
            <a:r>
              <a:rPr lang="en-US" sz="1200" baseline="-40000" dirty="0">
                <a:solidFill>
                  <a:srgbClr val="E6EDF3"/>
                </a:solidFill>
                <a:latin typeface="Calibri" pitchFamily="34" charset="0"/>
                <a:ea typeface="Calibri" pitchFamily="34" charset="-122"/>
                <a:cs typeface="Calibri" pitchFamily="34" charset="-120"/>
              </a:rPr>
              <a:t>i</a:t>
            </a:r>
            <a:endParaRPr lang="en-US" sz="1250" dirty="0"/>
          </a:p>
        </p:txBody>
      </p:sp>
      <p:sp>
        <p:nvSpPr>
          <p:cNvPr id="9" name="Shape 6"/>
          <p:cNvSpPr/>
          <p:nvPr/>
        </p:nvSpPr>
        <p:spPr>
          <a:xfrm>
            <a:off x="6199632" y="1572768"/>
            <a:ext cx="5440680" cy="2103120"/>
          </a:xfrm>
          <a:prstGeom prst="roundRect">
            <a:avLst>
              <a:gd name="adj" fmla="val 2609"/>
            </a:avLst>
          </a:prstGeom>
          <a:solidFill>
            <a:srgbClr val="161B22"/>
          </a:solidFill>
          <a:ln w="12700">
            <a:solidFill>
              <a:srgbClr val="30363D"/>
            </a:solidFill>
            <a:prstDash val="solid"/>
          </a:ln>
        </p:spPr>
      </p:sp>
      <p:sp>
        <p:nvSpPr>
          <p:cNvPr id="10" name="Text 7"/>
          <p:cNvSpPr txBox="1"/>
          <p:nvPr/>
        </p:nvSpPr>
        <p:spPr>
          <a:xfrm>
            <a:off x="6437376" y="1719072"/>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gradient exists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interpolation weights are functions of the position, the position of the seven numbers, so ∂loss/∂(</a:t>
            </a:r>
            <a:r>
              <a:rPr lang="en-US" sz="1200" b="1" dirty="0">
                <a:solidFill>
                  <a:srgbClr val="4493F8"/>
                </a:solidFill>
                <a:latin typeface="Calibri" pitchFamily="34" charset="0"/>
                <a:ea typeface="Calibri" pitchFamily="34" charset="-122"/>
                <a:cs typeface="Calibri" pitchFamily="34" charset="-120"/>
              </a:rPr>
              <a:t>d</a:t>
            </a:r>
            <a:r>
              <a:rPr lang="en-US" sz="1200" dirty="0">
                <a:solidFill>
                  <a:srgbClr val="E6EDF3"/>
                </a:solidFill>
                <a:latin typeface="Calibri" pitchFamily="34" charset="0"/>
                <a:ea typeface="Calibri" pitchFamily="34" charset="-122"/>
                <a:cs typeface="Calibri" pitchFamily="34" charset="-120"/>
              </a:rPr>
              <a:t>, θ, a, b, s) exists — the deformable-convolution / spatial-transformer trick, applied to a gather instead of a convolution</a:t>
            </a:r>
            <a:endParaRPr lang="en-US" sz="1250" dirty="0"/>
          </a:p>
        </p:txBody>
      </p:sp>
      <p:sp>
        <p:nvSpPr>
          <p:cNvPr id="11" name="Shape 8"/>
          <p:cNvSpPr/>
          <p:nvPr/>
        </p:nvSpPr>
        <p:spPr>
          <a:xfrm>
            <a:off x="548640" y="3840480"/>
            <a:ext cx="5440680" cy="2103120"/>
          </a:xfrm>
          <a:prstGeom prst="roundRect">
            <a:avLst>
              <a:gd name="adj" fmla="val 2609"/>
            </a:avLst>
          </a:prstGeom>
          <a:solidFill>
            <a:srgbClr val="161B22"/>
          </a:solidFill>
          <a:ln w="12700">
            <a:solidFill>
              <a:srgbClr val="30363D"/>
            </a:solidFill>
            <a:prstDash val="solid"/>
          </a:ln>
        </p:spPr>
      </p:sp>
      <p:sp>
        <p:nvSpPr>
          <p:cNvPr id="12" name="Text 9"/>
          <p:cNvSpPr txBox="1"/>
          <p:nvPr/>
        </p:nvSpPr>
        <p:spPr>
          <a:xfrm>
            <a:off x="786384" y="3986784"/>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Footprint, not point</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Each dot averages over a Gaussian footprint whose width tracks the local dot spacing (~r/√n), read from a mip-map pyramid of the tensor — so a dot means “this area”, and the gradient is not confined to four cells</a:t>
            </a:r>
            <a:endParaRPr lang="en-US" sz="1250" dirty="0"/>
          </a:p>
        </p:txBody>
      </p:sp>
      <p:sp>
        <p:nvSpPr>
          <p:cNvPr id="13" name="Shape 10"/>
          <p:cNvSpPr/>
          <p:nvPr/>
        </p:nvSpPr>
        <p:spPr>
          <a:xfrm>
            <a:off x="6199632" y="3840480"/>
            <a:ext cx="5440680" cy="2103120"/>
          </a:xfrm>
          <a:prstGeom prst="roundRect">
            <a:avLst>
              <a:gd name="adj" fmla="val 2609"/>
            </a:avLst>
          </a:prstGeom>
          <a:solidFill>
            <a:srgbClr val="161B22"/>
          </a:solidFill>
          <a:ln w="12700">
            <a:solidFill>
              <a:srgbClr val="30363D"/>
            </a:solidFill>
            <a:prstDash val="solid"/>
          </a:ln>
        </p:spPr>
      </p:sp>
      <p:sp>
        <p:nvSpPr>
          <p:cNvPr id="14" name="Text 11"/>
          <p:cNvSpPr txBox="1"/>
          <p:nvPr/>
        </p:nvSpPr>
        <p:spPr>
          <a:xfrm>
            <a:off x="6437376" y="3986784"/>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Same cost class as today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One gather per dot (4 cells, or one pyramid cell), on the fly, keyed exactly as E-069's examples are — plus the pyramid, built once per tensor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SEVEN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A 1° map per channel group, interpolated to the anchor</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 </a:t>
            </a:r>
            <a:r>
              <a:rPr lang="en-US" sz="1150" b="1" dirty="0">
                <a:solidFill>
                  <a:srgbClr val="4493F8"/>
                </a:solidFill>
                <a:latin typeface="Calibri" pitchFamily="34" charset="0"/>
                <a:ea typeface="Calibri" pitchFamily="34" charset="-122"/>
                <a:cs typeface="Calibri" pitchFamily="34" charset="-120"/>
              </a:rPr>
              <a:t>1° grid</a:t>
            </a:r>
            <a:r>
              <a:rPr lang="en-US" sz="1150" dirty="0">
                <a:solidFill>
                  <a:srgbClr val="E6EDF3"/>
                </a:solidFill>
                <a:latin typeface="Calibri" pitchFamily="34" charset="0"/>
                <a:ea typeface="Calibri" pitchFamily="34" charset="-122"/>
                <a:cs typeface="Calibri" pitchFamily="34" charset="-120"/>
              </a:rPr>
              <a:t> over the globe (180 × 360 = 64,800 cells); the anchor's parameters are the bilinear blend of the four surrounding map cells — smooth by construction, no seams</a:t>
            </a:r>
            <a:endParaRPr lang="en-US" sz="1150" dirty="0"/>
          </a:p>
          <a:p>
            <a:pPr marL="203200" indent="-203200">
              <a:spcAft>
                <a:spcPts val="700"/>
              </a:spcAft>
              <a:buSzPct val="100000"/>
              <a:buChar char="•"/>
            </a:pPr>
            <a:r>
              <a:rPr lang="en-US" sz="1150" b="1" dirty="0">
                <a:solidFill>
                  <a:srgbClr val="4493F8"/>
                </a:solidFill>
                <a:latin typeface="Calibri" pitchFamily="34" charset="0"/>
                <a:ea typeface="Calibri" pitchFamily="34" charset="-122"/>
                <a:cs typeface="Calibri" pitchFamily="34" charset="-120"/>
              </a:rPr>
              <a:t>1° because</a:t>
            </a:r>
            <a:r>
              <a:rPr lang="en-US" sz="1150" dirty="0">
                <a:solidFill>
                  <a:srgbClr val="E6EDF3"/>
                </a:solidFill>
                <a:latin typeface="Calibri" pitchFamily="34" charset="0"/>
                <a:ea typeface="Calibri" pitchFamily="34" charset="-122"/>
                <a:cs typeface="Calibri" pitchFamily="34" charset="-120"/>
              </a:rPr>
              <a:t> the currents that carry the overturning are ~100 km wide (the Florida Current sits in an 80 km strait); a 10° cell would average the Gulf Stream with its recirculation and learn a drift near zero</a:t>
            </a:r>
            <a:endParaRPr lang="en-US" sz="1150" dirty="0"/>
          </a:p>
          <a:p>
            <a:pPr marL="203200" indent="-203200">
              <a:spcAft>
                <a:spcPts val="700"/>
              </a:spcAft>
              <a:buSzPct val="100000"/>
              <a:buChar char="•"/>
            </a:pPr>
            <a:r>
              <a:rPr lang="en-US" sz="1150" b="1" dirty="0">
                <a:solidFill>
                  <a:srgbClr val="4493F8"/>
                </a:solidFill>
                <a:latin typeface="Calibri" pitchFamily="34" charset="0"/>
                <a:ea typeface="Calibri" pitchFamily="34" charset="-122"/>
                <a:cs typeface="Calibri" pitchFamily="34" charset="-120"/>
              </a:rPr>
              <a:t>Hierarchical prior:</a:t>
            </a:r>
            <a:r>
              <a:rPr lang="en-US" sz="1150" dirty="0">
                <a:solidFill>
                  <a:srgbClr val="E6EDF3"/>
                </a:solidFill>
                <a:latin typeface="Calibri" pitchFamily="34" charset="0"/>
                <a:ea typeface="Calibri" pitchFamily="34" charset="-122"/>
                <a:cs typeface="Calibri" pitchFamily="34" charset="-120"/>
              </a:rPr>
              <a:t> each map is a coarse 10° map plus a 1° residual, the residual under L2 shrinkage and a Laplacian smoothness penalty — a data-poor cell (ice edge, coast) inherits its neighbourhood's arrow instead of fitting noise. Each 1° cell still sees 16 anchors × 3,142 pentads ≈ 50 k anchor-pentads for seven numbers</a:t>
            </a:r>
            <a:endParaRPr lang="en-US" sz="1150" dirty="0"/>
          </a:p>
          <a:p>
            <a:pPr marL="203200" indent="-203200">
              <a:spcAft>
                <a:spcPts val="700"/>
              </a:spcAft>
              <a:buSzPct val="100000"/>
              <a:buChar char="•"/>
            </a:pPr>
            <a:r>
              <a:rPr lang="en-US" sz="1150" b="1" dirty="0">
                <a:solidFill>
                  <a:srgbClr val="4493F8"/>
                </a:solidFill>
                <a:latin typeface="Calibri" pitchFamily="34" charset="0"/>
                <a:ea typeface="Calibri" pitchFamily="34" charset="-122"/>
                <a:cs typeface="Calibri" pitchFamily="34" charset="-120"/>
              </a:rPr>
              <a:t>No Argo ellipse.</a:t>
            </a:r>
            <a:r>
              <a:rPr lang="en-US" sz="1150" dirty="0">
                <a:solidFill>
                  <a:srgbClr val="E6EDF3"/>
                </a:solidFill>
                <a:latin typeface="Calibri" pitchFamily="34" charset="0"/>
                <a:ea typeface="Calibri" pitchFamily="34" charset="-122"/>
                <a:cs typeface="Calibri" pitchFamily="34" charset="-120"/>
              </a:rPr>
              <a:t> The Argo channels are the k nearest profile tokens (E-071 §3, E-076) — placed where floats were, each carrying its own offset, age and depth. There is no elliptic shape to learn; the search radius stays as specified there. Depth-dependent sourcing (at the RAPID line the upper limb flows north, the Deep Western Boundary Current south) is left to attention over those tokens, which see depth and offset together</a:t>
            </a:r>
            <a:endParaRPr lang="en-US" sz="1150" dirty="0"/>
          </a:p>
          <a:p>
            <a:pPr marL="203200" indent="-203200">
              <a:spcAft>
                <a:spcPts val="700"/>
              </a:spcAft>
              <a:buSzPct val="100000"/>
              <a:buChar char="•"/>
            </a:pPr>
            <a:r>
              <a:rPr lang="en-US" sz="1150" b="1" dirty="0">
                <a:solidFill>
                  <a:srgbClr val="4493F8"/>
                </a:solidFill>
                <a:latin typeface="Calibri" pitchFamily="34" charset="0"/>
                <a:ea typeface="Calibri" pitchFamily="34" charset="-122"/>
                <a:cs typeface="Calibri" pitchFamily="34" charset="-120"/>
              </a:rPr>
              <a:t>Optional, phase 2:</a:t>
            </a:r>
            <a:r>
              <a:rPr lang="en-US" sz="1150" dirty="0">
                <a:solidFill>
                  <a:srgbClr val="E6EDF3"/>
                </a:solidFill>
                <a:latin typeface="Calibri" pitchFamily="34" charset="0"/>
                <a:ea typeface="Calibri" pitchFamily="34" charset="-122"/>
                <a:cs typeface="Calibri" pitchFamily="34" charset="-120"/>
              </a:rPr>
              <a:t> a first-harmonic seasonal term on the drift, d(τ) = d</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 d</a:t>
            </a:r>
            <a:r>
              <a:rPr lang="en-US" sz="1150" baseline="-40000" dirty="0">
                <a:solidFill>
                  <a:srgbClr val="E6EDF3"/>
                </a:solidFill>
                <a:latin typeface="Calibri" pitchFamily="34" charset="0"/>
                <a:ea typeface="Calibri" pitchFamily="34" charset="-122"/>
                <a:cs typeface="Calibri" pitchFamily="34" charset="-120"/>
              </a:rPr>
              <a:t>1</a:t>
            </a:r>
            <a:r>
              <a:rPr lang="en-US" sz="1150" dirty="0">
                <a:solidFill>
                  <a:srgbClr val="E6EDF3"/>
                </a:solidFill>
                <a:latin typeface="Calibri" pitchFamily="34" charset="0"/>
                <a:ea typeface="Calibri" pitchFamily="34" charset="-122"/>
                <a:cs typeface="Calibri" pitchFamily="34" charset="-120"/>
              </a:rPr>
              <a:t> cos τ + d</a:t>
            </a:r>
            <a:r>
              <a:rPr lang="en-US" sz="1150" baseline="-40000" dirty="0">
                <a:solidFill>
                  <a:srgbClr val="E6EDF3"/>
                </a:solidFill>
                <a:latin typeface="Calibri" pitchFamily="34" charset="0"/>
                <a:ea typeface="Calibri" pitchFamily="34" charset="-122"/>
                <a:cs typeface="Calibri" pitchFamily="34" charset="-120"/>
              </a:rPr>
              <a:t>2</a:t>
            </a:r>
            <a:r>
              <a:rPr lang="en-US" sz="1150" dirty="0">
                <a:solidFill>
                  <a:srgbClr val="E6EDF3"/>
                </a:solidFill>
                <a:latin typeface="Calibri" pitchFamily="34" charset="0"/>
                <a:ea typeface="Calibri" pitchFamily="34" charset="-122"/>
                <a:cs typeface="Calibri" pitchFamily="34" charset="-120"/>
              </a:rPr>
              <a:t> sin τ — the Somali Current reverses with the monsoon</a:t>
            </a:r>
            <a:endParaRPr lang="en-US" sz="1150" dirty="0"/>
          </a:p>
        </p:txBody>
      </p:sp>
      <p:sp>
        <p:nvSpPr>
          <p:cNvPr id="9" name="Shape 6"/>
          <p:cNvSpPr/>
          <p:nvPr/>
        </p:nvSpPr>
        <p:spPr>
          <a:xfrm>
            <a:off x="7635240" y="1463040"/>
            <a:ext cx="4005072"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7891272" y="1627632"/>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one map per channel group</a:t>
            </a:r>
            <a:endParaRPr lang="en-US" sz="1250" dirty="0"/>
          </a:p>
        </p:txBody>
      </p:sp>
      <p:sp>
        <p:nvSpPr>
          <p:cNvPr id="11" name="Text 8"/>
          <p:cNvSpPr txBox="1"/>
          <p:nvPr/>
        </p:nvSpPr>
        <p:spPr>
          <a:xfrm>
            <a:off x="7891272" y="1956816"/>
            <a:ext cx="3493008" cy="1143000"/>
          </a:xfrm>
          <a:prstGeom prst="rect">
            <a:avLst/>
          </a:prstGeom>
          <a:noFill/>
          <a:ln/>
        </p:spPr>
        <p:txBody>
          <a:bodyPr wrap="square" lIns="0" tIns="0" rIns="0" bIns="0" rtlCol="0" anchor="t"/>
          <a:lstStyle/>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3429000"/>
            <a:ext cx="4005072" cy="2240280"/>
          </a:xfrm>
          <a:prstGeom prst="roundRect">
            <a:avLst>
              <a:gd name="adj" fmla="val 2449"/>
            </a:avLst>
          </a:prstGeom>
          <a:solidFill>
            <a:srgbClr val="161B22"/>
          </a:solidFill>
          <a:ln w="12700">
            <a:solidFill>
              <a:srgbClr val="30363D"/>
            </a:solidFill>
            <a:prstDash val="solid"/>
          </a:ln>
        </p:spPr>
      </p:sp>
      <p:sp>
        <p:nvSpPr>
          <p:cNvPr id="13" name="Text 10"/>
          <p:cNvSpPr txBox="1"/>
          <p:nvPr/>
        </p:nvSpPr>
        <p:spPr>
          <a:xfrm>
            <a:off x="7872984" y="3575304"/>
            <a:ext cx="3529584" cy="19476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1.4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 nominal</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64,800 cells × 3 groups × 7 numbers, about half of it live (ocean maps over ocean, land maps over land) — cheap, and no compute</a:t>
            </a:r>
            <a:endParaRPr lang="en-US" sz="3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2621585"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3371393" y="1463040"/>
            <a:ext cx="2621585"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3609137"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Floors</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b</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 one cell (28 km); s</a:t>
            </a:r>
            <a:r>
              <a:rPr lang="en-US" sz="1050" baseline="-40000" dirty="0">
                <a:solidFill>
                  <a:srgbClr val="E6EDF3"/>
                </a:solidFill>
                <a:latin typeface="Calibri" pitchFamily="34" charset="0"/>
                <a:ea typeface="Calibri" pitchFamily="34" charset="-122"/>
                <a:cs typeface="Calibri" pitchFamily="34" charset="-120"/>
              </a:rPr>
              <a:t>a</a:t>
            </a:r>
            <a:r>
              <a:rPr lang="en-US" sz="1050" dirty="0">
                <a:solidFill>
                  <a:srgbClr val="E6EDF3"/>
                </a:solidFill>
                <a:latin typeface="Calibri" pitchFamily="34" charset="0"/>
                <a:ea typeface="Calibri" pitchFamily="34" charset="-122"/>
                <a:cs typeface="Calibri" pitchFamily="34" charset="-120"/>
              </a:rPr>
              <a:t>, s</a:t>
            </a:r>
            <a:r>
              <a:rPr lang="en-US" sz="1050" baseline="-40000" dirty="0">
                <a:solidFill>
                  <a:srgbClr val="E6EDF3"/>
                </a:solidFill>
                <a:latin typeface="Calibri" pitchFamily="34" charset="0"/>
                <a:ea typeface="Calibri" pitchFamily="34" charset="-122"/>
                <a:cs typeface="Calibri" pitchFamily="34" charset="-120"/>
              </a:rPr>
              <a:t>b</a:t>
            </a:r>
            <a:r>
              <a:rPr lang="en-US" sz="1050" dirty="0">
                <a:solidFill>
                  <a:srgbClr val="E6EDF3"/>
                </a:solidFill>
                <a:latin typeface="Calibri" pitchFamily="34" charset="0"/>
                <a:ea typeface="Calibri" pitchFamily="34" charset="-122"/>
                <a:cs typeface="Calibri" pitchFamily="34" charset="-120"/>
              </a:rPr>
              <a:t> ≥ 0; a</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+ 6 s</a:t>
            </a:r>
            <a:r>
              <a:rPr lang="en-US" sz="1050" baseline="-40000" dirty="0">
                <a:solidFill>
                  <a:srgbClr val="E6EDF3"/>
                </a:solidFill>
                <a:latin typeface="Calibri" pitchFamily="34" charset="0"/>
                <a:ea typeface="Calibri" pitchFamily="34" charset="-122"/>
                <a:cs typeface="Calibri" pitchFamily="34" charset="-120"/>
              </a:rPr>
              <a:t>a</a:t>
            </a:r>
            <a:r>
              <a:rPr lang="en-US" sz="1050" dirty="0">
                <a:solidFill>
                  <a:srgbClr val="E6EDF3"/>
                </a:solidFill>
                <a:latin typeface="Calibri" pitchFamily="34" charset="0"/>
                <a:ea typeface="Calibri" pitchFamily="34" charset="-122"/>
                <a:cs typeface="Calibri" pitchFamily="34" charset="-120"/>
              </a:rPr>
              <a:t> ≤ v_design · 6 Δt</a:t>
            </a:r>
            <a:endParaRPr lang="en-US" sz="1250" dirty="0"/>
          </a:p>
        </p:txBody>
      </p:sp>
      <p:sp>
        <p:nvSpPr>
          <p:cNvPr id="11" name="Shape 8"/>
          <p:cNvSpPr/>
          <p:nvPr/>
        </p:nvSpPr>
        <p:spPr>
          <a:xfrm>
            <a:off x="6194146" y="1463040"/>
            <a:ext cx="2621585"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6431890"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Coarse 10° + 1° residual, L2 shrinkage and Laplacian smoothness on the residual (slide 10) — one weight, recorded in the run's metrics</a:t>
            </a:r>
            <a:endParaRPr lang="en-US" sz="1250" dirty="0"/>
          </a:p>
        </p:txBody>
      </p:sp>
      <p:sp>
        <p:nvSpPr>
          <p:cNvPr id="13" name="Shape 10"/>
          <p:cNvSpPr/>
          <p:nvPr/>
        </p:nvSpPr>
        <p:spPr>
          <a:xfrm>
            <a:off x="9016898" y="1463040"/>
            <a:ext cx="2621585"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9254642"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future cone shares the seven numbers (reflected); an untied arm is the ablation, not the design</a:t>
            </a:r>
            <a:endParaRPr lang="en-US" sz="1250" dirty="0"/>
          </a:p>
        </p:txBody>
      </p:sp>
      <p:sp>
        <p:nvSpPr>
          <p:cNvPr id="15" name="Shape 12"/>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7" name="Shape 14"/>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 the cone can be directed without asserting that a driver could not have come from elsewhere</a:t>
            </a:r>
            <a:endParaRPr lang="en-US" sz="1250" dirty="0"/>
          </a:p>
        </p:txBody>
      </p:sp>
      <p:sp>
        <p:nvSpPr>
          <p:cNvPr id="19" name="Shape 16"/>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20" name="Text 17"/>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50" b="1" dirty="0">
                <a:solidFill>
                  <a:srgbClr val="4493F8"/>
                </a:solidFill>
                <a:latin typeface="Calibri" pitchFamily="34" charset="0"/>
                <a:ea typeface="Calibri" pitchFamily="34" charset="-122"/>
                <a:cs typeface="Calibri" pitchFamily="34" charset="-120"/>
              </a:rPr>
              <a:t>d</a:t>
            </a:r>
            <a:r>
              <a:rPr lang="en-US" sz="1150" dirty="0">
                <a:solidFill>
                  <a:srgbClr val="E6EDF3"/>
                </a:solidFill>
                <a:latin typeface="Calibri" pitchFamily="34" charset="0"/>
                <a:ea typeface="Calibri" pitchFamily="34" charset="-122"/>
                <a:cs typeface="Calibri" pitchFamily="34" charset="-120"/>
              </a:rPr>
              <a:t> = 0, θ = 0, a</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 b</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 3 cells (aspect 0.71 applied), s from E-069's 0.3 m/s — the fixed hourglass exactly, so step 0 of the learned arm is the control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One anchor on the western boundary: a learned surface cone, and deep profiles read from the other side</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Surface group:</a:t>
            </a:r>
            <a:r>
              <a:rPr lang="en-US" sz="1200" dirty="0">
                <a:solidFill>
                  <a:srgbClr val="E6EDF3"/>
                </a:solidFill>
                <a:latin typeface="Calibri" pitchFamily="34" charset="0"/>
                <a:ea typeface="Calibri" pitchFamily="34" charset="-122"/>
                <a:cs typeface="Calibri" pitchFamily="34" charset="-120"/>
              </a:rPr>
              <a:t> the learned d should point south-west (up the Florida Current, toward the Loop Current); the future cone leans north-east along the Gulf Stream</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Deep Argo:</a:t>
            </a:r>
            <a:r>
              <a:rPr lang="en-US" sz="1200" dirty="0">
                <a:solidFill>
                  <a:srgbClr val="E6EDF3"/>
                </a:solidFill>
                <a:latin typeface="Calibri" pitchFamily="34" charset="0"/>
                <a:ea typeface="Calibri" pitchFamily="34" charset="-122"/>
                <a:cs typeface="Calibri" pitchFamily="34" charset="-120"/>
              </a:rPr>
              <a:t> no ellipse to learn. The profile tokens within the search radius carry their own offset and depth; the model should put its attention on the deep (&gt; 1000 dbar) profiles </a:t>
            </a:r>
            <a:r>
              <a:rPr lang="en-US" sz="1200" b="1" dirty="0">
                <a:solidFill>
                  <a:srgbClr val="4493F8"/>
                </a:solidFill>
                <a:latin typeface="Calibri" pitchFamily="34" charset="0"/>
                <a:ea typeface="Calibri" pitchFamily="34" charset="-122"/>
                <a:cs typeface="Calibri" pitchFamily="34" charset="-120"/>
              </a:rPr>
              <a:t>north</a:t>
            </a:r>
            <a:r>
              <a:rPr lang="en-US" sz="1200" dirty="0">
                <a:solidFill>
                  <a:srgbClr val="E6EDF3"/>
                </a:solidFill>
                <a:latin typeface="Calibri" pitchFamily="34" charset="0"/>
                <a:ea typeface="Calibri" pitchFamily="34" charset="-122"/>
                <a:cs typeface="Calibri" pitchFamily="34" charset="-120"/>
              </a:rPr>
              <a:t> of the anchor — up the Deep Western Boundary Current — and on the shallow ones to the south</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Neither is programmed: these are the </a:t>
            </a:r>
            <a:r>
              <a:rPr lang="en-US" sz="1200" b="1" dirty="0">
                <a:solidFill>
                  <a:srgbClr val="4493F8"/>
                </a:solidFill>
                <a:latin typeface="Calibri" pitchFamily="34" charset="0"/>
                <a:ea typeface="Calibri" pitchFamily="34" charset="-122"/>
                <a:cs typeface="Calibri" pitchFamily="34" charset="-120"/>
              </a:rPr>
              <a:t>pre-registered expectations</a:t>
            </a:r>
            <a:r>
              <a:rPr lang="en-US" sz="1200" dirty="0">
                <a:solidFill>
                  <a:srgbClr val="E6EDF3"/>
                </a:solidFill>
                <a:latin typeface="Calibri" pitchFamily="34" charset="0"/>
                <a:ea typeface="Calibri" pitchFamily="34" charset="-122"/>
                <a:cs typeface="Calibri" pitchFamily="34" charset="-120"/>
              </a:rPr>
              <a:t> — a geometry check for the surface, an attention check for the deep</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3557016" cy="1920240"/>
          </a:xfrm>
          <a:prstGeom prst="roundRect">
            <a:avLst>
              <a:gd name="adj" fmla="val 2857"/>
            </a:avLst>
          </a:prstGeom>
          <a:solidFill>
            <a:srgbClr val="161B22"/>
          </a:solidFill>
          <a:ln w="12700">
            <a:solidFill>
              <a:srgbClr val="30363D"/>
            </a:solidFill>
            <a:prstDash val="solid"/>
          </a:ln>
        </p:spPr>
      </p:sp>
      <p:sp>
        <p:nvSpPr>
          <p:cNvPr id="10" name="Text 7"/>
          <p:cNvSpPr txBox="1"/>
          <p:nvPr/>
        </p:nvSpPr>
        <p:spPr>
          <a:xfrm>
            <a:off x="786384" y="2633472"/>
            <a:ext cx="3081528" cy="16276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Slide 11. The geometry is trained only by “which inputs help”, never by “which targets are easy”.</a:t>
            </a:r>
            <a:endParaRPr lang="en-US" sz="1250" dirty="0"/>
          </a:p>
        </p:txBody>
      </p:sp>
      <p:sp>
        <p:nvSpPr>
          <p:cNvPr id="11" name="Shape 8"/>
          <p:cNvSpPr/>
          <p:nvPr/>
        </p:nvSpPr>
        <p:spPr>
          <a:xfrm>
            <a:off x="4315968" y="2487168"/>
            <a:ext cx="3557016" cy="1920240"/>
          </a:xfrm>
          <a:prstGeom prst="roundRect">
            <a:avLst>
              <a:gd name="adj" fmla="val 2857"/>
            </a:avLst>
          </a:prstGeom>
          <a:solidFill>
            <a:srgbClr val="161B22"/>
          </a:solidFill>
          <a:ln w="12700">
            <a:solidFill>
              <a:srgbClr val="30363D"/>
            </a:solidFill>
            <a:prstDash val="solid"/>
          </a:ln>
        </p:spPr>
      </p:sp>
      <p:sp>
        <p:nvSpPr>
          <p:cNvPr id="12" name="Text 9"/>
          <p:cNvSpPr txBox="1"/>
          <p:nvPr/>
        </p:nvSpPr>
        <p:spPr>
          <a:xfrm>
            <a:off x="4553712" y="2633472"/>
            <a:ext cx="3081528" cy="16276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8083296" y="2487168"/>
            <a:ext cx="3557016" cy="1920240"/>
          </a:xfrm>
          <a:prstGeom prst="roundRect">
            <a:avLst>
              <a:gd name="adj" fmla="val 2857"/>
            </a:avLst>
          </a:prstGeom>
          <a:solidFill>
            <a:srgbClr val="161B22"/>
          </a:solidFill>
          <a:ln w="12700">
            <a:solidFill>
              <a:srgbClr val="30363D"/>
            </a:solidFill>
            <a:prstDash val="solid"/>
          </a:ln>
        </p:spPr>
      </p:sp>
      <p:sp>
        <p:nvSpPr>
          <p:cNvPr id="14" name="Text 11"/>
          <p:cNvSpPr txBox="1"/>
          <p:nvPr/>
        </p:nvSpPr>
        <p:spPr>
          <a:xfrm>
            <a:off x="8321040" y="2633472"/>
            <a:ext cx="3081528" cy="16276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548640" y="4663440"/>
            <a:ext cx="11091672" cy="1097280"/>
          </a:xfrm>
          <a:prstGeom prst="roundRect">
            <a:avLst>
              <a:gd name="adj" fmla="val 5000"/>
            </a:avLst>
          </a:prstGeom>
          <a:solidFill>
            <a:srgbClr val="11202F"/>
          </a:solidFill>
          <a:ln w="12700">
            <a:solidFill>
              <a:srgbClr val="E3B341"/>
            </a:solidFill>
            <a:prstDash val="solid"/>
          </a:ln>
        </p:spPr>
      </p:sp>
      <p:sp>
        <p:nvSpPr>
          <p:cNvPr id="16" name="Text 13"/>
          <p:cNvSpPr txBox="1"/>
          <p:nvPr/>
        </p:nvSpPr>
        <p:spPr>
          <a:xfrm>
            <a:off x="822960" y="4828032"/>
            <a:ext cx="10543032" cy="7772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3108960"/>
                <a:gridCol w="560527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6 lags × (1 + 24 ellipse + 24 ring) × 4 groups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1.4 M nominal, ~half live (slide 10); no compute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mip-map pyramid (~⅓ of the tensor, built once)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617720"/>
            <a:ext cx="11091672" cy="1371600"/>
          </a:xfrm>
          <a:prstGeom prst="roundRect">
            <a:avLst>
              <a:gd name="adj" fmla="val 4000"/>
            </a:avLst>
          </a:prstGeom>
          <a:solidFill>
            <a:srgbClr val="161B22"/>
          </a:solidFill>
          <a:ln w="12700">
            <a:solidFill>
              <a:srgbClr val="30363D"/>
            </a:solidFill>
            <a:prstDash val="solid"/>
          </a:ln>
        </p:spPr>
      </p:sp>
      <p:sp>
        <p:nvSpPr>
          <p:cNvPr id="9" name="Text 5"/>
          <p:cNvSpPr txBox="1"/>
          <p:nvPr/>
        </p:nvSpPr>
        <p:spPr>
          <a:xfrm>
            <a:off x="804672" y="4818888"/>
            <a:ext cx="10579608" cy="1005840"/>
          </a:xfrm>
          <a:prstGeom prst="rect">
            <a:avLst/>
          </a:prstGeom>
          <a:noFill/>
          <a:ln/>
        </p:spPr>
        <p:txBody>
          <a:bodyPr wrap="square" lIns="0" tIns="0" rIns="0" bIns="0" rtlCol="0" anchor="ctr"/>
          <a:lstStyle/>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Perceiver cost is linear in tokens: ~1.6× E-069's encoder time, in line with v2's own 2.1× estimate; the interpolated gather is 4 cells instead of 1</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seven numbers per region,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As A1, but </a:t>
            </a:r>
            <a:r>
              <a:rPr lang="en-US" sz="1150" b="1" dirty="0">
                <a:solidFill>
                  <a:srgbClr val="4493F8"/>
                </a:solidFill>
                <a:latin typeface="Calibri" pitchFamily="34" charset="0"/>
                <a:ea typeface="Calibri" pitchFamily="34" charset="-122"/>
                <a:cs typeface="Calibri" pitchFamily="34" charset="-120"/>
              </a:rPr>
              <a:t>d</a:t>
            </a:r>
            <a:r>
              <a:rPr lang="en-US" sz="11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46704"/>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39312"/>
            <a:ext cx="11091672" cy="1298448"/>
          </a:xfrm>
          <a:prstGeom prst="roundRect">
            <a:avLst>
              <a:gd name="adj" fmla="val 4225"/>
            </a:avLst>
          </a:prstGeom>
          <a:solidFill>
            <a:srgbClr val="161B22"/>
          </a:solidFill>
          <a:ln w="12700">
            <a:solidFill>
              <a:srgbClr val="30363D"/>
            </a:solidFill>
            <a:prstDash val="solid"/>
          </a:ln>
        </p:spPr>
      </p:sp>
      <p:sp>
        <p:nvSpPr>
          <p:cNvPr id="15" name="Text 12"/>
          <p:cNvSpPr txBox="1"/>
          <p:nvPr/>
        </p:nvSpPr>
        <p:spPr>
          <a:xfrm>
            <a:off x="822960" y="3767328"/>
            <a:ext cx="10543032" cy="1042416"/>
          </a:xfrm>
          <a:prstGeom prst="rect">
            <a:avLst/>
          </a:prstGeom>
          <a:noFill/>
          <a:ln/>
        </p:spPr>
        <p:txBody>
          <a:bodyPr wrap="square" lIns="0" tIns="0" rIns="0" bIns="0" rtlCol="0" anchor="t"/>
          <a:lstStyle/>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R1</a:t>
            </a:r>
            <a:r>
              <a:rPr lang="en-US" sz="1100" dirty="0">
                <a:solidFill>
                  <a:srgbClr val="E6EDF3"/>
                </a:solidFill>
                <a:latin typeface="Calibri" pitchFamily="34" charset="0"/>
                <a:ea typeface="Calibri" pitchFamily="34" charset="-122"/>
                <a:cs typeface="Calibri" pitchFamily="34" charset="-120"/>
              </a:rPr>
              <a:t> T1 future-cone loss per lead vs bar  ·  </a:t>
            </a:r>
            <a:r>
              <a:rPr lang="en-US" sz="1100" b="1" dirty="0">
                <a:solidFill>
                  <a:srgbClr val="4493F8"/>
                </a:solidFill>
                <a:latin typeface="Calibri" pitchFamily="34" charset="0"/>
                <a:ea typeface="Calibri" pitchFamily="34" charset="-122"/>
                <a:cs typeface="Calibri" pitchFamily="34" charset="-120"/>
              </a:rPr>
              <a:t>R2</a:t>
            </a:r>
            <a:r>
              <a:rPr lang="en-US" sz="1100" dirty="0">
                <a:solidFill>
                  <a:srgbClr val="E6EDF3"/>
                </a:solidFill>
                <a:latin typeface="Calibri" pitchFamily="34" charset="0"/>
                <a:ea typeface="Calibri" pitchFamily="34" charset="-122"/>
                <a:cs typeface="Calibri" pitchFamily="34" charset="-120"/>
              </a:rPr>
              <a:t> the T1 − T2 gap (what history buys)  ·  </a:t>
            </a:r>
            <a:r>
              <a:rPr lang="en-US" sz="1100" b="1" dirty="0">
                <a:solidFill>
                  <a:srgbClr val="4493F8"/>
                </a:solidFill>
                <a:latin typeface="Calibri" pitchFamily="34" charset="0"/>
                <a:ea typeface="Calibri" pitchFamily="34" charset="-122"/>
                <a:cs typeface="Calibri" pitchFamily="34" charset="-120"/>
              </a:rPr>
              <a:t>R3</a:t>
            </a:r>
            <a:r>
              <a:rPr lang="en-US" sz="110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R4</a:t>
            </a:r>
            <a:r>
              <a:rPr lang="en-US" sz="1100" dirty="0">
                <a:solidFill>
                  <a:srgbClr val="E6EDF3"/>
                </a:solidFill>
                <a:latin typeface="Calibri" pitchFamily="34" charset="0"/>
                <a:ea typeface="Calibri" pitchFamily="34" charset="-122"/>
                <a:cs typeface="Calibri" pitchFamily="34" charset="-120"/>
              </a:rPr>
              <a:t> the western-boundary depth check — surface drift south-west (geometry); attention mass on deep (&gt; 1000 dbar) profile tokens north of the anchor, on shallow ones south (attention diagnostic)</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R5</a:t>
            </a:r>
            <a:r>
              <a:rPr lang="en-US" sz="1100" dirty="0">
                <a:solidFill>
                  <a:srgbClr val="E6EDF3"/>
                </a:solidFill>
                <a:latin typeface="Calibri" pitchFamily="34" charset="0"/>
                <a:ea typeface="Calibri" pitchFamily="34" charset="-122"/>
                <a:cs typeface="Calibri" pitchFamily="34" charset="-120"/>
              </a:rPr>
              <a:t> target-variance flag (slide 13)</a:t>
            </a:r>
            <a:endParaRPr lang="en-US" sz="1100" dirty="0"/>
          </a:p>
        </p:txBody>
      </p:sp>
      <p:sp>
        <p:nvSpPr>
          <p:cNvPr id="16" name="Shape 13"/>
          <p:cNvSpPr/>
          <p:nvPr/>
        </p:nvSpPr>
        <p:spPr>
          <a:xfrm>
            <a:off x="548640" y="5029200"/>
            <a:ext cx="11091672" cy="1143000"/>
          </a:xfrm>
          <a:prstGeom prst="roundRect">
            <a:avLst>
              <a:gd name="adj" fmla="val 4800"/>
            </a:avLst>
          </a:prstGeom>
          <a:solidFill>
            <a:srgbClr val="11202F"/>
          </a:solidFill>
          <a:ln w="12700">
            <a:solidFill>
              <a:srgbClr val="E3B341"/>
            </a:solidFill>
            <a:prstDash val="solid"/>
          </a:ln>
        </p:spPr>
      </p:sp>
      <p:sp>
        <p:nvSpPr>
          <p:cNvPr id="17" name="Text 14"/>
          <p:cNvSpPr txBox="1"/>
          <p:nvPr/>
        </p:nvSpPr>
        <p:spPr>
          <a:xfrm>
            <a:off x="822960" y="5138928"/>
            <a:ext cx="10543032" cy="923544"/>
          </a:xfrm>
          <a:prstGeom prst="rect">
            <a:avLst/>
          </a:prstGeom>
          <a:noFill/>
          <a:ln/>
        </p:spPr>
        <p:txBody>
          <a:bodyPr wrap="square" lIns="0" tIns="0" rIns="0" bIns="0" rtlCol="0" anchor="ctr"/>
          <a:lstStyle/>
          <a:p>
            <a:pPr indent="0" marL="0">
              <a:buNone/>
            </a:pPr>
            <a:r>
              <a:rPr lang="en-US" sz="1200" b="1" dirty="0">
                <a:solidFill>
                  <a:srgbClr val="E3B341"/>
                </a:solidFill>
                <a:latin typeface="Calibri" pitchFamily="34" charset="0"/>
                <a:ea typeface="Calibri" pitchFamily="34" charset="-122"/>
                <a:cs typeface="Calibri" pitchFamily="34" charset="-120"/>
              </a:rPr>
              <a:t>Verdict:  </a:t>
            </a:r>
            <a:r>
              <a:rPr lang="en-US" sz="120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sp>
        <p:nvSpPr>
          <p:cNvPr id="8" name="Shape 5"/>
          <p:cNvSpPr/>
          <p:nvPr/>
        </p:nvSpPr>
        <p:spPr>
          <a:xfrm>
            <a:off x="548640" y="1664208"/>
            <a:ext cx="11091672" cy="713232"/>
          </a:xfrm>
          <a:prstGeom prst="roundRect">
            <a:avLst>
              <a:gd name="adj" fmla="val 7692"/>
            </a:avLst>
          </a:prstGeom>
          <a:solidFill>
            <a:srgbClr val="161B22"/>
          </a:solidFill>
          <a:ln w="12700">
            <a:solidFill>
              <a:srgbClr val="30363D"/>
            </a:solidFill>
            <a:prstDash val="solid"/>
          </a:ln>
        </p:spPr>
      </p:sp>
      <p:sp>
        <p:nvSpPr>
          <p:cNvPr id="9" name="Shape 6"/>
          <p:cNvSpPr/>
          <p:nvPr/>
        </p:nvSpPr>
        <p:spPr>
          <a:xfrm>
            <a:off x="768096" y="1865376"/>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65376"/>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73936"/>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coverage_report extended with the mirror identity (future set = −past set) — pure numpy, CPU test</a:t>
            </a:r>
            <a:endParaRPr lang="en-US" sz="1150" dirty="0"/>
          </a:p>
        </p:txBody>
      </p:sp>
      <p:sp>
        <p:nvSpPr>
          <p:cNvPr id="12" name="Shape 9"/>
          <p:cNvSpPr/>
          <p:nvPr/>
        </p:nvSpPr>
        <p:spPr>
          <a:xfrm>
            <a:off x="548640" y="2468880"/>
            <a:ext cx="11091672" cy="713232"/>
          </a:xfrm>
          <a:prstGeom prst="roundRect">
            <a:avLst>
              <a:gd name="adj" fmla="val 7692"/>
            </a:avLst>
          </a:prstGeom>
          <a:solidFill>
            <a:srgbClr val="161B22"/>
          </a:solidFill>
          <a:ln w="12700">
            <a:solidFill>
              <a:srgbClr val="30363D"/>
            </a:solidFill>
            <a:prstDash val="solid"/>
          </a:ln>
        </p:spPr>
      </p:sp>
      <p:sp>
        <p:nvSpPr>
          <p:cNvPr id="13" name="Shape 10"/>
          <p:cNvSpPr/>
          <p:nvPr/>
        </p:nvSpPr>
        <p:spPr>
          <a:xfrm>
            <a:off x="768096" y="2670048"/>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70048"/>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73552"/>
            <a:ext cx="11091672" cy="713232"/>
          </a:xfrm>
          <a:prstGeom prst="roundRect">
            <a:avLst>
              <a:gd name="adj" fmla="val 7692"/>
            </a:avLst>
          </a:prstGeom>
          <a:solidFill>
            <a:srgbClr val="161B22"/>
          </a:solidFill>
          <a:ln w="12700">
            <a:solidFill>
              <a:srgbClr val="30363D"/>
            </a:solidFill>
            <a:prstDash val="solid"/>
          </a:ln>
        </p:spPr>
      </p:sp>
      <p:sp>
        <p:nvSpPr>
          <p:cNvPr id="17" name="Shape 14"/>
          <p:cNvSpPr/>
          <p:nvPr/>
        </p:nvSpPr>
        <p:spPr>
          <a:xfrm>
            <a:off x="768096" y="347472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4747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383280"/>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Continuous sampling (cone_sampler.py)  </a:t>
            </a:r>
            <a:r>
              <a:rPr lang="en-US" sz="1050" dirty="0">
                <a:solidFill>
                  <a:srgbClr val="7D8590"/>
                </a:solidFill>
                <a:latin typeface="Calibri" pitchFamily="34" charset="0"/>
                <a:ea typeface="Calibri" pitchFamily="34" charset="-122"/>
                <a:cs typeface="Calibri" pitchFamily="34" charset="-120"/>
              </a:rPr>
              <a:t>pyramid build + interpolated gather with observed-weighting; test: at integer positions with a full observed mask the read equals today's gather bit-for-bit</a:t>
            </a:r>
            <a:endParaRPr lang="en-US" sz="1150" dirty="0"/>
          </a:p>
        </p:txBody>
      </p:sp>
      <p:sp>
        <p:nvSpPr>
          <p:cNvPr id="20" name="Shape 17"/>
          <p:cNvSpPr/>
          <p:nvPr/>
        </p:nvSpPr>
        <p:spPr>
          <a:xfrm>
            <a:off x="548640" y="4078224"/>
            <a:ext cx="11091672" cy="713232"/>
          </a:xfrm>
          <a:prstGeom prst="roundRect">
            <a:avLst>
              <a:gd name="adj" fmla="val 7692"/>
            </a:avLst>
          </a:prstGeom>
          <a:solidFill>
            <a:srgbClr val="161B22"/>
          </a:solidFill>
          <a:ln w="12700">
            <a:solidFill>
              <a:srgbClr val="30363D"/>
            </a:solidFill>
            <a:prstDash val="solid"/>
          </a:ln>
        </p:spPr>
      </p:sp>
      <p:sp>
        <p:nvSpPr>
          <p:cNvPr id="21" name="Shape 18"/>
          <p:cNvSpPr/>
          <p:nvPr/>
        </p:nvSpPr>
        <p:spPr>
          <a:xfrm>
            <a:off x="768096" y="4279392"/>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279392"/>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187952"/>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(cone_codec.py::ConeGeometry)  </a:t>
            </a:r>
            <a:r>
              <a:rPr lang="en-US" sz="1050" dirty="0">
                <a:solidFill>
                  <a:srgbClr val="7D8590"/>
                </a:solidFill>
                <a:latin typeface="Calibri" pitchFamily="34" charset="0"/>
                <a:ea typeface="Calibri" pitchFamily="34" charset="-122"/>
                <a:cs typeface="Calibri" pitchFamily="34" charset="-120"/>
              </a:rPr>
              <a:t>1° maps per group as coarse 10° + residual, tanh/softplus bounds, the shrinkage/smoothness prior, mirror, stop-gradient, init = A0; test: at init the dots equal step 1's fixed dots to &lt; 0.1 cell; gradient-check on the seven numbers with finite differences</a:t>
            </a:r>
            <a:endParaRPr lang="en-US" sz="1150" dirty="0"/>
          </a:p>
        </p:txBody>
      </p:sp>
      <p:sp>
        <p:nvSpPr>
          <p:cNvPr id="24" name="Shape 21"/>
          <p:cNvSpPr/>
          <p:nvPr/>
        </p:nvSpPr>
        <p:spPr>
          <a:xfrm>
            <a:off x="548640" y="4882896"/>
            <a:ext cx="11091672" cy="713232"/>
          </a:xfrm>
          <a:prstGeom prst="roundRect">
            <a:avLst>
              <a:gd name="adj" fmla="val 7692"/>
            </a:avLst>
          </a:prstGeom>
          <a:solidFill>
            <a:srgbClr val="161B22"/>
          </a:solidFill>
          <a:ln w="12700">
            <a:solidFill>
              <a:srgbClr val="30363D"/>
            </a:solidFill>
            <a:prstDash val="solid"/>
          </a:ln>
        </p:spPr>
      </p:sp>
      <p:sp>
        <p:nvSpPr>
          <p:cNvPr id="25" name="Shape 22"/>
          <p:cNvSpPr/>
          <p:nvPr/>
        </p:nvSpPr>
        <p:spPr>
          <a:xfrm>
            <a:off x="768096" y="5084064"/>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084064"/>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4992624"/>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 drift maps exported as data/cone_drift_&lt;group&gt;.json for the app's Cones tab, R4 attention-by-depth-and-bearing at the western-boundary anchors, R5 flag; then the three arms as recipes f7l2-hourglass-{fixed,learned,primed}</a:t>
            </a:r>
            <a:endParaRPr lang="en-US" sz="1150" dirty="0"/>
          </a:p>
        </p:txBody>
      </p:sp>
      <p:sp>
        <p:nvSpPr>
          <p:cNvPr id="28" name="Text 25"/>
          <p:cNvSpPr txBox="1"/>
          <p:nvPr/>
        </p:nvSpPr>
        <p:spPr>
          <a:xfrm>
            <a:off x="548640" y="574243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3 is the only one that touches the data path and is gated on the bit-identity test.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Two settled, five still open — all reversible</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444752"/>
            <a:ext cx="11091672" cy="841248"/>
          </a:xfrm>
          <a:prstGeom prst="roundRect">
            <a:avLst>
              <a:gd name="adj" fmla="val 6522"/>
            </a:avLst>
          </a:prstGeom>
          <a:solidFill>
            <a:srgbClr val="11202F"/>
          </a:solidFill>
          <a:ln w="12700">
            <a:solidFill>
              <a:srgbClr val="E3B341"/>
            </a:solidFill>
            <a:prstDash val="solid"/>
          </a:ln>
        </p:spPr>
      </p:sp>
      <p:sp>
        <p:nvSpPr>
          <p:cNvPr id="8" name="Text 5"/>
          <p:cNvSpPr txBox="1"/>
          <p:nvPr/>
        </p:nvSpPr>
        <p:spPr>
          <a:xfrm>
            <a:off x="822960" y="1591056"/>
            <a:ext cx="10543032" cy="566928"/>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Settled 15 Sep (Chris):  </a:t>
            </a:r>
            <a:r>
              <a:rPr lang="en-US" sz="1250" b="1" dirty="0">
                <a:solidFill>
                  <a:srgbClr val="4493F8"/>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parameter maps with the coarse-plus-residual prior; </a:t>
            </a:r>
            <a:r>
              <a:rPr lang="en-US" sz="1250" b="1" dirty="0">
                <a:solidFill>
                  <a:srgbClr val="4493F8"/>
                </a:solidFill>
                <a:latin typeface="Calibri" pitchFamily="34" charset="0"/>
                <a:ea typeface="Calibri" pitchFamily="34" charset="-122"/>
                <a:cs typeface="Calibri" pitchFamily="34" charset="-120"/>
              </a:rPr>
              <a:t>no Argo ellipses</a:t>
            </a:r>
            <a:r>
              <a:rPr lang="en-US" sz="1250" dirty="0">
                <a:solidFill>
                  <a:srgbClr val="E6EDF3"/>
                </a:solidFill>
                <a:latin typeface="Calibri" pitchFamily="34" charset="0"/>
                <a:ea typeface="Calibri" pitchFamily="34" charset="-122"/>
                <a:cs typeface="Calibri" pitchFamily="34" charset="-120"/>
              </a:rPr>
              <a:t> — the nearest-profile tokens stay as E-071 §3 specifies them.</a:t>
            </a:r>
            <a:endParaRPr lang="en-US" sz="1250" dirty="0"/>
          </a:p>
        </p:txBody>
      </p:sp>
      <p:sp>
        <p:nvSpPr>
          <p:cNvPr id="9" name="Shape 6"/>
          <p:cNvSpPr/>
          <p:nvPr/>
        </p:nvSpPr>
        <p:spPr>
          <a:xfrm>
            <a:off x="548640" y="2468880"/>
            <a:ext cx="3557016" cy="1691640"/>
          </a:xfrm>
          <a:prstGeom prst="roundRect">
            <a:avLst>
              <a:gd name="adj" fmla="val 3243"/>
            </a:avLst>
          </a:prstGeom>
          <a:solidFill>
            <a:srgbClr val="161B22"/>
          </a:solidFill>
          <a:ln w="12700">
            <a:solidFill>
              <a:srgbClr val="30363D"/>
            </a:solidFill>
            <a:prstDash val="solid"/>
          </a:ln>
        </p:spPr>
      </p:sp>
      <p:sp>
        <p:nvSpPr>
          <p:cNvPr id="10" name="Text 7"/>
          <p:cNvSpPr txBox="1"/>
          <p:nvPr/>
        </p:nvSpPr>
        <p:spPr>
          <a:xfrm>
            <a:off x="786384" y="2615184"/>
            <a:ext cx="3081528" cy="13990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150" b="1" dirty="0">
                <a:solidFill>
                  <a:srgbClr val="4493F8"/>
                </a:solidFill>
                <a:latin typeface="Calibri" pitchFamily="34" charset="0"/>
                <a:ea typeface="Calibri" pitchFamily="34" charset="-122"/>
                <a:cs typeface="Calibri" pitchFamily="34" charset="-120"/>
              </a:rPr>
              <a:t>+6 pentads</a:t>
            </a:r>
            <a:r>
              <a:rPr lang="en-US" sz="115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11" name="Shape 8"/>
          <p:cNvSpPr/>
          <p:nvPr/>
        </p:nvSpPr>
        <p:spPr>
          <a:xfrm>
            <a:off x="4315968" y="2468880"/>
            <a:ext cx="3557016" cy="1691640"/>
          </a:xfrm>
          <a:prstGeom prst="roundRect">
            <a:avLst>
              <a:gd name="adj" fmla="val 3243"/>
            </a:avLst>
          </a:prstGeom>
          <a:solidFill>
            <a:srgbClr val="161B22"/>
          </a:solidFill>
          <a:ln w="12700">
            <a:solidFill>
              <a:srgbClr val="30363D"/>
            </a:solidFill>
            <a:prstDash val="solid"/>
          </a:ln>
        </p:spPr>
      </p:sp>
      <p:sp>
        <p:nvSpPr>
          <p:cNvPr id="12" name="Text 9"/>
          <p:cNvSpPr txBox="1"/>
          <p:nvPr/>
        </p:nvSpPr>
        <p:spPr>
          <a:xfrm>
            <a:off x="4553712" y="2615184"/>
            <a:ext cx="3081528" cy="13990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150" b="1" dirty="0">
                <a:solidFill>
                  <a:srgbClr val="4493F8"/>
                </a:solidFill>
                <a:latin typeface="Calibri" pitchFamily="34" charset="0"/>
                <a:ea typeface="Calibri" pitchFamily="34" charset="-122"/>
                <a:cs typeface="Calibri" pitchFamily="34" charset="-120"/>
              </a:rPr>
              <a:t>0.35 / 0.15 / 0.25 / 0.25</a:t>
            </a:r>
            <a:r>
              <a:rPr lang="en-US" sz="115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3" name="Shape 10"/>
          <p:cNvSpPr/>
          <p:nvPr/>
        </p:nvSpPr>
        <p:spPr>
          <a:xfrm>
            <a:off x="8083296" y="2468880"/>
            <a:ext cx="3557016" cy="1691640"/>
          </a:xfrm>
          <a:prstGeom prst="roundRect">
            <a:avLst>
              <a:gd name="adj" fmla="val 3243"/>
            </a:avLst>
          </a:prstGeom>
          <a:solidFill>
            <a:srgbClr val="161B22"/>
          </a:solidFill>
          <a:ln w="12700">
            <a:solidFill>
              <a:srgbClr val="30363D"/>
            </a:solidFill>
            <a:prstDash val="solid"/>
          </a:ln>
        </p:spPr>
      </p:sp>
      <p:sp>
        <p:nvSpPr>
          <p:cNvPr id="14" name="Text 11"/>
          <p:cNvSpPr txBox="1"/>
          <p:nvPr/>
        </p:nvSpPr>
        <p:spPr>
          <a:xfrm>
            <a:off x="8321040" y="2615184"/>
            <a:ext cx="3081528" cy="13990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 strength on the 1° residual</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One weight, to be set by held-out loss on the training years — or fixed by hand for the first arm?</a:t>
            </a:r>
            <a:endParaRPr lang="en-US" sz="1250" dirty="0"/>
          </a:p>
        </p:txBody>
      </p:sp>
      <p:sp>
        <p:nvSpPr>
          <p:cNvPr id="15" name="Shape 12"/>
          <p:cNvSpPr/>
          <p:nvPr/>
        </p:nvSpPr>
        <p:spPr>
          <a:xfrm>
            <a:off x="548640" y="4343400"/>
            <a:ext cx="5440680" cy="1691640"/>
          </a:xfrm>
          <a:prstGeom prst="roundRect">
            <a:avLst>
              <a:gd name="adj" fmla="val 3243"/>
            </a:avLst>
          </a:prstGeom>
          <a:solidFill>
            <a:srgbClr val="161B22"/>
          </a:solidFill>
          <a:ln w="12700">
            <a:solidFill>
              <a:srgbClr val="30363D"/>
            </a:solidFill>
            <a:prstDash val="solid"/>
          </a:ln>
        </p:spPr>
      </p:sp>
      <p:sp>
        <p:nvSpPr>
          <p:cNvPr id="16" name="Text 13"/>
          <p:cNvSpPr txBox="1"/>
          <p:nvPr/>
        </p:nvSpPr>
        <p:spPr>
          <a:xfrm>
            <a:off x="786384" y="4489704"/>
            <a:ext cx="4965192" cy="13990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150" b="1" dirty="0">
                <a:solidFill>
                  <a:srgbClr val="4493F8"/>
                </a:solidFill>
                <a:latin typeface="Calibri" pitchFamily="34" charset="0"/>
                <a:ea typeface="Calibri" pitchFamily="34" charset="-122"/>
                <a:cs typeface="Calibri" pitchFamily="34" charset="-120"/>
              </a:rPr>
              <a:t>Kept</a:t>
            </a:r>
            <a:r>
              <a:rPr lang="en-US" sz="115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6199632" y="4343400"/>
            <a:ext cx="5440680" cy="1691640"/>
          </a:xfrm>
          <a:prstGeom prst="roundRect">
            <a:avLst>
              <a:gd name="adj" fmla="val 3243"/>
            </a:avLst>
          </a:prstGeom>
          <a:solidFill>
            <a:srgbClr val="161B22"/>
          </a:solidFill>
          <a:ln w="12700">
            <a:solidFill>
              <a:srgbClr val="30363D"/>
            </a:solidFill>
            <a:prstDash val="solid"/>
          </a:ln>
        </p:spPr>
      </p:sp>
      <p:sp>
        <p:nvSpPr>
          <p:cNvPr id="18" name="Text 15"/>
          <p:cNvSpPr txBox="1"/>
          <p:nvPr/>
        </p:nvSpPr>
        <p:spPr>
          <a:xfrm>
            <a:off x="6437376" y="4489704"/>
            <a:ext cx="4965192" cy="13990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150" b="1" dirty="0">
                <a:solidFill>
                  <a:srgbClr val="4493F8"/>
                </a:solidFill>
                <a:latin typeface="Calibri" pitchFamily="34" charset="0"/>
                <a:ea typeface="Calibri" pitchFamily="34" charset="-122"/>
                <a:cs typeface="Calibri" pitchFamily="34" charset="-120"/>
              </a:rPr>
              <a:t>Deferred</a:t>
            </a:r>
            <a:r>
              <a:rPr lang="en-US" sz="115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E-069 · Two stencils, one cone</a:t>
            </a:r>
            <a:r>
              <a:rPr lang="en-US" sz="1100" dirty="0">
                <a:solidFill>
                  <a:srgbClr val="E6EDF3"/>
                </a:solidFill>
                <a:latin typeface="Calibri" pitchFamily="34" charset="0"/>
                <a:ea typeface="Calibri" pitchFamily="34" charset="-122"/>
                <a:cs typeface="Calibri" pitchFamily="34" charset="-120"/>
              </a:rPr>
              <a:t> — ml/plans/E069_cone_codec.md; results in ml/EXPERIMENTS.md#e-069 (five seeds, H1 refuted; what history buys)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E-069b masking-plan fix</a:t>
            </a:r>
            <a:r>
              <a:rPr lang="en-US" sz="1100" dirty="0">
                <a:solidFill>
                  <a:srgbClr val="E6EDF3"/>
                </a:solidFill>
                <a:latin typeface="Calibri" pitchFamily="34" charset="0"/>
                <a:ea typeface="Calibri" pitchFamily="34" charset="-122"/>
                <a:cs typeface="Calibri" pitchFamily="34" charset="-120"/>
              </a:rPr>
              <a:t> — ml/cone_codec.py::default_plan (chan_drop_scope, anchor_hidden_only), ml/train_cone.py</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E-071 · Cone v2</a:t>
            </a:r>
            <a:r>
              <a:rPr lang="en-US" sz="1100" dirty="0">
                <a:solidFill>
                  <a:srgbClr val="E6EDF3"/>
                </a:solidFill>
                <a:latin typeface="Calibri" pitchFamily="34" charset="0"/>
                <a:ea typeface="Calibri" pitchFamily="34" charset="-122"/>
                <a:cs typeface="Calibri" pitchFamily="34" charset="-120"/>
              </a:rPr>
              <a:t> — ml/plans/E071_cone_v2.md (§3 profile tokens, §4 design speeds and log-radial dots, §4.5 the split in time, §6.4 per-location tokens)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E-076 · Family 8 nearest observations</a:t>
            </a:r>
            <a:r>
              <a:rPr lang="en-US" sz="1100" dirty="0">
                <a:solidFill>
                  <a:srgbClr val="E6EDF3"/>
                </a:solidFill>
                <a:latin typeface="Calibri" pitchFamily="34" charset="0"/>
                <a:ea typeface="Calibri" pitchFamily="34" charset="-122"/>
                <a:cs typeface="Calibri" pitchFamily="34" charset="-120"/>
              </a:rPr>
              <a:t> — ml/plans/E076_family8_nearest_observations.md (the (value, Δx, Δy, Δt, n_R) token)</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The geometry as built</a:t>
            </a:r>
            <a:r>
              <a:rPr lang="en-US" sz="1100" dirty="0">
                <a:solidFill>
                  <a:srgbClr val="E6EDF3"/>
                </a:solidFill>
                <a:latin typeface="Calibri" pitchFamily="34" charset="0"/>
                <a:ea typeface="Calibri" pitchFamily="34" charset="-122"/>
                <a:cs typeface="Calibri" pitchFamily="34" charset="-120"/>
              </a:rPr>
              <a:t> — ml/cone.py (FAMILIES, reach_km, slots, inner_dots, outer_spiral, coverage_report)</a:t>
            </a:r>
            <a:endParaRPr lang="en-US" sz="110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Deformable sampling:</a:t>
            </a:r>
            <a:r>
              <a:rPr lang="en-US" sz="1100" dirty="0">
                <a:solidFill>
                  <a:srgbClr val="E6EDF3"/>
                </a:solidFill>
                <a:latin typeface="Calibri" pitchFamily="34" charset="0"/>
                <a:ea typeface="Calibri" pitchFamily="34" charset="-122"/>
                <a:cs typeface="Calibri" pitchFamily="34" charset="-120"/>
              </a:rPr>
              <a:t> Dai et al. 2017, Deformable Convolutional Networks; Jaderberg et al. 2015, Spatial Transformer Networks; Zhu et al. 2021, Deformable DETR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Currents:</a:t>
            </a:r>
            <a:r>
              <a:rPr lang="en-US" sz="110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2026-09-15T12:40:42Z</dcterms:created>
  <dcterms:modified xsi:type="dcterms:W3CDTF">2026-09-15T12:40:42Z</dcterms:modified>
</cp:coreProperties>
</file>