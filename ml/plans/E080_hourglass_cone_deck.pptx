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proposes the next shape of the stage-one model, the encoder that turns one place at one time into an embedding. Chris set four points this morning: the input cone loses its tip and becomes a bottleneck of several points; a second cone is sampled into the future and used only as targets; the model trains under a random mix of forecasting and reconstruction tasks; and the shape of the cone — where it points, how wide it is, which way it is stretched — becomes something the model learns separately for every region of the planet. The first three points are settled decisions and the deck turns them into a specification. The fourth is a request for a proposal, and the deck's recommendation is a warped sunflower: a fixed pattern of sample points that a small set of per-region numbers rotates, stretches and shifts, read from the data by interpolation so that the loss can push on the numbers directly. Everything is written so it can be measured as one experiment, E-080, against the geometry we already have. Nothing in this deck has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the record, because the new design is a response to it. E-069 was the first cone-native codec: for every ocean cell it read a thirty-day cone of samples around it, called dots, plus the present three-by-three patch, and it was asked to predict the cell's own future one and two pentads out — a pentad is a five-day bin. Its headline hypothesis, that thirty days of history would put the cell's own current velocity into the embedding, was refuted at five seeds under two objectives. What the history did buy was real: fields that persist, like sea-surface height, were reconstructed far better from history, and the short forecast improved by seven to eight percent. Then cone v2 fixed the geometry's known faults — it went global, it smoothed the seasonal baseline, it placed the Argo float tokens where floats actually were, and it sized every cone from the fastest thing that could carry information, times a safety factor. That last choice has a cost the v2 plan named itself: with a reach of a hemisphere by lag three, a fixed budget of dots samples the near field very thinly. The design in this deck is what lets the cone be both — wide enough to never exclude a cause, and dense where the causes actually are — by letting each region decide where its dense part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on one page. Time runs upward, space sideways. Below the middle is the past cone: everything the model reads about the last thirty days, widening with lag because a driver further back in time can have come from further away. In the middle is the waist — the tip of the cone, cut off. In E-069 the present was a single three-by-three patch; here it is a small disc of several cells, and it is the only place the model both reads and is asked to reconstruct. The embedding is made here, at the waist. Above the middle is the future cone: the same shape reflected through the anchor point, widening into the future, and never read — it exists only to be predicted. Mirrored means point-mirrored: the future cone at lead plus three is the past cone at lag minus three turned through the anchor. That is not a decoration; it is what advection looks like in space-time. Water that reaches the anchor came from upstream and will go downstream, so a cone that leans upstream in the past should lean downstream in the future. The dashed line is the anchor column — the cell's own history and its own future — and it is always inside both cones whatever else the geometry does, so the fixed-frame forecast that stage two needs is always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one. Why cut the tip off at all? Because the quantities the AMOC read-out actually depends on are gradients. Thermal wind — the vertical shear of the current — is a horizontal density gradient. Geostrophic velocity is a slope in sea-surface height. A gradient does not exist inside one cell; it needs neighbours at the same moment. The E-069 record says the same thing from the other side: the snapshot twin's velocity read-out was exactly what a ridge regression on the raw three-by-three patch gives — geostrophy from the patch — and the cone added nothing to it. So the present deserves more than a single point. The waist is a small disc of cells around the anchor, thirteen by default, arranged as a tiny sunflower so that every bearing is represented. It is read as input, and it is what the model reconstructs in the anchor-reconstruction task. It carries the same shape parameters as the rest of the cone evaluated at lag zero, so where the flow is a narrow jet the waist can be stretched along it. One embedding per anchor summarises the waist, exactly as today, so stage two and every archived probe see the same kind of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two. The prediction cone is the future half of the hourglass. It is sampled by the same machinery as the past cone, reflected through the anchor, out to six pentads ahead — thirty days, matching the thirty days of history. Nothing in it is ever read by the encoder. Each dot in it is a question put to the decoder: at this channel, this offset, this lead, this depth, what is the value? The decoder answers with a mean and a variance, and is scored with the Gaussian negative log-likelihood we already use. Two rules carry over from E-069b, the run that fixed the first masking plan: every loss family is reported against the score you would get by predicting the mean, so a target that cannot be known shows up as a bar of one rather than hiding in an average; and the anchor's own column is always among the targets, so the forecast at the anchor itself — the thing stage two rolls forward — is always trained. One more rule is new and matters for point four: the geometry used at evaluation time is frozen to the fixed hourglass. The training cone may move; the yardstick does not. Otherwise two runs with different learned cones would be scoring themselves on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three. Each training example draws one of four tasks. Task one is the full problem: read the waist and the past, predict the future cone. Task two is the same question with the past entirely hidden — the snapshot twin from E-069, but now living inside the same model, so every run reports what history buys without a second run. Task three is the nowcast: hide the present and reconstruct it from history, under one of several dropout patterns applied to the past. Task four keeps E-069b's reconstruction family: hide some cells and dots in both the waist and the past and fill them in. The dropout patterns are the ones already in the code plus one: dropping a channel at the present only, hiding the most recent lags so the model must extrapolate from stale history, hiding a wedge of bearings so it cannot lean on one direction, hiding dots at random to imitate sparse observations, and — for the nowcast only — hiding the whole present. The shares are a starting point, not a result; they are a knob the experiment records. The one rule that is not a knob comes from E-069b's failure: a target's channel must be visible somewhere in the input, at some lag, or the target is unknowable and only teaches the model to predict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all paid for already. The first is that every target must be knowable from the input: the first E-069 plan hid a channel at the present and at every dot, so most of the hidden-dot targets belonged to channels the encoder could not see at all, and two thirds of the loss became a lesson in predicting the mean. The second is that no target may be a copy of something visible: the anchor family scores only channels that were dropped, because a target the model can read off the input is not a question. The third is that every loss family is reported against its own predict-the-mean bar, per task, per family, per lead, so a number is only called learned where the ratio sits below one at held-out anchors. On mechanics: the model is not told which task it is in by a special token. The masks are visible — there is already a token for "hidden by us" and a different one for "the data never observed this" — and every decoder query carries its lead in its coordinates. That is enough for the model to know what is being asked. The shares in the table decide how often each task is drawn; within an example the loss weights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four, the proposal. The cone becomes a warped sunflower. Start with the sunflower we already use — a fixed pattern of about twenty-four points on the unit disc, placed by the golden angle so every bearing is covered once. Seven numbers per region turn that pattern into a cone. A drift vector, two numbers, says where the centre of the pattern moves for each pentad you step back in time; that is the arrow toward the source of the current, and it is the thing Chris asked the model to learn. An angle orients the ellipse. Two semi-axes set the size and elongation of the waist. Two growth rates say how much each axis widens per pentad — the spread, which stands in for eddies and uncertainty in the path. The future cone uses the same seven numbers reflected: its centre at lead plus three is minus three times the drift, downstream. And at every lag the anchor's own cell is added as a fixed point, so the cone can lean away from the anchor without ever losing the anchor's own history. Seven numbers is deliberately few. It makes the learned shape something you can draw on a map and argue with — a drift map of the world ocean is itself a result — and it keeps the parameters far too few to memorise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loss reach a geometry? By never snapping the dots to cells. A dot sits at a continuous position and reads the field by interpolating the four cells around it, with the observed flags folded into the weights so a missing cell contributes nothing and the dot also reports what fraction of its footprint was observed. The interpolation weights depend smoothly on the position; the position depends on the seven numbers; so the derivative of the loss with respect to the drift, the angle and the axes exists and ordinary backpropagation delivers it. This is the trick behind deformable convolutions and spatial transformer networks, applied here to a gather rather than a convolution. One refinement matters: a plain bilinear read has a gradient that only sees four cells, so a cone could never discover a driver half a degree away. Instead each dot reads a Gaussian footprint whose width follows the spacing between dots — a dot means "this area", which is physically right — taken from a pre-averaged pyramid of the tensor, so the read is still one gather. The cost class is the one we have: one gather per dot, on the fly, addressed by the same key an E-069 example has, plus the pyramid built once per tensor.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seven numbers live? On a coarse map. A two-degree grid over the globe has sixteen thousand cells; an anchor takes the blend of the four cells around it, so the geometry varies smoothly and never jumps at a cell edge. There is one such map per channel group, because what moves a signal decides where its source is. The ocean surface group is moved by the surface currents. The Argo groups are split by depth into upper, mid and deep, because the ocean's layers move in different directions — at the RAPID line, where the AMOC is measured, the upper limb flows north and the Deep Western Boundary Current flows south, so the very same anchor should point its surface cone toward the south and its deep cone toward the north. The atmosphere group only has drift at the two lags inside its ten-day memory. The land group has no drift at all: soil moisture does not advect, so it learns only the axes and the angle. All told that is about seven hundred thousand numbers, a tenth of the seven-million codec. A phase-two option is a seasonal term on the drift — one harmonic of the day of year — because the Somali Current reverses with the monsoon and one arrow per region cannot say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numbers are bounded by physics and tied to the fixed cone. The drift cannot exceed the design speed cone v2 set — the fastest measured current times one and a half, about two thousand three hundred kilometres per pentad — so the learned cone always lives inside the envelope v2 argued for. The axes cannot shrink below one cell or grow faster than the design speed. The future cone shares the numbers, reflected; letting it have its own is an ablation. Two guards protect the learning itself. First, the loss reaches the geometry only through the input reads; where a target sits is treated as a constant. Without that, the model would learn to move its questions to wherever they are easiest, and a cone that points at flat water would look excellent. Second, the v2 safety net stays: alongside the learned ellipse, every lag keeps one fixed ring of twenty-four dots at log-spaced radii to the far side of the planet. That is the point of v2 — a cone that is too narrow silently asserts that a driver could not have arrived — and the learned ellipse adds direction and density on top of it rather than replacing it. And the initial values reproduce the fixed hourglass exactly, so the learned arm starts as the control and every departure from it is something the data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picture Chris asked for, drawn as we expect the model to draw it. An anchor on the western boundary just north of the RAPID line. For the surface group, water arrives up the Florida Current from the Caribbean, so the past cone should drift south-west, growing as it goes back, and the future cone should lean north-east along the Gulf Stream. For the deep group, the Deep Western Boundary Current runs the other way along the continental slope, so the past cone should drift north toward the Grand Banks and the future cone south. Neither arrow is programmed. They are what we expect the maps to show if the mechanism works, and they are written down now, before any run, so the check cannot be shaped by the result. The world-ocean version of the check is a single number: the correlation between the learned surface drift and the climatological surface current reversed, over cells where that current is at least a fifth of a metre per second. A clearly positive value means the cone learned "upstream" from the data alone. And the faint ring around the anchor is the fixed v2 safety net — always there, never learned, so nothing the model does can wall off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trap, because it is the kind that produces a beautiful curve and a wrong conclusion. If the model can move where its questions are asked, the gradient will move them to where the answers are easy — smooth open water, away from fronts — and the loss will fall for no reason we want. Three fixes. The target positions are constants as far as the gradient is concerned, so the geometry learns only from which inputs help. The future cone is tied to the past cone, so it cannot be tuned on its own. And every held-out number is scored on the frozen hourglass, the same for every arm. There is a residual, second-order version of the trap: as the input cone moves, the mirrored targets move with it. We do not assume that away. At every evaluation the run reports the variance of its targets under the learned cone against the fixed cone, and a drop of more than ten percent is a flag that the geometry is drifting toward easy water rather than toward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costs, in the same units as the earlier decks. The waist is thirteen per-location tokens each carrying all surface channels, which is fewer than the forty-two per-channel patch tokens E-069 used. The past cone is six lags of one anchor column, twenty-four ellipse dots and twenty-four ring dots, for four channel groups — about twelve hundred tokens. Argo comes as the twenty-six profile tokens cone v2 already specified. Targets are drawn as two hundred and fifty-six decoder queries per example, as now. The geometry adds about seven hundred thousand parameters and one new artefact: a pre-averaged pyramid of the tensor, about a third of its size, built once. Because the encoder is a Perceiver, its cost is linear in the token count, so this is about one and a half times E-069 per step — inside the two-times cone v2 already budgeted for itself. Per seed, E-069 ran under one GPU-hour on the North Atlantic; on the global tensor, budget two to three. Nine runs for the experiment on the next slide is on the order of twenty-five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experiment, written before anything runs. Three arms. The fixed hourglass with cone v2's geometry is the control and also the evaluation yardstick for every arm. The learned arm starts from the control. The primed arm starts its surface drift at the climatological current reversed, which separates two questions: can the gradient find upstream on its own, or can it only keep upstream if handed it? Everything else is held fixed — the global family 7.2 tensor, the seven-million codec, twenty thousand steps, the frozen protocol with its held-out years, three seeds per arm because the read-outs are probe-scored. Five read-outs: the forecast loss per lead against its bar; the gap between the full task and the snapshot task, which is what history buys; the correlation of the learned drift with upstream over the world ocean; the depth check at the western boundary; and the target-variance flag. The verdict rule is written now. The learned cone is adopted if it beats the control on the forecast at every lead up to three, paired at all three seeds, with the flag clean. If only the primed arm wins, the gradient cannot find upstream and geometry should be set from climatology rather than learned. If neither wins, the fixed hourglass stays and the next design is a dynamic cone — one whose drift is predicted per example from the waist — not a bigger static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for whoever implements it. Five steps, each small enough to land with its own test before the next begins. First the geometry: the waist and the future cone as functions in the cone module, with the coverage report extended to assert the mirror identity — pure numpy, testable on a laptop. Second the task mix, as a new masking plan next to the existing one, with a test that draws ten thousand examples and finds zero targets whose channel is invisible. Third, the only step that touches the data path: the pyramid and the interpolated gather, gated on a bit-identity test — at integer positions with everything observed it must reproduce today's gather exactly. Fourth the parameter maps as a module with its bounds, the mirror, the stop-gradient and the control initialisation, checked by finite differences. Fifth the read-outs in the trainer, including exporting the learned drift maps to the app so the Cones tab can draw them. Then the three arms are three recipes on the global tensor, and E-080 is dispatched under the usual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choices the deck made so it could be concrete, each of them one line to change. The future cone goes to six pentads to mirror the past, where E-069 only asked for one and two. The task shares are a first guess. The parameter maps are at two degrees. The Argo depth groups split at three hundred and a thousand decibars. The v2 safety ring is kept at every lag, which is the safe and more expensive choice. And the seasonal term on the drift waits for phase two. Say the word on any of these and the spec changes; none of them affects the build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deck leans on. The E-069 plan and its five-seed record; the E-069b masking fix in the codec; cone v2 for the design speeds, the profile tokens and the per-location tokens; family 8 for the token that carries its own offset; the geometry module for every constant. The learning mechanism is the deformable-sampling family from computer vision — deformable convolutions, spatial transformers and Deformable DETR — used here on a gather. The current speeds and the directions of the two AMOC limbs are the ones cone v2 already tabulated and the RAPID array's own description of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DESIGN PROPOSAL · 15 SEPTEMBER 2026</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The cut-off mirrored double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548640" y="1316736"/>
            <a:ext cx="7315200" cy="457200"/>
          </a:xfrm>
          <a:prstGeom prst="rect">
            <a:avLst/>
          </a:prstGeom>
          <a:noFill/>
          <a:ln/>
        </p:spPr>
        <p:txBody>
          <a:bodyPr wrap="square" lIns="0" tIns="0" rIns="0" bIns="0" rtlCol="0" anchor="ctr"/>
          <a:lstStyle/>
          <a:p>
            <a:pPr indent="0" marL="0">
              <a:buNone/>
            </a:pPr>
            <a:r>
              <a:rPr lang="en-US" sz="1700" i="1" dirty="0">
                <a:solidFill>
                  <a:srgbClr val="7D8590"/>
                </a:solidFill>
                <a:latin typeface="Georgia" pitchFamily="34" charset="0"/>
                <a:ea typeface="Georgia" pitchFamily="34" charset="-122"/>
                <a:cs typeface="Georgia" pitchFamily="34" charset="-120"/>
              </a:rPr>
              <a:t>Stage 1 as an hourglass — and a cone the model shapes itself</a:t>
            </a:r>
            <a:endParaRPr lang="en-US" sz="1700" dirty="0"/>
          </a:p>
        </p:txBody>
      </p:sp>
      <p:sp>
        <p:nvSpPr>
          <p:cNvPr id="8" name="Shape 5"/>
          <p:cNvSpPr/>
          <p:nvPr/>
        </p:nvSpPr>
        <p:spPr>
          <a:xfrm>
            <a:off x="548640" y="2148840"/>
            <a:ext cx="6217920" cy="1051560"/>
          </a:xfrm>
          <a:prstGeom prst="roundRect">
            <a:avLst>
              <a:gd name="adj" fmla="val 5217"/>
            </a:avLst>
          </a:prstGeom>
          <a:solidFill>
            <a:srgbClr val="161B22"/>
          </a:solidFill>
          <a:ln w="12700">
            <a:solidFill>
              <a:srgbClr val="30363D"/>
            </a:solidFill>
            <a:prstDash val="solid"/>
          </a:ln>
        </p:spPr>
      </p:sp>
      <p:sp>
        <p:nvSpPr>
          <p:cNvPr id="9" name="Text 6"/>
          <p:cNvSpPr txBox="1"/>
          <p:nvPr/>
        </p:nvSpPr>
        <p:spPr>
          <a:xfrm>
            <a:off x="804672" y="2331720"/>
            <a:ext cx="5705856" cy="685800"/>
          </a:xfrm>
          <a:prstGeom prst="rect">
            <a:avLst/>
          </a:prstGeom>
          <a:noFill/>
          <a:ln/>
        </p:spPr>
        <p:txBody>
          <a:bodyPr wrap="square" lIns="0" tIns="0" rIns="0" bIns="0" rtlCol="0" anchor="ctr"/>
          <a:lstStyle/>
          <a:p>
            <a:pPr indent="0" marL="0">
              <a:buNone/>
            </a:pPr>
            <a:r>
              <a:rPr lang="en-US" sz="1350" dirty="0">
                <a:solidFill>
                  <a:srgbClr val="E6EDF3"/>
                </a:solidFill>
                <a:latin typeface="Calibri" pitchFamily="34" charset="0"/>
                <a:ea typeface="Calibri" pitchFamily="34" charset="-122"/>
                <a:cs typeface="Calibri" pitchFamily="34" charset="-120"/>
              </a:rPr>
              <a:t>E-080 · design proposal · 15 September 2026 · </a:t>
            </a:r>
            <a:r>
              <a:rPr lang="en-US" sz="1350" b="1" dirty="0">
                <a:solidFill>
                  <a:srgbClr val="E3B341"/>
                </a:solidFill>
                <a:latin typeface="Calibri" pitchFamily="34" charset="0"/>
                <a:ea typeface="Calibri" pitchFamily="34" charset="-122"/>
                <a:cs typeface="Calibri" pitchFamily="34" charset="-120"/>
              </a:rPr>
              <a:t>nothing here is measured yet</a:t>
            </a:r>
            <a:endParaRPr lang="en-US" sz="1350" dirty="0"/>
          </a:p>
        </p:txBody>
      </p:sp>
      <p:sp>
        <p:nvSpPr>
          <p:cNvPr id="10" name="Text 7"/>
          <p:cNvSpPr txBox="1"/>
          <p:nvPr/>
        </p:nvSpPr>
        <p:spPr>
          <a:xfrm>
            <a:off x="548640" y="3429000"/>
            <a:ext cx="6217920" cy="1097280"/>
          </a:xfrm>
          <a:prstGeom prst="rect">
            <a:avLst/>
          </a:prstGeom>
          <a:noFill/>
          <a:ln/>
        </p:spPr>
        <p:txBody>
          <a:bodyPr wrap="square" lIns="0" tIns="0" rIns="0" bIns="0" rtlCol="0" anchor="t"/>
          <a:lstStyle/>
          <a:p>
            <a:pPr indent="0" marL="0">
              <a:buNone/>
            </a:pPr>
            <a:r>
              <a:rPr lang="en-US" sz="1250" dirty="0">
                <a:solidFill>
                  <a:srgbClr val="7D8590"/>
                </a:solidFill>
                <a:latin typeface="Calibri" pitchFamily="34" charset="0"/>
                <a:ea typeface="Calibri" pitchFamily="34" charset="-122"/>
                <a:cs typeface="Calibri" pitchFamily="34" charset="-120"/>
              </a:rPr>
              <a:t>The deck turns Chris's four points into a specification: a waist instead of a tip, a mirrored cone of targets, a random mix of four tasks, and a cone whose shape the model learns per region.</a:t>
            </a:r>
            <a:endParaRPr lang="en-US" sz="1250" dirty="0"/>
          </a:p>
        </p:txBody>
      </p:sp>
      <p:sp>
        <p:nvSpPr>
          <p:cNvPr id="11" name="Shape 8"/>
          <p:cNvSpPr/>
          <p:nvPr/>
        </p:nvSpPr>
        <p:spPr>
          <a:xfrm rot="10800000">
            <a:off x="8503920" y="1783080"/>
            <a:ext cx="2926080" cy="1783080"/>
          </a:xfrm>
          <a:prstGeom prst="triangle">
            <a:avLst/>
          </a:prstGeom>
          <a:solidFill>
            <a:srgbClr val="E8734A">
              <a:alpha val="18000"/>
            </a:srgbClr>
          </a:solidFill>
          <a:ln w="15875">
            <a:solidFill>
              <a:srgbClr val="E8734A"/>
            </a:solidFill>
            <a:prstDash val="solid"/>
          </a:ln>
        </p:spPr>
      </p:sp>
      <p:sp>
        <p:nvSpPr>
          <p:cNvPr id="12" name="Shape 9"/>
          <p:cNvSpPr/>
          <p:nvPr/>
        </p:nvSpPr>
        <p:spPr>
          <a:xfrm>
            <a:off x="8503920" y="3886200"/>
            <a:ext cx="2926080" cy="1783080"/>
          </a:xfrm>
          <a:prstGeom prst="triangle">
            <a:avLst/>
          </a:prstGeom>
          <a:solidFill>
            <a:srgbClr val="4493F8">
              <a:alpha val="20000"/>
            </a:srgbClr>
          </a:solidFill>
          <a:ln w="15875">
            <a:solidFill>
              <a:srgbClr val="4493F8"/>
            </a:solidFill>
            <a:prstDash val="solid"/>
          </a:ln>
        </p:spPr>
      </p:sp>
      <p:sp>
        <p:nvSpPr>
          <p:cNvPr id="13" name="Shape 10"/>
          <p:cNvSpPr/>
          <p:nvPr/>
        </p:nvSpPr>
        <p:spPr>
          <a:xfrm>
            <a:off x="9464040" y="3657600"/>
            <a:ext cx="1005840" cy="146304"/>
          </a:xfrm>
          <a:prstGeom prst="roundRect">
            <a:avLst>
              <a:gd name="adj" fmla="val 43750"/>
            </a:avLst>
          </a:prstGeom>
          <a:solidFill>
            <a:srgbClr val="E3B341"/>
          </a:solidFill>
          <a:ln w="12700">
            <a:solidFill>
              <a:srgbClr val="E3B341"/>
            </a:solidFill>
            <a:prstDash val="solid"/>
          </a:ln>
        </p:spPr>
      </p:sp>
      <p:sp>
        <p:nvSpPr>
          <p:cNvPr id="14" name="Text 11"/>
          <p:cNvSpPr txBox="1"/>
          <p:nvPr/>
        </p:nvSpPr>
        <p:spPr>
          <a:xfrm>
            <a:off x="7863840" y="1444752"/>
            <a:ext cx="4206240" cy="274320"/>
          </a:xfrm>
          <a:prstGeom prst="rect">
            <a:avLst/>
          </a:prstGeom>
          <a:noFill/>
          <a:ln/>
        </p:spPr>
        <p:txBody>
          <a:bodyPr wrap="square" lIns="0" tIns="0" rIns="0" bIns="0" rtlCol="0" anchor="ctr"/>
          <a:lstStyle/>
          <a:p>
            <a:pPr algn="ctr" indent="0" marL="0">
              <a:buNone/>
            </a:pPr>
            <a:r>
              <a:rPr lang="en-US" sz="1100" b="1" dirty="0">
                <a:solidFill>
                  <a:srgbClr val="E8734A"/>
                </a:solidFill>
                <a:latin typeface="Calibri" pitchFamily="34" charset="0"/>
                <a:ea typeface="Calibri" pitchFamily="34" charset="-122"/>
                <a:cs typeface="Calibri" pitchFamily="34" charset="-120"/>
              </a:rPr>
              <a:t>future cone · targets only</a:t>
            </a:r>
            <a:endParaRPr lang="en-US" sz="1100" dirty="0"/>
          </a:p>
        </p:txBody>
      </p:sp>
      <p:sp>
        <p:nvSpPr>
          <p:cNvPr id="15" name="Text 12"/>
          <p:cNvSpPr txBox="1"/>
          <p:nvPr/>
        </p:nvSpPr>
        <p:spPr>
          <a:xfrm>
            <a:off x="7863840" y="5742432"/>
            <a:ext cx="4206240" cy="274320"/>
          </a:xfrm>
          <a:prstGeom prst="rect">
            <a:avLst/>
          </a:prstGeom>
          <a:noFill/>
          <a:ln/>
        </p:spPr>
        <p:txBody>
          <a:bodyPr wrap="square" lIns="0" tIns="0" rIns="0" bIns="0" rtlCol="0" anchor="ctr"/>
          <a:lstStyle/>
          <a:p>
            <a:pPr algn="ctr" indent="0" marL="0">
              <a:buNone/>
            </a:pPr>
            <a:r>
              <a:rPr lang="en-US" sz="1100" b="1" dirty="0">
                <a:solidFill>
                  <a:srgbClr val="4493F8"/>
                </a:solidFill>
                <a:latin typeface="Calibri" pitchFamily="34" charset="0"/>
                <a:ea typeface="Calibri" pitchFamily="34" charset="-122"/>
                <a:cs typeface="Calibri" pitchFamily="34" charset="-120"/>
              </a:rPr>
              <a:t>past cone · input</a:t>
            </a:r>
            <a:endParaRPr lang="en-US" sz="1100" dirty="0"/>
          </a:p>
        </p:txBody>
      </p:sp>
      <p:sp>
        <p:nvSpPr>
          <p:cNvPr id="16" name="Text 13"/>
          <p:cNvSpPr txBox="1"/>
          <p:nvPr/>
        </p:nvSpPr>
        <p:spPr>
          <a:xfrm>
            <a:off x="7223760" y="3593592"/>
            <a:ext cx="2103120" cy="274320"/>
          </a:xfrm>
          <a:prstGeom prst="rect">
            <a:avLst/>
          </a:prstGeom>
          <a:noFill/>
          <a:ln/>
        </p:spPr>
        <p:txBody>
          <a:bodyPr wrap="square" lIns="0" tIns="0" rIns="0" bIns="0" rtlCol="0" anchor="ctr"/>
          <a:lstStyle/>
          <a:p>
            <a:pPr algn="r" indent="0" marL="0">
              <a:buNone/>
            </a:pPr>
            <a:r>
              <a:rPr lang="en-US" sz="1100" b="1" dirty="0">
                <a:solidFill>
                  <a:srgbClr val="E3B341"/>
                </a:solidFill>
                <a:latin typeface="Calibri" pitchFamily="34" charset="0"/>
                <a:ea typeface="Calibri" pitchFamily="34" charset="-122"/>
                <a:cs typeface="Calibri" pitchFamily="34" charset="-120"/>
              </a:rPr>
              <a:t>waist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WHERE WE COME FROM</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One cone, five seeds, one clear reading</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463040"/>
            <a:ext cx="5440680" cy="2788920"/>
          </a:xfrm>
          <a:prstGeom prst="roundRect">
            <a:avLst>
              <a:gd name="adj" fmla="val 1967"/>
            </a:avLst>
          </a:prstGeom>
          <a:solidFill>
            <a:srgbClr val="161B22"/>
          </a:solidFill>
          <a:ln w="12700">
            <a:solidFill>
              <a:srgbClr val="30363D"/>
            </a:solidFill>
            <a:prstDash val="solid"/>
          </a:ln>
        </p:spPr>
      </p:sp>
      <p:sp>
        <p:nvSpPr>
          <p:cNvPr id="8" name="Text 5"/>
          <p:cNvSpPr txBox="1"/>
          <p:nvPr/>
        </p:nvSpPr>
        <p:spPr>
          <a:xfrm>
            <a:off x="804672"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E-069 · the cone-native codec</a:t>
            </a:r>
            <a:endParaRPr lang="en-US" sz="1250" dirty="0"/>
          </a:p>
        </p:txBody>
      </p:sp>
      <p:sp>
        <p:nvSpPr>
          <p:cNvPr id="9" name="Text 6"/>
          <p:cNvSpPr txBox="1"/>
          <p:nvPr/>
        </p:nvSpPr>
        <p:spPr>
          <a:xfrm>
            <a:off x="804672"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30 days of dots around a North Atlantic cell, one 3×3 patch at the present, targets at +1 and +2 pentads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did </a:t>
            </a:r>
            <a:r>
              <a:rPr lang="en-US" sz="1250" b="1" dirty="0">
                <a:solidFill>
                  <a:srgbClr val="4493F8"/>
                </a:solidFill>
                <a:latin typeface="Calibri" pitchFamily="34" charset="0"/>
                <a:ea typeface="Calibri" pitchFamily="34" charset="-122"/>
                <a:cs typeface="Calibri" pitchFamily="34" charset="-120"/>
              </a:rPr>
              <a:t>not</a:t>
            </a:r>
            <a:r>
              <a:rPr lang="en-US" sz="1250" dirty="0">
                <a:solidFill>
                  <a:srgbClr val="E6EDF3"/>
                </a:solidFill>
                <a:latin typeface="Calibri" pitchFamily="34" charset="0"/>
                <a:ea typeface="Calibri" pitchFamily="34" charset="-122"/>
                <a:cs typeface="Calibri" pitchFamily="34" charset="-120"/>
              </a:rPr>
              <a:t> put the cell's own velocity into the embedding — five seeds, two objectives, refuted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a:t>
            </a:r>
            <a:r>
              <a:rPr lang="en-US" sz="1250" b="1" dirty="0">
                <a:solidFill>
                  <a:srgbClr val="4493F8"/>
                </a:solidFill>
                <a:latin typeface="Calibri" pitchFamily="34" charset="0"/>
                <a:ea typeface="Calibri" pitchFamily="34" charset="-122"/>
                <a:cs typeface="Calibri" pitchFamily="34" charset="-120"/>
              </a:rPr>
              <a:t>did</a:t>
            </a:r>
            <a:r>
              <a:rPr lang="en-US" sz="1250" dirty="0">
                <a:solidFill>
                  <a:srgbClr val="E6EDF3"/>
                </a:solidFill>
                <a:latin typeface="Calibri" pitchFamily="34" charset="0"/>
                <a:ea typeface="Calibri" pitchFamily="34" charset="-122"/>
                <a:cs typeface="Calibri" pitchFamily="34" charset="-120"/>
              </a:rPr>
              <a:t> buy persistent fields (hidden sea-surface height at ~0.36 of the bar vs 0.75–0.90) and a 7–8 % better one- and two-pentad forecast</a:t>
            </a:r>
            <a:endParaRPr lang="en-US" sz="1250" dirty="0"/>
          </a:p>
        </p:txBody>
      </p:sp>
      <p:sp>
        <p:nvSpPr>
          <p:cNvPr id="10" name="Shape 7"/>
          <p:cNvSpPr/>
          <p:nvPr/>
        </p:nvSpPr>
        <p:spPr>
          <a:xfrm>
            <a:off x="6199632" y="1463040"/>
            <a:ext cx="5440680" cy="2788920"/>
          </a:xfrm>
          <a:prstGeom prst="roundRect">
            <a:avLst>
              <a:gd name="adj" fmla="val 1967"/>
            </a:avLst>
          </a:prstGeom>
          <a:solidFill>
            <a:srgbClr val="161B22"/>
          </a:solidFill>
          <a:ln w="12700">
            <a:solidFill>
              <a:srgbClr val="30363D"/>
            </a:solidFill>
            <a:prstDash val="solid"/>
          </a:ln>
        </p:spPr>
      </p:sp>
      <p:sp>
        <p:nvSpPr>
          <p:cNvPr id="11" name="Text 8"/>
          <p:cNvSpPr txBox="1"/>
          <p:nvPr/>
        </p:nvSpPr>
        <p:spPr>
          <a:xfrm>
            <a:off x="6455664"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E-071 · cone v2</a:t>
            </a:r>
            <a:endParaRPr lang="en-US" sz="1250" dirty="0"/>
          </a:p>
        </p:txBody>
      </p:sp>
      <p:sp>
        <p:nvSpPr>
          <p:cNvPr id="12" name="Text 9"/>
          <p:cNvSpPr txBox="1"/>
          <p:nvPr/>
        </p:nvSpPr>
        <p:spPr>
          <a:xfrm>
            <a:off x="6455664"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Global, harmonic climatology, profile tokens — the geometry's known faults, fixed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Reach from the fastest mechanism × 1.5 — a hemisphere by lag 3, so dots go log-radial</a:t>
            </a:r>
            <a:endParaRPr lang="en-US" sz="1250" dirty="0"/>
          </a:p>
        </p:txBody>
      </p:sp>
      <p:sp>
        <p:nvSpPr>
          <p:cNvPr id="13" name="Shape 10"/>
          <p:cNvSpPr/>
          <p:nvPr/>
        </p:nvSpPr>
        <p:spPr>
          <a:xfrm>
            <a:off x="548640" y="4526280"/>
            <a:ext cx="11091672" cy="1188720"/>
          </a:xfrm>
          <a:prstGeom prst="roundRect">
            <a:avLst>
              <a:gd name="adj" fmla="val 4615"/>
            </a:avLst>
          </a:prstGeom>
          <a:solidFill>
            <a:srgbClr val="11202F"/>
          </a:solidFill>
          <a:ln w="12700">
            <a:solidFill>
              <a:srgbClr val="4493F8"/>
            </a:solidFill>
            <a:prstDash val="solid"/>
          </a:ln>
        </p:spPr>
      </p:sp>
      <p:sp>
        <p:nvSpPr>
          <p:cNvPr id="14" name="Text 11"/>
          <p:cNvSpPr txBox="1"/>
          <p:nvPr/>
        </p:nvSpPr>
        <p:spPr>
          <a:xfrm>
            <a:off x="822960" y="4709160"/>
            <a:ext cx="10543032" cy="822960"/>
          </a:xfrm>
          <a:prstGeom prst="rect">
            <a:avLst/>
          </a:prstGeom>
          <a:noFill/>
          <a:ln/>
        </p:spPr>
        <p:txBody>
          <a:bodyPr wrap="square" lIns="0" tIns="0" rIns="0" bIns="0" rtlCol="0" anchor="ctr"/>
          <a:lstStyle/>
          <a:p>
            <a:pPr indent="0" marL="0">
              <a:buNone/>
            </a:pPr>
            <a:r>
              <a:rPr lang="en-US" sz="1300" b="1" dirty="0">
                <a:solidFill>
                  <a:srgbClr val="4493F8"/>
                </a:solidFill>
                <a:latin typeface="Calibri" pitchFamily="34" charset="0"/>
                <a:ea typeface="Calibri" pitchFamily="34" charset="-122"/>
                <a:cs typeface="Calibri" pitchFamily="34" charset="-120"/>
              </a:rPr>
              <a:t>The open question v2 left: </a:t>
            </a:r>
            <a:r>
              <a:rPr lang="en-US" sz="1300" dirty="0">
                <a:solidFill>
                  <a:srgbClr val="E6EDF3"/>
                </a:solidFill>
                <a:latin typeface="Calibri" pitchFamily="34" charset="0"/>
                <a:ea typeface="Calibri" pitchFamily="34" charset="-122"/>
                <a:cs typeface="Calibri" pitchFamily="34" charset="-120"/>
              </a:rPr>
              <a:t>a cone wide enough to never exclude a driver samples the near field at one dot per thousands of kilometres.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HOURGLASS IN ONE PICTURE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Past cone → waist → future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3</a:t>
            </a:r>
            <a:endParaRPr lang="en-US" sz="1000" dirty="0"/>
          </a:p>
        </p:txBody>
      </p:sp>
      <p:pic>
        <p:nvPicPr>
          <p:cNvPr id="7" name="Image 0" descr="/home/claude/earth/ml/plans/E080_figures/hourglass_spacetime.png">    </p:cNvPr>
          <p:cNvPicPr>
            <a:picLocks noChangeAspect="1"/>
          </p:cNvPicPr>
          <p:nvPr/>
        </p:nvPicPr>
        <p:blipFill>
          <a:blip r:embed="rId1"/>
          <a:stretch>
            <a:fillRect/>
          </a:stretch>
        </p:blipFill>
        <p:spPr>
          <a:xfrm>
            <a:off x="548640" y="1481328"/>
            <a:ext cx="6629400" cy="4178808"/>
          </a:xfrm>
          <a:prstGeom prst="rect">
            <a:avLst/>
          </a:prstGeom>
        </p:spPr>
      </p:pic>
      <p:sp>
        <p:nvSpPr>
          <p:cNvPr id="8" name="Shape 4"/>
          <p:cNvSpPr/>
          <p:nvPr/>
        </p:nvSpPr>
        <p:spPr>
          <a:xfrm>
            <a:off x="7452360" y="1481328"/>
            <a:ext cx="4187952" cy="4178808"/>
          </a:xfrm>
          <a:prstGeom prst="roundRect">
            <a:avLst>
              <a:gd name="adj" fmla="val 1313"/>
            </a:avLst>
          </a:prstGeom>
          <a:solidFill>
            <a:srgbClr val="161B22"/>
          </a:solidFill>
          <a:ln w="12700">
            <a:solidFill>
              <a:srgbClr val="30363D"/>
            </a:solidFill>
            <a:prstDash val="solid"/>
          </a:ln>
        </p:spPr>
      </p:sp>
      <p:sp>
        <p:nvSpPr>
          <p:cNvPr id="9" name="Text 5"/>
          <p:cNvSpPr txBox="1"/>
          <p:nvPr/>
        </p:nvSpPr>
        <p:spPr>
          <a:xfrm>
            <a:off x="7708392" y="1682496"/>
            <a:ext cx="3675888" cy="3813048"/>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Past cone</a:t>
            </a:r>
            <a:r>
              <a:rPr lang="en-US" sz="1200" dirty="0">
                <a:solidFill>
                  <a:srgbClr val="E6EDF3"/>
                </a:solidFill>
                <a:latin typeface="Calibri" pitchFamily="34" charset="0"/>
                <a:ea typeface="Calibri" pitchFamily="34" charset="-122"/>
                <a:cs typeface="Calibri" pitchFamily="34" charset="-120"/>
              </a:rPr>
              <a:t> (lags −6…−1): read as input, dots at the per-lag ellipse plus the anchor column</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Waist</a:t>
            </a:r>
            <a:r>
              <a:rPr lang="en-US" sz="1200" dirty="0">
                <a:solidFill>
                  <a:srgbClr val="E6EDF3"/>
                </a:solidFill>
                <a:latin typeface="Calibri" pitchFamily="34" charset="0"/>
                <a:ea typeface="Calibri" pitchFamily="34" charset="-122"/>
                <a:cs typeface="Calibri" pitchFamily="34" charset="-120"/>
              </a:rPr>
              <a:t> (lag 0): a disc of several cells — the cut-off tip — read as input and reconstructed; the embedding z summarises the waist</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Future cone</a:t>
            </a:r>
            <a:r>
              <a:rPr lang="en-US" sz="1200" dirty="0">
                <a:solidFill>
                  <a:srgbClr val="E6EDF3"/>
                </a:solidFill>
                <a:latin typeface="Calibri" pitchFamily="34" charset="0"/>
                <a:ea typeface="Calibri" pitchFamily="34" charset="-122"/>
                <a:cs typeface="Calibri" pitchFamily="34" charset="-120"/>
              </a:rPr>
              <a:t> (leads +1…+6): never read; sampled the same way and used as targets only</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Point-mirrored:</a:t>
            </a:r>
            <a:r>
              <a:rPr lang="en-US" sz="1200" dirty="0">
                <a:solidFill>
                  <a:srgbClr val="E6EDF3"/>
                </a:solidFill>
                <a:latin typeface="Calibri" pitchFamily="34" charset="0"/>
                <a:ea typeface="Calibri" pitchFamily="34" charset="-122"/>
                <a:cs typeface="Calibri" pitchFamily="34" charset="-120"/>
              </a:rPr>
              <a:t> the future cone at lead +ℓ is the past cone at lag −ℓ reflected through the anchor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1 — THE WAIST: WHY THE TIP IS CUT OFF</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A gradient does not exist within a single cell</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463040"/>
            <a:ext cx="740664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894576" cy="38404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is a disc of radius r</a:t>
            </a:r>
            <a:r>
              <a:rPr lang="en-US" sz="1250" baseline="-40000" dirty="0">
                <a:solidFill>
                  <a:srgbClr val="E6EDF3"/>
                </a:solidFill>
                <a:latin typeface="Calibri" pitchFamily="34" charset="0"/>
                <a:ea typeface="Calibri" pitchFamily="34" charset="-122"/>
                <a:cs typeface="Calibri" pitchFamily="34" charset="-120"/>
              </a:rPr>
              <a:t>0</a:t>
            </a:r>
            <a:r>
              <a:rPr lang="en-US" sz="1250" dirty="0">
                <a:solidFill>
                  <a:srgbClr val="E6EDF3"/>
                </a:solidFill>
                <a:latin typeface="Calibri" pitchFamily="34" charset="0"/>
                <a:ea typeface="Calibri" pitchFamily="34" charset="-122"/>
                <a:cs typeface="Calibri" pitchFamily="34" charset="-120"/>
              </a:rPr>
              <a:t> around the anchor, sampled as a small sunflower: ~13 cells at the default (one centre + 12), never fewer than the 3×3 patch's nine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Read as input at lag 0 (values + observed flags) and reconstructed as the anchor family's target</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What the waist buys:</a:t>
            </a:r>
            <a:r>
              <a:rPr lang="en-US" sz="1250" dirty="0">
                <a:solidFill>
                  <a:srgbClr val="E6EDF3"/>
                </a:solidFill>
                <a:latin typeface="Calibri" pitchFamily="34" charset="0"/>
                <a:ea typeface="Calibri" pitchFamily="34" charset="-122"/>
                <a:cs typeface="Calibri" pitchFamily="34" charset="-120"/>
              </a:rPr>
              <a:t> thermal wind is a density gradient; geostrophy is a sea-surface-height slope — both need neighbours at the same instant, not in the past</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has the same shape parameters as the cone at lag 0 (orientation, two semi-axes), so a boundary current can have an elongated waist along the flow</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embedding z summarises the waist; one z per anchor, as today</a:t>
            </a:r>
            <a:endParaRPr lang="en-US" sz="1250" dirty="0"/>
          </a:p>
        </p:txBody>
      </p:sp>
      <p:sp>
        <p:nvSpPr>
          <p:cNvPr id="9" name="Shape 6"/>
          <p:cNvSpPr/>
          <p:nvPr/>
        </p:nvSpPr>
        <p:spPr>
          <a:xfrm>
            <a:off x="8138160" y="1463040"/>
            <a:ext cx="3502152"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8375904" y="160934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4493F8"/>
                </a:solidFill>
                <a:latin typeface="Georgia" pitchFamily="34" charset="0"/>
                <a:ea typeface="Georgia" pitchFamily="34" charset="-122"/>
                <a:cs typeface="Georgia" pitchFamily="34" charset="-120"/>
              </a:rPr>
              <a:t>≈ 13</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cells at the waist</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one centre + 12, never fewer than the nine of the 3×3 patch</a:t>
            </a:r>
            <a:endParaRPr lang="en-US" sz="3000" dirty="0"/>
          </a:p>
        </p:txBody>
      </p:sp>
      <p:sp>
        <p:nvSpPr>
          <p:cNvPr id="11" name="Shape 8"/>
          <p:cNvSpPr/>
          <p:nvPr/>
        </p:nvSpPr>
        <p:spPr>
          <a:xfrm>
            <a:off x="8138160" y="3657600"/>
            <a:ext cx="3502152"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8375904" y="380390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1 z</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per anchor, as today</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so stage 2 and every archived probe see the same kind of object</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2 — THE PREDICTION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Sampled like the past cone, read by nobody</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463040"/>
            <a:ext cx="3557016" cy="1143000"/>
          </a:xfrm>
          <a:prstGeom prst="roundRect">
            <a:avLst>
              <a:gd name="adj" fmla="val 4800"/>
            </a:avLst>
          </a:prstGeom>
          <a:solidFill>
            <a:srgbClr val="161B22"/>
          </a:solidFill>
          <a:ln w="12700">
            <a:solidFill>
              <a:srgbClr val="30363D"/>
            </a:solidFill>
            <a:prstDash val="solid"/>
          </a:ln>
        </p:spPr>
      </p:sp>
      <p:sp>
        <p:nvSpPr>
          <p:cNvPr id="8" name="Text 5"/>
          <p:cNvSpPr txBox="1"/>
          <p:nvPr/>
        </p:nvSpPr>
        <p:spPr>
          <a:xfrm>
            <a:off x="786384"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4493F8"/>
                </a:solidFill>
                <a:latin typeface="Calibri" pitchFamily="34" charset="0"/>
                <a:ea typeface="Calibri" pitchFamily="34" charset="-122"/>
                <a:cs typeface="Calibri" pitchFamily="34" charset="-120"/>
              </a:rPr>
              <a:t>+1 … +6 pentads</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30 days ahead, matching the 30 days of history</a:t>
            </a:r>
            <a:endParaRPr lang="en-US" sz="1500" dirty="0"/>
          </a:p>
        </p:txBody>
      </p:sp>
      <p:sp>
        <p:nvSpPr>
          <p:cNvPr id="9" name="Shape 6"/>
          <p:cNvSpPr/>
          <p:nvPr/>
        </p:nvSpPr>
        <p:spPr>
          <a:xfrm>
            <a:off x="4315968" y="1463040"/>
            <a:ext cx="3557016" cy="1143000"/>
          </a:xfrm>
          <a:prstGeom prst="roundRect">
            <a:avLst>
              <a:gd name="adj" fmla="val 4800"/>
            </a:avLst>
          </a:prstGeom>
          <a:solidFill>
            <a:srgbClr val="161B22"/>
          </a:solidFill>
          <a:ln w="12700">
            <a:solidFill>
              <a:srgbClr val="30363D"/>
            </a:solidFill>
            <a:prstDash val="solid"/>
          </a:ln>
        </p:spPr>
      </p:sp>
      <p:sp>
        <p:nvSpPr>
          <p:cNvPr id="10" name="Text 7"/>
          <p:cNvSpPr txBox="1"/>
          <p:nvPr/>
        </p:nvSpPr>
        <p:spPr>
          <a:xfrm>
            <a:off x="4553712"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8734A"/>
                </a:solidFill>
                <a:latin typeface="Calibri" pitchFamily="34" charset="0"/>
                <a:ea typeface="Calibri" pitchFamily="34" charset="-122"/>
                <a:cs typeface="Calibri" pitchFamily="34" charset="-120"/>
              </a:rPr>
              <a:t>targets only</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nothing in the future cone is ever read by the encoder</a:t>
            </a:r>
            <a:endParaRPr lang="en-US" sz="1500" dirty="0"/>
          </a:p>
        </p:txBody>
      </p:sp>
      <p:sp>
        <p:nvSpPr>
          <p:cNvPr id="11" name="Shape 8"/>
          <p:cNvSpPr/>
          <p:nvPr/>
        </p:nvSpPr>
        <p:spPr>
          <a:xfrm>
            <a:off x="8083296" y="1463040"/>
            <a:ext cx="3557016" cy="1143000"/>
          </a:xfrm>
          <a:prstGeom prst="roundRect">
            <a:avLst>
              <a:gd name="adj" fmla="val 4800"/>
            </a:avLst>
          </a:prstGeom>
          <a:solidFill>
            <a:srgbClr val="161B22"/>
          </a:solidFill>
          <a:ln w="12700">
            <a:solidFill>
              <a:srgbClr val="30363D"/>
            </a:solidFill>
            <a:prstDash val="solid"/>
          </a:ln>
        </p:spPr>
      </p:sp>
      <p:sp>
        <p:nvSpPr>
          <p:cNvPr id="12" name="Text 9"/>
          <p:cNvSpPr txBox="1"/>
          <p:nvPr/>
        </p:nvSpPr>
        <p:spPr>
          <a:xfrm>
            <a:off x="8321040"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3B341"/>
                </a:solidFill>
                <a:latin typeface="Calibri" pitchFamily="34" charset="0"/>
                <a:ea typeface="Calibri" pitchFamily="34" charset="-122"/>
                <a:cs typeface="Calibri" pitchFamily="34" charset="-120"/>
              </a:rPr>
              <a:t>frozen at evaluation</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the fixed v2 hourglass scores every arm and every seed</a:t>
            </a:r>
            <a:endParaRPr lang="en-US" sz="1500" dirty="0"/>
          </a:p>
        </p:txBody>
      </p:sp>
      <p:sp>
        <p:nvSpPr>
          <p:cNvPr id="13" name="Shape 10"/>
          <p:cNvSpPr/>
          <p:nvPr/>
        </p:nvSpPr>
        <p:spPr>
          <a:xfrm>
            <a:off x="548640" y="2834640"/>
            <a:ext cx="11091672" cy="2834640"/>
          </a:xfrm>
          <a:prstGeom prst="roundRect">
            <a:avLst>
              <a:gd name="adj" fmla="val 1935"/>
            </a:avLst>
          </a:prstGeom>
          <a:solidFill>
            <a:srgbClr val="161B22"/>
          </a:solidFill>
          <a:ln w="12700">
            <a:solidFill>
              <a:srgbClr val="30363D"/>
            </a:solidFill>
            <a:prstDash val="solid"/>
          </a:ln>
        </p:spPr>
      </p:sp>
      <p:sp>
        <p:nvSpPr>
          <p:cNvPr id="14" name="Text 11"/>
          <p:cNvSpPr txBox="1"/>
          <p:nvPr/>
        </p:nvSpPr>
        <p:spPr>
          <a:xfrm>
            <a:off x="804672" y="3035808"/>
            <a:ext cx="10579608" cy="24688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Leads +1…+6 pentads (30 days ahead), the mirror image of the past cone through the anchor: centre c(+ℓ) = −c(−ℓ), same axes and orientation at the same |ℓ|</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Dots are </a:t>
            </a:r>
            <a:r>
              <a:rPr lang="en-US" sz="1250" b="1" dirty="0">
                <a:solidFill>
                  <a:srgbClr val="4493F8"/>
                </a:solidFill>
                <a:latin typeface="Calibri" pitchFamily="34" charset="0"/>
                <a:ea typeface="Calibri" pitchFamily="34" charset="-122"/>
                <a:cs typeface="Calibri" pitchFamily="34" charset="-120"/>
              </a:rPr>
              <a:t>targets only</a:t>
            </a:r>
            <a:r>
              <a:rPr lang="en-US" sz="1250" dirty="0">
                <a:solidFill>
                  <a:srgbClr val="E6EDF3"/>
                </a:solidFill>
                <a:latin typeface="Calibri" pitchFamily="34" charset="0"/>
                <a:ea typeface="Calibri" pitchFamily="34" charset="-122"/>
                <a:cs typeface="Calibri" pitchFamily="34" charset="-120"/>
              </a:rPr>
              <a:t>: each is a decoder query (channel, Δx, Δy, lead, depth) → (μ, log σ</a:t>
            </a:r>
            <a:r>
              <a:rPr lang="en-US" sz="1250" baseline="30000" dirty="0">
                <a:solidFill>
                  <a:srgbClr val="E6EDF3"/>
                </a:solidFill>
                <a:latin typeface="Calibri" pitchFamily="34" charset="0"/>
                <a:ea typeface="Calibri" pitchFamily="34" charset="-122"/>
                <a:cs typeface="Calibri" pitchFamily="34" charset="-120"/>
              </a:rPr>
              <a:t>2</a:t>
            </a:r>
            <a:r>
              <a:rPr lang="en-US" sz="1250" dirty="0">
                <a:solidFill>
                  <a:srgbClr val="E6EDF3"/>
                </a:solidFill>
                <a:latin typeface="Calibri" pitchFamily="34" charset="0"/>
                <a:ea typeface="Calibri" pitchFamily="34" charset="-122"/>
                <a:cs typeface="Calibri" pitchFamily="34" charset="-120"/>
              </a:rPr>
              <a:t>), scored with the Gaussian negative log-likelihood already in cone_codec.py</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anchor column at every lead is always among the targets — the fixed-frame forecast stage 2 needs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Per-lead and per-family loss, each reported against its own predict-the-mean bar (the E-069b rule)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Evaluation geometry is </a:t>
            </a:r>
            <a:r>
              <a:rPr lang="en-US" sz="1250" b="1" dirty="0">
                <a:solidFill>
                  <a:srgbClr val="4493F8"/>
                </a:solidFill>
                <a:latin typeface="Calibri" pitchFamily="34" charset="0"/>
                <a:ea typeface="Calibri" pitchFamily="34" charset="-122"/>
                <a:cs typeface="Calibri" pitchFamily="34" charset="-120"/>
              </a:rPr>
              <a:t>frozen</a:t>
            </a:r>
            <a:r>
              <a:rPr lang="en-US" sz="1250" dirty="0">
                <a:solidFill>
                  <a:srgbClr val="E6EDF3"/>
                </a:solidFill>
                <a:latin typeface="Calibri" pitchFamily="34" charset="0"/>
                <a:ea typeface="Calibri" pitchFamily="34" charset="-122"/>
                <a:cs typeface="Calibri" pitchFamily="34" charset="-120"/>
              </a:rPr>
              <a:t> (the fixed v2 hourglass), whatever the training cone learns — so every number stays comparable across arms and seeds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SAMPLING REGIME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One model, four questions, drawn at random per example</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965960"/>
                <a:gridCol w="3063240"/>
                <a:gridCol w="1691640"/>
                <a:gridCol w="685800"/>
                <a:gridCol w="3685032"/>
              </a:tblGrid>
              <a:tr h="310896">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input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targets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share</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what it teaches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T1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full problem</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T2 snapshot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only (past cone fully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built-in twin: what history buys, inside one model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T3 nowcast from history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past cone under a dropout pattern; waist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present from the past — persistence, advection, memory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T4 fill-in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 both under a dropout pattern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hidden waist cells and dots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E-069b's reconstruction family, kept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Text 4"/>
          <p:cNvSpPr txBox="1"/>
          <p:nvPr/>
        </p:nvSpPr>
        <p:spPr>
          <a:xfrm>
            <a:off x="548640" y="3931920"/>
            <a:ext cx="11091672" cy="274320"/>
          </a:xfrm>
          <a:prstGeom prst="rect">
            <a:avLst/>
          </a:prstGeom>
          <a:noFill/>
          <a:ln/>
        </p:spPr>
        <p:txBody>
          <a:bodyPr wrap="square" lIns="0" tIns="0" rIns="0" bIns="0" rtlCol="0" anchor="ctr"/>
          <a:lstStyle/>
          <a:p>
            <a:pPr indent="0" marL="0">
              <a:buNone/>
            </a:pPr>
            <a:r>
              <a:rPr lang="en-US" sz="1250" b="1" dirty="0">
                <a:solidFill>
                  <a:srgbClr val="E6EDF3"/>
                </a:solidFill>
                <a:latin typeface="Calibri" pitchFamily="34" charset="0"/>
                <a:ea typeface="Calibri" pitchFamily="34" charset="-122"/>
                <a:cs typeface="Calibri" pitchFamily="34" charset="-120"/>
              </a:rPr>
              <a:t>Dropout patterns for T3 and T4, drawn independently </a:t>
            </a:r>
            <a:r>
              <a:rPr lang="en-US" sz="1250" dirty="0">
                <a:solidFill>
                  <a:srgbClr val="7D8590"/>
                </a:solidFill>
                <a:latin typeface="Calibri" pitchFamily="34" charset="0"/>
                <a:ea typeface="Calibri" pitchFamily="34" charset="-122"/>
                <a:cs typeface="Calibri" pitchFamily="34" charset="-120"/>
              </a:rPr>
              <a:t>(each fires with its own probability)</a:t>
            </a:r>
            <a:endParaRPr lang="en-US" sz="1250" dirty="0"/>
          </a:p>
        </p:txBody>
      </p:sp>
      <p:sp>
        <p:nvSpPr>
          <p:cNvPr id="9" name="Shape 5"/>
          <p:cNvSpPr/>
          <p:nvPr/>
        </p:nvSpPr>
        <p:spPr>
          <a:xfrm>
            <a:off x="548640" y="4315968"/>
            <a:ext cx="2112264" cy="1371600"/>
          </a:xfrm>
          <a:prstGeom prst="roundRect">
            <a:avLst>
              <a:gd name="adj" fmla="val 4000"/>
            </a:avLst>
          </a:prstGeom>
          <a:solidFill>
            <a:srgbClr val="161B22"/>
          </a:solidFill>
          <a:ln w="12700">
            <a:solidFill>
              <a:srgbClr val="30363D"/>
            </a:solidFill>
            <a:prstDash val="solid"/>
          </a:ln>
        </p:spPr>
      </p:sp>
      <p:sp>
        <p:nvSpPr>
          <p:cNvPr id="10" name="Text 6"/>
          <p:cNvSpPr txBox="1"/>
          <p:nvPr/>
        </p:nvSpPr>
        <p:spPr>
          <a:xfrm>
            <a:off x="786384"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channel drop</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at the waist — lag 0 only, chan_drop_scope lag0</a:t>
            </a:r>
            <a:endParaRPr lang="en-US" sz="1150" dirty="0"/>
          </a:p>
        </p:txBody>
      </p:sp>
      <p:sp>
        <p:nvSpPr>
          <p:cNvPr id="11" name="Shape 7"/>
          <p:cNvSpPr/>
          <p:nvPr/>
        </p:nvSpPr>
        <p:spPr>
          <a:xfrm>
            <a:off x="2798064" y="4315968"/>
            <a:ext cx="2112264" cy="1371600"/>
          </a:xfrm>
          <a:prstGeom prst="roundRect">
            <a:avLst>
              <a:gd name="adj" fmla="val 4000"/>
            </a:avLst>
          </a:prstGeom>
          <a:solidFill>
            <a:srgbClr val="161B22"/>
          </a:solidFill>
          <a:ln w="12700">
            <a:solidFill>
              <a:srgbClr val="30363D"/>
            </a:solidFill>
            <a:prstDash val="solid"/>
          </a:ln>
        </p:spPr>
      </p:sp>
      <p:sp>
        <p:nvSpPr>
          <p:cNvPr id="12" name="Text 8"/>
          <p:cNvSpPr txBox="1"/>
          <p:nvPr/>
        </p:nvSpPr>
        <p:spPr>
          <a:xfrm>
            <a:off x="3035808"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recent-lag band</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every dot at lag ≤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 {1, 2, 3}</a:t>
            </a:r>
            <a:endParaRPr lang="en-US" sz="1150" dirty="0"/>
          </a:p>
        </p:txBody>
      </p:sp>
      <p:sp>
        <p:nvSpPr>
          <p:cNvPr id="13" name="Shape 9"/>
          <p:cNvSpPr/>
          <p:nvPr/>
        </p:nvSpPr>
        <p:spPr>
          <a:xfrm>
            <a:off x="5047488" y="4315968"/>
            <a:ext cx="2112264" cy="1371600"/>
          </a:xfrm>
          <a:prstGeom prst="roundRect">
            <a:avLst>
              <a:gd name="adj" fmla="val 4000"/>
            </a:avLst>
          </a:prstGeom>
          <a:solidFill>
            <a:srgbClr val="161B22"/>
          </a:solidFill>
          <a:ln w="12700">
            <a:solidFill>
              <a:srgbClr val="30363D"/>
            </a:solidFill>
            <a:prstDash val="solid"/>
          </a:ln>
        </p:spPr>
      </p:sp>
      <p:sp>
        <p:nvSpPr>
          <p:cNvPr id="14" name="Text 10"/>
          <p:cNvSpPr txBox="1"/>
          <p:nvPr/>
        </p:nvSpPr>
        <p:spPr>
          <a:xfrm>
            <a:off x="5285232"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bearing wedge</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a 90° sector</a:t>
            </a:r>
            <a:endParaRPr lang="en-US" sz="1150" dirty="0"/>
          </a:p>
        </p:txBody>
      </p:sp>
      <p:sp>
        <p:nvSpPr>
          <p:cNvPr id="15" name="Shape 11"/>
          <p:cNvSpPr/>
          <p:nvPr/>
        </p:nvSpPr>
        <p:spPr>
          <a:xfrm>
            <a:off x="7296912" y="4315968"/>
            <a:ext cx="2112264" cy="1371600"/>
          </a:xfrm>
          <a:prstGeom prst="roundRect">
            <a:avLst>
              <a:gd name="adj" fmla="val 4000"/>
            </a:avLst>
          </a:prstGeom>
          <a:solidFill>
            <a:srgbClr val="161B22"/>
          </a:solidFill>
          <a:ln w="12700">
            <a:solidFill>
              <a:srgbClr val="30363D"/>
            </a:solidFill>
            <a:prstDash val="solid"/>
          </a:ln>
        </p:spPr>
      </p:sp>
      <p:sp>
        <p:nvSpPr>
          <p:cNvPr id="16" name="Text 12"/>
          <p:cNvSpPr txBox="1"/>
          <p:nvPr/>
        </p:nvSpPr>
        <p:spPr>
          <a:xfrm>
            <a:off x="7534656"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random dots</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each dot hidden with p = 0.3</a:t>
            </a:r>
            <a:endParaRPr lang="en-US" sz="1150" dirty="0"/>
          </a:p>
        </p:txBody>
      </p:sp>
      <p:sp>
        <p:nvSpPr>
          <p:cNvPr id="17" name="Shape 13"/>
          <p:cNvSpPr/>
          <p:nvPr/>
        </p:nvSpPr>
        <p:spPr>
          <a:xfrm>
            <a:off x="9546336" y="4315968"/>
            <a:ext cx="2112264" cy="1371600"/>
          </a:xfrm>
          <a:prstGeom prst="roundRect">
            <a:avLst>
              <a:gd name="adj" fmla="val 4000"/>
            </a:avLst>
          </a:prstGeom>
          <a:solidFill>
            <a:srgbClr val="161B22"/>
          </a:solidFill>
          <a:ln w="12700">
            <a:solidFill>
              <a:srgbClr val="30363D"/>
            </a:solidFill>
            <a:prstDash val="solid"/>
          </a:ln>
        </p:spPr>
      </p:sp>
      <p:sp>
        <p:nvSpPr>
          <p:cNvPr id="18" name="Text 14"/>
          <p:cNvSpPr txBox="1"/>
          <p:nvPr/>
        </p:nvSpPr>
        <p:spPr>
          <a:xfrm>
            <a:off x="9784080"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whole waist</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T3 only</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RULES THAT MAKE THE MIX SAFE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Three rules, all learned the hard way in E-069</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463040"/>
            <a:ext cx="3557016" cy="2377440"/>
          </a:xfrm>
          <a:prstGeom prst="roundRect">
            <a:avLst>
              <a:gd name="adj" fmla="val 2308"/>
            </a:avLst>
          </a:prstGeom>
          <a:solidFill>
            <a:srgbClr val="161B22"/>
          </a:solidFill>
          <a:ln w="12700">
            <a:solidFill>
              <a:srgbClr val="30363D"/>
            </a:solidFill>
            <a:prstDash val="solid"/>
          </a:ln>
        </p:spPr>
      </p:sp>
      <p:sp>
        <p:nvSpPr>
          <p:cNvPr id="8" name="Text 5"/>
          <p:cNvSpPr txBox="1"/>
          <p:nvPr/>
        </p:nvSpPr>
        <p:spPr>
          <a:xfrm>
            <a:off x="786384"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1 · Knowable targets only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target channel must be visible somewhere in the input (any lag, any dot). Under the first E-069 plan 80 % of hidden-dot targets broke this and 64 % of the loss was predict-the-mean.</a:t>
            </a:r>
            <a:endParaRPr lang="en-US" sz="1250" dirty="0"/>
          </a:p>
        </p:txBody>
      </p:sp>
      <p:sp>
        <p:nvSpPr>
          <p:cNvPr id="9" name="Shape 6"/>
          <p:cNvSpPr/>
          <p:nvPr/>
        </p:nvSpPr>
        <p:spPr>
          <a:xfrm>
            <a:off x="4315968" y="1463040"/>
            <a:ext cx="3557016" cy="2377440"/>
          </a:xfrm>
          <a:prstGeom prst="roundRect">
            <a:avLst>
              <a:gd name="adj" fmla="val 2308"/>
            </a:avLst>
          </a:prstGeom>
          <a:solidFill>
            <a:srgbClr val="161B22"/>
          </a:solidFill>
          <a:ln w="12700">
            <a:solidFill>
              <a:srgbClr val="30363D"/>
            </a:solidFill>
            <a:prstDash val="solid"/>
          </a:ln>
        </p:spPr>
      </p:sp>
      <p:sp>
        <p:nvSpPr>
          <p:cNvPr id="10" name="Text 7"/>
          <p:cNvSpPr txBox="1"/>
          <p:nvPr/>
        </p:nvSpPr>
        <p:spPr>
          <a:xfrm>
            <a:off x="4553712"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2 · No copy targets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anchor family scores hidden channels only (anchor_hidden_only); a target visible in the input is a copy, not a question.</a:t>
            </a:r>
            <a:endParaRPr lang="en-US" sz="1250" dirty="0"/>
          </a:p>
        </p:txBody>
      </p:sp>
      <p:sp>
        <p:nvSpPr>
          <p:cNvPr id="11" name="Shape 8"/>
          <p:cNvSpPr/>
          <p:nvPr/>
        </p:nvSpPr>
        <p:spPr>
          <a:xfrm>
            <a:off x="8083296" y="1463040"/>
            <a:ext cx="3557016" cy="2377440"/>
          </a:xfrm>
          <a:prstGeom prst="roundRect">
            <a:avLst>
              <a:gd name="adj" fmla="val 2308"/>
            </a:avLst>
          </a:prstGeom>
          <a:solidFill>
            <a:srgbClr val="161B22"/>
          </a:solidFill>
          <a:ln w="12700">
            <a:solidFill>
              <a:srgbClr val="30363D"/>
            </a:solidFill>
            <a:prstDash val="solid"/>
          </a:ln>
        </p:spPr>
      </p:sp>
      <p:sp>
        <p:nvSpPr>
          <p:cNvPr id="12" name="Text 9"/>
          <p:cNvSpPr txBox="1"/>
          <p:nvPr/>
        </p:nvSpPr>
        <p:spPr>
          <a:xfrm>
            <a:off x="8321040"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3 · Every family against its own bar</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Per (task, family, lead) loss, each divided by its predict-the-mean score; a task is “learned” only where the ratio is below one at held-out anchors.</a:t>
            </a:r>
            <a:endParaRPr lang="en-US" sz="1250" dirty="0"/>
          </a:p>
        </p:txBody>
      </p:sp>
      <p:sp>
        <p:nvSpPr>
          <p:cNvPr id="13" name="Shape 10"/>
          <p:cNvSpPr/>
          <p:nvPr/>
        </p:nvSpPr>
        <p:spPr>
          <a:xfrm>
            <a:off x="548640" y="4069080"/>
            <a:ext cx="11091672" cy="1600200"/>
          </a:xfrm>
          <a:prstGeom prst="roundRect">
            <a:avLst>
              <a:gd name="adj" fmla="val 3429"/>
            </a:avLst>
          </a:prstGeom>
          <a:solidFill>
            <a:srgbClr val="161B22"/>
          </a:solidFill>
          <a:ln w="12700">
            <a:solidFill>
              <a:srgbClr val="30363D"/>
            </a:solidFill>
            <a:prstDash val="solid"/>
          </a:ln>
        </p:spPr>
      </p:sp>
      <p:sp>
        <p:nvSpPr>
          <p:cNvPr id="14" name="Text 11"/>
          <p:cNvSpPr txBox="1"/>
          <p:nvPr/>
        </p:nvSpPr>
        <p:spPr>
          <a:xfrm>
            <a:off x="804672" y="4270248"/>
            <a:ext cx="10579608" cy="123444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task is not told to the model by a token; the masks are visible (the mask_tok / miss_tok distinction stays), and the lead is in every query's coordinates — that is enough</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Loss weights: equal across tasks per example; the shares in the table set the mix, not the weights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CONE AS A WARPED SUNFLOWER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Seven numbers per region shape the whole hourglass</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8</a:t>
            </a:r>
            <a:endParaRPr lang="en-US" sz="1000" dirty="0"/>
          </a:p>
        </p:txBody>
      </p:sp>
      <p:pic>
        <p:nvPicPr>
          <p:cNvPr id="7" name="Image 0" descr="/home/claude/earth/ml/plans/E080_figures/warped_sunflower.png">    </p:cNvPr>
          <p:cNvPicPr>
            <a:picLocks noChangeAspect="1"/>
          </p:cNvPicPr>
          <p:nvPr/>
        </p:nvPicPr>
        <p:blipFill>
          <a:blip r:embed="rId1"/>
          <a:stretch>
            <a:fillRect/>
          </a:stretch>
        </p:blipFill>
        <p:spPr>
          <a:xfrm>
            <a:off x="621792" y="1389888"/>
            <a:ext cx="10954512" cy="2395728"/>
          </a:xfrm>
          <a:prstGeom prst="rect">
            <a:avLst/>
          </a:prstGeom>
        </p:spPr>
      </p:pic>
      <p:sp>
        <p:nvSpPr>
          <p:cNvPr id="8" name="Shape 4"/>
          <p:cNvSpPr/>
          <p:nvPr/>
        </p:nvSpPr>
        <p:spPr>
          <a:xfrm>
            <a:off x="548640" y="3858768"/>
            <a:ext cx="11091672" cy="786384"/>
          </a:xfrm>
          <a:prstGeom prst="roundRect">
            <a:avLst>
              <a:gd name="adj" fmla="val 6977"/>
            </a:avLst>
          </a:prstGeom>
          <a:solidFill>
            <a:srgbClr val="11202F"/>
          </a:solidFill>
          <a:ln w="12700">
            <a:solidFill>
              <a:srgbClr val="30363D"/>
            </a:solidFill>
            <a:prstDash val="solid"/>
          </a:ln>
        </p:spPr>
      </p:sp>
      <p:sp>
        <p:nvSpPr>
          <p:cNvPr id="9" name="Text 5"/>
          <p:cNvSpPr txBox="1"/>
          <p:nvPr/>
        </p:nvSpPr>
        <p:spPr>
          <a:xfrm>
            <a:off x="822960" y="3931920"/>
            <a:ext cx="10543032" cy="237744"/>
          </a:xfrm>
          <a:prstGeom prst="rect">
            <a:avLst/>
          </a:prstGeom>
          <a:noFill/>
          <a:ln/>
        </p:spPr>
        <p:txBody>
          <a:bodyPr wrap="square" lIns="0" tIns="0" rIns="0" bIns="0" rtlCol="0" anchor="ctr"/>
          <a:lstStyle/>
          <a:p>
            <a:pPr indent="0" marL="0">
              <a:buNone/>
            </a:pPr>
            <a:r>
              <a:rPr lang="en-US" sz="1050" dirty="0">
                <a:solidFill>
                  <a:srgbClr val="7D8590"/>
                </a:solidFill>
                <a:latin typeface="Calibri" pitchFamily="34" charset="0"/>
                <a:ea typeface="Calibri" pitchFamily="34" charset="-122"/>
                <a:cs typeface="Calibri" pitchFamily="34" charset="-120"/>
              </a:rPr>
              <a:t>For each region and channel group, at lag ℓ (past, ℓ = 1…6) the sample points are</a:t>
            </a:r>
            <a:endParaRPr lang="en-US" sz="1050" dirty="0"/>
          </a:p>
        </p:txBody>
      </p:sp>
      <p:sp>
        <p:nvSpPr>
          <p:cNvPr id="10" name="Text 6"/>
          <p:cNvSpPr txBox="1"/>
          <p:nvPr/>
        </p:nvSpPr>
        <p:spPr>
          <a:xfrm>
            <a:off x="822960" y="4169664"/>
            <a:ext cx="10543032" cy="384048"/>
          </a:xfrm>
          <a:prstGeom prst="rect">
            <a:avLst/>
          </a:prstGeom>
          <a:noFill/>
          <a:ln/>
        </p:spPr>
        <p:txBody>
          <a:bodyPr wrap="square" lIns="0" tIns="0" rIns="0" bIns="0" rtlCol="0" anchor="ctr"/>
          <a:lstStyle/>
          <a:p>
            <a:pPr indent="0" marL="0">
              <a:buNone/>
            </a:pPr>
            <a:r>
              <a:rPr lang="en-US" sz="1500" dirty="0">
                <a:solidFill>
                  <a:srgbClr val="E6EDF3"/>
                </a:solidFill>
                <a:latin typeface="Cambria" pitchFamily="34" charset="0"/>
                <a:ea typeface="Cambria" pitchFamily="34" charset="-122"/>
                <a:cs typeface="Cambria" pitchFamily="34" charset="-120"/>
              </a:rPr>
              <a:t>p(ℓ, i) = anchor + ℓ·</a:t>
            </a:r>
            <a:r>
              <a:rPr lang="en-US" sz="1500" b="1" dirty="0">
                <a:solidFill>
                  <a:srgbClr val="E3B341"/>
                </a:solidFill>
                <a:latin typeface="Cambria" pitchFamily="34" charset="0"/>
                <a:ea typeface="Cambria" pitchFamily="34" charset="-122"/>
                <a:cs typeface="Cambria" pitchFamily="34" charset="-120"/>
              </a:rPr>
              <a:t>d</a:t>
            </a:r>
            <a:r>
              <a:rPr lang="en-US" sz="1500" dirty="0">
                <a:solidFill>
                  <a:srgbClr val="E6EDF3"/>
                </a:solidFill>
                <a:latin typeface="Cambria" pitchFamily="34" charset="0"/>
                <a:ea typeface="Cambria" pitchFamily="34" charset="-122"/>
                <a:cs typeface="Cambria" pitchFamily="34" charset="-120"/>
              </a:rPr>
              <a:t> + R(θ) · diag(a</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ℓ·s</a:t>
            </a:r>
            <a:r>
              <a:rPr lang="en-US" sz="1500" baseline="-40000" dirty="0">
                <a:solidFill>
                  <a:srgbClr val="E6EDF3"/>
                </a:solidFill>
                <a:latin typeface="Cambria" pitchFamily="34" charset="0"/>
                <a:ea typeface="Cambria" pitchFamily="34" charset="-122"/>
                <a:cs typeface="Cambria" pitchFamily="34" charset="-120"/>
              </a:rPr>
              <a:t>a</a:t>
            </a:r>
            <a:r>
              <a:rPr lang="en-US" sz="1500" dirty="0">
                <a:solidFill>
                  <a:srgbClr val="E6EDF3"/>
                </a:solidFill>
                <a:latin typeface="Cambria" pitchFamily="34" charset="0"/>
                <a:ea typeface="Cambria" pitchFamily="34" charset="-122"/>
                <a:cs typeface="Cambria" pitchFamily="34" charset="-120"/>
              </a:rPr>
              <a:t>, b</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ℓ·s</a:t>
            </a:r>
            <a:r>
              <a:rPr lang="en-US" sz="1500" baseline="-40000" dirty="0">
                <a:solidFill>
                  <a:srgbClr val="E6EDF3"/>
                </a:solidFill>
                <a:latin typeface="Cambria" pitchFamily="34" charset="0"/>
                <a:ea typeface="Cambria" pitchFamily="34" charset="-122"/>
                <a:cs typeface="Cambria" pitchFamily="34" charset="-120"/>
              </a:rPr>
              <a:t>b</a:t>
            </a:r>
            <a:r>
              <a:rPr lang="en-US" sz="1500" dirty="0">
                <a:solidFill>
                  <a:srgbClr val="E6EDF3"/>
                </a:solidFill>
                <a:latin typeface="Cambria" pitchFamily="34" charset="0"/>
                <a:ea typeface="Cambria" pitchFamily="34" charset="-122"/>
                <a:cs typeface="Cambria" pitchFamily="34" charset="-120"/>
              </a:rPr>
              <a:t>) · u</a:t>
            </a:r>
            <a:r>
              <a:rPr lang="en-US" sz="1500" baseline="-40000" dirty="0">
                <a:solidFill>
                  <a:srgbClr val="E6EDF3"/>
                </a:solidFill>
                <a:latin typeface="Cambria" pitchFamily="34" charset="0"/>
                <a:ea typeface="Cambria" pitchFamily="34" charset="-122"/>
                <a:cs typeface="Cambria" pitchFamily="34" charset="-120"/>
              </a:rPr>
              <a:t>i</a:t>
            </a:r>
            <a:endParaRPr lang="en-US" sz="1500" dirty="0"/>
          </a:p>
        </p:txBody>
      </p:sp>
      <p:sp>
        <p:nvSpPr>
          <p:cNvPr id="11" name="Text 7"/>
          <p:cNvSpPr txBox="1"/>
          <p:nvPr/>
        </p:nvSpPr>
        <p:spPr>
          <a:xfrm>
            <a:off x="548640" y="4800600"/>
            <a:ext cx="5440680" cy="1463040"/>
          </a:xfrm>
          <a:prstGeom prst="rect">
            <a:avLst/>
          </a:prstGeom>
          <a:noFill/>
          <a:ln/>
        </p:spPr>
        <p:txBody>
          <a:bodyPr wrap="square" lIns="0" tIns="0" rIns="0" bIns="0" rtlCol="0" anchor="t"/>
          <a:lstStyle/>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u</a:t>
            </a:r>
            <a:r>
              <a:rPr lang="en-US" sz="1100" b="1" baseline="-40000" dirty="0">
                <a:solidFill>
                  <a:srgbClr val="4493F8"/>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 the canonical sunflower on the unit disc (Vogel spiral, golden angle), fixed, ~24 points — the same pattern at every lag</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d</a:t>
            </a:r>
            <a:r>
              <a:rPr lang="en-US" sz="1100" dirty="0">
                <a:solidFill>
                  <a:srgbClr val="E6EDF3"/>
                </a:solidFill>
                <a:latin typeface="Calibri" pitchFamily="34" charset="0"/>
                <a:ea typeface="Calibri" pitchFamily="34" charset="-122"/>
                <a:cs typeface="Calibri" pitchFamily="34" charset="-120"/>
              </a:rPr>
              <a:t> (2 numbers): the drift per pentad, in km — where the cone's centre moves as you go back in time; this is the arrow toward the source</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θ</a:t>
            </a:r>
            <a:r>
              <a:rPr lang="en-US" sz="1100" dirty="0">
                <a:solidFill>
                  <a:srgbClr val="E6EDF3"/>
                </a:solidFill>
                <a:latin typeface="Calibri" pitchFamily="34" charset="0"/>
                <a:ea typeface="Calibri" pitchFamily="34" charset="-122"/>
                <a:cs typeface="Calibri" pitchFamily="34" charset="-120"/>
              </a:rPr>
              <a:t> (1): orientation of the ellipse</a:t>
            </a:r>
            <a:endParaRPr lang="en-US" sz="1100" dirty="0"/>
          </a:p>
        </p:txBody>
      </p:sp>
      <p:sp>
        <p:nvSpPr>
          <p:cNvPr id="12" name="Text 8"/>
          <p:cNvSpPr txBox="1"/>
          <p:nvPr/>
        </p:nvSpPr>
        <p:spPr>
          <a:xfrm>
            <a:off x="6199632" y="4800600"/>
            <a:ext cx="5440680" cy="1463040"/>
          </a:xfrm>
          <a:prstGeom prst="rect">
            <a:avLst/>
          </a:prstGeom>
          <a:noFill/>
          <a:ln/>
        </p:spPr>
        <p:txBody>
          <a:bodyPr wrap="square" lIns="0" tIns="0" rIns="0" bIns="0" rtlCol="0" anchor="t"/>
          <a:lstStyle/>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a</a:t>
            </a:r>
            <a:r>
              <a:rPr lang="en-US" sz="1100" b="1" baseline="-40000" dirty="0">
                <a:solidFill>
                  <a:srgbClr val="4493F8"/>
                </a:solidFill>
                <a:latin typeface="Calibri" pitchFamily="34" charset="0"/>
                <a:ea typeface="Calibri" pitchFamily="34" charset="-122"/>
                <a:cs typeface="Calibri" pitchFamily="34" charset="-120"/>
              </a:rPr>
              <a:t>0</a:t>
            </a:r>
            <a:r>
              <a:rPr lang="en-US" sz="1100" b="1" dirty="0">
                <a:solidFill>
                  <a:srgbClr val="4493F8"/>
                </a:solidFill>
                <a:latin typeface="Calibri" pitchFamily="34" charset="0"/>
                <a:ea typeface="Calibri" pitchFamily="34" charset="-122"/>
                <a:cs typeface="Calibri" pitchFamily="34" charset="-120"/>
              </a:rPr>
              <a:t>, b</a:t>
            </a:r>
            <a:r>
              <a:rPr lang="en-US" sz="1100" b="1" baseline="-40000" dirty="0">
                <a:solidFill>
                  <a:srgbClr val="4493F8"/>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(2): the waist semi-axes, in km — the cut-off tip's size and elongation</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s</a:t>
            </a:r>
            <a:r>
              <a:rPr lang="en-US" sz="1100" b="1" baseline="-40000" dirty="0">
                <a:solidFill>
                  <a:srgbClr val="4493F8"/>
                </a:solidFill>
                <a:latin typeface="Calibri" pitchFamily="34" charset="0"/>
                <a:ea typeface="Calibri" pitchFamily="34" charset="-122"/>
                <a:cs typeface="Calibri" pitchFamily="34" charset="-120"/>
              </a:rPr>
              <a:t>a</a:t>
            </a:r>
            <a:r>
              <a:rPr lang="en-US" sz="1100" b="1" dirty="0">
                <a:solidFill>
                  <a:srgbClr val="4493F8"/>
                </a:solidFill>
                <a:latin typeface="Calibri" pitchFamily="34" charset="0"/>
                <a:ea typeface="Calibri" pitchFamily="34" charset="-122"/>
                <a:cs typeface="Calibri" pitchFamily="34" charset="-120"/>
              </a:rPr>
              <a:t>, s</a:t>
            </a:r>
            <a:r>
              <a:rPr lang="en-US" sz="1100" b="1" baseline="-40000" dirty="0">
                <a:solidFill>
                  <a:srgbClr val="4493F8"/>
                </a:solidFill>
                <a:latin typeface="Calibri" pitchFamily="34" charset="0"/>
                <a:ea typeface="Calibri" pitchFamily="34" charset="-122"/>
                <a:cs typeface="Calibri" pitchFamily="34" charset="-120"/>
              </a:rPr>
              <a:t>b</a:t>
            </a:r>
            <a:r>
              <a:rPr lang="en-US" sz="1100" dirty="0">
                <a:solidFill>
                  <a:srgbClr val="E6EDF3"/>
                </a:solidFill>
                <a:latin typeface="Calibri" pitchFamily="34" charset="0"/>
                <a:ea typeface="Calibri" pitchFamily="34" charset="-122"/>
                <a:cs typeface="Calibri" pitchFamily="34" charset="-120"/>
              </a:rPr>
              <a:t> (2): how fast each axis grows per pentad — spread</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Future cone:</a:t>
            </a:r>
            <a:r>
              <a:rPr lang="en-US" sz="1100" dirty="0">
                <a:solidFill>
                  <a:srgbClr val="E6EDF3"/>
                </a:solidFill>
                <a:latin typeface="Calibri" pitchFamily="34" charset="0"/>
                <a:ea typeface="Calibri" pitchFamily="34" charset="-122"/>
                <a:cs typeface="Calibri" pitchFamily="34" charset="-120"/>
              </a:rPr>
              <a:t> p(−ℓ) reflected, c(+ℓ) = −ℓ·d, same axes at the same |ℓ|; the anchor column (0, 0) is added at every lag regardless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HOW THE NUMBERS LEARN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Continuous positions, interpolated reads — the gradient reaches the geometry</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572768"/>
            <a:ext cx="5440680" cy="2103120"/>
          </a:xfrm>
          <a:prstGeom prst="roundRect">
            <a:avLst>
              <a:gd name="adj" fmla="val 2609"/>
            </a:avLst>
          </a:prstGeom>
          <a:solidFill>
            <a:srgbClr val="161B22"/>
          </a:solidFill>
          <a:ln w="12700">
            <a:solidFill>
              <a:srgbClr val="30363D"/>
            </a:solidFill>
            <a:prstDash val="solid"/>
          </a:ln>
        </p:spPr>
      </p:sp>
      <p:sp>
        <p:nvSpPr>
          <p:cNvPr id="8" name="Text 5"/>
          <p:cNvSpPr txBox="1"/>
          <p:nvPr/>
        </p:nvSpPr>
        <p:spPr>
          <a:xfrm>
            <a:off x="786384" y="1719072"/>
            <a:ext cx="4965192" cy="181051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Sample between the cells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dot at a continuous position reads the field by </a:t>
            </a:r>
            <a:r>
              <a:rPr lang="en-US" sz="1200" b="1" dirty="0">
                <a:solidFill>
                  <a:srgbClr val="4493F8"/>
                </a:solidFill>
                <a:latin typeface="Calibri" pitchFamily="34" charset="0"/>
                <a:ea typeface="Calibri" pitchFamily="34" charset="-122"/>
                <a:cs typeface="Calibri" pitchFamily="34" charset="-120"/>
              </a:rPr>
              <a:t>bilinear interpolation</a:t>
            </a:r>
            <a:r>
              <a:rPr lang="en-US" sz="1200" dirty="0">
                <a:solidFill>
                  <a:srgbClr val="E6EDF3"/>
                </a:solidFill>
                <a:latin typeface="Calibri" pitchFamily="34" charset="0"/>
                <a:ea typeface="Calibri" pitchFamily="34" charset="-122"/>
                <a:cs typeface="Calibri" pitchFamily="34" charset="-120"/>
              </a:rPr>
              <a:t> over its four surrounding cells, weighting by the observed flags:  value = Σ w</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m</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v</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 Σ w</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m</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  observed-fraction = Σ w</a:t>
            </a:r>
            <a:r>
              <a:rPr lang="en-US" sz="1200" baseline="-40000" dirty="0">
                <a:solidFill>
                  <a:srgbClr val="E6EDF3"/>
                </a:solidFill>
                <a:latin typeface="Calibri" pitchFamily="34" charset="0"/>
                <a:ea typeface="Calibri" pitchFamily="34" charset="-122"/>
                <a:cs typeface="Calibri" pitchFamily="34" charset="-120"/>
              </a:rPr>
              <a:t>i</a:t>
            </a:r>
            <a:r>
              <a:rPr lang="en-US" sz="1200" dirty="0">
                <a:solidFill>
                  <a:srgbClr val="E6EDF3"/>
                </a:solidFill>
                <a:latin typeface="Calibri" pitchFamily="34" charset="0"/>
                <a:ea typeface="Calibri" pitchFamily="34" charset="-122"/>
                <a:cs typeface="Calibri" pitchFamily="34" charset="-120"/>
              </a:rPr>
              <a:t> m</a:t>
            </a:r>
            <a:r>
              <a:rPr lang="en-US" sz="1200" baseline="-40000" dirty="0">
                <a:solidFill>
                  <a:srgbClr val="E6EDF3"/>
                </a:solidFill>
                <a:latin typeface="Calibri" pitchFamily="34" charset="0"/>
                <a:ea typeface="Calibri" pitchFamily="34" charset="-122"/>
                <a:cs typeface="Calibri" pitchFamily="34" charset="-120"/>
              </a:rPr>
              <a:t>i</a:t>
            </a:r>
            <a:endParaRPr lang="en-US" sz="1250" dirty="0"/>
          </a:p>
        </p:txBody>
      </p:sp>
      <p:sp>
        <p:nvSpPr>
          <p:cNvPr id="9" name="Shape 6"/>
          <p:cNvSpPr/>
          <p:nvPr/>
        </p:nvSpPr>
        <p:spPr>
          <a:xfrm>
            <a:off x="6199632" y="1572768"/>
            <a:ext cx="5440680" cy="2103120"/>
          </a:xfrm>
          <a:prstGeom prst="roundRect">
            <a:avLst>
              <a:gd name="adj" fmla="val 2609"/>
            </a:avLst>
          </a:prstGeom>
          <a:solidFill>
            <a:srgbClr val="161B22"/>
          </a:solidFill>
          <a:ln w="12700">
            <a:solidFill>
              <a:srgbClr val="30363D"/>
            </a:solidFill>
            <a:prstDash val="solid"/>
          </a:ln>
        </p:spPr>
      </p:sp>
      <p:sp>
        <p:nvSpPr>
          <p:cNvPr id="10" name="Text 7"/>
          <p:cNvSpPr txBox="1"/>
          <p:nvPr/>
        </p:nvSpPr>
        <p:spPr>
          <a:xfrm>
            <a:off x="6437376" y="1719072"/>
            <a:ext cx="4965192" cy="181051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gradient exists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interpolation weights are functions of the position, the position of the seven numbers, so ∂loss/∂(</a:t>
            </a:r>
            <a:r>
              <a:rPr lang="en-US" sz="1200" b="1" dirty="0">
                <a:solidFill>
                  <a:srgbClr val="4493F8"/>
                </a:solidFill>
                <a:latin typeface="Calibri" pitchFamily="34" charset="0"/>
                <a:ea typeface="Calibri" pitchFamily="34" charset="-122"/>
                <a:cs typeface="Calibri" pitchFamily="34" charset="-120"/>
              </a:rPr>
              <a:t>d</a:t>
            </a:r>
            <a:r>
              <a:rPr lang="en-US" sz="1200" dirty="0">
                <a:solidFill>
                  <a:srgbClr val="E6EDF3"/>
                </a:solidFill>
                <a:latin typeface="Calibri" pitchFamily="34" charset="0"/>
                <a:ea typeface="Calibri" pitchFamily="34" charset="-122"/>
                <a:cs typeface="Calibri" pitchFamily="34" charset="-120"/>
              </a:rPr>
              <a:t>, θ, a, b, s) exists — the deformable-convolution / spatial-transformer trick, applied to a gather instead of a convolution</a:t>
            </a:r>
            <a:endParaRPr lang="en-US" sz="1250" dirty="0"/>
          </a:p>
        </p:txBody>
      </p:sp>
      <p:sp>
        <p:nvSpPr>
          <p:cNvPr id="11" name="Shape 8"/>
          <p:cNvSpPr/>
          <p:nvPr/>
        </p:nvSpPr>
        <p:spPr>
          <a:xfrm>
            <a:off x="548640" y="3840480"/>
            <a:ext cx="5440680" cy="2103120"/>
          </a:xfrm>
          <a:prstGeom prst="roundRect">
            <a:avLst>
              <a:gd name="adj" fmla="val 2609"/>
            </a:avLst>
          </a:prstGeom>
          <a:solidFill>
            <a:srgbClr val="161B22"/>
          </a:solidFill>
          <a:ln w="12700">
            <a:solidFill>
              <a:srgbClr val="30363D"/>
            </a:solidFill>
            <a:prstDash val="solid"/>
          </a:ln>
        </p:spPr>
      </p:sp>
      <p:sp>
        <p:nvSpPr>
          <p:cNvPr id="12" name="Text 9"/>
          <p:cNvSpPr txBox="1"/>
          <p:nvPr/>
        </p:nvSpPr>
        <p:spPr>
          <a:xfrm>
            <a:off x="786384" y="3986784"/>
            <a:ext cx="4965192" cy="181051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Footprint, not point</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Each dot averages over a Gaussian footprint whose width tracks the local dot spacing (~r/√n), read from a mip-map pyramid of the tensor — so a dot means “this area”, and the gradient is not confined to four cells</a:t>
            </a:r>
            <a:endParaRPr lang="en-US" sz="1250" dirty="0"/>
          </a:p>
        </p:txBody>
      </p:sp>
      <p:sp>
        <p:nvSpPr>
          <p:cNvPr id="13" name="Shape 10"/>
          <p:cNvSpPr/>
          <p:nvPr/>
        </p:nvSpPr>
        <p:spPr>
          <a:xfrm>
            <a:off x="6199632" y="3840480"/>
            <a:ext cx="5440680" cy="2103120"/>
          </a:xfrm>
          <a:prstGeom prst="roundRect">
            <a:avLst>
              <a:gd name="adj" fmla="val 2609"/>
            </a:avLst>
          </a:prstGeom>
          <a:solidFill>
            <a:srgbClr val="161B22"/>
          </a:solidFill>
          <a:ln w="12700">
            <a:solidFill>
              <a:srgbClr val="30363D"/>
            </a:solidFill>
            <a:prstDash val="solid"/>
          </a:ln>
        </p:spPr>
      </p:sp>
      <p:sp>
        <p:nvSpPr>
          <p:cNvPr id="14" name="Text 11"/>
          <p:cNvSpPr txBox="1"/>
          <p:nvPr/>
        </p:nvSpPr>
        <p:spPr>
          <a:xfrm>
            <a:off x="6437376" y="3986784"/>
            <a:ext cx="4965192" cy="181051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Same cost class as today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One gather per dot (4 cells, or one pyramid cell), on the fly, keyed exactly as E-069's examples are — plus the pyramid, built once per tensor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WHERE THE SEVEN NUMBERS LIVE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A coarse map per channel group, interpolated to the anchor</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10</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38404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A 2° grid over the globe (90 × 180 cells); the anchor's parameters are the bilinear blend of the four surrounding map cells — smooth by construction, no seams</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One map per channel group,</a:t>
            </a:r>
            <a:r>
              <a:rPr lang="en-US" sz="1250" dirty="0">
                <a:solidFill>
                  <a:srgbClr val="E6EDF3"/>
                </a:solidFill>
                <a:latin typeface="Calibri" pitchFamily="34" charset="0"/>
                <a:ea typeface="Calibri" pitchFamily="34" charset="-122"/>
                <a:cs typeface="Calibri" pitchFamily="34" charset="-120"/>
              </a:rPr>
              <a:t> because the source of a signal depends on what moves it</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Optional, phase 2:</a:t>
            </a:r>
            <a:r>
              <a:rPr lang="en-US" sz="1250" dirty="0">
                <a:solidFill>
                  <a:srgbClr val="E6EDF3"/>
                </a:solidFill>
                <a:latin typeface="Calibri" pitchFamily="34" charset="0"/>
                <a:ea typeface="Calibri" pitchFamily="34" charset="-122"/>
                <a:cs typeface="Calibri" pitchFamily="34" charset="-120"/>
              </a:rPr>
              <a:t> a first-harmonic seasonal term on the drift, d(τ) = d</a:t>
            </a:r>
            <a:r>
              <a:rPr lang="en-US" sz="1250" baseline="-40000" dirty="0">
                <a:solidFill>
                  <a:srgbClr val="E6EDF3"/>
                </a:solidFill>
                <a:latin typeface="Calibri" pitchFamily="34" charset="0"/>
                <a:ea typeface="Calibri" pitchFamily="34" charset="-122"/>
                <a:cs typeface="Calibri" pitchFamily="34" charset="-120"/>
              </a:rPr>
              <a:t>0</a:t>
            </a:r>
            <a:r>
              <a:rPr lang="en-US" sz="1250" dirty="0">
                <a:solidFill>
                  <a:srgbClr val="E6EDF3"/>
                </a:solidFill>
                <a:latin typeface="Calibri" pitchFamily="34" charset="0"/>
                <a:ea typeface="Calibri" pitchFamily="34" charset="-122"/>
                <a:cs typeface="Calibri" pitchFamily="34" charset="-120"/>
              </a:rPr>
              <a:t> + d</a:t>
            </a:r>
            <a:r>
              <a:rPr lang="en-US" sz="1250" baseline="-40000" dirty="0">
                <a:solidFill>
                  <a:srgbClr val="E6EDF3"/>
                </a:solidFill>
                <a:latin typeface="Calibri" pitchFamily="34" charset="0"/>
                <a:ea typeface="Calibri" pitchFamily="34" charset="-122"/>
                <a:cs typeface="Calibri" pitchFamily="34" charset="-120"/>
              </a:rPr>
              <a:t>1</a:t>
            </a:r>
            <a:r>
              <a:rPr lang="en-US" sz="1250" dirty="0">
                <a:solidFill>
                  <a:srgbClr val="E6EDF3"/>
                </a:solidFill>
                <a:latin typeface="Calibri" pitchFamily="34" charset="0"/>
                <a:ea typeface="Calibri" pitchFamily="34" charset="-122"/>
                <a:cs typeface="Calibri" pitchFamily="34" charset="-120"/>
              </a:rPr>
              <a:t> cos τ + d</a:t>
            </a:r>
            <a:r>
              <a:rPr lang="en-US" sz="1250" baseline="-40000" dirty="0">
                <a:solidFill>
                  <a:srgbClr val="E6EDF3"/>
                </a:solidFill>
                <a:latin typeface="Calibri" pitchFamily="34" charset="0"/>
                <a:ea typeface="Calibri" pitchFamily="34" charset="-122"/>
                <a:cs typeface="Calibri" pitchFamily="34" charset="-120"/>
              </a:rPr>
              <a:t>2</a:t>
            </a:r>
            <a:r>
              <a:rPr lang="en-US" sz="1250" dirty="0">
                <a:solidFill>
                  <a:srgbClr val="E6EDF3"/>
                </a:solidFill>
                <a:latin typeface="Calibri" pitchFamily="34" charset="0"/>
                <a:ea typeface="Calibri" pitchFamily="34" charset="-122"/>
                <a:cs typeface="Calibri" pitchFamily="34" charset="-120"/>
              </a:rPr>
              <a:t> sin τ — the Somali Current reverses with the monsoon</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Why per depth:</a:t>
            </a:r>
            <a:r>
              <a:rPr lang="en-US" sz="1250" dirty="0">
                <a:solidFill>
                  <a:srgbClr val="E6EDF3"/>
                </a:solidFill>
                <a:latin typeface="Calibri" pitchFamily="34" charset="0"/>
                <a:ea typeface="Calibri" pitchFamily="34" charset="-122"/>
                <a:cs typeface="Calibri" pitchFamily="34" charset="-120"/>
              </a:rPr>
              <a:t> at the RAPID line the upper limb flows north and the Deep Western Boundary Current flows south — the same anchor should point its surface cone south and its deep cone north</a:t>
            </a:r>
            <a:endParaRPr lang="en-US" sz="1250" dirty="0"/>
          </a:p>
        </p:txBody>
      </p:sp>
      <p:sp>
        <p:nvSpPr>
          <p:cNvPr id="9" name="Shape 6"/>
          <p:cNvSpPr/>
          <p:nvPr/>
        </p:nvSpPr>
        <p:spPr>
          <a:xfrm>
            <a:off x="7635240" y="1463040"/>
            <a:ext cx="4005072" cy="2880360"/>
          </a:xfrm>
          <a:prstGeom prst="roundRect">
            <a:avLst>
              <a:gd name="adj" fmla="val 1905"/>
            </a:avLst>
          </a:prstGeom>
          <a:solidFill>
            <a:srgbClr val="161B22"/>
          </a:solidFill>
          <a:ln w="12700">
            <a:solidFill>
              <a:srgbClr val="30363D"/>
            </a:solidFill>
            <a:prstDash val="solid"/>
          </a:ln>
        </p:spPr>
      </p:sp>
      <p:sp>
        <p:nvSpPr>
          <p:cNvPr id="10" name="Text 7"/>
          <p:cNvSpPr txBox="1"/>
          <p:nvPr/>
        </p:nvSpPr>
        <p:spPr>
          <a:xfrm>
            <a:off x="7891272" y="1645920"/>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the six channel groups</a:t>
            </a:r>
            <a:endParaRPr lang="en-US" sz="1250" dirty="0"/>
          </a:p>
        </p:txBody>
      </p:sp>
      <p:sp>
        <p:nvSpPr>
          <p:cNvPr id="11" name="Text 8"/>
          <p:cNvSpPr txBox="1"/>
          <p:nvPr/>
        </p:nvSpPr>
        <p:spPr>
          <a:xfrm>
            <a:off x="7891272" y="1975104"/>
            <a:ext cx="3493008" cy="2194560"/>
          </a:xfrm>
          <a:prstGeom prst="rect">
            <a:avLst/>
          </a:prstGeom>
          <a:noFill/>
          <a:ln/>
        </p:spPr>
        <p:txBody>
          <a:bodyPr wrap="square" lIns="0" tIns="0" rIns="0" bIns="0" rtlCol="0" anchor="t"/>
          <a:lstStyle/>
          <a:p>
            <a:pPr indent="0" marL="0">
              <a:spcAft>
                <a:spcPts val="500"/>
              </a:spcAft>
              <a:buNone/>
            </a:pPr>
            <a:r>
              <a:rPr lang="en-US" sz="1050" b="1" dirty="0">
                <a:solidFill>
                  <a:srgbClr val="4493F8"/>
                </a:solidFill>
                <a:latin typeface="Calibri" pitchFamily="34" charset="0"/>
                <a:ea typeface="Calibri" pitchFamily="34" charset="-122"/>
                <a:cs typeface="Calibri" pitchFamily="34" charset="-120"/>
              </a:rPr>
              <a:t>ocean surface</a:t>
            </a:r>
            <a:r>
              <a:rPr lang="en-US" sz="1050" dirty="0">
                <a:solidFill>
                  <a:srgbClr val="E6EDF3"/>
                </a:solidFill>
                <a:latin typeface="Calibri" pitchFamily="34" charset="0"/>
                <a:ea typeface="Calibri" pitchFamily="34" charset="-122"/>
                <a:cs typeface="Calibri" pitchFamily="34" charset="-120"/>
              </a:rPr>
              <a:t> — currents, sea-surface height, sea-surface temperature, mixed layer</a:t>
            </a:r>
            <a:endParaRPr lang="en-US" sz="1050" dirty="0"/>
          </a:p>
          <a:p>
            <a:pPr indent="0" marL="0">
              <a:spcAft>
                <a:spcPts val="500"/>
              </a:spcAft>
              <a:buNone/>
            </a:pPr>
            <a:r>
              <a:rPr lang="en-US" sz="1050" b="1" dirty="0">
                <a:solidFill>
                  <a:srgbClr val="4493F8"/>
                </a:solidFill>
                <a:latin typeface="Calibri" pitchFamily="34" charset="0"/>
                <a:ea typeface="Calibri" pitchFamily="34" charset="-122"/>
                <a:cs typeface="Calibri" pitchFamily="34" charset="-120"/>
              </a:rPr>
              <a:t>Argo upper</a:t>
            </a:r>
            <a:r>
              <a:rPr lang="en-US" sz="1050" dirty="0">
                <a:solidFill>
                  <a:srgbClr val="E6EDF3"/>
                </a:solidFill>
                <a:latin typeface="Calibri" pitchFamily="34" charset="0"/>
                <a:ea typeface="Calibri" pitchFamily="34" charset="-122"/>
                <a:cs typeface="Calibri" pitchFamily="34" charset="-120"/>
              </a:rPr>
              <a:t> — ≤ 300 dbar</a:t>
            </a:r>
            <a:endParaRPr lang="en-US" sz="1050" dirty="0"/>
          </a:p>
          <a:p>
            <a:pPr indent="0" marL="0">
              <a:spcAft>
                <a:spcPts val="500"/>
              </a:spcAft>
              <a:buNone/>
            </a:pPr>
            <a:r>
              <a:rPr lang="en-US" sz="1050" b="1" dirty="0">
                <a:solidFill>
                  <a:srgbClr val="4493F8"/>
                </a:solidFill>
                <a:latin typeface="Calibri" pitchFamily="34" charset="0"/>
                <a:ea typeface="Calibri" pitchFamily="34" charset="-122"/>
                <a:cs typeface="Calibri" pitchFamily="34" charset="-120"/>
              </a:rPr>
              <a:t>Argo mid</a:t>
            </a:r>
            <a:r>
              <a:rPr lang="en-US" sz="1050" dirty="0">
                <a:solidFill>
                  <a:srgbClr val="E6EDF3"/>
                </a:solidFill>
                <a:latin typeface="Calibri" pitchFamily="34" charset="0"/>
                <a:ea typeface="Calibri" pitchFamily="34" charset="-122"/>
                <a:cs typeface="Calibri" pitchFamily="34" charset="-120"/>
              </a:rPr>
              <a:t> — 300–1000 dbar</a:t>
            </a:r>
            <a:endParaRPr lang="en-US" sz="1050" dirty="0"/>
          </a:p>
          <a:p>
            <a:pPr indent="0" marL="0">
              <a:spcAft>
                <a:spcPts val="500"/>
              </a:spcAft>
              <a:buNone/>
            </a:pPr>
            <a:r>
              <a:rPr lang="en-US" sz="1050" b="1" dirty="0">
                <a:solidFill>
                  <a:srgbClr val="4493F8"/>
                </a:solidFill>
                <a:latin typeface="Calibri" pitchFamily="34" charset="0"/>
                <a:ea typeface="Calibri" pitchFamily="34" charset="-122"/>
                <a:cs typeface="Calibri" pitchFamily="34" charset="-120"/>
              </a:rPr>
              <a:t>Argo deep</a:t>
            </a:r>
            <a:r>
              <a:rPr lang="en-US" sz="1050" dirty="0">
                <a:solidFill>
                  <a:srgbClr val="E6EDF3"/>
                </a:solidFill>
                <a:latin typeface="Calibri" pitchFamily="34" charset="0"/>
                <a:ea typeface="Calibri" pitchFamily="34" charset="-122"/>
                <a:cs typeface="Calibri" pitchFamily="34" charset="-120"/>
              </a:rPr>
              <a:t> — &gt; 1000 dbar</a:t>
            </a:r>
            <a:endParaRPr lang="en-US" sz="1050" dirty="0"/>
          </a:p>
          <a:p>
            <a:pPr indent="0" marL="0">
              <a:spcAft>
                <a:spcPts val="500"/>
              </a:spcAft>
              <a:buNone/>
            </a:pPr>
            <a:r>
              <a:rPr lang="en-US" sz="1050" b="1" dirty="0">
                <a:solidFill>
                  <a:srgbClr val="4493F8"/>
                </a:solidFill>
                <a:latin typeface="Calibri" pitchFamily="34" charset="0"/>
                <a:ea typeface="Calibri" pitchFamily="34" charset="-122"/>
                <a:cs typeface="Calibri" pitchFamily="34" charset="-120"/>
              </a:rPr>
              <a:t>atmosphere</a:t>
            </a:r>
            <a:r>
              <a:rPr lang="en-US" sz="1050" dirty="0">
                <a:solidFill>
                  <a:srgbClr val="E6EDF3"/>
                </a:solidFill>
                <a:latin typeface="Calibri" pitchFamily="34" charset="0"/>
                <a:ea typeface="Calibri" pitchFamily="34" charset="-122"/>
                <a:cs typeface="Calibri" pitchFamily="34" charset="-120"/>
              </a:rPr>
              <a:t> — drift only at lags 0–1</a:t>
            </a:r>
            <a:endParaRPr lang="en-US" sz="1050" dirty="0"/>
          </a:p>
          <a:p>
            <a:pPr indent="0" marL="0">
              <a:spcAft>
                <a:spcPts val="500"/>
              </a:spcAft>
              <a:buNone/>
            </a:pPr>
            <a:r>
              <a:rPr lang="en-US" sz="1050" b="1" dirty="0">
                <a:solidFill>
                  <a:srgbClr val="4493F8"/>
                </a:solidFill>
                <a:latin typeface="Calibri" pitchFamily="34" charset="0"/>
                <a:ea typeface="Calibri" pitchFamily="34" charset="-122"/>
                <a:cs typeface="Calibri" pitchFamily="34" charset="-120"/>
              </a:rPr>
              <a:t>land</a:t>
            </a:r>
            <a:r>
              <a:rPr lang="en-US" sz="1050" dirty="0">
                <a:solidFill>
                  <a:srgbClr val="E6EDF3"/>
                </a:solidFill>
                <a:latin typeface="Calibri" pitchFamily="34" charset="0"/>
                <a:ea typeface="Calibri" pitchFamily="34" charset="-122"/>
                <a:cs typeface="Calibri" pitchFamily="34" charset="-120"/>
              </a:rPr>
              <a:t> — no drift: v = 0, axes and angle only</a:t>
            </a:r>
            <a:endParaRPr lang="en-US" sz="1050" dirty="0"/>
          </a:p>
        </p:txBody>
      </p:sp>
      <p:sp>
        <p:nvSpPr>
          <p:cNvPr id="12" name="Shape 9"/>
          <p:cNvSpPr/>
          <p:nvPr/>
        </p:nvSpPr>
        <p:spPr>
          <a:xfrm>
            <a:off x="7635240" y="4526280"/>
            <a:ext cx="4005072" cy="1143000"/>
          </a:xfrm>
          <a:prstGeom prst="roundRect">
            <a:avLst>
              <a:gd name="adj" fmla="val 4800"/>
            </a:avLst>
          </a:prstGeom>
          <a:solidFill>
            <a:srgbClr val="161B22"/>
          </a:solidFill>
          <a:ln w="12700">
            <a:solidFill>
              <a:srgbClr val="30363D"/>
            </a:solidFill>
            <a:prstDash val="solid"/>
          </a:ln>
        </p:spPr>
      </p:sp>
      <p:sp>
        <p:nvSpPr>
          <p:cNvPr id="13" name="Text 10"/>
          <p:cNvSpPr txBox="1"/>
          <p:nvPr/>
        </p:nvSpPr>
        <p:spPr>
          <a:xfrm>
            <a:off x="7872984" y="4672584"/>
            <a:ext cx="3529584" cy="85039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 0.7 M</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geometry parameters</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16,200 cells × 6 groups × 7 numbers — a tenth of the 7 M codec</a:t>
            </a:r>
            <a:endParaRPr lang="en-US" sz="3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CONSTRAINTS, THE MIRROR, AND THE INITIAL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Bounded by physics, tied to the fixed cone, started isotropic</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463040"/>
            <a:ext cx="3557016" cy="2148840"/>
          </a:xfrm>
          <a:prstGeom prst="roundRect">
            <a:avLst>
              <a:gd name="adj" fmla="val 2553"/>
            </a:avLst>
          </a:prstGeom>
          <a:solidFill>
            <a:srgbClr val="161B22"/>
          </a:solidFill>
          <a:ln w="12700">
            <a:solidFill>
              <a:srgbClr val="30363D"/>
            </a:solidFill>
            <a:prstDash val="solid"/>
          </a:ln>
        </p:spPr>
      </p:sp>
      <p:sp>
        <p:nvSpPr>
          <p:cNvPr id="8" name="Text 5"/>
          <p:cNvSpPr txBox="1"/>
          <p:nvPr/>
        </p:nvSpPr>
        <p:spPr>
          <a:xfrm>
            <a:off x="786384" y="160934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Speed cap</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a:t>
            </a:r>
            <a:r>
              <a:rPr lang="en-US" sz="1150" b="1" dirty="0">
                <a:solidFill>
                  <a:srgbClr val="4493F8"/>
                </a:solidFill>
                <a:latin typeface="Calibri" pitchFamily="34" charset="0"/>
                <a:ea typeface="Calibri" pitchFamily="34" charset="-122"/>
                <a:cs typeface="Calibri" pitchFamily="34" charset="-120"/>
              </a:rPr>
              <a:t>d</a:t>
            </a:r>
            <a:r>
              <a:rPr lang="en-US" sz="1150" dirty="0">
                <a:solidFill>
                  <a:srgbClr val="E6EDF3"/>
                </a:solidFill>
                <a:latin typeface="Calibri" pitchFamily="34" charset="0"/>
                <a:ea typeface="Calibri" pitchFamily="34" charset="-122"/>
                <a:cs typeface="Calibri" pitchFamily="34" charset="-120"/>
              </a:rPr>
              <a:t>| ≤ v_design · Δt = 5.4 m/s × 5 d = 2,333 km per pentad (E-071's fastest mechanism × 1.5), via a tanh parameterisation — the learned cone lives inside the v2 envelope</a:t>
            </a:r>
            <a:endParaRPr lang="en-US" sz="1250" dirty="0"/>
          </a:p>
        </p:txBody>
      </p:sp>
      <p:sp>
        <p:nvSpPr>
          <p:cNvPr id="9" name="Shape 6"/>
          <p:cNvSpPr/>
          <p:nvPr/>
        </p:nvSpPr>
        <p:spPr>
          <a:xfrm>
            <a:off x="4315968" y="1463040"/>
            <a:ext cx="3557016" cy="2148840"/>
          </a:xfrm>
          <a:prstGeom prst="roundRect">
            <a:avLst>
              <a:gd name="adj" fmla="val 2553"/>
            </a:avLst>
          </a:prstGeom>
          <a:solidFill>
            <a:srgbClr val="161B22"/>
          </a:solidFill>
          <a:ln w="12700">
            <a:solidFill>
              <a:srgbClr val="30363D"/>
            </a:solidFill>
            <a:prstDash val="solid"/>
          </a:ln>
        </p:spPr>
      </p:sp>
      <p:sp>
        <p:nvSpPr>
          <p:cNvPr id="10" name="Text 7"/>
          <p:cNvSpPr txBox="1"/>
          <p:nvPr/>
        </p:nvSpPr>
        <p:spPr>
          <a:xfrm>
            <a:off x="4553712" y="160934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Floors</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a</a:t>
            </a:r>
            <a:r>
              <a:rPr lang="en-US" sz="1150" baseline="-40000" dirty="0">
                <a:solidFill>
                  <a:srgbClr val="E6EDF3"/>
                </a:solidFill>
                <a:latin typeface="Calibri" pitchFamily="34" charset="0"/>
                <a:ea typeface="Calibri" pitchFamily="34" charset="-122"/>
                <a:cs typeface="Calibri" pitchFamily="34" charset="-120"/>
              </a:rPr>
              <a:t>0</a:t>
            </a:r>
            <a:r>
              <a:rPr lang="en-US" sz="1150" dirty="0">
                <a:solidFill>
                  <a:srgbClr val="E6EDF3"/>
                </a:solidFill>
                <a:latin typeface="Calibri" pitchFamily="34" charset="0"/>
                <a:ea typeface="Calibri" pitchFamily="34" charset="-122"/>
                <a:cs typeface="Calibri" pitchFamily="34" charset="-120"/>
              </a:rPr>
              <a:t>, b</a:t>
            </a:r>
            <a:r>
              <a:rPr lang="en-US" sz="1150" baseline="-40000" dirty="0">
                <a:solidFill>
                  <a:srgbClr val="E6EDF3"/>
                </a:solidFill>
                <a:latin typeface="Calibri" pitchFamily="34" charset="0"/>
                <a:ea typeface="Calibri" pitchFamily="34" charset="-122"/>
                <a:cs typeface="Calibri" pitchFamily="34" charset="-120"/>
              </a:rPr>
              <a:t>0</a:t>
            </a:r>
            <a:r>
              <a:rPr lang="en-US" sz="1150" dirty="0">
                <a:solidFill>
                  <a:srgbClr val="E6EDF3"/>
                </a:solidFill>
                <a:latin typeface="Calibri" pitchFamily="34" charset="0"/>
                <a:ea typeface="Calibri" pitchFamily="34" charset="-122"/>
                <a:cs typeface="Calibri" pitchFamily="34" charset="-120"/>
              </a:rPr>
              <a:t> ≥ one cell (28 km); s</a:t>
            </a:r>
            <a:r>
              <a:rPr lang="en-US" sz="1150" baseline="-40000" dirty="0">
                <a:solidFill>
                  <a:srgbClr val="E6EDF3"/>
                </a:solidFill>
                <a:latin typeface="Calibri" pitchFamily="34" charset="0"/>
                <a:ea typeface="Calibri" pitchFamily="34" charset="-122"/>
                <a:cs typeface="Calibri" pitchFamily="34" charset="-120"/>
              </a:rPr>
              <a:t>a</a:t>
            </a:r>
            <a:r>
              <a:rPr lang="en-US" sz="1150" dirty="0">
                <a:solidFill>
                  <a:srgbClr val="E6EDF3"/>
                </a:solidFill>
                <a:latin typeface="Calibri" pitchFamily="34" charset="0"/>
                <a:ea typeface="Calibri" pitchFamily="34" charset="-122"/>
                <a:cs typeface="Calibri" pitchFamily="34" charset="-120"/>
              </a:rPr>
              <a:t>, s</a:t>
            </a:r>
            <a:r>
              <a:rPr lang="en-US" sz="1150" baseline="-40000" dirty="0">
                <a:solidFill>
                  <a:srgbClr val="E6EDF3"/>
                </a:solidFill>
                <a:latin typeface="Calibri" pitchFamily="34" charset="0"/>
                <a:ea typeface="Calibri" pitchFamily="34" charset="-122"/>
                <a:cs typeface="Calibri" pitchFamily="34" charset="-120"/>
              </a:rPr>
              <a:t>b</a:t>
            </a:r>
            <a:r>
              <a:rPr lang="en-US" sz="1150" dirty="0">
                <a:solidFill>
                  <a:srgbClr val="E6EDF3"/>
                </a:solidFill>
                <a:latin typeface="Calibri" pitchFamily="34" charset="0"/>
                <a:ea typeface="Calibri" pitchFamily="34" charset="-122"/>
                <a:cs typeface="Calibri" pitchFamily="34" charset="-120"/>
              </a:rPr>
              <a:t> ≥ 0; a</a:t>
            </a:r>
            <a:r>
              <a:rPr lang="en-US" sz="1150" baseline="-40000" dirty="0">
                <a:solidFill>
                  <a:srgbClr val="E6EDF3"/>
                </a:solidFill>
                <a:latin typeface="Calibri" pitchFamily="34" charset="0"/>
                <a:ea typeface="Calibri" pitchFamily="34" charset="-122"/>
                <a:cs typeface="Calibri" pitchFamily="34" charset="-120"/>
              </a:rPr>
              <a:t>0</a:t>
            </a:r>
            <a:r>
              <a:rPr lang="en-US" sz="1150" dirty="0">
                <a:solidFill>
                  <a:srgbClr val="E6EDF3"/>
                </a:solidFill>
                <a:latin typeface="Calibri" pitchFamily="34" charset="0"/>
                <a:ea typeface="Calibri" pitchFamily="34" charset="-122"/>
                <a:cs typeface="Calibri" pitchFamily="34" charset="-120"/>
              </a:rPr>
              <a:t> + 6 s</a:t>
            </a:r>
            <a:r>
              <a:rPr lang="en-US" sz="1150" baseline="-40000" dirty="0">
                <a:solidFill>
                  <a:srgbClr val="E6EDF3"/>
                </a:solidFill>
                <a:latin typeface="Calibri" pitchFamily="34" charset="0"/>
                <a:ea typeface="Calibri" pitchFamily="34" charset="-122"/>
                <a:cs typeface="Calibri" pitchFamily="34" charset="-120"/>
              </a:rPr>
              <a:t>a</a:t>
            </a:r>
            <a:r>
              <a:rPr lang="en-US" sz="1150" dirty="0">
                <a:solidFill>
                  <a:srgbClr val="E6EDF3"/>
                </a:solidFill>
                <a:latin typeface="Calibri" pitchFamily="34" charset="0"/>
                <a:ea typeface="Calibri" pitchFamily="34" charset="-122"/>
                <a:cs typeface="Calibri" pitchFamily="34" charset="-120"/>
              </a:rPr>
              <a:t> ≤ v_design · 6 Δt</a:t>
            </a:r>
            <a:endParaRPr lang="en-US" sz="1250" dirty="0"/>
          </a:p>
        </p:txBody>
      </p:sp>
      <p:sp>
        <p:nvSpPr>
          <p:cNvPr id="11" name="Shape 8"/>
          <p:cNvSpPr/>
          <p:nvPr/>
        </p:nvSpPr>
        <p:spPr>
          <a:xfrm>
            <a:off x="8083296" y="1463040"/>
            <a:ext cx="3557016" cy="2148840"/>
          </a:xfrm>
          <a:prstGeom prst="roundRect">
            <a:avLst>
              <a:gd name="adj" fmla="val 2553"/>
            </a:avLst>
          </a:prstGeom>
          <a:solidFill>
            <a:srgbClr val="161B22"/>
          </a:solidFill>
          <a:ln w="12700">
            <a:solidFill>
              <a:srgbClr val="30363D"/>
            </a:solidFill>
            <a:prstDash val="solid"/>
          </a:ln>
        </p:spPr>
      </p:sp>
      <p:sp>
        <p:nvSpPr>
          <p:cNvPr id="12" name="Text 9"/>
          <p:cNvSpPr txBox="1"/>
          <p:nvPr/>
        </p:nvSpPr>
        <p:spPr>
          <a:xfrm>
            <a:off x="8321040" y="160934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Mirror tie, by default</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future cone shares the seven numbers (reflected); an untied arm is the ablation, not the design</a:t>
            </a:r>
            <a:endParaRPr lang="en-US" sz="1250" dirty="0"/>
          </a:p>
        </p:txBody>
      </p:sp>
      <p:sp>
        <p:nvSpPr>
          <p:cNvPr id="13" name="Shape 10"/>
          <p:cNvSpPr/>
          <p:nvPr/>
        </p:nvSpPr>
        <p:spPr>
          <a:xfrm>
            <a:off x="548640" y="3840480"/>
            <a:ext cx="3557016" cy="2148840"/>
          </a:xfrm>
          <a:prstGeom prst="roundRect">
            <a:avLst>
              <a:gd name="adj" fmla="val 2553"/>
            </a:avLst>
          </a:prstGeom>
          <a:solidFill>
            <a:srgbClr val="161B22"/>
          </a:solidFill>
          <a:ln w="12700">
            <a:solidFill>
              <a:srgbClr val="30363D"/>
            </a:solidFill>
            <a:prstDash val="solid"/>
          </a:ln>
        </p:spPr>
      </p:sp>
      <p:sp>
        <p:nvSpPr>
          <p:cNvPr id="14" name="Text 11"/>
          <p:cNvSpPr txBox="1"/>
          <p:nvPr/>
        </p:nvSpPr>
        <p:spPr>
          <a:xfrm>
            <a:off x="786384"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Stop-gradient on the target side</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loss reaches the geometry only through the </a:t>
            </a:r>
            <a:r>
              <a:rPr lang="en-US" sz="1150" b="1" dirty="0">
                <a:solidFill>
                  <a:srgbClr val="4493F8"/>
                </a:solidFill>
                <a:latin typeface="Calibri" pitchFamily="34" charset="0"/>
                <a:ea typeface="Calibri" pitchFamily="34" charset="-122"/>
                <a:cs typeface="Calibri" pitchFamily="34" charset="-120"/>
              </a:rPr>
              <a:t>input</a:t>
            </a:r>
            <a:r>
              <a:rPr lang="en-US" sz="1150" dirty="0">
                <a:solidFill>
                  <a:srgbClr val="E6EDF3"/>
                </a:solidFill>
                <a:latin typeface="Calibri" pitchFamily="34" charset="0"/>
                <a:ea typeface="Calibri" pitchFamily="34" charset="-122"/>
                <a:cs typeface="Calibri" pitchFamily="34" charset="-120"/>
              </a:rPr>
              <a:t> reads; the positions of targets are treated as constants</a:t>
            </a:r>
            <a:endParaRPr lang="en-US" sz="1250" dirty="0"/>
          </a:p>
        </p:txBody>
      </p:sp>
      <p:sp>
        <p:nvSpPr>
          <p:cNvPr id="15" name="Shape 12"/>
          <p:cNvSpPr/>
          <p:nvPr/>
        </p:nvSpPr>
        <p:spPr>
          <a:xfrm>
            <a:off x="4315968" y="3840480"/>
            <a:ext cx="3557016" cy="2148840"/>
          </a:xfrm>
          <a:prstGeom prst="roundRect">
            <a:avLst>
              <a:gd name="adj" fmla="val 2553"/>
            </a:avLst>
          </a:prstGeom>
          <a:solidFill>
            <a:srgbClr val="161B22"/>
          </a:solidFill>
          <a:ln w="12700">
            <a:solidFill>
              <a:srgbClr val="30363D"/>
            </a:solidFill>
            <a:prstDash val="solid"/>
          </a:ln>
        </p:spPr>
      </p:sp>
      <p:sp>
        <p:nvSpPr>
          <p:cNvPr id="16" name="Text 13"/>
          <p:cNvSpPr txBox="1"/>
          <p:nvPr/>
        </p:nvSpPr>
        <p:spPr>
          <a:xfrm>
            <a:off x="4553712"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net stays</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In addition to the learned ellipse, each lag keeps one fixed log-radial ring of 24 dots to the antipode — the cone can be directed without asserting that a driver could not have come from elsewhere</a:t>
            </a:r>
            <a:endParaRPr lang="en-US" sz="1250" dirty="0"/>
          </a:p>
        </p:txBody>
      </p:sp>
      <p:sp>
        <p:nvSpPr>
          <p:cNvPr id="17" name="Shape 14"/>
          <p:cNvSpPr/>
          <p:nvPr/>
        </p:nvSpPr>
        <p:spPr>
          <a:xfrm>
            <a:off x="8083296" y="3840480"/>
            <a:ext cx="3557016" cy="2148840"/>
          </a:xfrm>
          <a:prstGeom prst="roundRect">
            <a:avLst>
              <a:gd name="adj" fmla="val 2553"/>
            </a:avLst>
          </a:prstGeom>
          <a:solidFill>
            <a:srgbClr val="161B22"/>
          </a:solidFill>
          <a:ln w="12700">
            <a:solidFill>
              <a:srgbClr val="30363D"/>
            </a:solidFill>
            <a:prstDash val="solid"/>
          </a:ln>
        </p:spPr>
      </p:sp>
      <p:sp>
        <p:nvSpPr>
          <p:cNvPr id="18" name="Text 15"/>
          <p:cNvSpPr txBox="1"/>
          <p:nvPr/>
        </p:nvSpPr>
        <p:spPr>
          <a:xfrm>
            <a:off x="8321040"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Init</a:t>
            </a:r>
            <a:endParaRPr lang="en-US" sz="1250" dirty="0"/>
          </a:p>
          <a:p>
            <a:pPr indent="0" marL="0">
              <a:buNone/>
            </a:pPr>
            <a:r>
              <a:rPr lang="en-US" sz="1150" b="1" dirty="0">
                <a:solidFill>
                  <a:srgbClr val="4493F8"/>
                </a:solidFill>
                <a:latin typeface="Calibri" pitchFamily="34" charset="0"/>
                <a:ea typeface="Calibri" pitchFamily="34" charset="-122"/>
                <a:cs typeface="Calibri" pitchFamily="34" charset="-120"/>
              </a:rPr>
              <a:t>d</a:t>
            </a:r>
            <a:r>
              <a:rPr lang="en-US" sz="1150" dirty="0">
                <a:solidFill>
                  <a:srgbClr val="E6EDF3"/>
                </a:solidFill>
                <a:latin typeface="Calibri" pitchFamily="34" charset="0"/>
                <a:ea typeface="Calibri" pitchFamily="34" charset="-122"/>
                <a:cs typeface="Calibri" pitchFamily="34" charset="-120"/>
              </a:rPr>
              <a:t> = 0, θ = 0, a</a:t>
            </a:r>
            <a:r>
              <a:rPr lang="en-US" sz="1150" baseline="-40000" dirty="0">
                <a:solidFill>
                  <a:srgbClr val="E6EDF3"/>
                </a:solidFill>
                <a:latin typeface="Calibri" pitchFamily="34" charset="0"/>
                <a:ea typeface="Calibri" pitchFamily="34" charset="-122"/>
                <a:cs typeface="Calibri" pitchFamily="34" charset="-120"/>
              </a:rPr>
              <a:t>0</a:t>
            </a:r>
            <a:r>
              <a:rPr lang="en-US" sz="1150" dirty="0">
                <a:solidFill>
                  <a:srgbClr val="E6EDF3"/>
                </a:solidFill>
                <a:latin typeface="Calibri" pitchFamily="34" charset="0"/>
                <a:ea typeface="Calibri" pitchFamily="34" charset="-122"/>
                <a:cs typeface="Calibri" pitchFamily="34" charset="-120"/>
              </a:rPr>
              <a:t> = b</a:t>
            </a:r>
            <a:r>
              <a:rPr lang="en-US" sz="1150" baseline="-40000" dirty="0">
                <a:solidFill>
                  <a:srgbClr val="E6EDF3"/>
                </a:solidFill>
                <a:latin typeface="Calibri" pitchFamily="34" charset="0"/>
                <a:ea typeface="Calibri" pitchFamily="34" charset="-122"/>
                <a:cs typeface="Calibri" pitchFamily="34" charset="-120"/>
              </a:rPr>
              <a:t>0</a:t>
            </a:r>
            <a:r>
              <a:rPr lang="en-US" sz="1150" dirty="0">
                <a:solidFill>
                  <a:srgbClr val="E6EDF3"/>
                </a:solidFill>
                <a:latin typeface="Calibri" pitchFamily="34" charset="0"/>
                <a:ea typeface="Calibri" pitchFamily="34" charset="-122"/>
                <a:cs typeface="Calibri" pitchFamily="34" charset="-120"/>
              </a:rPr>
              <a:t> = 3 cells (aspect 0.71 applied), s from E-069's 0.3 m/s — the fixed hourglass exactly, so step 0 of the learned arm is the control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AMOC EXAMPLE, DRAWN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One anchor on the western boundary, two cones pointing opposite ways</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12</a:t>
            </a:r>
            <a:endParaRPr lang="en-US" sz="1000" dirty="0"/>
          </a:p>
        </p:txBody>
      </p:sp>
      <p:pic>
        <p:nvPicPr>
          <p:cNvPr id="7" name="Image 0" descr="/home/claude/earth/ml/plans/E080_figures/amoc_cones.png">    </p:cNvPr>
          <p:cNvPicPr>
            <a:picLocks noChangeAspect="1"/>
          </p:cNvPicPr>
          <p:nvPr/>
        </p:nvPicPr>
        <p:blipFill>
          <a:blip r:embed="rId1"/>
          <a:stretch>
            <a:fillRect/>
          </a:stretch>
        </p:blipFill>
        <p:spPr>
          <a:xfrm>
            <a:off x="548640" y="1463040"/>
            <a:ext cx="5065776" cy="4434840"/>
          </a:xfrm>
          <a:prstGeom prst="rect">
            <a:avLst/>
          </a:prstGeom>
        </p:spPr>
      </p:pic>
      <p:sp>
        <p:nvSpPr>
          <p:cNvPr id="8" name="Shape 4"/>
          <p:cNvSpPr/>
          <p:nvPr/>
        </p:nvSpPr>
        <p:spPr>
          <a:xfrm>
            <a:off x="5824728" y="1463040"/>
            <a:ext cx="5815584" cy="4434840"/>
          </a:xfrm>
          <a:prstGeom prst="roundRect">
            <a:avLst>
              <a:gd name="adj" fmla="val 1237"/>
            </a:avLst>
          </a:prstGeom>
          <a:solidFill>
            <a:srgbClr val="161B22"/>
          </a:solidFill>
          <a:ln w="12700">
            <a:solidFill>
              <a:srgbClr val="30363D"/>
            </a:solidFill>
            <a:prstDash val="solid"/>
          </a:ln>
        </p:spPr>
      </p:sp>
      <p:sp>
        <p:nvSpPr>
          <p:cNvPr id="9" name="Text 5"/>
          <p:cNvSpPr txBox="1"/>
          <p:nvPr/>
        </p:nvSpPr>
        <p:spPr>
          <a:xfrm>
            <a:off x="6080760" y="1664208"/>
            <a:ext cx="5303520" cy="4069080"/>
          </a:xfrm>
          <a:prstGeom prst="rect">
            <a:avLst/>
          </a:prstGeom>
          <a:noFill/>
          <a:ln/>
        </p:spPr>
        <p:txBody>
          <a:bodyPr wrap="square" lIns="0" tIns="0" rIns="0" bIns="0" rtlCol="0" anchor="ctr"/>
          <a:lstStyle/>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Surface group:</a:t>
            </a:r>
            <a:r>
              <a:rPr lang="en-US" sz="1250" dirty="0">
                <a:solidFill>
                  <a:srgbClr val="E6EDF3"/>
                </a:solidFill>
                <a:latin typeface="Calibri" pitchFamily="34" charset="0"/>
                <a:ea typeface="Calibri" pitchFamily="34" charset="-122"/>
                <a:cs typeface="Calibri" pitchFamily="34" charset="-120"/>
              </a:rPr>
              <a:t> d points south-west (up the Florida Current, toward the Loop Current); the future cone leans north-east along the Gulf Stream</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Deep group:</a:t>
            </a:r>
            <a:r>
              <a:rPr lang="en-US" sz="1250" dirty="0">
                <a:solidFill>
                  <a:srgbClr val="E6EDF3"/>
                </a:solidFill>
                <a:latin typeface="Calibri" pitchFamily="34" charset="0"/>
                <a:ea typeface="Calibri" pitchFamily="34" charset="-122"/>
                <a:cs typeface="Calibri" pitchFamily="34" charset="-120"/>
              </a:rPr>
              <a:t> d points north along the slope (up the Deep Western Boundary Current); the future cone leans south</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Neither is programmed: these are the </a:t>
            </a:r>
            <a:r>
              <a:rPr lang="en-US" sz="1250" b="1" dirty="0">
                <a:solidFill>
                  <a:srgbClr val="4493F8"/>
                </a:solidFill>
                <a:latin typeface="Calibri" pitchFamily="34" charset="0"/>
                <a:ea typeface="Calibri" pitchFamily="34" charset="-122"/>
                <a:cs typeface="Calibri" pitchFamily="34" charset="-120"/>
              </a:rPr>
              <a:t>pre-registered expectations</a:t>
            </a:r>
            <a:r>
              <a:rPr lang="en-US" sz="1250" dirty="0">
                <a:solidFill>
                  <a:srgbClr val="E6EDF3"/>
                </a:solidFill>
                <a:latin typeface="Calibri" pitchFamily="34" charset="0"/>
                <a:ea typeface="Calibri" pitchFamily="34" charset="-122"/>
                <a:cs typeface="Calibri" pitchFamily="34" charset="-120"/>
              </a:rPr>
              <a:t> for the learned maps — the check that the mechanism works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If the learned surface drift correlates with −u_clim (the climatological surface current, reversed) over the world ocean, the cone learned “upstream” from the data alone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LOOPHOLE AND ITS FIX</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700" b="1" dirty="0">
                <a:solidFill>
                  <a:srgbClr val="E6EDF3"/>
                </a:solidFill>
                <a:latin typeface="Georgia" pitchFamily="34" charset="0"/>
                <a:ea typeface="Georgia" pitchFamily="34" charset="-122"/>
                <a:cs typeface="Georgia" pitchFamily="34" charset="-120"/>
              </a:rPr>
              <a:t>A learnable cone can learn to ask easy questions</a:t>
            </a:r>
            <a:endParaRPr lang="en-US" sz="2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463040"/>
            <a:ext cx="11091672" cy="749808"/>
          </a:xfrm>
          <a:prstGeom prst="roundRect">
            <a:avLst>
              <a:gd name="adj" fmla="val 7317"/>
            </a:avLst>
          </a:prstGeom>
          <a:solidFill>
            <a:srgbClr val="2A1518"/>
          </a:solidFill>
          <a:ln w="12700">
            <a:solidFill>
              <a:srgbClr val="F85149"/>
            </a:solidFill>
            <a:prstDash val="solid"/>
          </a:ln>
        </p:spPr>
      </p:sp>
      <p:sp>
        <p:nvSpPr>
          <p:cNvPr id="8" name="Text 5"/>
          <p:cNvSpPr txBox="1"/>
          <p:nvPr/>
        </p:nvSpPr>
        <p:spPr>
          <a:xfrm>
            <a:off x="822960" y="1591056"/>
            <a:ext cx="10543032" cy="502920"/>
          </a:xfrm>
          <a:prstGeom prst="rect">
            <a:avLst/>
          </a:prstGeom>
          <a:noFill/>
          <a:ln/>
        </p:spPr>
        <p:txBody>
          <a:bodyPr wrap="square" lIns="0" tIns="0" rIns="0" bIns="0" rtlCol="0" anchor="ctr"/>
          <a:lstStyle/>
          <a:p>
            <a:pPr indent="0" marL="0">
              <a:buNone/>
            </a:pPr>
            <a:r>
              <a:rPr lang="en-US" sz="1300" b="1" dirty="0">
                <a:solidFill>
                  <a:srgbClr val="F85149"/>
                </a:solidFill>
                <a:latin typeface="Calibri" pitchFamily="34" charset="0"/>
                <a:ea typeface="Calibri" pitchFamily="34" charset="-122"/>
                <a:cs typeface="Calibri" pitchFamily="34" charset="-120"/>
              </a:rPr>
              <a:t>The loophole:  </a:t>
            </a:r>
            <a:r>
              <a:rPr lang="en-US" sz="1300" dirty="0">
                <a:solidFill>
                  <a:srgbClr val="E6EDF3"/>
                </a:solidFill>
                <a:latin typeface="Calibri" pitchFamily="34" charset="0"/>
                <a:ea typeface="Calibri" pitchFamily="34" charset="-122"/>
                <a:cs typeface="Calibri" pitchFamily="34" charset="-120"/>
              </a:rPr>
              <a:t>if target positions could move, the gradient would move them to smooth water — a lower loss that means nothing.</a:t>
            </a:r>
            <a:endParaRPr lang="en-US" sz="1300" dirty="0"/>
          </a:p>
        </p:txBody>
      </p:sp>
      <p:sp>
        <p:nvSpPr>
          <p:cNvPr id="9" name="Shape 6"/>
          <p:cNvSpPr/>
          <p:nvPr/>
        </p:nvSpPr>
        <p:spPr>
          <a:xfrm>
            <a:off x="548640" y="2487168"/>
            <a:ext cx="3557016" cy="1920240"/>
          </a:xfrm>
          <a:prstGeom prst="roundRect">
            <a:avLst>
              <a:gd name="adj" fmla="val 2857"/>
            </a:avLst>
          </a:prstGeom>
          <a:solidFill>
            <a:srgbClr val="161B22"/>
          </a:solidFill>
          <a:ln w="12700">
            <a:solidFill>
              <a:srgbClr val="30363D"/>
            </a:solidFill>
            <a:prstDash val="solid"/>
          </a:ln>
        </p:spPr>
      </p:sp>
      <p:sp>
        <p:nvSpPr>
          <p:cNvPr id="10" name="Text 7"/>
          <p:cNvSpPr txBox="1"/>
          <p:nvPr/>
        </p:nvSpPr>
        <p:spPr>
          <a:xfrm>
            <a:off x="786384" y="2633472"/>
            <a:ext cx="3081528" cy="16276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1 · stop-gradient on target positions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Slide 11. The geometry is trained only by “which inputs help”, never by “which targets are easy”.</a:t>
            </a:r>
            <a:endParaRPr lang="en-US" sz="1250" dirty="0"/>
          </a:p>
        </p:txBody>
      </p:sp>
      <p:sp>
        <p:nvSpPr>
          <p:cNvPr id="11" name="Shape 8"/>
          <p:cNvSpPr/>
          <p:nvPr/>
        </p:nvSpPr>
        <p:spPr>
          <a:xfrm>
            <a:off x="4315968" y="2487168"/>
            <a:ext cx="3557016" cy="1920240"/>
          </a:xfrm>
          <a:prstGeom prst="roundRect">
            <a:avLst>
              <a:gd name="adj" fmla="val 2857"/>
            </a:avLst>
          </a:prstGeom>
          <a:solidFill>
            <a:srgbClr val="161B22"/>
          </a:solidFill>
          <a:ln w="12700">
            <a:solidFill>
              <a:srgbClr val="30363D"/>
            </a:solidFill>
            <a:prstDash val="solid"/>
          </a:ln>
        </p:spPr>
      </p:sp>
      <p:sp>
        <p:nvSpPr>
          <p:cNvPr id="12" name="Text 9"/>
          <p:cNvSpPr txBox="1"/>
          <p:nvPr/>
        </p:nvSpPr>
        <p:spPr>
          <a:xfrm>
            <a:off x="4553712" y="2633472"/>
            <a:ext cx="3081528" cy="16276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2 · the mirror tie</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future cone cannot be tuned separately from the past cone.</a:t>
            </a:r>
            <a:endParaRPr lang="en-US" sz="1250" dirty="0"/>
          </a:p>
        </p:txBody>
      </p:sp>
      <p:sp>
        <p:nvSpPr>
          <p:cNvPr id="13" name="Shape 10"/>
          <p:cNvSpPr/>
          <p:nvPr/>
        </p:nvSpPr>
        <p:spPr>
          <a:xfrm>
            <a:off x="8083296" y="2487168"/>
            <a:ext cx="3557016" cy="1920240"/>
          </a:xfrm>
          <a:prstGeom prst="roundRect">
            <a:avLst>
              <a:gd name="adj" fmla="val 2857"/>
            </a:avLst>
          </a:prstGeom>
          <a:solidFill>
            <a:srgbClr val="161B22"/>
          </a:solidFill>
          <a:ln w="12700">
            <a:solidFill>
              <a:srgbClr val="30363D"/>
            </a:solidFill>
            <a:prstDash val="solid"/>
          </a:ln>
        </p:spPr>
      </p:sp>
      <p:sp>
        <p:nvSpPr>
          <p:cNvPr id="14" name="Text 11"/>
          <p:cNvSpPr txBox="1"/>
          <p:nvPr/>
        </p:nvSpPr>
        <p:spPr>
          <a:xfrm>
            <a:off x="8321040" y="2633472"/>
            <a:ext cx="3081528" cy="16276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3 · frozen evaluation geometry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Held-out numbers are always scored on the fixed hourglass, for every arm.</a:t>
            </a:r>
            <a:endParaRPr lang="en-US" sz="1250" dirty="0"/>
          </a:p>
        </p:txBody>
      </p:sp>
      <p:sp>
        <p:nvSpPr>
          <p:cNvPr id="15" name="Shape 12"/>
          <p:cNvSpPr/>
          <p:nvPr/>
        </p:nvSpPr>
        <p:spPr>
          <a:xfrm>
            <a:off x="548640" y="4663440"/>
            <a:ext cx="11091672" cy="1097280"/>
          </a:xfrm>
          <a:prstGeom prst="roundRect">
            <a:avLst>
              <a:gd name="adj" fmla="val 5000"/>
            </a:avLst>
          </a:prstGeom>
          <a:solidFill>
            <a:srgbClr val="11202F"/>
          </a:solidFill>
          <a:ln w="12700">
            <a:solidFill>
              <a:srgbClr val="E3B341"/>
            </a:solidFill>
            <a:prstDash val="solid"/>
          </a:ln>
        </p:spPr>
      </p:sp>
      <p:sp>
        <p:nvSpPr>
          <p:cNvPr id="16" name="Text 13"/>
          <p:cNvSpPr txBox="1"/>
          <p:nvPr/>
        </p:nvSpPr>
        <p:spPr>
          <a:xfrm>
            <a:off x="822960" y="4828032"/>
            <a:ext cx="10543032" cy="777240"/>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Residual second-order effect:  </a:t>
            </a:r>
            <a:r>
              <a:rPr lang="en-US" sz="1250" dirty="0">
                <a:solidFill>
                  <a:srgbClr val="E6EDF3"/>
                </a:solidFill>
                <a:latin typeface="Calibri" pitchFamily="34" charset="0"/>
                <a:ea typeface="Calibri" pitchFamily="34" charset="-122"/>
                <a:cs typeface="Calibri" pitchFamily="34" charset="-120"/>
              </a:rPr>
              <a:t>as the input cone moves, the mirrored targets move with it. Monitored, not assumed away — report the target-variance under the learned cone vs the fixed cone at every eval; a drop &gt; 10 % is a flag.</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WHAT IT COSTS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Tokens, gathers, parameters — the same regime as v2</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3108960"/>
                <a:gridCol w="5605272"/>
              </a:tblGrid>
              <a:tr h="310896">
                <a:tc>
                  <a:txBody>
                    <a:bodyPr/>
                    <a:lstStyle/>
                    <a:p>
                      <a:pPr indent="0" marL="0">
                        <a:buNone/>
                      </a:pP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7D8590"/>
                          </a:solidFill>
                          <a:latin typeface="Calibri" pitchFamily="34" charset="0"/>
                          <a:ea typeface="Calibri" pitchFamily="34" charset="-122"/>
                          <a:cs typeface="Calibri" pitchFamily="34" charset="-120"/>
                        </a:rPr>
                        <a:t>E-069 (measured)</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this design (budget)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patch tokens (14 ch × 3×3)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13 per-location tokens carrying all surface channels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706 dot tokens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6 lags × (1 + 24 ellipse + 24 ring) × 4 groups ≈ 1,176</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Argo</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192 (32 × 6, column only)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26 profile tokens (E-071 §3)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targets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+ 84</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256 dot queries per example, drawn from the future cone and the hidden waist / dots (as n_dot_queries today)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geometry parameters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 0.7 M (slide 10)</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extra per-tensor artefact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mip-map pyramid (~⅓ of the tensor, built once)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Shape 4"/>
          <p:cNvSpPr/>
          <p:nvPr/>
        </p:nvSpPr>
        <p:spPr>
          <a:xfrm>
            <a:off x="548640" y="4617720"/>
            <a:ext cx="11091672" cy="1371600"/>
          </a:xfrm>
          <a:prstGeom prst="roundRect">
            <a:avLst>
              <a:gd name="adj" fmla="val 4000"/>
            </a:avLst>
          </a:prstGeom>
          <a:solidFill>
            <a:srgbClr val="161B22"/>
          </a:solidFill>
          <a:ln w="12700">
            <a:solidFill>
              <a:srgbClr val="30363D"/>
            </a:solidFill>
            <a:prstDash val="solid"/>
          </a:ln>
        </p:spPr>
      </p:sp>
      <p:sp>
        <p:nvSpPr>
          <p:cNvPr id="9" name="Text 5"/>
          <p:cNvSpPr txBox="1"/>
          <p:nvPr/>
        </p:nvSpPr>
        <p:spPr>
          <a:xfrm>
            <a:off x="804672" y="4818888"/>
            <a:ext cx="10579608" cy="1005840"/>
          </a:xfrm>
          <a:prstGeom prst="rect">
            <a:avLst/>
          </a:prstGeom>
          <a:noFill/>
          <a:ln/>
        </p:spPr>
        <p:txBody>
          <a:bodyPr wrap="square" lIns="0" tIns="0" rIns="0" bIns="0" rtlCol="0" anchor="ctr"/>
          <a:lstStyle/>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Perceiver cost is linear in tokens: ~1.6× E-069's encoder time, in line with v2's own 2.1× estimate; the interpolated gather is 4 cells instead of 1</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Training cost per seed: E-069 seeds ran under one 4090-hour on the North Atlantic; budget 2–3 4090-hours per seed on the global tensor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EXPERIMENT — E-080, PRE-REGISTERED</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Three arms, three seeds, four read-outs, one verdict rule</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444752"/>
            <a:ext cx="3557016" cy="1783080"/>
          </a:xfrm>
          <a:prstGeom prst="roundRect">
            <a:avLst>
              <a:gd name="adj" fmla="val 3077"/>
            </a:avLst>
          </a:prstGeom>
          <a:solidFill>
            <a:srgbClr val="161B22"/>
          </a:solidFill>
          <a:ln w="12700">
            <a:solidFill>
              <a:srgbClr val="30363D"/>
            </a:solidFill>
            <a:prstDash val="solid"/>
          </a:ln>
        </p:spPr>
      </p:sp>
      <p:sp>
        <p:nvSpPr>
          <p:cNvPr id="8" name="Text 5"/>
          <p:cNvSpPr txBox="1"/>
          <p:nvPr/>
        </p:nvSpPr>
        <p:spPr>
          <a:xfrm>
            <a:off x="786384"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A0 · fixed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hourglass with the v2 geometry (isotropic ellipses, ring, mirror), no learning — the control, and the eval geometry for everyone</a:t>
            </a:r>
            <a:endParaRPr lang="en-US" sz="1250" dirty="0"/>
          </a:p>
        </p:txBody>
      </p:sp>
      <p:sp>
        <p:nvSpPr>
          <p:cNvPr id="9" name="Shape 6"/>
          <p:cNvSpPr/>
          <p:nvPr/>
        </p:nvSpPr>
        <p:spPr>
          <a:xfrm>
            <a:off x="4315968" y="1444752"/>
            <a:ext cx="3557016"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4553712"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A1 · learned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seven numbers per region, initialised at A0</a:t>
            </a:r>
            <a:endParaRPr lang="en-US" sz="1250" dirty="0"/>
          </a:p>
        </p:txBody>
      </p:sp>
      <p:sp>
        <p:nvSpPr>
          <p:cNvPr id="11" name="Shape 8"/>
          <p:cNvSpPr/>
          <p:nvPr/>
        </p:nvSpPr>
        <p:spPr>
          <a:xfrm>
            <a:off x="8083296" y="1444752"/>
            <a:ext cx="3557016" cy="1783080"/>
          </a:xfrm>
          <a:prstGeom prst="roundRect">
            <a:avLst>
              <a:gd name="adj" fmla="val 3077"/>
            </a:avLst>
          </a:prstGeom>
          <a:solidFill>
            <a:srgbClr val="161B22"/>
          </a:solidFill>
          <a:ln w="12700">
            <a:solidFill>
              <a:srgbClr val="30363D"/>
            </a:solidFill>
            <a:prstDash val="solid"/>
          </a:ln>
        </p:spPr>
      </p:sp>
      <p:sp>
        <p:nvSpPr>
          <p:cNvPr id="12" name="Text 9"/>
          <p:cNvSpPr txBox="1"/>
          <p:nvPr/>
        </p:nvSpPr>
        <p:spPr>
          <a:xfrm>
            <a:off x="8321040"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A2 · learned, primed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As A1, but </a:t>
            </a:r>
            <a:r>
              <a:rPr lang="en-US" sz="1150" b="1" dirty="0">
                <a:solidFill>
                  <a:srgbClr val="4493F8"/>
                </a:solidFill>
                <a:latin typeface="Calibri" pitchFamily="34" charset="0"/>
                <a:ea typeface="Calibri" pitchFamily="34" charset="-122"/>
                <a:cs typeface="Calibri" pitchFamily="34" charset="-120"/>
              </a:rPr>
              <a:t>d</a:t>
            </a:r>
            <a:r>
              <a:rPr lang="en-US" sz="1150" dirty="0">
                <a:solidFill>
                  <a:srgbClr val="E6EDF3"/>
                </a:solidFill>
                <a:latin typeface="Calibri" pitchFamily="34" charset="0"/>
                <a:ea typeface="Calibri" pitchFamily="34" charset="-122"/>
                <a:cs typeface="Calibri" pitchFamily="34" charset="-120"/>
              </a:rPr>
              <a:t> initialised at −u_clim · Δt (the climatological surface current, reversed) for the ocean surface group — tests whether the gradient can find upstream on its own (A1) or only keep it (A2)</a:t>
            </a:r>
            <a:endParaRPr lang="en-US" sz="1250" dirty="0"/>
          </a:p>
        </p:txBody>
      </p:sp>
      <p:sp>
        <p:nvSpPr>
          <p:cNvPr id="13" name="Text 10"/>
          <p:cNvSpPr txBox="1"/>
          <p:nvPr/>
        </p:nvSpPr>
        <p:spPr>
          <a:xfrm>
            <a:off x="548640" y="3346704"/>
            <a:ext cx="11091672" cy="27432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Held fixed: </a:t>
            </a:r>
            <a:r>
              <a:rPr lang="en-US" sz="1150" dirty="0">
                <a:solidFill>
                  <a:srgbClr val="7D8590"/>
                </a:solidFill>
                <a:latin typeface="Calibri" pitchFamily="34" charset="0"/>
                <a:ea typeface="Calibri" pitchFamily="34" charset="-122"/>
                <a:cs typeface="Calibri" pitchFamily="34" charset="-120"/>
              </a:rPr>
              <a:t>same tensor (family 7.2, global), same 7 M codec, 20 k steps, frozen protocol (train ≤ 2020; 2008–09, 2016–17, 2021–24 held out), 3 seeds each.</a:t>
            </a:r>
            <a:endParaRPr lang="en-US" sz="1150" dirty="0"/>
          </a:p>
        </p:txBody>
      </p:sp>
      <p:sp>
        <p:nvSpPr>
          <p:cNvPr id="14" name="Shape 11"/>
          <p:cNvSpPr/>
          <p:nvPr/>
        </p:nvSpPr>
        <p:spPr>
          <a:xfrm>
            <a:off x="548640" y="3694176"/>
            <a:ext cx="11091672" cy="1115568"/>
          </a:xfrm>
          <a:prstGeom prst="roundRect">
            <a:avLst>
              <a:gd name="adj" fmla="val 4918"/>
            </a:avLst>
          </a:prstGeom>
          <a:solidFill>
            <a:srgbClr val="161B22"/>
          </a:solidFill>
          <a:ln w="12700">
            <a:solidFill>
              <a:srgbClr val="30363D"/>
            </a:solidFill>
            <a:prstDash val="solid"/>
          </a:ln>
        </p:spPr>
      </p:sp>
      <p:sp>
        <p:nvSpPr>
          <p:cNvPr id="15" name="Text 12"/>
          <p:cNvSpPr txBox="1"/>
          <p:nvPr/>
        </p:nvSpPr>
        <p:spPr>
          <a:xfrm>
            <a:off x="822960" y="3858768"/>
            <a:ext cx="10543032" cy="822960"/>
          </a:xfrm>
          <a:prstGeom prst="rect">
            <a:avLst/>
          </a:prstGeom>
          <a:noFill/>
          <a:ln/>
        </p:spPr>
        <p:txBody>
          <a:bodyPr wrap="square" lIns="0" tIns="0" rIns="0" bIns="0" rtlCol="0" anchor="t"/>
          <a:lstStyle/>
          <a:p>
            <a:pPr indent="0" marL="0">
              <a:spcAft>
                <a:spcPts val="600"/>
              </a:spcAft>
              <a:buNone/>
            </a:pPr>
            <a:r>
              <a:rPr lang="en-US" sz="1150" b="1" dirty="0">
                <a:solidFill>
                  <a:srgbClr val="4493F8"/>
                </a:solidFill>
                <a:latin typeface="Calibri" pitchFamily="34" charset="0"/>
                <a:ea typeface="Calibri" pitchFamily="34" charset="-122"/>
                <a:cs typeface="Calibri" pitchFamily="34" charset="-120"/>
              </a:rPr>
              <a:t>R1</a:t>
            </a:r>
            <a:r>
              <a:rPr lang="en-US" sz="1150" dirty="0">
                <a:solidFill>
                  <a:srgbClr val="E6EDF3"/>
                </a:solidFill>
                <a:latin typeface="Calibri" pitchFamily="34" charset="0"/>
                <a:ea typeface="Calibri" pitchFamily="34" charset="-122"/>
                <a:cs typeface="Calibri" pitchFamily="34" charset="-120"/>
              </a:rPr>
              <a:t> T1 future-cone loss per lead vs bar  ·  </a:t>
            </a:r>
            <a:r>
              <a:rPr lang="en-US" sz="1150" b="1" dirty="0">
                <a:solidFill>
                  <a:srgbClr val="4493F8"/>
                </a:solidFill>
                <a:latin typeface="Calibri" pitchFamily="34" charset="0"/>
                <a:ea typeface="Calibri" pitchFamily="34" charset="-122"/>
                <a:cs typeface="Calibri" pitchFamily="34" charset="-120"/>
              </a:rPr>
              <a:t>R2</a:t>
            </a:r>
            <a:r>
              <a:rPr lang="en-US" sz="1150" dirty="0">
                <a:solidFill>
                  <a:srgbClr val="E6EDF3"/>
                </a:solidFill>
                <a:latin typeface="Calibri" pitchFamily="34" charset="0"/>
                <a:ea typeface="Calibri" pitchFamily="34" charset="-122"/>
                <a:cs typeface="Calibri" pitchFamily="34" charset="-120"/>
              </a:rPr>
              <a:t> the T1 − T2 gap (what history buys)  ·  </a:t>
            </a:r>
            <a:r>
              <a:rPr lang="en-US" sz="1150" b="1" dirty="0">
                <a:solidFill>
                  <a:srgbClr val="4493F8"/>
                </a:solidFill>
                <a:latin typeface="Calibri" pitchFamily="34" charset="0"/>
                <a:ea typeface="Calibri" pitchFamily="34" charset="-122"/>
                <a:cs typeface="Calibri" pitchFamily="34" charset="-120"/>
              </a:rPr>
              <a:t>R3</a:t>
            </a:r>
            <a:r>
              <a:rPr lang="en-US" sz="1150" dirty="0">
                <a:solidFill>
                  <a:srgbClr val="E6EDF3"/>
                </a:solidFill>
                <a:latin typeface="Calibri" pitchFamily="34" charset="0"/>
                <a:ea typeface="Calibri" pitchFamily="34" charset="-122"/>
                <a:cs typeface="Calibri" pitchFamily="34" charset="-120"/>
              </a:rPr>
              <a:t> drift-vs-upstream correlation, world ocean, |u_clim| &gt; 0.2 m/s</a:t>
            </a:r>
            <a:endParaRPr lang="en-US" sz="1150" dirty="0"/>
          </a:p>
          <a:p>
            <a:pPr indent="0" marL="0">
              <a:spcAft>
                <a:spcPts val="600"/>
              </a:spcAft>
              <a:buNone/>
            </a:pPr>
            <a:r>
              <a:rPr lang="en-US" sz="1150" b="1" dirty="0">
                <a:solidFill>
                  <a:srgbClr val="4493F8"/>
                </a:solidFill>
                <a:latin typeface="Calibri" pitchFamily="34" charset="0"/>
                <a:ea typeface="Calibri" pitchFamily="34" charset="-122"/>
                <a:cs typeface="Calibri" pitchFamily="34" charset="-120"/>
              </a:rPr>
              <a:t>R4</a:t>
            </a:r>
            <a:r>
              <a:rPr lang="en-US" sz="1150" dirty="0">
                <a:solidFill>
                  <a:srgbClr val="E6EDF3"/>
                </a:solidFill>
                <a:latin typeface="Calibri" pitchFamily="34" charset="0"/>
                <a:ea typeface="Calibri" pitchFamily="34" charset="-122"/>
                <a:cs typeface="Calibri" pitchFamily="34" charset="-120"/>
              </a:rPr>
              <a:t> the western-boundary depth check (surface south-west, deep north)  ·  </a:t>
            </a:r>
            <a:r>
              <a:rPr lang="en-US" sz="1150" b="1" dirty="0">
                <a:solidFill>
                  <a:srgbClr val="4493F8"/>
                </a:solidFill>
                <a:latin typeface="Calibri" pitchFamily="34" charset="0"/>
                <a:ea typeface="Calibri" pitchFamily="34" charset="-122"/>
                <a:cs typeface="Calibri" pitchFamily="34" charset="-120"/>
              </a:rPr>
              <a:t>R5</a:t>
            </a:r>
            <a:r>
              <a:rPr lang="en-US" sz="1150" dirty="0">
                <a:solidFill>
                  <a:srgbClr val="E6EDF3"/>
                </a:solidFill>
                <a:latin typeface="Calibri" pitchFamily="34" charset="0"/>
                <a:ea typeface="Calibri" pitchFamily="34" charset="-122"/>
                <a:cs typeface="Calibri" pitchFamily="34" charset="-120"/>
              </a:rPr>
              <a:t> target-variance flag (slide 13)</a:t>
            </a:r>
            <a:endParaRPr lang="en-US" sz="1150" dirty="0"/>
          </a:p>
        </p:txBody>
      </p:sp>
      <p:sp>
        <p:nvSpPr>
          <p:cNvPr id="16" name="Shape 13"/>
          <p:cNvSpPr/>
          <p:nvPr/>
        </p:nvSpPr>
        <p:spPr>
          <a:xfrm>
            <a:off x="548640" y="4919472"/>
            <a:ext cx="11091672" cy="1234440"/>
          </a:xfrm>
          <a:prstGeom prst="roundRect">
            <a:avLst>
              <a:gd name="adj" fmla="val 4444"/>
            </a:avLst>
          </a:prstGeom>
          <a:solidFill>
            <a:srgbClr val="11202F"/>
          </a:solidFill>
          <a:ln w="12700">
            <a:solidFill>
              <a:srgbClr val="E3B341"/>
            </a:solidFill>
            <a:prstDash val="solid"/>
          </a:ln>
        </p:spPr>
      </p:sp>
      <p:sp>
        <p:nvSpPr>
          <p:cNvPr id="17" name="Text 14"/>
          <p:cNvSpPr txBox="1"/>
          <p:nvPr/>
        </p:nvSpPr>
        <p:spPr>
          <a:xfrm>
            <a:off x="822960" y="5065776"/>
            <a:ext cx="10543032" cy="960120"/>
          </a:xfrm>
          <a:prstGeom prst="rect">
            <a:avLst/>
          </a:prstGeom>
          <a:noFill/>
          <a:ln/>
        </p:spPr>
        <p:txBody>
          <a:bodyPr wrap="square" lIns="0" tIns="0" rIns="0" bIns="0" rtlCol="0" anchor="ctr"/>
          <a:lstStyle/>
          <a:p>
            <a:pPr indent="0" marL="0">
              <a:buNone/>
            </a:pPr>
            <a:r>
              <a:rPr lang="en-US" sz="1200" b="1" dirty="0">
                <a:solidFill>
                  <a:srgbClr val="E3B341"/>
                </a:solidFill>
                <a:latin typeface="Calibri" pitchFamily="34" charset="0"/>
                <a:ea typeface="Calibri" pitchFamily="34" charset="-122"/>
                <a:cs typeface="Calibri" pitchFamily="34" charset="-120"/>
              </a:rPr>
              <a:t>Verdict:  </a:t>
            </a:r>
            <a:r>
              <a:rPr lang="en-US" sz="1200" dirty="0">
                <a:solidFill>
                  <a:srgbClr val="E6EDF3"/>
                </a:solidFill>
                <a:latin typeface="Calibri" pitchFamily="34" charset="0"/>
                <a:ea typeface="Calibri" pitchFamily="34" charset="-122"/>
                <a:cs typeface="Calibri" pitchFamily="34" charset="-120"/>
              </a:rPr>
              <a:t>A1 adopted if it beats A0 on R1 at every lead ≤ 3, paired at all three seeds, with R5 clean. A2 &gt; A1 with A1 ≈ A0 means the gradient cannot find upstream — then geometry is set from climatology, not learned. Neither → keep A0 and move to a dynamic (per-example) cone.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BUILD ORDER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Five steps, each with its test</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50" dirty="0">
                <a:solidFill>
                  <a:srgbClr val="7D8590"/>
                </a:solidFill>
                <a:latin typeface="Calibri" pitchFamily="34" charset="0"/>
                <a:ea typeface="Calibri" pitchFamily="34" charset="-122"/>
                <a:cs typeface="Calibri" pitchFamily="34" charset="-120"/>
              </a:rPr>
              <a:t>in ml/cone.py · ml/cone_sampler.py · ml/cone_codec.py · ml/train_cone.py</a:t>
            </a:r>
            <a:endParaRPr lang="en-US" sz="1350" dirty="0"/>
          </a:p>
        </p:txBody>
      </p:sp>
      <p:sp>
        <p:nvSpPr>
          <p:cNvPr id="5" name="Text 3"/>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4"/>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16</a:t>
            </a:r>
            <a:endParaRPr lang="en-US" sz="1000" dirty="0"/>
          </a:p>
        </p:txBody>
      </p:sp>
      <p:sp>
        <p:nvSpPr>
          <p:cNvPr id="8" name="Shape 5"/>
          <p:cNvSpPr/>
          <p:nvPr/>
        </p:nvSpPr>
        <p:spPr>
          <a:xfrm>
            <a:off x="548640" y="1664208"/>
            <a:ext cx="11091672" cy="713232"/>
          </a:xfrm>
          <a:prstGeom prst="roundRect">
            <a:avLst>
              <a:gd name="adj" fmla="val 7692"/>
            </a:avLst>
          </a:prstGeom>
          <a:solidFill>
            <a:srgbClr val="161B22"/>
          </a:solidFill>
          <a:ln w="12700">
            <a:solidFill>
              <a:srgbClr val="30363D"/>
            </a:solidFill>
            <a:prstDash val="solid"/>
          </a:ln>
        </p:spPr>
      </p:sp>
      <p:sp>
        <p:nvSpPr>
          <p:cNvPr id="9" name="Shape 6"/>
          <p:cNvSpPr/>
          <p:nvPr/>
        </p:nvSpPr>
        <p:spPr>
          <a:xfrm>
            <a:off x="768096" y="1865376"/>
            <a:ext cx="310896" cy="310896"/>
          </a:xfrm>
          <a:prstGeom prst="ellipse">
            <a:avLst/>
          </a:prstGeom>
          <a:solidFill>
            <a:srgbClr val="1F3A5F"/>
          </a:solidFill>
          <a:ln w="12700">
            <a:solidFill>
              <a:srgbClr val="4493F8"/>
            </a:solidFill>
            <a:prstDash val="solid"/>
          </a:ln>
        </p:spPr>
      </p:sp>
      <p:sp>
        <p:nvSpPr>
          <p:cNvPr id="10" name="Text 7"/>
          <p:cNvSpPr txBox="1"/>
          <p:nvPr/>
        </p:nvSpPr>
        <p:spPr>
          <a:xfrm>
            <a:off x="768096" y="1865376"/>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1</a:t>
            </a:r>
            <a:endParaRPr lang="en-US" sz="1200" dirty="0"/>
          </a:p>
        </p:txBody>
      </p:sp>
      <p:sp>
        <p:nvSpPr>
          <p:cNvPr id="11" name="Text 8"/>
          <p:cNvSpPr txBox="1"/>
          <p:nvPr/>
        </p:nvSpPr>
        <p:spPr>
          <a:xfrm>
            <a:off x="1207008" y="1773936"/>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Waist + future cone in the geometry (cone.py)  </a:t>
            </a:r>
            <a:r>
              <a:rPr lang="en-US" sz="1050" dirty="0">
                <a:solidFill>
                  <a:srgbClr val="7D8590"/>
                </a:solidFill>
                <a:latin typeface="Calibri" pitchFamily="34" charset="0"/>
                <a:ea typeface="Calibri" pitchFamily="34" charset="-122"/>
                <a:cs typeface="Calibri" pitchFamily="34" charset="-120"/>
              </a:rPr>
              <a:t>waist_dots, future_dots = reflected inner_dots; coverage_report extended with the mirror identity (future set = −past set) — pure numpy, CPU test</a:t>
            </a:r>
            <a:endParaRPr lang="en-US" sz="1150" dirty="0"/>
          </a:p>
        </p:txBody>
      </p:sp>
      <p:sp>
        <p:nvSpPr>
          <p:cNvPr id="12" name="Shape 9"/>
          <p:cNvSpPr/>
          <p:nvPr/>
        </p:nvSpPr>
        <p:spPr>
          <a:xfrm>
            <a:off x="548640" y="2468880"/>
            <a:ext cx="11091672" cy="713232"/>
          </a:xfrm>
          <a:prstGeom prst="roundRect">
            <a:avLst>
              <a:gd name="adj" fmla="val 7692"/>
            </a:avLst>
          </a:prstGeom>
          <a:solidFill>
            <a:srgbClr val="161B22"/>
          </a:solidFill>
          <a:ln w="12700">
            <a:solidFill>
              <a:srgbClr val="30363D"/>
            </a:solidFill>
            <a:prstDash val="solid"/>
          </a:ln>
        </p:spPr>
      </p:sp>
      <p:sp>
        <p:nvSpPr>
          <p:cNvPr id="13" name="Shape 10"/>
          <p:cNvSpPr/>
          <p:nvPr/>
        </p:nvSpPr>
        <p:spPr>
          <a:xfrm>
            <a:off x="768096" y="2670048"/>
            <a:ext cx="310896" cy="310896"/>
          </a:xfrm>
          <a:prstGeom prst="ellipse">
            <a:avLst/>
          </a:prstGeom>
          <a:solidFill>
            <a:srgbClr val="1F3A5F"/>
          </a:solidFill>
          <a:ln w="12700">
            <a:solidFill>
              <a:srgbClr val="4493F8"/>
            </a:solidFill>
            <a:prstDash val="solid"/>
          </a:ln>
        </p:spPr>
      </p:sp>
      <p:sp>
        <p:nvSpPr>
          <p:cNvPr id="14" name="Text 11"/>
          <p:cNvSpPr txBox="1"/>
          <p:nvPr/>
        </p:nvSpPr>
        <p:spPr>
          <a:xfrm>
            <a:off x="768096" y="2670048"/>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2</a:t>
            </a:r>
            <a:endParaRPr lang="en-US" sz="1200" dirty="0"/>
          </a:p>
        </p:txBody>
      </p:sp>
      <p:sp>
        <p:nvSpPr>
          <p:cNvPr id="15" name="Text 12"/>
          <p:cNvSpPr txBox="1"/>
          <p:nvPr/>
        </p:nvSpPr>
        <p:spPr>
          <a:xfrm>
            <a:off x="1207008" y="2578608"/>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task mix (cone_codec.py::default_plan → plan_v3)  </a:t>
            </a:r>
            <a:r>
              <a:rPr lang="en-US" sz="1050" dirty="0">
                <a:solidFill>
                  <a:srgbClr val="7D8590"/>
                </a:solidFill>
                <a:latin typeface="Calibri" pitchFamily="34" charset="0"/>
                <a:ea typeface="Calibri" pitchFamily="34" charset="-122"/>
                <a:cs typeface="Calibri" pitchFamily="34" charset="-120"/>
              </a:rPr>
              <a:t>T1–T4 with shares and the five dropout patterns; test: every target's channel is visible somewhere in the input, for 10 k drawn examples, zero violations</a:t>
            </a:r>
            <a:endParaRPr lang="en-US" sz="1150" dirty="0"/>
          </a:p>
        </p:txBody>
      </p:sp>
      <p:sp>
        <p:nvSpPr>
          <p:cNvPr id="16" name="Shape 13"/>
          <p:cNvSpPr/>
          <p:nvPr/>
        </p:nvSpPr>
        <p:spPr>
          <a:xfrm>
            <a:off x="548640" y="3273552"/>
            <a:ext cx="11091672" cy="713232"/>
          </a:xfrm>
          <a:prstGeom prst="roundRect">
            <a:avLst>
              <a:gd name="adj" fmla="val 7692"/>
            </a:avLst>
          </a:prstGeom>
          <a:solidFill>
            <a:srgbClr val="161B22"/>
          </a:solidFill>
          <a:ln w="12700">
            <a:solidFill>
              <a:srgbClr val="30363D"/>
            </a:solidFill>
            <a:prstDash val="solid"/>
          </a:ln>
        </p:spPr>
      </p:sp>
      <p:sp>
        <p:nvSpPr>
          <p:cNvPr id="17" name="Shape 14"/>
          <p:cNvSpPr/>
          <p:nvPr/>
        </p:nvSpPr>
        <p:spPr>
          <a:xfrm>
            <a:off x="768096" y="3474720"/>
            <a:ext cx="310896" cy="310896"/>
          </a:xfrm>
          <a:prstGeom prst="ellipse">
            <a:avLst/>
          </a:prstGeom>
          <a:solidFill>
            <a:srgbClr val="1F3A5F"/>
          </a:solidFill>
          <a:ln w="12700">
            <a:solidFill>
              <a:srgbClr val="4493F8"/>
            </a:solidFill>
            <a:prstDash val="solid"/>
          </a:ln>
        </p:spPr>
      </p:sp>
      <p:sp>
        <p:nvSpPr>
          <p:cNvPr id="18" name="Text 15"/>
          <p:cNvSpPr txBox="1"/>
          <p:nvPr/>
        </p:nvSpPr>
        <p:spPr>
          <a:xfrm>
            <a:off x="768096" y="347472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3</a:t>
            </a:r>
            <a:endParaRPr lang="en-US" sz="1200" dirty="0"/>
          </a:p>
        </p:txBody>
      </p:sp>
      <p:sp>
        <p:nvSpPr>
          <p:cNvPr id="19" name="Text 16"/>
          <p:cNvSpPr txBox="1"/>
          <p:nvPr/>
        </p:nvSpPr>
        <p:spPr>
          <a:xfrm>
            <a:off x="1207008" y="3383280"/>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Continuous sampling (cone_sampler.py)  </a:t>
            </a:r>
            <a:r>
              <a:rPr lang="en-US" sz="1050" dirty="0">
                <a:solidFill>
                  <a:srgbClr val="7D8590"/>
                </a:solidFill>
                <a:latin typeface="Calibri" pitchFamily="34" charset="0"/>
                <a:ea typeface="Calibri" pitchFamily="34" charset="-122"/>
                <a:cs typeface="Calibri" pitchFamily="34" charset="-120"/>
              </a:rPr>
              <a:t>pyramid build + interpolated gather with observed-weighting; test: at integer positions with a full observed mask the read equals today's gather bit-for-bit</a:t>
            </a:r>
            <a:endParaRPr lang="en-US" sz="1150" dirty="0"/>
          </a:p>
        </p:txBody>
      </p:sp>
      <p:sp>
        <p:nvSpPr>
          <p:cNvPr id="20" name="Shape 17"/>
          <p:cNvSpPr/>
          <p:nvPr/>
        </p:nvSpPr>
        <p:spPr>
          <a:xfrm>
            <a:off x="548640" y="4078224"/>
            <a:ext cx="11091672" cy="713232"/>
          </a:xfrm>
          <a:prstGeom prst="roundRect">
            <a:avLst>
              <a:gd name="adj" fmla="val 7692"/>
            </a:avLst>
          </a:prstGeom>
          <a:solidFill>
            <a:srgbClr val="161B22"/>
          </a:solidFill>
          <a:ln w="12700">
            <a:solidFill>
              <a:srgbClr val="30363D"/>
            </a:solidFill>
            <a:prstDash val="solid"/>
          </a:ln>
        </p:spPr>
      </p:sp>
      <p:sp>
        <p:nvSpPr>
          <p:cNvPr id="21" name="Shape 18"/>
          <p:cNvSpPr/>
          <p:nvPr/>
        </p:nvSpPr>
        <p:spPr>
          <a:xfrm>
            <a:off x="768096" y="4279392"/>
            <a:ext cx="310896" cy="310896"/>
          </a:xfrm>
          <a:prstGeom prst="ellipse">
            <a:avLst/>
          </a:prstGeom>
          <a:solidFill>
            <a:srgbClr val="1F3A5F"/>
          </a:solidFill>
          <a:ln w="12700">
            <a:solidFill>
              <a:srgbClr val="4493F8"/>
            </a:solidFill>
            <a:prstDash val="solid"/>
          </a:ln>
        </p:spPr>
      </p:sp>
      <p:sp>
        <p:nvSpPr>
          <p:cNvPr id="22" name="Text 19"/>
          <p:cNvSpPr txBox="1"/>
          <p:nvPr/>
        </p:nvSpPr>
        <p:spPr>
          <a:xfrm>
            <a:off x="768096" y="4279392"/>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4</a:t>
            </a:r>
            <a:endParaRPr lang="en-US" sz="1200" dirty="0"/>
          </a:p>
        </p:txBody>
      </p:sp>
      <p:sp>
        <p:nvSpPr>
          <p:cNvPr id="23" name="Text 20"/>
          <p:cNvSpPr txBox="1"/>
          <p:nvPr/>
        </p:nvSpPr>
        <p:spPr>
          <a:xfrm>
            <a:off x="1207008" y="4187952"/>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parameter maps (cone_codec.py::ConeGeometry)  </a:t>
            </a:r>
            <a:r>
              <a:rPr lang="en-US" sz="1050" dirty="0">
                <a:solidFill>
                  <a:srgbClr val="7D8590"/>
                </a:solidFill>
                <a:latin typeface="Calibri" pitchFamily="34" charset="0"/>
                <a:ea typeface="Calibri" pitchFamily="34" charset="-122"/>
                <a:cs typeface="Calibri" pitchFamily="34" charset="-120"/>
              </a:rPr>
              <a:t>2° maps per group, tanh/softplus bounds, mirror, stop-gradient, init = A0; test: at init the dots equal step 1's fixed dots to &lt; 0.1 cell; gradient-check on the seven numbers with finite differences</a:t>
            </a:r>
            <a:endParaRPr lang="en-US" sz="1150" dirty="0"/>
          </a:p>
        </p:txBody>
      </p:sp>
      <p:sp>
        <p:nvSpPr>
          <p:cNvPr id="24" name="Shape 21"/>
          <p:cNvSpPr/>
          <p:nvPr/>
        </p:nvSpPr>
        <p:spPr>
          <a:xfrm>
            <a:off x="548640" y="4882896"/>
            <a:ext cx="11091672" cy="713232"/>
          </a:xfrm>
          <a:prstGeom prst="roundRect">
            <a:avLst>
              <a:gd name="adj" fmla="val 7692"/>
            </a:avLst>
          </a:prstGeom>
          <a:solidFill>
            <a:srgbClr val="161B22"/>
          </a:solidFill>
          <a:ln w="12700">
            <a:solidFill>
              <a:srgbClr val="30363D"/>
            </a:solidFill>
            <a:prstDash val="solid"/>
          </a:ln>
        </p:spPr>
      </p:sp>
      <p:sp>
        <p:nvSpPr>
          <p:cNvPr id="25" name="Shape 22"/>
          <p:cNvSpPr/>
          <p:nvPr/>
        </p:nvSpPr>
        <p:spPr>
          <a:xfrm>
            <a:off x="768096" y="5084064"/>
            <a:ext cx="310896" cy="310896"/>
          </a:xfrm>
          <a:prstGeom prst="ellipse">
            <a:avLst/>
          </a:prstGeom>
          <a:solidFill>
            <a:srgbClr val="1F3A5F"/>
          </a:solidFill>
          <a:ln w="12700">
            <a:solidFill>
              <a:srgbClr val="4493F8"/>
            </a:solidFill>
            <a:prstDash val="solid"/>
          </a:ln>
        </p:spPr>
      </p:sp>
      <p:sp>
        <p:nvSpPr>
          <p:cNvPr id="26" name="Text 23"/>
          <p:cNvSpPr txBox="1"/>
          <p:nvPr/>
        </p:nvSpPr>
        <p:spPr>
          <a:xfrm>
            <a:off x="768096" y="5084064"/>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5</a:t>
            </a:r>
            <a:endParaRPr lang="en-US" sz="1200" dirty="0"/>
          </a:p>
        </p:txBody>
      </p:sp>
      <p:sp>
        <p:nvSpPr>
          <p:cNvPr id="27" name="Text 24"/>
          <p:cNvSpPr txBox="1"/>
          <p:nvPr/>
        </p:nvSpPr>
        <p:spPr>
          <a:xfrm>
            <a:off x="1207008" y="4992624"/>
            <a:ext cx="10195560" cy="493776"/>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Read-outs in the trainer (train_cone.py)  </a:t>
            </a:r>
            <a:r>
              <a:rPr lang="en-US" sz="1050" dirty="0">
                <a:solidFill>
                  <a:srgbClr val="7D8590"/>
                </a:solidFill>
                <a:latin typeface="Calibri" pitchFamily="34" charset="0"/>
                <a:ea typeface="Calibri" pitchFamily="34" charset="-122"/>
                <a:cs typeface="Calibri" pitchFamily="34" charset="-120"/>
              </a:rPr>
              <a:t>per-task bars, R3/R4 maps exported as data/cone_drift_&lt;group&gt;.json for the app's Cones tab, R5 flag; then the three arms as recipes f7l2-hourglass-{fixed,learned,primed}</a:t>
            </a:r>
            <a:endParaRPr lang="en-US" sz="1150" dirty="0"/>
          </a:p>
        </p:txBody>
      </p:sp>
      <p:sp>
        <p:nvSpPr>
          <p:cNvPr id="28" name="Text 25"/>
          <p:cNvSpPr txBox="1"/>
          <p:nvPr/>
        </p:nvSpPr>
        <p:spPr>
          <a:xfrm>
            <a:off x="548640" y="5742432"/>
            <a:ext cx="11091672" cy="274320"/>
          </a:xfrm>
          <a:prstGeom prst="rect">
            <a:avLst/>
          </a:prstGeom>
          <a:noFill/>
          <a:ln/>
        </p:spPr>
        <p:txBody>
          <a:bodyPr wrap="square" lIns="0" tIns="0" rIns="0" bIns="0" rtlCol="0" anchor="ctr"/>
          <a:lstStyle/>
          <a:p>
            <a:pPr indent="0" marL="0">
              <a:buNone/>
            </a:pPr>
            <a:r>
              <a:rPr lang="en-US" sz="1100" i="1" dirty="0">
                <a:solidFill>
                  <a:srgbClr val="7D8590"/>
                </a:solidFill>
                <a:latin typeface="Calibri" pitchFamily="34" charset="0"/>
                <a:ea typeface="Calibri" pitchFamily="34" charset="-122"/>
                <a:cs typeface="Calibri" pitchFamily="34" charset="-120"/>
              </a:rPr>
              <a:t>Each step lands on main with its test before the next starts; step 3 is the only one that touches the data path and is gated on the bit-identity test.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OPEN DECISIONS FOR CHRIS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Six choices the deck took a position on — all reversible</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554480"/>
            <a:ext cx="3557016" cy="1828800"/>
          </a:xfrm>
          <a:prstGeom prst="roundRect">
            <a:avLst>
              <a:gd name="adj" fmla="val 3000"/>
            </a:avLst>
          </a:prstGeom>
          <a:solidFill>
            <a:srgbClr val="161B22"/>
          </a:solidFill>
          <a:ln w="12700">
            <a:solidFill>
              <a:srgbClr val="30363D"/>
            </a:solidFill>
            <a:prstDash val="solid"/>
          </a:ln>
        </p:spPr>
      </p:sp>
      <p:sp>
        <p:nvSpPr>
          <p:cNvPr id="8" name="Text 5"/>
          <p:cNvSpPr txBox="1"/>
          <p:nvPr/>
        </p:nvSpPr>
        <p:spPr>
          <a:xfrm>
            <a:off x="786384" y="1700784"/>
            <a:ext cx="3081528" cy="153619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Future horizon</a:t>
            </a:r>
            <a:endParaRPr lang="en-US" sz="1250" dirty="0"/>
          </a:p>
          <a:p>
            <a:pPr indent="0" marL="0">
              <a:buNone/>
            </a:pPr>
            <a:r>
              <a:rPr lang="en-US" sz="1200" b="1" dirty="0">
                <a:solidFill>
                  <a:srgbClr val="4493F8"/>
                </a:solidFill>
                <a:latin typeface="Calibri" pitchFamily="34" charset="0"/>
                <a:ea typeface="Calibri" pitchFamily="34" charset="-122"/>
                <a:cs typeface="Calibri" pitchFamily="34" charset="-120"/>
              </a:rPr>
              <a:t>+6 pentads</a:t>
            </a:r>
            <a:r>
              <a:rPr lang="en-US" sz="1200" dirty="0">
                <a:solidFill>
                  <a:srgbClr val="E6EDF3"/>
                </a:solidFill>
                <a:latin typeface="Calibri" pitchFamily="34" charset="0"/>
                <a:ea typeface="Calibri" pitchFamily="34" charset="-122"/>
                <a:cs typeface="Calibri" pitchFamily="34" charset="-120"/>
              </a:rPr>
              <a:t> to mirror the past; or shorter (+1…+2 as E-069) with denser targets?</a:t>
            </a:r>
            <a:endParaRPr lang="en-US" sz="1250" dirty="0"/>
          </a:p>
        </p:txBody>
      </p:sp>
      <p:sp>
        <p:nvSpPr>
          <p:cNvPr id="9" name="Shape 6"/>
          <p:cNvSpPr/>
          <p:nvPr/>
        </p:nvSpPr>
        <p:spPr>
          <a:xfrm>
            <a:off x="4315968" y="1554480"/>
            <a:ext cx="3557016" cy="1828800"/>
          </a:xfrm>
          <a:prstGeom prst="roundRect">
            <a:avLst>
              <a:gd name="adj" fmla="val 3000"/>
            </a:avLst>
          </a:prstGeom>
          <a:solidFill>
            <a:srgbClr val="161B22"/>
          </a:solidFill>
          <a:ln w="12700">
            <a:solidFill>
              <a:srgbClr val="30363D"/>
            </a:solidFill>
            <a:prstDash val="solid"/>
          </a:ln>
        </p:spPr>
      </p:sp>
      <p:sp>
        <p:nvSpPr>
          <p:cNvPr id="10" name="Text 7"/>
          <p:cNvSpPr txBox="1"/>
          <p:nvPr/>
        </p:nvSpPr>
        <p:spPr>
          <a:xfrm>
            <a:off x="4553712" y="1700784"/>
            <a:ext cx="3081528" cy="153619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Task shares</a:t>
            </a:r>
            <a:endParaRPr lang="en-US" sz="1250" dirty="0"/>
          </a:p>
          <a:p>
            <a:pPr indent="0" marL="0">
              <a:buNone/>
            </a:pPr>
            <a:r>
              <a:rPr lang="en-US" sz="1200" b="1" dirty="0">
                <a:solidFill>
                  <a:srgbClr val="4493F8"/>
                </a:solidFill>
                <a:latin typeface="Calibri" pitchFamily="34" charset="0"/>
                <a:ea typeface="Calibri" pitchFamily="34" charset="-122"/>
                <a:cs typeface="Calibri" pitchFamily="34" charset="-120"/>
              </a:rPr>
              <a:t>0.35 / 0.15 / 0.25 / 0.25</a:t>
            </a:r>
            <a:r>
              <a:rPr lang="en-US" sz="1200" dirty="0">
                <a:solidFill>
                  <a:srgbClr val="E6EDF3"/>
                </a:solidFill>
                <a:latin typeface="Calibri" pitchFamily="34" charset="0"/>
                <a:ea typeface="Calibri" pitchFamily="34" charset="-122"/>
                <a:cs typeface="Calibri" pitchFamily="34" charset="-120"/>
              </a:rPr>
              <a:t> — any of them a lever you want set differently?</a:t>
            </a:r>
            <a:endParaRPr lang="en-US" sz="1250" dirty="0"/>
          </a:p>
        </p:txBody>
      </p:sp>
      <p:sp>
        <p:nvSpPr>
          <p:cNvPr id="11" name="Shape 8"/>
          <p:cNvSpPr/>
          <p:nvPr/>
        </p:nvSpPr>
        <p:spPr>
          <a:xfrm>
            <a:off x="8083296" y="1554480"/>
            <a:ext cx="3557016" cy="1828800"/>
          </a:xfrm>
          <a:prstGeom prst="roundRect">
            <a:avLst>
              <a:gd name="adj" fmla="val 3000"/>
            </a:avLst>
          </a:prstGeom>
          <a:solidFill>
            <a:srgbClr val="161B22"/>
          </a:solidFill>
          <a:ln w="12700">
            <a:solidFill>
              <a:srgbClr val="30363D"/>
            </a:solidFill>
            <a:prstDash val="solid"/>
          </a:ln>
        </p:spPr>
      </p:sp>
      <p:sp>
        <p:nvSpPr>
          <p:cNvPr id="12" name="Text 9"/>
          <p:cNvSpPr txBox="1"/>
          <p:nvPr/>
        </p:nvSpPr>
        <p:spPr>
          <a:xfrm>
            <a:off x="8321040" y="1700784"/>
            <a:ext cx="3081528" cy="153619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Parameter maps</a:t>
            </a:r>
            <a:endParaRPr lang="en-US" sz="1250" dirty="0"/>
          </a:p>
          <a:p>
            <a:pPr indent="0" marL="0">
              <a:buNone/>
            </a:pPr>
            <a:r>
              <a:rPr lang="en-US" sz="1200" b="1" dirty="0">
                <a:solidFill>
                  <a:srgbClr val="4493F8"/>
                </a:solidFill>
                <a:latin typeface="Calibri" pitchFamily="34" charset="0"/>
                <a:ea typeface="Calibri" pitchFamily="34" charset="-122"/>
                <a:cs typeface="Calibri" pitchFamily="34" charset="-120"/>
              </a:rPr>
              <a:t>2°</a:t>
            </a:r>
            <a:r>
              <a:rPr lang="en-US" sz="1200" dirty="0">
                <a:solidFill>
                  <a:srgbClr val="E6EDF3"/>
                </a:solidFill>
                <a:latin typeface="Calibri" pitchFamily="34" charset="0"/>
                <a:ea typeface="Calibri" pitchFamily="34" charset="-122"/>
                <a:cs typeface="Calibri" pitchFamily="34" charset="-120"/>
              </a:rPr>
              <a:t> grids; 1° doubles resolution at 4× the (small) parameter cost</a:t>
            </a:r>
            <a:endParaRPr lang="en-US" sz="1250" dirty="0"/>
          </a:p>
        </p:txBody>
      </p:sp>
      <p:sp>
        <p:nvSpPr>
          <p:cNvPr id="13" name="Shape 10"/>
          <p:cNvSpPr/>
          <p:nvPr/>
        </p:nvSpPr>
        <p:spPr>
          <a:xfrm>
            <a:off x="548640" y="3703320"/>
            <a:ext cx="3557016" cy="1828800"/>
          </a:xfrm>
          <a:prstGeom prst="roundRect">
            <a:avLst>
              <a:gd name="adj" fmla="val 3000"/>
            </a:avLst>
          </a:prstGeom>
          <a:solidFill>
            <a:srgbClr val="161B22"/>
          </a:solidFill>
          <a:ln w="12700">
            <a:solidFill>
              <a:srgbClr val="30363D"/>
            </a:solidFill>
            <a:prstDash val="solid"/>
          </a:ln>
        </p:spPr>
      </p:sp>
      <p:sp>
        <p:nvSpPr>
          <p:cNvPr id="14" name="Text 11"/>
          <p:cNvSpPr txBox="1"/>
          <p:nvPr/>
        </p:nvSpPr>
        <p:spPr>
          <a:xfrm>
            <a:off x="786384" y="3849624"/>
            <a:ext cx="3081528" cy="153619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Argo depth groups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Split at </a:t>
            </a:r>
            <a:r>
              <a:rPr lang="en-US" sz="1200" b="1" dirty="0">
                <a:solidFill>
                  <a:srgbClr val="4493F8"/>
                </a:solidFill>
                <a:latin typeface="Calibri" pitchFamily="34" charset="0"/>
                <a:ea typeface="Calibri" pitchFamily="34" charset="-122"/>
                <a:cs typeface="Calibri" pitchFamily="34" charset="-120"/>
              </a:rPr>
              <a:t>300 and 1000 dbar</a:t>
            </a:r>
            <a:r>
              <a:rPr lang="en-US" sz="1200" dirty="0">
                <a:solidFill>
                  <a:srgbClr val="E6EDF3"/>
                </a:solidFill>
                <a:latin typeface="Calibri" pitchFamily="34" charset="0"/>
                <a:ea typeface="Calibri" pitchFamily="34" charset="-122"/>
                <a:cs typeface="Calibri" pitchFamily="34" charset="-120"/>
              </a:rPr>
              <a:t> for the Argo cones</a:t>
            </a:r>
            <a:endParaRPr lang="en-US" sz="1250" dirty="0"/>
          </a:p>
        </p:txBody>
      </p:sp>
      <p:sp>
        <p:nvSpPr>
          <p:cNvPr id="15" name="Shape 12"/>
          <p:cNvSpPr/>
          <p:nvPr/>
        </p:nvSpPr>
        <p:spPr>
          <a:xfrm>
            <a:off x="4315968" y="3703320"/>
            <a:ext cx="3557016" cy="1828800"/>
          </a:xfrm>
          <a:prstGeom prst="roundRect">
            <a:avLst>
              <a:gd name="adj" fmla="val 3000"/>
            </a:avLst>
          </a:prstGeom>
          <a:solidFill>
            <a:srgbClr val="161B22"/>
          </a:solidFill>
          <a:ln w="12700">
            <a:solidFill>
              <a:srgbClr val="30363D"/>
            </a:solidFill>
            <a:prstDash val="solid"/>
          </a:ln>
        </p:spPr>
      </p:sp>
      <p:sp>
        <p:nvSpPr>
          <p:cNvPr id="16" name="Text 13"/>
          <p:cNvSpPr txBox="1"/>
          <p:nvPr/>
        </p:nvSpPr>
        <p:spPr>
          <a:xfrm>
            <a:off x="4553712" y="3849624"/>
            <a:ext cx="3081528" cy="153619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ring</a:t>
            </a:r>
            <a:endParaRPr lang="en-US" sz="1250" dirty="0"/>
          </a:p>
          <a:p>
            <a:pPr indent="0" marL="0">
              <a:buNone/>
            </a:pPr>
            <a:r>
              <a:rPr lang="en-US" sz="1200" b="1" dirty="0">
                <a:solidFill>
                  <a:srgbClr val="4493F8"/>
                </a:solidFill>
                <a:latin typeface="Calibri" pitchFamily="34" charset="0"/>
                <a:ea typeface="Calibri" pitchFamily="34" charset="-122"/>
                <a:cs typeface="Calibri" pitchFamily="34" charset="-120"/>
              </a:rPr>
              <a:t>Kept</a:t>
            </a:r>
            <a:r>
              <a:rPr lang="en-US" sz="1200" dirty="0">
                <a:solidFill>
                  <a:srgbClr val="E6EDF3"/>
                </a:solidFill>
                <a:latin typeface="Calibri" pitchFamily="34" charset="0"/>
                <a:ea typeface="Calibri" pitchFamily="34" charset="-122"/>
                <a:cs typeface="Calibri" pitchFamily="34" charset="-120"/>
              </a:rPr>
              <a:t> at every lag (24 tokens per lag per group); dropping it halves the past-cone tokens but restores v2's “too narrow” risk</a:t>
            </a:r>
            <a:endParaRPr lang="en-US" sz="1250" dirty="0"/>
          </a:p>
        </p:txBody>
      </p:sp>
      <p:sp>
        <p:nvSpPr>
          <p:cNvPr id="17" name="Shape 14"/>
          <p:cNvSpPr/>
          <p:nvPr/>
        </p:nvSpPr>
        <p:spPr>
          <a:xfrm>
            <a:off x="8083296" y="3703320"/>
            <a:ext cx="3557016" cy="1828800"/>
          </a:xfrm>
          <a:prstGeom prst="roundRect">
            <a:avLst>
              <a:gd name="adj" fmla="val 3000"/>
            </a:avLst>
          </a:prstGeom>
          <a:solidFill>
            <a:srgbClr val="161B22"/>
          </a:solidFill>
          <a:ln w="12700">
            <a:solidFill>
              <a:srgbClr val="30363D"/>
            </a:solidFill>
            <a:prstDash val="solid"/>
          </a:ln>
        </p:spPr>
      </p:sp>
      <p:sp>
        <p:nvSpPr>
          <p:cNvPr id="18" name="Text 15"/>
          <p:cNvSpPr txBox="1"/>
          <p:nvPr/>
        </p:nvSpPr>
        <p:spPr>
          <a:xfrm>
            <a:off x="8321040" y="3849624"/>
            <a:ext cx="3081528" cy="153619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Seasonal drift term</a:t>
            </a:r>
            <a:endParaRPr lang="en-US" sz="1250" dirty="0"/>
          </a:p>
          <a:p>
            <a:pPr indent="0" marL="0">
              <a:buNone/>
            </a:pPr>
            <a:r>
              <a:rPr lang="en-US" sz="1200" b="1" dirty="0">
                <a:solidFill>
                  <a:srgbClr val="4493F8"/>
                </a:solidFill>
                <a:latin typeface="Calibri" pitchFamily="34" charset="0"/>
                <a:ea typeface="Calibri" pitchFamily="34" charset="-122"/>
                <a:cs typeface="Calibri" pitchFamily="34" charset="-120"/>
              </a:rPr>
              <a:t>Deferred</a:t>
            </a:r>
            <a:r>
              <a:rPr lang="en-US" sz="1200" dirty="0">
                <a:solidFill>
                  <a:srgbClr val="E6EDF3"/>
                </a:solidFill>
                <a:latin typeface="Calibri" pitchFamily="34" charset="0"/>
                <a:ea typeface="Calibri" pitchFamily="34" charset="-122"/>
                <a:cs typeface="Calibri" pitchFamily="34" charset="-120"/>
              </a:rPr>
              <a:t> to phase 2; or in from the start (monsoon regions)?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Sources</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the record this deck stands on</a:t>
            </a:r>
            <a:endParaRPr lang="en-US" sz="1250" dirty="0"/>
          </a:p>
        </p:txBody>
      </p:sp>
      <p:sp>
        <p:nvSpPr>
          <p:cNvPr id="9" name="Text 6"/>
          <p:cNvSpPr txBox="1"/>
          <p:nvPr/>
        </p:nvSpPr>
        <p:spPr>
          <a:xfrm>
            <a:off x="804672" y="2011680"/>
            <a:ext cx="6391656" cy="3493008"/>
          </a:xfrm>
          <a:prstGeom prst="rect">
            <a:avLst/>
          </a:prstGeom>
          <a:noFill/>
          <a:ln/>
        </p:spPr>
        <p:txBody>
          <a:bodyPr wrap="square" lIns="0" tIns="0" rIns="0" bIns="0" rtlCol="0" anchor="t"/>
          <a:lstStyle/>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E-069 · Two stencils, one cone</a:t>
            </a:r>
            <a:r>
              <a:rPr lang="en-US" sz="1100" dirty="0">
                <a:solidFill>
                  <a:srgbClr val="E6EDF3"/>
                </a:solidFill>
                <a:latin typeface="Calibri" pitchFamily="34" charset="0"/>
                <a:ea typeface="Calibri" pitchFamily="34" charset="-122"/>
                <a:cs typeface="Calibri" pitchFamily="34" charset="-120"/>
              </a:rPr>
              <a:t> — ml/plans/E069_cone_codec.md; results in ml/EXPERIMENTS.md#e-069 (five seeds, H1 refuted; what history buys)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E-069b masking-plan fix</a:t>
            </a:r>
            <a:r>
              <a:rPr lang="en-US" sz="1100" dirty="0">
                <a:solidFill>
                  <a:srgbClr val="E6EDF3"/>
                </a:solidFill>
                <a:latin typeface="Calibri" pitchFamily="34" charset="0"/>
                <a:ea typeface="Calibri" pitchFamily="34" charset="-122"/>
                <a:cs typeface="Calibri" pitchFamily="34" charset="-120"/>
              </a:rPr>
              <a:t> — ml/cone_codec.py::default_plan (chan_drop_scope, anchor_hidden_only), ml/train_cone.py</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E-071 · Cone v2</a:t>
            </a:r>
            <a:r>
              <a:rPr lang="en-US" sz="1100" dirty="0">
                <a:solidFill>
                  <a:srgbClr val="E6EDF3"/>
                </a:solidFill>
                <a:latin typeface="Calibri" pitchFamily="34" charset="0"/>
                <a:ea typeface="Calibri" pitchFamily="34" charset="-122"/>
                <a:cs typeface="Calibri" pitchFamily="34" charset="-120"/>
              </a:rPr>
              <a:t> — ml/plans/E071_cone_v2.md (§3 profile tokens, §4 design speeds and log-radial dots, §4.5 the split in time, §6.4 per-location tokens)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E-076 · Family 8 nearest observations</a:t>
            </a:r>
            <a:r>
              <a:rPr lang="en-US" sz="1100" dirty="0">
                <a:solidFill>
                  <a:srgbClr val="E6EDF3"/>
                </a:solidFill>
                <a:latin typeface="Calibri" pitchFamily="34" charset="0"/>
                <a:ea typeface="Calibri" pitchFamily="34" charset="-122"/>
                <a:cs typeface="Calibri" pitchFamily="34" charset="-120"/>
              </a:rPr>
              <a:t> — ml/plans/E076_family8_nearest_observations.md (the (value, Δx, Δy, Δt, n_R) token)</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The geometry as built</a:t>
            </a:r>
            <a:r>
              <a:rPr lang="en-US" sz="1100" dirty="0">
                <a:solidFill>
                  <a:srgbClr val="E6EDF3"/>
                </a:solidFill>
                <a:latin typeface="Calibri" pitchFamily="34" charset="0"/>
                <a:ea typeface="Calibri" pitchFamily="34" charset="-122"/>
                <a:cs typeface="Calibri" pitchFamily="34" charset="-120"/>
              </a:rPr>
              <a:t> — ml/cone.py (FAMILIES, reach_km, slots, inner_dots, outer_spiral, coverage_report)</a:t>
            </a:r>
            <a:endParaRPr lang="en-US" sz="1100" dirty="0"/>
          </a:p>
        </p:txBody>
      </p:sp>
      <p:sp>
        <p:nvSpPr>
          <p:cNvPr id="10" name="Shape 7"/>
          <p:cNvSpPr/>
          <p:nvPr/>
        </p:nvSpPr>
        <p:spPr>
          <a:xfrm>
            <a:off x="7635240" y="1463040"/>
            <a:ext cx="4005072" cy="4206240"/>
          </a:xfrm>
          <a:prstGeom prst="roundRect">
            <a:avLst>
              <a:gd name="adj" fmla="val 1370"/>
            </a:avLst>
          </a:prstGeom>
          <a:solidFill>
            <a:srgbClr val="161B22"/>
          </a:solidFill>
          <a:ln w="12700">
            <a:solidFill>
              <a:srgbClr val="30363D"/>
            </a:solidFill>
            <a:prstDash val="solid"/>
          </a:ln>
        </p:spPr>
      </p:sp>
      <p:sp>
        <p:nvSpPr>
          <p:cNvPr id="11" name="Text 8"/>
          <p:cNvSpPr txBox="1"/>
          <p:nvPr/>
        </p:nvSpPr>
        <p:spPr>
          <a:xfrm>
            <a:off x="7891272" y="1664208"/>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and on</a:t>
            </a:r>
            <a:endParaRPr lang="en-US" sz="1250" dirty="0"/>
          </a:p>
        </p:txBody>
      </p:sp>
      <p:sp>
        <p:nvSpPr>
          <p:cNvPr id="12" name="Text 9"/>
          <p:cNvSpPr txBox="1"/>
          <p:nvPr/>
        </p:nvSpPr>
        <p:spPr>
          <a:xfrm>
            <a:off x="7891272" y="2011680"/>
            <a:ext cx="3493008" cy="3493008"/>
          </a:xfrm>
          <a:prstGeom prst="rect">
            <a:avLst/>
          </a:prstGeom>
          <a:noFill/>
          <a:ln/>
        </p:spPr>
        <p:txBody>
          <a:bodyPr wrap="square" lIns="0" tIns="0" rIns="0" bIns="0" rtlCol="0" anchor="t"/>
          <a:lstStyle/>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Deformable sampling:</a:t>
            </a:r>
            <a:r>
              <a:rPr lang="en-US" sz="1100" dirty="0">
                <a:solidFill>
                  <a:srgbClr val="E6EDF3"/>
                </a:solidFill>
                <a:latin typeface="Calibri" pitchFamily="34" charset="0"/>
                <a:ea typeface="Calibri" pitchFamily="34" charset="-122"/>
                <a:cs typeface="Calibri" pitchFamily="34" charset="-120"/>
              </a:rPr>
              <a:t> Dai et al. 2017, Deformable Convolutional Networks; Jaderberg et al. 2015, Spatial Transformer Networks; Zhu et al. 2021, Deformable DETR</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Currents:</a:t>
            </a:r>
            <a:r>
              <a:rPr lang="en-US" sz="1100" dirty="0">
                <a:solidFill>
                  <a:srgbClr val="E6EDF3"/>
                </a:solidFill>
                <a:latin typeface="Calibri" pitchFamily="34" charset="0"/>
                <a:ea typeface="Calibri" pitchFamily="34" charset="-122"/>
                <a:cs typeface="Calibri" pitchFamily="34" charset="-120"/>
              </a:rPr>
              <a:t> E-071 §4.1's table (Somali 3.6 m/s, Gulf Stream ~2.5, DWBC 0.02–0.1 m/s); RAPID 26.5°N array for the limb directions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dc:title>
  <dc:subject>PptxGenJS Presentation</dc:subject>
  <dc:creator>Deck builder</dc:creator>
  <cp:lastModifiedBy>Deck builder</cp:lastModifiedBy>
  <cp:revision>1</cp:revision>
  <dcterms:created xsi:type="dcterms:W3CDTF">2026-09-15T10:07:18Z</dcterms:created>
  <dcterms:modified xsi:type="dcterms:W3CDTF">2026-09-15T10:07:18Z</dcterms:modified>
</cp:coreProperties>
</file>