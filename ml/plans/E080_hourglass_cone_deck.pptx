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stretches and shifts, with one direction shared by everything a flow carries and one scale per channel, read through a soft aperture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in its revision-3 form. The cone at a given lag is a Gaussian footprint: a centre, and a covariance that says how wide it is and in which direction it is stretched. The dots are the fixed sunflower — the same twenty-four-point pattern the project has used since E-026, the experiment that introduced the sunflower stencil for stage two — pushed through that covariance, so the pattern is squashed, stretched and shifted but never re-invented. One small change from earlier revisions, prompted by Chris asking whether time is sampled the same way: it is not a three-dimensional sunflower — time is sampled densely, one slice per pentad, because five days is the finest cadence the tensor has and the thirty-day window is the codec's whole job under cone v2's split — but a stack of identical slices repeats the same bearings at every lag, and consecutive lags sit closer together than the dots do, which is a redundant sampling of the cone's volume. So the sunflower's phase now advances by the golden angle from one lag to the next: the slices interleave, the cone is covered like a three-dimensional Fibonacci lattice, and it costs nothing. Eight numbers per region and channel group define it. Two are the drift: where the centre moves for each pentad you step back, the arrow toward the source, stored as a fraction of the design speed so it can never exceed it. Three are the waist ellipse, and here the storage matters: instead of an angle and two radii, we store the matrix logarithm of the covariance — a symmetric two-by-two matrix whose entries are in log-kilometres. Its trace is the overall size; its traceless part is the log of the aspect ratio times the double-angle phasor, cos two theta and sin two theta. That representation has no angle to wrap around at 180 degrees, treats a circle as the natural zero, and — the point the reviewer raised — is scale-free. Three more numbers are the velocity-spread ellipse, which says how fast the footprint widens per pentad; a footprint whose standard deviation grows linearly with lag is exactly the reach-grows-with-lag rule the geometry module already encodes. Why log form, in one sentence: the Adam optimiser moves every parameter by roughly one learning rate per step in that parameter's own units, so a radius stored in kilometres moves a fixed number of kilometres — which freezes a wide aperture and makes a narrow one jitter — while a log-radius moves by a fixed fraction of its current size, the same at every scale. The future cone is the mirror image with the same covariance, the anchor's own cell is always included, and the one thing this slide leaves out — that channels need different sizes —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Chris asked: don't we need a scale for each channel? Yes — and the split is the whole design. What is shared is the direction: the drift toward the source and the elongation of the footprint along the jet. Those are properties of the flow. Temperature, salinity, sea-surface height and the currents themselves are all carried by the same water, so giving each of them its own arrow would multiply the parameters and let the model learn different "upstreams" for quantities that arrive from the same place. What is per channel is the scale. The current geometry module — the file `ml/cone.py`, whose `FAMILIES` table assigns every channel a propagation speed, a memory and a correlation length — already says the channels differ: wind stress reads five hundred kilometres at the two lags inside its ten-day memory and nothing beyond, the ocean channels grow at a hundred and thirty kilometres per pentad, sea-surface temperature and mixed-layer depth are L-shaped — wide at lags zero and one where the atmosphere stirs them, then the ocean's slow growth — and land is a flat four hundred kilometres because soil does not advect. So each channel gets a log-scale offset that inflates or shrinks the shared ellipse without turning it — two of them for the L-shaped channels, one for the first two lags and one beyond — and, since revision 3.1, a memory: a time constant that says how far back the channel is worth reading, applied as an exponential weight over lag. That second number is the same table's other column made learnable: wind stress today is hard-coded to read lags zero and one and nothing beyond, because its memory is ten days; with a learned memory that cut-off is a starting value, not a rule. Both start at the values the geometry module already uses, so at step zero every channel reads exactly the reach and the lags it reads today. In the picture: the left panel is one dot set with three apertures of different size but the same centre and orientation; the right panel shows the same dots weighted for two channels — for the currents only the inner dots count, for sea-surface temperature at lag one more of them do. How the weighting happens, and why it costs no tokens,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that makes a per-channel scale free is the per-location token, which cone v2 introduced in its section 6.4: instead of one token per channel per dot — the E-069 layout, seven hundred and six dot tokens for a handful of channels — one token per dot that carries every channel of the group as a vector of values and a vector of observed flags. Each channel's entries in that vector are multiplied by that channel's own aperture weight at that dot before the token is projected into the model. The weight has two factors. In space it is a Gaussian of the dot's offset under the channel's covariance: near the centre it is one, far outside the channel's aperture it is essentially zero. In time it is an exponential decay over lag with the channel's own memory, so a channel with a ten-day memory reads lag four at about fourteen percent — the hard "lags zero and one only" rule for wind stress, turned into a soft weight the model can move. So a dot four hundred kilometres from the anchor at lag one is read by the currents at about thirty percent — their initial aperture is two hundred and sixty kilometres — and by sea-surface temperature at about seventy percent, because its initial aperture at that lag is five hundred. Same token, same read, two different weights. No new tokens, no new reads, one elementwise multiply per token. And because the weight is a smooth function of the shared shape, the shared drift and the channel's own scale and memory, the loss reaches all four through every dot at once — a far better gradient than the four-neighbouring-cells one that reading at interpolated positions would give, and the reason the next slide can let the geometry learn without the data loader knowing where it currently is. One exception, stated once: the fixed far ring of cone v2 is never gated. It is the safety net, and a safety net the model can switch off is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without the data loader having to know where the geometry currently is? In two phases. In the first, the candidate dots are fixed: the log-radial set cone v2 already specified, thirty-six per lag per group out to the design reach, plus the anchor's own column. Because the set is fixed, the sampler reads the same cells for a given region every time — regular, cacheable reads that never depend on what the model has learned so far, which is what the reviewer's comment B was rightly worried about. What the model learns is how much each candidate counts, per channel, through the aperture weights of the previous slide; and because every candidate contributes to those weights, the gradient on the ellipse, the drift and the per-channel offsets is informed by the whole candidate set at once, not by the four cells nearest each dot. In the second phase the geometry is hardened: every couple of thousand steps the dense dot table for each region is regenerated from the current ellipses — the warped sunflower of slide 8 — and the loader swaps to the new table at that boundary, so within an epoch the reads are as regular as before. The far ring stays fixed as the safety net, and the apertures stay on, because they are what carries the per-channel scale. This replaces revision 1's plan of reading at continuous positions by interpolation, which would have made the loader's read pattern depend on the live weights and whose gradient only ever saw four neighbouring cells; it also removes the pre-averaged pyramid that plan needed. One practical detail from the deformable-attention literature: the geometry parameters get their own learning-rate multiplier, ten times the codec's to start, recorded in the run so it can be tuned. And nothing here touches the evaluation geometry, which stays frozen to the fixed hourglass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eight numbers live? On a one-degree map. A one-degree grid over the globe has about sixty-five thousand cells; an anchor takes the blend of the four cells around it, so the geometry varies smoothly and never jumps at a cell edge. One degree is not a round number picked for comfort: the currents that carry the overturning are about a hundred kilometres wide — the Florida Current runs through an eighty-kilometre strait — and a ten-degree cell would average the Gulf Stream with the water flowing back the other way beside it and learn an arrow of nearly zero. The concern with a fine map is noise in cells that see little data, at the ice edge or along coasts. The answer is a hierarchical prior rather than a coarser map: every map is a coarse ten-degree map plus a one-degree residual, and the residual is shrunk toward zero and smoothed toward its neighbours, so a cell with little evidence inherits the arrow of its region. Even so, each one-degree cell sees about fifty thousand anchor-pentads for its eight numbers. There is one map per channel group, because what moves a signal decides where its source is: the ocean surface group, the atmosphere group with drift only inside its ten-day memory, and the land group, which does not advect and learns only axes and angle. Argo gets no map at all. Its channels arrive as the nearest profile tokens, placed where the floats actually were, each carrying its own offset, age and depth — there is no ellipse there to learn, and the earlier draft's three depth maps were a leftover from the column-only Argo of E-069. The physics that motivated them still matters — at the RAPID line the upper limb flows north and the deep boundary current south — but a token that carries its own depth and offset lets attention weight deep tokens from the north and surface tokens from the south by itself. That becomes a diagnostic rather than a geometry. All told the maps hold about one and a half million numbers, half of them live, plus a hundred or so per-channel scales and memories that are global rather than per region, and none of it costs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shapes are stored as logarithms, so the optimiser moves them by fractions rather than by kilometres, and the floors — no waist narrower than one cell, no spread faster than the design speed — are soft offsets in that log space rather than hard clips that would kill the gradient. The one-degree residual is shrunk and smoothed under a single prior weight that the run records.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and it is never gated: alongside the learned ellipse, every lag keeps one fixed ring of twenty-four dots at log-spaced radii to the far side of the planet, read at full weight. That is the point of v2 — a cone that is too narrow silently asserts that a driver could not have arrived — and the learned ellipse adds direction and density on top of it rather than replacing it. And the initial values reproduce the fixed hourglass exactly — the measured anisotropy for the waist, the geometry module's speed for the spread, its reach table for each channel's scale —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The deep ocean is read differently, because Argo has no ellipse: the anchor sees the nearest profiles within the search radius, each token saying where it was, how old it is and how deep. The Deep Western Boundary Current runs the other way along the continental slope, so if the model has understood the deep ocean, its attention on deep profiles should sit north of the anchor, toward the Grand Banks, while its attention on shallow profiles sits south. Neither is programmed. They are what we expect to see if the mechanism works — a geometry check for the surface, an attention check for the deep — and they are written down now, before any run, so the check cannot be shaped by the result. The world-ocean version of the surface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A fourth guard follows from the gate design: the learned aperture weights the inputs only, never the loss — the targets in phase one are the fixed mirrored candidate set with fixed weights, so a model that narrows its aperture gains nothing on the questions it is scored on.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in the gate phase, six lags of one anchor column and thirty-six fixed candidates for four channel groups — about nine hundred tokens — and after hardening six lags of the column, twenty-four ellipse dots and twenty-four ring dots — about twelve hundred. Argo comes as the twenty-six profile tokens cone v2 already specified. Targets are drawn as two hundred and fifty-six decoder queries per example, as now. The geometry adds about one and a half million parameters, half of them live and none of them costing compute, and no new per-tensor artefact — the pyramid of revision 1 is gone, and the re-baked dot tables are small. Because the encoder is a Perceiver, its cost is linear in the token count, so this is between one point two and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 the surface drift read from the map, the deep direction read from where the model puts its attention among the profile tokens;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 And the first ablation after the three arms is the one the reviewer and I disagree on: the same learned arm without the far ring, which measures whether the ring pays for its tokens rather than arguing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aperture gate in the codec: per-channel weights on the candidate tokens, with two tests — an infinite aperture must reproduce the ungated model exactly, and the gradient of the loss with respect to every geometry number must match finite differences. Fourth the parameter maps and the harden step — coarse plus residual, the matrix-log storage, the log-space floors, the prior, the mirror, the stop-gradient, the control initialisation, and the sampler's dot table as a per-region lookup that is only ever swapped at an epoch boundary — with a test that the table re-baked at initialisation equals the fixed dots and that a swap never changes a read inside the current epoch. Fifth the read-outs in the trainer, including exporting the learned drift maps to the app so the Cones tab can draw them, and the attention-by-depth diagnostic at the western-boundary anchors.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choices are settled: the maps are at one degree with the coarse-plus-residual prior, and Argo keeps its nearest-profile tokens with no ellipse. Seven remain, each one line to change. The future cone goes to six pentads to mirror the past, where E-069 only asked for one and two. The task shares are a first guess. The strength of the prior on the fine map is one number, and the honest way to set it is by held-out loss on the training years rather than by hand — but the first arm may simply fix it. The v2 safety ring is kept at every lag, which is the safe and more expensive choice. The seasonal term on the drift waits for phase two. The harden interval and the geometry learning-rate multiplier are first guesses that every run records. And time stays dense inside the thirty-day window, one slice per pentad; a log-spaced time ramp that would stretch six slices over sixty-five days is listed as an ablation because it would move the codec's window into stage two's territory, which cone v2 deliberately separated in time.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borrows two things from the deformable-attention literature — soft sampling weights and a separate learning rate for the geometry — and the scale-free storage rests on how the Adam optimiser sizes its steps; the matrix-logarithm form of an ellipse is textbook linear algebra.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deck on one slide, for anyone who reads nothing else, and it is where the result goes when there is one. The left half is the argument in four steps. First, the design of the input and the targets: the present is a waist of about thirteen cells rather than a single point, because gradients need neighbours; the past is read at every pentad of the last thirty days; the future is a mirror image of the past cone, sampled identically and used only as targets; and each training example draws one of four tasks — forecast from everything, forecast from the present alone, nowcast the hidden present from the past, or fill in — under the three rules the E-069 experiment taught us (E-069 is the cone codec as built and measured at five seeds; the rules are that a target must be knowable from the input, must not be a copy of an input, and every loss family is scored against a predict-the-mean bar of its own). Second, the cone the model shapes: a fixed sunflower pattern, pushed through eight learned numbers per one-degree cell and channel group — a drift toward the source and two ellipses, stored as matrix logarithms so nothing is in kilometres and no angle wraps; the direction is shared by everything the water carries, while each channel has its own scale and its own memory, applied as a weight over shared tokens so it costs nothing; and the geometry is learned first through a soft weighting over fixed dots and only then baked into the dot table, so the data loader never has to know where the geometry currently is. Third, the guards, which exist because a learnable cone can learn to ask easy questions: the prior, the floors, the mirror tie, the stop-gradient on target positions, the frozen evaluation geometry, the ungated safety ring, and the rule that the aperture never reaches the loss weights. Fourth, the experiment as pre-registered: three arms — fixed, learned, and learned but primed with the climatological current reversed — on the global family 7.2 tensor (the first tensor covering the whole globe at quarter-degree resolution and five-day cadence, in its 7.2 build), the seven-million-parameter codec, twenty thousand steps, the frozen protocol with its held-out years, three seeds each; five read-outs; and the verdict rule written before any run. Two pictures carry the argument for a reader who has not seen the deck: the hourglass in space-time — the past cone narrowing to the waist and opening again into the mirrored future cone — and the warped sunflower, the fixed dot pattern first stretched into an ellipse and then drifting lag by lag toward the source. The third panel is deliberately empty. It is the space for the actual result — the forecast loss per lead for the three arms, the learned drift against the upstream direction, and the western-boundary depth check — and it stays empty until a run has produced those numbers, so that this slide can never show a picture of what we expected in place of what we measured. When the figure lands, the caption under the panel says which read-outs it shows, and the verdict line on the left is read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blauewelt/earth/blob/main/ml/temporal.py" TargetMode="External"/><Relationship Id="rId3" Type="http://schemas.openxmlformats.org/officeDocument/2006/relationships/hyperlink" Target="https://github.com/blauewelt/earth/blob/main/ml/cone.py"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blauewelt.github.io/earth/docs.html?f=ml/plans/E071_cone_v2.md"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arxiv.org/abs/2010.041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blauewelt.github.io/earth/docs.html?f=ml/plans/E076_family8_nearest_observations.m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blauewelt/earth/blob/main/ml/measure_flow_anisotropy.py" TargetMode="External"/><Relationship Id="rId2" Type="http://schemas.openxmlformats.org/officeDocument/2006/relationships/hyperlink" Target="https://github.com/blauewelt/earth/blob/main/ml/cone.py"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lauewelt.github.io/earth/docs.html?f=ml/plans/E069_cone_codec.md" TargetMode="External"/><Relationship Id="rId2" Type="http://schemas.openxmlformats.org/officeDocument/2006/relationships/hyperlink" Target="https://blauewelt.github.io/earth/docs.html?f=ml/EXPERIMENTS.md#e-069" TargetMode="External"/><Relationship Id="rId3" Type="http://schemas.openxmlformats.org/officeDocument/2006/relationships/hyperlink" Target="https://github.com/blauewelt/earth/blob/main/ml/cone_codec.py" TargetMode="External"/><Relationship Id="rId4" Type="http://schemas.openxmlformats.org/officeDocument/2006/relationships/hyperlink" Target="https://github.com/blauewelt/earth/blob/main/ml/train_cone.py" TargetMode="External"/><Relationship Id="rId5" Type="http://schemas.openxmlformats.org/officeDocument/2006/relationships/hyperlink" Target="https://blauewelt.github.io/earth/docs.html?f=ml/plans/E071_cone_v2.md" TargetMode="External"/><Relationship Id="rId6" Type="http://schemas.openxmlformats.org/officeDocument/2006/relationships/hyperlink" Target="https://blauewelt.github.io/earth/docs.html?f=ml/plans/E076_family8_nearest_observations.md" TargetMode="External"/><Relationship Id="rId7" Type="http://schemas.openxmlformats.org/officeDocument/2006/relationships/hyperlink" Target="https://github.com/blauewelt/earth/blob/main/ml/cone.py" TargetMode="External"/><Relationship Id="rId8" Type="http://schemas.openxmlformats.org/officeDocument/2006/relationships/hyperlink" Target="https://github.com/blauewelt/earth/blob/main/ml/temporal.py" TargetMode="External"/><Relationship Id="rId9" Type="http://schemas.openxmlformats.org/officeDocument/2006/relationships/hyperlink" Target="https://arxiv.org/abs/2010.04159" TargetMode="External"/><Relationship Id="rId10" Type="http://schemas.openxmlformats.org/officeDocument/2006/relationships/hyperlink" Target="https://arxiv.org/abs/1412.6980" TargetMode="External"/><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blauewelt.github.io/earth/docs.html?f=ml/plans/E070_family7_build.md" TargetMode="External"/><Relationship Id="rId1" Type="http://schemas.openxmlformats.org/officeDocument/2006/relationships/image" Target="../media/image-21-1.png"/><Relationship Id="rId2" Type="http://schemas.openxmlformats.org/officeDocument/2006/relationships/image" Target="../media/image-21-2.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 — one direction per flow, one scale per channel.</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Eight numbers per region shape the whole hourglass — and none of them is in kilometres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1179576" y="1316736"/>
            <a:ext cx="9829800" cy="2331720"/>
          </a:xfrm>
          <a:prstGeom prst="rect">
            <a:avLst/>
          </a:prstGeom>
        </p:spPr>
      </p:pic>
      <p:sp>
        <p:nvSpPr>
          <p:cNvPr id="8" name="Shape 4"/>
          <p:cNvSpPr/>
          <p:nvPr/>
        </p:nvSpPr>
        <p:spPr>
          <a:xfrm>
            <a:off x="548640" y="3721608"/>
            <a:ext cx="11091672" cy="731520"/>
          </a:xfrm>
          <a:prstGeom prst="roundRect">
            <a:avLst>
              <a:gd name="adj" fmla="val 7500"/>
            </a:avLst>
          </a:prstGeom>
          <a:solidFill>
            <a:srgbClr val="11202F"/>
          </a:solidFill>
          <a:ln w="12700">
            <a:solidFill>
              <a:srgbClr val="30363D"/>
            </a:solidFill>
            <a:prstDash val="solid"/>
          </a:ln>
        </p:spPr>
      </p:sp>
      <p:sp>
        <p:nvSpPr>
          <p:cNvPr id="9" name="Text 5"/>
          <p:cNvSpPr txBox="1"/>
          <p:nvPr/>
        </p:nvSpPr>
        <p:spPr>
          <a:xfrm>
            <a:off x="822960" y="3794760"/>
            <a:ext cx="10543032" cy="219456"/>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the past cone at lag ℓ is a Gaussian footprint centred at anchor + ℓ·d with covariance Σ(ℓ), and the dots are the canonical sunflower mapped through it:</a:t>
            </a:r>
            <a:endParaRPr lang="en-US" sz="1050" dirty="0"/>
          </a:p>
        </p:txBody>
      </p:sp>
      <p:sp>
        <p:nvSpPr>
          <p:cNvPr id="10" name="Text 6"/>
          <p:cNvSpPr txBox="1"/>
          <p:nvPr/>
        </p:nvSpPr>
        <p:spPr>
          <a:xfrm>
            <a:off x="822960" y="4032504"/>
            <a:ext cx="10543032" cy="365760"/>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Σ(ℓ) = Σ</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a:t>
            </a:r>
            <a:r>
              <a:rPr lang="en-US" sz="1500" baseline="30000" dirty="0">
                <a:solidFill>
                  <a:srgbClr val="E6EDF3"/>
                </a:solidFill>
                <a:latin typeface="Cambria" pitchFamily="34" charset="0"/>
                <a:ea typeface="Cambria" pitchFamily="34" charset="-122"/>
                <a:cs typeface="Cambria" pitchFamily="34" charset="-120"/>
              </a:rPr>
              <a:t>2</a:t>
            </a:r>
            <a:r>
              <a:rPr lang="en-US" sz="1500" dirty="0">
                <a:solidFill>
                  <a:srgbClr val="E6EDF3"/>
                </a:solidFill>
                <a:latin typeface="Cambria" pitchFamily="34" charset="0"/>
                <a:ea typeface="Cambria" pitchFamily="34" charset="-122"/>
                <a:cs typeface="Cambria" pitchFamily="34" charset="-120"/>
              </a:rPr>
              <a:t>·Σ</a:t>
            </a:r>
            <a:r>
              <a:rPr lang="en-US" sz="1500" baseline="-40000" dirty="0">
                <a:solidFill>
                  <a:srgbClr val="E6EDF3"/>
                </a:solidFill>
                <a:latin typeface="Cambria" pitchFamily="34" charset="0"/>
                <a:ea typeface="Cambria" pitchFamily="34" charset="-122"/>
                <a:cs typeface="Cambria" pitchFamily="34" charset="-120"/>
              </a:rPr>
              <a:t>v</a:t>
            </a:r>
            <a:r>
              <a:rPr lang="en-US" sz="1500" dirty="0">
                <a:solidFill>
                  <a:srgbClr val="E6EDF3"/>
                </a:solidFill>
                <a:latin typeface="Cambria" pitchFamily="34" charset="0"/>
                <a:ea typeface="Cambria" pitchFamily="34" charset="-122"/>
                <a:cs typeface="Cambria" pitchFamily="34" charset="-120"/>
              </a:rPr>
              <a:t>          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Σ(ℓ)</a:t>
            </a:r>
            <a:r>
              <a:rPr lang="en-US" sz="1500" baseline="30000" dirty="0">
                <a:solidFill>
                  <a:srgbClr val="E6EDF3"/>
                </a:solidFill>
                <a:latin typeface="Cambria" pitchFamily="34" charset="0"/>
                <a:ea typeface="Cambria" pitchFamily="34" charset="-122"/>
                <a:cs typeface="Cambria" pitchFamily="34" charset="-120"/>
              </a:rPr>
              <a:t>½</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u</a:t>
            </a:r>
            <a:r>
              <a:rPr lang="en-US" sz="1000" b="1" baseline="-40000" dirty="0">
                <a:solidFill>
                  <a:srgbClr val="4493F8"/>
                </a:solidFill>
                <a:latin typeface="Calibri" pitchFamily="34" charset="0"/>
                <a:ea typeface="Calibri" pitchFamily="34" charset="-122"/>
                <a:cs typeface="Calibri" pitchFamily="34" charset="-120"/>
              </a:rPr>
              <a:t>i</a:t>
            </a:r>
            <a:r>
              <a:rPr lang="en-US" sz="1000" dirty="0">
                <a:solidFill>
                  <a:srgbClr val="E6EDF3"/>
                </a:solidFill>
                <a:latin typeface="Calibri" pitchFamily="34" charset="0"/>
                <a:ea typeface="Calibri" pitchFamily="34" charset="-122"/>
                <a:cs typeface="Calibri" pitchFamily="34" charset="-120"/>
              </a:rPr>
              <a:t> : the canonical sunflower on the unit disc (Vogel spiral, golden angle — the E-026 pattern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00" dirty="0">
                <a:solidFill>
                  <a:srgbClr val="E6EDF3"/>
                </a:solidFill>
                <a:latin typeface="Calibri" pitchFamily="34" charset="0"/>
                <a:ea typeface="Calibri" pitchFamily="34" charset="-122"/>
                <a:cs typeface="Calibri" pitchFamily="34" charset="-120"/>
              </a:rPr>
              <a:t>), fixed, 24 points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Phase-rotated by the golden angle per lag</a:t>
            </a:r>
            <a:r>
              <a:rPr lang="en-US" sz="1000" dirty="0">
                <a:solidFill>
                  <a:srgbClr val="E6EDF3"/>
                </a:solidFill>
                <a:latin typeface="Calibri" pitchFamily="34" charset="0"/>
                <a:ea typeface="Calibri" pitchFamily="34" charset="-122"/>
                <a:cs typeface="Calibri" pitchFamily="34" charset="-120"/>
              </a:rPr>
              <a:t>: bearing</a:t>
            </a:r>
            <a:r>
              <a:rPr lang="en-US" sz="1000" baseline="-40000" dirty="0">
                <a:solidFill>
                  <a:srgbClr val="E6EDF3"/>
                </a:solidFill>
                <a:latin typeface="Calibri" pitchFamily="34" charset="0"/>
                <a:ea typeface="Calibri" pitchFamily="34" charset="-122"/>
                <a:cs typeface="Calibri" pitchFamily="34" charset="-120"/>
              </a:rPr>
              <a:t>i,ℓ</a:t>
            </a:r>
            <a:r>
              <a:rPr lang="en-US" sz="1000" dirty="0">
                <a:solidFill>
                  <a:srgbClr val="E6EDF3"/>
                </a:solidFill>
                <a:latin typeface="Calibri" pitchFamily="34" charset="0"/>
                <a:ea typeface="Calibri" pitchFamily="34" charset="-122"/>
                <a:cs typeface="Calibri" pitchFamily="34" charset="-120"/>
              </a:rPr>
              <a:t> = i·137.5° + ℓ·137.5°, so the six slices interleave in space-time instead of repeating the same bearings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Time itself stays dense</a:t>
            </a:r>
            <a:r>
              <a:rPr lang="en-US" sz="1000" dirty="0">
                <a:solidFill>
                  <a:srgbClr val="E6EDF3"/>
                </a:solidFill>
                <a:latin typeface="Calibri" pitchFamily="34" charset="0"/>
                <a:ea typeface="Calibri" pitchFamily="34" charset="-122"/>
                <a:cs typeface="Calibri" pitchFamily="34" charset="-120"/>
              </a:rPr>
              <a:t>: one slice per pentad — the finest cadence we have, and the 30-day window is the codec's whole job</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(2 numbers): the drift per pentad — where the footprint's centre moves for each pentad back in time; </a:t>
            </a:r>
            <a:r>
              <a:rPr lang="en-US" sz="1000" b="1" dirty="0">
                <a:solidFill>
                  <a:srgbClr val="4493F8"/>
                </a:solidFill>
                <a:latin typeface="Calibri" pitchFamily="34" charset="0"/>
                <a:ea typeface="Calibri" pitchFamily="34" charset="-122"/>
                <a:cs typeface="Calibri" pitchFamily="34" charset="-120"/>
              </a:rPr>
              <a:t>the arrow toward the source</a:t>
            </a:r>
            <a:r>
              <a:rPr lang="en-US" sz="1000" dirty="0">
                <a:solidFill>
                  <a:srgbClr val="E6EDF3"/>
                </a:solidFill>
                <a:latin typeface="Calibri" pitchFamily="34" charset="0"/>
                <a:ea typeface="Calibri" pitchFamily="34" charset="-122"/>
                <a:cs typeface="Calibri" pitchFamily="34" charset="-120"/>
              </a:rPr>
              <a:t>. Stored dimensionless: d = tanh(x) · v_design·Δt</a:t>
            </a:r>
            <a:endParaRPr lang="en-US" sz="1000" dirty="0"/>
          </a:p>
        </p:txBody>
      </p:sp>
      <p:sp>
        <p:nvSpPr>
          <p:cNvPr id="12" name="Text 8"/>
          <p:cNvSpPr txBox="1"/>
          <p:nvPr/>
        </p:nvSpPr>
        <p:spPr>
          <a:xfrm>
            <a:off x="6199632"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(3): the waist ellipse, stored as its </a:t>
            </a:r>
            <a:r>
              <a:rPr lang="en-US" sz="1000" b="1" dirty="0">
                <a:solidFill>
                  <a:srgbClr val="4493F8"/>
                </a:solidFill>
                <a:latin typeface="Calibri" pitchFamily="34" charset="0"/>
                <a:ea typeface="Calibri" pitchFamily="34" charset="-122"/>
                <a:cs typeface="Calibri" pitchFamily="34" charset="-120"/>
              </a:rPr>
              <a:t>matrix logarithm</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log Σ</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a symmetric 2×2 in log-km. Its trace is the size; its traceless part is (log aspect ratio) × (cos 2θ, sin 2θ); no 180° wrap, and a circle is S = m·I</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(3): the velocity-spread ellipse, also as log Σ</a:t>
            </a:r>
            <a:r>
              <a:rPr lang="en-US" sz="1000" baseline="-40000" dirty="0">
                <a:solidFill>
                  <a:srgbClr val="E6EDF3"/>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 how fast the footprint widens with lag (standard deviation ∝ ℓ, as the reach ∝ (1 + ℓ) in </a:t>
            </a:r>
            <a:r>
              <a:rPr lang="en-US" sz="100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ml/cone.py::reach_km</a:t>
            </a:r>
            <a:r>
              <a:rPr lang="en-US" sz="1000" dirty="0">
                <a:solidFill>
                  <a:srgbClr val="E6EDF3"/>
                </a:solidFill>
                <a:latin typeface="Calibri" pitchFamily="34" charset="0"/>
                <a:ea typeface="Calibri" pitchFamily="34" charset="-122"/>
                <a:cs typeface="Calibri" pitchFamily="34" charset="-120"/>
              </a:rPr>
              <a:t>)</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Why log form</a:t>
            </a:r>
            <a:r>
              <a:rPr lang="en-US" sz="1000" dirty="0">
                <a:solidFill>
                  <a:srgbClr val="E6EDF3"/>
                </a:solidFill>
                <a:latin typeface="Calibri" pitchFamily="34" charset="0"/>
                <a:ea typeface="Calibri" pitchFamily="34" charset="-122"/>
                <a:cs typeface="Calibri" pitchFamily="34" charset="-120"/>
              </a:rPr>
              <a:t>: under Adam every parameter moves about one learning rate per step in its own units. A radius in km moves a fixed number of km (frozen at 850 km, twitchy at 30 km); a log-radius moves a fixed </a:t>
            </a:r>
            <a:r>
              <a:rPr lang="en-US" sz="1000" b="1" dirty="0">
                <a:solidFill>
                  <a:srgbClr val="4493F8"/>
                </a:solidFill>
                <a:latin typeface="Calibri" pitchFamily="34" charset="0"/>
                <a:ea typeface="Calibri" pitchFamily="34" charset="-122"/>
                <a:cs typeface="Calibri" pitchFamily="34" charset="-120"/>
              </a:rPr>
              <a:t>fraction</a:t>
            </a:r>
            <a:r>
              <a:rPr lang="en-US" sz="1000" dirty="0">
                <a:solidFill>
                  <a:srgbClr val="E6EDF3"/>
                </a:solidFill>
                <a:latin typeface="Calibri" pitchFamily="34" charset="0"/>
                <a:ea typeface="Calibri" pitchFamily="34" charset="-122"/>
                <a:cs typeface="Calibri" pitchFamily="34" charset="-120"/>
              </a:rPr>
              <a:t> — the same at any size</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Future cone:</a:t>
            </a:r>
            <a:r>
              <a:rPr lang="en-US" sz="1000" dirty="0">
                <a:solidFill>
                  <a:srgbClr val="E6EDF3"/>
                </a:solidFill>
                <a:latin typeface="Calibri" pitchFamily="34" charset="0"/>
                <a:ea typeface="Calibri" pitchFamily="34" charset="-122"/>
                <a:cs typeface="Calibri" pitchFamily="34" charset="-120"/>
              </a:rPr>
              <a:t> reflected — centre −ℓ·d, the same Σ(ℓ); the anchor column (0, 0) is always added. Per-channel scale and memory: next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ONE DIRECTION PER FLOW, ONE SCALE PER CHANNEL</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The shape and the drift belong to the flow; only the size belongs to the channel</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pic>
        <p:nvPicPr>
          <p:cNvPr id="7" name="Image 0" descr="/home/claude/earth/ml/plans/E080_figures/channel_apertures_ab.png">    </p:cNvPr>
          <p:cNvPicPr>
            <a:picLocks noChangeAspect="1"/>
          </p:cNvPicPr>
          <p:nvPr/>
        </p:nvPicPr>
        <p:blipFill>
          <a:blip r:embed="rId1"/>
          <a:stretch>
            <a:fillRect/>
          </a:stretch>
        </p:blipFill>
        <p:spPr>
          <a:xfrm>
            <a:off x="1069848" y="1316736"/>
            <a:ext cx="10058400" cy="3337560"/>
          </a:xfrm>
          <a:prstGeom prst="rect">
            <a:avLst/>
          </a:prstGeom>
        </p:spPr>
      </p:pic>
      <p:sp>
        <p:nvSpPr>
          <p:cNvPr id="8" name="Shape 4"/>
          <p:cNvSpPr/>
          <p:nvPr/>
        </p:nvSpPr>
        <p:spPr>
          <a:xfrm>
            <a:off x="548640" y="4727448"/>
            <a:ext cx="11091672" cy="1581912"/>
          </a:xfrm>
          <a:prstGeom prst="roundRect">
            <a:avLst>
              <a:gd name="adj" fmla="val 3468"/>
            </a:avLst>
          </a:prstGeom>
          <a:solidFill>
            <a:srgbClr val="161B22"/>
          </a:solidFill>
          <a:ln w="12700">
            <a:solidFill>
              <a:srgbClr val="30363D"/>
            </a:solidFill>
            <a:prstDash val="solid"/>
          </a:ln>
        </p:spPr>
      </p:sp>
      <p:sp>
        <p:nvSpPr>
          <p:cNvPr id="9" name="Text 5"/>
          <p:cNvSpPr txBox="1"/>
          <p:nvPr/>
        </p:nvSpPr>
        <p:spPr>
          <a:xfrm>
            <a:off x="804672" y="4928616"/>
            <a:ext cx="10579608" cy="1216152"/>
          </a:xfrm>
          <a:prstGeom prst="rect">
            <a:avLst/>
          </a:prstGeom>
          <a:noFill/>
          <a:ln/>
        </p:spPr>
        <p:txBody>
          <a:bodyPr wrap="square" lIns="0" tIns="0" rIns="0" bIns="0" rtlCol="0" anchor="ctr"/>
          <a:lstStyle/>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1 · Shared</a:t>
            </a:r>
            <a:r>
              <a:rPr lang="en-US" sz="1000" dirty="0">
                <a:solidFill>
                  <a:srgbClr val="E6EDF3"/>
                </a:solidFill>
                <a:latin typeface="Calibri" pitchFamily="34" charset="0"/>
                <a:ea typeface="Calibri" pitchFamily="34" charset="-122"/>
                <a:cs typeface="Calibri" pitchFamily="34" charset="-120"/>
              </a:rPr>
              <a:t> per region, lag and channel group: the shape Σ(ℓ) and the drift </a:t>
            </a: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of slide 8. Everything the water carries is carried the same way — the arrow toward the source and the elongation along the jet are properties of the </a:t>
            </a:r>
            <a:r>
              <a:rPr lang="en-US" sz="1000" b="1" dirty="0">
                <a:solidFill>
                  <a:srgbClr val="4493F8"/>
                </a:solidFill>
                <a:latin typeface="Calibri" pitchFamily="34" charset="0"/>
                <a:ea typeface="Calibri" pitchFamily="34" charset="-122"/>
                <a:cs typeface="Calibri" pitchFamily="34" charset="-120"/>
              </a:rPr>
              <a:t>flow</a:t>
            </a:r>
            <a:r>
              <a:rPr lang="en-US" sz="1000" dirty="0">
                <a:solidFill>
                  <a:srgbClr val="E6EDF3"/>
                </a:solidFill>
                <a:latin typeface="Calibri" pitchFamily="34" charset="0"/>
                <a:ea typeface="Calibri" pitchFamily="34" charset="-122"/>
                <a:cs typeface="Calibri" pitchFamily="34" charset="-120"/>
              </a:rPr>
              <a:t>, not of the tracer. </a:t>
            </a:r>
            <a:r>
              <a:rPr lang="en-US" sz="1000" i="1" dirty="0">
                <a:solidFill>
                  <a:srgbClr val="E3B341"/>
                </a:solidFill>
                <a:latin typeface="Calibri" pitchFamily="34" charset="0"/>
                <a:ea typeface="Calibri" pitchFamily="34" charset="-122"/>
                <a:cs typeface="Calibri" pitchFamily="34" charset="-120"/>
              </a:rPr>
              <a:t>One direction per flow.</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2 · Per channel</a:t>
            </a:r>
            <a:r>
              <a:rPr lang="en-US" sz="1000" dirty="0">
                <a:solidFill>
                  <a:srgbClr val="E6EDF3"/>
                </a:solidFill>
                <a:latin typeface="Calibri" pitchFamily="34" charset="0"/>
                <a:ea typeface="Calibri" pitchFamily="34" charset="-122"/>
                <a:cs typeface="Calibri" pitchFamily="34" charset="-120"/>
              </a:rPr>
              <a:t>: two log-parameters — a </a:t>
            </a:r>
            <a:r>
              <a:rPr lang="en-US" sz="1000" b="1" dirty="0">
                <a:solidFill>
                  <a:srgbClr val="4493F8"/>
                </a:solidFill>
                <a:latin typeface="Calibri" pitchFamily="34" charset="0"/>
                <a:ea typeface="Calibri" pitchFamily="34" charset="-122"/>
                <a:cs typeface="Calibri" pitchFamily="34" charset="-120"/>
              </a:rPr>
              <a:t>scale</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(two for the L-shaped channels: lags 0–1 and 2–6) and a </a:t>
            </a:r>
            <a:r>
              <a:rPr lang="en-US" sz="1000" b="1" dirty="0">
                <a:solidFill>
                  <a:srgbClr val="4493F8"/>
                </a:solidFill>
                <a:latin typeface="Calibri" pitchFamily="34" charset="0"/>
                <a:ea typeface="Calibri" pitchFamily="34" charset="-122"/>
                <a:cs typeface="Calibri" pitchFamily="34" charset="-120"/>
              </a:rPr>
              <a:t>memory</a:t>
            </a:r>
            <a:r>
              <a:rPr lang="en-US" sz="1000" dirty="0">
                <a:solidFill>
                  <a:srgbClr val="E6EDF3"/>
                </a:solidFill>
                <a:latin typeface="Calibri" pitchFamily="34" charset="0"/>
                <a:ea typeface="Calibri" pitchFamily="34" charset="-122"/>
                <a:cs typeface="Calibri" pitchFamily="34" charset="-120"/>
              </a:rPr>
              <a:t> 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In space,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S(ℓ) +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·I, i.e. Σ</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exp(s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Σ(ℓ) — the same ellipse inflated or shrunk, </a:t>
            </a:r>
            <a:r>
              <a:rPr lang="en-US" sz="1000" b="1" dirty="0">
                <a:solidFill>
                  <a:srgbClr val="4493F8"/>
                </a:solidFill>
                <a:latin typeface="Calibri" pitchFamily="34" charset="0"/>
                <a:ea typeface="Calibri" pitchFamily="34" charset="-122"/>
                <a:cs typeface="Calibri" pitchFamily="34" charset="-120"/>
              </a:rPr>
              <a:t>never turned</a:t>
            </a:r>
            <a:r>
              <a:rPr lang="en-US" sz="1000" dirty="0">
                <a:solidFill>
                  <a:srgbClr val="E6EDF3"/>
                </a:solidFill>
                <a:latin typeface="Calibri" pitchFamily="34" charset="0"/>
                <a:ea typeface="Calibri" pitchFamily="34" charset="-122"/>
                <a:cs typeface="Calibri" pitchFamily="34" charset="-120"/>
              </a:rPr>
              <a:t>. In time, lag ℓ is weighted by exp(−ℓΔt/τ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how far back this channel is worth reading. </a:t>
            </a:r>
            <a:r>
              <a:rPr lang="en-US" sz="1000" i="1" dirty="0">
                <a:solidFill>
                  <a:srgbClr val="E3B341"/>
                </a:solidFill>
                <a:latin typeface="Calibri" pitchFamily="34" charset="0"/>
                <a:ea typeface="Calibri" pitchFamily="34" charset="-122"/>
                <a:cs typeface="Calibri" pitchFamily="34" charset="-120"/>
              </a:rPr>
              <a:t>One scale and one memory per channel; the aperture is a space-time object.</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3 · Initialised from the reach-and-memory table</a:t>
            </a:r>
            <a:r>
              <a:rPr lang="en-US" sz="1000" dirty="0">
                <a:solidFill>
                  <a:srgbClr val="E6EDF3"/>
                </a:solidFill>
                <a:latin typeface="Calibri" pitchFamily="34" charset="0"/>
                <a:ea typeface="Calibri" pitchFamily="34" charset="-122"/>
                <a:cs typeface="Calibri" pitchFamily="34" charset="-120"/>
              </a:rPr>
              <a:t>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000" dirty="0">
                <a:solidFill>
                  <a:srgbClr val="E6EDF3"/>
                </a:solidFill>
                <a:latin typeface="Calibri" pitchFamily="34" charset="0"/>
                <a:ea typeface="Calibri" pitchFamily="34" charset="-122"/>
                <a:cs typeface="Calibri" pitchFamily="34" charset="-120"/>
              </a:rPr>
              <a:t>: wind stress 500 km with τ = 10 days (lags 0–1 count; lag 6 is at e</a:t>
            </a:r>
            <a:r>
              <a:rPr lang="en-US" sz="1000" baseline="30000" dirty="0">
                <a:solidFill>
                  <a:srgbClr val="E6EDF3"/>
                </a:solidFill>
                <a:latin typeface="Calibri" pitchFamily="34" charset="0"/>
                <a:ea typeface="Calibri" pitchFamily="34" charset="-122"/>
                <a:cs typeface="Calibri" pitchFamily="34" charset="-120"/>
              </a:rPr>
              <a:t>−3</a:t>
            </a:r>
            <a:r>
              <a:rPr lang="en-US" sz="1000" dirty="0">
                <a:solidFill>
                  <a:srgbClr val="E6EDF3"/>
                </a:solidFill>
                <a:latin typeface="Calibri" pitchFamily="34" charset="0"/>
                <a:ea typeface="Calibri" pitchFamily="34" charset="-122"/>
                <a:cs typeface="Calibri" pitchFamily="34" charset="-120"/>
              </a:rPr>
              <a:t>); currents and sea-surface height 129.6 km·(1 + ℓ), long memory; sea-surface temperature and mixed-layer depth max(that, 500 km) at lags ≤ 1, then the ocean's growth; land 400 km flat, long memory. At step 0 every channel reads the reach and the lags the current geometry gives 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READ AT ZERO EXTRA TOKENS: THE PER-CHANNEL APERTURE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200" b="1" dirty="0">
                <a:solidFill>
                  <a:srgbClr val="E6EDF3"/>
                </a:solidFill>
                <a:latin typeface="Georgia" pitchFamily="34" charset="0"/>
                <a:ea typeface="Georgia" pitchFamily="34" charset="-122"/>
                <a:cs typeface="Georgia" pitchFamily="34" charset="-120"/>
              </a:rPr>
              <a:t>One token per dot carries every channel; each channel's entries are weighted by its own aperture before the projection</a:t>
            </a:r>
            <a:endParaRPr lang="en-US" sz="22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pic>
        <p:nvPicPr>
          <p:cNvPr id="7" name="Image 0" descr="/home/claude/earth/ml/plans/E080_figures/channel_apertures_c.png">    </p:cNvPr>
          <p:cNvPicPr>
            <a:picLocks noChangeAspect="1"/>
          </p:cNvPicPr>
          <p:nvPr/>
        </p:nvPicPr>
        <p:blipFill>
          <a:blip r:embed="rId1"/>
          <a:stretch>
            <a:fillRect/>
          </a:stretch>
        </p:blipFill>
        <p:spPr>
          <a:xfrm>
            <a:off x="548640" y="1371600"/>
            <a:ext cx="11091672" cy="2999232"/>
          </a:xfrm>
          <a:prstGeom prst="rect">
            <a:avLst/>
          </a:prstGeom>
        </p:spPr>
      </p:pic>
      <p:sp>
        <p:nvSpPr>
          <p:cNvPr id="8" name="Shape 4"/>
          <p:cNvSpPr/>
          <p:nvPr/>
        </p:nvSpPr>
        <p:spPr>
          <a:xfrm>
            <a:off x="548640" y="4462272"/>
            <a:ext cx="11091672" cy="1847088"/>
          </a:xfrm>
          <a:prstGeom prst="roundRect">
            <a:avLst>
              <a:gd name="adj" fmla="val 2970"/>
            </a:avLst>
          </a:prstGeom>
          <a:solidFill>
            <a:srgbClr val="161B22"/>
          </a:solidFill>
          <a:ln w="12700">
            <a:solidFill>
              <a:srgbClr val="30363D"/>
            </a:solidFill>
            <a:prstDash val="solid"/>
          </a:ln>
        </p:spPr>
      </p:sp>
      <p:sp>
        <p:nvSpPr>
          <p:cNvPr id="9" name="Text 5"/>
          <p:cNvSpPr txBox="1"/>
          <p:nvPr/>
        </p:nvSpPr>
        <p:spPr>
          <a:xfrm>
            <a:off x="804672" y="4663440"/>
            <a:ext cx="10579608" cy="1481328"/>
          </a:xfrm>
          <a:prstGeom prst="rect">
            <a:avLst/>
          </a:prstGeom>
          <a:noFill/>
          <a:ln/>
        </p:spPr>
        <p:txBody>
          <a:bodyPr wrap="square" lIns="0" tIns="0" rIns="0" bIns="0" rtlCol="0" anchor="ctr"/>
          <a:lstStyle/>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per-location token</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E-071 §6.4</a:t>
            </a:r>
            <a:r>
              <a:rPr lang="en-US" sz="1100" dirty="0">
                <a:solidFill>
                  <a:srgbClr val="E6EDF3"/>
                </a:solidFill>
                <a:latin typeface="Calibri" pitchFamily="34" charset="0"/>
                <a:ea typeface="Calibri" pitchFamily="34" charset="-122"/>
                <a:cs typeface="Calibri" pitchFamily="34" charset="-120"/>
              </a:rPr>
              <a:t>) carries all channels of a group at one dot position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a vector of values and a vector of observed flags, one token per dot — not one token per channel per dot</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Each channel gets its own weight at that dot, w</a:t>
            </a:r>
            <a:r>
              <a:rPr lang="en-US" sz="1100" baseline="-40000" dirty="0">
                <a:solidFill>
                  <a:srgbClr val="E6EDF3"/>
                </a:solidFill>
                <a:latin typeface="Calibri" pitchFamily="34" charset="0"/>
                <a:ea typeface="Calibri" pitchFamily="34" charset="-122"/>
                <a:cs typeface="Calibri" pitchFamily="34" charset="-120"/>
              </a:rPr>
              <a:t>c,i,ℓ</a:t>
            </a:r>
            <a:r>
              <a:rPr lang="en-US" sz="1100" dirty="0">
                <a:solidFill>
                  <a:srgbClr val="E6EDF3"/>
                </a:solidFill>
                <a:latin typeface="Calibri" pitchFamily="34" charset="0"/>
                <a:ea typeface="Calibri" pitchFamily="34" charset="-122"/>
                <a:cs typeface="Calibri" pitchFamily="34" charset="-120"/>
              </a:rPr>
              <a:t> = exp(−½ ·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ᵀ Σ</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(ℓ)⁻¹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 exp(−ℓΔt/τ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 </a:t>
            </a:r>
            <a:r>
              <a:rPr lang="en-US" sz="1100" b="1" dirty="0">
                <a:solidFill>
                  <a:srgbClr val="4493F8"/>
                </a:solidFill>
                <a:latin typeface="Calibri" pitchFamily="34" charset="0"/>
                <a:ea typeface="Calibri" pitchFamily="34" charset="-122"/>
                <a:cs typeface="Calibri" pitchFamily="34" charset="-120"/>
              </a:rPr>
              <a:t>a space factor and a time factor</a:t>
            </a:r>
            <a:r>
              <a:rPr lang="en-US" sz="1100" dirty="0">
                <a:solidFill>
                  <a:srgbClr val="E6EDF3"/>
                </a:solidFill>
                <a:latin typeface="Calibri" pitchFamily="34" charset="0"/>
                <a:ea typeface="Calibri" pitchFamily="34" charset="-122"/>
                <a:cs typeface="Calibri" pitchFamily="34" charset="-120"/>
              </a:rPr>
              <a:t> — and it multiplies that channel's value and observed-flag entries before the projection. A dot outside channel c's aperture in space </a:t>
            </a:r>
            <a:r>
              <a:rPr lang="en-US" sz="1100" i="1" dirty="0">
                <a:solidFill>
                  <a:srgbClr val="E3B341"/>
                </a:solidFill>
                <a:latin typeface="Calibri" pitchFamily="34" charset="0"/>
                <a:ea typeface="Calibri" pitchFamily="34" charset="-122"/>
                <a:cs typeface="Calibri" pitchFamily="34" charset="-120"/>
              </a:rPr>
              <a:t>or</a:t>
            </a:r>
            <a:r>
              <a:rPr lang="en-US" sz="1100" dirty="0">
                <a:solidFill>
                  <a:srgbClr val="E6EDF3"/>
                </a:solidFill>
                <a:latin typeface="Calibri" pitchFamily="34" charset="0"/>
                <a:ea typeface="Calibri" pitchFamily="34" charset="-122"/>
                <a:cs typeface="Calibri" pitchFamily="34" charset="-120"/>
              </a:rPr>
              <a:t> beyond its memory in time contributes ≈ 0 for c and still carries the others at full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Worked example</a:t>
            </a:r>
            <a:r>
              <a:rPr lang="en-US" sz="1100" dirty="0">
                <a:solidFill>
                  <a:srgbClr val="E6EDF3"/>
                </a:solidFill>
                <a:latin typeface="Calibri" pitchFamily="34" charset="0"/>
                <a:ea typeface="Calibri" pitchFamily="34" charset="-122"/>
                <a:cs typeface="Calibri" pitchFamily="34" charset="-120"/>
              </a:rPr>
              <a:t>, a dot 400 km from the anchor at lag 1, apertures at their initial values: currents σ = 259 km → w ≈ 0.30; sea-surface temperature σ = 500 km → w ≈ 0.73 (both with a long memory, time factor ≈ 1). For wind stress at lag 4 the time factor alone is e</a:t>
            </a:r>
            <a:r>
              <a:rPr lang="en-US" sz="1100" baseline="30000" dirty="0">
                <a:solidFill>
                  <a:srgbClr val="E6EDF3"/>
                </a:solidFill>
                <a:latin typeface="Calibri" pitchFamily="34" charset="0"/>
                <a:ea typeface="Calibri" pitchFamily="34" charset="-122"/>
                <a:cs typeface="Calibri" pitchFamily="34" charset="-120"/>
              </a:rPr>
              <a:t>−20/10</a:t>
            </a:r>
            <a:r>
              <a:rPr lang="en-US" sz="1100" dirty="0">
                <a:solidFill>
                  <a:srgbClr val="E6EDF3"/>
                </a:solidFill>
                <a:latin typeface="Calibri" pitchFamily="34" charset="0"/>
                <a:ea typeface="Calibri" pitchFamily="34" charset="-122"/>
                <a:cs typeface="Calibri" pitchFamily="34" charset="-120"/>
              </a:rPr>
              <a:t> ≈ 0.14 — the “lags 0–1 only” rule, as a soft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The gradient reaches S, d, s</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and τ</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through w from every dot at once</a:t>
            </a:r>
            <a:r>
              <a:rPr lang="en-US" sz="1100" dirty="0">
                <a:solidFill>
                  <a:srgbClr val="E6EDF3"/>
                </a:solidFill>
                <a:latin typeface="Calibri" pitchFamily="34" charset="0"/>
                <a:ea typeface="Calibri" pitchFamily="34" charset="-122"/>
                <a:cs typeface="Calibri" pitchFamily="34" charset="-120"/>
              </a:rPr>
              <a:t> — not through four neighbouring cells — which is what lets the geometry learn (next slide)</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The fixed safety ring (slide 13) is </a:t>
            </a:r>
            <a:r>
              <a:rPr lang="en-US" sz="1100" b="1" dirty="0">
                <a:solidFill>
                  <a:srgbClr val="4493F8"/>
                </a:solidFill>
                <a:latin typeface="Calibri" pitchFamily="34" charset="0"/>
                <a:ea typeface="Calibri" pitchFamily="34" charset="-122"/>
                <a:cs typeface="Calibri" pitchFamily="34" charset="-120"/>
              </a:rPr>
              <a:t>not gated</a:t>
            </a:r>
            <a:r>
              <a:rPr lang="en-US" sz="1100" dirty="0">
                <a:solidFill>
                  <a:srgbClr val="E6EDF3"/>
                </a:solidFill>
                <a:latin typeface="Calibri" pitchFamily="34" charset="0"/>
                <a:ea typeface="Calibri" pitchFamily="34" charset="-122"/>
                <a:cs typeface="Calibri" pitchFamily="34" charset="-120"/>
              </a:rPr>
              <a:t>: read at full weight, always. A safety net the model can switch off is not one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 GATE FIRST, HARDEN LATER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 soft aperture over fixed candidate dots in phase 1; the dot table re-baked from the learned ellipses in phase 2</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5440680" cy="2240280"/>
          </a:xfrm>
          <a:prstGeom prst="roundRect">
            <a:avLst>
              <a:gd name="adj" fmla="val 2449"/>
            </a:avLst>
          </a:prstGeom>
          <a:solidFill>
            <a:srgbClr val="161B22"/>
          </a:solidFill>
          <a:ln w="12700">
            <a:solidFill>
              <a:srgbClr val="30363D"/>
            </a:solidFill>
            <a:prstDash val="solid"/>
          </a:ln>
        </p:spPr>
      </p:sp>
      <p:sp>
        <p:nvSpPr>
          <p:cNvPr id="8" name="Text 5"/>
          <p:cNvSpPr txBox="1"/>
          <p:nvPr/>
        </p:nvSpPr>
        <p:spPr>
          <a:xfrm>
            <a:off x="786384"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Phase 1 — gate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candidate dots per region and group are </a:t>
            </a:r>
            <a:r>
              <a:rPr lang="en-US" sz="1100" b="1" dirty="0">
                <a:solidFill>
                  <a:srgbClr val="4493F8"/>
                </a:solidFill>
                <a:latin typeface="Calibri" pitchFamily="34" charset="0"/>
                <a:ea typeface="Calibri" pitchFamily="34" charset="-122"/>
                <a:cs typeface="Calibri" pitchFamily="34" charset="-120"/>
              </a:rPr>
              <a:t>fixed</a:t>
            </a:r>
            <a:r>
              <a:rPr lang="en-US" sz="1100" dirty="0">
                <a:solidFill>
                  <a:srgbClr val="E6EDF3"/>
                </a:solidFill>
                <a:latin typeface="Calibri" pitchFamily="34" charset="0"/>
                <a:ea typeface="Calibri" pitchFamily="34" charset="-122"/>
                <a:cs typeface="Calibri" pitchFamily="34" charset="-120"/>
              </a:rPr>
              <a:t>: cone v2's log-radial set out to the design reach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§4.4</a:t>
            </a:r>
            <a:r>
              <a:rPr lang="en-US" sz="1100" dirty="0">
                <a:solidFill>
                  <a:srgbClr val="E6EDF3"/>
                </a:solidFill>
                <a:latin typeface="Calibri" pitchFamily="34" charset="0"/>
                <a:ea typeface="Calibri" pitchFamily="34" charset="-122"/>
                <a:cs typeface="Calibri" pitchFamily="34" charset="-120"/>
              </a:rPr>
              <a:t>, 36 per lag) plus the anchor column. The data loader's reads are regular, cacheable, and never depend on the model's weights. Each candidate token is weighted by the per-channel aperture of slide 10, and the ellipses, drift and offsets learn through those weights — from every candidate at once</a:t>
            </a:r>
            <a:endParaRPr lang="en-US" sz="1250" dirty="0"/>
          </a:p>
        </p:txBody>
      </p:sp>
      <p:sp>
        <p:nvSpPr>
          <p:cNvPr id="9" name="Shape 6"/>
          <p:cNvSpPr/>
          <p:nvPr/>
        </p:nvSpPr>
        <p:spPr>
          <a:xfrm>
            <a:off x="6199632" y="1463040"/>
            <a:ext cx="5440680" cy="2240280"/>
          </a:xfrm>
          <a:prstGeom prst="roundRect">
            <a:avLst>
              <a:gd name="adj" fmla="val 2449"/>
            </a:avLst>
          </a:prstGeom>
          <a:solidFill>
            <a:srgbClr val="161B22"/>
          </a:solidFill>
          <a:ln w="12700">
            <a:solidFill>
              <a:srgbClr val="30363D"/>
            </a:solidFill>
            <a:prstDash val="solid"/>
          </a:ln>
        </p:spPr>
      </p:sp>
      <p:sp>
        <p:nvSpPr>
          <p:cNvPr id="10" name="Text 7"/>
          <p:cNvSpPr txBox="1"/>
          <p:nvPr/>
        </p:nvSpPr>
        <p:spPr>
          <a:xfrm>
            <a:off x="6437376"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Phase 2 — harden</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Every N steps (2 k to start) the dense dot table per region is re-baked from the current ellipses — the warped sunflower of slide 8, 24 dots per lag — and the loader swaps tables at the epoch boundary. The fixed ring of 24 stays as the safety net; the apertures stay on (they </a:t>
            </a:r>
            <a:r>
              <a:rPr lang="en-US" sz="1100" b="1" dirty="0">
                <a:solidFill>
                  <a:srgbClr val="4493F8"/>
                </a:solidFill>
                <a:latin typeface="Calibri" pitchFamily="34" charset="0"/>
                <a:ea typeface="Calibri" pitchFamily="34" charset="-122"/>
                <a:cs typeface="Calibri" pitchFamily="34" charset="-120"/>
              </a:rPr>
              <a:t>are</a:t>
            </a:r>
            <a:r>
              <a:rPr lang="en-US" sz="1100" dirty="0">
                <a:solidFill>
                  <a:srgbClr val="E6EDF3"/>
                </a:solidFill>
                <a:latin typeface="Calibri" pitchFamily="34" charset="0"/>
                <a:ea typeface="Calibri" pitchFamily="34" charset="-122"/>
                <a:cs typeface="Calibri" pitchFamily="34" charset="-120"/>
              </a:rPr>
              <a:t> the per-channel scale). Reads remain regular within an epoch</a:t>
            </a:r>
            <a:endParaRPr lang="en-US" sz="1250" dirty="0"/>
          </a:p>
        </p:txBody>
      </p:sp>
      <p:sp>
        <p:nvSpPr>
          <p:cNvPr id="11" name="Shape 8"/>
          <p:cNvSpPr/>
          <p:nvPr/>
        </p:nvSpPr>
        <p:spPr>
          <a:xfrm>
            <a:off x="548640" y="3840480"/>
            <a:ext cx="11091672" cy="2240280"/>
          </a:xfrm>
          <a:prstGeom prst="roundRect">
            <a:avLst>
              <a:gd name="adj" fmla="val 2449"/>
            </a:avLst>
          </a:prstGeom>
          <a:solidFill>
            <a:srgbClr val="161B22"/>
          </a:solidFill>
          <a:ln w="12700">
            <a:solidFill>
              <a:srgbClr val="30363D"/>
            </a:solidFill>
            <a:prstDash val="solid"/>
          </a:ln>
        </p:spPr>
      </p:sp>
      <p:sp>
        <p:nvSpPr>
          <p:cNvPr id="12" name="Text 9"/>
          <p:cNvSpPr txBox="1"/>
          <p:nvPr/>
        </p:nvSpPr>
        <p:spPr>
          <a:xfrm>
            <a:off x="804672" y="4041648"/>
            <a:ext cx="10579608" cy="187452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Why not read at continuous positions</a:t>
            </a:r>
            <a:r>
              <a:rPr lang="en-US" sz="1200" dirty="0">
                <a:solidFill>
                  <a:srgbClr val="E6EDF3"/>
                </a:solidFill>
                <a:latin typeface="Calibri" pitchFamily="34" charset="0"/>
                <a:ea typeface="Calibri" pitchFamily="34" charset="-122"/>
                <a:cs typeface="Calibri" pitchFamily="34" charset="-120"/>
              </a:rPr>
              <a:t> (the deformable gather of revision 1): it couples the loader's read pattern to the live weights — irregular reads on the sampler's memory-mapped tensor and on the JAX/TPU port of the cone trainer — and its gradient sees only the four cells around each dot. The gate has neither problem, and the per-tensor pyramid of revision 1 is no longer needed</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Learning rate</a:t>
            </a:r>
            <a:r>
              <a:rPr lang="en-US" sz="1200" dirty="0">
                <a:solidFill>
                  <a:srgbClr val="E6EDF3"/>
                </a:solidFill>
                <a:latin typeface="Calibri" pitchFamily="34" charset="0"/>
                <a:ea typeface="Calibri" pitchFamily="34" charset="-122"/>
                <a:cs typeface="Calibri" pitchFamily="34" charset="-120"/>
              </a:rPr>
              <a:t>: the geometry parameters get their own multiplier (×10 the codec's to start — the deformable-attention practice, </a:t>
            </a:r>
            <a:r>
              <a:rPr lang="en-US" sz="12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Zhu et al. 2021</a:t>
            </a:r>
            <a:r>
              <a:rPr lang="en-US" sz="1200" dirty="0">
                <a:solidFill>
                  <a:srgbClr val="E6EDF3"/>
                </a:solidFill>
                <a:latin typeface="Calibri" pitchFamily="34" charset="0"/>
                <a:ea typeface="Calibri" pitchFamily="34" charset="-122"/>
                <a:cs typeface="Calibri" pitchFamily="34" charset="-120"/>
              </a:rPr>
              <a:t>), recorded in the run's metrics</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Evaluation geometry stays </a:t>
            </a:r>
            <a:r>
              <a:rPr lang="en-US" sz="1200" b="1" dirty="0">
                <a:solidFill>
                  <a:srgbClr val="4493F8"/>
                </a:solidFill>
                <a:latin typeface="Calibri" pitchFamily="34" charset="0"/>
                <a:ea typeface="Calibri" pitchFamily="34" charset="-122"/>
                <a:cs typeface="Calibri" pitchFamily="34" charset="-120"/>
              </a:rPr>
              <a:t>frozen</a:t>
            </a:r>
            <a:r>
              <a:rPr lang="en-US" sz="1200" dirty="0">
                <a:solidFill>
                  <a:srgbClr val="E6EDF3"/>
                </a:solidFill>
                <a:latin typeface="Calibri" pitchFamily="34" charset="0"/>
                <a:ea typeface="Calibri" pitchFamily="34" charset="-122"/>
                <a:cs typeface="Calibri" pitchFamily="34" charset="-120"/>
              </a:rPr>
              <a:t> (slide 5) whatever phase training is 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A 1° map per channel group, interpolated to the anchor</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1° grid</a:t>
            </a:r>
            <a:r>
              <a:rPr lang="en-US" sz="1100" dirty="0">
                <a:solidFill>
                  <a:srgbClr val="E6EDF3"/>
                </a:solidFill>
                <a:latin typeface="Calibri" pitchFamily="34" charset="0"/>
                <a:ea typeface="Calibri" pitchFamily="34" charset="-122"/>
                <a:cs typeface="Calibri" pitchFamily="34" charset="-120"/>
              </a:rPr>
              <a:t> over the globe (180 × 360 = 64,800 cells); the anchor's parameters are the bilinear blend of the four surrounding map cells — smooth by construction, no seams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1° because</a:t>
            </a:r>
            <a:r>
              <a:rPr lang="en-US" sz="1100" dirty="0">
                <a:solidFill>
                  <a:srgbClr val="E6EDF3"/>
                </a:solidFill>
                <a:latin typeface="Calibri" pitchFamily="34" charset="0"/>
                <a:ea typeface="Calibri" pitchFamily="34" charset="-122"/>
                <a:cs typeface="Calibri" pitchFamily="34" charset="-120"/>
              </a:rPr>
              <a:t> the currents that carry the overturning are ~100 km wide (the Florida Current sits in an 80 km strait); a 10° cell would average the Gulf Stream with its recirculation and learn a drift near zero</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Hierarchical prior:</a:t>
            </a:r>
            <a:r>
              <a:rPr lang="en-US" sz="1100" dirty="0">
                <a:solidFill>
                  <a:srgbClr val="E6EDF3"/>
                </a:solidFill>
                <a:latin typeface="Calibri" pitchFamily="34" charset="0"/>
                <a:ea typeface="Calibri" pitchFamily="34" charset="-122"/>
                <a:cs typeface="Calibri" pitchFamily="34" charset="-120"/>
              </a:rPr>
              <a:t> each map is a coarse 10° map plus a 1° residual, the residual under L2 shrinkage and a Laplacian smoothness penalty — a data-poor cell (ice edge, coast) inherits its neighbourhood's arrow instead of fitting noise. Each 1° cell still sees 16 anchors × 3,142 pentads ≈ 50 k anchor-pentads for eight numbers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No Argo ellipse.</a:t>
            </a:r>
            <a:r>
              <a:rPr lang="en-US" sz="1100" dirty="0">
                <a:solidFill>
                  <a:srgbClr val="E6EDF3"/>
                </a:solidFill>
                <a:latin typeface="Calibri" pitchFamily="34" charset="0"/>
                <a:ea typeface="Calibri" pitchFamily="34" charset="-122"/>
                <a:cs typeface="Calibri" pitchFamily="34" charset="-120"/>
              </a:rPr>
              <a:t> The Argo channels are the k nearest profile tokens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§3</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E-076</a:t>
            </a:r>
            <a:r>
              <a:rPr lang="en-US" sz="1100" dirty="0">
                <a:solidFill>
                  <a:srgbClr val="E6EDF3"/>
                </a:solidFill>
                <a:latin typeface="Calibri" pitchFamily="34" charset="0"/>
                <a:ea typeface="Calibri" pitchFamily="34" charset="-122"/>
                <a:cs typeface="Calibri" pitchFamily="34" charset="-120"/>
              </a:rPr>
              <a:t>) — placed where floats were, each carrying its own offset, age and depth. There is no elliptic shape to learn; the search radius stays as specified there. Depth-dependent sourcing (at the RAPID line the upper limb flows north, the Deep Western Boundary Current south) is left to attention over those tokens, which see depth and offset together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Optional, phase 2:</a:t>
            </a:r>
            <a:r>
              <a:rPr lang="en-US" sz="1100" dirty="0">
                <a:solidFill>
                  <a:srgbClr val="E6EDF3"/>
                </a:solidFill>
                <a:latin typeface="Calibri" pitchFamily="34" charset="0"/>
                <a:ea typeface="Calibri" pitchFamily="34" charset="-122"/>
                <a:cs typeface="Calibri" pitchFamily="34" charset="-120"/>
              </a:rPr>
              <a:t> a first-harmonic seasonal term on the drift, d(τ) = d</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d</a:t>
            </a:r>
            <a:r>
              <a:rPr lang="en-US" sz="1100" baseline="-40000" dirty="0">
                <a:solidFill>
                  <a:srgbClr val="E6EDF3"/>
                </a:solidFill>
                <a:latin typeface="Calibri" pitchFamily="34" charset="0"/>
                <a:ea typeface="Calibri" pitchFamily="34" charset="-122"/>
                <a:cs typeface="Calibri" pitchFamily="34" charset="-120"/>
              </a:rPr>
              <a:t>1</a:t>
            </a:r>
            <a:r>
              <a:rPr lang="en-US" sz="1100" dirty="0">
                <a:solidFill>
                  <a:srgbClr val="E6EDF3"/>
                </a:solidFill>
                <a:latin typeface="Calibri" pitchFamily="34" charset="0"/>
                <a:ea typeface="Calibri" pitchFamily="34" charset="-122"/>
                <a:cs typeface="Calibri" pitchFamily="34" charset="-120"/>
              </a:rPr>
              <a:t> cos τ + d</a:t>
            </a:r>
            <a:r>
              <a:rPr lang="en-US" sz="1100" baseline="-40000" dirty="0">
                <a:solidFill>
                  <a:srgbClr val="E6EDF3"/>
                </a:solidFill>
                <a:latin typeface="Calibri" pitchFamily="34" charset="0"/>
                <a:ea typeface="Calibri" pitchFamily="34" charset="-122"/>
                <a:cs typeface="Calibri" pitchFamily="34" charset="-120"/>
              </a:rPr>
              <a:t>2</a:t>
            </a:r>
            <a:r>
              <a:rPr lang="en-US" sz="1100" dirty="0">
                <a:solidFill>
                  <a:srgbClr val="E6EDF3"/>
                </a:solidFill>
                <a:latin typeface="Calibri" pitchFamily="34" charset="0"/>
                <a:ea typeface="Calibri" pitchFamily="34" charset="-122"/>
                <a:cs typeface="Calibri" pitchFamily="34" charset="-120"/>
              </a:rPr>
              <a:t> sin τ — the Somali Current reverses with the monsoon</a:t>
            </a:r>
            <a:endParaRPr lang="en-US" sz="1100" dirty="0"/>
          </a:p>
        </p:txBody>
      </p:sp>
      <p:sp>
        <p:nvSpPr>
          <p:cNvPr id="9" name="Shape 6"/>
          <p:cNvSpPr/>
          <p:nvPr/>
        </p:nvSpPr>
        <p:spPr>
          <a:xfrm>
            <a:off x="7635240" y="1463040"/>
            <a:ext cx="4005072"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7891272" y="1627632"/>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one map per channel group</a:t>
            </a:r>
            <a:endParaRPr lang="en-US" sz="1250" dirty="0"/>
          </a:p>
        </p:txBody>
      </p:sp>
      <p:sp>
        <p:nvSpPr>
          <p:cNvPr id="11" name="Text 8"/>
          <p:cNvSpPr txBox="1"/>
          <p:nvPr/>
        </p:nvSpPr>
        <p:spPr>
          <a:xfrm>
            <a:off x="7891272" y="1956816"/>
            <a:ext cx="3493008" cy="1143000"/>
          </a:xfrm>
          <a:prstGeom prst="rect">
            <a:avLst/>
          </a:prstGeom>
          <a:noFill/>
          <a:ln/>
        </p:spPr>
        <p:txBody>
          <a:bodyPr wrap="square" lIns="0" tIns="0" rIns="0" bIns="0" rtlCol="0" anchor="t"/>
          <a:lstStyle/>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3429000"/>
            <a:ext cx="4005072" cy="2240280"/>
          </a:xfrm>
          <a:prstGeom prst="roundRect">
            <a:avLst>
              <a:gd name="adj" fmla="val 2449"/>
            </a:avLst>
          </a:prstGeom>
          <a:solidFill>
            <a:srgbClr val="161B22"/>
          </a:solidFill>
          <a:ln w="12700">
            <a:solidFill>
              <a:srgbClr val="30363D"/>
            </a:solidFill>
            <a:prstDash val="solid"/>
          </a:ln>
        </p:spPr>
      </p:sp>
      <p:sp>
        <p:nvSpPr>
          <p:cNvPr id="13" name="Text 10"/>
          <p:cNvSpPr txBox="1"/>
          <p:nvPr/>
        </p:nvSpPr>
        <p:spPr>
          <a:xfrm>
            <a:off x="7872984" y="3575304"/>
            <a:ext cx="3529584" cy="19476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1.6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 nominal</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64,800 cells × 3 groups × 8 numbers, about half of it live (ocean maps over ocean, land maps over land), plus a scale s_c and a memory τ_c per channel (~100 numbers, global — slide 9) — cheap, and no compute</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2621585"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3371393" y="1463040"/>
            <a:ext cx="2621585"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3609137"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Log-space, with soft floors</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Σ</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and τ</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are stored as logarithms (slide 8), so Adam's step is a fixed fraction at any size; the waist's eigenvalues are floored at one cell (28 km) and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's at the design speed, by a softplus offset in log space rather than a clip</a:t>
            </a:r>
            <a:endParaRPr lang="en-US" sz="1250" dirty="0"/>
          </a:p>
        </p:txBody>
      </p:sp>
      <p:sp>
        <p:nvSpPr>
          <p:cNvPr id="11" name="Shape 8"/>
          <p:cNvSpPr/>
          <p:nvPr/>
        </p:nvSpPr>
        <p:spPr>
          <a:xfrm>
            <a:off x="6194146" y="1463040"/>
            <a:ext cx="2621585"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6431890"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Coarse 10° + 1° residual, L2 shrinkage and Laplacian smoothness on the residual (slide 12) — one weight, recorded in the run's metrics</a:t>
            </a:r>
            <a:endParaRPr lang="en-US" sz="1250" dirty="0"/>
          </a:p>
        </p:txBody>
      </p:sp>
      <p:sp>
        <p:nvSpPr>
          <p:cNvPr id="13" name="Shape 10"/>
          <p:cNvSpPr/>
          <p:nvPr/>
        </p:nvSpPr>
        <p:spPr>
          <a:xfrm>
            <a:off x="9016898" y="1463040"/>
            <a:ext cx="2621585"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9254642"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future cone shares the eight numbers (reflected); an untied arm is the ablation, not the design</a:t>
            </a:r>
            <a:endParaRPr lang="en-US" sz="1250" dirty="0"/>
          </a:p>
        </p:txBody>
      </p:sp>
      <p:sp>
        <p:nvSpPr>
          <p:cNvPr id="15" name="Shape 12"/>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7" name="Shape 14"/>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 ungated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read at full weight — the cone can be directed without asserting that a driver could not have come from elsewhere</a:t>
            </a:r>
            <a:endParaRPr lang="en-US" sz="1250" dirty="0"/>
          </a:p>
        </p:txBody>
      </p:sp>
      <p:sp>
        <p:nvSpPr>
          <p:cNvPr id="19" name="Shape 16"/>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20" name="Text 17"/>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 0; S</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the log of a 3-cell circle with the measured aspect 0.71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ml/measure_flow_anisotropy.py</a:t>
            </a:r>
            <a:r>
              <a:rPr lang="en-US" sz="1100" dirty="0">
                <a:solidFill>
                  <a:srgbClr val="E6EDF3"/>
                </a:solidFill>
                <a:latin typeface="Calibri" pitchFamily="34" charset="0"/>
                <a:ea typeface="Calibri" pitchFamily="34" charset="-122"/>
                <a:cs typeface="Calibri" pitchFamily="34" charset="-120"/>
              </a:rPr>
              <a:t>); Σ</a:t>
            </a:r>
            <a:r>
              <a:rPr lang="en-US" sz="1100" baseline="-40000" dirty="0">
                <a:solidFill>
                  <a:srgbClr val="E6EDF3"/>
                </a:solidFill>
                <a:latin typeface="Calibri" pitchFamily="34" charset="0"/>
                <a:ea typeface="Calibri" pitchFamily="34" charset="-122"/>
                <a:cs typeface="Calibri" pitchFamily="34" charset="-120"/>
              </a:rPr>
              <a:t>v</a:t>
            </a:r>
            <a:r>
              <a:rPr lang="en-US" sz="1100" dirty="0">
                <a:solidFill>
                  <a:srgbClr val="E6EDF3"/>
                </a:solidFill>
                <a:latin typeface="Calibri" pitchFamily="34" charset="0"/>
                <a:ea typeface="Calibri" pitchFamily="34" charset="-122"/>
                <a:cs typeface="Calibri" pitchFamily="34" charset="-120"/>
              </a:rPr>
              <a:t> from the 0.3 m/s of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100" dirty="0">
                <a:solidFill>
                  <a:srgbClr val="E6EDF3"/>
                </a:solidFill>
                <a:latin typeface="Calibri" pitchFamily="34" charset="0"/>
                <a:ea typeface="Calibri" pitchFamily="34" charset="-122"/>
                <a:cs typeface="Calibri" pitchFamily="34" charset="-120"/>
              </a:rPr>
              <a:t>; s</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and 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from the same table per channel — the fixed hourglass exactly, so step 0 of the learned arm is the control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One anchor on the western boundary: a learned surface cone, and deep profiles read from the other side</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Surface group:</a:t>
            </a:r>
            <a:r>
              <a:rPr lang="en-US" sz="1200" dirty="0">
                <a:solidFill>
                  <a:srgbClr val="E6EDF3"/>
                </a:solidFill>
                <a:latin typeface="Calibri" pitchFamily="34" charset="0"/>
                <a:ea typeface="Calibri" pitchFamily="34" charset="-122"/>
                <a:cs typeface="Calibri" pitchFamily="34" charset="-120"/>
              </a:rPr>
              <a:t> the learned d should point south-west (up the Florida Current, toward the Loop Current); the future cone leans north-east along the Gulf Stream</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Deep Argo:</a:t>
            </a:r>
            <a:r>
              <a:rPr lang="en-US" sz="1200" dirty="0">
                <a:solidFill>
                  <a:srgbClr val="E6EDF3"/>
                </a:solidFill>
                <a:latin typeface="Calibri" pitchFamily="34" charset="0"/>
                <a:ea typeface="Calibri" pitchFamily="34" charset="-122"/>
                <a:cs typeface="Calibri" pitchFamily="34" charset="-120"/>
              </a:rPr>
              <a:t> no ellipse to learn. The profile tokens within the search radius carry their own offset and depth; the model should put its attention on the deep (&gt; 1000 dbar) profiles </a:t>
            </a:r>
            <a:r>
              <a:rPr lang="en-US" sz="1200" b="1" dirty="0">
                <a:solidFill>
                  <a:srgbClr val="4493F8"/>
                </a:solidFill>
                <a:latin typeface="Calibri" pitchFamily="34" charset="0"/>
                <a:ea typeface="Calibri" pitchFamily="34" charset="-122"/>
                <a:cs typeface="Calibri" pitchFamily="34" charset="-120"/>
              </a:rPr>
              <a:t>north</a:t>
            </a:r>
            <a:r>
              <a:rPr lang="en-US" sz="1200" dirty="0">
                <a:solidFill>
                  <a:srgbClr val="E6EDF3"/>
                </a:solidFill>
                <a:latin typeface="Calibri" pitchFamily="34" charset="0"/>
                <a:ea typeface="Calibri" pitchFamily="34" charset="-122"/>
                <a:cs typeface="Calibri" pitchFamily="34" charset="-120"/>
              </a:rPr>
              <a:t> of the anchor — up the Deep Western Boundary Current — and on the shallow ones to the south</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Neither is programmed: these are the </a:t>
            </a:r>
            <a:r>
              <a:rPr lang="en-US" sz="1200" b="1" dirty="0">
                <a:solidFill>
                  <a:srgbClr val="4493F8"/>
                </a:solidFill>
                <a:latin typeface="Calibri" pitchFamily="34" charset="0"/>
                <a:ea typeface="Calibri" pitchFamily="34" charset="-122"/>
                <a:cs typeface="Calibri" pitchFamily="34" charset="-120"/>
              </a:rPr>
              <a:t>pre-registered expectations</a:t>
            </a:r>
            <a:r>
              <a:rPr lang="en-US" sz="1200" dirty="0">
                <a:solidFill>
                  <a:srgbClr val="E6EDF3"/>
                </a:solidFill>
                <a:latin typeface="Calibri" pitchFamily="34" charset="0"/>
                <a:ea typeface="Calibri" pitchFamily="34" charset="-122"/>
                <a:cs typeface="Calibri" pitchFamily="34" charset="-120"/>
              </a:rPr>
              <a:t> — a geometry check for the surface, an attention check for the deep</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2621585"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786384"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Slide 13. The geometry is trained only by “which inputs help”, never by “which targets are easy”.</a:t>
            </a:r>
            <a:endParaRPr lang="en-US" sz="1250" dirty="0"/>
          </a:p>
        </p:txBody>
      </p:sp>
      <p:sp>
        <p:nvSpPr>
          <p:cNvPr id="11" name="Shape 8"/>
          <p:cNvSpPr/>
          <p:nvPr/>
        </p:nvSpPr>
        <p:spPr>
          <a:xfrm>
            <a:off x="3371393" y="2487168"/>
            <a:ext cx="2621585"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3609137"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6194146" y="2487168"/>
            <a:ext cx="2621585" cy="2011680"/>
          </a:xfrm>
          <a:prstGeom prst="roundRect">
            <a:avLst>
              <a:gd name="adj" fmla="val 2727"/>
            </a:avLst>
          </a:prstGeom>
          <a:solidFill>
            <a:srgbClr val="161B22"/>
          </a:solidFill>
          <a:ln w="12700">
            <a:solidFill>
              <a:srgbClr val="30363D"/>
            </a:solidFill>
            <a:prstDash val="solid"/>
          </a:ln>
        </p:spPr>
      </p:sp>
      <p:sp>
        <p:nvSpPr>
          <p:cNvPr id="14" name="Text 11"/>
          <p:cNvSpPr txBox="1"/>
          <p:nvPr/>
        </p:nvSpPr>
        <p:spPr>
          <a:xfrm>
            <a:off x="6431890"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9016898" y="2487168"/>
            <a:ext cx="2621585" cy="2011680"/>
          </a:xfrm>
          <a:prstGeom prst="roundRect">
            <a:avLst>
              <a:gd name="adj" fmla="val 2727"/>
            </a:avLst>
          </a:prstGeom>
          <a:solidFill>
            <a:srgbClr val="161B22"/>
          </a:solidFill>
          <a:ln w="12700">
            <a:solidFill>
              <a:srgbClr val="30363D"/>
            </a:solidFill>
            <a:prstDash val="solid"/>
          </a:ln>
        </p:spPr>
      </p:sp>
      <p:sp>
        <p:nvSpPr>
          <p:cNvPr id="16" name="Text 13"/>
          <p:cNvSpPr txBox="1"/>
          <p:nvPr/>
        </p:nvSpPr>
        <p:spPr>
          <a:xfrm>
            <a:off x="9254642"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4 · the aperture never touches the loss weights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In phase 1 the targets are the fixed mirrored candidate set with fixed weights; a model that shrinks its aperture cannot thereby shrink the set of questions it is scored on.</a:t>
            </a:r>
            <a:endParaRPr lang="en-US" sz="1250" dirty="0"/>
          </a:p>
        </p:txBody>
      </p:sp>
      <p:sp>
        <p:nvSpPr>
          <p:cNvPr id="17" name="Shape 14"/>
          <p:cNvSpPr/>
          <p:nvPr/>
        </p:nvSpPr>
        <p:spPr>
          <a:xfrm>
            <a:off x="548640" y="4754880"/>
            <a:ext cx="11091672" cy="1097280"/>
          </a:xfrm>
          <a:prstGeom prst="roundRect">
            <a:avLst>
              <a:gd name="adj" fmla="val 5000"/>
            </a:avLst>
          </a:prstGeom>
          <a:solidFill>
            <a:srgbClr val="11202F"/>
          </a:solidFill>
          <a:ln w="12700">
            <a:solidFill>
              <a:srgbClr val="E3B341"/>
            </a:solidFill>
            <a:prstDash val="solid"/>
          </a:ln>
        </p:spPr>
      </p:sp>
      <p:sp>
        <p:nvSpPr>
          <p:cNvPr id="18" name="Text 15"/>
          <p:cNvSpPr txBox="1"/>
          <p:nvPr/>
        </p:nvSpPr>
        <p:spPr>
          <a:xfrm>
            <a:off x="822960" y="4901184"/>
            <a:ext cx="10543032" cy="804672"/>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2743200"/>
                <a:gridCol w="597103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phase 1: 6 lags × (1 + 36 candidates) × 4 groups ≈ 888  ·  phase 2: 6 × (1 + 24 ellipse + 24 ring) × 4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1.6 M nominal, ~half live (slide 12); no compute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none (revision 1's pyramid is gone); the per-region dot tables re-baked at epoch boundaries are small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800600"/>
            <a:ext cx="11091672" cy="1280160"/>
          </a:xfrm>
          <a:prstGeom prst="roundRect">
            <a:avLst>
              <a:gd name="adj" fmla="val 4286"/>
            </a:avLst>
          </a:prstGeom>
          <a:solidFill>
            <a:srgbClr val="161B22"/>
          </a:solidFill>
          <a:ln w="12700">
            <a:solidFill>
              <a:srgbClr val="30363D"/>
            </a:solidFill>
            <a:prstDash val="solid"/>
          </a:ln>
        </p:spPr>
      </p:sp>
      <p:sp>
        <p:nvSpPr>
          <p:cNvPr id="9" name="Text 5"/>
          <p:cNvSpPr txBox="1"/>
          <p:nvPr/>
        </p:nvSpPr>
        <p:spPr>
          <a:xfrm>
            <a:off x="804672" y="5001768"/>
            <a:ext cx="10579608" cy="914400"/>
          </a:xfrm>
          <a:prstGeom prst="rect">
            <a:avLst/>
          </a:prstGeom>
          <a:noFill/>
          <a:ln/>
        </p:spPr>
        <p:txBody>
          <a:bodyPr wrap="square" lIns="0" tIns="0" rIns="0" bIns="0" rtlCol="0" anchor="ctr"/>
          <a:lstStyle/>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Perceiver cost is linear in tokens: ~1.2× (phase 1) to ~1.6× (phase 2) E-069's encoder time, inside v2's own 2.1× estimate; the aperture weights are one elementwise multiply per token</a:t>
            </a:r>
            <a:endParaRPr lang="en-US" sz="1150" dirty="0"/>
          </a:p>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eight numbers per region plus the per-channel scales, gate-then-harden (slide 11),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As A1, but </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10128"/>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39312"/>
            <a:ext cx="11091672" cy="1298448"/>
          </a:xfrm>
          <a:prstGeom prst="roundRect">
            <a:avLst>
              <a:gd name="adj" fmla="val 4225"/>
            </a:avLst>
          </a:prstGeom>
          <a:solidFill>
            <a:srgbClr val="161B22"/>
          </a:solidFill>
          <a:ln w="12700">
            <a:solidFill>
              <a:srgbClr val="30363D"/>
            </a:solidFill>
            <a:prstDash val="solid"/>
          </a:ln>
        </p:spPr>
      </p:sp>
      <p:sp>
        <p:nvSpPr>
          <p:cNvPr id="15" name="Text 12"/>
          <p:cNvSpPr txBox="1"/>
          <p:nvPr/>
        </p:nvSpPr>
        <p:spPr>
          <a:xfrm>
            <a:off x="822960" y="3767328"/>
            <a:ext cx="10543032" cy="1042416"/>
          </a:xfrm>
          <a:prstGeom prst="rect">
            <a:avLst/>
          </a:prstGeom>
          <a:noFill/>
          <a:ln/>
        </p:spPr>
        <p:txBody>
          <a:bodyPr wrap="square" lIns="0" tIns="0" rIns="0" bIns="0" rtlCol="0" anchor="t"/>
          <a:lstStyle/>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R1</a:t>
            </a:r>
            <a:r>
              <a:rPr lang="en-US" sz="1100" dirty="0">
                <a:solidFill>
                  <a:srgbClr val="E6EDF3"/>
                </a:solidFill>
                <a:latin typeface="Calibri" pitchFamily="34" charset="0"/>
                <a:ea typeface="Calibri" pitchFamily="34" charset="-122"/>
                <a:cs typeface="Calibri" pitchFamily="34" charset="-120"/>
              </a:rPr>
              <a:t> T1 future-cone loss per lead vs bar  ·  </a:t>
            </a:r>
            <a:r>
              <a:rPr lang="en-US" sz="1100" b="1" dirty="0">
                <a:solidFill>
                  <a:srgbClr val="4493F8"/>
                </a:solidFill>
                <a:latin typeface="Calibri" pitchFamily="34" charset="0"/>
                <a:ea typeface="Calibri" pitchFamily="34" charset="-122"/>
                <a:cs typeface="Calibri" pitchFamily="34" charset="-120"/>
              </a:rPr>
              <a:t>R2</a:t>
            </a:r>
            <a:r>
              <a:rPr lang="en-US" sz="1100" dirty="0">
                <a:solidFill>
                  <a:srgbClr val="E6EDF3"/>
                </a:solidFill>
                <a:latin typeface="Calibri" pitchFamily="34" charset="0"/>
                <a:ea typeface="Calibri" pitchFamily="34" charset="-122"/>
                <a:cs typeface="Calibri" pitchFamily="34" charset="-120"/>
              </a:rPr>
              <a:t> the T1 − T2 gap (what history buys)  ·  </a:t>
            </a:r>
            <a:r>
              <a:rPr lang="en-US" sz="1100" b="1" dirty="0">
                <a:solidFill>
                  <a:srgbClr val="4493F8"/>
                </a:solidFill>
                <a:latin typeface="Calibri" pitchFamily="34" charset="0"/>
                <a:ea typeface="Calibri" pitchFamily="34" charset="-122"/>
                <a:cs typeface="Calibri" pitchFamily="34" charset="-120"/>
              </a:rPr>
              <a:t>R3</a:t>
            </a:r>
            <a:r>
              <a:rPr lang="en-US" sz="110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R4</a:t>
            </a:r>
            <a:r>
              <a:rPr lang="en-US" sz="1100" dirty="0">
                <a:solidFill>
                  <a:srgbClr val="E6EDF3"/>
                </a:solidFill>
                <a:latin typeface="Calibri" pitchFamily="34" charset="0"/>
                <a:ea typeface="Calibri" pitchFamily="34" charset="-122"/>
                <a:cs typeface="Calibri" pitchFamily="34" charset="-120"/>
              </a:rPr>
              <a:t> the western-boundary depth check — surface drift south-west (geometry); attention mass on deep (&gt; 1000 dbar) profile tokens north of the anchor, on shallow ones south (attention diagnostic)</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R5</a:t>
            </a:r>
            <a:r>
              <a:rPr lang="en-US" sz="1100" dirty="0">
                <a:solidFill>
                  <a:srgbClr val="E6EDF3"/>
                </a:solidFill>
                <a:latin typeface="Calibri" pitchFamily="34" charset="0"/>
                <a:ea typeface="Calibri" pitchFamily="34" charset="-122"/>
                <a:cs typeface="Calibri" pitchFamily="34" charset="-120"/>
              </a:rPr>
              <a:t> target-variance flag (slide 15)</a:t>
            </a:r>
            <a:endParaRPr lang="en-US" sz="1100" dirty="0"/>
          </a:p>
        </p:txBody>
      </p:sp>
      <p:sp>
        <p:nvSpPr>
          <p:cNvPr id="16" name="Shape 13"/>
          <p:cNvSpPr/>
          <p:nvPr/>
        </p:nvSpPr>
        <p:spPr>
          <a:xfrm>
            <a:off x="548640" y="5029200"/>
            <a:ext cx="11091672" cy="1188720"/>
          </a:xfrm>
          <a:prstGeom prst="roundRect">
            <a:avLst>
              <a:gd name="adj" fmla="val 4615"/>
            </a:avLst>
          </a:prstGeom>
          <a:solidFill>
            <a:srgbClr val="11202F"/>
          </a:solidFill>
          <a:ln w="12700">
            <a:solidFill>
              <a:srgbClr val="E3B341"/>
            </a:solidFill>
            <a:prstDash val="solid"/>
          </a:ln>
        </p:spPr>
      </p:sp>
      <p:sp>
        <p:nvSpPr>
          <p:cNvPr id="17" name="Text 14"/>
          <p:cNvSpPr txBox="1"/>
          <p:nvPr/>
        </p:nvSpPr>
        <p:spPr>
          <a:xfrm>
            <a:off x="822960" y="5138928"/>
            <a:ext cx="10543032" cy="969264"/>
          </a:xfrm>
          <a:prstGeom prst="rect">
            <a:avLst/>
          </a:prstGeom>
          <a:noFill/>
          <a:ln/>
        </p:spPr>
        <p:txBody>
          <a:bodyPr wrap="square" lIns="0" tIns="0" rIns="0" bIns="0" rtlCol="0" anchor="ctr"/>
          <a:lstStyle/>
          <a:p>
            <a:pPr indent="0" marL="0">
              <a:buNone/>
            </a:pPr>
            <a:r>
              <a:rPr lang="en-US" sz="1150" b="1" dirty="0">
                <a:solidFill>
                  <a:srgbClr val="E3B341"/>
                </a:solidFill>
                <a:latin typeface="Calibri" pitchFamily="34" charset="0"/>
                <a:ea typeface="Calibri" pitchFamily="34" charset="-122"/>
                <a:cs typeface="Calibri" pitchFamily="34" charset="-120"/>
              </a:rPr>
              <a:t>Verdict:  </a:t>
            </a:r>
            <a:r>
              <a:rPr lang="en-US" sz="115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   </a:t>
            </a:r>
            <a:r>
              <a:rPr lang="en-US" sz="1150" b="1" dirty="0">
                <a:solidFill>
                  <a:srgbClr val="E3B341"/>
                </a:solidFill>
                <a:latin typeface="Calibri" pitchFamily="34" charset="0"/>
                <a:ea typeface="Calibri" pitchFamily="34" charset="-122"/>
                <a:cs typeface="Calibri" pitchFamily="34" charset="-120"/>
              </a:rPr>
              <a:t>First ablation after the arms: </a:t>
            </a:r>
            <a:r>
              <a:rPr lang="en-US" sz="1150" dirty="0">
                <a:solidFill>
                  <a:srgbClr val="E6EDF3"/>
                </a:solidFill>
                <a:latin typeface="Calibri" pitchFamily="34" charset="0"/>
                <a:ea typeface="Calibri" pitchFamily="34" charset="-122"/>
                <a:cs typeface="Calibri" pitchFamily="34" charset="-120"/>
              </a:rPr>
              <a:t>A1 without the far ring — does the ring pay for its tokens?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548640" y="1645920"/>
            <a:ext cx="11091672" cy="768096"/>
          </a:xfrm>
          <a:prstGeom prst="roundRect">
            <a:avLst>
              <a:gd name="adj" fmla="val 7143"/>
            </a:avLst>
          </a:prstGeom>
          <a:solidFill>
            <a:srgbClr val="161B22"/>
          </a:solidFill>
          <a:ln w="12700">
            <a:solidFill>
              <a:srgbClr val="30363D"/>
            </a:solidFill>
            <a:prstDash val="solid"/>
          </a:ln>
        </p:spPr>
      </p:sp>
      <p:sp>
        <p:nvSpPr>
          <p:cNvPr id="9" name="Shape 6"/>
          <p:cNvSpPr/>
          <p:nvPr/>
        </p:nvSpPr>
        <p:spPr>
          <a:xfrm>
            <a:off x="768096" y="1874520"/>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745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5564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the per-lag golden-angle phase in inner_dots; coverage_report extended with the mirror identity (future set = −past set) and re-asserted per lag under the phase — pure numpy, CPU test</a:t>
            </a:r>
            <a:endParaRPr lang="en-US" sz="1150" dirty="0"/>
          </a:p>
        </p:txBody>
      </p:sp>
      <p:sp>
        <p:nvSpPr>
          <p:cNvPr id="12" name="Shape 9"/>
          <p:cNvSpPr/>
          <p:nvPr/>
        </p:nvSpPr>
        <p:spPr>
          <a:xfrm>
            <a:off x="548640" y="2468880"/>
            <a:ext cx="11091672" cy="768096"/>
          </a:xfrm>
          <a:prstGeom prst="roundRect">
            <a:avLst>
              <a:gd name="adj" fmla="val 7143"/>
            </a:avLst>
          </a:prstGeom>
          <a:solidFill>
            <a:srgbClr val="161B22"/>
          </a:solidFill>
          <a:ln w="12700">
            <a:solidFill>
              <a:srgbClr val="30363D"/>
            </a:solidFill>
            <a:prstDash val="solid"/>
          </a:ln>
        </p:spPr>
      </p:sp>
      <p:sp>
        <p:nvSpPr>
          <p:cNvPr id="13" name="Shape 10"/>
          <p:cNvSpPr/>
          <p:nvPr/>
        </p:nvSpPr>
        <p:spPr>
          <a:xfrm>
            <a:off x="768096" y="2697480"/>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9748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91840"/>
            <a:ext cx="11091672" cy="768096"/>
          </a:xfrm>
          <a:prstGeom prst="roundRect">
            <a:avLst>
              <a:gd name="adj" fmla="val 7143"/>
            </a:avLst>
          </a:prstGeom>
          <a:solidFill>
            <a:srgbClr val="161B22"/>
          </a:solidFill>
          <a:ln w="12700">
            <a:solidFill>
              <a:srgbClr val="30363D"/>
            </a:solidFill>
            <a:prstDash val="solid"/>
          </a:ln>
        </p:spPr>
      </p:sp>
      <p:sp>
        <p:nvSpPr>
          <p:cNvPr id="17" name="Shape 14"/>
          <p:cNvSpPr/>
          <p:nvPr/>
        </p:nvSpPr>
        <p:spPr>
          <a:xfrm>
            <a:off x="768096" y="352044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52044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40156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aperture gate (cone_codec.py)  </a:t>
            </a:r>
            <a:r>
              <a:rPr lang="en-US" sz="1050" dirty="0">
                <a:solidFill>
                  <a:srgbClr val="7D8590"/>
                </a:solidFill>
                <a:latin typeface="Calibri" pitchFamily="34" charset="0"/>
                <a:ea typeface="Calibri" pitchFamily="34" charset="-122"/>
                <a:cs typeface="Calibri" pitchFamily="34" charset="-120"/>
              </a:rPr>
              <a:t>per-channel space-time weights w_{c,i,ℓ} on the per-location candidate tokens, ring ungated; test: with every s_c → +∞ and τ_c → +∞ the forward pass equals the ungated model bit-for-bit, and the finite-difference gradient of the loss w.r.t. S₀, Σ_v, d, s_c, τ_c matches autograd</a:t>
            </a:r>
            <a:endParaRPr lang="en-US" sz="1150" dirty="0"/>
          </a:p>
        </p:txBody>
      </p:sp>
      <p:sp>
        <p:nvSpPr>
          <p:cNvPr id="20" name="Shape 17"/>
          <p:cNvSpPr/>
          <p:nvPr/>
        </p:nvSpPr>
        <p:spPr>
          <a:xfrm>
            <a:off x="548640" y="4114800"/>
            <a:ext cx="11091672" cy="768096"/>
          </a:xfrm>
          <a:prstGeom prst="roundRect">
            <a:avLst>
              <a:gd name="adj" fmla="val 7143"/>
            </a:avLst>
          </a:prstGeom>
          <a:solidFill>
            <a:srgbClr val="161B22"/>
          </a:solidFill>
          <a:ln w="12700">
            <a:solidFill>
              <a:srgbClr val="30363D"/>
            </a:solidFill>
            <a:prstDash val="solid"/>
          </a:ln>
        </p:spPr>
      </p:sp>
      <p:sp>
        <p:nvSpPr>
          <p:cNvPr id="21" name="Shape 18"/>
          <p:cNvSpPr/>
          <p:nvPr/>
        </p:nvSpPr>
        <p:spPr>
          <a:xfrm>
            <a:off x="768096" y="4343400"/>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34340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22452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and the harden step (cone_codec.py::ConeGeometry, cone_sampler.py)  </a:t>
            </a:r>
            <a:r>
              <a:rPr lang="en-US" sz="1050" dirty="0">
                <a:solidFill>
                  <a:srgbClr val="7D8590"/>
                </a:solidFill>
                <a:latin typeface="Calibri" pitchFamily="34" charset="0"/>
                <a:ea typeface="Calibri" pitchFamily="34" charset="-122"/>
                <a:cs typeface="Calibri" pitchFamily="34" charset="-120"/>
              </a:rPr>
              <a:t>1° maps per group as coarse 10° + residual, matrix-log storage, the log-space floors, the prior, mirror, stop-gradient, init = A0; the sampler's dot table becomes a per-region lookup swapped at epoch boundaries; test: the table re-baked at init equals step 1's fixed dots to &lt; 0.1 cell, and a swap mid-run changes no read of the current epoch</a:t>
            </a:r>
            <a:endParaRPr lang="en-US" sz="1150" dirty="0"/>
          </a:p>
        </p:txBody>
      </p:sp>
      <p:sp>
        <p:nvSpPr>
          <p:cNvPr id="24" name="Shape 21"/>
          <p:cNvSpPr/>
          <p:nvPr/>
        </p:nvSpPr>
        <p:spPr>
          <a:xfrm>
            <a:off x="548640" y="4937760"/>
            <a:ext cx="11091672" cy="768096"/>
          </a:xfrm>
          <a:prstGeom prst="roundRect">
            <a:avLst>
              <a:gd name="adj" fmla="val 7143"/>
            </a:avLst>
          </a:prstGeom>
          <a:solidFill>
            <a:srgbClr val="161B22"/>
          </a:solidFill>
          <a:ln w="12700">
            <a:solidFill>
              <a:srgbClr val="30363D"/>
            </a:solidFill>
            <a:prstDash val="solid"/>
          </a:ln>
        </p:spPr>
      </p:sp>
      <p:sp>
        <p:nvSpPr>
          <p:cNvPr id="25" name="Shape 22"/>
          <p:cNvSpPr/>
          <p:nvPr/>
        </p:nvSpPr>
        <p:spPr>
          <a:xfrm>
            <a:off x="768096" y="5166360"/>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16636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504748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 drift maps exported as data/cone_drift_&lt;group&gt;.json for the app's Cones tab, R4 attention-by-depth-and-bearing at the western-boundary anchors, R5 flag; then the three arms as recipes f7l2-hourglass-{fixed,learned,primed}</a:t>
            </a:r>
            <a:endParaRPr lang="en-US" sz="1150" dirty="0"/>
          </a:p>
        </p:txBody>
      </p:sp>
      <p:sp>
        <p:nvSpPr>
          <p:cNvPr id="28" name="Text 25"/>
          <p:cNvSpPr txBox="1"/>
          <p:nvPr/>
        </p:nvSpPr>
        <p:spPr>
          <a:xfrm>
            <a:off x="548640" y="583387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4 is the only one that touches the data path, and only at epoch boundaries.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Two settled, seven still open — all reversible</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548640" y="1426464"/>
            <a:ext cx="11091672" cy="804672"/>
          </a:xfrm>
          <a:prstGeom prst="roundRect">
            <a:avLst>
              <a:gd name="adj" fmla="val 6818"/>
            </a:avLst>
          </a:prstGeom>
          <a:solidFill>
            <a:srgbClr val="11202F"/>
          </a:solidFill>
          <a:ln w="12700">
            <a:solidFill>
              <a:srgbClr val="E3B341"/>
            </a:solidFill>
            <a:prstDash val="solid"/>
          </a:ln>
        </p:spPr>
      </p:sp>
      <p:sp>
        <p:nvSpPr>
          <p:cNvPr id="8" name="Text 5"/>
          <p:cNvSpPr txBox="1"/>
          <p:nvPr/>
        </p:nvSpPr>
        <p:spPr>
          <a:xfrm>
            <a:off x="822960" y="1554480"/>
            <a:ext cx="10543032" cy="5486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Settled 15 Sep (Chris):  </a:t>
            </a:r>
            <a:r>
              <a:rPr lang="en-US" sz="1250" b="1" dirty="0">
                <a:solidFill>
                  <a:srgbClr val="4493F8"/>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parameter maps with the coarse-plus-residual prior; </a:t>
            </a:r>
            <a:r>
              <a:rPr lang="en-US" sz="1250" b="1" dirty="0">
                <a:solidFill>
                  <a:srgbClr val="4493F8"/>
                </a:solidFill>
                <a:latin typeface="Calibri" pitchFamily="34" charset="0"/>
                <a:ea typeface="Calibri" pitchFamily="34" charset="-122"/>
                <a:cs typeface="Calibri" pitchFamily="34" charset="-120"/>
              </a:rPr>
              <a:t>no Argo ellipses</a:t>
            </a:r>
            <a:r>
              <a:rPr lang="en-US" sz="1250" dirty="0">
                <a:solidFill>
                  <a:srgbClr val="E6EDF3"/>
                </a:solidFill>
                <a:latin typeface="Calibri" pitchFamily="34" charset="0"/>
                <a:ea typeface="Calibri" pitchFamily="34" charset="-122"/>
                <a:cs typeface="Calibri" pitchFamily="34" charset="-120"/>
              </a:rPr>
              <a:t> — the nearest-profile tokens stay as E-071 §3 specifies them.</a:t>
            </a:r>
            <a:endParaRPr lang="en-US" sz="1250" dirty="0"/>
          </a:p>
        </p:txBody>
      </p:sp>
      <p:sp>
        <p:nvSpPr>
          <p:cNvPr id="9" name="Shape 6"/>
          <p:cNvSpPr/>
          <p:nvPr/>
        </p:nvSpPr>
        <p:spPr>
          <a:xfrm>
            <a:off x="548640" y="2432304"/>
            <a:ext cx="2621585" cy="1755648"/>
          </a:xfrm>
          <a:prstGeom prst="roundRect">
            <a:avLst>
              <a:gd name="adj" fmla="val 3125"/>
            </a:avLst>
          </a:prstGeom>
          <a:solidFill>
            <a:srgbClr val="161B22"/>
          </a:solidFill>
          <a:ln w="12700">
            <a:solidFill>
              <a:srgbClr val="30363D"/>
            </a:solidFill>
            <a:prstDash val="solid"/>
          </a:ln>
        </p:spPr>
      </p:sp>
      <p:sp>
        <p:nvSpPr>
          <p:cNvPr id="10" name="Text 7"/>
          <p:cNvSpPr txBox="1"/>
          <p:nvPr/>
        </p:nvSpPr>
        <p:spPr>
          <a:xfrm>
            <a:off x="786384"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+6 pentads</a:t>
            </a:r>
            <a:r>
              <a:rPr lang="en-US" sz="105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11" name="Shape 8"/>
          <p:cNvSpPr/>
          <p:nvPr/>
        </p:nvSpPr>
        <p:spPr>
          <a:xfrm>
            <a:off x="3371393" y="2432304"/>
            <a:ext cx="2621585" cy="1755648"/>
          </a:xfrm>
          <a:prstGeom prst="roundRect">
            <a:avLst>
              <a:gd name="adj" fmla="val 3125"/>
            </a:avLst>
          </a:prstGeom>
          <a:solidFill>
            <a:srgbClr val="161B22"/>
          </a:solidFill>
          <a:ln w="12700">
            <a:solidFill>
              <a:srgbClr val="30363D"/>
            </a:solidFill>
            <a:prstDash val="solid"/>
          </a:ln>
        </p:spPr>
      </p:sp>
      <p:sp>
        <p:nvSpPr>
          <p:cNvPr id="12" name="Text 9"/>
          <p:cNvSpPr txBox="1"/>
          <p:nvPr/>
        </p:nvSpPr>
        <p:spPr>
          <a:xfrm>
            <a:off x="3609137"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0.35 / 0.15 / 0.25 / 0.25</a:t>
            </a:r>
            <a:r>
              <a:rPr lang="en-US" sz="105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3" name="Shape 10"/>
          <p:cNvSpPr/>
          <p:nvPr/>
        </p:nvSpPr>
        <p:spPr>
          <a:xfrm>
            <a:off x="6194146" y="2432304"/>
            <a:ext cx="2621585" cy="1755648"/>
          </a:xfrm>
          <a:prstGeom prst="roundRect">
            <a:avLst>
              <a:gd name="adj" fmla="val 3125"/>
            </a:avLst>
          </a:prstGeom>
          <a:solidFill>
            <a:srgbClr val="161B22"/>
          </a:solidFill>
          <a:ln w="12700">
            <a:solidFill>
              <a:srgbClr val="30363D"/>
            </a:solidFill>
            <a:prstDash val="solid"/>
          </a:ln>
        </p:spPr>
      </p:sp>
      <p:sp>
        <p:nvSpPr>
          <p:cNvPr id="14" name="Text 11"/>
          <p:cNvSpPr txBox="1"/>
          <p:nvPr/>
        </p:nvSpPr>
        <p:spPr>
          <a:xfrm>
            <a:off x="6431890"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 strength on the 1° residual</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One weight, to be set by held-out loss on the training years — or fixed by hand for the first arm?</a:t>
            </a:r>
            <a:endParaRPr lang="en-US" sz="1250" dirty="0"/>
          </a:p>
        </p:txBody>
      </p:sp>
      <p:sp>
        <p:nvSpPr>
          <p:cNvPr id="15" name="Shape 12"/>
          <p:cNvSpPr/>
          <p:nvPr/>
        </p:nvSpPr>
        <p:spPr>
          <a:xfrm>
            <a:off x="9016898" y="2432304"/>
            <a:ext cx="2621585" cy="1755648"/>
          </a:xfrm>
          <a:prstGeom prst="roundRect">
            <a:avLst>
              <a:gd name="adj" fmla="val 3125"/>
            </a:avLst>
          </a:prstGeom>
          <a:solidFill>
            <a:srgbClr val="161B22"/>
          </a:solidFill>
          <a:ln w="12700">
            <a:solidFill>
              <a:srgbClr val="30363D"/>
            </a:solidFill>
            <a:prstDash val="solid"/>
          </a:ln>
        </p:spPr>
      </p:sp>
      <p:sp>
        <p:nvSpPr>
          <p:cNvPr id="16" name="Text 13"/>
          <p:cNvSpPr txBox="1"/>
          <p:nvPr/>
        </p:nvSpPr>
        <p:spPr>
          <a:xfrm>
            <a:off x="9254642"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Kept</a:t>
            </a:r>
            <a:r>
              <a:rPr lang="en-US" sz="105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548640" y="4334256"/>
            <a:ext cx="3557016" cy="1755648"/>
          </a:xfrm>
          <a:prstGeom prst="roundRect">
            <a:avLst>
              <a:gd name="adj" fmla="val 3125"/>
            </a:avLst>
          </a:prstGeom>
          <a:solidFill>
            <a:srgbClr val="161B22"/>
          </a:solidFill>
          <a:ln w="12700">
            <a:solidFill>
              <a:srgbClr val="30363D"/>
            </a:solidFill>
            <a:prstDash val="solid"/>
          </a:ln>
        </p:spPr>
      </p:sp>
      <p:sp>
        <p:nvSpPr>
          <p:cNvPr id="18" name="Text 15"/>
          <p:cNvSpPr txBox="1"/>
          <p:nvPr/>
        </p:nvSpPr>
        <p:spPr>
          <a:xfrm>
            <a:off x="786384"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Deferred</a:t>
            </a:r>
            <a:r>
              <a:rPr lang="en-US" sz="110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
        <p:nvSpPr>
          <p:cNvPr id="19" name="Shape 16"/>
          <p:cNvSpPr/>
          <p:nvPr/>
        </p:nvSpPr>
        <p:spPr>
          <a:xfrm>
            <a:off x="4315968" y="4334256"/>
            <a:ext cx="3557016" cy="1755648"/>
          </a:xfrm>
          <a:prstGeom prst="roundRect">
            <a:avLst>
              <a:gd name="adj" fmla="val 3125"/>
            </a:avLst>
          </a:prstGeom>
          <a:solidFill>
            <a:srgbClr val="161B22"/>
          </a:solidFill>
          <a:ln w="12700">
            <a:solidFill>
              <a:srgbClr val="30363D"/>
            </a:solidFill>
            <a:prstDash val="solid"/>
          </a:ln>
        </p:spPr>
      </p:sp>
      <p:sp>
        <p:nvSpPr>
          <p:cNvPr id="20" name="Text 17"/>
          <p:cNvSpPr txBox="1"/>
          <p:nvPr/>
        </p:nvSpPr>
        <p:spPr>
          <a:xfrm>
            <a:off x="4553712"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Harden interval and geometry LR</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N = 2 k steps</a:t>
            </a:r>
            <a:r>
              <a:rPr lang="en-US" sz="1100" dirty="0">
                <a:solidFill>
                  <a:srgbClr val="E6EDF3"/>
                </a:solidFill>
                <a:latin typeface="Calibri" pitchFamily="34" charset="0"/>
                <a:ea typeface="Calibri" pitchFamily="34" charset="-122"/>
                <a:cs typeface="Calibri" pitchFamily="34" charset="-120"/>
              </a:rPr>
              <a:t> and the geometry learning-rate multiplier </a:t>
            </a:r>
            <a:r>
              <a:rPr lang="en-US" sz="1100" b="1" dirty="0">
                <a:solidFill>
                  <a:srgbClr val="4493F8"/>
                </a:solidFill>
                <a:latin typeface="Calibri" pitchFamily="34" charset="0"/>
                <a:ea typeface="Calibri" pitchFamily="34" charset="-122"/>
                <a:cs typeface="Calibri" pitchFamily="34" charset="-120"/>
              </a:rPr>
              <a:t>×10</a:t>
            </a:r>
            <a:r>
              <a:rPr lang="en-US" sz="1100" dirty="0">
                <a:solidFill>
                  <a:srgbClr val="E6EDF3"/>
                </a:solidFill>
                <a:latin typeface="Calibri" pitchFamily="34" charset="0"/>
                <a:ea typeface="Calibri" pitchFamily="34" charset="-122"/>
                <a:cs typeface="Calibri" pitchFamily="34" charset="-120"/>
              </a:rPr>
              <a:t> — first guesses, both recorded per run</a:t>
            </a:r>
            <a:endParaRPr lang="en-US" sz="1250" dirty="0"/>
          </a:p>
        </p:txBody>
      </p:sp>
      <p:sp>
        <p:nvSpPr>
          <p:cNvPr id="21" name="Shape 18"/>
          <p:cNvSpPr/>
          <p:nvPr/>
        </p:nvSpPr>
        <p:spPr>
          <a:xfrm>
            <a:off x="8083296" y="4334256"/>
            <a:ext cx="3557016" cy="1755648"/>
          </a:xfrm>
          <a:prstGeom prst="roundRect">
            <a:avLst>
              <a:gd name="adj" fmla="val 3125"/>
            </a:avLst>
          </a:prstGeom>
          <a:solidFill>
            <a:srgbClr val="161B22"/>
          </a:solidFill>
          <a:ln w="12700">
            <a:solidFill>
              <a:srgbClr val="30363D"/>
            </a:solidFill>
            <a:prstDash val="solid"/>
          </a:ln>
        </p:spPr>
      </p:sp>
      <p:sp>
        <p:nvSpPr>
          <p:cNvPr id="22" name="Text 19"/>
          <p:cNvSpPr txBox="1"/>
          <p:nvPr/>
        </p:nvSpPr>
        <p:spPr>
          <a:xfrm>
            <a:off x="8321040"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Time inside the 30-day window</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Dense</a:t>
            </a:r>
            <a:r>
              <a:rPr lang="en-US" sz="1100" dirty="0">
                <a:solidFill>
                  <a:srgbClr val="E6EDF3"/>
                </a:solidFill>
                <a:latin typeface="Calibri" pitchFamily="34" charset="0"/>
                <a:ea typeface="Calibri" pitchFamily="34" charset="-122"/>
                <a:cs typeface="Calibri" pitchFamily="34" charset="-120"/>
              </a:rPr>
              <a:t>, one slice per pentad. A log-spaced inner time ramp (1, 2, 3, 5, 8, 13 pentads at the same six slices) is an </a:t>
            </a:r>
            <a:r>
              <a:rPr lang="en-US" sz="1100" b="1" dirty="0">
                <a:solidFill>
                  <a:srgbClr val="4493F8"/>
                </a:solidFill>
                <a:latin typeface="Calibri" pitchFamily="34" charset="0"/>
                <a:ea typeface="Calibri" pitchFamily="34" charset="-122"/>
                <a:cs typeface="Calibri" pitchFamily="34" charset="-120"/>
              </a:rPr>
              <a:t>ablation</a:t>
            </a:r>
            <a:r>
              <a:rPr lang="en-US" sz="1100" dirty="0">
                <a:solidFill>
                  <a:srgbClr val="E6EDF3"/>
                </a:solidFill>
                <a:latin typeface="Calibri" pitchFamily="34" charset="0"/>
                <a:ea typeface="Calibri" pitchFamily="34" charset="-122"/>
                <a:cs typeface="Calibri" pitchFamily="34" charset="-120"/>
              </a:rPr>
              <a:t>, not the design — it would move the codec's window into stage 2's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 · Two stencils, one cone</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ml/plans/E069_cone_codec.md</a:t>
            </a:r>
            <a:r>
              <a:rPr lang="en-US" sz="1050" dirty="0">
                <a:solidFill>
                  <a:srgbClr val="E6EDF3"/>
                </a:solidFill>
                <a:latin typeface="Calibri" pitchFamily="34" charset="0"/>
                <a:ea typeface="Calibri" pitchFamily="34" charset="-122"/>
                <a:cs typeface="Calibri" pitchFamily="34" charset="-120"/>
              </a:rPr>
              <a:t>; results in </a:t>
            </a:r>
            <a:r>
              <a:rPr lang="en-US" sz="10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ml/EXPERIMENTS.md#e-069</a:t>
            </a:r>
            <a:r>
              <a:rPr lang="en-US" sz="1050" dirty="0">
                <a:solidFill>
                  <a:srgbClr val="E6EDF3"/>
                </a:solidFill>
                <a:latin typeface="Calibri" pitchFamily="34" charset="0"/>
                <a:ea typeface="Calibri" pitchFamily="34" charset="-122"/>
                <a:cs typeface="Calibri" pitchFamily="34" charset="-120"/>
              </a:rPr>
              <a:t> (five seeds, H1 refuted; what history buys)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E-069b masking-plan fix</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ml/cone_codec.py::default_plan</a:t>
            </a:r>
            <a:r>
              <a:rPr lang="en-US" sz="1050" dirty="0">
                <a:solidFill>
                  <a:srgbClr val="E6EDF3"/>
                </a:solidFill>
                <a:latin typeface="Calibri" pitchFamily="34" charset="0"/>
                <a:ea typeface="Calibri" pitchFamily="34" charset="-122"/>
                <a:cs typeface="Calibri" pitchFamily="34" charset="-120"/>
              </a:rPr>
              <a:t> (chan_drop_scope, anchor_hidden_only), </a:t>
            </a:r>
            <a:r>
              <a:rPr lang="en-US" sz="1050" u="sng" dirty="0">
                <a:solidFill>
                  <a:srgbClr val="4493F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ml/train_cone.py</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E-071 · Cone v2</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ml/plans/E071_cone_v2.md</a:t>
            </a:r>
            <a:r>
              <a:rPr lang="en-US" sz="1050" dirty="0">
                <a:solidFill>
                  <a:srgbClr val="E6EDF3"/>
                </a:solidFill>
                <a:latin typeface="Calibri" pitchFamily="34" charset="0"/>
                <a:ea typeface="Calibri" pitchFamily="34" charset="-122"/>
                <a:cs typeface="Calibri" pitchFamily="34" charset="-120"/>
              </a:rPr>
              <a:t> (§3 profile tokens, §4 design speeds and log-radial dots, §4.5 the split in time, §6.4 per-location tokens)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E-076 · Family 8 nearest observations</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ml/plans/E076_family8_nearest_observations.md</a:t>
            </a:r>
            <a:r>
              <a:rPr lang="en-US" sz="1050" dirty="0">
                <a:solidFill>
                  <a:srgbClr val="E6EDF3"/>
                </a:solidFill>
                <a:latin typeface="Calibri" pitchFamily="34" charset="0"/>
                <a:ea typeface="Calibri" pitchFamily="34" charset="-122"/>
                <a:cs typeface="Calibri" pitchFamily="34" charset="-120"/>
              </a:rPr>
              <a:t> (the (value, Δx, Δy, Δt, n_R) token)</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as built</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ml/cone.py</a:t>
            </a:r>
            <a:r>
              <a:rPr lang="en-US" sz="1050" dirty="0">
                <a:solidFill>
                  <a:srgbClr val="E6EDF3"/>
                </a:solidFill>
                <a:latin typeface="Calibri" pitchFamily="34" charset="0"/>
                <a:ea typeface="Calibri" pitchFamily="34" charset="-122"/>
                <a:cs typeface="Calibri" pitchFamily="34" charset="-120"/>
              </a:rPr>
              <a:t> (FAMILIES, reach_km, slots, inner_dots, outer_spiral, coverage_report)</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E-026 · the sunflower stencil</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50" dirty="0">
                <a:solidFill>
                  <a:srgbClr val="E6EDF3"/>
                </a:solidFill>
                <a:latin typeface="Calibri" pitchFamily="34" charset="0"/>
                <a:ea typeface="Calibri" pitchFamily="34" charset="-122"/>
                <a:cs typeface="Calibri" pitchFamily="34" charset="-120"/>
              </a:rPr>
              <a:t>, the pattern the warped sunflower reuses</a:t>
            </a:r>
            <a:endParaRPr lang="en-US" sz="105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learning-rate multiplier and soft sampling weights: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Zhu et al. 2021, Deformable DETR</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step-size argument for log-space parameters: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Kingma &amp; Ba 2015, Adam</a:t>
            </a:r>
            <a:r>
              <a:rPr lang="en-US" sz="1050" dirty="0">
                <a:solidFill>
                  <a:srgbClr val="E6EDF3"/>
                </a:solidFill>
                <a:latin typeface="Calibri" pitchFamily="34" charset="0"/>
                <a:ea typeface="Calibri" pitchFamily="34" charset="-122"/>
                <a:cs typeface="Calibri" pitchFamily="34" charset="-120"/>
              </a:rPr>
              <a:t> — the update is ≈ lr per step in the parameter's own units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matrix logarithm of a symmetric 2×2 covariance:</a:t>
            </a:r>
            <a:r>
              <a:rPr lang="en-US" sz="1050" dirty="0">
                <a:solidFill>
                  <a:srgbClr val="E6EDF3"/>
                </a:solidFill>
                <a:latin typeface="Calibri" pitchFamily="34" charset="0"/>
                <a:ea typeface="Calibri" pitchFamily="34" charset="-122"/>
                <a:cs typeface="Calibri" pitchFamily="34" charset="-120"/>
              </a:rPr>
              <a:t> S = m·I + k·[cos 2θ, sin 2θ; sin 2θ, −cos 2θ] with m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k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 standard, no reference needed</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Currents:</a:t>
            </a:r>
            <a:r>
              <a:rPr lang="en-US" sz="105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DECK ON ONE SLIDE — WITH ROOM FOR THE RESULT</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An hourglass that reads the past through a cone it shapes itself, tested three ways against its own fixed twin</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21</a:t>
            </a:r>
            <a:endParaRPr lang="en-US" sz="1000" dirty="0"/>
          </a:p>
        </p:txBody>
      </p:sp>
      <p:sp>
        <p:nvSpPr>
          <p:cNvPr id="7" name="Text 4"/>
          <p:cNvSpPr txBox="1"/>
          <p:nvPr/>
        </p:nvSpPr>
        <p:spPr>
          <a:xfrm>
            <a:off x="54864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HOURGLASS</a:t>
            </a:r>
            <a:endParaRPr lang="en-US" sz="1000" dirty="0"/>
          </a:p>
        </p:txBody>
      </p:sp>
      <p:pic>
        <p:nvPicPr>
          <p:cNvPr id="8" name="Image 0" descr="/home/claude/earth/ml/plans/E080_figures/summary_hourglass.png">    </p:cNvPr>
          <p:cNvPicPr>
            <a:picLocks noChangeAspect="1"/>
          </p:cNvPicPr>
          <p:nvPr/>
        </p:nvPicPr>
        <p:blipFill>
          <a:blip r:embed="rId1"/>
          <a:stretch>
            <a:fillRect/>
          </a:stretch>
        </p:blipFill>
        <p:spPr>
          <a:xfrm>
            <a:off x="548640" y="1627632"/>
            <a:ext cx="3337560" cy="2103120"/>
          </a:xfrm>
          <a:prstGeom prst="rect">
            <a:avLst/>
          </a:prstGeom>
        </p:spPr>
      </p:pic>
      <p:sp>
        <p:nvSpPr>
          <p:cNvPr id="9" name="Shape 5"/>
          <p:cNvSpPr/>
          <p:nvPr/>
        </p:nvSpPr>
        <p:spPr>
          <a:xfrm>
            <a:off x="548640" y="3803904"/>
            <a:ext cx="3337560" cy="2368296"/>
          </a:xfrm>
          <a:prstGeom prst="roundRect">
            <a:avLst>
              <a:gd name="adj" fmla="val 2317"/>
            </a:avLst>
          </a:prstGeom>
          <a:solidFill>
            <a:srgbClr val="161B22"/>
          </a:solidFill>
          <a:ln w="12700">
            <a:solidFill>
              <a:srgbClr val="30363D"/>
            </a:solidFill>
            <a:prstDash val="solid"/>
          </a:ln>
        </p:spPr>
      </p:sp>
      <p:sp>
        <p:nvSpPr>
          <p:cNvPr id="10" name="Text 6"/>
          <p:cNvSpPr txBox="1"/>
          <p:nvPr/>
        </p:nvSpPr>
        <p:spPr>
          <a:xfrm>
            <a:off x="74980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design · slides 3–7</a:t>
            </a:r>
            <a:endParaRPr lang="en-US" sz="1050" dirty="0"/>
          </a:p>
          <a:p>
            <a:pPr indent="0" marL="0">
              <a:buNone/>
            </a:pPr>
            <a:r>
              <a:rPr lang="en-US" sz="900" dirty="0">
                <a:solidFill>
                  <a:srgbClr val="E6EDF3"/>
                </a:solidFill>
                <a:latin typeface="Calibri" pitchFamily="34" charset="0"/>
                <a:ea typeface="Calibri" pitchFamily="34" charset="-122"/>
                <a:cs typeface="Calibri" pitchFamily="34" charset="-120"/>
              </a:rPr>
              <a:t>The present is a </a:t>
            </a:r>
            <a:r>
              <a:rPr lang="en-US" sz="900" b="1" dirty="0">
                <a:solidFill>
                  <a:srgbClr val="4493F8"/>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of ~13 cells, not a single tip; the past cone reads the last 30 days at every pentad; a </a:t>
            </a:r>
            <a:r>
              <a:rPr lang="en-US" sz="900" b="1" dirty="0">
                <a:solidFill>
                  <a:srgbClr val="4493F8"/>
                </a:solidFill>
                <a:latin typeface="Calibri" pitchFamily="34" charset="0"/>
                <a:ea typeface="Calibri" pitchFamily="34" charset="-122"/>
                <a:cs typeface="Calibri" pitchFamily="34" charset="-120"/>
              </a:rPr>
              <a:t>prediction cone</a:t>
            </a:r>
            <a:r>
              <a:rPr lang="en-US" sz="900" dirty="0">
                <a:solidFill>
                  <a:srgbClr val="E6EDF3"/>
                </a:solidFill>
                <a:latin typeface="Calibri" pitchFamily="34" charset="0"/>
                <a:ea typeface="Calibri" pitchFamily="34" charset="-122"/>
                <a:cs typeface="Calibri" pitchFamily="34" charset="-120"/>
              </a:rPr>
              <a:t> — the past cone mirrored through the anchor, +1…+6 pentads — is sampled the same way and used only as targets. Each example draws one of </a:t>
            </a:r>
            <a:r>
              <a:rPr lang="en-US" sz="900" b="1" dirty="0">
                <a:solidFill>
                  <a:srgbClr val="4493F8"/>
                </a:solidFill>
                <a:latin typeface="Calibri" pitchFamily="34" charset="0"/>
                <a:ea typeface="Calibri" pitchFamily="34" charset="-122"/>
                <a:cs typeface="Calibri" pitchFamily="34" charset="-120"/>
              </a:rPr>
              <a:t>four tasks</a:t>
            </a:r>
            <a:r>
              <a:rPr lang="en-US" sz="900" dirty="0">
                <a:solidFill>
                  <a:srgbClr val="E6EDF3"/>
                </a:solidFill>
                <a:latin typeface="Calibri" pitchFamily="34" charset="0"/>
                <a:ea typeface="Calibri" pitchFamily="34" charset="-122"/>
                <a:cs typeface="Calibri" pitchFamily="34" charset="-120"/>
              </a:rPr>
              <a:t>: forecast from waist + past (0.35), from the waist alone (0.15), nowcast the hidden present from the past under five dropout patterns (0.25), fill-in (0.25) — under E-069b's rules: knowable targets only, no copy targets, every loss family scored against its own predict-the-mean bar</a:t>
            </a:r>
            <a:endParaRPr lang="en-US" sz="1050" dirty="0"/>
          </a:p>
        </p:txBody>
      </p:sp>
      <p:sp>
        <p:nvSpPr>
          <p:cNvPr id="11" name="Text 7"/>
          <p:cNvSpPr txBox="1"/>
          <p:nvPr/>
        </p:nvSpPr>
        <p:spPr>
          <a:xfrm>
            <a:off x="406908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CONE THE MODEL SHAPES</a:t>
            </a:r>
            <a:endParaRPr lang="en-US" sz="1000" dirty="0"/>
          </a:p>
        </p:txBody>
      </p:sp>
      <p:pic>
        <p:nvPicPr>
          <p:cNvPr id="12" name="Image 1" descr="/home/claude/earth/ml/plans/E080_figures/summary_cone.png">    </p:cNvPr>
          <p:cNvPicPr>
            <a:picLocks noChangeAspect="1"/>
          </p:cNvPicPr>
          <p:nvPr/>
        </p:nvPicPr>
        <p:blipFill>
          <a:blip r:embed="rId2"/>
          <a:stretch>
            <a:fillRect/>
          </a:stretch>
        </p:blipFill>
        <p:spPr>
          <a:xfrm>
            <a:off x="4069080" y="1627632"/>
            <a:ext cx="3337560" cy="2103120"/>
          </a:xfrm>
          <a:prstGeom prst="rect">
            <a:avLst/>
          </a:prstGeom>
        </p:spPr>
      </p:pic>
      <p:sp>
        <p:nvSpPr>
          <p:cNvPr id="13" name="Shape 8"/>
          <p:cNvSpPr/>
          <p:nvPr/>
        </p:nvSpPr>
        <p:spPr>
          <a:xfrm>
            <a:off x="4069080" y="3803904"/>
            <a:ext cx="3337560" cy="2368296"/>
          </a:xfrm>
          <a:prstGeom prst="roundRect">
            <a:avLst>
              <a:gd name="adj" fmla="val 2317"/>
            </a:avLst>
          </a:prstGeom>
          <a:solidFill>
            <a:srgbClr val="161B22"/>
          </a:solidFill>
          <a:ln w="12700">
            <a:solidFill>
              <a:srgbClr val="30363D"/>
            </a:solidFill>
            <a:prstDash val="solid"/>
          </a:ln>
        </p:spPr>
      </p:sp>
      <p:sp>
        <p:nvSpPr>
          <p:cNvPr id="14" name="Text 9"/>
          <p:cNvSpPr txBox="1"/>
          <p:nvPr/>
        </p:nvSpPr>
        <p:spPr>
          <a:xfrm>
            <a:off x="427024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cone the model shapes · slides 8–12</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A fixed 24-point sunflower, phase-rotated by the golden angle per lag, warped by </a:t>
            </a:r>
            <a:r>
              <a:rPr lang="en-US" sz="850" b="1" dirty="0">
                <a:solidFill>
                  <a:srgbClr val="4493F8"/>
                </a:solidFill>
                <a:latin typeface="Calibri" pitchFamily="34" charset="0"/>
                <a:ea typeface="Calibri" pitchFamily="34" charset="-122"/>
                <a:cs typeface="Calibri" pitchFamily="34" charset="-120"/>
              </a:rPr>
              <a:t>eight dimensionless numbers per 1° cell and channel group</a:t>
            </a:r>
            <a:r>
              <a:rPr lang="en-US" sz="850" dirty="0">
                <a:solidFill>
                  <a:srgbClr val="E6EDF3"/>
                </a:solidFill>
                <a:latin typeface="Calibri" pitchFamily="34" charset="0"/>
                <a:ea typeface="Calibri" pitchFamily="34" charset="-122"/>
                <a:cs typeface="Calibri" pitchFamily="34" charset="-120"/>
              </a:rPr>
              <a:t>: a drift </a:t>
            </a:r>
            <a:r>
              <a:rPr lang="en-US" sz="850" b="1" dirty="0">
                <a:solidFill>
                  <a:srgbClr val="4493F8"/>
                </a:solidFill>
                <a:latin typeface="Calibri" pitchFamily="34" charset="0"/>
                <a:ea typeface="Calibri" pitchFamily="34" charset="-122"/>
                <a:cs typeface="Calibri" pitchFamily="34" charset="-120"/>
              </a:rPr>
              <a:t>d</a:t>
            </a:r>
            <a:r>
              <a:rPr lang="en-US" sz="850" dirty="0">
                <a:solidFill>
                  <a:srgbClr val="E6EDF3"/>
                </a:solidFill>
                <a:latin typeface="Calibri" pitchFamily="34" charset="0"/>
                <a:ea typeface="Calibri" pitchFamily="34" charset="-122"/>
                <a:cs typeface="Calibri" pitchFamily="34" charset="-120"/>
              </a:rPr>
              <a:t> toward the source (capped at cone v2's design speed) and two ellipses stored as </a:t>
            </a:r>
            <a:r>
              <a:rPr lang="en-US" sz="850" b="1" dirty="0">
                <a:solidFill>
                  <a:srgbClr val="4493F8"/>
                </a:solidFill>
                <a:latin typeface="Calibri" pitchFamily="34" charset="0"/>
                <a:ea typeface="Calibri" pitchFamily="34" charset="-122"/>
                <a:cs typeface="Calibri" pitchFamily="34" charset="-120"/>
              </a:rPr>
              <a:t>matrix logarithms</a:t>
            </a:r>
            <a:r>
              <a:rPr lang="en-US" sz="850" dirty="0">
                <a:solidFill>
                  <a:srgbClr val="E6EDF3"/>
                </a:solidFill>
                <a:latin typeface="Calibri" pitchFamily="34" charset="0"/>
                <a:ea typeface="Calibri" pitchFamily="34" charset="-122"/>
                <a:cs typeface="Calibri" pitchFamily="34" charset="-120"/>
              </a:rPr>
              <a:t> — no kilometres, no angle to wrap — with Σ(ℓ) = Σ</a:t>
            </a:r>
            <a:r>
              <a:rPr lang="en-US" sz="850" baseline="-40000" dirty="0">
                <a:solidFill>
                  <a:srgbClr val="E6EDF3"/>
                </a:solidFill>
                <a:latin typeface="Calibri" pitchFamily="34" charset="0"/>
                <a:ea typeface="Calibri" pitchFamily="34" charset="-122"/>
                <a:cs typeface="Calibri" pitchFamily="34" charset="-120"/>
              </a:rPr>
              <a:t>0</a:t>
            </a:r>
            <a:r>
              <a:rPr lang="en-US" sz="850" dirty="0">
                <a:solidFill>
                  <a:srgbClr val="E6EDF3"/>
                </a:solidFill>
                <a:latin typeface="Calibri" pitchFamily="34" charset="0"/>
                <a:ea typeface="Calibri" pitchFamily="34" charset="-122"/>
                <a:cs typeface="Calibri" pitchFamily="34" charset="-120"/>
              </a:rPr>
              <a:t> + ℓ</a:t>
            </a:r>
            <a:r>
              <a:rPr lang="en-US" sz="850" baseline="30000" dirty="0">
                <a:solidFill>
                  <a:srgbClr val="E6EDF3"/>
                </a:solidFill>
                <a:latin typeface="Calibri" pitchFamily="34" charset="0"/>
                <a:ea typeface="Calibri" pitchFamily="34" charset="-122"/>
                <a:cs typeface="Calibri" pitchFamily="34" charset="-120"/>
              </a:rPr>
              <a:t>2</a:t>
            </a:r>
            <a:r>
              <a:rPr lang="en-US" sz="850" dirty="0">
                <a:solidFill>
                  <a:srgbClr val="E6EDF3"/>
                </a:solidFill>
                <a:latin typeface="Calibri" pitchFamily="34" charset="0"/>
                <a:ea typeface="Calibri" pitchFamily="34" charset="-122"/>
                <a:cs typeface="Calibri" pitchFamily="34" charset="-120"/>
              </a:rPr>
              <a:t>Σ</a:t>
            </a:r>
            <a:r>
              <a:rPr lang="en-US" sz="850" baseline="-40000" dirty="0">
                <a:solidFill>
                  <a:srgbClr val="E6EDF3"/>
                </a:solidFill>
                <a:latin typeface="Calibri" pitchFamily="34" charset="0"/>
                <a:ea typeface="Calibri" pitchFamily="34" charset="-122"/>
                <a:cs typeface="Calibri" pitchFamily="34" charset="-120"/>
              </a:rPr>
              <a:t>v</a:t>
            </a:r>
            <a:r>
              <a:rPr lang="en-US" sz="850" dirty="0">
                <a:solidFill>
                  <a:srgbClr val="E6EDF3"/>
                </a:solidFill>
                <a:latin typeface="Calibri" pitchFamily="34" charset="0"/>
                <a:ea typeface="Calibri" pitchFamily="34" charset="-122"/>
                <a:cs typeface="Calibri" pitchFamily="34" charset="-120"/>
              </a:rPr>
              <a:t>. </a:t>
            </a:r>
            <a:r>
              <a:rPr lang="en-US" sz="850" b="1" dirty="0">
                <a:solidFill>
                  <a:srgbClr val="4493F8"/>
                </a:solidFill>
                <a:latin typeface="Calibri" pitchFamily="34" charset="0"/>
                <a:ea typeface="Calibri" pitchFamily="34" charset="-122"/>
                <a:cs typeface="Calibri" pitchFamily="34" charset="-120"/>
              </a:rPr>
              <a:t>One direction per flow, one scale and one memory per channel</a:t>
            </a:r>
            <a:r>
              <a:rPr lang="en-US" sz="850" dirty="0">
                <a:solidFill>
                  <a:srgbClr val="E6EDF3"/>
                </a:solidFill>
                <a:latin typeface="Calibri" pitchFamily="34" charset="0"/>
                <a:ea typeface="Calibri" pitchFamily="34" charset="-122"/>
                <a:cs typeface="Calibri" pitchFamily="34" charset="-120"/>
              </a:rPr>
              <a:t>: s</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and τ</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inflate or shrink the shared ellipse and set how far back the channel reads, applied as a Gaussian </a:t>
            </a:r>
            <a:r>
              <a:rPr lang="en-US" sz="850" b="1" dirty="0">
                <a:solidFill>
                  <a:srgbClr val="4493F8"/>
                </a:solidFill>
                <a:latin typeface="Calibri" pitchFamily="34" charset="0"/>
                <a:ea typeface="Calibri" pitchFamily="34" charset="-122"/>
                <a:cs typeface="Calibri" pitchFamily="34" charset="-120"/>
              </a:rPr>
              <a:t>aperture</a:t>
            </a:r>
            <a:r>
              <a:rPr lang="en-US" sz="850" dirty="0">
                <a:solidFill>
                  <a:srgbClr val="E6EDF3"/>
                </a:solidFill>
                <a:latin typeface="Calibri" pitchFamily="34" charset="0"/>
                <a:ea typeface="Calibri" pitchFamily="34" charset="-122"/>
                <a:cs typeface="Calibri" pitchFamily="34" charset="-120"/>
              </a:rPr>
              <a:t> over the group's shared per-location tokens — zero extra tokens. Learned </a:t>
            </a:r>
            <a:r>
              <a:rPr lang="en-US" sz="850" b="1" dirty="0">
                <a:solidFill>
                  <a:srgbClr val="4493F8"/>
                </a:solidFill>
                <a:latin typeface="Calibri" pitchFamily="34" charset="0"/>
                <a:ea typeface="Calibri" pitchFamily="34" charset="-122"/>
                <a:cs typeface="Calibri" pitchFamily="34" charset="-120"/>
              </a:rPr>
              <a:t>gate-first</a:t>
            </a:r>
            <a:r>
              <a:rPr lang="en-US" sz="850" dirty="0">
                <a:solidFill>
                  <a:srgbClr val="E6EDF3"/>
                </a:solidFill>
                <a:latin typeface="Calibri" pitchFamily="34" charset="0"/>
                <a:ea typeface="Calibri" pitchFamily="34" charset="-122"/>
                <a:cs typeface="Calibri" pitchFamily="34" charset="-120"/>
              </a:rPr>
              <a:t> (a soft aperture over fixed dots, so the loader never depends on live weights), then </a:t>
            </a:r>
            <a:r>
              <a:rPr lang="en-US" sz="850" b="1" dirty="0">
                <a:solidFill>
                  <a:srgbClr val="4493F8"/>
                </a:solidFill>
                <a:latin typeface="Calibri" pitchFamily="34" charset="0"/>
                <a:ea typeface="Calibri" pitchFamily="34" charset="-122"/>
                <a:cs typeface="Calibri" pitchFamily="34" charset="-120"/>
              </a:rPr>
              <a:t>hardened</a:t>
            </a:r>
            <a:r>
              <a:rPr lang="en-US" sz="850" dirty="0">
                <a:solidFill>
                  <a:srgbClr val="E6EDF3"/>
                </a:solidFill>
                <a:latin typeface="Calibri" pitchFamily="34" charset="0"/>
                <a:ea typeface="Calibri" pitchFamily="34" charset="-122"/>
                <a:cs typeface="Calibri" pitchFamily="34" charset="-120"/>
              </a:rPr>
              <a:t> (dot tables re-baked at epoch boundaries)</a:t>
            </a:r>
            <a:endParaRPr lang="en-US" sz="1050" dirty="0"/>
          </a:p>
        </p:txBody>
      </p:sp>
      <p:sp>
        <p:nvSpPr>
          <p:cNvPr id="15" name="Text 10"/>
          <p:cNvSpPr txBox="1"/>
          <p:nvPr/>
        </p:nvSpPr>
        <p:spPr>
          <a:xfrm>
            <a:off x="7589520" y="1371600"/>
            <a:ext cx="4050792"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EXPERIMENT</a:t>
            </a:r>
            <a:endParaRPr lang="en-US" sz="1000" dirty="0"/>
          </a:p>
        </p:txBody>
      </p:sp>
      <p:sp>
        <p:nvSpPr>
          <p:cNvPr id="16" name="Shape 11"/>
          <p:cNvSpPr/>
          <p:nvPr/>
        </p:nvSpPr>
        <p:spPr>
          <a:xfrm>
            <a:off x="7589520" y="1627632"/>
            <a:ext cx="4050792" cy="2103120"/>
          </a:xfrm>
          <a:prstGeom prst="roundRect">
            <a:avLst>
              <a:gd name="adj" fmla="val 2609"/>
            </a:avLst>
          </a:prstGeom>
          <a:solidFill>
            <a:srgbClr val="11202F"/>
          </a:solidFill>
          <a:ln w="19050">
            <a:solidFill>
              <a:srgbClr val="E3B341"/>
            </a:solidFill>
            <a:prstDash val="dash"/>
          </a:ln>
        </p:spPr>
      </p:sp>
      <p:sp>
        <p:nvSpPr>
          <p:cNvPr id="17" name="Text 12"/>
          <p:cNvSpPr txBox="1"/>
          <p:nvPr/>
        </p:nvSpPr>
        <p:spPr>
          <a:xfrm>
            <a:off x="7589520" y="2176272"/>
            <a:ext cx="4050792" cy="384048"/>
          </a:xfrm>
          <a:prstGeom prst="rect">
            <a:avLst/>
          </a:prstGeom>
          <a:noFill/>
          <a:ln/>
        </p:spPr>
        <p:txBody>
          <a:bodyPr wrap="square" lIns="0" tIns="0" rIns="0" bIns="0" rtlCol="0" anchor="ctr"/>
          <a:lstStyle/>
          <a:p>
            <a:pPr algn="ctr" indent="0" marL="0">
              <a:buNone/>
            </a:pPr>
            <a:r>
              <a:rPr lang="en-US" sz="1600" b="1" dirty="0">
                <a:solidFill>
                  <a:srgbClr val="7D8590"/>
                </a:solidFill>
                <a:latin typeface="Calibri" pitchFamily="34" charset="0"/>
                <a:ea typeface="Calibri" pitchFamily="34" charset="-122"/>
                <a:cs typeface="Calibri" pitchFamily="34" charset="-120"/>
              </a:rPr>
              <a:t>RESULTS — figure to be inserted</a:t>
            </a:r>
            <a:endParaRPr lang="en-US" sz="1600" dirty="0"/>
          </a:p>
        </p:txBody>
      </p:sp>
      <p:sp>
        <p:nvSpPr>
          <p:cNvPr id="18" name="Text 13"/>
          <p:cNvSpPr txBox="1"/>
          <p:nvPr/>
        </p:nvSpPr>
        <p:spPr>
          <a:xfrm>
            <a:off x="7955280" y="2651760"/>
            <a:ext cx="3319272" cy="731520"/>
          </a:xfrm>
          <a:prstGeom prst="rect">
            <a:avLst/>
          </a:prstGeom>
          <a:noFill/>
          <a:ln/>
        </p:spPr>
        <p:txBody>
          <a:bodyPr wrap="square" lIns="0" tIns="0" rIns="0" bIns="0" rtlCol="0" anchor="t"/>
          <a:lstStyle/>
          <a:p>
            <a:pPr algn="ctr" indent="0" marL="0">
              <a:buNone/>
            </a:pPr>
            <a:r>
              <a:rPr lang="en-US" sz="1000" dirty="0">
                <a:solidFill>
                  <a:srgbClr val="7D8590"/>
                </a:solidFill>
                <a:latin typeface="Calibri" pitchFamily="34" charset="0"/>
                <a:ea typeface="Calibri" pitchFamily="34" charset="-122"/>
                <a:cs typeface="Calibri" pitchFamily="34" charset="-120"/>
              </a:rPr>
              <a:t>R1 · future-cone loss per lead, A0 fixed / A1 learned / A2 primed, 3 seeds · R3 · learned drift vs upstream · R4 · the western-boundary depth check</a:t>
            </a:r>
            <a:endParaRPr lang="en-US" sz="1000" dirty="0"/>
          </a:p>
        </p:txBody>
      </p:sp>
      <p:sp>
        <p:nvSpPr>
          <p:cNvPr id="19" name="Text 14"/>
          <p:cNvSpPr txBox="1"/>
          <p:nvPr/>
        </p:nvSpPr>
        <p:spPr>
          <a:xfrm>
            <a:off x="7589520" y="3749040"/>
            <a:ext cx="4050792" cy="274320"/>
          </a:xfrm>
          <a:prstGeom prst="rect">
            <a:avLst/>
          </a:prstGeom>
          <a:noFill/>
          <a:ln/>
        </p:spPr>
        <p:txBody>
          <a:bodyPr wrap="square" lIns="0" tIns="0" rIns="0" bIns="0" rtlCol="0" anchor="ctr"/>
          <a:lstStyle/>
          <a:p>
            <a:pPr indent="0" marL="0">
              <a:buNone/>
            </a:pPr>
            <a:r>
              <a:rPr lang="en-US" sz="950" i="1" dirty="0">
                <a:solidFill>
                  <a:srgbClr val="7D8590"/>
                </a:solidFill>
                <a:latin typeface="Calibri" pitchFamily="34" charset="0"/>
                <a:ea typeface="Calibri" pitchFamily="34" charset="-122"/>
                <a:cs typeface="Calibri" pitchFamily="34" charset="-120"/>
              </a:rPr>
              <a:t>Reserved for the measured result — empty until a run has produced it.</a:t>
            </a:r>
            <a:endParaRPr lang="en-US" sz="950" dirty="0"/>
          </a:p>
        </p:txBody>
      </p:sp>
      <p:sp>
        <p:nvSpPr>
          <p:cNvPr id="20" name="Shape 15"/>
          <p:cNvSpPr/>
          <p:nvPr/>
        </p:nvSpPr>
        <p:spPr>
          <a:xfrm>
            <a:off x="7589520" y="4041648"/>
            <a:ext cx="4050792" cy="960120"/>
          </a:xfrm>
          <a:prstGeom prst="roundRect">
            <a:avLst>
              <a:gd name="adj" fmla="val 5714"/>
            </a:avLst>
          </a:prstGeom>
          <a:solidFill>
            <a:srgbClr val="161B22"/>
          </a:solidFill>
          <a:ln w="12700">
            <a:solidFill>
              <a:srgbClr val="30363D"/>
            </a:solidFill>
            <a:prstDash val="solid"/>
          </a:ln>
        </p:spPr>
      </p:sp>
      <p:sp>
        <p:nvSpPr>
          <p:cNvPr id="21" name="Text 16"/>
          <p:cNvSpPr txBox="1"/>
          <p:nvPr/>
        </p:nvSpPr>
        <p:spPr>
          <a:xfrm>
            <a:off x="7790688" y="4133088"/>
            <a:ext cx="3648456" cy="777240"/>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guards · slides 13, 15</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Coarse-10°-plus-1°-residual prior; log-space soft floors; mirror tie; stop-gradient on target positions; evaluation geometry frozen for every arm; the far ring kept and never gated; the aperture never touches the loss weights — so the cone cannot learn to ask easy questions</a:t>
            </a:r>
            <a:endParaRPr lang="en-US" sz="1050" dirty="0"/>
          </a:p>
        </p:txBody>
      </p:sp>
      <p:sp>
        <p:nvSpPr>
          <p:cNvPr id="22" name="Shape 17"/>
          <p:cNvSpPr/>
          <p:nvPr/>
        </p:nvSpPr>
        <p:spPr>
          <a:xfrm>
            <a:off x="7589520" y="5056632"/>
            <a:ext cx="4050792" cy="1115568"/>
          </a:xfrm>
          <a:prstGeom prst="roundRect">
            <a:avLst>
              <a:gd name="adj" fmla="val 4918"/>
            </a:avLst>
          </a:prstGeom>
          <a:solidFill>
            <a:srgbClr val="161B22"/>
          </a:solidFill>
          <a:ln w="12700">
            <a:solidFill>
              <a:srgbClr val="30363D"/>
            </a:solidFill>
            <a:prstDash val="solid"/>
          </a:ln>
        </p:spPr>
      </p:sp>
      <p:sp>
        <p:nvSpPr>
          <p:cNvPr id="23" name="Text 18"/>
          <p:cNvSpPr txBox="1"/>
          <p:nvPr/>
        </p:nvSpPr>
        <p:spPr>
          <a:xfrm>
            <a:off x="7790688" y="5148072"/>
            <a:ext cx="3648456" cy="932688"/>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experiment · verdict · slide 17</a:t>
            </a:r>
            <a:endParaRPr lang="en-US" sz="1050" dirty="0"/>
          </a:p>
          <a:p>
            <a:pPr indent="0" marL="0">
              <a:buNone/>
            </a:pPr>
            <a:r>
              <a:rPr lang="en-US" sz="850" b="1" dirty="0">
                <a:solidFill>
                  <a:srgbClr val="4493F8"/>
                </a:solidFill>
                <a:latin typeface="Calibri" pitchFamily="34" charset="0"/>
                <a:ea typeface="Calibri" pitchFamily="34" charset="-122"/>
                <a:cs typeface="Calibri" pitchFamily="34" charset="-120"/>
              </a:rPr>
              <a:t>A0</a:t>
            </a:r>
            <a:r>
              <a:rPr lang="en-US" sz="850" dirty="0">
                <a:solidFill>
                  <a:srgbClr val="E6EDF3"/>
                </a:solidFill>
                <a:latin typeface="Calibri" pitchFamily="34" charset="0"/>
                <a:ea typeface="Calibri" pitchFamily="34" charset="-122"/>
                <a:cs typeface="Calibri" pitchFamily="34" charset="-120"/>
              </a:rPr>
              <a:t> fixed hourglass — the control and everyone's eval geometry · </a:t>
            </a:r>
            <a:r>
              <a:rPr lang="en-US" sz="850" b="1" dirty="0">
                <a:solidFill>
                  <a:srgbClr val="4493F8"/>
                </a:solidFill>
                <a:latin typeface="Calibri" pitchFamily="34" charset="0"/>
                <a:ea typeface="Calibri" pitchFamily="34" charset="-122"/>
                <a:cs typeface="Calibri" pitchFamily="34" charset="-120"/>
              </a:rPr>
              <a:t>A1</a:t>
            </a:r>
            <a:r>
              <a:rPr lang="en-US" sz="850" dirty="0">
                <a:solidFill>
                  <a:srgbClr val="E6EDF3"/>
                </a:solidFill>
                <a:latin typeface="Calibri" pitchFamily="34" charset="0"/>
                <a:ea typeface="Calibri" pitchFamily="34" charset="-122"/>
                <a:cs typeface="Calibri" pitchFamily="34" charset="-120"/>
              </a:rPr>
              <a:t> learned from A0's init · </a:t>
            </a:r>
            <a:r>
              <a:rPr lang="en-US" sz="850" b="1" dirty="0">
                <a:solidFill>
                  <a:srgbClr val="4493F8"/>
                </a:solidFill>
                <a:latin typeface="Calibri" pitchFamily="34" charset="0"/>
                <a:ea typeface="Calibri" pitchFamily="34" charset="-122"/>
                <a:cs typeface="Calibri" pitchFamily="34" charset="-120"/>
              </a:rPr>
              <a:t>A2</a:t>
            </a:r>
            <a:r>
              <a:rPr lang="en-US" sz="850" dirty="0">
                <a:solidFill>
                  <a:srgbClr val="E6EDF3"/>
                </a:solidFill>
                <a:latin typeface="Calibri" pitchFamily="34" charset="0"/>
                <a:ea typeface="Calibri" pitchFamily="34" charset="-122"/>
                <a:cs typeface="Calibri" pitchFamily="34" charset="-120"/>
              </a:rPr>
              <a:t> learned, surface drift primed at −u_clim·Δt. Same 7 M codec, 20 k steps, frozen protocol, </a:t>
            </a:r>
            <a:r>
              <a:rPr lang="en-US" sz="850" b="1" dirty="0">
                <a:solidFill>
                  <a:srgbClr val="4493F8"/>
                </a:solidFill>
                <a:latin typeface="Calibri" pitchFamily="34" charset="0"/>
                <a:ea typeface="Calibri" pitchFamily="34" charset="-122"/>
                <a:cs typeface="Calibri" pitchFamily="34" charset="-120"/>
              </a:rPr>
              <a:t>3 seeds each</a:t>
            </a:r>
            <a:r>
              <a:rPr lang="en-US" sz="850" dirty="0">
                <a:solidFill>
                  <a:srgbClr val="E6EDF3"/>
                </a:solidFill>
                <a:latin typeface="Calibri" pitchFamily="34" charset="0"/>
                <a:ea typeface="Calibri" pitchFamily="34" charset="-122"/>
                <a:cs typeface="Calibri" pitchFamily="34" charset="-120"/>
              </a:rPr>
              <a:t>, one tensor (</a:t>
            </a:r>
            <a:r>
              <a:rPr lang="en-US" sz="8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family 7.2</a:t>
            </a:r>
            <a:r>
              <a:rPr lang="en-US" sz="850" dirty="0">
                <a:solidFill>
                  <a:srgbClr val="E6EDF3"/>
                </a:solidFill>
                <a:latin typeface="Calibri" pitchFamily="34" charset="0"/>
                <a:ea typeface="Calibri" pitchFamily="34" charset="-122"/>
                <a:cs typeface="Calibri" pitchFamily="34" charset="-120"/>
              </a:rPr>
              <a:t>); read-outs R1–R5. </a:t>
            </a:r>
            <a:r>
              <a:rPr lang="en-US" sz="850" b="1" dirty="0">
                <a:solidFill>
                  <a:srgbClr val="4493F8"/>
                </a:solidFill>
                <a:latin typeface="Calibri" pitchFamily="34" charset="0"/>
                <a:ea typeface="Calibri" pitchFamily="34" charset="-122"/>
                <a:cs typeface="Calibri" pitchFamily="34" charset="-120"/>
              </a:rPr>
              <a:t>Verdict</a:t>
            </a:r>
            <a:r>
              <a:rPr lang="en-US" sz="850" dirty="0">
                <a:solidFill>
                  <a:srgbClr val="E6EDF3"/>
                </a:solidFill>
                <a:latin typeface="Calibri" pitchFamily="34" charset="0"/>
                <a:ea typeface="Calibri" pitchFamily="34" charset="-122"/>
                <a:cs typeface="Calibri" pitchFamily="34" charset="-120"/>
              </a:rPr>
              <a:t>: A1 beats A0 on R1 at every lead ≤ 3, paired at all seeds, R5 clean → adopt; A2 &gt; A1 ≈ A0 → geometry from climatology; neither → keep A0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2026-09-16T11:12:46Z</dcterms:created>
  <dcterms:modified xsi:type="dcterms:W3CDTF">2026-09-16T11:12:46Z</dcterms:modified>
</cp:coreProperties>
</file>